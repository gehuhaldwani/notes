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7" r:id="rId5"/>
    <p:sldId id="259" r:id="rId6"/>
    <p:sldId id="260" r:id="rId7"/>
    <p:sldId id="256" r:id="rId8"/>
    <p:sldId id="258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0C8798-23DC-4B2E-A761-53E7D827B762}" v="8" dt="2024-08-02T06:21:32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39B4-45F4-2758-0FA9-B92777AF0E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F9329-CD88-8A52-1AB3-FF2D184677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C5696-5971-4830-4C2D-843465A82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7FA5-AF72-46DE-BA65-15392FDD5F42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165B6-C24A-3197-1293-98AA949A6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1B843-66A8-FAA4-A320-1BAF9F83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2C5FF-CC4C-4A1B-A643-20A6D1E9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858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62352-9CDF-1805-1B07-761C2959F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157FF-A136-63DF-1AE2-CA9307424E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E242C-2C86-E3F8-81D2-F6D215AC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7FA5-AF72-46DE-BA65-15392FDD5F42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175C6-A6EA-0AF5-E072-9C874E672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DCC48-DF4C-34BB-FD92-0908F4DB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2C5FF-CC4C-4A1B-A643-20A6D1E9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099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B6F55-07B1-0864-72FB-ABF11BB40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1E2CB-3E81-D5CD-A170-BDAA4E0BC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B6B98-7F55-BA71-0819-FAF8FDAE0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7FA5-AF72-46DE-BA65-15392FDD5F42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9582E-E3B5-EA15-10CD-4F3A19E9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FF385-27FF-1697-24F6-BCBA617C0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2C5FF-CC4C-4A1B-A643-20A6D1E9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1665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7A1E9-F4AF-29F4-789F-92FC377B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164EC-ECEF-63B1-2EA8-DF45D3A5AB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1D1A90-ACBD-9CE2-E34C-643AA16D6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C08CB-5B3B-440A-593F-F88234A14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7FA5-AF72-46DE-BA65-15392FDD5F42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1E789-3AE1-7438-F15F-59A1E011B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759D8C-DE96-D058-87AC-EFB863643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2C5FF-CC4C-4A1B-A643-20A6D1E9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766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3ADE-C2AB-88CC-51FD-366582255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D0CB65-FE9A-8E37-CCC1-6977585B1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AEF489-E022-4927-6F33-6C1C7C2466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FF5FF2-0000-31EE-AAEF-D6215DA9EA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F4C522-20C9-FCEC-4CFA-5076F7427F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64305F-B0E7-0A45-2754-970622E59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7FA5-AF72-46DE-BA65-15392FDD5F42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77478-B76D-4EC5-AD4C-94C438853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AED33B-FB8C-6F1F-F5A9-99EB3F745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2C5FF-CC4C-4A1B-A643-20A6D1E9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808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8325-CC6B-4325-BD4A-76FA0C836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3B0F55-3598-93CC-6437-9F61ED67D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7FA5-AF72-46DE-BA65-15392FDD5F42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0FB84-1F80-735D-6723-1B43FF493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473758-CA4E-5C6E-8BA2-FEB3F2F1A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2C5FF-CC4C-4A1B-A643-20A6D1E9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495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6DA14F-79F4-A160-C1DF-A75DD76B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7FA5-AF72-46DE-BA65-15392FDD5F42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021CCD-E1CD-2CC9-536E-E72AB6F6B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3AC9C-E029-82C3-1D54-3B0998EB2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2C5FF-CC4C-4A1B-A643-20A6D1E9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927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0F878-9BCC-0ED8-2795-9CC42D66E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2C4E9-26BA-6687-DACE-9792E1C51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8F9D9-1BEF-A565-01AF-5713D8268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E1D12-74CF-EC88-E888-EE46C8D3B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7FA5-AF72-46DE-BA65-15392FDD5F42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96D6F-AF7A-C9E3-73A5-CFB5009B1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5CD32-2458-9E51-A17F-3597CB5A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2C5FF-CC4C-4A1B-A643-20A6D1E9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20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AFA2-25DA-CB41-383F-7DCDF2760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C32C0-2432-280B-315F-F1EA3571D4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4ED2-4961-2F0E-F350-191939368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980727-5109-6085-9AA3-EAC4D8D69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7FA5-AF72-46DE-BA65-15392FDD5F42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8B749-6D90-1DAF-EFDD-02A535ECC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9FD3A-58D6-2654-0F42-5474E19C0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2C5FF-CC4C-4A1B-A643-20A6D1E9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5548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1D26D-3E27-8B85-E7EF-F5CC686D5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A96BEC-7FE3-B48C-062D-F2C4CE2244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B8A7D-A5D5-2C02-DB69-F75F119FE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7FA5-AF72-46DE-BA65-15392FDD5F42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D4157-0957-66FF-17A5-DF31E765A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5B52F0-8FF2-428C-EBE9-4F449532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2C5FF-CC4C-4A1B-A643-20A6D1E9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503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DB9E01-3DC8-7EEB-DDBE-9C484009FB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ABB72-ECE9-7A30-FA3D-7A99CE615D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7E0DF-EECF-281D-6BF1-7074F9921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A7FA5-AF72-46DE-BA65-15392FDD5F42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1EE6C-CB3D-5178-B3A5-EA8CF25F4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0973B-C464-F6FB-400A-AB2F81132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F2C5FF-CC4C-4A1B-A643-20A6D1E9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50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D5ADF-9478-E00C-7228-C9FA6A0D6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7DD4F5-13F2-0271-32C4-79A696DD7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0B22E4-C86D-4DCB-E474-6582D78C83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A7FA5-AF72-46DE-BA65-15392FDD5F42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C555E-6C27-909D-5C60-BAC26CDE57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C8040-95DD-7BD7-58A8-8C0C8EAFA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2C5FF-CC4C-4A1B-A643-20A6D1E96B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673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B241-0D4D-9D85-DE43-82AE00DE2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What is SQL? Features And Benefits</a:t>
            </a:r>
            <a:br>
              <a:rPr lang="en-US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anose="020F0502020204030204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5800A-0C18-290D-0DFD-8BB89075E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709724"/>
          </a:xfrm>
        </p:spPr>
        <p:txBody>
          <a:bodyPr/>
          <a:lstStyle/>
          <a:p>
            <a:r>
              <a:rPr lang="en-US" dirty="0"/>
              <a:t>SQL is declarative language used to interact with relational databases.</a:t>
            </a:r>
          </a:p>
          <a:p>
            <a:r>
              <a:rPr lang="en-US" dirty="0"/>
              <a:t>It is used to manipulate and retrieve data, create and modify database structure, and define access control.</a:t>
            </a:r>
          </a:p>
          <a:p>
            <a:pPr algn="l"/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 is an effective standardized programming language for managing, accessing, or manipulating relational databases and performing different operations. </a:t>
            </a:r>
          </a:p>
          <a:p>
            <a:pPr algn="l"/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In 1986 SQL is standardized by the International Organization for Standardization (ISO) and American National Standards Institute (ANSI).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6821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B241-0D4D-9D85-DE43-82AE00DE2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anose="020F0502020204030204" pitchFamily="2" charset="0"/>
              </a:rPr>
              <a:t>What is SQL? Features And Benefits</a:t>
            </a:r>
            <a:br>
              <a:rPr lang="en-US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anose="020F0502020204030204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5800A-0C18-290D-0DFD-8BB89075E5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 is an acronym for Structured Query Language.</a:t>
            </a:r>
          </a:p>
          <a:p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 can manage and manipulate data like updating, deletion, insertion based on a relational database management system.</a:t>
            </a:r>
          </a:p>
          <a:p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 is popular and widely used is because it is user-friendly and easy to understand.</a:t>
            </a:r>
            <a:endParaRPr lang="en-US" dirty="0">
              <a:solidFill>
                <a:srgbClr val="5E5E60"/>
              </a:solidFill>
              <a:highlight>
                <a:srgbClr val="FFFFFF"/>
              </a:highlight>
              <a:latin typeface="DM Sans" pitchFamily="2" charset="0"/>
            </a:endParaRPr>
          </a:p>
          <a:p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With SQL, it is easier to create new tables ,dropping or deleting previously created tables.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2774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AB241-0D4D-9D85-DE43-82AE00DE2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066280" cy="742315"/>
          </a:xfrm>
        </p:spPr>
        <p:txBody>
          <a:bodyPr>
            <a:normAutofit fontScale="90000"/>
          </a:bodyPr>
          <a:lstStyle/>
          <a:p>
            <a:br>
              <a:rPr lang="en-IN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</a:br>
            <a:br>
              <a:rPr lang="en-IN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</a:br>
            <a:r>
              <a:rPr lang="en-IN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What SQL Can Do</a:t>
            </a:r>
            <a:br>
              <a:rPr lang="en-IN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</a:br>
            <a:br>
              <a:rPr lang="en-IN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5800A-0C18-290D-0DFD-8BB89075E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107440"/>
            <a:ext cx="11592560" cy="5385435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 </a:t>
            </a:r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can set permissions on views, tables, and procedures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</a:t>
            </a:r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 can execute queries against databases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</a:t>
            </a:r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 can create new databases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</a:t>
            </a:r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 can create views in a database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F4F51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</a:t>
            </a:r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 can create solid stored procedures in a database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 can create new tables in a databases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 is capable of deleting records from a database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 is capable of inserting records into a database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 can also retrieve data from a database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5E5E60"/>
                </a:solidFill>
                <a:effectLst/>
                <a:highlight>
                  <a:srgbClr val="FFFFFF"/>
                </a:highlight>
                <a:latin typeface="DM Sans" pitchFamily="2" charset="0"/>
              </a:rPr>
              <a:t>SQL can update records in a 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8577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F993A1-70C2-CE02-48EA-D7564137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89" y="297124"/>
            <a:ext cx="11902021" cy="626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87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6891CE-6486-39EC-DBFF-2DC2EEC05B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075" y="1897675"/>
            <a:ext cx="11404386" cy="4960325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6DA41A-00F9-FE62-3D08-B3FCB9EC474B}"/>
              </a:ext>
            </a:extLst>
          </p:cNvPr>
          <p:cNvSpPr txBox="1"/>
          <p:nvPr/>
        </p:nvSpPr>
        <p:spPr>
          <a:xfrm>
            <a:off x="204280" y="272374"/>
            <a:ext cx="1169264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0" i="0" dirty="0">
                <a:solidFill>
                  <a:srgbClr val="610B38"/>
                </a:solidFill>
                <a:effectLst/>
                <a:highlight>
                  <a:srgbClr val="FFFFFF"/>
                </a:highlight>
                <a:latin typeface="erdana"/>
              </a:rPr>
              <a:t>Types of SQL Commands</a:t>
            </a:r>
          </a:p>
          <a:p>
            <a:pPr algn="just"/>
            <a:r>
              <a:rPr lang="en-US" sz="32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There are five types of SQL commands: DDL, DML, DCL, TCL, and DQL.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8758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4DA903-5C17-61E4-D2ED-809A726DE63C}"/>
              </a:ext>
            </a:extLst>
          </p:cNvPr>
          <p:cNvSpPr txBox="1"/>
          <p:nvPr/>
        </p:nvSpPr>
        <p:spPr>
          <a:xfrm>
            <a:off x="153615" y="801336"/>
            <a:ext cx="11884769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erdana"/>
              </a:rPr>
              <a:t>1. Data Definition Language (DDL)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DDL changes the structure of the table like creating a table, deleting a table, altering a table, etc.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All the command of DDL are 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inter-regular"/>
              </a:rPr>
              <a:t>auto-committed </a:t>
            </a: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that means it permanently save all the changes in the database.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CREATE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ALTER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DROP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inter-regular"/>
              </a:rPr>
              <a:t>TRUNCATE</a:t>
            </a:r>
          </a:p>
        </p:txBody>
      </p:sp>
    </p:spTree>
    <p:extLst>
      <p:ext uri="{BB962C8B-B14F-4D97-AF65-F5344CB8AC3E}">
        <p14:creationId xmlns:p14="http://schemas.microsoft.com/office/powerpoint/2010/main" val="1037005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4DA903-5C17-61E4-D2ED-809A726DE63C}"/>
              </a:ext>
            </a:extLst>
          </p:cNvPr>
          <p:cNvSpPr txBox="1"/>
          <p:nvPr/>
        </p:nvSpPr>
        <p:spPr>
          <a:xfrm>
            <a:off x="258390" y="713787"/>
            <a:ext cx="1167521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MYSQL&gt;CREATE TABLE EMPLOYEE</a:t>
            </a:r>
          </a:p>
          <a:p>
            <a:pPr algn="just"/>
            <a:r>
              <a:rPr lang="en-US" sz="36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(</a:t>
            </a:r>
          </a:p>
          <a:p>
            <a:pPr algn="just"/>
            <a:r>
              <a:rPr lang="en-US" sz="3600" dirty="0">
                <a:solidFill>
                  <a:srgbClr val="000000"/>
                </a:solidFill>
                <a:latin typeface="inter-regular"/>
              </a:rPr>
              <a:t>		Empid INT,</a:t>
            </a:r>
            <a:endParaRPr lang="en-US" sz="36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sz="3600" dirty="0">
                <a:solidFill>
                  <a:srgbClr val="000000"/>
                </a:solidFill>
                <a:latin typeface="inter-regular"/>
              </a:rPr>
              <a:t>		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Name VARCHAR(</a:t>
            </a:r>
            <a:r>
              <a:rPr lang="en-US" sz="3600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), </a:t>
            </a:r>
          </a:p>
          <a:p>
            <a:pPr algn="just"/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		Email VARCHAR(</a:t>
            </a:r>
            <a:r>
              <a:rPr lang="en-US" sz="3600" b="0" i="0" dirty="0">
                <a:solidFill>
                  <a:srgbClr val="C00000"/>
                </a:solidFill>
                <a:effectLst/>
                <a:latin typeface="inter-regular"/>
              </a:rPr>
              <a:t>100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), </a:t>
            </a:r>
          </a:p>
          <a:p>
            <a:pPr algn="just"/>
            <a:r>
              <a:rPr lang="en-US" sz="3600" dirty="0">
                <a:solidFill>
                  <a:srgbClr val="000000"/>
                </a:solidFill>
                <a:latin typeface="inter-regular"/>
              </a:rPr>
              <a:t>		salary </a:t>
            </a:r>
            <a:r>
              <a:rPr lang="en-IN" sz="3600" b="0" i="0" dirty="0">
                <a:solidFill>
                  <a:srgbClr val="834689"/>
                </a:solidFill>
                <a:effectLst/>
                <a:highlight>
                  <a:srgbClr val="F8F8F8"/>
                </a:highlight>
                <a:latin typeface="Liberation Mono"/>
              </a:rPr>
              <a:t>DECIMAL</a:t>
            </a:r>
            <a:r>
              <a:rPr lang="en-IN" sz="3600" b="0" i="0" dirty="0">
                <a:solidFill>
                  <a:srgbClr val="999999"/>
                </a:solidFill>
                <a:effectLst/>
                <a:highlight>
                  <a:srgbClr val="F8F8F8"/>
                </a:highlight>
                <a:latin typeface="Liberation Mono"/>
              </a:rPr>
              <a:t>(</a:t>
            </a:r>
            <a:r>
              <a:rPr lang="en-IN" sz="3600" b="0" i="0" dirty="0">
                <a:solidFill>
                  <a:srgbClr val="990055"/>
                </a:solidFill>
                <a:effectLst/>
                <a:highlight>
                  <a:srgbClr val="F8F8F8"/>
                </a:highlight>
                <a:latin typeface="Liberation Mono"/>
              </a:rPr>
              <a:t>5</a:t>
            </a:r>
            <a:r>
              <a:rPr lang="en-IN" sz="3600" b="0" i="0" dirty="0">
                <a:solidFill>
                  <a:srgbClr val="999999"/>
                </a:solidFill>
                <a:effectLst/>
                <a:highlight>
                  <a:srgbClr val="F8F8F8"/>
                </a:highlight>
                <a:latin typeface="Liberation Mono"/>
              </a:rPr>
              <a:t>,</a:t>
            </a:r>
            <a:r>
              <a:rPr lang="en-IN" sz="3600" b="0" i="0" dirty="0">
                <a:solidFill>
                  <a:srgbClr val="990055"/>
                </a:solidFill>
                <a:effectLst/>
                <a:highlight>
                  <a:srgbClr val="F8F8F8"/>
                </a:highlight>
                <a:latin typeface="Liberation Mono"/>
              </a:rPr>
              <a:t>2</a:t>
            </a:r>
            <a:r>
              <a:rPr lang="en-IN" sz="3600" b="0" i="0" dirty="0">
                <a:solidFill>
                  <a:srgbClr val="999999"/>
                </a:solidFill>
                <a:effectLst/>
                <a:highlight>
                  <a:srgbClr val="F8F8F8"/>
                </a:highlight>
                <a:latin typeface="Liberation Mono"/>
              </a:rPr>
              <a:t>),</a:t>
            </a:r>
            <a:endParaRPr lang="en-US" sz="3600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algn="just"/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		DOB DATE</a:t>
            </a:r>
          </a:p>
          <a:p>
            <a:pPr algn="just"/>
            <a:r>
              <a:rPr lang="en-US" sz="3600" dirty="0">
                <a:solidFill>
                  <a:srgbClr val="000000"/>
                </a:solidFill>
                <a:latin typeface="inter-regular"/>
              </a:rPr>
              <a:t>	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inter-regular"/>
              </a:rPr>
              <a:t>);  </a:t>
            </a:r>
          </a:p>
          <a:p>
            <a:pPr algn="just"/>
            <a:endParaRPr lang="en-US" sz="36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107156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32505-7DE0-0F09-F7D6-7770026B7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inter-bold"/>
              </a:rPr>
              <a:t>DROP: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inter-regular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It is used to delete both the structure and record stored in the table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388A5-960A-398C-DAB0-7DB2D7D3A6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2930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MYSQL&gt;  DROP TABLE EMPLOYEE; -- schema + data gets deleted</a:t>
            </a:r>
          </a:p>
          <a:p>
            <a:pPr marL="0" indent="0" algn="just">
              <a:buNone/>
            </a:pPr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sz="4400" b="1" dirty="0">
                <a:solidFill>
                  <a:srgbClr val="FF0000"/>
                </a:solidFill>
                <a:highlight>
                  <a:srgbClr val="FFFFFF"/>
                </a:highlight>
                <a:latin typeface="inter-bold"/>
                <a:ea typeface="+mj-ea"/>
                <a:cs typeface="+mj-cs"/>
              </a:rPr>
              <a:t>TRUNCATE: </a:t>
            </a:r>
            <a:r>
              <a:rPr lang="en-US" sz="4400" dirty="0">
                <a:solidFill>
                  <a:srgbClr val="333333"/>
                </a:solidFill>
                <a:highlight>
                  <a:srgbClr val="FFFFFF"/>
                </a:highlight>
                <a:latin typeface="inter-regular"/>
                <a:ea typeface="+mj-ea"/>
                <a:cs typeface="+mj-cs"/>
              </a:rPr>
              <a:t>It is used to delete all the rows from the table and free the space containing the table.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MYSQL&gt;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TRUNCATE TABLE EMPLOYEE;  </a:t>
            </a:r>
          </a:p>
          <a:p>
            <a:pPr marL="0" indent="0" algn="just">
              <a:buNone/>
            </a:pPr>
            <a:r>
              <a:rPr lang="en-IN" dirty="0">
                <a:solidFill>
                  <a:srgbClr val="000000"/>
                </a:solidFill>
                <a:latin typeface="inter-regular"/>
              </a:rPr>
              <a:t>-- </a:t>
            </a:r>
            <a:r>
              <a:rPr lang="en-IN" b="0" i="0" dirty="0">
                <a:solidFill>
                  <a:srgbClr val="000000"/>
                </a:solidFill>
                <a:effectLst/>
                <a:latin typeface="inter-regular"/>
              </a:rPr>
              <a:t>only data gets deleted(all data) schema remains in the memory;</a:t>
            </a:r>
          </a:p>
          <a:p>
            <a:pPr marL="0" indent="0" algn="just">
              <a:buNone/>
            </a:pPr>
            <a:endParaRPr lang="en-IN" b="0" i="0" dirty="0">
              <a:solidFill>
                <a:srgbClr val="000000"/>
              </a:solidFill>
              <a:effectLst/>
              <a:latin typeface="inter-regular"/>
            </a:endParaRPr>
          </a:p>
          <a:p>
            <a:pPr marL="0" indent="0" algn="just">
              <a:buNone/>
            </a:pPr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3791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C8477-E5A5-9404-7728-51CFC639D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912" y="248155"/>
            <a:ext cx="11418650" cy="6463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inter-bold"/>
              </a:rPr>
              <a:t>ALTER:</a:t>
            </a: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inter-regular"/>
              </a:rPr>
              <a:t> 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It is used to alter the structure of the database. This change could be either to modify the characteristics of an existing attribute or probably to add a new attribute.</a:t>
            </a:r>
          </a:p>
          <a:p>
            <a:pPr marL="0" indent="0">
              <a:buNone/>
            </a:pPr>
            <a:endParaRPr lang="en-US" b="0" i="0" dirty="0">
              <a:solidFill>
                <a:srgbClr val="333333"/>
              </a:solidFill>
              <a:effectLst/>
              <a:highlight>
                <a:srgbClr val="FFFFFF"/>
              </a:highlight>
              <a:latin typeface="inter-regular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inter-regular"/>
              </a:rPr>
              <a:t>To add a new column in the table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MYSQL&gt; ALTER TABLE STUDENT ADD(ADDRESS2 VARCHAR(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));  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inter-regular"/>
              </a:rPr>
              <a:t>To modify existing column in the table</a:t>
            </a:r>
            <a:r>
              <a:rPr lang="en-US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inter-regular"/>
              </a:rPr>
              <a:t>: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 </a:t>
            </a:r>
          </a:p>
          <a:p>
            <a:pPr marL="0" indent="0" algn="just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MYSQL&gt; ALTER TABLE STUDENT MODIFY (NAME VARCHAR(</a:t>
            </a:r>
            <a:r>
              <a:rPr lang="en-US" b="0" i="0" dirty="0">
                <a:solidFill>
                  <a:srgbClr val="C00000"/>
                </a:solidFill>
                <a:effectLst/>
                <a:latin typeface="inter-regular"/>
              </a:rPr>
              <a:t>20</a:t>
            </a:r>
            <a:r>
              <a:rPr lang="en-US" b="0" i="0" dirty="0">
                <a:solidFill>
                  <a:srgbClr val="000000"/>
                </a:solidFill>
                <a:effectLst/>
                <a:latin typeface="inter-regular"/>
              </a:rPr>
              <a:t>));  </a:t>
            </a:r>
          </a:p>
          <a:p>
            <a:pPr marL="0" indent="0" algn="just">
              <a:buNone/>
            </a:pPr>
            <a:endParaRPr lang="en-US" dirty="0">
              <a:solidFill>
                <a:srgbClr val="000000"/>
              </a:solidFill>
              <a:latin typeface="inter-regular"/>
            </a:endParaRPr>
          </a:p>
          <a:p>
            <a:pPr marL="0" indent="0" algn="just"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inter-regular"/>
              </a:rPr>
              <a:t>.</a:t>
            </a:r>
          </a:p>
          <a:p>
            <a:endParaRPr lang="en-US" b="0" i="0" dirty="0">
              <a:solidFill>
                <a:srgbClr val="000000"/>
              </a:solidFill>
              <a:effectLst/>
              <a:latin typeface="inter-regular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6308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B4C34-61B4-BA39-A46D-ACB105BAD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271" y="113556"/>
            <a:ext cx="11535383" cy="657907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b="0" i="0" dirty="0">
                <a:solidFill>
                  <a:srgbClr val="FF0000"/>
                </a:solidFill>
                <a:effectLst/>
                <a:latin typeface="inter-regular"/>
              </a:rPr>
              <a:t>The ALTER TABLE statement is used to add, delete, or modify columns in an existing table.</a:t>
            </a: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US" sz="3600" b="1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ALTER TABLE emp ADD Email varchar(25);</a:t>
            </a:r>
          </a:p>
          <a:p>
            <a:pPr marL="0" indent="0" algn="just">
              <a:buNone/>
            </a:pPr>
            <a:r>
              <a:rPr lang="en-US" sz="3600" b="1" dirty="0">
                <a:highlight>
                  <a:srgbClr val="FFFFFF"/>
                </a:highlight>
                <a:latin typeface="Consolas" panose="020B0609020204030204" pitchFamily="49" charset="0"/>
              </a:rPr>
              <a:t>					</a:t>
            </a:r>
            <a:r>
              <a:rPr lang="en-US" sz="36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OR</a:t>
            </a:r>
            <a:endParaRPr lang="en-US" sz="3600" b="1" i="0" dirty="0">
              <a:solidFill>
                <a:srgbClr val="FF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US" sz="3600" b="1" i="0" dirty="0"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ALTER TABLE emp ADD (Email2 varchar(55));</a:t>
            </a:r>
          </a:p>
          <a:p>
            <a:pPr marL="0" indent="0" algn="just">
              <a:buNone/>
            </a:pPr>
            <a:endParaRPr lang="en-US" sz="3600" b="1" i="0" dirty="0"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</a:t>
            </a:r>
            <a:r>
              <a:rPr lang="en-US" sz="3600" b="1" dirty="0">
                <a:highlight>
                  <a:srgbClr val="FFFFFF"/>
                </a:highlight>
                <a:latin typeface="Consolas" panose="020B0609020204030204" pitchFamily="49" charset="0"/>
              </a:rPr>
              <a:t>ALTER TABLE emp ADD </a:t>
            </a:r>
            <a:r>
              <a:rPr lang="en-US" sz="3600" b="1" dirty="0">
                <a:solidFill>
                  <a:srgbClr val="7030A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column</a:t>
            </a:r>
            <a:r>
              <a:rPr lang="en-US" sz="3600" b="1" dirty="0">
                <a:highlight>
                  <a:srgbClr val="FFFFFF"/>
                </a:highlight>
                <a:latin typeface="Consolas" panose="020B0609020204030204" pitchFamily="49" charset="0"/>
              </a:rPr>
              <a:t> Address char(30);</a:t>
            </a:r>
          </a:p>
          <a:p>
            <a:pPr marL="0" indent="0" algn="just">
              <a:buNone/>
            </a:pPr>
            <a:endParaRPr lang="en-US" sz="3600" b="1" i="0" dirty="0"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</a:t>
            </a:r>
            <a:r>
              <a:rPr lang="en-US" sz="3600" b="1" dirty="0">
                <a:highlight>
                  <a:srgbClr val="FFFFFF"/>
                </a:highlight>
                <a:latin typeface="Consolas" panose="020B0609020204030204" pitchFamily="49" charset="0"/>
              </a:rPr>
              <a:t>ALTER TABLE emp ADD(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fname</a:t>
            </a: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varchar(55), 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lname</a:t>
            </a: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varchar(10),</a:t>
            </a:r>
            <a:r>
              <a:rPr lang="en-US" sz="3600" b="1" dirty="0" err="1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mname</a:t>
            </a: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varchar(20)</a:t>
            </a:r>
            <a:r>
              <a:rPr lang="en-US" sz="3600" b="1" dirty="0"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r>
              <a:rPr lang="en-US" sz="3600" b="1" dirty="0">
                <a:solidFill>
                  <a:schemeClr val="accent4">
                    <a:lumMod val="75000"/>
                  </a:schemeClr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 algn="just">
              <a:buNone/>
            </a:pPr>
            <a:endParaRPr lang="en-US" sz="3600" b="1" dirty="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endParaRPr lang="en-US" sz="3600" b="1" dirty="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endParaRPr lang="en-US" sz="3600" b="1" dirty="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endParaRPr lang="en-US" sz="3600" b="1" dirty="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endParaRPr lang="en-US" sz="3600" b="1" dirty="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endParaRPr lang="en-US" sz="3600" b="1" dirty="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 algn="just">
              <a:buNone/>
            </a:pPr>
            <a:endParaRPr lang="en-US" sz="3600" b="1" dirty="0">
              <a:solidFill>
                <a:schemeClr val="accent4">
                  <a:lumMod val="75000"/>
                </a:schemeClr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24D4E9-8BD7-F9A9-AEDF-31A5C1D940B5}"/>
              </a:ext>
            </a:extLst>
          </p:cNvPr>
          <p:cNvCxnSpPr>
            <a:cxnSpLocks/>
          </p:cNvCxnSpPr>
          <p:nvPr/>
        </p:nvCxnSpPr>
        <p:spPr>
          <a:xfrm flipH="1" flipV="1">
            <a:off x="8774349" y="3784060"/>
            <a:ext cx="505838" cy="4377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141397F-BED6-EEB9-ACDC-E7AC93C8721B}"/>
              </a:ext>
            </a:extLst>
          </p:cNvPr>
          <p:cNvSpPr txBox="1"/>
          <p:nvPr/>
        </p:nvSpPr>
        <p:spPr>
          <a:xfrm>
            <a:off x="9267216" y="4002932"/>
            <a:ext cx="16472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Optional</a:t>
            </a:r>
            <a:endParaRPr lang="en-I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96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7F23C-4DD0-CB8E-1096-6799ED9A3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62" y="365125"/>
            <a:ext cx="11488366" cy="1325563"/>
          </a:xfrm>
        </p:spPr>
        <p:txBody>
          <a:bodyPr>
            <a:normAutofit fontScale="90000"/>
          </a:bodyPr>
          <a:lstStyle/>
          <a:p>
            <a:r>
              <a:rPr lang="en-IN" dirty="0"/>
              <a:t> </a:t>
            </a:r>
            <a:r>
              <a:rPr lang="en-US" sz="22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IN" dirty="0"/>
              <a:t>ALTER TABLE emp ADD </a:t>
            </a:r>
            <a:r>
              <a:rPr lang="en-IN" dirty="0">
                <a:solidFill>
                  <a:srgbClr val="0070C0"/>
                </a:solidFill>
              </a:rPr>
              <a:t>column</a:t>
            </a:r>
            <a:r>
              <a:rPr lang="en-IN" dirty="0"/>
              <a:t> AA int,</a:t>
            </a:r>
            <a:br>
              <a:rPr lang="en-IN" dirty="0"/>
            </a:br>
            <a:r>
              <a:rPr lang="en-IN" dirty="0"/>
              <a:t>ADD </a:t>
            </a:r>
            <a:r>
              <a:rPr lang="en-IN" dirty="0">
                <a:solidFill>
                  <a:srgbClr val="0070C0"/>
                </a:solidFill>
              </a:rPr>
              <a:t>column</a:t>
            </a:r>
            <a:r>
              <a:rPr lang="en-IN" dirty="0"/>
              <a:t> BB varchar(20),ADD </a:t>
            </a:r>
            <a:r>
              <a:rPr lang="en-IN" dirty="0">
                <a:solidFill>
                  <a:srgbClr val="0070C0"/>
                </a:solidFill>
              </a:rPr>
              <a:t>column</a:t>
            </a:r>
            <a:r>
              <a:rPr lang="en-IN" dirty="0"/>
              <a:t> CC char(30);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152F42-6CF4-D6D2-D460-A84CCBF0163E}"/>
              </a:ext>
            </a:extLst>
          </p:cNvPr>
          <p:cNvSpPr txBox="1"/>
          <p:nvPr/>
        </p:nvSpPr>
        <p:spPr>
          <a:xfrm>
            <a:off x="649726" y="2799556"/>
            <a:ext cx="108925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IN" sz="3600" dirty="0"/>
              <a:t>ALTER TABLE  EMP Drop LName;</a:t>
            </a:r>
          </a:p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IN" sz="3600" dirty="0"/>
              <a:t>ALTER TABLE  EMP Drop </a:t>
            </a:r>
            <a:r>
              <a:rPr lang="en-IN" sz="3600" dirty="0">
                <a:solidFill>
                  <a:srgbClr val="0070C0"/>
                </a:solidFill>
              </a:rPr>
              <a:t>column</a:t>
            </a:r>
            <a:r>
              <a:rPr lang="en-IN" sz="3600" dirty="0"/>
              <a:t> MName;</a:t>
            </a:r>
          </a:p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IN" sz="3600" dirty="0"/>
              <a:t>ALTER TABLE  EMP Drop </a:t>
            </a:r>
            <a:r>
              <a:rPr lang="en-IN" sz="3600" dirty="0">
                <a:solidFill>
                  <a:srgbClr val="0070C0"/>
                </a:solidFill>
              </a:rPr>
              <a:t>column</a:t>
            </a:r>
            <a:r>
              <a:rPr lang="en-IN" sz="3600" dirty="0"/>
              <a:t> FName;</a:t>
            </a:r>
          </a:p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IN" sz="3600" dirty="0"/>
              <a:t>alter table emp drop Salary, Age; 	</a:t>
            </a:r>
            <a:r>
              <a:rPr lang="en-IN" sz="3600" dirty="0">
                <a:solidFill>
                  <a:srgbClr val="FF0000"/>
                </a:solidFill>
              </a:rPr>
              <a:t>ERROR</a:t>
            </a:r>
          </a:p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IN" sz="3600" dirty="0"/>
              <a:t>alter table emp drop (Email,DOB);	</a:t>
            </a:r>
            <a:r>
              <a:rPr lang="en-IN" sz="3600" dirty="0">
                <a:solidFill>
                  <a:srgbClr val="FF0000"/>
                </a:solidFill>
              </a:rPr>
              <a:t>ERROR</a:t>
            </a:r>
          </a:p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IN" sz="3600" dirty="0"/>
              <a:t>alter table emp drop B,drop ADD2;	 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</a:rPr>
              <a:t>OK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14D0D4-735A-927C-A1C8-670C1F98E8F2}"/>
              </a:ext>
            </a:extLst>
          </p:cNvPr>
          <p:cNvSpPr txBox="1"/>
          <p:nvPr/>
        </p:nvSpPr>
        <p:spPr>
          <a:xfrm>
            <a:off x="2636196" y="1767994"/>
            <a:ext cx="656373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DROP columns from Table</a:t>
            </a:r>
          </a:p>
        </p:txBody>
      </p:sp>
    </p:spTree>
    <p:extLst>
      <p:ext uri="{BB962C8B-B14F-4D97-AF65-F5344CB8AC3E}">
        <p14:creationId xmlns:p14="http://schemas.microsoft.com/office/powerpoint/2010/main" val="3490486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B1573-29B4-9B1B-BD3C-C1B34192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845"/>
            <a:ext cx="10515600" cy="996747"/>
          </a:xfrm>
        </p:spPr>
        <p:txBody>
          <a:bodyPr>
            <a:normAutofit fontScale="90000"/>
          </a:bodyPr>
          <a:lstStyle/>
          <a:p>
            <a:r>
              <a:rPr lang="en-IN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  <a:t>RENAME TABLE Statement</a:t>
            </a:r>
            <a:br>
              <a:rPr lang="en-IN" b="0" i="0" dirty="0">
                <a:solidFill>
                  <a:srgbClr val="555555"/>
                </a:solidFill>
                <a:effectLst/>
                <a:highlight>
                  <a:srgbClr val="FFFFFF"/>
                </a:highlight>
                <a:latin typeface="Open Sans" panose="020F0502020204030204" pitchFamily="34" charset="0"/>
              </a:rPr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443BFB-4672-2491-E389-B290A6B49774}"/>
              </a:ext>
            </a:extLst>
          </p:cNvPr>
          <p:cNvSpPr txBox="1"/>
          <p:nvPr/>
        </p:nvSpPr>
        <p:spPr>
          <a:xfrm>
            <a:off x="461253" y="1157592"/>
            <a:ext cx="1089254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US" sz="3600" dirty="0"/>
              <a:t> rename table </a:t>
            </a:r>
            <a:r>
              <a:rPr lang="en-US" sz="3600" dirty="0" err="1">
                <a:solidFill>
                  <a:schemeClr val="accent2">
                    <a:lumMod val="75000"/>
                  </a:schemeClr>
                </a:solidFill>
              </a:rPr>
              <a:t>OLDName</a:t>
            </a:r>
            <a:r>
              <a:rPr lang="en-US" sz="3600" dirty="0"/>
              <a:t> to </a:t>
            </a:r>
            <a:r>
              <a:rPr lang="en-US" sz="3600" dirty="0" err="1">
                <a:solidFill>
                  <a:schemeClr val="accent5">
                    <a:lumMod val="75000"/>
                  </a:schemeClr>
                </a:solidFill>
              </a:rPr>
              <a:t>NEWName</a:t>
            </a:r>
            <a:r>
              <a:rPr lang="en-US" sz="3600" dirty="0"/>
              <a:t> ;</a:t>
            </a:r>
          </a:p>
          <a:p>
            <a:endParaRPr lang="en-IN" sz="3600" dirty="0"/>
          </a:p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US" sz="3600" dirty="0"/>
              <a:t>rename table 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old1</a:t>
            </a:r>
            <a:r>
              <a:rPr lang="en-US" sz="3600" dirty="0"/>
              <a:t> to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new1</a:t>
            </a:r>
            <a:r>
              <a:rPr lang="en-US" sz="3600" dirty="0"/>
              <a:t>,</a:t>
            </a:r>
            <a:r>
              <a:rPr lang="en-US" sz="3600" dirty="0">
                <a:solidFill>
                  <a:schemeClr val="accent2">
                    <a:lumMod val="75000"/>
                  </a:schemeClr>
                </a:solidFill>
              </a:rPr>
              <a:t>old2</a:t>
            </a:r>
            <a:r>
              <a:rPr lang="en-US" sz="3600" dirty="0"/>
              <a:t> to </a:t>
            </a:r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new2</a:t>
            </a:r>
            <a:r>
              <a:rPr lang="en-IN" sz="3600" dirty="0"/>
              <a:t>;</a:t>
            </a:r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4232586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6F3AE-A36A-9555-F8AF-98845816AAF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IN" sz="3600" dirty="0"/>
              <a:t>ALTER TABLE  EMP Drop LName;</a:t>
            </a:r>
          </a:p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IN" sz="3600" dirty="0"/>
              <a:t>ALTER TABLE  EMP Drop </a:t>
            </a:r>
            <a:r>
              <a:rPr lang="en-IN" sz="3600" dirty="0">
                <a:solidFill>
                  <a:srgbClr val="0070C0"/>
                </a:solidFill>
              </a:rPr>
              <a:t>column</a:t>
            </a:r>
            <a:r>
              <a:rPr lang="en-IN" sz="3600" dirty="0"/>
              <a:t> MName;</a:t>
            </a:r>
          </a:p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IN" sz="3600" dirty="0"/>
              <a:t>ALTER TABLE  EMP Drop </a:t>
            </a:r>
            <a:r>
              <a:rPr lang="en-IN" sz="3600" dirty="0">
                <a:solidFill>
                  <a:srgbClr val="0070C0"/>
                </a:solidFill>
              </a:rPr>
              <a:t>column</a:t>
            </a:r>
            <a:r>
              <a:rPr lang="en-IN" sz="3600" dirty="0"/>
              <a:t> FName;</a:t>
            </a:r>
          </a:p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IN" sz="3600" dirty="0"/>
              <a:t>alter table emp drop Salary, Age; 	</a:t>
            </a:r>
            <a:r>
              <a:rPr lang="en-IN" sz="3600" dirty="0">
                <a:solidFill>
                  <a:srgbClr val="FF0000"/>
                </a:solidFill>
              </a:rPr>
              <a:t>ERROR</a:t>
            </a:r>
          </a:p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IN" sz="3600" dirty="0"/>
              <a:t>alter table emp drop (Email,DOB);	</a:t>
            </a:r>
            <a:r>
              <a:rPr lang="en-IN" sz="3600" dirty="0">
                <a:solidFill>
                  <a:srgbClr val="FF0000"/>
                </a:solidFill>
              </a:rPr>
              <a:t>ERROR</a:t>
            </a:r>
          </a:p>
          <a:p>
            <a:r>
              <a:rPr lang="en-US" sz="20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MYSQL&gt; </a:t>
            </a:r>
            <a:r>
              <a:rPr lang="en-IN" sz="3600" dirty="0"/>
              <a:t>alter table emp drop B,drop ADD2;	 </a:t>
            </a:r>
            <a:r>
              <a:rPr lang="en-IN" sz="3600" dirty="0">
                <a:solidFill>
                  <a:schemeClr val="accent6">
                    <a:lumMod val="75000"/>
                  </a:schemeClr>
                </a:solidFill>
              </a:rPr>
              <a:t>OK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089E71-9DA1-1B71-FC3B-29BF7C1C6995}"/>
              </a:ext>
            </a:extLst>
          </p:cNvPr>
          <p:cNvSpPr txBox="1"/>
          <p:nvPr/>
        </p:nvSpPr>
        <p:spPr>
          <a:xfrm>
            <a:off x="1559564" y="470136"/>
            <a:ext cx="78204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0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Wotfard"/>
              </a:rPr>
              <a:t>Modify columns of a table</a:t>
            </a:r>
          </a:p>
        </p:txBody>
      </p:sp>
    </p:spTree>
    <p:extLst>
      <p:ext uri="{BB962C8B-B14F-4D97-AF65-F5344CB8AC3E}">
        <p14:creationId xmlns:p14="http://schemas.microsoft.com/office/powerpoint/2010/main" val="1528380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438ED-5C05-A9FA-4389-7CBCF299B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2361" y="22056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MYSQL&gt; SHOW FULL COLUMNS FROM persons2;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9368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085F9-89C5-B1FA-83F9-591F359F7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8771A-E6F4-86C1-4C0F-C57073400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198C1F-75FC-B8D1-F3DD-F2CE5DC0951E}"/>
              </a:ext>
            </a:extLst>
          </p:cNvPr>
          <p:cNvSpPr txBox="1"/>
          <p:nvPr/>
        </p:nvSpPr>
        <p:spPr>
          <a:xfrm>
            <a:off x="1918781" y="5508567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1800" b="0" i="0" dirty="0">
                <a:solidFill>
                  <a:srgbClr val="FF0000"/>
                </a:solidFill>
                <a:effectLst/>
                <a:latin typeface="inter-regular"/>
              </a:rPr>
              <a:t>The ALTER TABLE statement is also used to add and drop various constraints on an existing table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595278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c977a8b-bdb5-42e5-a98b-9b48eb98b23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5B06B481C3F7E46AA84EBF509C21925" ma:contentTypeVersion="9" ma:contentTypeDescription="Create a new document." ma:contentTypeScope="" ma:versionID="ac1a594ea193f4e754c15c1796d12529">
  <xsd:schema xmlns:xsd="http://www.w3.org/2001/XMLSchema" xmlns:xs="http://www.w3.org/2001/XMLSchema" xmlns:p="http://schemas.microsoft.com/office/2006/metadata/properties" xmlns:ns3="bc977a8b-bdb5-42e5-a98b-9b48eb98b237" xmlns:ns4="6c29c240-3448-4276-b137-589eba3d68d9" targetNamespace="http://schemas.microsoft.com/office/2006/metadata/properties" ma:root="true" ma:fieldsID="9d3d13bfd113365977a1f74088255447" ns3:_="" ns4:_="">
    <xsd:import namespace="bc977a8b-bdb5-42e5-a98b-9b48eb98b237"/>
    <xsd:import namespace="6c29c240-3448-4276-b137-589eba3d68d9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977a8b-bdb5-42e5-a98b-9b48eb98b23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29c240-3448-4276-b137-589eba3d68d9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1A62D0-CCB9-42DC-A4A2-D72C32D2501E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6c29c240-3448-4276-b137-589eba3d68d9"/>
    <ds:schemaRef ds:uri="bc977a8b-bdb5-42e5-a98b-9b48eb98b237"/>
  </ds:schemaRefs>
</ds:datastoreItem>
</file>

<file path=customXml/itemProps2.xml><?xml version="1.0" encoding="utf-8"?>
<ds:datastoreItem xmlns:ds="http://schemas.openxmlformats.org/officeDocument/2006/customXml" ds:itemID="{E5DA3EC9-6B6A-4DC8-AFE6-1753BED474C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9D2FA20-7DD9-40EE-A1A2-D51ACABAA4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977a8b-bdb5-42e5-a98b-9b48eb98b237"/>
    <ds:schemaRef ds:uri="6c29c240-3448-4276-b137-589eba3d68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797</Words>
  <Application>Microsoft Office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Aptos</vt:lpstr>
      <vt:lpstr>Aptos Display</vt:lpstr>
      <vt:lpstr>Arial</vt:lpstr>
      <vt:lpstr>Consolas</vt:lpstr>
      <vt:lpstr>DM Sans</vt:lpstr>
      <vt:lpstr>erdana</vt:lpstr>
      <vt:lpstr>inter-bold</vt:lpstr>
      <vt:lpstr>inter-regular</vt:lpstr>
      <vt:lpstr>Liberation Mono</vt:lpstr>
      <vt:lpstr>Open Sans</vt:lpstr>
      <vt:lpstr>Wotfard</vt:lpstr>
      <vt:lpstr>Office Theme</vt:lpstr>
      <vt:lpstr>What is SQL? Features And Benefits </vt:lpstr>
      <vt:lpstr>What is SQL? Features And Benefits </vt:lpstr>
      <vt:lpstr>  What SQL Can Do  </vt:lpstr>
      <vt:lpstr>PowerPoint Presentation</vt:lpstr>
      <vt:lpstr>PowerPoint Presentation</vt:lpstr>
      <vt:lpstr>PowerPoint Presentation</vt:lpstr>
      <vt:lpstr>PowerPoint Presentation</vt:lpstr>
      <vt:lpstr>DROP: It is used to delete both the structure and record stored in the table</vt:lpstr>
      <vt:lpstr>PowerPoint Presentation</vt:lpstr>
      <vt:lpstr>PowerPoint Presentation</vt:lpstr>
      <vt:lpstr> MYSQL&gt; ALTER TABLE emp ADD column AA int, ADD column BB varchar(20),ADD column CC char(30);</vt:lpstr>
      <vt:lpstr>RENAME TABLE Statement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 Trilok Singh</dc:creator>
  <cp:lastModifiedBy>Mr. Trilok Singh</cp:lastModifiedBy>
  <cp:revision>16</cp:revision>
  <dcterms:created xsi:type="dcterms:W3CDTF">2024-08-01T08:20:02Z</dcterms:created>
  <dcterms:modified xsi:type="dcterms:W3CDTF">2024-09-24T05:25:19Z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0x010100D5B06B481C3F7E46AA84EBF509C21925</vt:lpwstr>
  </property>
</Properties>
</file>