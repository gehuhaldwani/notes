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47F5F-52F2-591C-BBEB-49F808389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6492F3-E947-D2A9-0875-CAAC95259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03338-BE99-BD8D-AE91-EDD96F0C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87E6-6FE0-4579-AB03-1AD0C7DD7DA7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D6280-54A5-1A63-DDA2-5C91E32E9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1FCFB-C253-FFE0-C9C2-D89506E8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3791-5754-4D10-B9CE-0D7F1F29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765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94038-B009-AB12-A3FC-DE8BAEE45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448AA-84D4-0F0D-8CD2-E42F5D85D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B7CA2-6B09-5598-C404-E9E12B246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87E6-6FE0-4579-AB03-1AD0C7DD7DA7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EEB3E-2A3A-69F6-F6D0-994F8E06F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E1FF0-60EF-206D-F3A1-00021828D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3791-5754-4D10-B9CE-0D7F1F29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923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7F82D-77FE-69EE-8A99-811284F32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D249D-20FF-C5BD-BE96-4A97CB4C3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4EEE4-A0F2-4816-4AF6-0EF5857F4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87E6-6FE0-4579-AB03-1AD0C7DD7DA7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D65DA-FC8A-8BFE-90D7-45A197F7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AAF5B-8B86-52EB-8B2D-01C8FCE8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3791-5754-4D10-B9CE-0D7F1F29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788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784F-FC21-5B43-4759-EF6DF7246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E58C1-0A26-D9BC-FBCB-8F40174B48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B9E6A-B20B-3383-1248-C091AF671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A1981-A88B-3A2D-CBE6-29794B2D2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87E6-6FE0-4579-AB03-1AD0C7DD7DA7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3A905-0BF1-9167-1FF3-CF671C631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F9F05-2EFB-7853-969E-83D072E4A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3791-5754-4D10-B9CE-0D7F1F29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450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6FF0D-0A2F-3ED2-CDC0-3B9F317B2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7FB44-8365-AACF-60D2-546AA6788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D5F09A-7360-95B9-DCF8-87CCF391A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C06381-87F9-40D9-C3ED-E70894A8F2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A215D3-D775-D737-108A-3A2FFFDC27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18ECB1-FC3C-48DA-6B41-A0C3F580C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87E6-6FE0-4579-AB03-1AD0C7DD7DA7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2260D9-9134-4259-17C9-B050F5960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717E2D-2E52-F28A-98DC-56D3CF14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3791-5754-4D10-B9CE-0D7F1F29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332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000B6-AABD-5C15-DDD7-D7692F9A4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782865-BDC6-8132-1CD2-527E749EE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87E6-6FE0-4579-AB03-1AD0C7DD7DA7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452792-5074-92B2-EAB3-BC63FC6D0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06C1AD-D7EF-D5D2-0EAC-C384A59FA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3791-5754-4D10-B9CE-0D7F1F29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419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399067-1C58-9BE5-402B-EA36B3BC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87E6-6FE0-4579-AB03-1AD0C7DD7DA7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2A4B4C-24E7-F7B1-27F0-4C1B9EB1D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489F4-14CA-7D6A-EC2A-5F5116D79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3791-5754-4D10-B9CE-0D7F1F29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150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5031-7B93-16F6-4FBA-24E8E515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05E65-CD6A-9225-B7D3-8EB18DC03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5B14A0-9BEC-AE5A-27A1-38FCE8911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EEB04-AA83-E773-081B-A7D838389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87E6-6FE0-4579-AB03-1AD0C7DD7DA7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926E7-3D47-68C0-6113-DB0BD0CD3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074E8-BE54-A261-FD42-BFF44635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3791-5754-4D10-B9CE-0D7F1F29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E7130-441D-745F-D93E-C5BF0B56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58FB1D-54A2-5D79-6A07-1D931CD2DE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6D12D-B1C0-BE25-7975-814398B9C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FF38C-8AA2-D207-49F7-90B47D323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87E6-6FE0-4579-AB03-1AD0C7DD7DA7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49479-4B79-754E-5E77-A150AF201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49E76-DC07-8A9D-0855-B6111948A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3791-5754-4D10-B9CE-0D7F1F29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01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33C06-02D6-3550-FB3D-807F6F36C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EE9C64-980D-8832-FE53-B7959D183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28DD9-A1E5-65CC-41BC-6E562C25B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87E6-6FE0-4579-AB03-1AD0C7DD7DA7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6DA5B-E189-4F2F-2B8E-407B36344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0A5B5-AE76-5F2C-105C-472A8E43D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3791-5754-4D10-B9CE-0D7F1F29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346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C23BB0-7F0E-6E9A-6CC4-2F354DCE1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C25C9-5279-82CA-1339-51DCC1C71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06CD6-F683-1377-C2A0-62566C484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87E6-6FE0-4579-AB03-1AD0C7DD7DA7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461A6-B982-885E-20DA-A140F866A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A220B-5883-3097-CBC4-B8E0A3E63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3791-5754-4D10-B9CE-0D7F1F29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866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781CD2-B6CF-4EDE-4873-7FD55A471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C7378-528E-E6B6-B3B8-8CED90C14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9E69F-83CE-0E75-34FF-FA3165A72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6687E6-6FE0-4579-AB03-1AD0C7DD7DA7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B8101-A981-5E0E-1AE2-F279D4A15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64843-E5C8-8DCC-2707-628370B5E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93791-5754-4D10-B9CE-0D7F1F29B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453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DFB0-3BB9-582E-4E47-2136FFDAE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8084" y="163310"/>
            <a:ext cx="9144000" cy="92240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View in MySQL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5A9C8-690C-3F25-0D26-CFB3B6B7B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131" y="1209033"/>
            <a:ext cx="11686163" cy="4073085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000000"/>
                </a:solidFill>
                <a:latin typeface="Verdana" panose="020B0604030504040204" pitchFamily="34" charset="0"/>
              </a:rPr>
              <a:t>A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view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is a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virtual table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based on the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result-set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of an SQL statement.</a:t>
            </a:r>
          </a:p>
          <a:p>
            <a:pPr algn="l"/>
            <a:endParaRPr lang="en-US" sz="28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view contains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rows and columns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just like a real table. The fields in a view are fields from one or more real tables in the database.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MYSQL&gt;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view_name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AS SELECT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column1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column2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,… 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table_name 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8372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DFB0-3BB9-582E-4E47-2136FFDAE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9718" y="515566"/>
            <a:ext cx="9144000" cy="29183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View in MySQL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5A9C8-690C-3F25-0D26-CFB3B6B7B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918" y="807396"/>
            <a:ext cx="11686163" cy="5807413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3200" b="0" i="0" dirty="0">
                <a:solidFill>
                  <a:srgbClr val="333333"/>
                </a:solidFill>
                <a:effectLst/>
                <a:latin typeface="inter-regular"/>
              </a:rPr>
              <a:t>A view is a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inter-regular"/>
              </a:rPr>
              <a:t>database object </a:t>
            </a:r>
            <a:r>
              <a:rPr lang="en-US" sz="3200" b="0" i="0" dirty="0">
                <a:solidFill>
                  <a:srgbClr val="333333"/>
                </a:solidFill>
                <a:effectLst/>
                <a:latin typeface="inter-regular"/>
              </a:rPr>
              <a:t>that has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inter-regular"/>
              </a:rPr>
              <a:t>no values</a:t>
            </a:r>
            <a:r>
              <a:rPr lang="en-US" sz="3200" b="0" i="0" dirty="0">
                <a:solidFill>
                  <a:srgbClr val="333333"/>
                </a:solidFill>
                <a:effectLst/>
                <a:latin typeface="inter-regular"/>
              </a:rPr>
              <a:t>.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3200" b="0" i="0" dirty="0">
                <a:solidFill>
                  <a:srgbClr val="333333"/>
                </a:solidFill>
                <a:effectLst/>
                <a:latin typeface="inter-regular"/>
              </a:rPr>
              <a:t>Its contents are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inter-regular"/>
              </a:rPr>
              <a:t>based on the base table</a:t>
            </a:r>
            <a:r>
              <a:rPr lang="en-US" sz="3200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3200" b="0" i="0" dirty="0">
                <a:solidFill>
                  <a:srgbClr val="333333"/>
                </a:solidFill>
                <a:effectLst/>
                <a:latin typeface="inter-regular"/>
              </a:rPr>
              <a:t>It contains rows and columns similar to the real table.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3200" b="0" i="0" dirty="0">
                <a:solidFill>
                  <a:srgbClr val="333333"/>
                </a:solidFill>
                <a:effectLst/>
                <a:latin typeface="inter-regular"/>
              </a:rPr>
              <a:t>In MySQL, the View is a 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inter-bold"/>
              </a:rPr>
              <a:t>virtual table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inter-regular"/>
              </a:rPr>
              <a:t> </a:t>
            </a:r>
            <a:r>
              <a:rPr lang="en-US" sz="3200" b="0" i="0" dirty="0">
                <a:solidFill>
                  <a:srgbClr val="333333"/>
                </a:solidFill>
                <a:effectLst/>
                <a:latin typeface="inter-regular"/>
              </a:rPr>
              <a:t>created by a query by joining one or more tables.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3200" b="0" i="0" dirty="0">
                <a:solidFill>
                  <a:srgbClr val="333333"/>
                </a:solidFill>
                <a:effectLst/>
                <a:latin typeface="inter-regular"/>
              </a:rPr>
              <a:t>It is operated similarly to the base table but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inter-regular"/>
              </a:rPr>
              <a:t>does not contain </a:t>
            </a:r>
            <a:r>
              <a:rPr lang="en-US" sz="3200" b="0" i="0" dirty="0">
                <a:solidFill>
                  <a:srgbClr val="333333"/>
                </a:solidFill>
                <a:effectLst/>
                <a:latin typeface="inter-regular"/>
              </a:rPr>
              <a:t>any data of its own.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3200" b="0" i="0" dirty="0">
                <a:solidFill>
                  <a:srgbClr val="333333"/>
                </a:solidFill>
                <a:effectLst/>
                <a:latin typeface="inter-regular"/>
              </a:rPr>
              <a:t> The View and table have one main difference that the views are definitions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inter-regular"/>
              </a:rPr>
              <a:t>built on top of other tables (or views).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3200" b="0" i="0" dirty="0">
                <a:solidFill>
                  <a:srgbClr val="333333"/>
                </a:solidFill>
                <a:effectLst/>
                <a:latin typeface="inter-regular"/>
              </a:rPr>
              <a:t>If any changes occur in the underlying table, the same changes reflected in the View also.</a:t>
            </a:r>
            <a:endParaRPr lang="en-US" sz="32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024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DFB0-3BB9-582E-4E47-2136FFDAE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8084" y="163310"/>
            <a:ext cx="9144000" cy="92240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View in MySQL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5A9C8-690C-3F25-0D26-CFB3B6B7B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131" y="1209033"/>
            <a:ext cx="11686163" cy="5269588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8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Note: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view always shows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up-to-date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data! The database engine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recreates the view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every time a user queries it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algn="l"/>
            <a:endParaRPr lang="en-US" sz="28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sz="2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MYSQL&gt;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view_name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AS </a:t>
            </a:r>
          </a:p>
          <a:p>
            <a:pPr algn="l"/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	SELECT [</a:t>
            </a:r>
            <a:r>
              <a:rPr lang="en-US" sz="2800" b="0" i="0" dirty="0">
                <a:effectLst/>
                <a:latin typeface="Consolas" panose="020B0609020204030204" pitchFamily="49" charset="0"/>
              </a:rPr>
              <a:t>new column def. 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column1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column2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...]</a:t>
            </a:r>
          </a:p>
          <a:p>
            <a:pPr algn="l"/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	FROM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table_name 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[new 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condition]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/>
            <a:r>
              <a:rPr lang="en-IN" sz="48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MySQL Dropping a View</a:t>
            </a:r>
          </a:p>
          <a:p>
            <a:pPr algn="l"/>
            <a:endParaRPr lang="en-US" sz="28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sz="3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MYSQL&gt; </a:t>
            </a:r>
            <a:r>
              <a:rPr lang="en-IN" sz="3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DROP</a:t>
            </a:r>
            <a:r>
              <a:rPr lang="en-IN" sz="3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3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IN" sz="3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3000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view_name</a:t>
            </a:r>
            <a:r>
              <a:rPr lang="en-IN" sz="3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864248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DFB0-3BB9-582E-4E47-2136FFDAE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8084" y="163310"/>
            <a:ext cx="9144000" cy="922406"/>
          </a:xfrm>
        </p:spPr>
        <p:txBody>
          <a:bodyPr/>
          <a:lstStyle/>
          <a:p>
            <a:pPr algn="just"/>
            <a:r>
              <a:rPr lang="en-IN" b="0" i="0" dirty="0">
                <a:solidFill>
                  <a:srgbClr val="FF0000"/>
                </a:solidFill>
                <a:effectLst/>
                <a:latin typeface="erdana"/>
              </a:rPr>
              <a:t>MySQL Update 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5A9C8-690C-3F25-0D26-CFB3B6B7B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131" y="1209033"/>
            <a:ext cx="11686163" cy="5269588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3200" b="0" i="0" dirty="0">
                <a:solidFill>
                  <a:srgbClr val="333333"/>
                </a:solidFill>
                <a:effectLst/>
                <a:latin typeface="inter-regular"/>
              </a:rPr>
              <a:t>The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inter-regular"/>
              </a:rPr>
              <a:t>ALTER VIEW </a:t>
            </a:r>
            <a:r>
              <a:rPr lang="en-US" sz="3200" b="0" i="0" dirty="0">
                <a:solidFill>
                  <a:srgbClr val="333333"/>
                </a:solidFill>
                <a:effectLst/>
                <a:latin typeface="inter-regular"/>
              </a:rPr>
              <a:t>statement is used to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inter-regular"/>
              </a:rPr>
              <a:t>modify or update </a:t>
            </a:r>
            <a:r>
              <a:rPr lang="en-US" sz="3200" b="0" i="0" dirty="0">
                <a:solidFill>
                  <a:srgbClr val="333333"/>
                </a:solidFill>
                <a:effectLst/>
                <a:latin typeface="inter-regular"/>
              </a:rPr>
              <a:t>the already created VIEW without dropping it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algn="just"/>
            <a:endParaRPr lang="en-US" sz="2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/>
            <a:r>
              <a:rPr lang="en-US" sz="2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MYSQL&gt;</a:t>
            </a:r>
            <a:r>
              <a:rPr lang="en-US" sz="3600" b="1" i="0" dirty="0">
                <a:solidFill>
                  <a:srgbClr val="006699"/>
                </a:solidFill>
                <a:effectLst/>
                <a:latin typeface="inter-regular"/>
              </a:rPr>
              <a:t>ALTER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3600" b="1" i="0" dirty="0">
                <a:solidFill>
                  <a:srgbClr val="006699"/>
                </a:solidFill>
                <a:effectLst/>
                <a:latin typeface="inter-regular"/>
              </a:rPr>
              <a:t>VIEW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inter-regular"/>
              </a:rPr>
              <a:t>view_name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3600" b="1" i="0" dirty="0">
                <a:solidFill>
                  <a:srgbClr val="006699"/>
                </a:solidFill>
                <a:effectLst/>
                <a:latin typeface="inter-regular"/>
              </a:rPr>
              <a:t>AS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inter-regular"/>
              </a:rPr>
              <a:t>   </a:t>
            </a:r>
            <a:r>
              <a:rPr lang="en-US" sz="3600" b="1" i="0" dirty="0">
                <a:solidFill>
                  <a:srgbClr val="006699"/>
                </a:solidFill>
                <a:effectLst/>
                <a:latin typeface="inter-regular"/>
              </a:rPr>
              <a:t>SELECT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inter-regular"/>
              </a:rPr>
              <a:t> [columns…   </a:t>
            </a:r>
          </a:p>
          <a:p>
            <a:pPr algn="just"/>
            <a:r>
              <a:rPr lang="en-US" sz="3600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US" sz="3600" b="1" i="0" dirty="0">
                <a:solidFill>
                  <a:srgbClr val="006699"/>
                </a:solidFill>
                <a:effectLst/>
                <a:latin typeface="inter-regular"/>
              </a:rPr>
              <a:t>FROM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inter-regular"/>
              </a:rPr>
              <a:t> [</a:t>
            </a:r>
            <a:r>
              <a:rPr lang="en-US" sz="3600" b="1" i="0" dirty="0">
                <a:solidFill>
                  <a:srgbClr val="006699"/>
                </a:solidFill>
                <a:effectLst/>
                <a:latin typeface="inter-regular"/>
              </a:rPr>
              <a:t>table]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inter-regular"/>
              </a:rPr>
              <a:t>   </a:t>
            </a:r>
            <a:r>
              <a:rPr lang="en-US" sz="3600" b="1" i="0" dirty="0">
                <a:solidFill>
                  <a:srgbClr val="006699"/>
                </a:solidFill>
                <a:effectLst/>
                <a:latin typeface="inter-regular"/>
              </a:rPr>
              <a:t>WHERE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inter-regular"/>
              </a:rPr>
              <a:t> [conditions];    </a:t>
            </a:r>
          </a:p>
          <a:p>
            <a:pPr algn="l"/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just"/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MYSQL&gt;</a:t>
            </a:r>
            <a:r>
              <a:rPr lang="en-US" sz="3200" b="0" i="1" dirty="0">
                <a:solidFill>
                  <a:srgbClr val="273239"/>
                </a:solidFill>
                <a:effectLst/>
                <a:latin typeface="Nunito" pitchFamily="2" charset="0"/>
              </a:rPr>
              <a:t>RENAME </a:t>
            </a:r>
            <a:r>
              <a:rPr lang="en-US" sz="3200" b="0" i="1" dirty="0">
                <a:solidFill>
                  <a:srgbClr val="FF0000"/>
                </a:solidFill>
                <a:effectLst/>
                <a:latin typeface="Nunito" pitchFamily="2" charset="0"/>
              </a:rPr>
              <a:t>TABLE</a:t>
            </a:r>
            <a:r>
              <a:rPr lang="en-US" sz="3200" b="0" i="1" dirty="0">
                <a:solidFill>
                  <a:srgbClr val="273239"/>
                </a:solidFill>
                <a:effectLst/>
                <a:latin typeface="Nunito" pitchFamily="2" charset="0"/>
              </a:rPr>
              <a:t> </a:t>
            </a:r>
            <a:r>
              <a:rPr lang="en-US" sz="3200" b="0" i="1" dirty="0" err="1">
                <a:solidFill>
                  <a:srgbClr val="00B0F0"/>
                </a:solidFill>
                <a:effectLst/>
                <a:latin typeface="Nunito" pitchFamily="2" charset="0"/>
              </a:rPr>
              <a:t>old_view_name</a:t>
            </a:r>
            <a:r>
              <a:rPr lang="en-US" sz="3200" b="0" i="1" dirty="0">
                <a:solidFill>
                  <a:srgbClr val="00B0F0"/>
                </a:solidFill>
                <a:effectLst/>
                <a:latin typeface="Nunito" pitchFamily="2" charset="0"/>
              </a:rPr>
              <a:t> </a:t>
            </a:r>
            <a:r>
              <a:rPr lang="en-US" sz="3200" b="0" i="1" dirty="0">
                <a:solidFill>
                  <a:srgbClr val="273239"/>
                </a:solidFill>
                <a:effectLst/>
                <a:latin typeface="Nunito" pitchFamily="2" charset="0"/>
              </a:rPr>
              <a:t>TO </a:t>
            </a:r>
            <a:r>
              <a:rPr lang="en-US" sz="3200" b="0" i="1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Nunito" pitchFamily="2" charset="0"/>
              </a:rPr>
              <a:t>new_view_name</a:t>
            </a:r>
            <a:r>
              <a:rPr lang="en-US" sz="2000" b="0" i="1" dirty="0">
                <a:solidFill>
                  <a:srgbClr val="273239"/>
                </a:solidFill>
                <a:effectLst/>
                <a:latin typeface="Nunito" pitchFamily="2" charset="0"/>
              </a:rPr>
              <a:t>;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59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DFB0-3BB9-582E-4E47-2136FFDAE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8084" y="163310"/>
            <a:ext cx="9144000" cy="922406"/>
          </a:xfrm>
        </p:spPr>
        <p:txBody>
          <a:bodyPr/>
          <a:lstStyle/>
          <a:p>
            <a:pPr algn="just"/>
            <a:r>
              <a:rPr lang="en-IN" b="0" i="0" dirty="0">
                <a:solidFill>
                  <a:srgbClr val="FF0000"/>
                </a:solidFill>
                <a:effectLst/>
                <a:latin typeface="erdana"/>
              </a:rPr>
              <a:t>VIEW (imp. Point 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5A9C8-690C-3F25-0D26-CFB3B6B7B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131" y="1209033"/>
            <a:ext cx="11686163" cy="5269588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4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Insertion, deletion and updating in view takes place in original/base table.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sz="4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4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 view can be created based on </a:t>
            </a:r>
            <a:r>
              <a:rPr lang="en-US" sz="44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table</a:t>
            </a:r>
            <a:r>
              <a:rPr lang="en-US" sz="4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or </a:t>
            </a:r>
            <a:r>
              <a:rPr lang="en-US" sz="44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another views</a:t>
            </a:r>
            <a:r>
              <a:rPr lang="en-US" sz="4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6951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344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erdana</vt:lpstr>
      <vt:lpstr>inter-bold</vt:lpstr>
      <vt:lpstr>inter-regular</vt:lpstr>
      <vt:lpstr>Nunito</vt:lpstr>
      <vt:lpstr>Segoe UI</vt:lpstr>
      <vt:lpstr>Verdana</vt:lpstr>
      <vt:lpstr>Wingdings</vt:lpstr>
      <vt:lpstr>Office Theme</vt:lpstr>
      <vt:lpstr>View in MySQL </vt:lpstr>
      <vt:lpstr>View in MySQL </vt:lpstr>
      <vt:lpstr>View in MySQL </vt:lpstr>
      <vt:lpstr>MySQL Update VIEW</vt:lpstr>
      <vt:lpstr>VIEW (imp. Point 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Trilok Singh</dc:creator>
  <cp:lastModifiedBy>Mr. Trilok Singh</cp:lastModifiedBy>
  <cp:revision>14</cp:revision>
  <dcterms:created xsi:type="dcterms:W3CDTF">2024-09-09T16:42:53Z</dcterms:created>
  <dcterms:modified xsi:type="dcterms:W3CDTF">2024-09-09T17:31:01Z</dcterms:modified>
</cp:coreProperties>
</file>