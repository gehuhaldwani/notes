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5"/>
  </p:notesMasterIdLst>
  <p:sldIdLst>
    <p:sldId id="256" r:id="rId2"/>
    <p:sldId id="257" r:id="rId3"/>
    <p:sldId id="258" r:id="rId4"/>
    <p:sldId id="259" r:id="rId5"/>
    <p:sldId id="260" r:id="rId6"/>
    <p:sldId id="358" r:id="rId7"/>
    <p:sldId id="297"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8" r:id="rId45"/>
    <p:sldId id="299" r:id="rId46"/>
    <p:sldId id="300" r:id="rId47"/>
    <p:sldId id="301" r:id="rId48"/>
    <p:sldId id="302" r:id="rId49"/>
    <p:sldId id="303" r:id="rId50"/>
    <p:sldId id="304" r:id="rId51"/>
    <p:sldId id="305" r:id="rId52"/>
    <p:sldId id="306" r:id="rId53"/>
    <p:sldId id="307" r:id="rId54"/>
    <p:sldId id="308" r:id="rId55"/>
    <p:sldId id="314" r:id="rId56"/>
    <p:sldId id="309" r:id="rId57"/>
    <p:sldId id="313" r:id="rId58"/>
    <p:sldId id="310" r:id="rId59"/>
    <p:sldId id="311" r:id="rId60"/>
    <p:sldId id="312" r:id="rId61"/>
    <p:sldId id="315" r:id="rId62"/>
    <p:sldId id="316" r:id="rId63"/>
    <p:sldId id="317" r:id="rId64"/>
    <p:sldId id="318" r:id="rId65"/>
    <p:sldId id="319" r:id="rId66"/>
    <p:sldId id="331" r:id="rId67"/>
    <p:sldId id="320" r:id="rId68"/>
    <p:sldId id="326" r:id="rId69"/>
    <p:sldId id="327" r:id="rId70"/>
    <p:sldId id="328" r:id="rId71"/>
    <p:sldId id="325" r:id="rId72"/>
    <p:sldId id="324" r:id="rId73"/>
    <p:sldId id="322" r:id="rId74"/>
    <p:sldId id="329" r:id="rId75"/>
    <p:sldId id="334" r:id="rId76"/>
    <p:sldId id="333" r:id="rId77"/>
    <p:sldId id="330" r:id="rId78"/>
    <p:sldId id="335" r:id="rId79"/>
    <p:sldId id="336" r:id="rId80"/>
    <p:sldId id="337" r:id="rId81"/>
    <p:sldId id="338" r:id="rId82"/>
    <p:sldId id="323" r:id="rId83"/>
    <p:sldId id="347" r:id="rId84"/>
    <p:sldId id="341" r:id="rId85"/>
    <p:sldId id="342" r:id="rId86"/>
    <p:sldId id="348" r:id="rId87"/>
    <p:sldId id="343" r:id="rId88"/>
    <p:sldId id="344" r:id="rId89"/>
    <p:sldId id="345" r:id="rId90"/>
    <p:sldId id="346" r:id="rId91"/>
    <p:sldId id="350" r:id="rId92"/>
    <p:sldId id="349" r:id="rId93"/>
    <p:sldId id="351" r:id="rId94"/>
    <p:sldId id="339" r:id="rId95"/>
    <p:sldId id="340" r:id="rId96"/>
    <p:sldId id="332" r:id="rId97"/>
    <p:sldId id="321" r:id="rId98"/>
    <p:sldId id="352" r:id="rId99"/>
    <p:sldId id="353" r:id="rId100"/>
    <p:sldId id="354" r:id="rId101"/>
    <p:sldId id="355" r:id="rId102"/>
    <p:sldId id="356" r:id="rId103"/>
    <p:sldId id="357"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79" d="100"/>
          <a:sy n="79" d="100"/>
        </p:scale>
        <p:origin x="80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13T07:48:26.145"/>
    </inkml:context>
    <inkml:brush xml:id="br0">
      <inkml:brushProperty name="width" value="0.35" units="cm"/>
      <inkml:brushProperty name="height" value="0.35" units="cm"/>
    </inkml:brush>
  </inkml:definitions>
  <inkml:trace contextRef="#ctx0" brushRef="#br0">65 0 5320 0 0,'0'0'0'0'0,"-25"22"440"0"0,16-27-280 0 0,0 5 168 0 0,-3 2 8 0 0,3 5-248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44:13.280"/>
    </inkml:context>
    <inkml:brush xml:id="br0">
      <inkml:brushProperty name="width" value="0.05" units="cm"/>
      <inkml:brushProperty name="height" value="0.05" units="cm"/>
    </inkml:brush>
  </inkml:definitions>
  <inkml:trace contextRef="#ctx0" brushRef="#br0">1 0 7328 0 0,'0'0'0'0'0,"7"28"360"0"0,0-37-176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44:42.348"/>
    </inkml:context>
    <inkml:brush xml:id="br0">
      <inkml:brushProperty name="width" value="0.05" units="cm"/>
      <inkml:brushProperty name="height" value="0.05" units="cm"/>
    </inkml:brush>
  </inkml:definitions>
  <inkml:trace contextRef="#ctx0" brushRef="#br0">282 0 5224 0 0,'0'0'3488'0'0,"1"5"-3184"0"0,-1 23-103 0 0,0-1 0 0 0,-2 0 0 0 0,-10 54 0 0 0,0-4-23 0 0,-30 243 509 0 0,37-282-628 0 0,-50 291 462 0 0,24-167-324 0 0,26-138-148 0 0,-1 1 0 0 0,-12 30 0 0 0,6-21 15 0 0,10-28-47 0 0,-1 1-1 0 0,0-1 1 0 0,0 0 0 0 0,0 0 0 0 0,-1-1-1 0 0,0 1 1 0 0,0-1 0 0 0,0 0-1 0 0,-1 0 1 0 0,0 0 0 0 0,0 0 0 0 0,-10 6-1 0 0,0-3 35 0 0,11-9-53 0 0,2 0 7 0 0,0 1 3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44:42.787"/>
    </inkml:context>
    <inkml:brush xml:id="br0">
      <inkml:brushProperty name="width" value="0.05" units="cm"/>
      <inkml:brushProperty name="height" value="0.05" units="cm"/>
    </inkml:brush>
  </inkml:definitions>
  <inkml:trace contextRef="#ctx0" brushRef="#br0">1 1 7832 0 0,'0'0'198'0'0,"1"4"-168"0"0,14 56 172 0 0,9 84 1 0 0,-11 16 59 0 0,-12-135-231 0 0,11 102 139 0 0,-12-113-132 0 0,2 0 1 0 0,4 22 0 0 0,-5-31-22 0 0,0 1 1 0 0,1 0-1 0 0,0-1 1 0 0,0 0-1 0 0,1 0 1 0 0,0 1-1 0 0,0-1 1 0 0,5 7-1 0 0,-8-12-14 0 0,0 0 0 0 0,0 1 0 0 0,1-1 1 0 0,-1 0-1 0 0,0 0 0 0 0,0 1 0 0 0,1-1 0 0 0,-1 0 0 0 0,0 0 0 0 0,0 0 0 0 0,1 1 1 0 0,-1-1-1 0 0,0 0 0 0 0,1 0 0 0 0,-1 0 0 0 0,0 0 0 0 0,1 0 0 0 0,-1 1 1 0 0,0-1-1 0 0,1 0 0 0 0,-1 0 0 0 0,0 0 0 0 0,1 0 0 0 0,-1 0 0 0 0,0 0 0 0 0,1 0 1 0 0,-1 0-1 0 0,1 0 0 0 0,-1-1 0 0 0,1 1-1 0 0,-1 0 1 0 0,0 0 0 0 0,1 0 0 0 0,-1 0-1 0 0,0 0 1 0 0,1 0 0 0 0,-1 0 0 0 0,0 0-1 0 0,1 0 1 0 0,-1 1 0 0 0,0-1 0 0 0,1 0-1 0 0,-1 0 1 0 0,0 0 0 0 0,1 0 0 0 0,-1 0-1 0 0,0 0 1 0 0,0 1 0 0 0,1-1-1 0 0,-1 0 1 0 0,0 0 0 0 0,0 0 0 0 0,1 1-1 0 0,-1-1 1 0 0,0 0 0 0 0,0 0 0 0 0,0 1-1 0 0,1-1 1 0 0,-1 0 0 0 0,0 1 0 0 0,1 0 6 0 0,0 0 1 0 0,1 0-1 0 0,-1 0 1 0 0,0 0-1 0 0,1 0 1 0 0,-1-1-1 0 0,0 1 1 0 0,1 0-1 0 0,-1-1 0 0 0,1 1 1 0 0,-1-1-1 0 0,1 1 1 0 0,-1-1-1 0 0,1 0 1 0 0,-1 0-1 0 0,1 1 1 0 0,-1-1-1 0 0,1 0 1 0 0,0 0-1 0 0,-1-1 1 0 0,1 1-1 0 0,-1 0 1 0 0,1-1-1 0 0,-1 1 1 0 0,1 0-1 0 0,-1-1 1 0 0,3-1-1 0 0,5-2 40 0 0,0 0 1 0 0,-1 0-1 0 0,15-11 0 0 0,4-4 25 0 0,46-47 0 0 0,20-33 77 0 0,-79 84-124 0 0,25-29 37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49:22.806"/>
    </inkml:context>
    <inkml:brush xml:id="br0">
      <inkml:brushProperty name="width" value="0.05" units="cm"/>
      <inkml:brushProperty name="height" value="0.05" units="cm"/>
    </inkml:brush>
  </inkml:definitions>
  <inkml:trace contextRef="#ctx0" brushRef="#br0">1 0 7136 0 0,'0'0'0'0'0,"32"11"0"0"0,7 16 0 0 0,1-21 88 0 0,-5-3 0 0 0,7 5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57:38.435"/>
    </inkml:context>
    <inkml:brush xml:id="br0">
      <inkml:brushProperty name="width" value="0.05" units="cm"/>
      <inkml:brushProperty name="height" value="0.05" units="cm"/>
    </inkml:brush>
  </inkml:definitions>
  <inkml:trace contextRef="#ctx0" brushRef="#br0">429 83 1800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57:52.853"/>
    </inkml:context>
    <inkml:brush xml:id="br0">
      <inkml:brushProperty name="width" value="0.05" units="cm"/>
      <inkml:brushProperty name="height" value="0.05" units="cm"/>
    </inkml:brush>
  </inkml:definitions>
  <inkml:trace contextRef="#ctx0" brushRef="#br0">0 0 96 0 0,'0'0'0'0'0,"22"26"0"0"0,-6-18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52:48.832"/>
    </inkml:context>
    <inkml:brush xml:id="br0">
      <inkml:brushProperty name="width" value="0.05" units="cm"/>
      <inkml:brushProperty name="height" value="0.05" units="cm"/>
    </inkml:brush>
  </inkml:definitions>
  <inkml:trace contextRef="#ctx0" brushRef="#br0">1 64 11048 0 0,'0'0'0'0'0,"44"-7"0"0"0,-1 11 0 0 0,5-12 136 0 0,-1-4 8 0 0,4 0-8 0 0,-1 12 0 0 0,-9-9-48 0 0,-10-3-8 0 0,-4 4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53:41.336"/>
    </inkml:context>
    <inkml:brush xml:id="br0">
      <inkml:brushProperty name="width" value="0.05" units="cm"/>
      <inkml:brushProperty name="height" value="0.05" units="cm"/>
    </inkml:brush>
  </inkml:definitions>
  <inkml:trace contextRef="#ctx0" brushRef="#br0">84 1 96 0 0,'0'0'0'0'0,"-26"13"0"0"0,5-5 528 0 0,1-5 8 0 0,3-3 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53:41.751"/>
    </inkml:context>
    <inkml:brush xml:id="br0">
      <inkml:brushProperty name="width" value="0.05" units="cm"/>
      <inkml:brushProperty name="height" value="0.05" units="cm"/>
    </inkml:brush>
  </inkml:definitions>
  <inkml:trace contextRef="#ctx0" brushRef="#br0">1 0 96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51:51.561"/>
    </inkml:context>
    <inkml:brush xml:id="br0">
      <inkml:brushProperty name="width" value="0.05" units="cm"/>
      <inkml:brushProperty name="height" value="0.05" units="cm"/>
    </inkml:brush>
  </inkml:definitions>
  <inkml:trace contextRef="#ctx0" brushRef="#br0">1 1 7936 0 0,'0'0'0'0'0,"26"15"0"0"0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53:52.713"/>
    </inkml:context>
    <inkml:brush xml:id="br0">
      <inkml:brushProperty name="width" value="0.05" units="cm"/>
      <inkml:brushProperty name="height" value="0.05" units="cm"/>
    </inkml:brush>
  </inkml:definitions>
  <inkml:trace contextRef="#ctx0" brushRef="#br0">1 34 96 0 0,'0'0'0'0'0,"24"-12"0"0"0,-12 6 424 0 0,0-2-8 0 0,0 1 8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54:55.634"/>
    </inkml:context>
    <inkml:brush xml:id="br0">
      <inkml:brushProperty name="width" value="0.05" units="cm"/>
      <inkml:brushProperty name="height" value="0.05" units="cm"/>
    </inkml:brush>
  </inkml:definitions>
  <inkml:trace contextRef="#ctx0" brushRef="#br0">256 433 192 0 0,'0'0'0'0'0,"51"-24"0"0"0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1T10:55:14.774"/>
    </inkml:context>
    <inkml:brush xml:id="br0">
      <inkml:brushProperty name="width" value="0.05" units="cm"/>
      <inkml:brushProperty name="height" value="0.05" units="cm"/>
    </inkml:brush>
  </inkml:definitions>
  <inkml:trace contextRef="#ctx0" brushRef="#br0">0 1 96 0 0,'0'0'7296'0'0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2T06:52:40.816"/>
    </inkml:context>
    <inkml:brush xml:id="br0">
      <inkml:brushProperty name="width" value="0.035" units="cm"/>
      <inkml:brushProperty name="height" value="0.035" units="cm"/>
    </inkml:brush>
  </inkml:definitions>
  <inkml:trace contextRef="#ctx0" brushRef="#br0">281 1 96 0 0,'-4'21'0'0'0,"3"-20"0"0"0,0 1 0 0 0,1-1 0 0 0,-1 0 0 0 0,0 0 0 0 0,0 0 0 0 0,0 0 0 0 0,0 0 0 0 0,0-1 0 0 0,0 1 0 0 0,0 0 0 0 0,-1 0 0 0 0,-40 26 0 0 0,37-24 0 0 0,0 1 0 0 0,0-1 0 0 0,0 1 0 0 0,-11 4 0 0 0,12-6 0 0 0,0 0 0 0 0,1 0 0 0 0,-1 1 0 0 0,1-1 0 0 0,-1 1 0 0 0,1 0 0 0 0,-3 3 0 0 0,-18 15 0 0 0,22-20 0 0 0,-1 2 0 0 0,0-1 0 0 0,1 0 0 0 0,-1 1 0 0 0,1-1 0 0 0,-4 6 0 0 0,4-5 0 0 0,0-1 0 0 0,0 1 0 0 0,0-1 0 0 0,0 0 0 0 0,-1 0 0 0 0,1 0 0 0 0,-1 0 0 0 0,-3 3 0 0 0,4-4 0 0 0,0 0 0 0 0,0 0 0 0 0,0 0 0 0 0,0 0 0 0 0,0 1 0 0 0,0-1 0 0 0,1 1 0 0 0,-1-1 0 0 0,1 1 0 0 0,-1 0 0 0 0,1 0 0 0 0,0-1 0 0 0,-1 1 0 0 0,1 0 0 0 0,-1 4 0 0 0,-8 9 0 0 0,6-9 0 0 0,-14 30 0 0 0,1 0 0 0 0,12-23 0 0 0,1 1 0 0 0,3-3 0 0 0,1 0 0 0 0,0 0 0 0 0,0-2 0 0 0,0 3 0 0 0,1-5 0 0 0,5 7 0 0 0,2 0 0 0 0,5-1 0 0 0,3-4 0 0 0,-1 0 0 0 0,-1-2 0 0 0,0 0 0 0 0,-3 1 0 0 0,-8-5 0 0 0,0 0 0 0 0,-1-1 0 0 0,1 0 0 0 0,0 1 0 0 0,0-1 0 0 0,1-1 0 0 0,-1 1 0 0 0,6 2 0 0 0,-2-1 0 0 0,3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5277E9-CA95-4FC2-80E1-B6E6C2CD8667}" type="datetimeFigureOut">
              <a:rPr lang="en-IN" smtClean="0"/>
              <a:t>30-08-2024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D274A8-22A4-444C-A816-AECCC2D3B000}" type="slidenum">
              <a:rPr lang="en-IN" smtClean="0"/>
              <a:t>‹#›</a:t>
            </a:fld>
            <a:endParaRPr lang="en-IN"/>
          </a:p>
        </p:txBody>
      </p:sp>
    </p:spTree>
    <p:extLst>
      <p:ext uri="{BB962C8B-B14F-4D97-AF65-F5344CB8AC3E}">
        <p14:creationId xmlns:p14="http://schemas.microsoft.com/office/powerpoint/2010/main" val="1015689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3D274A8-22A4-444C-A816-AECCC2D3B000}" type="slidenum">
              <a:rPr lang="en-IN" smtClean="0"/>
              <a:t>15</a:t>
            </a:fld>
            <a:endParaRPr lang="en-IN"/>
          </a:p>
        </p:txBody>
      </p:sp>
    </p:spTree>
    <p:extLst>
      <p:ext uri="{BB962C8B-B14F-4D97-AF65-F5344CB8AC3E}">
        <p14:creationId xmlns:p14="http://schemas.microsoft.com/office/powerpoint/2010/main" val="3492686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3D274A8-22A4-444C-A816-AECCC2D3B000}" type="slidenum">
              <a:rPr lang="en-IN" smtClean="0"/>
              <a:t>16</a:t>
            </a:fld>
            <a:endParaRPr lang="en-IN"/>
          </a:p>
        </p:txBody>
      </p:sp>
    </p:spTree>
    <p:extLst>
      <p:ext uri="{BB962C8B-B14F-4D97-AF65-F5344CB8AC3E}">
        <p14:creationId xmlns:p14="http://schemas.microsoft.com/office/powerpoint/2010/main" val="326597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3D274A8-22A4-444C-A816-AECCC2D3B000}" type="slidenum">
              <a:rPr lang="en-IN" smtClean="0"/>
              <a:t>24</a:t>
            </a:fld>
            <a:endParaRPr lang="en-IN"/>
          </a:p>
        </p:txBody>
      </p:sp>
    </p:spTree>
    <p:extLst>
      <p:ext uri="{BB962C8B-B14F-4D97-AF65-F5344CB8AC3E}">
        <p14:creationId xmlns:p14="http://schemas.microsoft.com/office/powerpoint/2010/main" val="1525160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3D274A8-22A4-444C-A816-AECCC2D3B000}" type="slidenum">
              <a:rPr lang="en-IN" smtClean="0"/>
              <a:t>30</a:t>
            </a:fld>
            <a:endParaRPr lang="en-IN"/>
          </a:p>
        </p:txBody>
      </p:sp>
    </p:spTree>
    <p:extLst>
      <p:ext uri="{BB962C8B-B14F-4D97-AF65-F5344CB8AC3E}">
        <p14:creationId xmlns:p14="http://schemas.microsoft.com/office/powerpoint/2010/main" val="3917047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3D274A8-22A4-444C-A816-AECCC2D3B000}" type="slidenum">
              <a:rPr lang="en-IN" smtClean="0"/>
              <a:t>52</a:t>
            </a:fld>
            <a:endParaRPr lang="en-IN"/>
          </a:p>
        </p:txBody>
      </p:sp>
    </p:spTree>
    <p:extLst>
      <p:ext uri="{BB962C8B-B14F-4D97-AF65-F5344CB8AC3E}">
        <p14:creationId xmlns:p14="http://schemas.microsoft.com/office/powerpoint/2010/main" val="3647990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3D274A8-22A4-444C-A816-AECCC2D3B000}" type="slidenum">
              <a:rPr lang="en-IN" smtClean="0"/>
              <a:t>85</a:t>
            </a:fld>
            <a:endParaRPr lang="en-IN"/>
          </a:p>
        </p:txBody>
      </p:sp>
    </p:spTree>
    <p:extLst>
      <p:ext uri="{BB962C8B-B14F-4D97-AF65-F5344CB8AC3E}">
        <p14:creationId xmlns:p14="http://schemas.microsoft.com/office/powerpoint/2010/main" val="4246298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DC82D-F6EC-1D5E-D78D-57FEDD0D00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153CD5-FF86-75E9-F81D-D676FE0175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CF3EEF-82C4-A095-330A-2391D3B3FD29}"/>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5" name="Footer Placeholder 4">
            <a:extLst>
              <a:ext uri="{FF2B5EF4-FFF2-40B4-BE49-F238E27FC236}">
                <a16:creationId xmlns:a16="http://schemas.microsoft.com/office/drawing/2014/main" id="{8AC3D49D-5B67-8480-2FF6-8D5C5FEC22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66599C-788D-A454-5821-B159EBEC654E}"/>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1460785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640F-9CF5-356B-A786-5D79BC7AC7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194C70-6636-106B-D635-7230308F7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E7DB9A-2D23-8F6F-B111-E0F7C2E5662E}"/>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5" name="Footer Placeholder 4">
            <a:extLst>
              <a:ext uri="{FF2B5EF4-FFF2-40B4-BE49-F238E27FC236}">
                <a16:creationId xmlns:a16="http://schemas.microsoft.com/office/drawing/2014/main" id="{D3AFBE96-1C1B-D5C3-6569-5741BDF387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88388-C811-3A5A-9FD5-5C0088BC69BD}"/>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123021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D87C-29D2-A308-77B0-953A4C05C2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73F047-188E-EF6B-478A-5220616F7C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3D11AB-B4B7-29B0-9A47-044BCEF539B1}"/>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5" name="Footer Placeholder 4">
            <a:extLst>
              <a:ext uri="{FF2B5EF4-FFF2-40B4-BE49-F238E27FC236}">
                <a16:creationId xmlns:a16="http://schemas.microsoft.com/office/drawing/2014/main" id="{D684A2ED-7AC5-B786-EA38-FB155221ED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E3AF19-9116-61EA-61C0-E574F12630DD}"/>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1813848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B831-DBE2-5618-BC9D-EC443F03CB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DAE9A9-7DA3-829C-A824-3DAEFCD3A9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C9634C7-050F-DF14-9E65-BDAEA7C144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A089F9-54C4-2072-B080-CFF3EE8A29A8}"/>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6" name="Footer Placeholder 5">
            <a:extLst>
              <a:ext uri="{FF2B5EF4-FFF2-40B4-BE49-F238E27FC236}">
                <a16:creationId xmlns:a16="http://schemas.microsoft.com/office/drawing/2014/main" id="{94138853-8363-196C-81AA-1D5D531728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595059-7BAB-56BA-4A5C-612F60988278}"/>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1696442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39C9-E0E7-A7BE-FD5A-ADFF2D533D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57B686-4215-BCB4-DBB6-B3A28D9400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D7F389-C2E9-D706-3F83-C1C83DD3D2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844C0B-8C15-C90B-3E7D-3532577F3D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A74D17-6AB6-AE14-6AD0-5BDE1B4FEB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81B4CC-488A-C522-65B4-E18DFE30041D}"/>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8" name="Footer Placeholder 7">
            <a:extLst>
              <a:ext uri="{FF2B5EF4-FFF2-40B4-BE49-F238E27FC236}">
                <a16:creationId xmlns:a16="http://schemas.microsoft.com/office/drawing/2014/main" id="{56C95D8C-F63C-ED30-503F-52DC408D1E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EE4FA0-DE23-5A3F-5767-CFAD34F45A40}"/>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2869322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AC28-02ED-B7D0-51EE-153D331F65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9FDFCD-3829-56C3-22B6-F610D12E7ACA}"/>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4" name="Footer Placeholder 3">
            <a:extLst>
              <a:ext uri="{FF2B5EF4-FFF2-40B4-BE49-F238E27FC236}">
                <a16:creationId xmlns:a16="http://schemas.microsoft.com/office/drawing/2014/main" id="{3AC6B88F-7B34-C789-AA45-FBFC87B058A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EED5CF-53B2-9655-BF47-57E9D0D43B82}"/>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1916951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5B84B3-F25B-60BD-D692-281AECC11D53}"/>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3" name="Footer Placeholder 2">
            <a:extLst>
              <a:ext uri="{FF2B5EF4-FFF2-40B4-BE49-F238E27FC236}">
                <a16:creationId xmlns:a16="http://schemas.microsoft.com/office/drawing/2014/main" id="{0810EFB7-AB3B-92DA-DE37-153680852E0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619380A-7C05-75C0-C783-8679F1E3D771}"/>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2189602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18626-C8AC-C853-4FD1-E0164F404B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A62D66-8E9B-FF1B-322E-7B828CA691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6F5A4E-34C2-6EA2-4A5A-D9180D13AB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66C7B5-E9D1-D46F-9A14-DB7B2DAAAB8A}"/>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6" name="Footer Placeholder 5">
            <a:extLst>
              <a:ext uri="{FF2B5EF4-FFF2-40B4-BE49-F238E27FC236}">
                <a16:creationId xmlns:a16="http://schemas.microsoft.com/office/drawing/2014/main" id="{54187314-5DBF-9E11-0EC7-5A0612FDBA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42B987-399F-ADFD-1FE0-169A7611A9C1}"/>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1053593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218EE-ED4B-4B49-7442-23169830C0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5C66C4-D9A0-DC31-B3FD-C61703A50B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BDCC957-6956-878C-4EB2-2ADC13AD34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3F3D56-5B2C-9623-0C90-9B573E744A6B}"/>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6" name="Footer Placeholder 5">
            <a:extLst>
              <a:ext uri="{FF2B5EF4-FFF2-40B4-BE49-F238E27FC236}">
                <a16:creationId xmlns:a16="http://schemas.microsoft.com/office/drawing/2014/main" id="{0459C0AF-C4B8-3898-6D75-3AC2A38FCA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DB2495-2B56-4DC0-EDFF-FD26D519048B}"/>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204921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5E8D4-C821-923B-A02B-D0A7B9C9489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B3061C-B1BB-2507-763A-6CAE20D91F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4786E1-9458-A688-5A56-84AADF8B01FE}"/>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5" name="Footer Placeholder 4">
            <a:extLst>
              <a:ext uri="{FF2B5EF4-FFF2-40B4-BE49-F238E27FC236}">
                <a16:creationId xmlns:a16="http://schemas.microsoft.com/office/drawing/2014/main" id="{DE0F2BA4-4167-AA1C-5699-8DCB684E81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98120C-FE38-5988-1504-5455AD31987E}"/>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2668699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D772D2-C24F-3769-7902-805FFCA1DF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625AE5-9C5A-CB6B-D492-1EEDAFAA9E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4AEEBE-305B-9183-4A96-6FDD876D3F36}"/>
              </a:ext>
            </a:extLst>
          </p:cNvPr>
          <p:cNvSpPr>
            <a:spLocks noGrp="1"/>
          </p:cNvSpPr>
          <p:nvPr>
            <p:ph type="dt" sz="half" idx="10"/>
          </p:nvPr>
        </p:nvSpPr>
        <p:spPr/>
        <p:txBody>
          <a:bodyPr/>
          <a:lstStyle/>
          <a:p>
            <a:fld id="{DBB4AD4A-97D8-4971-88B0-10A5C542AA36}" type="datetimeFigureOut">
              <a:rPr lang="en-IN" smtClean="0"/>
              <a:t>30-08-2024</a:t>
            </a:fld>
            <a:endParaRPr lang="en-IN"/>
          </a:p>
        </p:txBody>
      </p:sp>
      <p:sp>
        <p:nvSpPr>
          <p:cNvPr id="5" name="Footer Placeholder 4">
            <a:extLst>
              <a:ext uri="{FF2B5EF4-FFF2-40B4-BE49-F238E27FC236}">
                <a16:creationId xmlns:a16="http://schemas.microsoft.com/office/drawing/2014/main" id="{45392779-57B5-690F-1451-50C1DC3FDE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8706AB-F2C5-3047-153A-D09A4B0C1F82}"/>
              </a:ext>
            </a:extLst>
          </p:cNvPr>
          <p:cNvSpPr>
            <a:spLocks noGrp="1"/>
          </p:cNvSpPr>
          <p:nvPr>
            <p:ph type="sldNum" sz="quarter" idx="12"/>
          </p:nvPr>
        </p:nvSpPr>
        <p:spPr/>
        <p:txBody>
          <a:bodyPr/>
          <a:lstStyle/>
          <a:p>
            <a:fld id="{103B2959-27E1-405F-A472-8C9E94BB4700}" type="slidenum">
              <a:rPr lang="en-IN" smtClean="0"/>
              <a:t>‹#›</a:t>
            </a:fld>
            <a:endParaRPr lang="en-IN"/>
          </a:p>
        </p:txBody>
      </p:sp>
    </p:spTree>
    <p:extLst>
      <p:ext uri="{BB962C8B-B14F-4D97-AF65-F5344CB8AC3E}">
        <p14:creationId xmlns:p14="http://schemas.microsoft.com/office/powerpoint/2010/main" val="4003309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3EA97A-CCB2-D597-12B9-7E809921C5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86663F-9F20-AB07-4A7B-E4C9E5F999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9B4CAE-42EC-C678-735C-8F96469E81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B4AD4A-97D8-4971-88B0-10A5C542AA36}" type="datetimeFigureOut">
              <a:rPr lang="en-IN" smtClean="0"/>
              <a:t>30-08-2024</a:t>
            </a:fld>
            <a:endParaRPr lang="en-IN"/>
          </a:p>
        </p:txBody>
      </p:sp>
      <p:sp>
        <p:nvSpPr>
          <p:cNvPr id="5" name="Footer Placeholder 4">
            <a:extLst>
              <a:ext uri="{FF2B5EF4-FFF2-40B4-BE49-F238E27FC236}">
                <a16:creationId xmlns:a16="http://schemas.microsoft.com/office/drawing/2014/main" id="{BB60ADA9-A154-5D5B-3912-CE740AB48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817793B-3143-E1BF-65B1-FB953DECC1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3B2959-27E1-405F-A472-8C9E94BB4700}" type="slidenum">
              <a:rPr lang="en-IN" smtClean="0"/>
              <a:t>‹#›</a:t>
            </a:fld>
            <a:endParaRPr lang="en-IN"/>
          </a:p>
        </p:txBody>
      </p:sp>
    </p:spTree>
    <p:extLst>
      <p:ext uri="{BB962C8B-B14F-4D97-AF65-F5344CB8AC3E}">
        <p14:creationId xmlns:p14="http://schemas.microsoft.com/office/powerpoint/2010/main" val="70562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20" Type="http://schemas.openxmlformats.org/officeDocument/2006/relationships/customXml" Target="../ink/ink3.xml"/><Relationship Id="rId125" Type="http://schemas.openxmlformats.org/officeDocument/2006/relationships/image" Target="../media/image62.png"/><Relationship Id="rId2" Type="http://schemas.openxmlformats.org/officeDocument/2006/relationships/customXml" Target="../ink/ink2.xml"/><Relationship Id="rId1" Type="http://schemas.openxmlformats.org/officeDocument/2006/relationships/slideLayout" Target="../slideLayouts/slideLayout6.xml"/><Relationship Id="rId119" Type="http://schemas.openxmlformats.org/officeDocument/2006/relationships/image" Target="../media/image59.png"/><Relationship Id="rId127" Type="http://schemas.openxmlformats.org/officeDocument/2006/relationships/image" Target="../media/image63.png"/><Relationship Id="rId126" Type="http://schemas.openxmlformats.org/officeDocument/2006/relationships/customXml" Target="../ink/ink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76" Type="http://schemas.openxmlformats.org/officeDocument/2006/relationships/customXml" Target="../ink/ink9.xml"/><Relationship Id="rId197" Type="http://schemas.openxmlformats.org/officeDocument/2006/relationships/image" Target="../media/image10.png"/><Relationship Id="rId281" Type="http://schemas.openxmlformats.org/officeDocument/2006/relationships/image" Target="../media/image238.png"/><Relationship Id="rId3" Type="http://schemas.openxmlformats.org/officeDocument/2006/relationships/customXml" Target="../ink/ink5.xml"/><Relationship Id="rId84" Type="http://schemas.openxmlformats.org/officeDocument/2006/relationships/customXml" Target="../ink/ink8.xml"/><Relationship Id="rId175" Type="http://schemas.openxmlformats.org/officeDocument/2006/relationships/image" Target="../media/image187.png"/><Relationship Id="rId251" Type="http://schemas.openxmlformats.org/officeDocument/2006/relationships/customXml" Target="../ink/ink11.xml"/><Relationship Id="rId311" Type="http://schemas.openxmlformats.org/officeDocument/2006/relationships/image" Target="../media/image253.png"/><Relationship Id="rId358" Type="http://schemas.openxmlformats.org/officeDocument/2006/relationships/customXml" Target="../ink/ink15.xml"/><Relationship Id="rId357" Type="http://schemas.openxmlformats.org/officeDocument/2006/relationships/customXml" Target="../ink/ink14.xml"/><Relationship Id="rId2" Type="http://schemas.openxmlformats.org/officeDocument/2006/relationships/notesSlide" Target="../notesSlides/notesSlide1.xml"/><Relationship Id="rId83" Type="http://schemas.openxmlformats.org/officeDocument/2006/relationships/image" Target="../media/image141.png"/><Relationship Id="rId250" Type="http://schemas.openxmlformats.org/officeDocument/2006/relationships/customXml" Target="../ink/ink10.xml"/><Relationship Id="rId1" Type="http://schemas.openxmlformats.org/officeDocument/2006/relationships/slideLayout" Target="../slideLayouts/slideLayout7.xml"/><Relationship Id="rId32" Type="http://schemas.openxmlformats.org/officeDocument/2006/relationships/customXml" Target="../ink/ink6.xml"/><Relationship Id="rId58" Type="http://schemas.openxmlformats.org/officeDocument/2006/relationships/customXml" Target="../ink/ink7.xml"/><Relationship Id="rId356" Type="http://schemas.openxmlformats.org/officeDocument/2006/relationships/image" Target="../media/image275.png"/><Relationship Id="rId57" Type="http://schemas.openxmlformats.org/officeDocument/2006/relationships/image" Target="../media/image128.png"/><Relationship Id="rId31" Type="http://schemas.openxmlformats.org/officeDocument/2006/relationships/image" Target="../media/image115.png"/><Relationship Id="rId249" Type="http://schemas.openxmlformats.org/officeDocument/2006/relationships/image" Target="../media/image223.png"/><Relationship Id="rId282" Type="http://schemas.openxmlformats.org/officeDocument/2006/relationships/customXml" Target="../ink/ink12.xml"/><Relationship Id="rId312" Type="http://schemas.openxmlformats.org/officeDocument/2006/relationships/customXml" Target="../ink/ink13.xml"/><Relationship Id="rId359" Type="http://schemas.openxmlformats.org/officeDocument/2006/relationships/image" Target="../media/image4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www.studytonight.com/dbms/introduction-to-sql.php" TargetMode="External"/><Relationship Id="rId2" Type="http://schemas.openxmlformats.org/officeDocument/2006/relationships/hyperlink" Target="https://www.studytonight.com/dbms/database-normalization.php"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hyperlink" Target="https://www.geeksforgeeks.org/cardinality-in-dbms/" TargetMode="Externa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www.geeksforgeeks.org/sql-alternate-key/" TargetMode="Externa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hyperlink" Target="https://www.geeksforgeeks.org/composite-key-in-sql/" TargetMode="Externa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8DF68-92FE-4408-9051-2EBE3C6D0F08}"/>
              </a:ext>
            </a:extLst>
          </p:cNvPr>
          <p:cNvSpPr>
            <a:spLocks noGrp="1"/>
          </p:cNvSpPr>
          <p:nvPr>
            <p:ph type="ctrTitle"/>
          </p:nvPr>
        </p:nvSpPr>
        <p:spPr/>
        <p:txBody>
          <a:bodyPr/>
          <a:lstStyle/>
          <a:p>
            <a:r>
              <a:rPr lang="en-US" dirty="0"/>
              <a:t>Introduction to DBMS</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AEC6DAC-0885-A2E5-157F-D793F09D98AB}"/>
                  </a:ext>
                </a:extLst>
              </p14:cNvPr>
              <p14:cNvContentPartPr/>
              <p14:nvPr/>
            </p14:nvContentPartPr>
            <p14:xfrm>
              <a:off x="6800137" y="1670203"/>
              <a:ext cx="23400" cy="9720"/>
            </p14:xfrm>
          </p:contentPart>
        </mc:Choice>
        <mc:Fallback xmlns="">
          <p:pic>
            <p:nvPicPr>
              <p:cNvPr id="4" name="Ink 3">
                <a:extLst>
                  <a:ext uri="{FF2B5EF4-FFF2-40B4-BE49-F238E27FC236}">
                    <a16:creationId xmlns:a16="http://schemas.microsoft.com/office/drawing/2014/main" id="{BAEC6DAC-0885-A2E5-157F-D793F09D98AB}"/>
                  </a:ext>
                </a:extLst>
              </p:cNvPr>
              <p:cNvPicPr/>
              <p:nvPr/>
            </p:nvPicPr>
            <p:blipFill>
              <a:blip r:embed="rId3"/>
              <a:stretch>
                <a:fillRect/>
              </a:stretch>
            </p:blipFill>
            <p:spPr>
              <a:xfrm>
                <a:off x="6737497" y="1607203"/>
                <a:ext cx="149040" cy="135360"/>
              </a:xfrm>
              <a:prstGeom prst="rect">
                <a:avLst/>
              </a:prstGeom>
            </p:spPr>
          </p:pic>
        </mc:Fallback>
      </mc:AlternateContent>
      <p:sp>
        <p:nvSpPr>
          <p:cNvPr id="6" name="Subtitle 5">
            <a:extLst>
              <a:ext uri="{FF2B5EF4-FFF2-40B4-BE49-F238E27FC236}">
                <a16:creationId xmlns:a16="http://schemas.microsoft.com/office/drawing/2014/main" id="{57E863EF-12B2-0A1A-F635-CA2E7C98798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86259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E403F-1BA9-0408-8263-CFC34556CF2A}"/>
              </a:ext>
            </a:extLst>
          </p:cNvPr>
          <p:cNvSpPr>
            <a:spLocks noGrp="1"/>
          </p:cNvSpPr>
          <p:nvPr>
            <p:ph type="title"/>
          </p:nvPr>
        </p:nvSpPr>
        <p:spPr/>
        <p:txBody>
          <a:bodyPr>
            <a:normAutofit fontScale="90000"/>
          </a:bodyPr>
          <a:lstStyle/>
          <a:p>
            <a:br>
              <a:rPr lang="en-US" b="1" dirty="0"/>
            </a:br>
            <a:br>
              <a:rPr lang="en-US" b="1" dirty="0"/>
            </a:br>
            <a:r>
              <a:rPr lang="en-US" b="1" dirty="0"/>
              <a:t>What is a DBMS?</a:t>
            </a:r>
            <a:br>
              <a:rPr lang="en-US" b="1" dirty="0"/>
            </a:br>
            <a:br>
              <a:rPr lang="en-US" dirty="0"/>
            </a:br>
            <a:endParaRPr lang="en-IN" dirty="0"/>
          </a:p>
        </p:txBody>
      </p:sp>
      <p:sp>
        <p:nvSpPr>
          <p:cNvPr id="4" name="TextBox 3">
            <a:extLst>
              <a:ext uri="{FF2B5EF4-FFF2-40B4-BE49-F238E27FC236}">
                <a16:creationId xmlns:a16="http://schemas.microsoft.com/office/drawing/2014/main" id="{F7AFB208-A109-A282-7F01-626B1C85C789}"/>
              </a:ext>
            </a:extLst>
          </p:cNvPr>
          <p:cNvSpPr txBox="1"/>
          <p:nvPr/>
        </p:nvSpPr>
        <p:spPr>
          <a:xfrm>
            <a:off x="789451" y="2154395"/>
            <a:ext cx="10927364" cy="2554545"/>
          </a:xfrm>
          <a:prstGeom prst="rect">
            <a:avLst/>
          </a:prstGeom>
          <a:noFill/>
        </p:spPr>
        <p:txBody>
          <a:bodyPr wrap="square">
            <a:spAutoFit/>
          </a:bodyPr>
          <a:lstStyle/>
          <a:p>
            <a:pPr marL="285750" indent="-285750" algn="just">
              <a:buFont typeface="Arial" panose="020B0604020202020204" pitchFamily="34" charset="0"/>
              <a:buChar char="•"/>
            </a:pPr>
            <a:r>
              <a:rPr lang="en-US" sz="3200" dirty="0"/>
              <a:t>Definition of DBMS.</a:t>
            </a:r>
          </a:p>
          <a:p>
            <a:pPr marL="285750" indent="-285750" algn="just">
              <a:buFont typeface="Arial" panose="020B0604020202020204" pitchFamily="34" charset="0"/>
              <a:buChar char="•"/>
            </a:pPr>
            <a:r>
              <a:rPr lang="en-US" sz="3200" dirty="0"/>
              <a:t>Importance of DBMS in modern applications.</a:t>
            </a:r>
          </a:p>
          <a:p>
            <a:pPr marL="285750" indent="-285750" algn="just">
              <a:buFont typeface="Arial" panose="020B0604020202020204" pitchFamily="34" charset="0"/>
              <a:buChar char="•"/>
            </a:pPr>
            <a:r>
              <a:rPr lang="en-US" sz="3200" dirty="0"/>
              <a:t>Overview of types of DBMS </a:t>
            </a:r>
          </a:p>
          <a:p>
            <a:pPr marL="285750" indent="-285750" algn="just">
              <a:buFont typeface="Arial" panose="020B0604020202020204" pitchFamily="34" charset="0"/>
              <a:buChar char="•"/>
            </a:pPr>
            <a:r>
              <a:rPr lang="en-US" sz="3200" dirty="0"/>
              <a:t>(e.g., hierarchical, network, </a:t>
            </a:r>
            <a:r>
              <a:rPr lang="en-US" sz="3200" dirty="0" err="1"/>
              <a:t>relational,object</a:t>
            </a:r>
            <a:r>
              <a:rPr lang="en-US" sz="3200" dirty="0"/>
              <a:t>-oriented)</a:t>
            </a:r>
            <a:br>
              <a:rPr lang="en-US" sz="3200" dirty="0"/>
            </a:br>
            <a:endParaRPr lang="en-IN" sz="3200" dirty="0"/>
          </a:p>
        </p:txBody>
      </p:sp>
      <p:grpSp>
        <p:nvGrpSpPr>
          <p:cNvPr id="119" name="Group 118">
            <a:extLst>
              <a:ext uri="{FF2B5EF4-FFF2-40B4-BE49-F238E27FC236}">
                <a16:creationId xmlns:a16="http://schemas.microsoft.com/office/drawing/2014/main" id="{18D6115F-0D4B-8A82-F464-86B423768E60}"/>
              </a:ext>
            </a:extLst>
          </p:cNvPr>
          <p:cNvGrpSpPr/>
          <p:nvPr/>
        </p:nvGrpSpPr>
        <p:grpSpPr>
          <a:xfrm>
            <a:off x="11447377" y="3060163"/>
            <a:ext cx="768240" cy="1134720"/>
            <a:chOff x="11447377" y="3060163"/>
            <a:chExt cx="768240" cy="1134720"/>
          </a:xfrm>
        </p:grpSpPr>
        <mc:AlternateContent xmlns:mc="http://schemas.openxmlformats.org/markup-compatibility/2006" xmlns:p14="http://schemas.microsoft.com/office/powerpoint/2010/main">
          <mc:Choice Requires="p14">
            <p:contentPart p14:bwMode="auto" r:id="rId2">
              <p14:nvContentPartPr>
                <p14:cNvPr id="73" name="Ink 72">
                  <a:extLst>
                    <a:ext uri="{FF2B5EF4-FFF2-40B4-BE49-F238E27FC236}">
                      <a16:creationId xmlns:a16="http://schemas.microsoft.com/office/drawing/2014/main" id="{696E6C70-56A5-82F1-B1D2-D9F1ABDBA22A}"/>
                    </a:ext>
                  </a:extLst>
                </p14:cNvPr>
                <p14:cNvContentPartPr/>
                <p14:nvPr/>
              </p14:nvContentPartPr>
              <p14:xfrm>
                <a:off x="12210217" y="3060163"/>
                <a:ext cx="5400" cy="10080"/>
              </p14:xfrm>
            </p:contentPart>
          </mc:Choice>
          <mc:Fallback xmlns="">
            <p:pic>
              <p:nvPicPr>
                <p:cNvPr id="73" name="Ink 72">
                  <a:extLst>
                    <a:ext uri="{FF2B5EF4-FFF2-40B4-BE49-F238E27FC236}">
                      <a16:creationId xmlns:a16="http://schemas.microsoft.com/office/drawing/2014/main" id="{696E6C70-56A5-82F1-B1D2-D9F1ABDBA22A}"/>
                    </a:ext>
                  </a:extLst>
                </p:cNvPr>
                <p:cNvPicPr/>
                <p:nvPr/>
              </p:nvPicPr>
              <p:blipFill>
                <a:blip r:embed="rId119"/>
                <a:stretch>
                  <a:fillRect/>
                </a:stretch>
              </p:blipFill>
              <p:spPr>
                <a:xfrm>
                  <a:off x="12201577" y="3051163"/>
                  <a:ext cx="230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8" name="Ink 77">
                  <a:extLst>
                    <a:ext uri="{FF2B5EF4-FFF2-40B4-BE49-F238E27FC236}">
                      <a16:creationId xmlns:a16="http://schemas.microsoft.com/office/drawing/2014/main" id="{0994520E-8DEA-1B99-2378-C0B0187B9434}"/>
                    </a:ext>
                  </a:extLst>
                </p14:cNvPr>
                <p14:cNvContentPartPr/>
                <p14:nvPr/>
              </p14:nvContentPartPr>
              <p14:xfrm>
                <a:off x="11526577" y="3656683"/>
                <a:ext cx="102240" cy="474840"/>
              </p14:xfrm>
            </p:contentPart>
          </mc:Choice>
          <mc:Fallback xmlns="">
            <p:pic>
              <p:nvPicPr>
                <p:cNvPr id="78" name="Ink 77">
                  <a:extLst>
                    <a:ext uri="{FF2B5EF4-FFF2-40B4-BE49-F238E27FC236}">
                      <a16:creationId xmlns:a16="http://schemas.microsoft.com/office/drawing/2014/main" id="{0994520E-8DEA-1B99-2378-C0B0187B9434}"/>
                    </a:ext>
                  </a:extLst>
                </p:cNvPr>
                <p:cNvPicPr/>
                <p:nvPr/>
              </p:nvPicPr>
              <p:blipFill>
                <a:blip r:embed="rId125"/>
                <a:stretch>
                  <a:fillRect/>
                </a:stretch>
              </p:blipFill>
              <p:spPr>
                <a:xfrm>
                  <a:off x="11517577" y="3647683"/>
                  <a:ext cx="119880" cy="4924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9" name="Ink 78">
                  <a:extLst>
                    <a:ext uri="{FF2B5EF4-FFF2-40B4-BE49-F238E27FC236}">
                      <a16:creationId xmlns:a16="http://schemas.microsoft.com/office/drawing/2014/main" id="{9FEF6DDB-1DA8-4FE7-DAA7-B386ED631DA6}"/>
                    </a:ext>
                  </a:extLst>
                </p14:cNvPr>
                <p14:cNvContentPartPr/>
                <p14:nvPr/>
              </p14:nvContentPartPr>
              <p14:xfrm>
                <a:off x="11447377" y="3957643"/>
                <a:ext cx="164160" cy="237240"/>
              </p14:xfrm>
            </p:contentPart>
          </mc:Choice>
          <mc:Fallback xmlns="">
            <p:pic>
              <p:nvPicPr>
                <p:cNvPr id="79" name="Ink 78">
                  <a:extLst>
                    <a:ext uri="{FF2B5EF4-FFF2-40B4-BE49-F238E27FC236}">
                      <a16:creationId xmlns:a16="http://schemas.microsoft.com/office/drawing/2014/main" id="{9FEF6DDB-1DA8-4FE7-DAA7-B386ED631DA6}"/>
                    </a:ext>
                  </a:extLst>
                </p:cNvPr>
                <p:cNvPicPr/>
                <p:nvPr/>
              </p:nvPicPr>
              <p:blipFill>
                <a:blip r:embed="rId127"/>
                <a:stretch>
                  <a:fillRect/>
                </a:stretch>
              </p:blipFill>
              <p:spPr>
                <a:xfrm>
                  <a:off x="11438737" y="3949003"/>
                  <a:ext cx="181800" cy="254880"/>
                </a:xfrm>
                <a:prstGeom prst="rect">
                  <a:avLst/>
                </a:prstGeom>
              </p:spPr>
            </p:pic>
          </mc:Fallback>
        </mc:AlternateContent>
      </p:grpSp>
    </p:spTree>
    <p:extLst>
      <p:ext uri="{BB962C8B-B14F-4D97-AF65-F5344CB8AC3E}">
        <p14:creationId xmlns:p14="http://schemas.microsoft.com/office/powerpoint/2010/main" val="224346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F5C6B-B0F5-6107-B23D-BB674AF51582}"/>
              </a:ext>
            </a:extLst>
          </p:cNvPr>
          <p:cNvSpPr txBox="1"/>
          <p:nvPr/>
        </p:nvSpPr>
        <p:spPr>
          <a:xfrm>
            <a:off x="602027" y="425963"/>
            <a:ext cx="10950082" cy="6894195"/>
          </a:xfrm>
          <a:prstGeom prst="rect">
            <a:avLst/>
          </a:prstGeom>
          <a:noFill/>
        </p:spPr>
        <p:txBody>
          <a:bodyPr wrap="square">
            <a:spAutoFit/>
          </a:bodyPr>
          <a:lstStyle/>
          <a:p>
            <a:r>
              <a:rPr lang="en-US" sz="2000" b="1" dirty="0"/>
              <a:t>Data</a:t>
            </a:r>
          </a:p>
          <a:p>
            <a:pPr>
              <a:buFont typeface="Arial" panose="020B0604020202020204" pitchFamily="34" charset="0"/>
              <a:buChar char="•"/>
            </a:pPr>
            <a:r>
              <a:rPr lang="en-US" sz="2200" b="1" dirty="0"/>
              <a:t>Definition:</a:t>
            </a:r>
            <a:r>
              <a:rPr lang="en-US" sz="2200" dirty="0"/>
              <a:t>  Data is  the collection of raw facts figures without context  that can be recorded and that have implicit meaning. It can be in various forms, such as numbers, text, images, or sounds.</a:t>
            </a:r>
          </a:p>
          <a:p>
            <a:pPr>
              <a:buFont typeface="Arial" panose="020B0604020202020204" pitchFamily="34" charset="0"/>
              <a:buChar char="•"/>
            </a:pPr>
            <a:r>
              <a:rPr lang="en-US" sz="2200" b="1" dirty="0"/>
              <a:t>Characteristics:</a:t>
            </a:r>
            <a:endParaRPr lang="en-US" sz="2200" dirty="0"/>
          </a:p>
          <a:p>
            <a:pPr marL="742950" lvl="1" indent="-285750">
              <a:buFont typeface="Arial" panose="020B0604020202020204" pitchFamily="34" charset="0"/>
              <a:buChar char="•"/>
            </a:pPr>
            <a:r>
              <a:rPr lang="en-US" sz="2200" b="1" dirty="0"/>
              <a:t>Raw:</a:t>
            </a:r>
            <a:r>
              <a:rPr lang="en-US" sz="2200" dirty="0"/>
              <a:t> Data represents basic facts that, on their own, may not provide much meaning.</a:t>
            </a:r>
          </a:p>
          <a:p>
            <a:pPr marL="742950" lvl="1" indent="-285750">
              <a:buFont typeface="Arial" panose="020B0604020202020204" pitchFamily="34" charset="0"/>
              <a:buChar char="•"/>
            </a:pPr>
            <a:r>
              <a:rPr lang="en-US" sz="2200" b="1" dirty="0"/>
              <a:t>Unorganized:</a:t>
            </a:r>
            <a:r>
              <a:rPr lang="en-US" sz="2200" dirty="0"/>
              <a:t> Data is typically unstructured and requires processing to be useful.</a:t>
            </a:r>
          </a:p>
          <a:p>
            <a:pPr marL="742950" lvl="1" indent="-285750">
              <a:buFont typeface="Arial" panose="020B0604020202020204" pitchFamily="34" charset="0"/>
              <a:buChar char="•"/>
            </a:pPr>
            <a:r>
              <a:rPr lang="en-US" sz="2200" b="1" dirty="0"/>
              <a:t>Types:</a:t>
            </a:r>
            <a:r>
              <a:rPr lang="en-US" sz="2200" dirty="0"/>
              <a:t> Data can be quantitative (numerical) or qualitative (descriptive).</a:t>
            </a:r>
          </a:p>
          <a:p>
            <a:pPr marL="742950" lvl="1" indent="-285750">
              <a:buFont typeface="Arial" panose="020B0604020202020204" pitchFamily="34" charset="0"/>
              <a:buChar char="•"/>
            </a:pPr>
            <a:r>
              <a:rPr lang="en-US" sz="2200" b="1" dirty="0"/>
              <a:t>Examples:</a:t>
            </a:r>
            <a:r>
              <a:rPr lang="en-US" sz="2200" dirty="0"/>
              <a:t> Temperature readings, survey responses, dates, names, and numeric values.</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lvl="1"/>
            <a:r>
              <a:rPr lang="en-US" sz="2800" dirty="0"/>
              <a:t>Information: </a:t>
            </a:r>
            <a:r>
              <a:rPr lang="en-US" sz="2800" dirty="0" err="1"/>
              <a:t>Proess</a:t>
            </a:r>
            <a:r>
              <a:rPr lang="en-US" sz="2800" dirty="0"/>
              <a:t> Data is called Information.</a:t>
            </a:r>
          </a:p>
          <a:p>
            <a:pPr lvl="1"/>
            <a:endParaRPr lang="en-US" sz="2800" dirty="0"/>
          </a:p>
          <a:p>
            <a:pPr lvl="1"/>
            <a:r>
              <a:rPr lang="en-US" sz="2800" dirty="0"/>
              <a:t>Data Base: This collection of related data with an implicit meaning is a database.</a:t>
            </a:r>
          </a:p>
          <a:p>
            <a:pPr lvl="1"/>
            <a:endParaRPr lang="en-US" dirty="0"/>
          </a:p>
          <a:p>
            <a:pPr lvl="1"/>
            <a:endParaRPr lang="en-US" dirty="0"/>
          </a:p>
        </p:txBody>
      </p:sp>
    </p:spTree>
    <p:extLst>
      <p:ext uri="{BB962C8B-B14F-4D97-AF65-F5344CB8AC3E}">
        <p14:creationId xmlns:p14="http://schemas.microsoft.com/office/powerpoint/2010/main" val="3114235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45A38D-BE9A-71DF-2BFE-6B38F7E908D0}"/>
              </a:ext>
            </a:extLst>
          </p:cNvPr>
          <p:cNvSpPr txBox="1"/>
          <p:nvPr/>
        </p:nvSpPr>
        <p:spPr>
          <a:xfrm>
            <a:off x="584989" y="505477"/>
            <a:ext cx="11404442" cy="5693866"/>
          </a:xfrm>
          <a:prstGeom prst="rect">
            <a:avLst/>
          </a:prstGeom>
          <a:noFill/>
        </p:spPr>
        <p:txBody>
          <a:bodyPr wrap="square">
            <a:spAutoFit/>
          </a:bodyPr>
          <a:lstStyle/>
          <a:p>
            <a:pPr lvl="1"/>
            <a:r>
              <a:rPr lang="en-US" sz="2800" dirty="0"/>
              <a:t>A database has the following implicit properties:</a:t>
            </a:r>
          </a:p>
          <a:p>
            <a:pPr lvl="1"/>
            <a:endParaRPr lang="en-US" sz="2800" dirty="0"/>
          </a:p>
          <a:p>
            <a:pPr marL="742950" lvl="1" indent="-285750">
              <a:buFont typeface="Arial" panose="020B0604020202020204" pitchFamily="34" charset="0"/>
              <a:buChar char="•"/>
            </a:pPr>
            <a:r>
              <a:rPr lang="en-US" sz="2800" dirty="0"/>
              <a:t>A database represents some aspect of the real world, sometimes called the </a:t>
            </a:r>
            <a:r>
              <a:rPr lang="en-US" sz="2800" dirty="0" err="1"/>
              <a:t>miniworld</a:t>
            </a:r>
            <a:r>
              <a:rPr lang="en-US" sz="2800" dirty="0"/>
              <a:t> or the universe of discourse (</a:t>
            </a:r>
            <a:r>
              <a:rPr lang="en-US" sz="2800" dirty="0" err="1"/>
              <a:t>UoD</a:t>
            </a:r>
            <a:r>
              <a:rPr lang="en-US" sz="2800" dirty="0"/>
              <a:t>). Changes to the </a:t>
            </a:r>
            <a:r>
              <a:rPr lang="en-US" sz="2800" dirty="0" err="1"/>
              <a:t>miniworld</a:t>
            </a:r>
            <a:r>
              <a:rPr lang="en-US" sz="2800" dirty="0"/>
              <a:t> are reflected in the database.</a:t>
            </a:r>
          </a:p>
          <a:p>
            <a:pPr lvl="1"/>
            <a:endParaRPr lang="en-US" sz="2800" dirty="0"/>
          </a:p>
          <a:p>
            <a:pPr marL="742950" lvl="1" indent="-285750">
              <a:buFont typeface="Arial" panose="020B0604020202020204" pitchFamily="34" charset="0"/>
              <a:buChar char="•"/>
            </a:pPr>
            <a:r>
              <a:rPr lang="en-US" sz="2800" dirty="0"/>
              <a:t> A database is a logically coherent collection of data with some inherent meaning. A random assortment of data cannot correctly be referred to as a database. </a:t>
            </a:r>
          </a:p>
          <a:p>
            <a:pPr lvl="1"/>
            <a:endParaRPr lang="en-US" sz="2800" dirty="0"/>
          </a:p>
          <a:p>
            <a:pPr marL="742950" lvl="1" indent="-285750">
              <a:buFont typeface="Arial" panose="020B0604020202020204" pitchFamily="34" charset="0"/>
              <a:buChar char="•"/>
            </a:pPr>
            <a:r>
              <a:rPr lang="en-US" sz="2800" dirty="0"/>
              <a:t>A database is designed, built, and populated with data for a specific purpose. It has an intended group of users and some preconceived applications in which these users are interested.</a:t>
            </a:r>
          </a:p>
        </p:txBody>
      </p:sp>
    </p:spTree>
    <p:extLst>
      <p:ext uri="{BB962C8B-B14F-4D97-AF65-F5344CB8AC3E}">
        <p14:creationId xmlns:p14="http://schemas.microsoft.com/office/powerpoint/2010/main" val="600364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4BCFB6-6BA0-2771-6EC7-D9B8484B83BD}"/>
              </a:ext>
            </a:extLst>
          </p:cNvPr>
          <p:cNvSpPr txBox="1"/>
          <p:nvPr/>
        </p:nvSpPr>
        <p:spPr>
          <a:xfrm>
            <a:off x="205186" y="417020"/>
            <a:ext cx="10984159" cy="6801862"/>
          </a:xfrm>
          <a:prstGeom prst="rect">
            <a:avLst/>
          </a:prstGeom>
          <a:noFill/>
        </p:spPr>
        <p:txBody>
          <a:bodyPr wrap="square">
            <a:spAutoFit/>
          </a:bodyPr>
          <a:lstStyle/>
          <a:p>
            <a:r>
              <a:rPr lang="en-US" sz="3200" dirty="0"/>
              <a:t>DBMS Definition:</a:t>
            </a:r>
          </a:p>
          <a:p>
            <a:endParaRPr lang="en-US" sz="3200" dirty="0"/>
          </a:p>
          <a:p>
            <a:pPr algn="just"/>
            <a:r>
              <a:rPr lang="en-US" sz="3200" dirty="0"/>
              <a:t>A database management system (DBMS) is a system software that enables users to create and maintain a database. The DBMS is a general-purpose software system that facilitates the processes of defining, constructing, manipulating, and sharing databases among various users and applications.</a:t>
            </a:r>
          </a:p>
          <a:p>
            <a:pPr algn="just"/>
            <a:endParaRPr lang="en-US" sz="3200" dirty="0"/>
          </a:p>
          <a:p>
            <a:pPr algn="just"/>
            <a:r>
              <a:rPr lang="en-US" sz="3200" b="1" dirty="0"/>
              <a:t>Defining</a:t>
            </a:r>
            <a:r>
              <a:rPr lang="en-US" sz="3200" dirty="0"/>
              <a:t> a database involves specifying the data types, structures, and constraints of the data to be stored in the database. The database definition or descriptive information is also stored by the DBMS in the form of a database catalog or dictionary; it is called meta-data. </a:t>
            </a:r>
          </a:p>
          <a:p>
            <a:pPr algn="just"/>
            <a:endParaRPr lang="en-US" sz="2000" dirty="0"/>
          </a:p>
        </p:txBody>
      </p:sp>
    </p:spTree>
    <p:extLst>
      <p:ext uri="{BB962C8B-B14F-4D97-AF65-F5344CB8AC3E}">
        <p14:creationId xmlns:p14="http://schemas.microsoft.com/office/powerpoint/2010/main" val="1120771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32F399-BC6B-1AFF-86E3-9F3250FA42B0}"/>
              </a:ext>
            </a:extLst>
          </p:cNvPr>
          <p:cNvSpPr txBox="1"/>
          <p:nvPr/>
        </p:nvSpPr>
        <p:spPr>
          <a:xfrm>
            <a:off x="243191" y="243191"/>
            <a:ext cx="11799652" cy="6247864"/>
          </a:xfrm>
          <a:prstGeom prst="rect">
            <a:avLst/>
          </a:prstGeom>
          <a:noFill/>
        </p:spPr>
        <p:txBody>
          <a:bodyPr wrap="square">
            <a:spAutoFit/>
          </a:bodyPr>
          <a:lstStyle/>
          <a:p>
            <a:pPr algn="just"/>
            <a:r>
              <a:rPr lang="en-US" sz="4000" b="1" dirty="0"/>
              <a:t>Constructing</a:t>
            </a:r>
            <a:r>
              <a:rPr lang="en-US" sz="4000" dirty="0"/>
              <a:t> the database is the process of storing the data on some storage medium that is controlled by the DBMS.</a:t>
            </a:r>
          </a:p>
          <a:p>
            <a:pPr algn="just"/>
            <a:r>
              <a:rPr lang="en-US" sz="4000" dirty="0"/>
              <a:t> </a:t>
            </a:r>
            <a:r>
              <a:rPr lang="en-US" sz="4000" b="1" dirty="0"/>
              <a:t>Manipulating</a:t>
            </a:r>
            <a:r>
              <a:rPr lang="en-US" sz="4000" dirty="0"/>
              <a:t> a database includes functions such as querying the database to retrieve specific data, updating the data base to reflect changes in the </a:t>
            </a:r>
            <a:r>
              <a:rPr lang="en-US" sz="4000" dirty="0" err="1"/>
              <a:t>miniworld</a:t>
            </a:r>
            <a:r>
              <a:rPr lang="en-US" sz="4000" dirty="0"/>
              <a:t>, and generating reports from the data. </a:t>
            </a:r>
          </a:p>
          <a:p>
            <a:pPr algn="just"/>
            <a:endParaRPr lang="en-US" sz="4000" dirty="0"/>
          </a:p>
          <a:p>
            <a:pPr algn="just"/>
            <a:r>
              <a:rPr lang="en-US" sz="4000" b="1" dirty="0"/>
              <a:t>Sharing</a:t>
            </a:r>
            <a:r>
              <a:rPr lang="en-US" sz="4000" dirty="0"/>
              <a:t> a database allows multiple users and programs to access the database simultaneously.</a:t>
            </a:r>
            <a:endParaRPr lang="en-IN" sz="4000" dirty="0"/>
          </a:p>
        </p:txBody>
      </p:sp>
    </p:spTree>
    <p:extLst>
      <p:ext uri="{BB962C8B-B14F-4D97-AF65-F5344CB8AC3E}">
        <p14:creationId xmlns:p14="http://schemas.microsoft.com/office/powerpoint/2010/main" val="1320937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6EF6D3-618D-EA48-DC9E-D83A2265AB8A}"/>
              </a:ext>
            </a:extLst>
          </p:cNvPr>
          <p:cNvPicPr>
            <a:picLocks noChangeAspect="1"/>
          </p:cNvPicPr>
          <p:nvPr/>
        </p:nvPicPr>
        <p:blipFill rotWithShape="1">
          <a:blip r:embed="rId2"/>
          <a:srcRect l="-1" t="9111" r="1704"/>
          <a:stretch/>
        </p:blipFill>
        <p:spPr>
          <a:xfrm>
            <a:off x="1345475" y="3735978"/>
            <a:ext cx="4750525" cy="2669568"/>
          </a:xfrm>
          <a:prstGeom prst="rect">
            <a:avLst/>
          </a:prstGeom>
        </p:spPr>
      </p:pic>
      <p:pic>
        <p:nvPicPr>
          <p:cNvPr id="5" name="Picture 4">
            <a:extLst>
              <a:ext uri="{FF2B5EF4-FFF2-40B4-BE49-F238E27FC236}">
                <a16:creationId xmlns:a16="http://schemas.microsoft.com/office/drawing/2014/main" id="{BD6064EF-9DBF-51F8-B418-780C73718E5D}"/>
              </a:ext>
            </a:extLst>
          </p:cNvPr>
          <p:cNvPicPr>
            <a:picLocks noChangeAspect="1"/>
          </p:cNvPicPr>
          <p:nvPr/>
        </p:nvPicPr>
        <p:blipFill rotWithShape="1">
          <a:blip r:embed="rId3"/>
          <a:srcRect t="15547" r="2287"/>
          <a:stretch/>
        </p:blipFill>
        <p:spPr>
          <a:xfrm>
            <a:off x="6045293" y="2163507"/>
            <a:ext cx="5861502" cy="2530986"/>
          </a:xfrm>
          <a:prstGeom prst="rect">
            <a:avLst/>
          </a:prstGeom>
        </p:spPr>
      </p:pic>
      <p:pic>
        <p:nvPicPr>
          <p:cNvPr id="7" name="Picture 6">
            <a:extLst>
              <a:ext uri="{FF2B5EF4-FFF2-40B4-BE49-F238E27FC236}">
                <a16:creationId xmlns:a16="http://schemas.microsoft.com/office/drawing/2014/main" id="{6A756967-1513-DBF2-CAED-C7F245A0BE93}"/>
              </a:ext>
            </a:extLst>
          </p:cNvPr>
          <p:cNvPicPr>
            <a:picLocks noChangeAspect="1"/>
          </p:cNvPicPr>
          <p:nvPr/>
        </p:nvPicPr>
        <p:blipFill>
          <a:blip r:embed="rId4"/>
          <a:stretch>
            <a:fillRect/>
          </a:stretch>
        </p:blipFill>
        <p:spPr>
          <a:xfrm>
            <a:off x="149022" y="183537"/>
            <a:ext cx="7143430" cy="2766205"/>
          </a:xfrm>
          <a:prstGeom prst="rect">
            <a:avLst/>
          </a:prstGeom>
        </p:spPr>
      </p:pic>
    </p:spTree>
    <p:extLst>
      <p:ext uri="{BB962C8B-B14F-4D97-AF65-F5344CB8AC3E}">
        <p14:creationId xmlns:p14="http://schemas.microsoft.com/office/powerpoint/2010/main" val="3256918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Isosceles Triangle 2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A413495-AD16-0915-505D-B812AB476713}"/>
              </a:ext>
            </a:extLst>
          </p:cNvPr>
          <p:cNvPicPr>
            <a:picLocks noChangeAspect="1"/>
          </p:cNvPicPr>
          <p:nvPr/>
        </p:nvPicPr>
        <p:blipFill>
          <a:blip r:embed="rId2"/>
          <a:stretch>
            <a:fillRect/>
          </a:stretch>
        </p:blipFill>
        <p:spPr>
          <a:xfrm>
            <a:off x="2430827" y="643467"/>
            <a:ext cx="7330346" cy="5571065"/>
          </a:xfrm>
          <a:prstGeom prst="rect">
            <a:avLst/>
          </a:prstGeom>
          <a:ln>
            <a:noFill/>
          </a:ln>
        </p:spPr>
      </p:pic>
      <p:sp>
        <p:nvSpPr>
          <p:cNvPr id="29" name="Isosceles Triangle 2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982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409119-E736-3519-7E5E-712B9ACD9108}"/>
              </a:ext>
            </a:extLst>
          </p:cNvPr>
          <p:cNvSpPr txBox="1"/>
          <p:nvPr/>
        </p:nvSpPr>
        <p:spPr>
          <a:xfrm>
            <a:off x="488437" y="567950"/>
            <a:ext cx="8656982" cy="4524315"/>
          </a:xfrm>
          <a:prstGeom prst="rect">
            <a:avLst/>
          </a:prstGeom>
          <a:noFill/>
        </p:spPr>
        <p:txBody>
          <a:bodyPr wrap="square">
            <a:spAutoFit/>
          </a:bodyPr>
          <a:lstStyle/>
          <a:p>
            <a:r>
              <a:rPr lang="en-US" b="1" dirty="0"/>
              <a:t>Characteristics of the Database Approach:</a:t>
            </a:r>
          </a:p>
          <a:p>
            <a:endParaRPr lang="en-US" dirty="0"/>
          </a:p>
          <a:p>
            <a:r>
              <a:rPr lang="en-US" dirty="0"/>
              <a:t>The main characteristics of the database approach versus the file-processing approach are the following:</a:t>
            </a:r>
          </a:p>
          <a:p>
            <a:endParaRPr lang="en-US" dirty="0"/>
          </a:p>
          <a:p>
            <a:r>
              <a:rPr lang="en-US" dirty="0"/>
              <a:t>■ Self-describing nature of a database system</a:t>
            </a:r>
          </a:p>
          <a:p>
            <a:endParaRPr lang="en-US" dirty="0"/>
          </a:p>
          <a:p>
            <a:endParaRPr lang="en-US" dirty="0"/>
          </a:p>
          <a:p>
            <a:endParaRPr lang="en-US" dirty="0"/>
          </a:p>
          <a:p>
            <a:r>
              <a:rPr lang="en-US" dirty="0"/>
              <a:t> ■ Insulation between programs and data, and data abstraction</a:t>
            </a:r>
          </a:p>
          <a:p>
            <a:endParaRPr lang="en-US" dirty="0"/>
          </a:p>
          <a:p>
            <a:endParaRPr lang="en-US" dirty="0"/>
          </a:p>
          <a:p>
            <a:r>
              <a:rPr lang="en-US" dirty="0"/>
              <a:t> ■ Support of multiple views of the data</a:t>
            </a:r>
          </a:p>
          <a:p>
            <a:endParaRPr lang="en-US" dirty="0"/>
          </a:p>
          <a:p>
            <a:endParaRPr lang="en-US" dirty="0"/>
          </a:p>
          <a:p>
            <a:r>
              <a:rPr lang="en-US" dirty="0"/>
              <a:t> ■ Sharing of data and multiuser transaction processing</a:t>
            </a:r>
          </a:p>
        </p:txBody>
      </p:sp>
    </p:spTree>
    <p:extLst>
      <p:ext uri="{BB962C8B-B14F-4D97-AF65-F5344CB8AC3E}">
        <p14:creationId xmlns:p14="http://schemas.microsoft.com/office/powerpoint/2010/main" val="502416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CB12B2-786A-9403-274D-FA8857A4F904}"/>
              </a:ext>
            </a:extLst>
          </p:cNvPr>
          <p:cNvSpPr txBox="1"/>
          <p:nvPr/>
        </p:nvSpPr>
        <p:spPr>
          <a:xfrm>
            <a:off x="954157" y="1084785"/>
            <a:ext cx="8668341" cy="5632311"/>
          </a:xfrm>
          <a:prstGeom prst="rect">
            <a:avLst/>
          </a:prstGeom>
          <a:noFill/>
        </p:spPr>
        <p:txBody>
          <a:bodyPr wrap="square">
            <a:spAutoFit/>
          </a:bodyPr>
          <a:lstStyle/>
          <a:p>
            <a:r>
              <a:rPr lang="en-US" b="1" dirty="0"/>
              <a:t>Self-describing nature of a database system:</a:t>
            </a:r>
          </a:p>
          <a:p>
            <a:endParaRPr lang="en-US" dirty="0"/>
          </a:p>
          <a:p>
            <a:r>
              <a:rPr lang="en-US" dirty="0"/>
              <a:t>A fundamental characteristic of the database approach is that the database system contains not only the database itself but also a complete definition or description of the database structure and constraints.</a:t>
            </a:r>
          </a:p>
          <a:p>
            <a:endParaRPr lang="en-US" dirty="0"/>
          </a:p>
          <a:p>
            <a:r>
              <a:rPr lang="en-US" dirty="0"/>
              <a:t>This definition is stored in the DBMS catalog, which contains information such as the structure of each file, the type and storage format of each data item, and various constraints on the data. The information stored in the catalog is called meta-data, and it describes the structure of the primary database</a:t>
            </a:r>
          </a:p>
          <a:p>
            <a:endParaRPr lang="en-US" dirty="0"/>
          </a:p>
          <a:p>
            <a:endParaRPr lang="en-US" dirty="0"/>
          </a:p>
          <a:p>
            <a:endParaRPr lang="en-US" dirty="0"/>
          </a:p>
          <a:p>
            <a:pPr marL="285750" indent="-285750">
              <a:buFont typeface="Arial" panose="020B0604020202020204" pitchFamily="34" charset="0"/>
              <a:buChar char="•"/>
            </a:pPr>
            <a:r>
              <a:rPr lang="en-US" dirty="0"/>
              <a:t>Database System – Database + Meta Data(DB Definition) </a:t>
            </a:r>
          </a:p>
          <a:p>
            <a:r>
              <a:rPr lang="en-US" dirty="0"/>
              <a:t>      Stored in- DBMS Catalog</a:t>
            </a:r>
          </a:p>
          <a:p>
            <a:r>
              <a:rPr lang="en-US" dirty="0"/>
              <a:t>Used By: DBMS Software+ Database Users.</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1557936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F2BC87-79BA-F9B4-8490-B18AA1855E6B}"/>
              </a:ext>
            </a:extLst>
          </p:cNvPr>
          <p:cNvPicPr>
            <a:picLocks noChangeAspect="1"/>
          </p:cNvPicPr>
          <p:nvPr/>
        </p:nvPicPr>
        <p:blipFill>
          <a:blip r:embed="rId2"/>
          <a:stretch>
            <a:fillRect/>
          </a:stretch>
        </p:blipFill>
        <p:spPr>
          <a:xfrm>
            <a:off x="1397158" y="-44819"/>
            <a:ext cx="8405664" cy="5364545"/>
          </a:xfrm>
          <a:prstGeom prst="rect">
            <a:avLst/>
          </a:prstGeom>
        </p:spPr>
      </p:pic>
    </p:spTree>
    <p:extLst>
      <p:ext uri="{BB962C8B-B14F-4D97-AF65-F5344CB8AC3E}">
        <p14:creationId xmlns:p14="http://schemas.microsoft.com/office/powerpoint/2010/main" val="2261929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461C7E-0F92-66B4-1F59-9B5B50257DB3}"/>
              </a:ext>
            </a:extLst>
          </p:cNvPr>
          <p:cNvSpPr txBox="1"/>
          <p:nvPr/>
        </p:nvSpPr>
        <p:spPr>
          <a:xfrm>
            <a:off x="562271" y="346450"/>
            <a:ext cx="11398888" cy="3323987"/>
          </a:xfrm>
          <a:prstGeom prst="rect">
            <a:avLst/>
          </a:prstGeom>
          <a:noFill/>
        </p:spPr>
        <p:txBody>
          <a:bodyPr wrap="square">
            <a:spAutoFit/>
          </a:bodyPr>
          <a:lstStyle/>
          <a:p>
            <a:pPr algn="just"/>
            <a:r>
              <a:rPr lang="en-US" dirty="0"/>
              <a:t>*</a:t>
            </a:r>
            <a:r>
              <a:rPr lang="en-US" sz="2400" dirty="0"/>
              <a:t>DBMS catalog will store the definitions of all the files.</a:t>
            </a:r>
          </a:p>
          <a:p>
            <a:pPr algn="just"/>
            <a:endParaRPr lang="en-US" sz="2400" dirty="0"/>
          </a:p>
          <a:p>
            <a:pPr algn="just"/>
            <a:endParaRPr lang="en-US" sz="2400" dirty="0"/>
          </a:p>
          <a:p>
            <a:pPr algn="just"/>
            <a:r>
              <a:rPr lang="en-US" sz="2400" dirty="0"/>
              <a:t>*DBMS S/w must work with equally well with any number of  database Application.</a:t>
            </a:r>
          </a:p>
          <a:p>
            <a:pPr algn="just"/>
            <a:endParaRPr lang="en-US" sz="2400" dirty="0"/>
          </a:p>
          <a:p>
            <a:pPr algn="just"/>
            <a:endParaRPr lang="en-US" sz="2400" dirty="0"/>
          </a:p>
          <a:p>
            <a:pPr algn="just"/>
            <a:r>
              <a:rPr lang="en-US" sz="2400" dirty="0"/>
              <a:t>*In tradition File  processing , Data Definition(Meta Data)-&gt; Part of the Application Program-&gt; Work with only one specific DB.</a:t>
            </a:r>
          </a:p>
          <a:p>
            <a:pPr algn="just"/>
            <a:r>
              <a:rPr lang="en-US" dirty="0"/>
              <a:t> </a:t>
            </a:r>
            <a:endParaRPr lang="en-IN" dirty="0"/>
          </a:p>
        </p:txBody>
      </p:sp>
    </p:spTree>
    <p:extLst>
      <p:ext uri="{BB962C8B-B14F-4D97-AF65-F5344CB8AC3E}">
        <p14:creationId xmlns:p14="http://schemas.microsoft.com/office/powerpoint/2010/main" val="2590367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BE2120-342E-CB2C-56AD-D9BFDBDBB9A0}"/>
              </a:ext>
            </a:extLst>
          </p:cNvPr>
          <p:cNvSpPr txBox="1"/>
          <p:nvPr/>
        </p:nvSpPr>
        <p:spPr>
          <a:xfrm>
            <a:off x="504265" y="739589"/>
            <a:ext cx="11194676" cy="2862322"/>
          </a:xfrm>
          <a:prstGeom prst="rect">
            <a:avLst/>
          </a:prstGeom>
          <a:noFill/>
        </p:spPr>
        <p:txBody>
          <a:bodyPr wrap="square">
            <a:spAutoFit/>
          </a:bodyPr>
          <a:lstStyle/>
          <a:p>
            <a:pPr algn="just"/>
            <a:r>
              <a:rPr lang="en-US" b="1" dirty="0"/>
              <a:t>Insulation between programs and data, and data abstraction:</a:t>
            </a:r>
          </a:p>
          <a:p>
            <a:pPr algn="just"/>
            <a:endParaRPr lang="en-US" b="1" dirty="0"/>
          </a:p>
          <a:p>
            <a:pPr algn="just"/>
            <a:endParaRPr lang="en-US" b="1" dirty="0"/>
          </a:p>
          <a:p>
            <a:pPr algn="just"/>
            <a:r>
              <a:rPr lang="en-US" dirty="0"/>
              <a:t>In traditional file processing, the structure of data files is embedded in the application programs, so any changes to the structure of a file may require changing all programs that access that file.</a:t>
            </a:r>
          </a:p>
          <a:p>
            <a:pPr algn="just"/>
            <a:endParaRPr lang="en-US" dirty="0"/>
          </a:p>
          <a:p>
            <a:pPr algn="just"/>
            <a:endParaRPr lang="en-US" dirty="0"/>
          </a:p>
          <a:p>
            <a:pPr algn="just"/>
            <a:r>
              <a:rPr lang="en-US" dirty="0"/>
              <a:t> By contrast, DBMS access programs do not require such changes in most cases. The structure of data files is stored in the DBMS catalog separately from the access programs. We call this property program-data independence.</a:t>
            </a:r>
            <a:endParaRPr lang="en-US" b="1" dirty="0"/>
          </a:p>
        </p:txBody>
      </p:sp>
      <p:pic>
        <p:nvPicPr>
          <p:cNvPr id="5" name="Picture 4">
            <a:extLst>
              <a:ext uri="{FF2B5EF4-FFF2-40B4-BE49-F238E27FC236}">
                <a16:creationId xmlns:a16="http://schemas.microsoft.com/office/drawing/2014/main" id="{AD32B622-8064-A248-9935-6DD23C3E5E61}"/>
              </a:ext>
            </a:extLst>
          </p:cNvPr>
          <p:cNvPicPr>
            <a:picLocks noChangeAspect="1"/>
          </p:cNvPicPr>
          <p:nvPr/>
        </p:nvPicPr>
        <p:blipFill>
          <a:blip r:embed="rId2"/>
          <a:stretch>
            <a:fillRect/>
          </a:stretch>
        </p:blipFill>
        <p:spPr>
          <a:xfrm>
            <a:off x="2020679" y="3429000"/>
            <a:ext cx="9106762" cy="2938181"/>
          </a:xfrm>
          <a:prstGeom prst="rect">
            <a:avLst/>
          </a:prstGeom>
        </p:spPr>
      </p:pic>
    </p:spTree>
    <p:extLst>
      <p:ext uri="{BB962C8B-B14F-4D97-AF65-F5344CB8AC3E}">
        <p14:creationId xmlns:p14="http://schemas.microsoft.com/office/powerpoint/2010/main" val="736801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A6BE53-CABD-6179-4D75-4CA95EC47749}"/>
              </a:ext>
            </a:extLst>
          </p:cNvPr>
          <p:cNvSpPr txBox="1"/>
          <p:nvPr/>
        </p:nvSpPr>
        <p:spPr>
          <a:xfrm>
            <a:off x="584947" y="591672"/>
            <a:ext cx="11181229" cy="5909310"/>
          </a:xfrm>
          <a:prstGeom prst="rect">
            <a:avLst/>
          </a:prstGeom>
          <a:noFill/>
        </p:spPr>
        <p:txBody>
          <a:bodyPr wrap="square">
            <a:spAutoFit/>
          </a:bodyPr>
          <a:lstStyle/>
          <a:p>
            <a:endParaRPr lang="en-US" b="1" dirty="0"/>
          </a:p>
          <a:p>
            <a:r>
              <a:rPr lang="en-US" b="1" dirty="0"/>
              <a:t>Support of Multiple Views of the Data:</a:t>
            </a:r>
          </a:p>
          <a:p>
            <a:endParaRPr lang="en-US" b="1" dirty="0"/>
          </a:p>
          <a:p>
            <a:r>
              <a:rPr lang="en-US" dirty="0"/>
              <a:t>A database typically has many types of users, each of whom may require a different perspective or view of the database. A view may be a subset of the database or it may contain virtual data that is derived from the database files but is not explicitly stored. </a:t>
            </a:r>
            <a:endParaRPr lang="en-US" b="1" dirty="0"/>
          </a:p>
          <a:p>
            <a:endParaRPr lang="en-US" b="1" dirty="0"/>
          </a:p>
          <a:p>
            <a:endParaRPr lang="en-US" b="1" dirty="0"/>
          </a:p>
          <a:p>
            <a:r>
              <a:rPr lang="en-US" b="1" dirty="0"/>
              <a:t>Sharing of Data and Multiuser Transaction Processing :</a:t>
            </a:r>
          </a:p>
          <a:p>
            <a:endParaRPr lang="en-US" b="1" dirty="0"/>
          </a:p>
          <a:p>
            <a:pPr algn="just"/>
            <a:r>
              <a:rPr lang="en-US" dirty="0"/>
              <a:t>A multiuser DBMS, as its name implies, must allow multiple users to access the database at the same time. This is essential if data for multiple applications is to be integrated and maintained in a single database. The DBMS must include concurrency control software to ensure that several users trying to update the same data do so in a controlled manner so that the result of the updates is correct.</a:t>
            </a:r>
          </a:p>
          <a:p>
            <a:pPr algn="just"/>
            <a:endParaRPr lang="en-US" dirty="0"/>
          </a:p>
          <a:p>
            <a:pPr algn="just"/>
            <a:r>
              <a:rPr lang="en-US" dirty="0"/>
              <a:t>OLTP-( Online Transaction Processing) –Major Part of database application.</a:t>
            </a:r>
          </a:p>
          <a:p>
            <a:pPr algn="just"/>
            <a:r>
              <a:rPr lang="en-US" dirty="0"/>
              <a:t>DBMS Must Enforce several transaction properties </a:t>
            </a:r>
          </a:p>
          <a:p>
            <a:pPr algn="just"/>
            <a:r>
              <a:rPr lang="en-US" dirty="0"/>
              <a:t>-Atomicity</a:t>
            </a:r>
          </a:p>
          <a:p>
            <a:pPr algn="just"/>
            <a:r>
              <a:rPr lang="en-US" dirty="0"/>
              <a:t>-Isolation</a:t>
            </a:r>
          </a:p>
          <a:p>
            <a:pPr algn="just"/>
            <a:endParaRPr lang="en-US" dirty="0"/>
          </a:p>
          <a:p>
            <a:pPr algn="just"/>
            <a:endParaRPr lang="en-IN" dirty="0"/>
          </a:p>
        </p:txBody>
      </p:sp>
    </p:spTree>
    <p:extLst>
      <p:ext uri="{BB962C8B-B14F-4D97-AF65-F5344CB8AC3E}">
        <p14:creationId xmlns:p14="http://schemas.microsoft.com/office/powerpoint/2010/main" val="2810469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C71454-972E-8486-9853-238AEB9B5A28}"/>
              </a:ext>
            </a:extLst>
          </p:cNvPr>
          <p:cNvSpPr txBox="1"/>
          <p:nvPr/>
        </p:nvSpPr>
        <p:spPr>
          <a:xfrm>
            <a:off x="529087" y="603849"/>
            <a:ext cx="8614913" cy="4524315"/>
          </a:xfrm>
          <a:prstGeom prst="rect">
            <a:avLst/>
          </a:prstGeom>
          <a:noFill/>
        </p:spPr>
        <p:txBody>
          <a:bodyPr wrap="square">
            <a:spAutoFit/>
          </a:bodyPr>
          <a:lstStyle/>
          <a:p>
            <a:pPr algn="l" fontAlgn="base"/>
            <a:r>
              <a:rPr lang="en-US" b="1" i="0" dirty="0">
                <a:solidFill>
                  <a:srgbClr val="273239"/>
                </a:solidFill>
                <a:effectLst/>
                <a:highlight>
                  <a:srgbClr val="FFFFFF"/>
                </a:highlight>
                <a:latin typeface="Nunito" panose="020F0502020204030204" pitchFamily="2" charset="0"/>
              </a:rPr>
              <a:t>Disadvantages of Traditional File System :</a:t>
            </a:r>
            <a:endParaRPr lang="en-US" b="0" i="0" dirty="0">
              <a:solidFill>
                <a:srgbClr val="273239"/>
              </a:solidFill>
              <a:effectLst/>
              <a:highlight>
                <a:srgbClr val="FFFFFF"/>
              </a:highlight>
              <a:latin typeface="Nunito" panose="020F0502020204030204" pitchFamily="2" charset="0"/>
            </a:endParaRPr>
          </a:p>
          <a:p>
            <a:pPr algn="l" fontAlgn="base"/>
            <a:endParaRPr lang="en-US" b="0" i="0" dirty="0">
              <a:solidFill>
                <a:srgbClr val="273239"/>
              </a:solidFill>
              <a:effectLst/>
              <a:highlight>
                <a:srgbClr val="FFFFFF"/>
              </a:highlight>
              <a:latin typeface="Nunito" panose="020F0502020204030204" pitchFamily="2" charset="0"/>
            </a:endParaRP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anose="020F0502020204030204" pitchFamily="2" charset="0"/>
              </a:rPr>
              <a:t>Data redundancy and inconsistency.</a:t>
            </a:r>
          </a:p>
          <a:p>
            <a:pPr algn="l" fontAlgn="base"/>
            <a:endParaRPr lang="en-US" b="0" i="0" dirty="0">
              <a:solidFill>
                <a:srgbClr val="273239"/>
              </a:solidFill>
              <a:effectLst/>
              <a:highlight>
                <a:srgbClr val="FFFFFF"/>
              </a:highlight>
              <a:latin typeface="Nunito" panose="020F0502020204030204" pitchFamily="2" charset="0"/>
            </a:endParaRP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anose="020F0502020204030204" pitchFamily="2" charset="0"/>
              </a:rPr>
              <a:t>Difficulty in accessing data.</a:t>
            </a:r>
          </a:p>
          <a:p>
            <a:pPr algn="l" fontAlgn="base"/>
            <a:endParaRPr lang="en-US" b="0" i="0" dirty="0">
              <a:solidFill>
                <a:srgbClr val="273239"/>
              </a:solidFill>
              <a:effectLst/>
              <a:highlight>
                <a:srgbClr val="FFFFFF"/>
              </a:highlight>
              <a:latin typeface="Nunito" panose="020F0502020204030204" pitchFamily="2" charset="0"/>
            </a:endParaRP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anose="020F0502020204030204" pitchFamily="2" charset="0"/>
              </a:rPr>
              <a:t>Data isolation – multiple files and formats.</a:t>
            </a:r>
          </a:p>
          <a:p>
            <a:pPr algn="l" fontAlgn="base"/>
            <a:endParaRPr lang="en-US" b="0" i="0" dirty="0">
              <a:solidFill>
                <a:srgbClr val="273239"/>
              </a:solidFill>
              <a:effectLst/>
              <a:highlight>
                <a:srgbClr val="FFFFFF"/>
              </a:highlight>
              <a:latin typeface="Nunito" panose="020F0502020204030204" pitchFamily="2" charset="0"/>
            </a:endParaRP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anose="020F0502020204030204" pitchFamily="2" charset="0"/>
              </a:rPr>
              <a:t>Integrity problems.</a:t>
            </a:r>
          </a:p>
          <a:p>
            <a:pPr algn="l" fontAlgn="base"/>
            <a:endParaRPr lang="en-US" b="0" i="0" dirty="0">
              <a:solidFill>
                <a:srgbClr val="273239"/>
              </a:solidFill>
              <a:effectLst/>
              <a:highlight>
                <a:srgbClr val="FFFFFF"/>
              </a:highlight>
              <a:latin typeface="Nunito" panose="020F0502020204030204" pitchFamily="2" charset="0"/>
            </a:endParaRP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anose="020F0502020204030204" pitchFamily="2" charset="0"/>
              </a:rPr>
              <a:t>Unauthorized access is not restricted.</a:t>
            </a:r>
          </a:p>
          <a:p>
            <a:pPr algn="l" fontAlgn="base"/>
            <a:endParaRPr lang="en-US" b="0" i="0" dirty="0">
              <a:solidFill>
                <a:srgbClr val="273239"/>
              </a:solidFill>
              <a:effectLst/>
              <a:highlight>
                <a:srgbClr val="FFFFFF"/>
              </a:highlight>
              <a:latin typeface="Nunito" panose="020F0502020204030204" pitchFamily="2" charset="0"/>
            </a:endParaRP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anose="020F0502020204030204" pitchFamily="2" charset="0"/>
              </a:rPr>
              <a:t>It co-ordinates only physical access.</a:t>
            </a:r>
          </a:p>
          <a:p>
            <a:pPr algn="l" fontAlgn="base"/>
            <a:endParaRPr lang="en-US" b="1" i="0" dirty="0">
              <a:solidFill>
                <a:srgbClr val="273239"/>
              </a:solidFill>
              <a:effectLst/>
              <a:highlight>
                <a:srgbClr val="FFFFFF"/>
              </a:highlight>
              <a:latin typeface="Nunito" panose="020F0502020204030204" pitchFamily="2" charset="0"/>
            </a:endParaRPr>
          </a:p>
          <a:p>
            <a:pPr algn="l" fontAlgn="base"/>
            <a:endParaRPr lang="en-US" b="0" i="0" dirty="0">
              <a:solidFill>
                <a:srgbClr val="273239"/>
              </a:solidFill>
              <a:effectLst/>
              <a:highlight>
                <a:srgbClr val="FFFFFF"/>
              </a:highlight>
              <a:latin typeface="Nunito" pitchFamily="2" charset="0"/>
            </a:endParaRPr>
          </a:p>
          <a:p>
            <a:pPr algn="l" fontAlgn="base"/>
            <a:endParaRPr lang="en-US" b="1" i="0" dirty="0">
              <a:solidFill>
                <a:srgbClr val="273239"/>
              </a:solidFill>
              <a:effectLst/>
              <a:highlight>
                <a:srgbClr val="FFFFFF"/>
              </a:highlight>
              <a:latin typeface="Nunito" panose="020F0502020204030204" pitchFamily="2" charset="0"/>
            </a:endParaRPr>
          </a:p>
        </p:txBody>
      </p:sp>
      <p:grpSp>
        <p:nvGrpSpPr>
          <p:cNvPr id="307" name="Group 306">
            <a:extLst>
              <a:ext uri="{FF2B5EF4-FFF2-40B4-BE49-F238E27FC236}">
                <a16:creationId xmlns:a16="http://schemas.microsoft.com/office/drawing/2014/main" id="{65BA656D-A1C1-1792-224F-0EE8F8B37C51}"/>
              </a:ext>
            </a:extLst>
          </p:cNvPr>
          <p:cNvGrpSpPr/>
          <p:nvPr/>
        </p:nvGrpSpPr>
        <p:grpSpPr>
          <a:xfrm>
            <a:off x="3772897" y="366283"/>
            <a:ext cx="7984800" cy="6192072"/>
            <a:chOff x="3772897" y="366283"/>
            <a:chExt cx="7984800" cy="6192072"/>
          </a:xfrm>
        </p:grpSpPr>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B299159E-567B-BF85-DF56-5473F233033F}"/>
                    </a:ext>
                  </a:extLst>
                </p14:cNvPr>
                <p14:cNvContentPartPr/>
                <p14:nvPr/>
              </p14:nvContentPartPr>
              <p14:xfrm>
                <a:off x="8273257" y="366283"/>
                <a:ext cx="68400" cy="20160"/>
              </p14:xfrm>
            </p:contentPart>
          </mc:Choice>
          <mc:Fallback xmlns="">
            <p:pic>
              <p:nvPicPr>
                <p:cNvPr id="10" name="Ink 9">
                  <a:extLst>
                    <a:ext uri="{FF2B5EF4-FFF2-40B4-BE49-F238E27FC236}">
                      <a16:creationId xmlns:a16="http://schemas.microsoft.com/office/drawing/2014/main" id="{B299159E-567B-BF85-DF56-5473F233033F}"/>
                    </a:ext>
                  </a:extLst>
                </p:cNvPr>
                <p:cNvPicPr/>
                <p:nvPr/>
              </p:nvPicPr>
              <p:blipFill>
                <a:blip r:embed="rId31"/>
                <a:stretch>
                  <a:fillRect/>
                </a:stretch>
              </p:blipFill>
              <p:spPr>
                <a:xfrm>
                  <a:off x="8264617" y="357283"/>
                  <a:ext cx="860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4" name="Ink 243">
                  <a:extLst>
                    <a:ext uri="{FF2B5EF4-FFF2-40B4-BE49-F238E27FC236}">
                      <a16:creationId xmlns:a16="http://schemas.microsoft.com/office/drawing/2014/main" id="{3C90AA6A-8880-DB99-6677-80B54CDEF789}"/>
                    </a:ext>
                  </a:extLst>
                </p14:cNvPr>
                <p14:cNvContentPartPr/>
                <p14:nvPr/>
              </p14:nvContentPartPr>
              <p14:xfrm>
                <a:off x="5645617" y="1652635"/>
                <a:ext cx="360" cy="360"/>
              </p14:xfrm>
            </p:contentPart>
          </mc:Choice>
          <mc:Fallback xmlns="">
            <p:pic>
              <p:nvPicPr>
                <p:cNvPr id="244" name="Ink 243">
                  <a:extLst>
                    <a:ext uri="{FF2B5EF4-FFF2-40B4-BE49-F238E27FC236}">
                      <a16:creationId xmlns:a16="http://schemas.microsoft.com/office/drawing/2014/main" id="{3C90AA6A-8880-DB99-6677-80B54CDEF789}"/>
                    </a:ext>
                  </a:extLst>
                </p:cNvPr>
                <p:cNvPicPr/>
                <p:nvPr/>
              </p:nvPicPr>
              <p:blipFill>
                <a:blip r:embed="rId57"/>
                <a:stretch>
                  <a:fillRect/>
                </a:stretch>
              </p:blipFill>
              <p:spPr>
                <a:xfrm>
                  <a:off x="5482897" y="1613755"/>
                  <a:ext cx="29268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61" name="Ink 260">
                  <a:extLst>
                    <a:ext uri="{FF2B5EF4-FFF2-40B4-BE49-F238E27FC236}">
                      <a16:creationId xmlns:a16="http://schemas.microsoft.com/office/drawing/2014/main" id="{E3B56BA4-631E-7649-C0AF-C4CFA997CBBF}"/>
                    </a:ext>
                  </a:extLst>
                </p14:cNvPr>
                <p14:cNvContentPartPr/>
                <p14:nvPr/>
              </p14:nvContentPartPr>
              <p14:xfrm>
                <a:off x="7129897" y="1490635"/>
                <a:ext cx="14040" cy="12240"/>
              </p14:xfrm>
            </p:contentPart>
          </mc:Choice>
          <mc:Fallback xmlns="">
            <p:pic>
              <p:nvPicPr>
                <p:cNvPr id="261" name="Ink 260">
                  <a:extLst>
                    <a:ext uri="{FF2B5EF4-FFF2-40B4-BE49-F238E27FC236}">
                      <a16:creationId xmlns:a16="http://schemas.microsoft.com/office/drawing/2014/main" id="{E3B56BA4-631E-7649-C0AF-C4CFA997CBBF}"/>
                    </a:ext>
                  </a:extLst>
                </p:cNvPr>
                <p:cNvPicPr/>
                <p:nvPr/>
              </p:nvPicPr>
              <p:blipFill>
                <a:blip r:embed="rId83"/>
                <a:stretch>
                  <a:fillRect/>
                </a:stretch>
              </p:blipFill>
              <p:spPr>
                <a:xfrm>
                  <a:off x="7120897" y="1481635"/>
                  <a:ext cx="316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15" name="Ink 114">
                  <a:extLst>
                    <a:ext uri="{FF2B5EF4-FFF2-40B4-BE49-F238E27FC236}">
                      <a16:creationId xmlns:a16="http://schemas.microsoft.com/office/drawing/2014/main" id="{BC127F87-E913-A36F-233B-6D201D9C8E72}"/>
                    </a:ext>
                  </a:extLst>
                </p14:cNvPr>
                <p14:cNvContentPartPr/>
                <p14:nvPr/>
              </p14:nvContentPartPr>
              <p14:xfrm>
                <a:off x="3772897" y="3920635"/>
                <a:ext cx="137880" cy="23400"/>
              </p14:xfrm>
            </p:contentPart>
          </mc:Choice>
          <mc:Fallback xmlns="">
            <p:pic>
              <p:nvPicPr>
                <p:cNvPr id="115" name="Ink 114">
                  <a:extLst>
                    <a:ext uri="{FF2B5EF4-FFF2-40B4-BE49-F238E27FC236}">
                      <a16:creationId xmlns:a16="http://schemas.microsoft.com/office/drawing/2014/main" id="{BC127F87-E913-A36F-233B-6D201D9C8E72}"/>
                    </a:ext>
                  </a:extLst>
                </p:cNvPr>
                <p:cNvPicPr/>
                <p:nvPr/>
              </p:nvPicPr>
              <p:blipFill>
                <a:blip r:embed="rId175"/>
                <a:stretch>
                  <a:fillRect/>
                </a:stretch>
              </p:blipFill>
              <p:spPr>
                <a:xfrm>
                  <a:off x="3764257" y="3911635"/>
                  <a:ext cx="15552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64" name="Ink 163">
                  <a:extLst>
                    <a:ext uri="{FF2B5EF4-FFF2-40B4-BE49-F238E27FC236}">
                      <a16:creationId xmlns:a16="http://schemas.microsoft.com/office/drawing/2014/main" id="{703045D1-87F2-75A8-8D61-E847AB08E169}"/>
                    </a:ext>
                  </a:extLst>
                </p14:cNvPr>
                <p14:cNvContentPartPr/>
                <p14:nvPr/>
              </p14:nvContentPartPr>
              <p14:xfrm>
                <a:off x="9557737" y="4845475"/>
                <a:ext cx="30600" cy="9000"/>
              </p14:xfrm>
            </p:contentPart>
          </mc:Choice>
          <mc:Fallback xmlns="">
            <p:pic>
              <p:nvPicPr>
                <p:cNvPr id="164" name="Ink 163">
                  <a:extLst>
                    <a:ext uri="{FF2B5EF4-FFF2-40B4-BE49-F238E27FC236}">
                      <a16:creationId xmlns:a16="http://schemas.microsoft.com/office/drawing/2014/main" id="{703045D1-87F2-75A8-8D61-E847AB08E169}"/>
                    </a:ext>
                  </a:extLst>
                </p:cNvPr>
                <p:cNvPicPr/>
                <p:nvPr/>
              </p:nvPicPr>
              <p:blipFill>
                <a:blip r:embed="rId249"/>
                <a:stretch>
                  <a:fillRect/>
                </a:stretch>
              </p:blipFill>
              <p:spPr>
                <a:xfrm>
                  <a:off x="9548737" y="4836835"/>
                  <a:ext cx="482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5" name="Ink 164">
                  <a:extLst>
                    <a:ext uri="{FF2B5EF4-FFF2-40B4-BE49-F238E27FC236}">
                      <a16:creationId xmlns:a16="http://schemas.microsoft.com/office/drawing/2014/main" id="{1880370E-93C0-8E5F-E84A-7FA6B2EB758A}"/>
                    </a:ext>
                  </a:extLst>
                </p14:cNvPr>
                <p14:cNvContentPartPr/>
                <p14:nvPr/>
              </p14:nvContentPartPr>
              <p14:xfrm>
                <a:off x="9711097" y="4771675"/>
                <a:ext cx="360" cy="360"/>
              </p14:xfrm>
            </p:contentPart>
          </mc:Choice>
          <mc:Fallback xmlns="">
            <p:pic>
              <p:nvPicPr>
                <p:cNvPr id="165" name="Ink 164">
                  <a:extLst>
                    <a:ext uri="{FF2B5EF4-FFF2-40B4-BE49-F238E27FC236}">
                      <a16:creationId xmlns:a16="http://schemas.microsoft.com/office/drawing/2014/main" id="{1880370E-93C0-8E5F-E84A-7FA6B2EB758A}"/>
                    </a:ext>
                  </a:extLst>
                </p:cNvPr>
                <p:cNvPicPr/>
                <p:nvPr/>
              </p:nvPicPr>
              <p:blipFill>
                <a:blip r:embed="rId197"/>
                <a:stretch>
                  <a:fillRect/>
                </a:stretch>
              </p:blipFill>
              <p:spPr>
                <a:xfrm>
                  <a:off x="9702457" y="476267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82" name="Ink 81">
                  <a:extLst>
                    <a:ext uri="{FF2B5EF4-FFF2-40B4-BE49-F238E27FC236}">
                      <a16:creationId xmlns:a16="http://schemas.microsoft.com/office/drawing/2014/main" id="{62FAA33A-D335-D15E-44EF-BB580417DA9C}"/>
                    </a:ext>
                  </a:extLst>
                </p14:cNvPr>
                <p14:cNvContentPartPr/>
                <p14:nvPr/>
              </p14:nvContentPartPr>
              <p14:xfrm>
                <a:off x="11747977" y="4013515"/>
                <a:ext cx="9720" cy="5760"/>
              </p14:xfrm>
            </p:contentPart>
          </mc:Choice>
          <mc:Fallback xmlns="">
            <p:pic>
              <p:nvPicPr>
                <p:cNvPr id="82" name="Ink 81">
                  <a:extLst>
                    <a:ext uri="{FF2B5EF4-FFF2-40B4-BE49-F238E27FC236}">
                      <a16:creationId xmlns:a16="http://schemas.microsoft.com/office/drawing/2014/main" id="{62FAA33A-D335-D15E-44EF-BB580417DA9C}"/>
                    </a:ext>
                  </a:extLst>
                </p:cNvPr>
                <p:cNvPicPr/>
                <p:nvPr/>
              </p:nvPicPr>
              <p:blipFill>
                <a:blip r:embed="rId281"/>
                <a:stretch>
                  <a:fillRect/>
                </a:stretch>
              </p:blipFill>
              <p:spPr>
                <a:xfrm>
                  <a:off x="11739337" y="4004875"/>
                  <a:ext cx="170640" cy="4831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6" name="Ink 175">
                  <a:extLst>
                    <a:ext uri="{FF2B5EF4-FFF2-40B4-BE49-F238E27FC236}">
                      <a16:creationId xmlns:a16="http://schemas.microsoft.com/office/drawing/2014/main" id="{C5F5A55F-5B99-E0C2-B9AE-FA0F60968D3F}"/>
                    </a:ext>
                  </a:extLst>
                </p14:cNvPr>
                <p14:cNvContentPartPr/>
                <p14:nvPr/>
              </p14:nvContentPartPr>
              <p14:xfrm>
                <a:off x="11581297" y="5807755"/>
                <a:ext cx="22320" cy="12240"/>
              </p14:xfrm>
            </p:contentPart>
          </mc:Choice>
          <mc:Fallback xmlns="">
            <p:pic>
              <p:nvPicPr>
                <p:cNvPr id="176" name="Ink 175">
                  <a:extLst>
                    <a:ext uri="{FF2B5EF4-FFF2-40B4-BE49-F238E27FC236}">
                      <a16:creationId xmlns:a16="http://schemas.microsoft.com/office/drawing/2014/main" id="{C5F5A55F-5B99-E0C2-B9AE-FA0F60968D3F}"/>
                    </a:ext>
                  </a:extLst>
                </p:cNvPr>
                <p:cNvPicPr/>
                <p:nvPr/>
              </p:nvPicPr>
              <p:blipFill>
                <a:blip r:embed="rId311"/>
                <a:stretch>
                  <a:fillRect/>
                </a:stretch>
              </p:blipFill>
              <p:spPr>
                <a:xfrm>
                  <a:off x="11572657" y="5799115"/>
                  <a:ext cx="399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06" name="Ink 205">
                  <a:extLst>
                    <a:ext uri="{FF2B5EF4-FFF2-40B4-BE49-F238E27FC236}">
                      <a16:creationId xmlns:a16="http://schemas.microsoft.com/office/drawing/2014/main" id="{378B321D-8EEB-3FDC-4EFA-0919EC75ECEE}"/>
                    </a:ext>
                  </a:extLst>
                </p14:cNvPr>
                <p14:cNvContentPartPr/>
                <p14:nvPr/>
              </p14:nvContentPartPr>
              <p14:xfrm>
                <a:off x="9688777" y="6549355"/>
                <a:ext cx="18720" cy="9000"/>
              </p14:xfrm>
            </p:contentPart>
          </mc:Choice>
          <mc:Fallback xmlns="">
            <p:pic>
              <p:nvPicPr>
                <p:cNvPr id="206" name="Ink 205">
                  <a:extLst>
                    <a:ext uri="{FF2B5EF4-FFF2-40B4-BE49-F238E27FC236}">
                      <a16:creationId xmlns:a16="http://schemas.microsoft.com/office/drawing/2014/main" id="{378B321D-8EEB-3FDC-4EFA-0919EC75ECEE}"/>
                    </a:ext>
                  </a:extLst>
                </p:cNvPr>
                <p:cNvPicPr/>
                <p:nvPr/>
              </p:nvPicPr>
              <p:blipFill>
                <a:blip r:embed="rId356"/>
                <a:stretch>
                  <a:fillRect/>
                </a:stretch>
              </p:blipFill>
              <p:spPr>
                <a:xfrm>
                  <a:off x="9587617" y="6393835"/>
                  <a:ext cx="2379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18" name="Ink 217">
                  <a:extLst>
                    <a:ext uri="{FF2B5EF4-FFF2-40B4-BE49-F238E27FC236}">
                      <a16:creationId xmlns:a16="http://schemas.microsoft.com/office/drawing/2014/main" id="{D32CF5DB-70C3-05B4-02FC-9FC17F22FBEC}"/>
                    </a:ext>
                  </a:extLst>
                </p14:cNvPr>
                <p14:cNvContentPartPr/>
                <p14:nvPr/>
              </p14:nvContentPartPr>
              <p14:xfrm>
                <a:off x="9413017" y="6429835"/>
                <a:ext cx="360" cy="360"/>
              </p14:xfrm>
            </p:contentPart>
          </mc:Choice>
          <mc:Fallback xmlns="">
            <p:pic>
              <p:nvPicPr>
                <p:cNvPr id="218" name="Ink 217">
                  <a:extLst>
                    <a:ext uri="{FF2B5EF4-FFF2-40B4-BE49-F238E27FC236}">
                      <a16:creationId xmlns:a16="http://schemas.microsoft.com/office/drawing/2014/main" id="{D32CF5DB-70C3-05B4-02FC-9FC17F22FBEC}"/>
                    </a:ext>
                  </a:extLst>
                </p:cNvPr>
                <p:cNvPicPr/>
                <p:nvPr/>
              </p:nvPicPr>
              <p:blipFill>
                <a:blip r:embed="rId197"/>
                <a:stretch>
                  <a:fillRect/>
                </a:stretch>
              </p:blipFill>
              <p:spPr>
                <a:xfrm>
                  <a:off x="9404017" y="6421195"/>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8">
            <p14:nvContentPartPr>
              <p14:cNvPr id="22" name="Ink 21">
                <a:extLst>
                  <a:ext uri="{FF2B5EF4-FFF2-40B4-BE49-F238E27FC236}">
                    <a16:creationId xmlns:a16="http://schemas.microsoft.com/office/drawing/2014/main" id="{F778C30B-BE44-FD20-6F78-C9E2A4587FF0}"/>
                  </a:ext>
                </a:extLst>
              </p14:cNvPr>
              <p14:cNvContentPartPr/>
              <p14:nvPr/>
            </p14:nvContentPartPr>
            <p14:xfrm>
              <a:off x="10253977" y="96643"/>
              <a:ext cx="101160" cy="176040"/>
            </p14:xfrm>
          </p:contentPart>
        </mc:Choice>
        <mc:Fallback xmlns="">
          <p:pic>
            <p:nvPicPr>
              <p:cNvPr id="22" name="Ink 21">
                <a:extLst>
                  <a:ext uri="{FF2B5EF4-FFF2-40B4-BE49-F238E27FC236}">
                    <a16:creationId xmlns:a16="http://schemas.microsoft.com/office/drawing/2014/main" id="{F778C30B-BE44-FD20-6F78-C9E2A4587FF0}"/>
                  </a:ext>
                </a:extLst>
              </p:cNvPr>
              <p:cNvPicPr/>
              <p:nvPr/>
            </p:nvPicPr>
            <p:blipFill>
              <a:blip r:embed="rId359"/>
              <a:stretch>
                <a:fillRect/>
              </a:stretch>
            </p:blipFill>
            <p:spPr>
              <a:xfrm>
                <a:off x="10247857" y="90523"/>
                <a:ext cx="113400" cy="188280"/>
              </a:xfrm>
              <a:prstGeom prst="rect">
                <a:avLst/>
              </a:prstGeom>
            </p:spPr>
          </p:pic>
        </mc:Fallback>
      </mc:AlternateContent>
    </p:spTree>
    <p:extLst>
      <p:ext uri="{BB962C8B-B14F-4D97-AF65-F5344CB8AC3E}">
        <p14:creationId xmlns:p14="http://schemas.microsoft.com/office/powerpoint/2010/main" val="1370967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171EBF-1319-C8E6-6847-B2BA540BEAE2}"/>
              </a:ext>
            </a:extLst>
          </p:cNvPr>
          <p:cNvSpPr txBox="1"/>
          <p:nvPr/>
        </p:nvSpPr>
        <p:spPr>
          <a:xfrm>
            <a:off x="396815" y="379562"/>
            <a:ext cx="10765766" cy="5632311"/>
          </a:xfrm>
          <a:prstGeom prst="rect">
            <a:avLst/>
          </a:prstGeom>
          <a:noFill/>
        </p:spPr>
        <p:txBody>
          <a:bodyPr wrap="square">
            <a:spAutoFit/>
          </a:bodyPr>
          <a:lstStyle/>
          <a:p>
            <a:pPr algn="l" fontAlgn="base"/>
            <a:r>
              <a:rPr lang="en-US" b="1" i="0" dirty="0">
                <a:solidFill>
                  <a:srgbClr val="273239"/>
                </a:solidFill>
                <a:effectLst/>
                <a:highlight>
                  <a:srgbClr val="FFFFFF"/>
                </a:highlight>
                <a:latin typeface="Nunito" panose="020F0502020204030204" pitchFamily="2" charset="0"/>
              </a:rPr>
              <a:t>Advantages of DBMS over File system: </a:t>
            </a:r>
          </a:p>
          <a:p>
            <a:pPr algn="l" fontAlgn="base">
              <a:buFont typeface="Arial" panose="020B0604020202020204" pitchFamily="34" charset="0"/>
              <a:buChar char="•"/>
            </a:pPr>
            <a:endParaRPr lang="en-US" b="1" i="0" dirty="0">
              <a:solidFill>
                <a:srgbClr val="273239"/>
              </a:solidFill>
              <a:effectLst/>
              <a:highlight>
                <a:srgbClr val="FFFFFF"/>
              </a:highlight>
              <a:latin typeface="Nunito" panose="020F0502020204030204" pitchFamily="2" charset="0"/>
            </a:endParaRPr>
          </a:p>
          <a:p>
            <a:pPr algn="l" fontAlgn="base">
              <a:buFont typeface="Arial" panose="020B0604020202020204" pitchFamily="34" charset="0"/>
              <a:buChar char="•"/>
            </a:pPr>
            <a:endParaRPr lang="en-US" b="1" dirty="0">
              <a:solidFill>
                <a:srgbClr val="273239"/>
              </a:solidFill>
              <a:highlight>
                <a:srgbClr val="FFFFFF"/>
              </a:highlight>
              <a:latin typeface="Nunito" panose="020F0502020204030204" pitchFamily="2" charset="0"/>
            </a:endParaRPr>
          </a:p>
          <a:p>
            <a:pPr algn="l" fontAlgn="base"/>
            <a:r>
              <a:rPr lang="en-US" b="1" i="0" dirty="0">
                <a:solidFill>
                  <a:srgbClr val="273239"/>
                </a:solidFill>
                <a:effectLst/>
                <a:highlight>
                  <a:srgbClr val="FFFFFF"/>
                </a:highlight>
                <a:latin typeface="Nunito" panose="020F0502020204030204" pitchFamily="2" charset="0"/>
              </a:rPr>
              <a:t>1.Data redundancy and inconsistency: </a:t>
            </a:r>
          </a:p>
          <a:p>
            <a:pPr algn="l" fontAlgn="base"/>
            <a:endParaRPr lang="en-US" b="1" dirty="0">
              <a:solidFill>
                <a:srgbClr val="273239"/>
              </a:solidFill>
              <a:highlight>
                <a:srgbClr val="FFFFFF"/>
              </a:highlight>
              <a:latin typeface="Nunito" panose="020F0502020204030204" pitchFamily="2" charset="0"/>
            </a:endParaRPr>
          </a:p>
          <a:p>
            <a:pPr algn="l" fontAlgn="base"/>
            <a:r>
              <a:rPr lang="en-US" b="0" i="0" dirty="0">
                <a:solidFill>
                  <a:srgbClr val="333333"/>
                </a:solidFill>
                <a:effectLst/>
                <a:highlight>
                  <a:srgbClr val="FFFFFF"/>
                </a:highlight>
                <a:latin typeface="inter-regular"/>
              </a:rPr>
              <a:t>Redundancy means repeating the data in a system. In a normal file system, there is a high chance that there can be various files of the same data used by different users for specific purposes. If any user changes the data in its files, then the changes are not reflected in all files. This creates inconsistency in the data, and it may lead to the failure of the system. But in the DBMS, there is only one repository of data, and multiple users can use it. If any user changes the data, then it is reflected to each user as they are using the same repository.</a:t>
            </a:r>
            <a:endParaRPr lang="en-US" b="1" i="0" dirty="0">
              <a:solidFill>
                <a:srgbClr val="000000"/>
              </a:solidFill>
              <a:effectLst/>
              <a:highlight>
                <a:srgbClr val="FFFFFF"/>
              </a:highlight>
              <a:latin typeface="inter-bold"/>
            </a:endParaRPr>
          </a:p>
          <a:p>
            <a:pPr algn="just"/>
            <a:r>
              <a:rPr lang="en-US" b="1" i="0" dirty="0">
                <a:solidFill>
                  <a:srgbClr val="000000"/>
                </a:solidFill>
                <a:effectLst/>
                <a:highlight>
                  <a:srgbClr val="FFFFFF"/>
                </a:highlight>
                <a:latin typeface="inter-bold"/>
              </a:rPr>
              <a:t>2. Data Sharing:</a:t>
            </a:r>
            <a:endParaRPr lang="en-US" b="0" i="0" dirty="0">
              <a:solidFill>
                <a:srgbClr val="000000"/>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In the normal file system, data sharing is too difficult because file sharing is a complex task. In DBMS, all the data is centralized, so data sharing is a very easy task.</a:t>
            </a:r>
          </a:p>
          <a:p>
            <a:pPr algn="just"/>
            <a:r>
              <a:rPr lang="en-US" b="1" dirty="0">
                <a:solidFill>
                  <a:srgbClr val="000000"/>
                </a:solidFill>
                <a:highlight>
                  <a:srgbClr val="FFFFFF"/>
                </a:highlight>
                <a:latin typeface="inter-bold"/>
              </a:rPr>
              <a:t>3. </a:t>
            </a:r>
            <a:r>
              <a:rPr lang="en-US" b="1" i="0" dirty="0">
                <a:solidFill>
                  <a:srgbClr val="000000"/>
                </a:solidFill>
                <a:effectLst/>
                <a:highlight>
                  <a:srgbClr val="FFFFFF"/>
                </a:highlight>
                <a:latin typeface="inter-bold"/>
              </a:rPr>
              <a:t>Data Concurrency:</a:t>
            </a:r>
            <a:endParaRPr lang="en-US" b="0" i="0" dirty="0">
              <a:solidFill>
                <a:srgbClr val="000000"/>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When more than one user accesses the database simultaneously, then it is called concurrency. In a file system, when multiple users are using the files at the same time, then there may be a chance of anomalies in the data due to changes, and it does not provide any method to detect anomalies. But in DBMS, we have a locking system to detect the anomalies so we can protect the data.</a:t>
            </a:r>
          </a:p>
          <a:p>
            <a:pPr algn="just"/>
            <a:endParaRPr lang="en-US" b="0" i="0" dirty="0">
              <a:solidFill>
                <a:srgbClr val="333333"/>
              </a:solidFill>
              <a:effectLst/>
              <a:highlight>
                <a:srgbClr val="FFFFFF"/>
              </a:highlight>
              <a:latin typeface="inter-regular"/>
            </a:endParaRPr>
          </a:p>
          <a:p>
            <a:pPr algn="l" fontAlgn="base"/>
            <a:endParaRPr lang="en-IN" dirty="0"/>
          </a:p>
        </p:txBody>
      </p:sp>
    </p:spTree>
    <p:extLst>
      <p:ext uri="{BB962C8B-B14F-4D97-AF65-F5344CB8AC3E}">
        <p14:creationId xmlns:p14="http://schemas.microsoft.com/office/powerpoint/2010/main" val="579703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F36C2B-EE65-F543-875B-7461483A4A13}"/>
              </a:ext>
            </a:extLst>
          </p:cNvPr>
          <p:cNvSpPr txBox="1"/>
          <p:nvPr/>
        </p:nvSpPr>
        <p:spPr>
          <a:xfrm>
            <a:off x="511834" y="695864"/>
            <a:ext cx="8632166" cy="6463308"/>
          </a:xfrm>
          <a:prstGeom prst="rect">
            <a:avLst/>
          </a:prstGeom>
          <a:noFill/>
        </p:spPr>
        <p:txBody>
          <a:bodyPr wrap="square">
            <a:spAutoFit/>
          </a:bodyPr>
          <a:lstStyle/>
          <a:p>
            <a:pPr algn="just"/>
            <a:r>
              <a:rPr lang="en-US" b="1" i="0" dirty="0">
                <a:solidFill>
                  <a:srgbClr val="000000"/>
                </a:solidFill>
                <a:effectLst/>
                <a:highlight>
                  <a:srgbClr val="FFFFFF"/>
                </a:highlight>
                <a:latin typeface="inter-bold"/>
              </a:rPr>
              <a:t>Data Searching:</a:t>
            </a:r>
            <a:endParaRPr lang="en-US" b="0" i="0" dirty="0">
              <a:solidFill>
                <a:srgbClr val="000000"/>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To search the data in a file system, we have to write a specific program and run it. In DBMS, we have query languages by which we can write small queries to get the data we want from the database.</a:t>
            </a:r>
          </a:p>
          <a:p>
            <a:pPr algn="just"/>
            <a:endParaRPr lang="en-US" b="1" i="0" dirty="0">
              <a:solidFill>
                <a:srgbClr val="000000"/>
              </a:solidFill>
              <a:effectLst/>
              <a:highlight>
                <a:srgbClr val="FFFFFF"/>
              </a:highlight>
              <a:latin typeface="inter-bold"/>
            </a:endParaRPr>
          </a:p>
          <a:p>
            <a:pPr algn="just"/>
            <a:r>
              <a:rPr lang="en-US" b="1" i="0" dirty="0">
                <a:solidFill>
                  <a:srgbClr val="000000"/>
                </a:solidFill>
                <a:effectLst/>
                <a:highlight>
                  <a:srgbClr val="FFFFFF"/>
                </a:highlight>
                <a:latin typeface="inter-bold"/>
              </a:rPr>
              <a:t>Data Integrity:</a:t>
            </a:r>
            <a:endParaRPr lang="en-US" b="0" i="0" dirty="0">
              <a:solidFill>
                <a:srgbClr val="000000"/>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When we insert new data into the database, we require some specific constraints on the data like integer or not null, etc. The file system does not provide any system to check the constraints, whereas DBMS has the functionality to check the constraints on the data, and it allows user defined data types.</a:t>
            </a:r>
          </a:p>
          <a:p>
            <a:pPr algn="just"/>
            <a:r>
              <a:rPr lang="en-US" dirty="0">
                <a:solidFill>
                  <a:srgbClr val="273239"/>
                </a:solidFill>
                <a:highlight>
                  <a:srgbClr val="FFFFFF"/>
                </a:highlight>
                <a:latin typeface="Nunito" pitchFamily="2" charset="0"/>
              </a:rPr>
              <a:t>t</a:t>
            </a:r>
            <a:r>
              <a:rPr lang="en-US" b="0" i="0" dirty="0">
                <a:solidFill>
                  <a:srgbClr val="273239"/>
                </a:solidFill>
                <a:effectLst/>
                <a:highlight>
                  <a:srgbClr val="FFFFFF"/>
                </a:highlight>
                <a:latin typeface="Nunito" pitchFamily="2" charset="0"/>
              </a:rPr>
              <a:t>hat means DBMS maintains data integrity by enforcing user-defined constraints on data by itself.</a:t>
            </a:r>
          </a:p>
          <a:p>
            <a:pPr algn="just"/>
            <a:endParaRPr lang="en-US" dirty="0">
              <a:solidFill>
                <a:srgbClr val="273239"/>
              </a:solidFill>
              <a:highlight>
                <a:srgbClr val="FFFFFF"/>
              </a:highlight>
              <a:latin typeface="Nunito" pitchFamily="2" charset="0"/>
            </a:endParaRPr>
          </a:p>
          <a:p>
            <a:pPr algn="just"/>
            <a:r>
              <a:rPr lang="en-IN" b="1" i="0" dirty="0">
                <a:solidFill>
                  <a:srgbClr val="273239"/>
                </a:solidFill>
                <a:effectLst/>
                <a:highlight>
                  <a:srgbClr val="FFFFFF"/>
                </a:highlight>
                <a:latin typeface="Nunito" pitchFamily="2" charset="0"/>
              </a:rPr>
              <a:t>System crashing:</a:t>
            </a:r>
            <a:r>
              <a:rPr lang="en-US" b="0" i="0" dirty="0">
                <a:solidFill>
                  <a:srgbClr val="273239"/>
                </a:solidFill>
                <a:effectLst/>
                <a:highlight>
                  <a:srgbClr val="FFFFFF"/>
                </a:highlight>
                <a:latin typeface="Nunito" pitchFamily="2" charset="0"/>
              </a:rPr>
              <a:t> In the case of file systems because once the system crashes, there will be no recovery of the data that’s been lost. </a:t>
            </a:r>
            <a:r>
              <a:rPr lang="en-US" b="0" i="0" dirty="0">
                <a:solidFill>
                  <a:srgbClr val="333333"/>
                </a:solidFill>
                <a:effectLst/>
                <a:highlight>
                  <a:srgbClr val="FFFFFF"/>
                </a:highlight>
                <a:latin typeface="inter-regular"/>
              </a:rPr>
              <a:t>DBMS has a recovery manager which can recover the data if the system crashes.</a:t>
            </a:r>
          </a:p>
          <a:p>
            <a:pPr algn="just"/>
            <a:endParaRPr lang="en-US" b="0" i="0" dirty="0">
              <a:solidFill>
                <a:srgbClr val="333333"/>
              </a:solidFill>
              <a:effectLst/>
              <a:highlight>
                <a:srgbClr val="FFFFFF"/>
              </a:highlight>
              <a:latin typeface="inter-regular"/>
            </a:endParaRPr>
          </a:p>
          <a:p>
            <a:pPr algn="just"/>
            <a:r>
              <a:rPr lang="en-US" b="1" i="0" dirty="0">
                <a:solidFill>
                  <a:srgbClr val="000000"/>
                </a:solidFill>
                <a:effectLst/>
                <a:highlight>
                  <a:srgbClr val="FFFFFF"/>
                </a:highlight>
                <a:latin typeface="inter-bold"/>
              </a:rPr>
              <a:t>Data Security:</a:t>
            </a:r>
            <a:endParaRPr lang="en-US" b="0" i="0" dirty="0">
              <a:solidFill>
                <a:srgbClr val="000000"/>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In the file system, we have only password protection to save the files and data, but it is not reliable. In DBMS, we have special algorithms and features to secure the data.</a:t>
            </a:r>
          </a:p>
          <a:p>
            <a:pPr algn="just"/>
            <a:endParaRPr lang="en-US" b="0" i="0" dirty="0">
              <a:solidFill>
                <a:srgbClr val="333333"/>
              </a:solidFill>
              <a:effectLst/>
              <a:highlight>
                <a:srgbClr val="FFFFFF"/>
              </a:highlight>
              <a:latin typeface="inter-regular"/>
            </a:endParaRPr>
          </a:p>
          <a:p>
            <a:pPr algn="just"/>
            <a:endParaRPr lang="en-US" b="0" i="0" dirty="0">
              <a:solidFill>
                <a:srgbClr val="333333"/>
              </a:solidFill>
              <a:effectLst/>
              <a:highlight>
                <a:srgbClr val="FFFFFF"/>
              </a:highlight>
              <a:latin typeface="inter-regular"/>
            </a:endParaRPr>
          </a:p>
          <a:p>
            <a:pPr algn="just"/>
            <a:endParaRPr lang="en-US" b="0" i="0" dirty="0">
              <a:solidFill>
                <a:srgbClr val="333333"/>
              </a:solidFill>
              <a:effectLst/>
              <a:highlight>
                <a:srgbClr val="FFFFFF"/>
              </a:highlight>
              <a:latin typeface="inter-regular"/>
            </a:endParaRPr>
          </a:p>
        </p:txBody>
      </p:sp>
    </p:spTree>
    <p:extLst>
      <p:ext uri="{BB962C8B-B14F-4D97-AF65-F5344CB8AC3E}">
        <p14:creationId xmlns:p14="http://schemas.microsoft.com/office/powerpoint/2010/main" val="2349780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A22133-73DA-8105-CB2B-7B8395610AD0}"/>
              </a:ext>
            </a:extLst>
          </p:cNvPr>
          <p:cNvSpPr txBox="1"/>
          <p:nvPr/>
        </p:nvSpPr>
        <p:spPr>
          <a:xfrm>
            <a:off x="149525" y="126521"/>
            <a:ext cx="11513388" cy="6463308"/>
          </a:xfrm>
          <a:prstGeom prst="rect">
            <a:avLst/>
          </a:prstGeom>
          <a:noFill/>
        </p:spPr>
        <p:txBody>
          <a:bodyPr wrap="square">
            <a:spAutoFit/>
          </a:bodyPr>
          <a:lstStyle/>
          <a:p>
            <a:pPr algn="l" fontAlgn="base"/>
            <a:r>
              <a:rPr lang="en-US" b="1" i="0" dirty="0">
                <a:solidFill>
                  <a:srgbClr val="273239"/>
                </a:solidFill>
                <a:effectLst/>
                <a:highlight>
                  <a:srgbClr val="FFFFFF"/>
                </a:highlight>
                <a:latin typeface="Nunito" pitchFamily="2" charset="0"/>
              </a:rPr>
              <a:t>Backup: </a:t>
            </a:r>
            <a:r>
              <a:rPr lang="en-US" b="0" i="0" dirty="0">
                <a:solidFill>
                  <a:srgbClr val="273239"/>
                </a:solidFill>
                <a:effectLst/>
                <a:highlight>
                  <a:srgbClr val="FFFFFF"/>
                </a:highlight>
                <a:latin typeface="Nunito" pitchFamily="2" charset="0"/>
              </a:rPr>
              <a:t>It creates a backup subsystem to restore the data if required.</a:t>
            </a:r>
          </a:p>
          <a:p>
            <a:pPr algn="l" fontAlgn="base"/>
            <a:endParaRPr lang="en-US" b="0" i="0" dirty="0">
              <a:solidFill>
                <a:srgbClr val="273239"/>
              </a:solidFill>
              <a:effectLst/>
              <a:highlight>
                <a:srgbClr val="FFFFFF"/>
              </a:highlight>
              <a:latin typeface="Nunito" pitchFamily="2" charset="0"/>
            </a:endParaRPr>
          </a:p>
          <a:p>
            <a:pPr algn="l" fontAlgn="base"/>
            <a:endParaRPr lang="en-US" b="0" i="0" dirty="0">
              <a:solidFill>
                <a:srgbClr val="273239"/>
              </a:solidFill>
              <a:effectLst/>
              <a:highlight>
                <a:srgbClr val="FFFFFF"/>
              </a:highlight>
              <a:latin typeface="Nunito" pitchFamily="2" charset="0"/>
            </a:endParaRPr>
          </a:p>
          <a:p>
            <a:pPr algn="l" fontAlgn="base"/>
            <a:r>
              <a:rPr lang="en-US" b="1" i="0" dirty="0">
                <a:solidFill>
                  <a:srgbClr val="273239"/>
                </a:solidFill>
                <a:effectLst/>
                <a:highlight>
                  <a:srgbClr val="FFFFFF"/>
                </a:highlight>
                <a:latin typeface="Nunito" pitchFamily="2" charset="0"/>
              </a:rPr>
              <a:t>Interfaces</a:t>
            </a:r>
            <a:r>
              <a:rPr lang="en-US" b="0" i="0" dirty="0">
                <a:solidFill>
                  <a:srgbClr val="273239"/>
                </a:solidFill>
                <a:effectLst/>
                <a:highlight>
                  <a:srgbClr val="FFFFFF"/>
                </a:highlight>
                <a:latin typeface="Nunito" pitchFamily="2" charset="0"/>
              </a:rPr>
              <a:t>: It provides different multiple user interfaces like graphical user interface and application program interface.</a:t>
            </a:r>
          </a:p>
          <a:p>
            <a:pPr algn="l" fontAlgn="base"/>
            <a:endParaRPr lang="en-US" dirty="0">
              <a:solidFill>
                <a:srgbClr val="273239"/>
              </a:solidFill>
              <a:highlight>
                <a:srgbClr val="FFFFFF"/>
              </a:highlight>
              <a:latin typeface="Nunito" pitchFamily="2" charset="0"/>
            </a:endParaRPr>
          </a:p>
          <a:p>
            <a:pPr algn="l" fontAlgn="base"/>
            <a:endParaRPr lang="en-US" b="0" i="0" dirty="0">
              <a:solidFill>
                <a:srgbClr val="273239"/>
              </a:solidFill>
              <a:effectLst/>
              <a:highlight>
                <a:srgbClr val="FFFFFF"/>
              </a:highlight>
              <a:latin typeface="Nunito" pitchFamily="2" charset="0"/>
            </a:endParaRPr>
          </a:p>
          <a:p>
            <a:pPr algn="l" fontAlgn="base"/>
            <a:r>
              <a:rPr lang="en-US" b="1" i="0" dirty="0">
                <a:solidFill>
                  <a:srgbClr val="273239"/>
                </a:solidFill>
                <a:effectLst/>
                <a:highlight>
                  <a:srgbClr val="FFFFFF"/>
                </a:highlight>
                <a:latin typeface="Nunito" pitchFamily="2" charset="0"/>
              </a:rPr>
              <a:t>Easy Maintenance</a:t>
            </a:r>
            <a:r>
              <a:rPr lang="en-US" b="0" i="0" dirty="0">
                <a:solidFill>
                  <a:srgbClr val="273239"/>
                </a:solidFill>
                <a:effectLst/>
                <a:highlight>
                  <a:srgbClr val="FFFFFF"/>
                </a:highlight>
                <a:latin typeface="Nunito" pitchFamily="2" charset="0"/>
              </a:rPr>
              <a:t>: It is easily maintainable due to its centralized nature.</a:t>
            </a:r>
          </a:p>
          <a:p>
            <a:pPr algn="l" fontAlgn="base"/>
            <a:endParaRPr lang="en-US" dirty="0">
              <a:solidFill>
                <a:srgbClr val="273239"/>
              </a:solidFill>
              <a:highlight>
                <a:srgbClr val="FFFFFF"/>
              </a:highlight>
              <a:latin typeface="Nunito" pitchFamily="2" charset="0"/>
            </a:endParaRPr>
          </a:p>
          <a:p>
            <a:pPr algn="l" fontAlgn="base"/>
            <a:r>
              <a:rPr lang="en-US" b="1" dirty="0">
                <a:solidFill>
                  <a:srgbClr val="273239"/>
                </a:solidFill>
                <a:highlight>
                  <a:srgbClr val="FFFFFF"/>
                </a:highlight>
                <a:latin typeface="Nunito" pitchFamily="2" charset="0"/>
              </a:rPr>
              <a:t>Disadvantage:</a:t>
            </a:r>
          </a:p>
          <a:p>
            <a:pPr algn="l" fontAlgn="base"/>
            <a:endParaRPr lang="en-US" b="1" i="0" dirty="0">
              <a:solidFill>
                <a:srgbClr val="273239"/>
              </a:solidFill>
              <a:effectLst/>
              <a:highlight>
                <a:srgbClr val="FFFFFF"/>
              </a:highlight>
              <a:latin typeface="Nunito" pitchFamily="2" charset="0"/>
            </a:endParaRPr>
          </a:p>
          <a:p>
            <a:pPr fontAlgn="base"/>
            <a:r>
              <a:rPr lang="en-US" i="0" dirty="0">
                <a:solidFill>
                  <a:srgbClr val="273239"/>
                </a:solidFill>
                <a:effectLst/>
                <a:highlight>
                  <a:srgbClr val="FFFFFF"/>
                </a:highlight>
                <a:latin typeface="Nunito" pitchFamily="2" charset="0"/>
              </a:rPr>
              <a:t>1-</a:t>
            </a:r>
            <a:r>
              <a:rPr lang="en-IN" dirty="0">
                <a:solidFill>
                  <a:srgbClr val="273239"/>
                </a:solidFill>
                <a:highlight>
                  <a:srgbClr val="FFFFFF"/>
                </a:highlight>
                <a:latin typeface="Nunito" pitchFamily="2" charset="0"/>
              </a:rPr>
              <a:t>Increased cost</a:t>
            </a:r>
          </a:p>
          <a:p>
            <a:pPr algn="l" fontAlgn="base"/>
            <a:endParaRPr lang="en-US" i="0" dirty="0">
              <a:solidFill>
                <a:srgbClr val="273239"/>
              </a:solidFill>
              <a:effectLst/>
              <a:highlight>
                <a:srgbClr val="FFFFFF"/>
              </a:highlight>
              <a:latin typeface="Nunito" pitchFamily="2" charset="0"/>
            </a:endParaRPr>
          </a:p>
          <a:p>
            <a:pPr marL="285750" indent="-285750" algn="l" fontAlgn="base">
              <a:buFont typeface="Arial" panose="020B0604020202020204" pitchFamily="34" charset="0"/>
              <a:buChar char="•"/>
            </a:pPr>
            <a:r>
              <a:rPr lang="en-US" i="0" dirty="0">
                <a:solidFill>
                  <a:srgbClr val="273239"/>
                </a:solidFill>
                <a:effectLst/>
                <a:highlight>
                  <a:srgbClr val="FFFFFF"/>
                </a:highlight>
                <a:latin typeface="Nunito" pitchFamily="2" charset="0"/>
              </a:rPr>
              <a:t>	Cost of Hardware and Software</a:t>
            </a:r>
          </a:p>
          <a:p>
            <a:pPr marL="285750" indent="-285750" algn="l" fontAlgn="base">
              <a:buFont typeface="Arial" panose="020B0604020202020204" pitchFamily="34" charset="0"/>
              <a:buChar char="•"/>
            </a:pPr>
            <a:r>
              <a:rPr lang="en-IN" i="0" dirty="0">
                <a:solidFill>
                  <a:srgbClr val="000000"/>
                </a:solidFill>
                <a:effectLst/>
                <a:highlight>
                  <a:srgbClr val="FFFFFF"/>
                </a:highlight>
                <a:latin typeface="inter-bold"/>
              </a:rPr>
              <a:t>	Cost of staff training</a:t>
            </a:r>
          </a:p>
          <a:p>
            <a:pPr marL="285750" indent="-285750" algn="l" fontAlgn="base">
              <a:buFont typeface="Arial" panose="020B0604020202020204" pitchFamily="34" charset="0"/>
              <a:buChar char="•"/>
            </a:pPr>
            <a:r>
              <a:rPr lang="en-IN" i="0" dirty="0">
                <a:solidFill>
                  <a:srgbClr val="000000"/>
                </a:solidFill>
                <a:effectLst/>
                <a:highlight>
                  <a:srgbClr val="FFFFFF"/>
                </a:highlight>
                <a:latin typeface="inter-bold"/>
              </a:rPr>
              <a:t>	Cost of data conversion</a:t>
            </a:r>
            <a:endParaRPr lang="en-US" i="0" dirty="0">
              <a:solidFill>
                <a:srgbClr val="273239"/>
              </a:solidFill>
              <a:effectLst/>
              <a:highlight>
                <a:srgbClr val="FFFFFF"/>
              </a:highlight>
              <a:latin typeface="Nunito" pitchFamily="2" charset="0"/>
            </a:endParaRPr>
          </a:p>
          <a:p>
            <a:pPr algn="l" fontAlgn="base"/>
            <a:endParaRPr lang="en-US" i="0" dirty="0">
              <a:solidFill>
                <a:srgbClr val="273239"/>
              </a:solidFill>
              <a:effectLst/>
              <a:highlight>
                <a:srgbClr val="FFFFFF"/>
              </a:highlight>
              <a:latin typeface="Nunito" pitchFamily="2" charset="0"/>
            </a:endParaRPr>
          </a:p>
          <a:p>
            <a:pPr algn="l" fontAlgn="base"/>
            <a:r>
              <a:rPr lang="en-IN" i="0" dirty="0">
                <a:solidFill>
                  <a:srgbClr val="273239"/>
                </a:solidFill>
                <a:effectLst/>
                <a:highlight>
                  <a:srgbClr val="FFFFFF"/>
                </a:highlight>
                <a:latin typeface="Nunito" pitchFamily="2" charset="0"/>
              </a:rPr>
              <a:t>2-Cost of Staff Training </a:t>
            </a:r>
            <a:r>
              <a:rPr lang="en-US" i="0" dirty="0">
                <a:solidFill>
                  <a:srgbClr val="273239"/>
                </a:solidFill>
                <a:effectLst/>
                <a:highlight>
                  <a:srgbClr val="FFFFFF"/>
                </a:highlight>
                <a:latin typeface="Nunito" pitchFamily="2" charset="0"/>
              </a:rPr>
              <a:t> </a:t>
            </a:r>
          </a:p>
          <a:p>
            <a:pPr algn="l" fontAlgn="base"/>
            <a:r>
              <a:rPr lang="en-IN" i="0" dirty="0">
                <a:solidFill>
                  <a:srgbClr val="273239"/>
                </a:solidFill>
                <a:effectLst/>
                <a:highlight>
                  <a:srgbClr val="FFFFFF"/>
                </a:highlight>
                <a:latin typeface="Nunito" pitchFamily="2" charset="0"/>
              </a:rPr>
              <a:t>3-Complexity: </a:t>
            </a:r>
          </a:p>
          <a:p>
            <a:pPr fontAlgn="base"/>
            <a:r>
              <a:rPr lang="en-IN" dirty="0">
                <a:solidFill>
                  <a:srgbClr val="273239"/>
                </a:solidFill>
                <a:highlight>
                  <a:srgbClr val="FFFFFF"/>
                </a:highlight>
                <a:latin typeface="Nunito" pitchFamily="2" charset="0"/>
              </a:rPr>
              <a:t>4.Frequency Upgrade/Replacement Cycles</a:t>
            </a:r>
          </a:p>
          <a:p>
            <a:pPr fontAlgn="base"/>
            <a:r>
              <a:rPr lang="en-IN" dirty="0">
                <a:solidFill>
                  <a:srgbClr val="273239"/>
                </a:solidFill>
                <a:highlight>
                  <a:srgbClr val="FFFFFF"/>
                </a:highlight>
                <a:latin typeface="Nunito" pitchFamily="2" charset="0"/>
              </a:rPr>
              <a:t>5. Performance</a:t>
            </a:r>
          </a:p>
          <a:p>
            <a:pPr algn="l" fontAlgn="base"/>
            <a:endParaRPr lang="en-US" b="1" i="0" dirty="0">
              <a:solidFill>
                <a:srgbClr val="273239"/>
              </a:solidFill>
              <a:effectLst/>
              <a:highlight>
                <a:srgbClr val="FFFFFF"/>
              </a:highlight>
              <a:latin typeface="Nunito" pitchFamily="2" charset="0"/>
            </a:endParaRPr>
          </a:p>
          <a:p>
            <a:pPr algn="l" fontAlgn="base"/>
            <a:endParaRPr lang="en-US" b="0" i="0" dirty="0">
              <a:solidFill>
                <a:srgbClr val="273239"/>
              </a:solidFill>
              <a:effectLst/>
              <a:highlight>
                <a:srgbClr val="FFFFFF"/>
              </a:highlight>
              <a:latin typeface="Nunito" pitchFamily="2" charset="0"/>
            </a:endParaRPr>
          </a:p>
        </p:txBody>
      </p:sp>
    </p:spTree>
    <p:extLst>
      <p:ext uri="{BB962C8B-B14F-4D97-AF65-F5344CB8AC3E}">
        <p14:creationId xmlns:p14="http://schemas.microsoft.com/office/powerpoint/2010/main" val="2424197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4C38EA-1A7A-DDCB-0308-CD9A311B4402}"/>
              </a:ext>
            </a:extLst>
          </p:cNvPr>
          <p:cNvSpPr txBox="1"/>
          <p:nvPr/>
        </p:nvSpPr>
        <p:spPr>
          <a:xfrm>
            <a:off x="753374" y="759125"/>
            <a:ext cx="9880120" cy="3970318"/>
          </a:xfrm>
          <a:prstGeom prst="rect">
            <a:avLst/>
          </a:prstGeom>
          <a:noFill/>
        </p:spPr>
        <p:txBody>
          <a:bodyPr wrap="square">
            <a:spAutoFit/>
          </a:bodyPr>
          <a:lstStyle/>
          <a:p>
            <a:pPr algn="l" fontAlgn="base"/>
            <a:r>
              <a:rPr lang="en-US" b="1" i="0" dirty="0">
                <a:solidFill>
                  <a:srgbClr val="273239"/>
                </a:solidFill>
                <a:effectLst/>
                <a:highlight>
                  <a:srgbClr val="FFFFFF"/>
                </a:highlight>
                <a:latin typeface="Nunito" pitchFamily="2" charset="0"/>
              </a:rPr>
              <a:t>Applications of DBMS :</a:t>
            </a:r>
          </a:p>
          <a:p>
            <a:pPr algn="l" fontAlgn="base"/>
            <a:endParaRPr lang="en-US" b="1" dirty="0">
              <a:solidFill>
                <a:srgbClr val="273239"/>
              </a:solidFill>
              <a:highlight>
                <a:srgbClr val="FFFFFF"/>
              </a:highlight>
              <a:latin typeface="Nunito" pitchFamily="2" charset="0"/>
            </a:endParaRPr>
          </a:p>
          <a:p>
            <a:pPr algn="l" fontAlgn="base"/>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Banking</a:t>
            </a:r>
            <a:r>
              <a:rPr lang="en-US" b="0" i="0" dirty="0">
                <a:solidFill>
                  <a:srgbClr val="273239"/>
                </a:solidFill>
                <a:effectLst/>
                <a:highlight>
                  <a:srgbClr val="FFFFFF"/>
                </a:highlight>
                <a:latin typeface="Nunito" pitchFamily="2" charset="0"/>
              </a:rPr>
              <a:t>: All transaction</a:t>
            </a:r>
          </a:p>
          <a:p>
            <a:pPr algn="l" fontAlgn="base">
              <a:buFont typeface="Arial" panose="020B0604020202020204" pitchFamily="34" charset="0"/>
              <a:buChar char="•"/>
            </a:pP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Airlines: </a:t>
            </a:r>
            <a:r>
              <a:rPr lang="en-US" b="0" i="0" dirty="0">
                <a:solidFill>
                  <a:srgbClr val="273239"/>
                </a:solidFill>
                <a:effectLst/>
                <a:highlight>
                  <a:srgbClr val="FFFFFF"/>
                </a:highlight>
                <a:latin typeface="Nunito" pitchFamily="2" charset="0"/>
              </a:rPr>
              <a:t>reservation , Schedules</a:t>
            </a:r>
          </a:p>
          <a:p>
            <a:pPr algn="l" fontAlgn="base"/>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Universities</a:t>
            </a:r>
            <a:r>
              <a:rPr lang="en-US" b="0" i="0" dirty="0">
                <a:solidFill>
                  <a:srgbClr val="273239"/>
                </a:solidFill>
                <a:effectLst/>
                <a:highlight>
                  <a:srgbClr val="FFFFFF"/>
                </a:highlight>
                <a:latin typeface="Nunito" pitchFamily="2" charset="0"/>
              </a:rPr>
              <a:t>: registration, grade</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Sales: </a:t>
            </a:r>
            <a:r>
              <a:rPr lang="en-US" b="0" i="0" dirty="0">
                <a:solidFill>
                  <a:srgbClr val="273239"/>
                </a:solidFill>
                <a:effectLst/>
                <a:highlight>
                  <a:srgbClr val="FFFFFF"/>
                </a:highlight>
                <a:latin typeface="Nunito" pitchFamily="2" charset="0"/>
              </a:rPr>
              <a:t>customer , product, purchase</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Manufacturing: </a:t>
            </a:r>
            <a:r>
              <a:rPr lang="en-US" b="0" i="0" dirty="0">
                <a:solidFill>
                  <a:srgbClr val="273239"/>
                </a:solidFill>
                <a:effectLst/>
                <a:highlight>
                  <a:srgbClr val="FFFFFF"/>
                </a:highlight>
                <a:latin typeface="Nunito" pitchFamily="2" charset="0"/>
              </a:rPr>
              <a:t>Production , inventory, order, supply chain</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Human Resources: </a:t>
            </a:r>
            <a:r>
              <a:rPr lang="en-US" b="0" i="0" dirty="0">
                <a:solidFill>
                  <a:srgbClr val="273239"/>
                </a:solidFill>
                <a:effectLst/>
                <a:highlight>
                  <a:srgbClr val="FFFFFF"/>
                </a:highlight>
                <a:latin typeface="Nunito" pitchFamily="2" charset="0"/>
              </a:rPr>
              <a:t>Employee record , salaries , tax Deductions</a:t>
            </a:r>
          </a:p>
          <a:p>
            <a:pPr algn="l" fontAlgn="base">
              <a:buFont typeface="Arial" panose="020B0604020202020204" pitchFamily="34" charset="0"/>
              <a:buChar char="•"/>
            </a:pPr>
            <a:endParaRPr lang="en-US" dirty="0">
              <a:solidFill>
                <a:srgbClr val="273239"/>
              </a:solidFill>
              <a:highlight>
                <a:srgbClr val="FFFFFF"/>
              </a:highlight>
              <a:latin typeface="Nunito" pitchFamily="2" charset="0"/>
            </a:endParaRPr>
          </a:p>
          <a:p>
            <a:pPr algn="l" fontAlgn="base">
              <a:buFont typeface="Arial" panose="020B0604020202020204" pitchFamily="34" charset="0"/>
              <a:buChar char="•"/>
            </a:pPr>
            <a:endParaRPr lang="en-US" b="0" i="0" dirty="0">
              <a:solidFill>
                <a:srgbClr val="273239"/>
              </a:solidFill>
              <a:effectLst/>
              <a:highlight>
                <a:srgbClr val="FFFFFF"/>
              </a:highlight>
              <a:latin typeface="Nunito" pitchFamily="2" charset="0"/>
            </a:endParaRPr>
          </a:p>
          <a:p>
            <a:pPr algn="l" fontAlgn="base"/>
            <a:r>
              <a:rPr lang="en-US" b="0" i="0" dirty="0">
                <a:solidFill>
                  <a:srgbClr val="273239"/>
                </a:solidFill>
                <a:effectLst/>
                <a:highlight>
                  <a:srgbClr val="FFFFFF"/>
                </a:highlight>
                <a:latin typeface="Nunito" pitchFamily="2" charset="0"/>
              </a:rPr>
              <a:t>* </a:t>
            </a:r>
            <a:r>
              <a:rPr lang="en-US" b="1" i="0" dirty="0">
                <a:solidFill>
                  <a:srgbClr val="273239"/>
                </a:solidFill>
                <a:effectLst/>
                <a:highlight>
                  <a:srgbClr val="FFFFFF"/>
                </a:highlight>
                <a:latin typeface="Nunito" pitchFamily="2" charset="0"/>
              </a:rPr>
              <a:t>Data base touch all aspects of our lives.</a:t>
            </a:r>
          </a:p>
        </p:txBody>
      </p:sp>
    </p:spTree>
    <p:extLst>
      <p:ext uri="{BB962C8B-B14F-4D97-AF65-F5344CB8AC3E}">
        <p14:creationId xmlns:p14="http://schemas.microsoft.com/office/powerpoint/2010/main" val="975153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0C9D47-02BF-A1AE-B243-3CACB0192DBF}"/>
              </a:ext>
            </a:extLst>
          </p:cNvPr>
          <p:cNvSpPr txBox="1"/>
          <p:nvPr/>
        </p:nvSpPr>
        <p:spPr>
          <a:xfrm>
            <a:off x="233915" y="197346"/>
            <a:ext cx="11600121" cy="5078313"/>
          </a:xfrm>
          <a:prstGeom prst="rect">
            <a:avLst/>
          </a:prstGeom>
          <a:noFill/>
        </p:spPr>
        <p:txBody>
          <a:bodyPr wrap="square">
            <a:spAutoFit/>
          </a:bodyPr>
          <a:lstStyle/>
          <a:p>
            <a:r>
              <a:rPr lang="en-IN" b="1" dirty="0"/>
              <a:t>Actors on the Scene:</a:t>
            </a:r>
          </a:p>
          <a:p>
            <a:endParaRPr lang="en-IN" dirty="0"/>
          </a:p>
          <a:p>
            <a:r>
              <a:rPr lang="en-US" dirty="0"/>
              <a:t>one person typically defines, constructs, and manipulates the database. However, many persons are involved in the  design, use, and maintenance of a large database with a few hundred users. The people whose jobs involve the day-to-day use of a large database; we call them the "actors on the scene."</a:t>
            </a:r>
            <a:endParaRPr lang="en-IN" dirty="0"/>
          </a:p>
          <a:p>
            <a:endParaRPr lang="en-US" dirty="0"/>
          </a:p>
          <a:p>
            <a:r>
              <a:rPr lang="en-US" dirty="0"/>
              <a:t>"</a:t>
            </a:r>
            <a:r>
              <a:rPr lang="en-US" b="1" dirty="0"/>
              <a:t>workers behind the scene"—</a:t>
            </a:r>
          </a:p>
          <a:p>
            <a:endParaRPr lang="en-US" dirty="0"/>
          </a:p>
          <a:p>
            <a:r>
              <a:rPr lang="en-US" dirty="0"/>
              <a:t>those who  work to maintain the database system environment, but who are not actively interested in the database itself.</a:t>
            </a:r>
          </a:p>
          <a:p>
            <a:endParaRPr lang="en-US" dirty="0"/>
          </a:p>
          <a:p>
            <a:r>
              <a:rPr lang="en-US" dirty="0"/>
              <a:t>1.Database Administrators</a:t>
            </a:r>
          </a:p>
          <a:p>
            <a:endParaRPr lang="en-US" dirty="0"/>
          </a:p>
          <a:p>
            <a:r>
              <a:rPr lang="en-US" dirty="0"/>
              <a:t>2.Database Designers</a:t>
            </a:r>
          </a:p>
          <a:p>
            <a:endParaRPr lang="en-US" dirty="0"/>
          </a:p>
          <a:p>
            <a:r>
              <a:rPr lang="en-US" dirty="0"/>
              <a:t>3. End Users</a:t>
            </a:r>
          </a:p>
          <a:p>
            <a:endParaRPr lang="en-US" dirty="0"/>
          </a:p>
          <a:p>
            <a:r>
              <a:rPr lang="en-US" dirty="0"/>
              <a:t>4. System Analysts and Application Programmers (Software Engineers)</a:t>
            </a:r>
            <a:endParaRPr lang="en-IN" dirty="0"/>
          </a:p>
        </p:txBody>
      </p:sp>
    </p:spTree>
    <p:extLst>
      <p:ext uri="{BB962C8B-B14F-4D97-AF65-F5344CB8AC3E}">
        <p14:creationId xmlns:p14="http://schemas.microsoft.com/office/powerpoint/2010/main" val="181461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089227-18B3-0733-512D-4577F81FCB16}"/>
              </a:ext>
            </a:extLst>
          </p:cNvPr>
          <p:cNvSpPr txBox="1"/>
          <p:nvPr/>
        </p:nvSpPr>
        <p:spPr>
          <a:xfrm>
            <a:off x="74427" y="1028343"/>
            <a:ext cx="11961629" cy="3693319"/>
          </a:xfrm>
          <a:prstGeom prst="rect">
            <a:avLst/>
          </a:prstGeom>
          <a:noFill/>
        </p:spPr>
        <p:txBody>
          <a:bodyPr wrap="square">
            <a:spAutoFit/>
          </a:bodyPr>
          <a:lstStyle/>
          <a:p>
            <a:r>
              <a:rPr lang="en-IN" b="1" dirty="0"/>
              <a:t>Database Administrators:      </a:t>
            </a:r>
            <a:r>
              <a:rPr lang="en-US" dirty="0"/>
              <a:t>In a database environment, the primary resource is the database itself and the secondary resource is the DBMS and related software. Administering these resources is the responsibility of the database administrator (DBA).</a:t>
            </a:r>
            <a:endParaRPr lang="en-IN" b="1" dirty="0"/>
          </a:p>
          <a:p>
            <a:endParaRPr lang="en-IN" b="1" dirty="0"/>
          </a:p>
          <a:p>
            <a:r>
              <a:rPr lang="en-US" dirty="0"/>
              <a:t>The DBA is responsible for-</a:t>
            </a:r>
          </a:p>
          <a:p>
            <a:pPr marL="1200150" lvl="2" indent="-285750">
              <a:buFont typeface="Wingdings" panose="05000000000000000000" pitchFamily="2" charset="2"/>
              <a:buChar char="Ø"/>
            </a:pPr>
            <a:r>
              <a:rPr lang="en-US" dirty="0"/>
              <a:t> Authorizing access to the database, </a:t>
            </a:r>
          </a:p>
          <a:p>
            <a:pPr marL="1200150" lvl="2" indent="-285750">
              <a:buFont typeface="Wingdings" panose="05000000000000000000" pitchFamily="2" charset="2"/>
              <a:buChar char="Ø"/>
            </a:pPr>
            <a:r>
              <a:rPr lang="en-US" dirty="0"/>
              <a:t>For coordinating and monitoring its use, </a:t>
            </a:r>
          </a:p>
          <a:p>
            <a:pPr marL="1200150" lvl="2" indent="-285750">
              <a:buFont typeface="Wingdings" panose="05000000000000000000" pitchFamily="2" charset="2"/>
              <a:buChar char="Ø"/>
            </a:pPr>
            <a:r>
              <a:rPr lang="en-US" dirty="0"/>
              <a:t>For acquiring software and hardware resources as needed. </a:t>
            </a:r>
          </a:p>
          <a:p>
            <a:pPr marL="1200150" lvl="2" indent="-285750">
              <a:buFont typeface="Wingdings" panose="05000000000000000000" pitchFamily="2" charset="2"/>
              <a:buChar char="Ø"/>
            </a:pPr>
            <a:r>
              <a:rPr lang="en-US" dirty="0"/>
              <a:t>Controlling its use and monitoring efficiency of operation</a:t>
            </a:r>
          </a:p>
          <a:p>
            <a:endParaRPr lang="en-US" dirty="0"/>
          </a:p>
          <a:p>
            <a:r>
              <a:rPr lang="en-US" dirty="0"/>
              <a:t>The DBA is accountable for problems such as breach of security or</a:t>
            </a:r>
          </a:p>
          <a:p>
            <a:r>
              <a:rPr lang="en-US" dirty="0"/>
              <a:t>poor system response time. In large organizations, the DBA is assisted by a staff that helps carry out</a:t>
            </a:r>
          </a:p>
          <a:p>
            <a:r>
              <a:rPr lang="en-US" dirty="0"/>
              <a:t>these functions.</a:t>
            </a:r>
            <a:endParaRPr lang="en-IN" dirty="0"/>
          </a:p>
        </p:txBody>
      </p:sp>
    </p:spTree>
    <p:extLst>
      <p:ext uri="{BB962C8B-B14F-4D97-AF65-F5344CB8AC3E}">
        <p14:creationId xmlns:p14="http://schemas.microsoft.com/office/powerpoint/2010/main" val="4288090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5494FE-1D3A-C185-2AAC-41D0759CC7F1}"/>
              </a:ext>
            </a:extLst>
          </p:cNvPr>
          <p:cNvSpPr txBox="1"/>
          <p:nvPr/>
        </p:nvSpPr>
        <p:spPr>
          <a:xfrm>
            <a:off x="826516" y="991464"/>
            <a:ext cx="11653283" cy="4801314"/>
          </a:xfrm>
          <a:prstGeom prst="rect">
            <a:avLst/>
          </a:prstGeom>
          <a:noFill/>
        </p:spPr>
        <p:txBody>
          <a:bodyPr wrap="square">
            <a:spAutoFit/>
          </a:bodyPr>
          <a:lstStyle/>
          <a:p>
            <a:r>
              <a:rPr lang="en-IN" dirty="0"/>
              <a:t> </a:t>
            </a:r>
            <a:r>
              <a:rPr lang="en-IN" b="1" dirty="0"/>
              <a:t>Database Designers</a:t>
            </a:r>
            <a:r>
              <a:rPr lang="en-IN" dirty="0"/>
              <a:t>:</a:t>
            </a:r>
          </a:p>
          <a:p>
            <a:endParaRPr lang="en-IN" dirty="0"/>
          </a:p>
          <a:p>
            <a:r>
              <a:rPr lang="en-US" dirty="0"/>
              <a:t>Database designers are responsible for identifying the data to be stored in the database and for choosing appropriate structures to represent and store this data.</a:t>
            </a:r>
          </a:p>
          <a:p>
            <a:r>
              <a:rPr lang="en-US" dirty="0"/>
              <a:t> </a:t>
            </a:r>
          </a:p>
          <a:p>
            <a:r>
              <a:rPr lang="en-US" dirty="0"/>
              <a:t>It responsible to define content, the structure, Constraints , and function or transaction against the database. They Must communicate with end users and understand their needs</a:t>
            </a:r>
          </a:p>
          <a:p>
            <a:endParaRPr lang="en-US" dirty="0"/>
          </a:p>
          <a:p>
            <a:r>
              <a:rPr lang="en-IN" b="1" dirty="0"/>
              <a:t>End Users</a:t>
            </a:r>
            <a:r>
              <a:rPr lang="en-US" b="1" dirty="0"/>
              <a:t>:</a:t>
            </a:r>
          </a:p>
          <a:p>
            <a:r>
              <a:rPr lang="en-US" dirty="0"/>
              <a:t>End users are the people whose jobs require access to the database for querying, updating, and generating reports; the database primarily exists for their use. There are several categories of end users</a:t>
            </a:r>
            <a:r>
              <a:rPr lang="en-US" b="1" dirty="0"/>
              <a:t>:</a:t>
            </a:r>
          </a:p>
          <a:p>
            <a:endParaRPr lang="en-US" b="1" dirty="0"/>
          </a:p>
          <a:p>
            <a:pPr marL="342900" indent="-342900">
              <a:buFont typeface="+mj-lt"/>
              <a:buAutoNum type="arabicPeriod"/>
            </a:pPr>
            <a:r>
              <a:rPr lang="en-US" b="1" dirty="0"/>
              <a:t>Casual User</a:t>
            </a:r>
          </a:p>
          <a:p>
            <a:pPr marL="342900" indent="-342900">
              <a:buFont typeface="+mj-lt"/>
              <a:buAutoNum type="arabicPeriod"/>
            </a:pPr>
            <a:r>
              <a:rPr lang="en-US" b="1" dirty="0"/>
              <a:t>Naïve Use  parametric  end user</a:t>
            </a:r>
          </a:p>
          <a:p>
            <a:pPr marL="342900" indent="-342900">
              <a:buFont typeface="+mj-lt"/>
              <a:buAutoNum type="arabicPeriod"/>
            </a:pPr>
            <a:r>
              <a:rPr lang="en-US" b="1" dirty="0"/>
              <a:t>Sophisticated end user</a:t>
            </a:r>
          </a:p>
          <a:p>
            <a:pPr marL="342900" indent="-342900">
              <a:buFont typeface="+mj-lt"/>
              <a:buAutoNum type="arabicPeriod"/>
            </a:pPr>
            <a:r>
              <a:rPr lang="en-US" b="1" dirty="0"/>
              <a:t>Stand Alone User</a:t>
            </a:r>
          </a:p>
          <a:p>
            <a:endParaRPr lang="en-US" b="1" dirty="0"/>
          </a:p>
        </p:txBody>
      </p:sp>
    </p:spTree>
    <p:extLst>
      <p:ext uri="{BB962C8B-B14F-4D97-AF65-F5344CB8AC3E}">
        <p14:creationId xmlns:p14="http://schemas.microsoft.com/office/powerpoint/2010/main" val="1030873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7DF737-26A8-6EE1-1C9A-28049B34C9D9}"/>
              </a:ext>
            </a:extLst>
          </p:cNvPr>
          <p:cNvSpPr txBox="1"/>
          <p:nvPr/>
        </p:nvSpPr>
        <p:spPr>
          <a:xfrm>
            <a:off x="467833" y="472964"/>
            <a:ext cx="11355572" cy="5355312"/>
          </a:xfrm>
          <a:prstGeom prst="rect">
            <a:avLst/>
          </a:prstGeom>
          <a:noFill/>
        </p:spPr>
        <p:txBody>
          <a:bodyPr wrap="square">
            <a:spAutoFit/>
          </a:bodyPr>
          <a:lstStyle/>
          <a:p>
            <a:pPr marL="285750" indent="-285750" algn="just">
              <a:buFont typeface="Arial" panose="020B0604020202020204" pitchFamily="34" charset="0"/>
              <a:buChar char="•"/>
            </a:pPr>
            <a:r>
              <a:rPr lang="en-IN" b="1" dirty="0"/>
              <a:t>Casual end users:</a:t>
            </a:r>
          </a:p>
          <a:p>
            <a:pPr algn="just"/>
            <a:endParaRPr lang="en-IN" b="1" dirty="0"/>
          </a:p>
          <a:p>
            <a:pPr algn="just"/>
            <a:r>
              <a:rPr lang="en-IN" b="1" dirty="0"/>
              <a:t> -</a:t>
            </a:r>
            <a:r>
              <a:rPr lang="en-IN" dirty="0"/>
              <a:t>access the database occasionally( Not frequently) .example </a:t>
            </a:r>
            <a:r>
              <a:rPr lang="en-IN" b="1" dirty="0"/>
              <a:t>: High level and middle level manager</a:t>
            </a:r>
            <a:r>
              <a:rPr lang="en-IN" dirty="0"/>
              <a:t> other </a:t>
            </a:r>
            <a:r>
              <a:rPr lang="en-IN" b="1" dirty="0"/>
              <a:t>occasional browsers .B</a:t>
            </a:r>
            <a:r>
              <a:rPr lang="en-IN" dirty="0"/>
              <a:t>ut they may need different information each time. </a:t>
            </a:r>
          </a:p>
          <a:p>
            <a:pPr algn="just"/>
            <a:endParaRPr lang="en-IN" dirty="0"/>
          </a:p>
          <a:p>
            <a:pPr algn="just"/>
            <a:r>
              <a:rPr lang="en-IN" dirty="0"/>
              <a:t>• </a:t>
            </a:r>
            <a:r>
              <a:rPr lang="en-IN" b="1" dirty="0"/>
              <a:t>Naive or parametric end users:</a:t>
            </a:r>
          </a:p>
          <a:p>
            <a:pPr algn="just"/>
            <a:endParaRPr lang="en-IN" b="1" dirty="0"/>
          </a:p>
          <a:p>
            <a:pPr algn="just"/>
            <a:r>
              <a:rPr lang="en-IN" dirty="0"/>
              <a:t>-constantly querying and updating the database, using standard types of queries and updates—called canned transactions—that have been carefully programmed and tested. </a:t>
            </a:r>
          </a:p>
          <a:p>
            <a:pPr algn="just"/>
            <a:endParaRPr lang="en-IN" dirty="0"/>
          </a:p>
          <a:p>
            <a:pPr algn="just"/>
            <a:r>
              <a:rPr lang="en-IN" b="1" dirty="0"/>
              <a:t>Example: </a:t>
            </a:r>
            <a:r>
              <a:rPr lang="en-IN" dirty="0"/>
              <a:t>Bank tellers check account balances and post withdrawals and deposits.</a:t>
            </a:r>
          </a:p>
          <a:p>
            <a:pPr algn="just"/>
            <a:r>
              <a:rPr lang="en-IN" b="1" dirty="0"/>
              <a:t>	Reservation clerks for </a:t>
            </a:r>
            <a:r>
              <a:rPr lang="en-IN" dirty="0"/>
              <a:t>airlines, hotels, and car rental companies check availability for a given request 	and make reservations.</a:t>
            </a:r>
          </a:p>
          <a:p>
            <a:pPr algn="just"/>
            <a:endParaRPr lang="en-IN" dirty="0"/>
          </a:p>
          <a:p>
            <a:pPr algn="just"/>
            <a:endParaRPr lang="en-IN" dirty="0"/>
          </a:p>
          <a:p>
            <a:pPr marL="285750" indent="-285750" algn="just">
              <a:buFont typeface="Arial" panose="020B0604020202020204" pitchFamily="34" charset="0"/>
              <a:buChar char="•"/>
            </a:pPr>
            <a:r>
              <a:rPr lang="en-IN" sz="1800" b="1" dirty="0"/>
              <a:t>Sophisticated end users:</a:t>
            </a:r>
          </a:p>
          <a:p>
            <a:pPr marL="285750" indent="-285750" algn="just">
              <a:buFontTx/>
              <a:buChar char="-"/>
            </a:pPr>
            <a:r>
              <a:rPr lang="en-IN" b="1" dirty="0"/>
              <a:t>these</a:t>
            </a:r>
            <a:r>
              <a:rPr lang="en-IN" sz="1800" dirty="0"/>
              <a:t> include engineers, scientists, business analysts, and others who thoroughly familiar  with system capabilities . May use tool  in </a:t>
            </a:r>
            <a:r>
              <a:rPr lang="en-IN" dirty="0"/>
              <a:t>the form of software package  that work closely with the system database .</a:t>
            </a:r>
          </a:p>
          <a:p>
            <a:pPr marL="285750" indent="-285750" algn="just">
              <a:buFontTx/>
              <a:buChar char="-"/>
            </a:pPr>
            <a:r>
              <a:rPr lang="en-IN" dirty="0"/>
              <a:t>To develop own data base application, meet their requirement.</a:t>
            </a:r>
          </a:p>
        </p:txBody>
      </p:sp>
    </p:spTree>
    <p:extLst>
      <p:ext uri="{BB962C8B-B14F-4D97-AF65-F5344CB8AC3E}">
        <p14:creationId xmlns:p14="http://schemas.microsoft.com/office/powerpoint/2010/main" val="257818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A203B4-12C8-7B91-1297-7485215501C5}"/>
              </a:ext>
            </a:extLst>
          </p:cNvPr>
          <p:cNvSpPr txBox="1"/>
          <p:nvPr/>
        </p:nvSpPr>
        <p:spPr>
          <a:xfrm>
            <a:off x="0" y="-79653"/>
            <a:ext cx="12078586" cy="3970318"/>
          </a:xfrm>
          <a:prstGeom prst="rect">
            <a:avLst/>
          </a:prstGeom>
          <a:noFill/>
        </p:spPr>
        <p:txBody>
          <a:bodyPr wrap="square">
            <a:spAutoFit/>
          </a:bodyPr>
          <a:lstStyle/>
          <a:p>
            <a:pPr algn="just"/>
            <a:endParaRPr lang="en-IN" sz="1800" dirty="0"/>
          </a:p>
          <a:p>
            <a:pPr algn="just"/>
            <a:r>
              <a:rPr lang="en-IN" sz="1800" b="1" dirty="0"/>
              <a:t>• Stand-alone users</a:t>
            </a:r>
            <a:r>
              <a:rPr lang="en-IN" sz="1800" dirty="0"/>
              <a:t> :</a:t>
            </a:r>
          </a:p>
          <a:p>
            <a:pPr algn="just"/>
            <a:r>
              <a:rPr lang="en-IN" dirty="0"/>
              <a:t>	- </a:t>
            </a:r>
            <a:r>
              <a:rPr lang="en-IN" sz="1800" dirty="0"/>
              <a:t>maintain personal databases by using ready-made program packages that provide easy-to-use menu- or 	graphics-based interfaces. </a:t>
            </a:r>
          </a:p>
          <a:p>
            <a:pPr algn="just"/>
            <a:r>
              <a:rPr lang="en-IN" dirty="0"/>
              <a:t>	An </a:t>
            </a:r>
            <a:r>
              <a:rPr lang="en-IN" sz="1800" dirty="0"/>
              <a:t>example is the user of a tax package that stores a variety of personal financial data for tax purposes</a:t>
            </a:r>
          </a:p>
          <a:p>
            <a:pPr algn="just"/>
            <a:endParaRPr lang="en-IN" sz="1800" dirty="0"/>
          </a:p>
          <a:p>
            <a:pPr marL="285750" indent="-285750" algn="just">
              <a:buFont typeface="Arial" panose="020B0604020202020204" pitchFamily="34" charset="0"/>
              <a:buChar char="•"/>
            </a:pPr>
            <a:r>
              <a:rPr lang="en-US" sz="1800" b="1" dirty="0"/>
              <a:t>System Analysts and Application Programmers (Software Engineers): </a:t>
            </a:r>
          </a:p>
          <a:p>
            <a:pPr marL="285750" indent="-285750" algn="just">
              <a:buFont typeface="Arial" panose="020B0604020202020204" pitchFamily="34" charset="0"/>
              <a:buChar char="•"/>
            </a:pPr>
            <a:endParaRPr lang="en-US" sz="1800" b="1" dirty="0"/>
          </a:p>
          <a:p>
            <a:pPr algn="just"/>
            <a:r>
              <a:rPr lang="en-US" dirty="0"/>
              <a:t>	</a:t>
            </a:r>
            <a:r>
              <a:rPr lang="en-US" sz="1800" b="1" dirty="0"/>
              <a:t> System Analysts </a:t>
            </a:r>
            <a:r>
              <a:rPr lang="en-US" dirty="0"/>
              <a:t>-</a:t>
            </a:r>
            <a:r>
              <a:rPr lang="en-US" sz="1800" dirty="0"/>
              <a:t> determine the requirements of end users, especially naive and parametric end users, </a:t>
            </a:r>
          </a:p>
          <a:p>
            <a:pPr algn="just"/>
            <a:r>
              <a:rPr lang="en-US" dirty="0"/>
              <a:t>	- and </a:t>
            </a:r>
            <a:r>
              <a:rPr lang="en-US" sz="1800" b="1" dirty="0"/>
              <a:t>develop specifications for canned transactions that meet these requirements</a:t>
            </a:r>
            <a:r>
              <a:rPr lang="en-US" sz="1800" dirty="0"/>
              <a:t>. </a:t>
            </a:r>
          </a:p>
          <a:p>
            <a:pPr algn="just"/>
            <a:endParaRPr lang="en-US" sz="1800" dirty="0"/>
          </a:p>
          <a:p>
            <a:pPr algn="just"/>
            <a:r>
              <a:rPr lang="en-US" sz="1800" b="1" dirty="0"/>
              <a:t>	Application programmer- </a:t>
            </a:r>
            <a:r>
              <a:rPr lang="en-US" sz="1800" dirty="0"/>
              <a:t>implement these specifications as programs; then they test, debug, document, and 		maintain these canned transactions. Such analysts and programmers (nowadays called </a:t>
            </a:r>
            <a:r>
              <a:rPr lang="en-US" sz="1800" b="1" dirty="0"/>
              <a:t>software engineers</a:t>
            </a:r>
            <a:r>
              <a:rPr lang="en-US" sz="1800" dirty="0"/>
              <a:t>) 	should 	be familiar with the full range of capabilities provided by the DBMS to accomplish their tasks.</a:t>
            </a:r>
            <a:endParaRPr lang="en-IN" sz="1800" dirty="0"/>
          </a:p>
        </p:txBody>
      </p:sp>
    </p:spTree>
    <p:extLst>
      <p:ext uri="{BB962C8B-B14F-4D97-AF65-F5344CB8AC3E}">
        <p14:creationId xmlns:p14="http://schemas.microsoft.com/office/powerpoint/2010/main" val="4002639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310096-ED4F-FDD3-67EA-5580753D73C1}"/>
              </a:ext>
            </a:extLst>
          </p:cNvPr>
          <p:cNvSpPr txBox="1"/>
          <p:nvPr/>
        </p:nvSpPr>
        <p:spPr>
          <a:xfrm>
            <a:off x="432390" y="-110358"/>
            <a:ext cx="11759610" cy="6063198"/>
          </a:xfrm>
          <a:prstGeom prst="rect">
            <a:avLst/>
          </a:prstGeom>
          <a:noFill/>
        </p:spPr>
        <p:txBody>
          <a:bodyPr wrap="square">
            <a:spAutoFit/>
          </a:bodyPr>
          <a:lstStyle/>
          <a:p>
            <a:r>
              <a:rPr lang="en-IN" sz="2800" b="1" dirty="0"/>
              <a:t>Workers behind the Scene: </a:t>
            </a:r>
          </a:p>
          <a:p>
            <a:r>
              <a:rPr lang="en-IN" dirty="0"/>
              <a:t>Are people who maintain database system environment .they deal with the design development and operational of the data base system environment</a:t>
            </a:r>
          </a:p>
          <a:p>
            <a:endParaRPr lang="en-IN" dirty="0"/>
          </a:p>
          <a:p>
            <a:endParaRPr lang="en-IN" dirty="0"/>
          </a:p>
          <a:p>
            <a:pPr algn="just"/>
            <a:r>
              <a:rPr lang="en-US" b="1" dirty="0"/>
              <a:t>DBMS system designers and implementers</a:t>
            </a:r>
            <a:r>
              <a:rPr lang="en-US" dirty="0"/>
              <a:t> </a:t>
            </a:r>
          </a:p>
          <a:p>
            <a:pPr algn="just"/>
            <a:r>
              <a:rPr lang="en-US" dirty="0"/>
              <a:t>	-A persons who design and implement the DBMS modules and interfaces as a software package. </a:t>
            </a:r>
          </a:p>
          <a:p>
            <a:pPr algn="just"/>
            <a:r>
              <a:rPr lang="en-US" dirty="0"/>
              <a:t>	 DBMS – consist of very complex software system which consists of many components like- implementing 	the catalog, query language, interface processors, data access, concurrency control, recovery, and security. 	-DBMS must interface with other system software, such as the operating system and compilers for various 	programming languages.</a:t>
            </a:r>
          </a:p>
          <a:p>
            <a:pPr algn="just"/>
            <a:endParaRPr lang="en-US" dirty="0"/>
          </a:p>
          <a:p>
            <a:pPr algn="just"/>
            <a:r>
              <a:rPr lang="en-US" b="1" dirty="0"/>
              <a:t>Tool developers:</a:t>
            </a:r>
          </a:p>
          <a:p>
            <a:pPr algn="just"/>
            <a:r>
              <a:rPr lang="en-US" b="1" dirty="0"/>
              <a:t>	- A</a:t>
            </a:r>
            <a:r>
              <a:rPr lang="en-US" dirty="0"/>
              <a:t> persons who design and implement tool which is nothing but  software packages . These software 	package are  optional and can be purchased separately to help to improve performance of data base system</a:t>
            </a:r>
          </a:p>
          <a:p>
            <a:pPr algn="just"/>
            <a:endParaRPr lang="en-US" dirty="0"/>
          </a:p>
          <a:p>
            <a:pPr algn="just"/>
            <a:endParaRPr lang="en-US" b="1" dirty="0"/>
          </a:p>
          <a:p>
            <a:pPr algn="just"/>
            <a:r>
              <a:rPr lang="en-US" b="1" dirty="0"/>
              <a:t>Operators and maintenance personnel:</a:t>
            </a:r>
          </a:p>
          <a:p>
            <a:pPr algn="just"/>
            <a:endParaRPr lang="en-US" b="1" dirty="0"/>
          </a:p>
          <a:p>
            <a:pPr algn="just"/>
            <a:r>
              <a:rPr lang="en-US" b="1" dirty="0"/>
              <a:t> - </a:t>
            </a:r>
            <a:r>
              <a:rPr lang="en-US" dirty="0"/>
              <a:t> responsible for the actual running and maintenance of the hardware and software environment for the database system environment.</a:t>
            </a:r>
            <a:endParaRPr lang="en-IN" dirty="0"/>
          </a:p>
        </p:txBody>
      </p:sp>
    </p:spTree>
    <p:extLst>
      <p:ext uri="{BB962C8B-B14F-4D97-AF65-F5344CB8AC3E}">
        <p14:creationId xmlns:p14="http://schemas.microsoft.com/office/powerpoint/2010/main" val="1507854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30D47B-EA28-597E-4FA4-49133EA4F73C}"/>
              </a:ext>
            </a:extLst>
          </p:cNvPr>
          <p:cNvSpPr txBox="1"/>
          <p:nvPr/>
        </p:nvSpPr>
        <p:spPr>
          <a:xfrm>
            <a:off x="281795" y="747623"/>
            <a:ext cx="11415623" cy="3416320"/>
          </a:xfrm>
          <a:prstGeom prst="rect">
            <a:avLst/>
          </a:prstGeom>
          <a:noFill/>
        </p:spPr>
        <p:txBody>
          <a:bodyPr wrap="square">
            <a:spAutoFit/>
          </a:bodyPr>
          <a:lstStyle/>
          <a:p>
            <a:r>
              <a:rPr lang="en-IN" dirty="0"/>
              <a:t>Questions</a:t>
            </a:r>
          </a:p>
          <a:p>
            <a:endParaRPr lang="en-IN" dirty="0"/>
          </a:p>
          <a:p>
            <a:pPr algn="just"/>
            <a:r>
              <a:rPr lang="en-IN" dirty="0"/>
              <a:t>1.1. Define the following terms: data, database, DBMS, database system, database </a:t>
            </a:r>
            <a:r>
              <a:rPr lang="en-IN" dirty="0" err="1"/>
              <a:t>catalog</a:t>
            </a:r>
            <a:r>
              <a:rPr lang="en-IN" dirty="0"/>
              <a:t>, program-</a:t>
            </a:r>
          </a:p>
          <a:p>
            <a:pPr algn="just"/>
            <a:r>
              <a:rPr lang="en-IN" dirty="0"/>
              <a:t>data independence, user view, DBA, end user, canned transaction, deductive database system,</a:t>
            </a:r>
          </a:p>
          <a:p>
            <a:pPr algn="just"/>
            <a:endParaRPr lang="en-IN" dirty="0"/>
          </a:p>
          <a:p>
            <a:pPr algn="just"/>
            <a:r>
              <a:rPr lang="en-IN" dirty="0"/>
              <a:t>persistent object, meta-data, transaction processing application.</a:t>
            </a:r>
          </a:p>
          <a:p>
            <a:pPr algn="just"/>
            <a:r>
              <a:rPr lang="en-IN" dirty="0"/>
              <a:t>1.2. What three main types of actions involve databases? Briefly discuss each.</a:t>
            </a:r>
          </a:p>
          <a:p>
            <a:pPr algn="just"/>
            <a:r>
              <a:rPr lang="en-IN" dirty="0"/>
              <a:t>1.3. Discuss the main characteristics of the database approach and how it differs from traditional file</a:t>
            </a:r>
          </a:p>
          <a:p>
            <a:pPr algn="just"/>
            <a:r>
              <a:rPr lang="en-IN" dirty="0"/>
              <a:t>systems.</a:t>
            </a:r>
          </a:p>
          <a:p>
            <a:pPr algn="just"/>
            <a:r>
              <a:rPr lang="en-IN" dirty="0"/>
              <a:t>1.4. What are the responsibilities of the DBA and the database designers?</a:t>
            </a:r>
          </a:p>
          <a:p>
            <a:pPr algn="just"/>
            <a:r>
              <a:rPr lang="en-IN" dirty="0"/>
              <a:t>1.5. What are the different types of database end users? Discuss the main activities of each.</a:t>
            </a:r>
          </a:p>
          <a:p>
            <a:r>
              <a:rPr lang="en-IN" dirty="0"/>
              <a:t>1.6. Discuss the capabilities that should be provided by a DBMS.</a:t>
            </a:r>
          </a:p>
        </p:txBody>
      </p:sp>
    </p:spTree>
    <p:extLst>
      <p:ext uri="{BB962C8B-B14F-4D97-AF65-F5344CB8AC3E}">
        <p14:creationId xmlns:p14="http://schemas.microsoft.com/office/powerpoint/2010/main" val="2590926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E9DD29-2F3B-B5E8-F14E-DCCBC478AC27}"/>
              </a:ext>
            </a:extLst>
          </p:cNvPr>
          <p:cNvSpPr txBox="1"/>
          <p:nvPr/>
        </p:nvSpPr>
        <p:spPr>
          <a:xfrm>
            <a:off x="481840" y="428722"/>
            <a:ext cx="10332172" cy="5488490"/>
          </a:xfrm>
          <a:prstGeom prst="rect">
            <a:avLst/>
          </a:prstGeom>
          <a:noFill/>
        </p:spPr>
        <p:txBody>
          <a:bodyPr wrap="square" anchor="ctr">
            <a:spAutoFit/>
          </a:bodyPr>
          <a:lstStyle/>
          <a:p>
            <a:r>
              <a:rPr lang="en-IN" b="1" dirty="0"/>
              <a:t>Database System Concepts and  Architecture:</a:t>
            </a:r>
          </a:p>
          <a:p>
            <a:endParaRPr lang="en-IN" b="1" dirty="0"/>
          </a:p>
          <a:p>
            <a:pPr marL="1200150" lvl="2" indent="-285750" algn="just">
              <a:lnSpc>
                <a:spcPct val="300000"/>
              </a:lnSpc>
              <a:buFont typeface="Wingdings" panose="05000000000000000000" pitchFamily="2" charset="2"/>
              <a:buChar char="ü"/>
            </a:pPr>
            <a:r>
              <a:rPr lang="en-US" b="1" dirty="0"/>
              <a:t>Data Models, Schemas, and Instances</a:t>
            </a:r>
          </a:p>
          <a:p>
            <a:pPr marL="1200150" lvl="2" indent="-285750" algn="just">
              <a:lnSpc>
                <a:spcPct val="300000"/>
              </a:lnSpc>
              <a:buFont typeface="Wingdings" panose="05000000000000000000" pitchFamily="2" charset="2"/>
              <a:buChar char="ü"/>
            </a:pPr>
            <a:r>
              <a:rPr lang="en-US" b="1" dirty="0"/>
              <a:t>DBMS Architecture and Data Independence</a:t>
            </a:r>
          </a:p>
          <a:p>
            <a:pPr marL="1200150" lvl="2" indent="-285750" algn="just">
              <a:lnSpc>
                <a:spcPct val="300000"/>
              </a:lnSpc>
              <a:buFont typeface="Wingdings" panose="05000000000000000000" pitchFamily="2" charset="2"/>
              <a:buChar char="ü"/>
            </a:pPr>
            <a:r>
              <a:rPr lang="en-US" b="1" dirty="0"/>
              <a:t> Database Languages and Interfaces</a:t>
            </a:r>
          </a:p>
          <a:p>
            <a:pPr marL="1200150" lvl="2" indent="-285750" algn="just">
              <a:lnSpc>
                <a:spcPct val="300000"/>
              </a:lnSpc>
              <a:buFont typeface="Wingdings" panose="05000000000000000000" pitchFamily="2" charset="2"/>
              <a:buChar char="ü"/>
            </a:pPr>
            <a:r>
              <a:rPr lang="en-US" b="1" dirty="0"/>
              <a:t>The Database System Environment</a:t>
            </a:r>
          </a:p>
          <a:p>
            <a:pPr marL="1200150" lvl="2" indent="-285750" algn="just">
              <a:lnSpc>
                <a:spcPct val="300000"/>
              </a:lnSpc>
              <a:buFont typeface="Wingdings" panose="05000000000000000000" pitchFamily="2" charset="2"/>
              <a:buChar char="ü"/>
            </a:pPr>
            <a:r>
              <a:rPr lang="en-US" b="1" dirty="0"/>
              <a:t>Classification of Database Management Systems</a:t>
            </a:r>
            <a:endParaRPr lang="en-IN" b="1" dirty="0"/>
          </a:p>
          <a:p>
            <a:pPr lvl="2" algn="just">
              <a:lnSpc>
                <a:spcPct val="300000"/>
              </a:lnSpc>
            </a:pPr>
            <a:endParaRPr lang="en-IN" b="1" dirty="0"/>
          </a:p>
        </p:txBody>
      </p:sp>
    </p:spTree>
    <p:extLst>
      <p:ext uri="{BB962C8B-B14F-4D97-AF65-F5344CB8AC3E}">
        <p14:creationId xmlns:p14="http://schemas.microsoft.com/office/powerpoint/2010/main" val="2359114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BD3F21-D390-395C-B21E-402E37EA535A}"/>
              </a:ext>
            </a:extLst>
          </p:cNvPr>
          <p:cNvSpPr txBox="1"/>
          <p:nvPr/>
        </p:nvSpPr>
        <p:spPr>
          <a:xfrm>
            <a:off x="509216" y="1051287"/>
            <a:ext cx="11076834" cy="3693319"/>
          </a:xfrm>
          <a:prstGeom prst="rect">
            <a:avLst/>
          </a:prstGeom>
          <a:noFill/>
        </p:spPr>
        <p:txBody>
          <a:bodyPr wrap="square">
            <a:spAutoFit/>
          </a:bodyPr>
          <a:lstStyle/>
          <a:p>
            <a:r>
              <a:rPr lang="en-US" b="1" dirty="0"/>
              <a:t>Data Models:</a:t>
            </a:r>
            <a:endParaRPr lang="en-IN" dirty="0"/>
          </a:p>
          <a:p>
            <a:endParaRPr lang="en-IN" b="1" dirty="0"/>
          </a:p>
          <a:p>
            <a:r>
              <a:rPr lang="en-IN" dirty="0"/>
              <a:t>—a collection of concepts that can be used to describe the structure of a database.</a:t>
            </a:r>
          </a:p>
          <a:p>
            <a:r>
              <a:rPr lang="en-IN" dirty="0"/>
              <a:t>—provides the necessary means to achieve  abstraction(</a:t>
            </a:r>
            <a:r>
              <a:rPr lang="en-US" dirty="0"/>
              <a:t> DBMS provides some level of data abstraction by hiding details of data storage that are not needed by most database users.)</a:t>
            </a:r>
            <a:r>
              <a:rPr lang="en-IN" dirty="0"/>
              <a:t> </a:t>
            </a:r>
          </a:p>
          <a:p>
            <a:endParaRPr lang="en-IN" dirty="0"/>
          </a:p>
          <a:p>
            <a:r>
              <a:rPr lang="en-IN" dirty="0"/>
              <a:t>-By structure of a database  means-</a:t>
            </a:r>
          </a:p>
          <a:p>
            <a:r>
              <a:rPr lang="en-IN" dirty="0"/>
              <a:t>		 the </a:t>
            </a:r>
            <a:r>
              <a:rPr lang="en-IN" b="1" dirty="0"/>
              <a:t>data types,</a:t>
            </a:r>
          </a:p>
          <a:p>
            <a:r>
              <a:rPr lang="en-IN" b="1" dirty="0"/>
              <a:t>		 relationships between relation, </a:t>
            </a:r>
          </a:p>
          <a:p>
            <a:r>
              <a:rPr lang="en-IN" b="1" dirty="0"/>
              <a:t>		and constraints </a:t>
            </a:r>
            <a:r>
              <a:rPr lang="en-IN" dirty="0"/>
              <a:t>that should hold on the data. </a:t>
            </a:r>
          </a:p>
          <a:p>
            <a:r>
              <a:rPr lang="en-IN" dirty="0"/>
              <a:t>	-Most data models also include a set of basic operations for specifying retrievals and updates on the 	database.</a:t>
            </a:r>
          </a:p>
          <a:p>
            <a:endParaRPr lang="en-IN" dirty="0"/>
          </a:p>
        </p:txBody>
      </p:sp>
    </p:spTree>
    <p:extLst>
      <p:ext uri="{BB962C8B-B14F-4D97-AF65-F5344CB8AC3E}">
        <p14:creationId xmlns:p14="http://schemas.microsoft.com/office/powerpoint/2010/main" val="2034561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841287-C300-12F0-1E88-CB5CBE0FD7FB}"/>
              </a:ext>
            </a:extLst>
          </p:cNvPr>
          <p:cNvSpPr txBox="1"/>
          <p:nvPr/>
        </p:nvSpPr>
        <p:spPr>
          <a:xfrm>
            <a:off x="412376" y="826792"/>
            <a:ext cx="11199905" cy="5078313"/>
          </a:xfrm>
          <a:prstGeom prst="rect">
            <a:avLst/>
          </a:prstGeom>
          <a:noFill/>
        </p:spPr>
        <p:txBody>
          <a:bodyPr wrap="square">
            <a:spAutoFit/>
          </a:bodyPr>
          <a:lstStyle/>
          <a:p>
            <a:r>
              <a:rPr lang="en-IN" b="1" dirty="0"/>
              <a:t>Categories of Data Models</a:t>
            </a:r>
          </a:p>
          <a:p>
            <a:endParaRPr lang="en-IN" b="1" dirty="0"/>
          </a:p>
          <a:p>
            <a:pPr marL="285750" indent="-285750">
              <a:buFont typeface="Wingdings" panose="05000000000000000000" pitchFamily="2" charset="2"/>
              <a:buChar char="v"/>
            </a:pPr>
            <a:r>
              <a:rPr lang="en-IN" b="1" dirty="0"/>
              <a:t>High Level or Conceptual Data model: </a:t>
            </a:r>
          </a:p>
          <a:p>
            <a:pPr lvl="2" algn="just"/>
            <a:r>
              <a:rPr lang="en-IN" b="1" dirty="0"/>
              <a:t>-</a:t>
            </a:r>
            <a:r>
              <a:rPr lang="en-IN" dirty="0"/>
              <a:t>It  describe the data model  at a very high level and it useful to understands the need of requirement of database (Requirement gathering process).</a:t>
            </a:r>
          </a:p>
          <a:p>
            <a:pPr lvl="2" algn="just"/>
            <a:r>
              <a:rPr lang="en-IN" dirty="0"/>
              <a:t>Example- E-R Model. </a:t>
            </a:r>
          </a:p>
          <a:p>
            <a:pPr lvl="2" algn="just"/>
            <a:r>
              <a:rPr lang="en-IN" dirty="0"/>
              <a:t>* Object Data Model Near conceptual data model.</a:t>
            </a:r>
          </a:p>
          <a:p>
            <a:endParaRPr lang="en-US" dirty="0"/>
          </a:p>
          <a:p>
            <a:pPr marL="285750" indent="-285750">
              <a:buFont typeface="Wingdings" panose="05000000000000000000" pitchFamily="2" charset="2"/>
              <a:buChar char="v"/>
            </a:pPr>
            <a:r>
              <a:rPr lang="en-US" dirty="0"/>
              <a:t> </a:t>
            </a:r>
            <a:r>
              <a:rPr lang="en-US" b="1" dirty="0"/>
              <a:t>Low-level or physical data models: provide</a:t>
            </a:r>
          </a:p>
          <a:p>
            <a:pPr lvl="2" algn="just"/>
            <a:r>
              <a:rPr lang="en-US" dirty="0"/>
              <a:t>-It   describe the details of how data is stored in the computer</a:t>
            </a:r>
            <a:r>
              <a:rPr lang="en-US" b="1" dirty="0"/>
              <a:t>. </a:t>
            </a:r>
          </a:p>
          <a:p>
            <a:pPr lvl="2" algn="just"/>
            <a:r>
              <a:rPr lang="en-US" dirty="0"/>
              <a:t>All data in a database is stored physically on a secondary storage device such as HDD, Tape  etc. This is stored in  file ,records and certain other data structure.</a:t>
            </a:r>
          </a:p>
          <a:p>
            <a:pPr lvl="2" algn="just"/>
            <a:endParaRPr lang="en-US" dirty="0"/>
          </a:p>
          <a:p>
            <a:pPr marL="285750" indent="-285750">
              <a:buFont typeface="Wingdings" panose="05000000000000000000" pitchFamily="2" charset="2"/>
              <a:buChar char="v"/>
            </a:pPr>
            <a:r>
              <a:rPr lang="en-US" b="1" dirty="0"/>
              <a:t>Representational (or implementation) data model: </a:t>
            </a:r>
          </a:p>
          <a:p>
            <a:pPr lvl="2" algn="just"/>
            <a:r>
              <a:rPr lang="en-US" b="1" dirty="0"/>
              <a:t>-</a:t>
            </a:r>
            <a:r>
              <a:rPr lang="en-US" dirty="0"/>
              <a:t>This type of data model is used to represent   Logical part of data base , does not represent  physical structure of database</a:t>
            </a:r>
            <a:r>
              <a:rPr lang="en-US" b="1" dirty="0"/>
              <a:t>.</a:t>
            </a:r>
          </a:p>
          <a:p>
            <a:endParaRPr lang="en-US" b="1" dirty="0"/>
          </a:p>
          <a:p>
            <a:r>
              <a:rPr lang="en-US" b="1" dirty="0"/>
              <a:t>	Example: </a:t>
            </a:r>
            <a:r>
              <a:rPr lang="en-US" dirty="0"/>
              <a:t>Relational data model, network and hierarchical models </a:t>
            </a:r>
            <a:endParaRPr lang="en-IN" dirty="0"/>
          </a:p>
        </p:txBody>
      </p:sp>
    </p:spTree>
    <p:extLst>
      <p:ext uri="{BB962C8B-B14F-4D97-AF65-F5344CB8AC3E}">
        <p14:creationId xmlns:p14="http://schemas.microsoft.com/office/powerpoint/2010/main" val="1931261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8E6D66-B7F2-A6D0-D883-A6EC22311136}"/>
              </a:ext>
            </a:extLst>
          </p:cNvPr>
          <p:cNvSpPr txBox="1"/>
          <p:nvPr/>
        </p:nvSpPr>
        <p:spPr>
          <a:xfrm>
            <a:off x="1034494" y="242502"/>
            <a:ext cx="9775020" cy="6186309"/>
          </a:xfrm>
          <a:prstGeom prst="rect">
            <a:avLst/>
          </a:prstGeom>
          <a:noFill/>
        </p:spPr>
        <p:txBody>
          <a:bodyPr wrap="square">
            <a:spAutoFit/>
          </a:bodyPr>
          <a:lstStyle/>
          <a:p>
            <a:r>
              <a:rPr lang="en-US" b="1" dirty="0"/>
              <a:t>Type</a:t>
            </a:r>
            <a:r>
              <a:rPr lang="en-IN" b="1" dirty="0"/>
              <a:t> of data Models:</a:t>
            </a:r>
          </a:p>
          <a:p>
            <a:pPr marL="285750" indent="-285750">
              <a:lnSpc>
                <a:spcPct val="200000"/>
              </a:lnSpc>
              <a:buFont typeface="Wingdings" panose="05000000000000000000" pitchFamily="2" charset="2"/>
              <a:buChar char="v"/>
            </a:pPr>
            <a:r>
              <a:rPr lang="en-IN" b="1" dirty="0"/>
              <a:t>Hierarchical  Data Model</a:t>
            </a:r>
          </a:p>
          <a:p>
            <a:pPr marL="285750" indent="-285750">
              <a:lnSpc>
                <a:spcPct val="200000"/>
              </a:lnSpc>
              <a:buFont typeface="Wingdings" panose="05000000000000000000" pitchFamily="2" charset="2"/>
              <a:buChar char="v"/>
            </a:pPr>
            <a:r>
              <a:rPr lang="en-IN" b="1" dirty="0"/>
              <a:t>Network Data Model</a:t>
            </a:r>
          </a:p>
          <a:p>
            <a:pPr marL="285750" indent="-285750">
              <a:lnSpc>
                <a:spcPct val="200000"/>
              </a:lnSpc>
              <a:buFont typeface="Wingdings" panose="05000000000000000000" pitchFamily="2" charset="2"/>
              <a:buChar char="v"/>
            </a:pPr>
            <a:r>
              <a:rPr lang="en-IN" b="1" dirty="0"/>
              <a:t>Relational Data Model</a:t>
            </a:r>
          </a:p>
          <a:p>
            <a:pPr marL="285750" indent="-285750">
              <a:lnSpc>
                <a:spcPct val="200000"/>
              </a:lnSpc>
              <a:buFont typeface="Wingdings" panose="05000000000000000000" pitchFamily="2" charset="2"/>
              <a:buChar char="v"/>
            </a:pPr>
            <a:r>
              <a:rPr lang="en-IN" b="1" dirty="0"/>
              <a:t>E-R Data Model</a:t>
            </a:r>
          </a:p>
          <a:p>
            <a:pPr marL="285750" indent="-285750">
              <a:lnSpc>
                <a:spcPct val="200000"/>
              </a:lnSpc>
              <a:buFont typeface="Wingdings" panose="05000000000000000000" pitchFamily="2" charset="2"/>
              <a:buChar char="v"/>
            </a:pPr>
            <a:r>
              <a:rPr lang="en-IN" b="1" dirty="0"/>
              <a:t>Object Oriented Data Model &amp; Object relational data Model</a:t>
            </a:r>
          </a:p>
          <a:p>
            <a:pPr marL="285750" indent="-285750">
              <a:lnSpc>
                <a:spcPct val="200000"/>
              </a:lnSpc>
              <a:buFont typeface="Wingdings" panose="05000000000000000000" pitchFamily="2" charset="2"/>
              <a:buChar char="v"/>
            </a:pPr>
            <a:r>
              <a:rPr lang="en-IN" dirty="0"/>
              <a:t>No SQL Data Model</a:t>
            </a:r>
          </a:p>
          <a:p>
            <a:pPr marL="285750" indent="-285750">
              <a:lnSpc>
                <a:spcPct val="200000"/>
              </a:lnSpc>
              <a:buFont typeface="Wingdings" panose="05000000000000000000" pitchFamily="2" charset="2"/>
              <a:buChar char="v"/>
            </a:pPr>
            <a:r>
              <a:rPr lang="en-IN" dirty="0"/>
              <a:t>Semi structured Data Model(Example: Web Page)</a:t>
            </a:r>
          </a:p>
          <a:p>
            <a:pPr>
              <a:lnSpc>
                <a:spcPct val="200000"/>
              </a:lnSpc>
            </a:pPr>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721573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0EB804B-F751-66FA-6D17-1603DC6B56DA}"/>
              </a:ext>
            </a:extLst>
          </p:cNvPr>
          <p:cNvSpPr txBox="1"/>
          <p:nvPr/>
        </p:nvSpPr>
        <p:spPr>
          <a:xfrm>
            <a:off x="557125" y="699620"/>
            <a:ext cx="9353437" cy="3416320"/>
          </a:xfrm>
          <a:prstGeom prst="rect">
            <a:avLst/>
          </a:prstGeom>
          <a:noFill/>
        </p:spPr>
        <p:txBody>
          <a:bodyPr wrap="square">
            <a:spAutoFit/>
          </a:bodyPr>
          <a:lstStyle/>
          <a:p>
            <a:r>
              <a:rPr lang="en-US" dirty="0"/>
              <a:t>H</a:t>
            </a:r>
            <a:r>
              <a:rPr lang="en-IN" dirty="0" err="1"/>
              <a:t>ierarchical</a:t>
            </a:r>
            <a:r>
              <a:rPr lang="en-IN" dirty="0"/>
              <a:t> Model: </a:t>
            </a:r>
          </a:p>
          <a:p>
            <a:r>
              <a:rPr lang="en-IN" dirty="0"/>
              <a:t>  </a:t>
            </a:r>
          </a:p>
          <a:p>
            <a:r>
              <a:rPr lang="en-IN" dirty="0"/>
              <a:t> -  Organize data into a tree –like structure with single root ,</a:t>
            </a:r>
            <a:r>
              <a:rPr lang="en-US" b="0" i="0" dirty="0">
                <a:solidFill>
                  <a:srgbClr val="212529"/>
                </a:solidFill>
                <a:effectLst/>
                <a:highlight>
                  <a:srgbClr val="FFFFFF"/>
                </a:highlight>
                <a:latin typeface="system-ui"/>
              </a:rPr>
              <a:t>to which all the other data is linked</a:t>
            </a:r>
            <a:r>
              <a:rPr lang="en-IN" dirty="0"/>
              <a:t>.</a:t>
            </a:r>
          </a:p>
          <a:p>
            <a:pPr marL="285750" indent="-285750">
              <a:buFontTx/>
              <a:buChar char="-"/>
            </a:pPr>
            <a:r>
              <a:rPr lang="en-IN" dirty="0"/>
              <a:t>Each child node has only one parent Node.</a:t>
            </a:r>
          </a:p>
          <a:p>
            <a:pPr marL="285750" indent="-285750">
              <a:buFontTx/>
              <a:buChar char="-"/>
            </a:pPr>
            <a:r>
              <a:rPr lang="en-IN" dirty="0"/>
              <a:t>Efficient for representing relationships like an index book.</a:t>
            </a:r>
          </a:p>
          <a:p>
            <a:pPr marL="285750" indent="-285750">
              <a:buFontTx/>
              <a:buChar char="-"/>
            </a:pPr>
            <a:r>
              <a:rPr lang="en-IN" dirty="0"/>
              <a:t>Example- IMB’s Information  Management System  developed late 1960’s.</a:t>
            </a:r>
          </a:p>
          <a:p>
            <a:pPr marL="285750" indent="-285750" algn="just">
              <a:buFontTx/>
              <a:buChar char="-"/>
            </a:pPr>
            <a:r>
              <a:rPr lang="en-US" b="0" i="0" dirty="0">
                <a:solidFill>
                  <a:srgbClr val="212529"/>
                </a:solidFill>
                <a:effectLst/>
                <a:highlight>
                  <a:srgbClr val="FFFFFF"/>
                </a:highlight>
                <a:latin typeface="system-ui"/>
              </a:rPr>
              <a:t>Data is organized into a tree-like structure with a </a:t>
            </a:r>
            <a:r>
              <a:rPr lang="en-US" b="1" i="0" dirty="0">
                <a:solidFill>
                  <a:srgbClr val="212529"/>
                </a:solidFill>
                <a:effectLst/>
                <a:highlight>
                  <a:srgbClr val="FFFFFF"/>
                </a:highlight>
                <a:latin typeface="system-ui"/>
              </a:rPr>
              <a:t>one-to-many relationship</a:t>
            </a:r>
            <a:r>
              <a:rPr lang="en-US" b="0" i="0" dirty="0">
                <a:solidFill>
                  <a:srgbClr val="212529"/>
                </a:solidFill>
                <a:effectLst/>
                <a:highlight>
                  <a:srgbClr val="FFFFFF"/>
                </a:highlight>
                <a:latin typeface="system-ui"/>
              </a:rPr>
              <a:t> between two different types of data, for example, one </a:t>
            </a:r>
            <a:r>
              <a:rPr lang="en-US" b="1" i="0" dirty="0">
                <a:solidFill>
                  <a:srgbClr val="212529"/>
                </a:solidFill>
                <a:effectLst/>
                <a:highlight>
                  <a:srgbClr val="FFFFFF"/>
                </a:highlight>
                <a:latin typeface="system-ui"/>
              </a:rPr>
              <a:t>department</a:t>
            </a:r>
            <a:r>
              <a:rPr lang="en-US" b="0" i="0" dirty="0">
                <a:solidFill>
                  <a:srgbClr val="212529"/>
                </a:solidFill>
                <a:effectLst/>
                <a:highlight>
                  <a:srgbClr val="FFFFFF"/>
                </a:highlight>
                <a:latin typeface="system-ui"/>
              </a:rPr>
              <a:t> can have many </a:t>
            </a:r>
            <a:r>
              <a:rPr lang="en-US" b="1" i="0" dirty="0">
                <a:solidFill>
                  <a:srgbClr val="212529"/>
                </a:solidFill>
                <a:effectLst/>
                <a:highlight>
                  <a:srgbClr val="FFFFFF"/>
                </a:highlight>
                <a:latin typeface="system-ui"/>
              </a:rPr>
              <a:t>courses</a:t>
            </a:r>
            <a:r>
              <a:rPr lang="en-US" b="0" i="0" dirty="0">
                <a:solidFill>
                  <a:srgbClr val="212529"/>
                </a:solidFill>
                <a:effectLst/>
                <a:highlight>
                  <a:srgbClr val="FFFFFF"/>
                </a:highlight>
                <a:latin typeface="system-ui"/>
              </a:rPr>
              <a:t>, many </a:t>
            </a:r>
            <a:r>
              <a:rPr lang="en-US" b="1" i="0" dirty="0">
                <a:solidFill>
                  <a:srgbClr val="212529"/>
                </a:solidFill>
                <a:effectLst/>
                <a:highlight>
                  <a:srgbClr val="FFFFFF"/>
                </a:highlight>
                <a:latin typeface="system-ui"/>
              </a:rPr>
              <a:t>teachers</a:t>
            </a:r>
            <a:r>
              <a:rPr lang="en-US" b="0" i="0" dirty="0">
                <a:solidFill>
                  <a:srgbClr val="212529"/>
                </a:solidFill>
                <a:effectLst/>
                <a:highlight>
                  <a:srgbClr val="FFFFFF"/>
                </a:highlight>
                <a:latin typeface="system-ui"/>
              </a:rPr>
              <a:t>, and of course many </a:t>
            </a:r>
            <a:r>
              <a:rPr lang="en-US" b="1" i="0" dirty="0">
                <a:solidFill>
                  <a:srgbClr val="212529"/>
                </a:solidFill>
                <a:effectLst/>
                <a:highlight>
                  <a:srgbClr val="FFFFFF"/>
                </a:highlight>
                <a:latin typeface="system-ui"/>
              </a:rPr>
              <a:t>students</a:t>
            </a:r>
          </a:p>
          <a:p>
            <a:pPr marL="285750" indent="-285750" algn="just">
              <a:buFontTx/>
              <a:buChar char="-"/>
            </a:pPr>
            <a:endParaRPr lang="en-US" b="1" dirty="0">
              <a:solidFill>
                <a:srgbClr val="212529"/>
              </a:solidFill>
              <a:highlight>
                <a:srgbClr val="FFFFFF"/>
              </a:highlight>
              <a:latin typeface="system-ui"/>
            </a:endParaRPr>
          </a:p>
          <a:p>
            <a:pPr marL="285750" indent="-285750" algn="just">
              <a:buFontTx/>
              <a:buChar char="-"/>
            </a:pPr>
            <a:endParaRPr lang="en-US" b="1" dirty="0">
              <a:solidFill>
                <a:srgbClr val="212529"/>
              </a:solidFill>
              <a:highlight>
                <a:srgbClr val="FFFFFF"/>
              </a:highlight>
              <a:latin typeface="system-ui"/>
            </a:endParaRPr>
          </a:p>
          <a:p>
            <a:pPr algn="just"/>
            <a:endParaRPr lang="en-IN" dirty="0"/>
          </a:p>
        </p:txBody>
      </p:sp>
      <p:pic>
        <p:nvPicPr>
          <p:cNvPr id="9" name="Picture 8">
            <a:extLst>
              <a:ext uri="{FF2B5EF4-FFF2-40B4-BE49-F238E27FC236}">
                <a16:creationId xmlns:a16="http://schemas.microsoft.com/office/drawing/2014/main" id="{052D56E9-0D88-0E12-0C8A-DDCB9366E4C7}"/>
              </a:ext>
            </a:extLst>
          </p:cNvPr>
          <p:cNvPicPr>
            <a:picLocks noChangeAspect="1"/>
          </p:cNvPicPr>
          <p:nvPr/>
        </p:nvPicPr>
        <p:blipFill>
          <a:blip r:embed="rId2"/>
          <a:stretch>
            <a:fillRect/>
          </a:stretch>
        </p:blipFill>
        <p:spPr>
          <a:xfrm>
            <a:off x="2348967" y="3602846"/>
            <a:ext cx="4413213" cy="2471608"/>
          </a:xfrm>
          <a:prstGeom prst="rect">
            <a:avLst/>
          </a:prstGeom>
          <a:noFill/>
          <a:ln>
            <a:solidFill>
              <a:schemeClr val="accent2"/>
            </a:solidFill>
          </a:ln>
          <a:effectLst>
            <a:innerShdw blurRad="63500" dist="50800" dir="13500000">
              <a:prstClr val="black">
                <a:alpha val="50000"/>
              </a:prstClr>
            </a:innerShdw>
          </a:effectLst>
        </p:spPr>
      </p:pic>
    </p:spTree>
    <p:extLst>
      <p:ext uri="{BB962C8B-B14F-4D97-AF65-F5344CB8AC3E}">
        <p14:creationId xmlns:p14="http://schemas.microsoft.com/office/powerpoint/2010/main" val="33998063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A5F767-BD3F-6823-F41F-5481245943AA}"/>
              </a:ext>
            </a:extLst>
          </p:cNvPr>
          <p:cNvSpPr txBox="1"/>
          <p:nvPr/>
        </p:nvSpPr>
        <p:spPr>
          <a:xfrm>
            <a:off x="283353" y="212304"/>
            <a:ext cx="9829802" cy="5632311"/>
          </a:xfrm>
          <a:prstGeom prst="rect">
            <a:avLst/>
          </a:prstGeom>
          <a:noFill/>
        </p:spPr>
        <p:txBody>
          <a:bodyPr wrap="square">
            <a:spAutoFit/>
          </a:bodyPr>
          <a:lstStyle/>
          <a:p>
            <a:pPr algn="l"/>
            <a:r>
              <a:rPr lang="en-US" b="0" i="0" dirty="0">
                <a:solidFill>
                  <a:srgbClr val="212529"/>
                </a:solidFill>
                <a:effectLst/>
                <a:highlight>
                  <a:srgbClr val="FFFFFF"/>
                </a:highlight>
                <a:latin typeface="system-ui"/>
              </a:rPr>
              <a:t>Advantages/Disadvantages of the Hierarchical Model</a:t>
            </a:r>
          </a:p>
          <a:p>
            <a:pPr algn="l"/>
            <a:endParaRPr lang="en-US" dirty="0">
              <a:solidFill>
                <a:srgbClr val="212529"/>
              </a:solidFill>
              <a:highlight>
                <a:srgbClr val="FFFFFF"/>
              </a:highlight>
              <a:latin typeface="system-ui"/>
            </a:endParaRPr>
          </a:p>
          <a:p>
            <a:pPr algn="l"/>
            <a:endParaRPr lang="en-US" b="0" i="0" dirty="0">
              <a:solidFill>
                <a:srgbClr val="212529"/>
              </a:solidFill>
              <a:effectLst/>
              <a:highlight>
                <a:srgbClr val="FFFFFF"/>
              </a:highlight>
              <a:latin typeface="system-ui"/>
            </a:endParaRPr>
          </a:p>
          <a:p>
            <a:pPr algn="l"/>
            <a:r>
              <a:rPr lang="en-US" dirty="0">
                <a:solidFill>
                  <a:srgbClr val="212529"/>
                </a:solidFill>
                <a:highlight>
                  <a:srgbClr val="FFFFFF"/>
                </a:highlight>
                <a:latin typeface="system-ui"/>
              </a:rPr>
              <a:t>Advantage:</a:t>
            </a:r>
          </a:p>
          <a:p>
            <a:pPr algn="l"/>
            <a:r>
              <a:rPr lang="en-US" b="0" i="0" dirty="0">
                <a:solidFill>
                  <a:srgbClr val="212529"/>
                </a:solidFill>
                <a:effectLst/>
                <a:highlight>
                  <a:srgbClr val="FFFFFF"/>
                </a:highlight>
                <a:latin typeface="system-ui"/>
              </a:rPr>
              <a:t>	-it has one-to-many relationships between different types of data so it is easier and fast 	to 	fetch the data.</a:t>
            </a:r>
          </a:p>
          <a:p>
            <a:pPr algn="l"/>
            <a:r>
              <a:rPr lang="en-US" dirty="0">
                <a:solidFill>
                  <a:srgbClr val="212529"/>
                </a:solidFill>
                <a:highlight>
                  <a:srgbClr val="FFFFFF"/>
                </a:highlight>
                <a:latin typeface="system-ui"/>
              </a:rPr>
              <a:t>	- Any modification in parent node , is reflected automatically in child node.</a:t>
            </a:r>
          </a:p>
          <a:p>
            <a:pPr algn="l"/>
            <a:r>
              <a:rPr lang="en-US" b="0" i="0" dirty="0">
                <a:solidFill>
                  <a:srgbClr val="212529"/>
                </a:solidFill>
                <a:effectLst/>
                <a:highlight>
                  <a:srgbClr val="FFFFFF"/>
                </a:highlight>
                <a:latin typeface="system-ui"/>
              </a:rPr>
              <a:t>Disadvan</a:t>
            </a:r>
            <a:r>
              <a:rPr lang="en-US" dirty="0">
                <a:solidFill>
                  <a:srgbClr val="212529"/>
                </a:solidFill>
                <a:highlight>
                  <a:srgbClr val="FFFFFF"/>
                </a:highlight>
                <a:latin typeface="system-ui"/>
              </a:rPr>
              <a:t>tage:</a:t>
            </a:r>
          </a:p>
          <a:p>
            <a:pPr algn="l"/>
            <a:r>
              <a:rPr lang="en-US" b="0" i="0" dirty="0">
                <a:solidFill>
                  <a:srgbClr val="212529"/>
                </a:solidFill>
                <a:effectLst/>
                <a:highlight>
                  <a:srgbClr val="FFFFFF"/>
                </a:highlight>
                <a:latin typeface="system-ui"/>
              </a:rPr>
              <a:t>	- it doesn't support many-to-many relationships.</a:t>
            </a:r>
          </a:p>
          <a:p>
            <a:pPr algn="l"/>
            <a:r>
              <a:rPr lang="en-US" b="0" i="0" dirty="0">
                <a:solidFill>
                  <a:srgbClr val="212529"/>
                </a:solidFill>
                <a:effectLst/>
                <a:highlight>
                  <a:srgbClr val="FFFFFF"/>
                </a:highlight>
                <a:latin typeface="system-ui"/>
              </a:rPr>
              <a:t>	-Hierarchical model is less flexible.</a:t>
            </a:r>
          </a:p>
          <a:p>
            <a:pPr algn="l"/>
            <a:r>
              <a:rPr lang="en-US" dirty="0">
                <a:solidFill>
                  <a:srgbClr val="212529"/>
                </a:solidFill>
                <a:highlight>
                  <a:srgbClr val="FFFFFF"/>
                </a:highlight>
                <a:latin typeface="system-ui"/>
              </a:rPr>
              <a:t>	- If parent node removed , the child node removed as well.	</a:t>
            </a:r>
          </a:p>
          <a:p>
            <a:pPr algn="l"/>
            <a:endParaRPr lang="en-US" b="0" i="0" dirty="0">
              <a:solidFill>
                <a:srgbClr val="212529"/>
              </a:solidFill>
              <a:effectLst/>
              <a:highlight>
                <a:srgbClr val="FFFFFF"/>
              </a:highlight>
              <a:latin typeface="system-ui"/>
            </a:endParaRPr>
          </a:p>
          <a:p>
            <a:pPr algn="l"/>
            <a:endParaRPr lang="en-US" dirty="0">
              <a:solidFill>
                <a:srgbClr val="212529"/>
              </a:solidFill>
              <a:highlight>
                <a:srgbClr val="FFFFFF"/>
              </a:highlight>
              <a:latin typeface="system-ui"/>
            </a:endParaRPr>
          </a:p>
          <a:p>
            <a:pPr algn="l"/>
            <a:r>
              <a:rPr lang="en-US" b="1" i="0" dirty="0">
                <a:solidFill>
                  <a:srgbClr val="212529"/>
                </a:solidFill>
                <a:effectLst/>
                <a:highlight>
                  <a:srgbClr val="FFFFFF"/>
                </a:highlight>
                <a:latin typeface="system-ui"/>
              </a:rPr>
              <a:t>Network Model:</a:t>
            </a:r>
          </a:p>
          <a:p>
            <a:pPr algn="l"/>
            <a:r>
              <a:rPr lang="en-US" dirty="0">
                <a:solidFill>
                  <a:srgbClr val="212529"/>
                </a:solidFill>
                <a:highlight>
                  <a:srgbClr val="FFFFFF"/>
                </a:highlight>
                <a:latin typeface="system-ui"/>
              </a:rPr>
              <a:t>	-  </a:t>
            </a:r>
            <a:r>
              <a:rPr lang="en-US" b="0" i="0" dirty="0">
                <a:solidFill>
                  <a:srgbClr val="212529"/>
                </a:solidFill>
                <a:effectLst/>
                <a:highlight>
                  <a:srgbClr val="FFFFFF"/>
                </a:highlight>
                <a:latin typeface="system-ui"/>
              </a:rPr>
              <a:t>Network Model is an extension of the Hierarchical model.</a:t>
            </a:r>
          </a:p>
          <a:p>
            <a:pPr algn="l"/>
            <a:r>
              <a:rPr lang="en-US" b="0" i="0" dirty="0">
                <a:solidFill>
                  <a:srgbClr val="212529"/>
                </a:solidFill>
                <a:effectLst/>
                <a:highlight>
                  <a:srgbClr val="FFFFFF"/>
                </a:highlight>
                <a:latin typeface="system-ui"/>
              </a:rPr>
              <a:t>	-data is organized more like a </a:t>
            </a:r>
            <a:r>
              <a:rPr lang="en-US" b="1" i="0" dirty="0">
                <a:solidFill>
                  <a:srgbClr val="212529"/>
                </a:solidFill>
                <a:effectLst/>
                <a:highlight>
                  <a:srgbClr val="FFFFFF"/>
                </a:highlight>
                <a:latin typeface="system-ui"/>
              </a:rPr>
              <a:t>graph </a:t>
            </a:r>
            <a:r>
              <a:rPr lang="en-US" b="0" i="0" dirty="0">
                <a:solidFill>
                  <a:srgbClr val="212529"/>
                </a:solidFill>
                <a:effectLst/>
                <a:highlight>
                  <a:srgbClr val="FFFFFF"/>
                </a:highlight>
                <a:latin typeface="system-ui"/>
              </a:rPr>
              <a:t>,  and allowed to have </a:t>
            </a:r>
            <a:r>
              <a:rPr lang="en-US" b="0" i="1" dirty="0">
                <a:solidFill>
                  <a:srgbClr val="212529"/>
                </a:solidFill>
                <a:effectLst/>
                <a:highlight>
                  <a:srgbClr val="FFFFFF"/>
                </a:highlight>
                <a:latin typeface="system-ui"/>
              </a:rPr>
              <a:t>more than one parent node.</a:t>
            </a:r>
          </a:p>
          <a:p>
            <a:pPr algn="l"/>
            <a:r>
              <a:rPr lang="en-US" b="0" i="0" dirty="0">
                <a:solidFill>
                  <a:srgbClr val="212529"/>
                </a:solidFill>
                <a:effectLst/>
                <a:highlight>
                  <a:srgbClr val="FFFFFF"/>
                </a:highlight>
                <a:latin typeface="system-ui"/>
              </a:rPr>
              <a:t>	-data is </a:t>
            </a:r>
            <a:r>
              <a:rPr lang="en-US" b="1" i="0" dirty="0">
                <a:solidFill>
                  <a:srgbClr val="212529"/>
                </a:solidFill>
                <a:effectLst/>
                <a:highlight>
                  <a:srgbClr val="FFFFFF"/>
                </a:highlight>
                <a:latin typeface="system-ui"/>
              </a:rPr>
              <a:t>more related</a:t>
            </a:r>
            <a:r>
              <a:rPr lang="en-US" b="0" i="0" dirty="0">
                <a:solidFill>
                  <a:srgbClr val="212529"/>
                </a:solidFill>
                <a:effectLst/>
                <a:highlight>
                  <a:srgbClr val="FFFFFF"/>
                </a:highlight>
                <a:latin typeface="system-ui"/>
              </a:rPr>
              <a:t> as more relationships are established in this database model, as the 	data is more related, hence </a:t>
            </a:r>
            <a:r>
              <a:rPr lang="en-US" b="1" i="0" dirty="0">
                <a:solidFill>
                  <a:srgbClr val="212529"/>
                </a:solidFill>
                <a:effectLst/>
                <a:highlight>
                  <a:srgbClr val="FFFFFF"/>
                </a:highlight>
                <a:latin typeface="system-ui"/>
              </a:rPr>
              <a:t>accessing the data is  easier</a:t>
            </a:r>
            <a:r>
              <a:rPr lang="en-US" b="0" i="0" dirty="0">
                <a:solidFill>
                  <a:srgbClr val="212529"/>
                </a:solidFill>
                <a:effectLst/>
                <a:highlight>
                  <a:srgbClr val="FFFFFF"/>
                </a:highlight>
                <a:latin typeface="system-ui"/>
              </a:rPr>
              <a:t> and </a:t>
            </a:r>
            <a:r>
              <a:rPr lang="en-US" b="1" i="0" dirty="0">
                <a:solidFill>
                  <a:srgbClr val="212529"/>
                </a:solidFill>
                <a:effectLst/>
                <a:highlight>
                  <a:srgbClr val="FFFFFF"/>
                </a:highlight>
                <a:latin typeface="system-ui"/>
              </a:rPr>
              <a:t>fast.</a:t>
            </a:r>
            <a:endParaRPr lang="en-US" b="0" i="0" dirty="0">
              <a:solidFill>
                <a:srgbClr val="212529"/>
              </a:solidFill>
              <a:effectLst/>
              <a:highlight>
                <a:srgbClr val="FFFFFF"/>
              </a:highlight>
              <a:latin typeface="system-ui"/>
            </a:endParaRPr>
          </a:p>
          <a:p>
            <a:pPr algn="l"/>
            <a:endParaRPr lang="en-US" b="1" i="0" dirty="0">
              <a:solidFill>
                <a:srgbClr val="212529"/>
              </a:solidFill>
              <a:effectLst/>
              <a:highlight>
                <a:srgbClr val="FFFFFF"/>
              </a:highlight>
              <a:latin typeface="system-ui"/>
            </a:endParaRPr>
          </a:p>
          <a:p>
            <a:pPr algn="l"/>
            <a:r>
              <a:rPr lang="en-US" dirty="0">
                <a:solidFill>
                  <a:srgbClr val="212529"/>
                </a:solidFill>
                <a:highlight>
                  <a:srgbClr val="FFFFFF"/>
                </a:highlight>
                <a:latin typeface="system-ui"/>
              </a:rPr>
              <a:t>	</a:t>
            </a:r>
            <a:endParaRPr lang="en-US" b="0" i="0" dirty="0">
              <a:solidFill>
                <a:srgbClr val="212529"/>
              </a:solidFill>
              <a:effectLst/>
              <a:highlight>
                <a:srgbClr val="FFFFFF"/>
              </a:highlight>
              <a:latin typeface="system-ui"/>
            </a:endParaRPr>
          </a:p>
        </p:txBody>
      </p:sp>
    </p:spTree>
    <p:extLst>
      <p:ext uri="{BB962C8B-B14F-4D97-AF65-F5344CB8AC3E}">
        <p14:creationId xmlns:p14="http://schemas.microsoft.com/office/powerpoint/2010/main" val="42557744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E3BAF2-A6F7-3E76-6989-6989C839974B}"/>
              </a:ext>
            </a:extLst>
          </p:cNvPr>
          <p:cNvSpPr txBox="1"/>
          <p:nvPr/>
        </p:nvSpPr>
        <p:spPr>
          <a:xfrm>
            <a:off x="1111516" y="980105"/>
            <a:ext cx="8296046" cy="4247317"/>
          </a:xfrm>
          <a:prstGeom prst="rect">
            <a:avLst/>
          </a:prstGeom>
          <a:noFill/>
        </p:spPr>
        <p:txBody>
          <a:bodyPr wrap="square">
            <a:spAutoFit/>
          </a:bodyPr>
          <a:lstStyle/>
          <a:p>
            <a:pPr algn="just"/>
            <a:r>
              <a:rPr lang="en-US" b="0" i="0" dirty="0">
                <a:solidFill>
                  <a:srgbClr val="212529"/>
                </a:solidFill>
                <a:effectLst/>
                <a:highlight>
                  <a:srgbClr val="FFFFFF"/>
                </a:highlight>
                <a:latin typeface="system-ui"/>
              </a:rPr>
              <a:t>- This database model uses many-to-many data relationships.</a:t>
            </a:r>
          </a:p>
          <a:p>
            <a:pPr algn="just"/>
            <a:r>
              <a:rPr lang="en-US" b="0" i="0" dirty="0">
                <a:solidFill>
                  <a:srgbClr val="212529"/>
                </a:solidFill>
                <a:effectLst/>
                <a:highlight>
                  <a:srgbClr val="FFFFFF"/>
                </a:highlight>
                <a:latin typeface="system-ui"/>
              </a:rPr>
              <a:t>-Integrated Data Store (IDS) is based on this database model( developed 1960’s ).</a:t>
            </a:r>
          </a:p>
          <a:p>
            <a:pPr algn="just"/>
            <a:r>
              <a:rPr lang="en-US" b="0" i="0" dirty="0">
                <a:solidFill>
                  <a:srgbClr val="212529"/>
                </a:solidFill>
                <a:effectLst/>
                <a:highlight>
                  <a:srgbClr val="FFFFFF"/>
                </a:highlight>
                <a:latin typeface="system-ui"/>
              </a:rPr>
              <a:t>-This was the most widely used database model before Relational Model was    introduced.</a:t>
            </a:r>
          </a:p>
          <a:p>
            <a:pPr algn="just"/>
            <a:endParaRPr lang="en-US" dirty="0">
              <a:solidFill>
                <a:srgbClr val="212529"/>
              </a:solidFill>
              <a:highlight>
                <a:srgbClr val="FFFFFF"/>
              </a:highlight>
              <a:latin typeface="system-ui"/>
            </a:endParaRPr>
          </a:p>
          <a:p>
            <a:pPr algn="just"/>
            <a:r>
              <a:rPr lang="en-US" b="1" i="0" dirty="0">
                <a:solidFill>
                  <a:srgbClr val="212529"/>
                </a:solidFill>
                <a:effectLst/>
                <a:highlight>
                  <a:srgbClr val="FFFFFF"/>
                </a:highlight>
                <a:latin typeface="system-ui"/>
              </a:rPr>
              <a:t>Advantage:</a:t>
            </a:r>
          </a:p>
          <a:p>
            <a:pPr algn="just">
              <a:buFont typeface="+mj-lt"/>
              <a:buAutoNum type="arabicPeriod"/>
            </a:pPr>
            <a:r>
              <a:rPr lang="en-US" b="0" i="0" dirty="0">
                <a:solidFill>
                  <a:srgbClr val="212529"/>
                </a:solidFill>
                <a:effectLst/>
                <a:highlight>
                  <a:srgbClr val="FFFFFF"/>
                </a:highlight>
                <a:latin typeface="system-ui"/>
              </a:rPr>
              <a:t>It supports complex relationships</a:t>
            </a:r>
          </a:p>
          <a:p>
            <a:pPr algn="just">
              <a:buFont typeface="+mj-lt"/>
              <a:buAutoNum type="arabicPeriod"/>
            </a:pPr>
            <a:r>
              <a:rPr lang="en-US" b="0" i="0" dirty="0">
                <a:solidFill>
                  <a:srgbClr val="212529"/>
                </a:solidFill>
                <a:effectLst/>
                <a:highlight>
                  <a:srgbClr val="FFFFFF"/>
                </a:highlight>
                <a:latin typeface="system-ui"/>
              </a:rPr>
              <a:t>It allows more flexibility.</a:t>
            </a:r>
          </a:p>
          <a:p>
            <a:pPr algn="just">
              <a:buFont typeface="+mj-lt"/>
              <a:buAutoNum type="arabicPeriod"/>
            </a:pPr>
            <a:r>
              <a:rPr lang="en-US" dirty="0">
                <a:solidFill>
                  <a:srgbClr val="212529"/>
                </a:solidFill>
                <a:highlight>
                  <a:srgbClr val="FFFFFF"/>
                </a:highlight>
                <a:latin typeface="system-ui"/>
              </a:rPr>
              <a:t>Data retrieval is faster.</a:t>
            </a:r>
            <a:endParaRPr lang="en-US" b="0" i="0" dirty="0">
              <a:solidFill>
                <a:srgbClr val="212529"/>
              </a:solidFill>
              <a:effectLst/>
              <a:highlight>
                <a:srgbClr val="FFFFFF"/>
              </a:highlight>
              <a:latin typeface="system-ui"/>
            </a:endParaRPr>
          </a:p>
          <a:p>
            <a:pPr algn="just"/>
            <a:endParaRPr lang="en-US" b="0" i="0" dirty="0">
              <a:solidFill>
                <a:srgbClr val="212529"/>
              </a:solidFill>
              <a:effectLst/>
              <a:highlight>
                <a:srgbClr val="FFFFFF"/>
              </a:highlight>
              <a:latin typeface="system-ui"/>
            </a:endParaRPr>
          </a:p>
          <a:p>
            <a:pPr algn="just"/>
            <a:r>
              <a:rPr lang="en-US" dirty="0">
                <a:solidFill>
                  <a:srgbClr val="212529"/>
                </a:solidFill>
                <a:highlight>
                  <a:srgbClr val="FFFFFF"/>
                </a:highlight>
                <a:latin typeface="system-ui"/>
              </a:rPr>
              <a:t> </a:t>
            </a:r>
            <a:r>
              <a:rPr lang="en-US" b="1" dirty="0">
                <a:solidFill>
                  <a:srgbClr val="212529"/>
                </a:solidFill>
                <a:highlight>
                  <a:srgbClr val="FFFFFF"/>
                </a:highlight>
                <a:latin typeface="system-ui"/>
              </a:rPr>
              <a:t>Disadvantage:</a:t>
            </a:r>
          </a:p>
          <a:p>
            <a:pPr algn="just"/>
            <a:endParaRPr lang="en-US" b="0" i="0" dirty="0">
              <a:solidFill>
                <a:srgbClr val="212529"/>
              </a:solidFill>
              <a:effectLst/>
              <a:highlight>
                <a:srgbClr val="FFFFFF"/>
              </a:highlight>
              <a:latin typeface="system-ui"/>
            </a:endParaRPr>
          </a:p>
          <a:p>
            <a:pPr algn="just"/>
            <a:r>
              <a:rPr lang="en-US" b="0" i="0" dirty="0">
                <a:solidFill>
                  <a:srgbClr val="212529"/>
                </a:solidFill>
                <a:effectLst/>
                <a:highlight>
                  <a:srgbClr val="FFFFFF"/>
                </a:highlight>
                <a:latin typeface="system-ui"/>
              </a:rPr>
              <a:t>-The implementation of the Network model is complex, and it's very difficult to maintain it.</a:t>
            </a:r>
          </a:p>
          <a:p>
            <a:pPr algn="just"/>
            <a:r>
              <a:rPr lang="en-US" b="0" i="0" dirty="0">
                <a:solidFill>
                  <a:srgbClr val="212529"/>
                </a:solidFill>
                <a:effectLst/>
                <a:highlight>
                  <a:srgbClr val="FFFFFF"/>
                </a:highlight>
                <a:latin typeface="system-ui"/>
              </a:rPr>
              <a:t>-</a:t>
            </a:r>
            <a:r>
              <a:rPr lang="en-US" dirty="0">
                <a:solidFill>
                  <a:srgbClr val="212529"/>
                </a:solidFill>
                <a:highlight>
                  <a:srgbClr val="FFFFFF"/>
                </a:highlight>
                <a:latin typeface="system-ui"/>
              </a:rPr>
              <a:t>System is more complicated to grow more relationship.</a:t>
            </a:r>
            <a:endParaRPr lang="en-US" b="0" i="0" dirty="0">
              <a:solidFill>
                <a:srgbClr val="212529"/>
              </a:solidFill>
              <a:effectLst/>
              <a:highlight>
                <a:srgbClr val="FFFFFF"/>
              </a:highlight>
              <a:latin typeface="system-ui"/>
            </a:endParaRPr>
          </a:p>
        </p:txBody>
      </p:sp>
    </p:spTree>
    <p:extLst>
      <p:ext uri="{BB962C8B-B14F-4D97-AF65-F5344CB8AC3E}">
        <p14:creationId xmlns:p14="http://schemas.microsoft.com/office/powerpoint/2010/main" val="1286143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FDBCE4-B897-5ECF-4FB7-3EDB61F5EC75}"/>
              </a:ext>
            </a:extLst>
          </p:cNvPr>
          <p:cNvSpPr/>
          <p:nvPr/>
        </p:nvSpPr>
        <p:spPr>
          <a:xfrm>
            <a:off x="3431689" y="640080"/>
            <a:ext cx="1737360" cy="6669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College</a:t>
            </a:r>
            <a:endParaRPr lang="en-IN" dirty="0"/>
          </a:p>
        </p:txBody>
      </p:sp>
      <p:sp>
        <p:nvSpPr>
          <p:cNvPr id="3" name="Rectangle 2">
            <a:extLst>
              <a:ext uri="{FF2B5EF4-FFF2-40B4-BE49-F238E27FC236}">
                <a16:creationId xmlns:a16="http://schemas.microsoft.com/office/drawing/2014/main" id="{8894BEC5-ED40-5087-96BC-F8CC4DC43005}"/>
              </a:ext>
            </a:extLst>
          </p:cNvPr>
          <p:cNvSpPr/>
          <p:nvPr/>
        </p:nvSpPr>
        <p:spPr>
          <a:xfrm>
            <a:off x="3557195" y="3928334"/>
            <a:ext cx="1737360" cy="6669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Students</a:t>
            </a:r>
            <a:endParaRPr lang="en-IN" dirty="0"/>
          </a:p>
        </p:txBody>
      </p:sp>
      <p:sp>
        <p:nvSpPr>
          <p:cNvPr id="4" name="Rectangle 3">
            <a:extLst>
              <a:ext uri="{FF2B5EF4-FFF2-40B4-BE49-F238E27FC236}">
                <a16:creationId xmlns:a16="http://schemas.microsoft.com/office/drawing/2014/main" id="{ED2BA5BD-8200-B5B2-F7FF-2CD040431E48}"/>
              </a:ext>
            </a:extLst>
          </p:cNvPr>
          <p:cNvSpPr/>
          <p:nvPr/>
        </p:nvSpPr>
        <p:spPr>
          <a:xfrm>
            <a:off x="4628477" y="2170804"/>
            <a:ext cx="1737360" cy="6669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Library</a:t>
            </a:r>
            <a:endParaRPr lang="en-IN" dirty="0"/>
          </a:p>
        </p:txBody>
      </p:sp>
      <p:sp>
        <p:nvSpPr>
          <p:cNvPr id="6" name="Rectangle 5">
            <a:extLst>
              <a:ext uri="{FF2B5EF4-FFF2-40B4-BE49-F238E27FC236}">
                <a16:creationId xmlns:a16="http://schemas.microsoft.com/office/drawing/2014/main" id="{D7AE6E25-4322-D640-BF18-3C571836EA14}"/>
              </a:ext>
            </a:extLst>
          </p:cNvPr>
          <p:cNvSpPr/>
          <p:nvPr/>
        </p:nvSpPr>
        <p:spPr>
          <a:xfrm>
            <a:off x="2387748" y="2107602"/>
            <a:ext cx="1737360" cy="7584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CSE Department</a:t>
            </a:r>
            <a:endParaRPr lang="en-IN" dirty="0"/>
          </a:p>
        </p:txBody>
      </p:sp>
      <p:cxnSp>
        <p:nvCxnSpPr>
          <p:cNvPr id="8" name="Straight Arrow Connector 7">
            <a:extLst>
              <a:ext uri="{FF2B5EF4-FFF2-40B4-BE49-F238E27FC236}">
                <a16:creationId xmlns:a16="http://schemas.microsoft.com/office/drawing/2014/main" id="{FBA7EF01-F0A6-2106-6E86-64F264E5EB39}"/>
              </a:ext>
            </a:extLst>
          </p:cNvPr>
          <p:cNvCxnSpPr>
            <a:cxnSpLocks/>
            <a:stCxn id="2" idx="2"/>
            <a:endCxn id="6" idx="0"/>
          </p:cNvCxnSpPr>
          <p:nvPr/>
        </p:nvCxnSpPr>
        <p:spPr>
          <a:xfrm flipH="1">
            <a:off x="3256428" y="1307054"/>
            <a:ext cx="1043941" cy="8005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264D6A9-340B-2970-089F-632BB1B9EC5F}"/>
              </a:ext>
            </a:extLst>
          </p:cNvPr>
          <p:cNvCxnSpPr>
            <a:stCxn id="2" idx="2"/>
            <a:endCxn id="4" idx="0"/>
          </p:cNvCxnSpPr>
          <p:nvPr/>
        </p:nvCxnSpPr>
        <p:spPr>
          <a:xfrm>
            <a:off x="4300369" y="1307054"/>
            <a:ext cx="1196788" cy="8637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C9687BD-973F-BC5F-C70D-225141C3EC96}"/>
              </a:ext>
            </a:extLst>
          </p:cNvPr>
          <p:cNvCxnSpPr>
            <a:stCxn id="6" idx="2"/>
            <a:endCxn id="3" idx="0"/>
          </p:cNvCxnSpPr>
          <p:nvPr/>
        </p:nvCxnSpPr>
        <p:spPr>
          <a:xfrm>
            <a:off x="3256428" y="2866014"/>
            <a:ext cx="1169447" cy="106232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62EBA0C-DD12-567B-AA02-4E00308A534B}"/>
              </a:ext>
            </a:extLst>
          </p:cNvPr>
          <p:cNvCxnSpPr>
            <a:stCxn id="4" idx="2"/>
            <a:endCxn id="3" idx="0"/>
          </p:cNvCxnSpPr>
          <p:nvPr/>
        </p:nvCxnSpPr>
        <p:spPr>
          <a:xfrm flipH="1">
            <a:off x="4425875" y="2837778"/>
            <a:ext cx="1071282" cy="109055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4813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6AEFCE-E497-E154-6640-70C62024569E}"/>
              </a:ext>
            </a:extLst>
          </p:cNvPr>
          <p:cNvSpPr txBox="1"/>
          <p:nvPr/>
        </p:nvSpPr>
        <p:spPr>
          <a:xfrm>
            <a:off x="365759" y="731520"/>
            <a:ext cx="11527971" cy="3693319"/>
          </a:xfrm>
          <a:prstGeom prst="rect">
            <a:avLst/>
          </a:prstGeom>
          <a:noFill/>
        </p:spPr>
        <p:txBody>
          <a:bodyPr wrap="square">
            <a:spAutoFit/>
          </a:bodyPr>
          <a:lstStyle/>
          <a:p>
            <a:pPr algn="l"/>
            <a:r>
              <a:rPr lang="en-US" b="1" i="0" dirty="0">
                <a:solidFill>
                  <a:srgbClr val="212529"/>
                </a:solidFill>
                <a:effectLst/>
                <a:highlight>
                  <a:srgbClr val="FFFFFF"/>
                </a:highlight>
                <a:latin typeface="system-ui"/>
              </a:rPr>
              <a:t>Entity-relationship Model:</a:t>
            </a:r>
          </a:p>
          <a:p>
            <a:pPr algn="l"/>
            <a:endParaRPr lang="en-US" b="1" i="0" dirty="0">
              <a:solidFill>
                <a:srgbClr val="212529"/>
              </a:solidFill>
              <a:effectLst/>
              <a:highlight>
                <a:srgbClr val="FFFFFF"/>
              </a:highlight>
              <a:latin typeface="system-ui"/>
            </a:endParaRPr>
          </a:p>
          <a:p>
            <a:pPr algn="l"/>
            <a:r>
              <a:rPr lang="en-US" b="0" i="0" dirty="0">
                <a:solidFill>
                  <a:srgbClr val="273239"/>
                </a:solidFill>
                <a:effectLst/>
                <a:highlight>
                  <a:srgbClr val="FFFFFF"/>
                </a:highlight>
                <a:latin typeface="Nunito" pitchFamily="2" charset="0"/>
              </a:rPr>
              <a:t>-It is a high-level data model which is used to define the data and the relationships between them. </a:t>
            </a:r>
          </a:p>
          <a:p>
            <a:pPr algn="l"/>
            <a:r>
              <a:rPr lang="en-US" dirty="0">
                <a:solidFill>
                  <a:srgbClr val="273239"/>
                </a:solidFill>
                <a:highlight>
                  <a:srgbClr val="FFFFFF"/>
                </a:highlight>
                <a:latin typeface="Nunito" pitchFamily="2" charset="0"/>
              </a:rPr>
              <a:t>- Real world problem is depicted in visual form.</a:t>
            </a:r>
            <a:endParaRPr lang="en-US" b="0" i="0" dirty="0">
              <a:solidFill>
                <a:srgbClr val="212529"/>
              </a:solidFill>
              <a:effectLst/>
              <a:highlight>
                <a:srgbClr val="FFFFFF"/>
              </a:highlight>
              <a:latin typeface="system-ui"/>
            </a:endParaRPr>
          </a:p>
          <a:p>
            <a:pPr algn="l"/>
            <a:r>
              <a:rPr lang="en-US" b="0" i="0" dirty="0">
                <a:solidFill>
                  <a:srgbClr val="212529"/>
                </a:solidFill>
                <a:effectLst/>
                <a:highlight>
                  <a:srgbClr val="FFFFFF"/>
                </a:highlight>
                <a:latin typeface="system-ui"/>
              </a:rPr>
              <a:t>-Different entities are related using </a:t>
            </a:r>
            <a:r>
              <a:rPr lang="en-US" b="1" i="0" dirty="0">
                <a:solidFill>
                  <a:srgbClr val="212529"/>
                </a:solidFill>
                <a:effectLst/>
                <a:highlight>
                  <a:srgbClr val="FFFFFF"/>
                </a:highlight>
                <a:latin typeface="system-ui"/>
              </a:rPr>
              <a:t>relationships</a:t>
            </a:r>
            <a:r>
              <a:rPr lang="en-US" b="0" i="0" dirty="0">
                <a:solidFill>
                  <a:srgbClr val="212529"/>
                </a:solidFill>
                <a:effectLst/>
                <a:highlight>
                  <a:srgbClr val="FFFFFF"/>
                </a:highlight>
                <a:latin typeface="system-ui"/>
              </a:rPr>
              <a:t>.</a:t>
            </a:r>
          </a:p>
          <a:p>
            <a:pPr algn="l"/>
            <a:r>
              <a:rPr lang="en-US" b="0" i="0" dirty="0">
                <a:solidFill>
                  <a:srgbClr val="212529"/>
                </a:solidFill>
                <a:effectLst/>
                <a:highlight>
                  <a:srgbClr val="FFFFFF"/>
                </a:highlight>
                <a:latin typeface="system-ui"/>
              </a:rPr>
              <a:t>-ER Models are defined to represent the relationships in pictorial form to make it easier for different stakeholders to understand</a:t>
            </a:r>
          </a:p>
          <a:p>
            <a:pPr algn="l"/>
            <a:r>
              <a:rPr lang="en-US" b="0" i="0" dirty="0">
                <a:solidFill>
                  <a:srgbClr val="212529"/>
                </a:solidFill>
                <a:effectLst/>
                <a:highlight>
                  <a:srgbClr val="FFFFFF"/>
                </a:highlight>
                <a:latin typeface="system-ui"/>
              </a:rPr>
              <a:t>-This model is good to design a database, which can then be turned into tables in a relational model.</a:t>
            </a:r>
          </a:p>
          <a:p>
            <a:pPr algn="l"/>
            <a:endParaRPr lang="en-US" b="0" i="0" dirty="0">
              <a:solidFill>
                <a:srgbClr val="212529"/>
              </a:solidFill>
              <a:effectLst/>
              <a:highlight>
                <a:srgbClr val="FFFFFF"/>
              </a:highlight>
              <a:latin typeface="system-ui"/>
            </a:endParaRPr>
          </a:p>
          <a:p>
            <a:pPr algn="just"/>
            <a:r>
              <a:rPr lang="en-US" b="1" i="0" dirty="0">
                <a:solidFill>
                  <a:srgbClr val="212529"/>
                </a:solidFill>
                <a:effectLst/>
                <a:highlight>
                  <a:srgbClr val="FFFFFF"/>
                </a:highlight>
                <a:latin typeface="system-ui"/>
              </a:rPr>
              <a:t>Example</a:t>
            </a:r>
            <a:r>
              <a:rPr lang="en-US" dirty="0">
                <a:solidFill>
                  <a:srgbClr val="212529"/>
                </a:solidFill>
                <a:highlight>
                  <a:srgbClr val="FFFFFF"/>
                </a:highlight>
                <a:latin typeface="system-ui"/>
              </a:rPr>
              <a:t>-</a:t>
            </a:r>
            <a:r>
              <a:rPr lang="en-US" b="0" i="0" dirty="0">
                <a:solidFill>
                  <a:srgbClr val="212529"/>
                </a:solidFill>
                <a:effectLst/>
                <a:highlight>
                  <a:srgbClr val="FFFFFF"/>
                </a:highlight>
                <a:latin typeface="system-ui"/>
              </a:rPr>
              <a:t> If we have to design a School Database, then the </a:t>
            </a:r>
            <a:r>
              <a:rPr lang="en-US" b="1" i="0" dirty="0">
                <a:solidFill>
                  <a:srgbClr val="212529"/>
                </a:solidFill>
                <a:effectLst/>
                <a:highlight>
                  <a:srgbClr val="FFFFFF"/>
                </a:highlight>
                <a:latin typeface="system-ui"/>
              </a:rPr>
              <a:t>Student</a:t>
            </a:r>
            <a:r>
              <a:rPr lang="en-US" b="0" i="0" dirty="0">
                <a:solidFill>
                  <a:srgbClr val="212529"/>
                </a:solidFill>
                <a:effectLst/>
                <a:highlight>
                  <a:srgbClr val="FFFFFF"/>
                </a:highlight>
                <a:latin typeface="system-ui"/>
              </a:rPr>
              <a:t> will be an </a:t>
            </a:r>
            <a:r>
              <a:rPr lang="en-US" b="1" i="0" dirty="0">
                <a:solidFill>
                  <a:srgbClr val="212529"/>
                </a:solidFill>
                <a:effectLst/>
                <a:highlight>
                  <a:srgbClr val="FFFFFF"/>
                </a:highlight>
                <a:latin typeface="system-ui"/>
              </a:rPr>
              <a:t>entity</a:t>
            </a:r>
            <a:r>
              <a:rPr lang="en-US" b="0" i="0" dirty="0">
                <a:solidFill>
                  <a:srgbClr val="212529"/>
                </a:solidFill>
                <a:effectLst/>
                <a:highlight>
                  <a:srgbClr val="FFFFFF"/>
                </a:highlight>
                <a:latin typeface="system-ui"/>
              </a:rPr>
              <a:t> with </a:t>
            </a:r>
            <a:r>
              <a:rPr lang="en-US" b="1" i="0" dirty="0">
                <a:solidFill>
                  <a:srgbClr val="212529"/>
                </a:solidFill>
                <a:effectLst/>
                <a:highlight>
                  <a:srgbClr val="FFFFFF"/>
                </a:highlight>
                <a:latin typeface="system-ui"/>
              </a:rPr>
              <a:t>attributes</a:t>
            </a:r>
            <a:r>
              <a:rPr lang="en-US" b="0" i="0" dirty="0">
                <a:solidFill>
                  <a:srgbClr val="212529"/>
                </a:solidFill>
                <a:effectLst/>
                <a:highlight>
                  <a:srgbClr val="FFFFFF"/>
                </a:highlight>
                <a:latin typeface="system-ui"/>
              </a:rPr>
              <a:t> </a:t>
            </a:r>
            <a:r>
              <a:rPr lang="en-US" b="0" i="1" dirty="0">
                <a:solidFill>
                  <a:srgbClr val="212529"/>
                </a:solidFill>
                <a:effectLst/>
                <a:highlight>
                  <a:srgbClr val="FFFFFF"/>
                </a:highlight>
                <a:latin typeface="system-ui"/>
              </a:rPr>
              <a:t>name</a:t>
            </a:r>
            <a:r>
              <a:rPr lang="en-US" b="0" i="0" dirty="0">
                <a:solidFill>
                  <a:srgbClr val="212529"/>
                </a:solidFill>
                <a:effectLst/>
                <a:highlight>
                  <a:srgbClr val="FFFFFF"/>
                </a:highlight>
                <a:latin typeface="system-ui"/>
              </a:rPr>
              <a:t>, </a:t>
            </a:r>
            <a:r>
              <a:rPr lang="en-US" b="0" i="1" dirty="0">
                <a:solidFill>
                  <a:srgbClr val="212529"/>
                </a:solidFill>
                <a:effectLst/>
                <a:highlight>
                  <a:srgbClr val="FFFFFF"/>
                </a:highlight>
                <a:latin typeface="system-ui"/>
              </a:rPr>
              <a:t>age</a:t>
            </a:r>
            <a:r>
              <a:rPr lang="en-US" b="0" i="0" dirty="0">
                <a:solidFill>
                  <a:srgbClr val="212529"/>
                </a:solidFill>
                <a:effectLst/>
                <a:highlight>
                  <a:srgbClr val="FFFFFF"/>
                </a:highlight>
                <a:latin typeface="system-ui"/>
              </a:rPr>
              <a:t>, </a:t>
            </a:r>
            <a:r>
              <a:rPr lang="en-US" b="0" i="1" dirty="0">
                <a:solidFill>
                  <a:srgbClr val="212529"/>
                </a:solidFill>
                <a:effectLst/>
                <a:highlight>
                  <a:srgbClr val="FFFFFF"/>
                </a:highlight>
                <a:latin typeface="system-ui"/>
              </a:rPr>
              <a:t>address,</a:t>
            </a:r>
            <a:r>
              <a:rPr lang="en-US" b="0" i="0" dirty="0">
                <a:solidFill>
                  <a:srgbClr val="212529"/>
                </a:solidFill>
                <a:effectLst/>
                <a:highlight>
                  <a:srgbClr val="FFFFFF"/>
                </a:highlight>
                <a:latin typeface="system-ui"/>
              </a:rPr>
              <a:t> etc. As an </a:t>
            </a:r>
            <a:r>
              <a:rPr lang="en-US" b="1" i="0" dirty="0">
                <a:solidFill>
                  <a:srgbClr val="212529"/>
                </a:solidFill>
                <a:effectLst/>
                <a:highlight>
                  <a:srgbClr val="FFFFFF"/>
                </a:highlight>
                <a:latin typeface="system-ui"/>
              </a:rPr>
              <a:t>Address</a:t>
            </a:r>
            <a:r>
              <a:rPr lang="en-US" b="0" i="0" dirty="0">
                <a:solidFill>
                  <a:srgbClr val="212529"/>
                </a:solidFill>
                <a:effectLst/>
                <a:highlight>
                  <a:srgbClr val="FFFFFF"/>
                </a:highlight>
                <a:latin typeface="system-ui"/>
              </a:rPr>
              <a:t> is generally complex, it can be another </a:t>
            </a:r>
            <a:r>
              <a:rPr lang="en-US" b="1" i="0" dirty="0">
                <a:solidFill>
                  <a:srgbClr val="212529"/>
                </a:solidFill>
                <a:effectLst/>
                <a:highlight>
                  <a:srgbClr val="FFFFFF"/>
                </a:highlight>
                <a:latin typeface="system-ui"/>
              </a:rPr>
              <a:t>entity</a:t>
            </a:r>
            <a:r>
              <a:rPr lang="en-US" b="0" i="0" dirty="0">
                <a:solidFill>
                  <a:srgbClr val="212529"/>
                </a:solidFill>
                <a:effectLst/>
                <a:highlight>
                  <a:srgbClr val="FFFFFF"/>
                </a:highlight>
                <a:latin typeface="system-ui"/>
              </a:rPr>
              <a:t> with </a:t>
            </a:r>
            <a:r>
              <a:rPr lang="en-US" b="1" i="0" dirty="0">
                <a:solidFill>
                  <a:srgbClr val="212529"/>
                </a:solidFill>
                <a:effectLst/>
                <a:highlight>
                  <a:srgbClr val="FFFFFF"/>
                </a:highlight>
                <a:latin typeface="system-ui"/>
              </a:rPr>
              <a:t>attributes</a:t>
            </a:r>
            <a:r>
              <a:rPr lang="en-US" b="0" i="0" dirty="0">
                <a:solidFill>
                  <a:srgbClr val="212529"/>
                </a:solidFill>
                <a:effectLst/>
                <a:highlight>
                  <a:srgbClr val="FFFFFF"/>
                </a:highlight>
                <a:latin typeface="system-ui"/>
              </a:rPr>
              <a:t> </a:t>
            </a:r>
            <a:r>
              <a:rPr lang="en-US" b="0" i="1" dirty="0">
                <a:solidFill>
                  <a:srgbClr val="212529"/>
                </a:solidFill>
                <a:effectLst/>
                <a:highlight>
                  <a:srgbClr val="FFFFFF"/>
                </a:highlight>
                <a:latin typeface="system-ui"/>
              </a:rPr>
              <a:t>street</a:t>
            </a:r>
            <a:r>
              <a:rPr lang="en-US" b="0" i="0" dirty="0">
                <a:solidFill>
                  <a:srgbClr val="212529"/>
                </a:solidFill>
                <a:effectLst/>
                <a:highlight>
                  <a:srgbClr val="FFFFFF"/>
                </a:highlight>
                <a:latin typeface="system-ui"/>
              </a:rPr>
              <a:t>, </a:t>
            </a:r>
            <a:r>
              <a:rPr lang="en-US" b="0" i="1" dirty="0" err="1">
                <a:solidFill>
                  <a:srgbClr val="212529"/>
                </a:solidFill>
                <a:effectLst/>
                <a:highlight>
                  <a:srgbClr val="FFFFFF"/>
                </a:highlight>
                <a:latin typeface="system-ui"/>
              </a:rPr>
              <a:t>pincode</a:t>
            </a:r>
            <a:r>
              <a:rPr lang="en-US" b="0" i="0" dirty="0">
                <a:solidFill>
                  <a:srgbClr val="212529"/>
                </a:solidFill>
                <a:effectLst/>
                <a:highlight>
                  <a:srgbClr val="FFFFFF"/>
                </a:highlight>
                <a:latin typeface="system-ui"/>
              </a:rPr>
              <a:t>, </a:t>
            </a:r>
            <a:r>
              <a:rPr lang="en-US" b="0" i="1" dirty="0">
                <a:solidFill>
                  <a:srgbClr val="212529"/>
                </a:solidFill>
                <a:effectLst/>
                <a:highlight>
                  <a:srgbClr val="FFFFFF"/>
                </a:highlight>
                <a:latin typeface="system-ui"/>
              </a:rPr>
              <a:t>city,</a:t>
            </a:r>
            <a:r>
              <a:rPr lang="en-US" b="0" i="0" dirty="0">
                <a:solidFill>
                  <a:srgbClr val="212529"/>
                </a:solidFill>
                <a:effectLst/>
                <a:highlight>
                  <a:srgbClr val="FFFFFF"/>
                </a:highlight>
                <a:latin typeface="system-ui"/>
              </a:rPr>
              <a:t> </a:t>
            </a:r>
            <a:r>
              <a:rPr lang="en-US" b="0" i="0" dirty="0" err="1">
                <a:solidFill>
                  <a:srgbClr val="212529"/>
                </a:solidFill>
                <a:effectLst/>
                <a:highlight>
                  <a:srgbClr val="FFFFFF"/>
                </a:highlight>
                <a:latin typeface="system-ui"/>
              </a:rPr>
              <a:t>etc</a:t>
            </a:r>
            <a:r>
              <a:rPr lang="en-US" b="0" i="0" dirty="0">
                <a:solidFill>
                  <a:srgbClr val="212529"/>
                </a:solidFill>
                <a:effectLst/>
                <a:highlight>
                  <a:srgbClr val="FFFFFF"/>
                </a:highlight>
                <a:latin typeface="system-ui"/>
              </a:rPr>
              <a:t>, and there will be a relationship between them</a:t>
            </a:r>
          </a:p>
          <a:p>
            <a:pPr algn="l">
              <a:buFont typeface="Arial" panose="020B0604020202020204" pitchFamily="34" charset="0"/>
              <a:buChar char="•"/>
            </a:pPr>
            <a:endParaRPr lang="en-US" b="0" i="0" dirty="0">
              <a:solidFill>
                <a:srgbClr val="212529"/>
              </a:solidFill>
              <a:effectLst/>
              <a:highlight>
                <a:srgbClr val="FFFFFF"/>
              </a:highlight>
              <a:latin typeface="system-ui"/>
            </a:endParaRPr>
          </a:p>
        </p:txBody>
      </p:sp>
      <p:sp>
        <p:nvSpPr>
          <p:cNvPr id="4" name="Rectangle 3">
            <a:extLst>
              <a:ext uri="{FF2B5EF4-FFF2-40B4-BE49-F238E27FC236}">
                <a16:creationId xmlns:a16="http://schemas.microsoft.com/office/drawing/2014/main" id="{39B14D04-113E-7742-3550-03AB37BC5770}"/>
              </a:ext>
            </a:extLst>
          </p:cNvPr>
          <p:cNvSpPr/>
          <p:nvPr/>
        </p:nvSpPr>
        <p:spPr>
          <a:xfrm>
            <a:off x="4157255" y="5590903"/>
            <a:ext cx="1841863" cy="8033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Student</a:t>
            </a:r>
            <a:endParaRPr lang="en-IN" dirty="0"/>
          </a:p>
        </p:txBody>
      </p:sp>
      <p:sp>
        <p:nvSpPr>
          <p:cNvPr id="11" name="Oval 10">
            <a:extLst>
              <a:ext uri="{FF2B5EF4-FFF2-40B4-BE49-F238E27FC236}">
                <a16:creationId xmlns:a16="http://schemas.microsoft.com/office/drawing/2014/main" id="{53035FDB-D4E5-1267-E4AE-39D31B16A6F5}"/>
              </a:ext>
            </a:extLst>
          </p:cNvPr>
          <p:cNvSpPr/>
          <p:nvPr/>
        </p:nvSpPr>
        <p:spPr>
          <a:xfrm>
            <a:off x="1169126" y="4585063"/>
            <a:ext cx="1404257" cy="88174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Rollno</a:t>
            </a:r>
            <a:r>
              <a:rPr lang="en-US" dirty="0"/>
              <a:t>.</a:t>
            </a:r>
            <a:endParaRPr lang="en-IN" dirty="0"/>
          </a:p>
        </p:txBody>
      </p:sp>
      <p:sp>
        <p:nvSpPr>
          <p:cNvPr id="12" name="Oval 11">
            <a:extLst>
              <a:ext uri="{FF2B5EF4-FFF2-40B4-BE49-F238E27FC236}">
                <a16:creationId xmlns:a16="http://schemas.microsoft.com/office/drawing/2014/main" id="{052AA056-4E98-2046-6EBA-8114C4DC4F1F}"/>
              </a:ext>
            </a:extLst>
          </p:cNvPr>
          <p:cNvSpPr/>
          <p:nvPr/>
        </p:nvSpPr>
        <p:spPr>
          <a:xfrm>
            <a:off x="4376057" y="4051900"/>
            <a:ext cx="1404257" cy="88174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Name</a:t>
            </a:r>
            <a:endParaRPr lang="en-IN" dirty="0"/>
          </a:p>
        </p:txBody>
      </p:sp>
      <p:sp>
        <p:nvSpPr>
          <p:cNvPr id="13" name="Oval 12">
            <a:extLst>
              <a:ext uri="{FF2B5EF4-FFF2-40B4-BE49-F238E27FC236}">
                <a16:creationId xmlns:a16="http://schemas.microsoft.com/office/drawing/2014/main" id="{D871DC74-9461-C5DC-FB2A-40E618618D9B}"/>
              </a:ext>
            </a:extLst>
          </p:cNvPr>
          <p:cNvSpPr/>
          <p:nvPr/>
        </p:nvSpPr>
        <p:spPr>
          <a:xfrm>
            <a:off x="6770915" y="4229983"/>
            <a:ext cx="1404257" cy="88174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Address</a:t>
            </a:r>
            <a:endParaRPr lang="en-IN" dirty="0"/>
          </a:p>
        </p:txBody>
      </p:sp>
      <p:cxnSp>
        <p:nvCxnSpPr>
          <p:cNvPr id="16" name="Straight Connector 15">
            <a:extLst>
              <a:ext uri="{FF2B5EF4-FFF2-40B4-BE49-F238E27FC236}">
                <a16:creationId xmlns:a16="http://schemas.microsoft.com/office/drawing/2014/main" id="{C1E784B2-39B4-EAEC-BBEE-BA56FE4927F6}"/>
              </a:ext>
            </a:extLst>
          </p:cNvPr>
          <p:cNvCxnSpPr>
            <a:stCxn id="11" idx="6"/>
          </p:cNvCxnSpPr>
          <p:nvPr/>
        </p:nvCxnSpPr>
        <p:spPr>
          <a:xfrm>
            <a:off x="2573383" y="5025935"/>
            <a:ext cx="1502228" cy="871945"/>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0FB047E-EA9E-E5DB-0C4E-0247DF08CE9F}"/>
              </a:ext>
            </a:extLst>
          </p:cNvPr>
          <p:cNvCxnSpPr>
            <a:stCxn id="12" idx="4"/>
            <a:endCxn id="4" idx="0"/>
          </p:cNvCxnSpPr>
          <p:nvPr/>
        </p:nvCxnSpPr>
        <p:spPr>
          <a:xfrm>
            <a:off x="5078186" y="4933643"/>
            <a:ext cx="1" cy="65726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075E97A-C2AB-12DD-226F-36800BA99F5B}"/>
              </a:ext>
            </a:extLst>
          </p:cNvPr>
          <p:cNvCxnSpPr>
            <a:stCxn id="13" idx="3"/>
            <a:endCxn id="4" idx="3"/>
          </p:cNvCxnSpPr>
          <p:nvPr/>
        </p:nvCxnSpPr>
        <p:spPr>
          <a:xfrm flipH="1">
            <a:off x="5999118" y="4982598"/>
            <a:ext cx="977446" cy="10099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0278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9F29DF-7B4B-D25A-33B8-3C262DE9B0CA}"/>
              </a:ext>
            </a:extLst>
          </p:cNvPr>
          <p:cNvSpPr txBox="1"/>
          <p:nvPr/>
        </p:nvSpPr>
        <p:spPr>
          <a:xfrm>
            <a:off x="509451" y="574766"/>
            <a:ext cx="8636181" cy="3139321"/>
          </a:xfrm>
          <a:prstGeom prst="rect">
            <a:avLst/>
          </a:prstGeom>
          <a:noFill/>
        </p:spPr>
        <p:txBody>
          <a:bodyPr wrap="square">
            <a:spAutoFit/>
          </a:bodyPr>
          <a:lstStyle/>
          <a:p>
            <a:pPr algn="l"/>
            <a:r>
              <a:rPr lang="en-US" b="1" i="0" dirty="0">
                <a:solidFill>
                  <a:srgbClr val="212529"/>
                </a:solidFill>
                <a:effectLst/>
                <a:highlight>
                  <a:srgbClr val="FFFFFF"/>
                </a:highlight>
                <a:latin typeface="system-ui"/>
              </a:rPr>
              <a:t>Advantages of the ER Model:</a:t>
            </a:r>
          </a:p>
          <a:p>
            <a:pPr algn="l"/>
            <a:endParaRPr lang="en-US" b="1" i="0" dirty="0">
              <a:solidFill>
                <a:srgbClr val="212529"/>
              </a:solidFill>
              <a:effectLst/>
              <a:highlight>
                <a:srgbClr val="FFFFFF"/>
              </a:highlight>
              <a:latin typeface="system-ui"/>
            </a:endParaRPr>
          </a:p>
          <a:p>
            <a:pPr algn="l">
              <a:buFont typeface="+mj-lt"/>
              <a:buAutoNum type="arabicPeriod"/>
            </a:pPr>
            <a:r>
              <a:rPr lang="en-US" b="0" i="0" dirty="0">
                <a:solidFill>
                  <a:srgbClr val="212529"/>
                </a:solidFill>
                <a:effectLst/>
                <a:highlight>
                  <a:srgbClr val="FFFFFF"/>
                </a:highlight>
                <a:latin typeface="system-ui"/>
              </a:rPr>
              <a:t>It is easy to understand and design.</a:t>
            </a:r>
          </a:p>
          <a:p>
            <a:pPr algn="l">
              <a:buFont typeface="+mj-lt"/>
              <a:buAutoNum type="arabicPeriod"/>
            </a:pPr>
            <a:r>
              <a:rPr lang="en-US" b="0" i="0" dirty="0">
                <a:solidFill>
                  <a:srgbClr val="212529"/>
                </a:solidFill>
                <a:effectLst/>
                <a:highlight>
                  <a:srgbClr val="FFFFFF"/>
                </a:highlight>
                <a:latin typeface="system-ui"/>
              </a:rPr>
              <a:t>Using the ER model we can represent data structures easily.</a:t>
            </a:r>
          </a:p>
          <a:p>
            <a:pPr algn="l"/>
            <a:endParaRPr lang="en-US" b="0" i="0" dirty="0">
              <a:solidFill>
                <a:srgbClr val="212529"/>
              </a:solidFill>
              <a:effectLst/>
              <a:highlight>
                <a:srgbClr val="FFFFFF"/>
              </a:highlight>
              <a:latin typeface="system-ui"/>
            </a:endParaRPr>
          </a:p>
          <a:p>
            <a:pPr algn="l"/>
            <a:r>
              <a:rPr lang="en-US" b="1" i="0" dirty="0">
                <a:solidFill>
                  <a:srgbClr val="212529"/>
                </a:solidFill>
                <a:effectLst/>
                <a:highlight>
                  <a:srgbClr val="FFFFFF"/>
                </a:highlight>
                <a:latin typeface="system-ui"/>
              </a:rPr>
              <a:t>Disadvantage:</a:t>
            </a:r>
          </a:p>
          <a:p>
            <a:pPr algn="l"/>
            <a:r>
              <a:rPr lang="en-US" b="0" i="0" dirty="0">
                <a:solidFill>
                  <a:srgbClr val="212529"/>
                </a:solidFill>
                <a:effectLst/>
                <a:highlight>
                  <a:srgbClr val="FFFFFF"/>
                </a:highlight>
                <a:latin typeface="system-ui"/>
              </a:rPr>
              <a:t> 3. ER model cannot be directly implemented into a database model, it is just a step toward designing the relational database model.</a:t>
            </a:r>
          </a:p>
          <a:p>
            <a:pPr algn="l"/>
            <a:endParaRPr lang="en-US" dirty="0">
              <a:solidFill>
                <a:srgbClr val="212529"/>
              </a:solidFill>
              <a:highlight>
                <a:srgbClr val="FFFFFF"/>
              </a:highlight>
              <a:latin typeface="system-ui"/>
            </a:endParaRPr>
          </a:p>
          <a:p>
            <a:pPr algn="l"/>
            <a:endParaRPr lang="en-US" b="0" i="0" dirty="0">
              <a:solidFill>
                <a:srgbClr val="212529"/>
              </a:solidFill>
              <a:effectLst/>
              <a:highlight>
                <a:srgbClr val="FFFFFF"/>
              </a:highlight>
              <a:latin typeface="system-ui"/>
            </a:endParaRPr>
          </a:p>
          <a:p>
            <a:pPr algn="l"/>
            <a:endParaRPr lang="en-US" b="1" i="0" dirty="0">
              <a:solidFill>
                <a:srgbClr val="212529"/>
              </a:solidFill>
              <a:effectLst/>
              <a:highlight>
                <a:srgbClr val="FFFFFF"/>
              </a:highlight>
              <a:latin typeface="system-ui"/>
            </a:endParaRPr>
          </a:p>
        </p:txBody>
      </p:sp>
    </p:spTree>
    <p:extLst>
      <p:ext uri="{BB962C8B-B14F-4D97-AF65-F5344CB8AC3E}">
        <p14:creationId xmlns:p14="http://schemas.microsoft.com/office/powerpoint/2010/main" val="3833025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D4835D-DD37-6568-6D47-0E19E4C4922E}"/>
              </a:ext>
            </a:extLst>
          </p:cNvPr>
          <p:cNvSpPr txBox="1"/>
          <p:nvPr/>
        </p:nvSpPr>
        <p:spPr>
          <a:xfrm>
            <a:off x="209006" y="450669"/>
            <a:ext cx="11704320" cy="4204356"/>
          </a:xfrm>
          <a:prstGeom prst="rect">
            <a:avLst/>
          </a:prstGeom>
          <a:noFill/>
        </p:spPr>
        <p:txBody>
          <a:bodyPr wrap="square">
            <a:spAutoFit/>
          </a:bodyPr>
          <a:lstStyle/>
          <a:p>
            <a:pPr algn="l">
              <a:lnSpc>
                <a:spcPct val="150000"/>
              </a:lnSpc>
            </a:pPr>
            <a:r>
              <a:rPr lang="en-US" b="1" i="0" dirty="0">
                <a:solidFill>
                  <a:srgbClr val="212529"/>
                </a:solidFill>
                <a:effectLst/>
                <a:highlight>
                  <a:srgbClr val="FFFFFF"/>
                </a:highlight>
                <a:latin typeface="system-ui"/>
              </a:rPr>
              <a:t>Relation Model:</a:t>
            </a:r>
          </a:p>
          <a:p>
            <a:pPr algn="just">
              <a:lnSpc>
                <a:spcPct val="150000"/>
              </a:lnSpc>
            </a:pPr>
            <a:r>
              <a:rPr lang="en-US" dirty="0">
                <a:solidFill>
                  <a:srgbClr val="212529"/>
                </a:solidFill>
                <a:highlight>
                  <a:srgbClr val="FFFFFF"/>
                </a:highlight>
                <a:latin typeface="system-ui"/>
              </a:rPr>
              <a:t>- </a:t>
            </a:r>
            <a:r>
              <a:rPr lang="en-US" b="0" i="0" dirty="0">
                <a:solidFill>
                  <a:srgbClr val="212529"/>
                </a:solidFill>
                <a:effectLst/>
                <a:highlight>
                  <a:srgbClr val="FFFFFF"/>
                </a:highlight>
                <a:latin typeface="system-ui"/>
              </a:rPr>
              <a:t>data is organized in two-dimensional </a:t>
            </a:r>
            <a:r>
              <a:rPr lang="en-US" b="1" i="0" dirty="0">
                <a:solidFill>
                  <a:srgbClr val="212529"/>
                </a:solidFill>
                <a:effectLst/>
                <a:highlight>
                  <a:srgbClr val="FFFFFF"/>
                </a:highlight>
                <a:latin typeface="system-ui"/>
              </a:rPr>
              <a:t>tables</a:t>
            </a:r>
            <a:r>
              <a:rPr lang="en-US" b="0" i="0" dirty="0">
                <a:solidFill>
                  <a:srgbClr val="212529"/>
                </a:solidFill>
                <a:effectLst/>
                <a:highlight>
                  <a:srgbClr val="FFFFFF"/>
                </a:highlight>
                <a:latin typeface="system-ui"/>
              </a:rPr>
              <a:t> and the relationship is maintained by storing a common field.</a:t>
            </a:r>
          </a:p>
          <a:p>
            <a:pPr algn="just">
              <a:lnSpc>
                <a:spcPct val="150000"/>
              </a:lnSpc>
            </a:pPr>
            <a:r>
              <a:rPr lang="en-US" b="0" i="0" dirty="0">
                <a:solidFill>
                  <a:srgbClr val="212529"/>
                </a:solidFill>
                <a:effectLst/>
                <a:highlight>
                  <a:srgbClr val="FFFFFF"/>
                </a:highlight>
                <a:latin typeface="system-ui"/>
              </a:rPr>
              <a:t>- This model was introduced by </a:t>
            </a:r>
            <a:r>
              <a:rPr lang="en-US" b="1" i="0" dirty="0">
                <a:solidFill>
                  <a:srgbClr val="212529"/>
                </a:solidFill>
                <a:effectLst/>
                <a:highlight>
                  <a:srgbClr val="FFFFFF"/>
                </a:highlight>
                <a:latin typeface="system-ui"/>
              </a:rPr>
              <a:t>E.F Codd</a:t>
            </a:r>
            <a:r>
              <a:rPr lang="en-US" b="0" i="0" dirty="0">
                <a:solidFill>
                  <a:srgbClr val="212529"/>
                </a:solidFill>
                <a:effectLst/>
                <a:highlight>
                  <a:srgbClr val="FFFFFF"/>
                </a:highlight>
                <a:latin typeface="system-ui"/>
              </a:rPr>
              <a:t> in 1970, and since then it has been the most widely used database model.</a:t>
            </a:r>
          </a:p>
          <a:p>
            <a:pPr algn="just">
              <a:lnSpc>
                <a:spcPct val="150000"/>
              </a:lnSpc>
            </a:pPr>
            <a:r>
              <a:rPr lang="en-US" b="0" i="0" dirty="0">
                <a:solidFill>
                  <a:srgbClr val="212529"/>
                </a:solidFill>
                <a:effectLst/>
                <a:highlight>
                  <a:srgbClr val="FFFFFF"/>
                </a:highlight>
                <a:latin typeface="system-ui"/>
              </a:rPr>
              <a:t>- The basic structure of data in the relational model is </a:t>
            </a:r>
            <a:r>
              <a:rPr lang="en-US" b="1" i="0" dirty="0">
                <a:solidFill>
                  <a:srgbClr val="212529"/>
                </a:solidFill>
                <a:effectLst/>
                <a:highlight>
                  <a:srgbClr val="FFFFFF"/>
                </a:highlight>
                <a:latin typeface="system-ui"/>
              </a:rPr>
              <a:t>tables</a:t>
            </a:r>
            <a:r>
              <a:rPr lang="en-US" b="0" i="0" dirty="0">
                <a:solidFill>
                  <a:srgbClr val="212529"/>
                </a:solidFill>
                <a:effectLst/>
                <a:highlight>
                  <a:srgbClr val="FFFFFF"/>
                </a:highlight>
                <a:latin typeface="system-ui"/>
              </a:rPr>
              <a:t>. All the information related to a particular type is stored in </a:t>
            </a:r>
            <a:r>
              <a:rPr lang="en-US" b="1" i="0" dirty="0">
                <a:solidFill>
                  <a:srgbClr val="212529"/>
                </a:solidFill>
                <a:effectLst/>
                <a:highlight>
                  <a:srgbClr val="FFFFFF"/>
                </a:highlight>
                <a:latin typeface="system-ui"/>
              </a:rPr>
              <a:t>rows</a:t>
            </a:r>
            <a:r>
              <a:rPr lang="en-US" b="0" i="0" dirty="0">
                <a:solidFill>
                  <a:srgbClr val="212529"/>
                </a:solidFill>
                <a:effectLst/>
                <a:highlight>
                  <a:srgbClr val="FFFFFF"/>
                </a:highlight>
                <a:latin typeface="system-ui"/>
              </a:rPr>
              <a:t> of that table.</a:t>
            </a:r>
          </a:p>
          <a:p>
            <a:pPr algn="just">
              <a:lnSpc>
                <a:spcPct val="150000"/>
              </a:lnSpc>
            </a:pPr>
            <a:r>
              <a:rPr lang="en-US" b="0" i="0" dirty="0">
                <a:solidFill>
                  <a:srgbClr val="212529"/>
                </a:solidFill>
                <a:effectLst/>
                <a:highlight>
                  <a:srgbClr val="FFFFFF"/>
                </a:highlight>
                <a:latin typeface="system-ui"/>
              </a:rPr>
              <a:t>-Hence, tables are also known as </a:t>
            </a:r>
            <a:r>
              <a:rPr lang="en-US" b="1" i="0" dirty="0">
                <a:solidFill>
                  <a:srgbClr val="212529"/>
                </a:solidFill>
                <a:effectLst/>
                <a:highlight>
                  <a:srgbClr val="FFFFFF"/>
                </a:highlight>
                <a:latin typeface="system-ui"/>
              </a:rPr>
              <a:t>relations</a:t>
            </a:r>
            <a:r>
              <a:rPr lang="en-US" b="0" i="0" dirty="0">
                <a:solidFill>
                  <a:srgbClr val="212529"/>
                </a:solidFill>
                <a:effectLst/>
                <a:highlight>
                  <a:srgbClr val="FFFFFF"/>
                </a:highlight>
                <a:latin typeface="system-ui"/>
              </a:rPr>
              <a:t> in the relational model.</a:t>
            </a:r>
          </a:p>
          <a:p>
            <a:pPr algn="just">
              <a:lnSpc>
                <a:spcPct val="150000"/>
              </a:lnSpc>
            </a:pPr>
            <a:r>
              <a:rPr lang="en-US" b="0" i="0" dirty="0">
                <a:solidFill>
                  <a:srgbClr val="212529"/>
                </a:solidFill>
                <a:effectLst/>
                <a:highlight>
                  <a:srgbClr val="FFFFFF"/>
                </a:highlight>
                <a:latin typeface="system-ui"/>
              </a:rPr>
              <a:t>-You can design tables</a:t>
            </a:r>
            <a:r>
              <a:rPr lang="en-US" dirty="0">
                <a:solidFill>
                  <a:srgbClr val="212529"/>
                </a:solidFill>
                <a:highlight>
                  <a:srgbClr val="FFFFFF"/>
                </a:highlight>
                <a:latin typeface="system-ui"/>
              </a:rPr>
              <a:t>, </a:t>
            </a:r>
            <a:r>
              <a:rPr lang="en-US" dirty="0">
                <a:solidFill>
                  <a:srgbClr val="212529"/>
                </a:solidFill>
                <a:highlight>
                  <a:srgbClr val="FFFFFF"/>
                </a:highlight>
                <a:latin typeface="system-ui"/>
                <a:hlinkClick r:id="rId2">
                  <a:extLst>
                    <a:ext uri="{A12FA001-AC4F-418D-AE19-62706E023703}">
                      <ahyp:hlinkClr xmlns:ahyp="http://schemas.microsoft.com/office/drawing/2018/hyperlinkcolor" val="tx"/>
                    </a:ext>
                  </a:extLst>
                </a:hlinkClick>
              </a:rPr>
              <a:t>normalize them</a:t>
            </a:r>
            <a:r>
              <a:rPr lang="en-US" dirty="0">
                <a:solidFill>
                  <a:srgbClr val="212529"/>
                </a:solidFill>
                <a:highlight>
                  <a:srgbClr val="FFFFFF"/>
                </a:highlight>
                <a:latin typeface="system-ui"/>
              </a:rPr>
              <a:t> to reduce data redundancy, and use </a:t>
            </a:r>
            <a:r>
              <a:rPr lang="en-US" dirty="0">
                <a:solidFill>
                  <a:srgbClr val="212529"/>
                </a:solidFill>
                <a:highlight>
                  <a:srgbClr val="FFFFFF"/>
                </a:highlight>
                <a:latin typeface="system-ui"/>
                <a:hlinkClick r:id="rId3">
                  <a:extLst>
                    <a:ext uri="{A12FA001-AC4F-418D-AE19-62706E023703}">
                      <ahyp:hlinkClr xmlns:ahyp="http://schemas.microsoft.com/office/drawing/2018/hyperlinkcolor" val="tx"/>
                    </a:ext>
                  </a:extLst>
                </a:hlinkClick>
              </a:rPr>
              <a:t>Structured Query language or SQL</a:t>
            </a:r>
            <a:r>
              <a:rPr lang="en-US" dirty="0">
                <a:solidFill>
                  <a:srgbClr val="212529"/>
                </a:solidFill>
                <a:highlight>
                  <a:srgbClr val="FFFFFF"/>
                </a:highlight>
                <a:latin typeface="system-ui"/>
              </a:rPr>
              <a:t> to access data from the tables.</a:t>
            </a:r>
          </a:p>
          <a:p>
            <a:pPr algn="just">
              <a:lnSpc>
                <a:spcPct val="150000"/>
              </a:lnSpc>
            </a:pPr>
            <a:r>
              <a:rPr lang="en-US" b="0" i="0" dirty="0">
                <a:solidFill>
                  <a:srgbClr val="212529"/>
                </a:solidFill>
                <a:effectLst/>
                <a:highlight>
                  <a:srgbClr val="FFFFFF"/>
                </a:highlight>
                <a:latin typeface="system-ui"/>
              </a:rPr>
              <a:t>-Some of the most popular databases are based on this database model. For</a:t>
            </a:r>
            <a:r>
              <a:rPr lang="en-US" dirty="0">
                <a:solidFill>
                  <a:srgbClr val="212529"/>
                </a:solidFill>
                <a:highlight>
                  <a:srgbClr val="FFFFFF"/>
                </a:highlight>
                <a:latin typeface="system-ui"/>
              </a:rPr>
              <a:t> </a:t>
            </a:r>
            <a:r>
              <a:rPr lang="en-US" b="0" i="0" dirty="0">
                <a:solidFill>
                  <a:srgbClr val="212529"/>
                </a:solidFill>
                <a:effectLst/>
                <a:highlight>
                  <a:srgbClr val="FFFFFF"/>
                </a:highlight>
                <a:latin typeface="system-ui"/>
              </a:rPr>
              <a:t>example, </a:t>
            </a:r>
            <a:r>
              <a:rPr lang="en-US" b="1" i="0" dirty="0">
                <a:solidFill>
                  <a:srgbClr val="212529"/>
                </a:solidFill>
                <a:effectLst/>
                <a:highlight>
                  <a:srgbClr val="FFFFFF"/>
                </a:highlight>
                <a:latin typeface="system-ui"/>
              </a:rPr>
              <a:t>Oracle</a:t>
            </a:r>
            <a:r>
              <a:rPr lang="en-US" b="0" i="0" dirty="0">
                <a:solidFill>
                  <a:srgbClr val="212529"/>
                </a:solidFill>
                <a:effectLst/>
                <a:highlight>
                  <a:srgbClr val="FFFFFF"/>
                </a:highlight>
                <a:latin typeface="system-ui"/>
              </a:rPr>
              <a:t>, </a:t>
            </a:r>
            <a:r>
              <a:rPr lang="en-US" b="1" i="0" dirty="0">
                <a:solidFill>
                  <a:srgbClr val="212529"/>
                </a:solidFill>
                <a:effectLst/>
                <a:highlight>
                  <a:srgbClr val="FFFFFF"/>
                </a:highlight>
                <a:latin typeface="system-ui"/>
              </a:rPr>
              <a:t>MySQL</a:t>
            </a:r>
            <a:r>
              <a:rPr lang="en-US" b="0" i="0" dirty="0">
                <a:solidFill>
                  <a:srgbClr val="212529"/>
                </a:solidFill>
                <a:effectLst/>
                <a:highlight>
                  <a:srgbClr val="FFFFFF"/>
                </a:highlight>
                <a:latin typeface="system-ui"/>
              </a:rPr>
              <a:t>, Informix, </a:t>
            </a:r>
            <a:r>
              <a:rPr lang="en-US" b="0" i="0" dirty="0" err="1">
                <a:solidFill>
                  <a:srgbClr val="212529"/>
                </a:solidFill>
                <a:effectLst/>
                <a:highlight>
                  <a:srgbClr val="FFFFFF"/>
                </a:highlight>
                <a:latin typeface="system-ui"/>
              </a:rPr>
              <a:t>Sqlserver</a:t>
            </a:r>
            <a:r>
              <a:rPr lang="en-US" b="0" i="0" dirty="0">
                <a:solidFill>
                  <a:srgbClr val="212529"/>
                </a:solidFill>
                <a:effectLst/>
                <a:highlight>
                  <a:srgbClr val="FFFFFF"/>
                </a:highlight>
                <a:latin typeface="system-ui"/>
              </a:rPr>
              <a:t> etc.</a:t>
            </a:r>
          </a:p>
        </p:txBody>
      </p:sp>
      <p:sp>
        <p:nvSpPr>
          <p:cNvPr id="5" name="TextBox 4">
            <a:extLst>
              <a:ext uri="{FF2B5EF4-FFF2-40B4-BE49-F238E27FC236}">
                <a16:creationId xmlns:a16="http://schemas.microsoft.com/office/drawing/2014/main" id="{D0FA59BC-C455-0ED3-C8A3-51BE1E74E2E0}"/>
              </a:ext>
            </a:extLst>
          </p:cNvPr>
          <p:cNvSpPr txBox="1"/>
          <p:nvPr/>
        </p:nvSpPr>
        <p:spPr>
          <a:xfrm>
            <a:off x="352696" y="4898571"/>
            <a:ext cx="9235441" cy="1200329"/>
          </a:xfrm>
          <a:prstGeom prst="rect">
            <a:avLst/>
          </a:prstGeom>
          <a:noFill/>
        </p:spPr>
        <p:txBody>
          <a:bodyPr wrap="square">
            <a:spAutoFit/>
          </a:bodyPr>
          <a:lstStyle/>
          <a:p>
            <a:pPr algn="l"/>
            <a:r>
              <a:rPr lang="en-US" b="0" i="0" dirty="0">
                <a:solidFill>
                  <a:srgbClr val="212529"/>
                </a:solidFill>
                <a:effectLst/>
                <a:highlight>
                  <a:srgbClr val="FFFFFF"/>
                </a:highlight>
                <a:latin typeface="system-ui"/>
              </a:rPr>
              <a:t>Advantage:</a:t>
            </a:r>
          </a:p>
          <a:p>
            <a:pPr algn="l">
              <a:buFont typeface="+mj-lt"/>
              <a:buAutoNum type="arabicPeriod"/>
            </a:pPr>
            <a:r>
              <a:rPr lang="en-US" b="0" i="0" dirty="0">
                <a:solidFill>
                  <a:srgbClr val="212529"/>
                </a:solidFill>
                <a:effectLst/>
                <a:highlight>
                  <a:srgbClr val="FFFFFF"/>
                </a:highlight>
                <a:latin typeface="system-ui"/>
              </a:rPr>
              <a:t>It's simple and easy to implement.</a:t>
            </a:r>
          </a:p>
          <a:p>
            <a:pPr algn="l">
              <a:buFont typeface="+mj-lt"/>
              <a:buAutoNum type="arabicPeriod"/>
            </a:pPr>
            <a:r>
              <a:rPr lang="en-US" b="0" i="0" dirty="0">
                <a:solidFill>
                  <a:srgbClr val="212529"/>
                </a:solidFill>
                <a:effectLst/>
                <a:highlight>
                  <a:srgbClr val="FFFFFF"/>
                </a:highlight>
                <a:latin typeface="system-ui"/>
              </a:rPr>
              <a:t>Poplar database software is available for this database model.</a:t>
            </a:r>
          </a:p>
          <a:p>
            <a:pPr algn="l">
              <a:buFont typeface="+mj-lt"/>
              <a:buAutoNum type="arabicPeriod"/>
            </a:pPr>
            <a:r>
              <a:rPr lang="en-US" b="0" i="0" dirty="0">
                <a:solidFill>
                  <a:srgbClr val="212529"/>
                </a:solidFill>
                <a:effectLst/>
                <a:highlight>
                  <a:srgbClr val="FFFFFF"/>
                </a:highlight>
                <a:latin typeface="system-ui"/>
              </a:rPr>
              <a:t>It supports SQL using which you can easily query the data.</a:t>
            </a:r>
          </a:p>
        </p:txBody>
      </p:sp>
    </p:spTree>
    <p:extLst>
      <p:ext uri="{BB962C8B-B14F-4D97-AF65-F5344CB8AC3E}">
        <p14:creationId xmlns:p14="http://schemas.microsoft.com/office/powerpoint/2010/main" val="41634690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7E5DED9-B495-5354-BACC-17D7FC63A93B}"/>
              </a:ext>
            </a:extLst>
          </p:cNvPr>
          <p:cNvPicPr>
            <a:picLocks noChangeAspect="1"/>
          </p:cNvPicPr>
          <p:nvPr/>
        </p:nvPicPr>
        <p:blipFill>
          <a:blip r:embed="rId2"/>
          <a:stretch>
            <a:fillRect/>
          </a:stretch>
        </p:blipFill>
        <p:spPr>
          <a:xfrm>
            <a:off x="1453445" y="643467"/>
            <a:ext cx="9285109" cy="5571065"/>
          </a:xfrm>
          <a:prstGeom prst="rect">
            <a:avLst/>
          </a:prstGeom>
          <a:ln>
            <a:noFill/>
          </a:ln>
        </p:spPr>
      </p:pic>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9396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357A00-3089-40D8-0F52-366E62CAF59C}"/>
              </a:ext>
            </a:extLst>
          </p:cNvPr>
          <p:cNvSpPr txBox="1"/>
          <p:nvPr/>
        </p:nvSpPr>
        <p:spPr>
          <a:xfrm>
            <a:off x="296091" y="555172"/>
            <a:ext cx="11599818" cy="2585323"/>
          </a:xfrm>
          <a:prstGeom prst="rect">
            <a:avLst/>
          </a:prstGeom>
          <a:noFill/>
        </p:spPr>
        <p:txBody>
          <a:bodyPr wrap="square">
            <a:spAutoFit/>
          </a:bodyPr>
          <a:lstStyle/>
          <a:p>
            <a:pPr algn="l" fontAlgn="base"/>
            <a:r>
              <a:rPr lang="en-IN" b="1" i="0" dirty="0">
                <a:solidFill>
                  <a:srgbClr val="273239"/>
                </a:solidFill>
                <a:effectLst/>
                <a:highlight>
                  <a:srgbClr val="FFFFFF"/>
                </a:highlight>
                <a:latin typeface="Nunito" pitchFamily="2" charset="0"/>
              </a:rPr>
              <a:t>Object-Oriented Data Model:</a:t>
            </a:r>
          </a:p>
          <a:p>
            <a:pPr marL="285750" indent="-285750" algn="l" fontAlgn="base">
              <a:buFontTx/>
              <a:buChar char="-"/>
            </a:pPr>
            <a:r>
              <a:rPr lang="en-US" b="0" i="0" dirty="0">
                <a:solidFill>
                  <a:srgbClr val="273239"/>
                </a:solidFill>
                <a:effectLst/>
                <a:highlight>
                  <a:srgbClr val="FFFFFF"/>
                </a:highlight>
                <a:latin typeface="Nunito" pitchFamily="2" charset="0"/>
              </a:rPr>
              <a:t>data and their relationships are contained in a single structure which is referred to as an object in this data model. In this, real-world problems are represented as objects with different attributes. </a:t>
            </a:r>
          </a:p>
          <a:p>
            <a:pPr marL="285750" indent="-285750" algn="l" fontAlgn="base">
              <a:buFontTx/>
              <a:buChar char="-"/>
            </a:pPr>
            <a:r>
              <a:rPr lang="en-US" b="0" i="0" dirty="0">
                <a:solidFill>
                  <a:srgbClr val="273239"/>
                </a:solidFill>
                <a:effectLst/>
                <a:highlight>
                  <a:srgbClr val="FFFFFF"/>
                </a:highlight>
                <a:latin typeface="Nunito" pitchFamily="2" charset="0"/>
              </a:rPr>
              <a:t>All objects have multiple relationships between them.</a:t>
            </a:r>
          </a:p>
          <a:p>
            <a:pPr algn="l"/>
            <a:r>
              <a:rPr lang="en-US" b="0" i="0" dirty="0">
                <a:solidFill>
                  <a:srgbClr val="212529"/>
                </a:solidFill>
                <a:effectLst/>
                <a:highlight>
                  <a:srgbClr val="FFFFFF"/>
                </a:highlight>
                <a:latin typeface="system-ui"/>
              </a:rPr>
              <a:t>-A very popular example of an Object Database management system or </a:t>
            </a:r>
            <a:r>
              <a:rPr lang="en-US" b="1" i="0" dirty="0">
                <a:solidFill>
                  <a:srgbClr val="212529"/>
                </a:solidFill>
                <a:effectLst/>
                <a:highlight>
                  <a:srgbClr val="FFFFFF"/>
                </a:highlight>
                <a:latin typeface="system-ui"/>
              </a:rPr>
              <a:t>ODBMS</a:t>
            </a:r>
            <a:r>
              <a:rPr lang="en-US" b="0" i="0" dirty="0">
                <a:solidFill>
                  <a:srgbClr val="212529"/>
                </a:solidFill>
                <a:effectLst/>
                <a:highlight>
                  <a:srgbClr val="FFFFFF"/>
                </a:highlight>
                <a:latin typeface="system-ui"/>
              </a:rPr>
              <a:t> is </a:t>
            </a:r>
            <a:r>
              <a:rPr lang="en-US" b="1" i="0" dirty="0">
                <a:solidFill>
                  <a:srgbClr val="212529"/>
                </a:solidFill>
                <a:effectLst/>
                <a:highlight>
                  <a:srgbClr val="FFFFFF"/>
                </a:highlight>
                <a:latin typeface="system-ui"/>
              </a:rPr>
              <a:t>MongoDB</a:t>
            </a:r>
            <a:r>
              <a:rPr lang="en-US" b="0" i="0" dirty="0">
                <a:solidFill>
                  <a:srgbClr val="212529"/>
                </a:solidFill>
                <a:effectLst/>
                <a:highlight>
                  <a:srgbClr val="FFFFFF"/>
                </a:highlight>
                <a:latin typeface="system-ui"/>
              </a:rPr>
              <a:t> which is also a NoSQL database.</a:t>
            </a:r>
          </a:p>
          <a:p>
            <a:pPr algn="l"/>
            <a:r>
              <a:rPr lang="en-US" b="0" i="0" dirty="0">
                <a:solidFill>
                  <a:srgbClr val="212529"/>
                </a:solidFill>
                <a:effectLst/>
                <a:highlight>
                  <a:srgbClr val="FFFFFF"/>
                </a:highlight>
                <a:latin typeface="system-ui"/>
              </a:rPr>
              <a:t>-This database model is not mature enough as compared to the relational database model.</a:t>
            </a:r>
          </a:p>
          <a:p>
            <a:pPr algn="l"/>
            <a:endParaRPr lang="en-US" b="0" i="0" dirty="0">
              <a:solidFill>
                <a:srgbClr val="212529"/>
              </a:solidFill>
              <a:effectLst/>
              <a:highlight>
                <a:srgbClr val="FFFFFF"/>
              </a:highlight>
              <a:latin typeface="system-ui"/>
            </a:endParaRPr>
          </a:p>
          <a:p>
            <a:pPr marL="285750" indent="-285750" algn="l" fontAlgn="base">
              <a:buFontTx/>
              <a:buChar char="-"/>
            </a:pPr>
            <a:endParaRPr lang="en-IN" b="1" i="0" dirty="0">
              <a:solidFill>
                <a:srgbClr val="273239"/>
              </a:solidFill>
              <a:effectLst/>
              <a:highlight>
                <a:srgbClr val="FFFFFF"/>
              </a:highlight>
              <a:latin typeface="Nunito" pitchFamily="2" charset="0"/>
            </a:endParaRPr>
          </a:p>
        </p:txBody>
      </p:sp>
      <p:pic>
        <p:nvPicPr>
          <p:cNvPr id="5" name="Picture 4">
            <a:extLst>
              <a:ext uri="{FF2B5EF4-FFF2-40B4-BE49-F238E27FC236}">
                <a16:creationId xmlns:a16="http://schemas.microsoft.com/office/drawing/2014/main" id="{07DF7CDB-8841-704C-C6C9-2C8CB7F9F2F7}"/>
              </a:ext>
            </a:extLst>
          </p:cNvPr>
          <p:cNvPicPr>
            <a:picLocks noChangeAspect="1"/>
          </p:cNvPicPr>
          <p:nvPr/>
        </p:nvPicPr>
        <p:blipFill>
          <a:blip r:embed="rId2"/>
          <a:stretch>
            <a:fillRect/>
          </a:stretch>
        </p:blipFill>
        <p:spPr>
          <a:xfrm>
            <a:off x="1920239" y="3054748"/>
            <a:ext cx="6635933" cy="3266468"/>
          </a:xfrm>
          <a:prstGeom prst="rect">
            <a:avLst/>
          </a:prstGeom>
        </p:spPr>
      </p:pic>
    </p:spTree>
    <p:extLst>
      <p:ext uri="{BB962C8B-B14F-4D97-AF65-F5344CB8AC3E}">
        <p14:creationId xmlns:p14="http://schemas.microsoft.com/office/powerpoint/2010/main" val="26014848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D6B0D2-88F5-CAA9-8694-7109C240547C}"/>
              </a:ext>
            </a:extLst>
          </p:cNvPr>
          <p:cNvSpPr txBox="1"/>
          <p:nvPr/>
        </p:nvSpPr>
        <p:spPr>
          <a:xfrm>
            <a:off x="274319" y="555171"/>
            <a:ext cx="10737670" cy="3416320"/>
          </a:xfrm>
          <a:prstGeom prst="rect">
            <a:avLst/>
          </a:prstGeom>
          <a:noFill/>
        </p:spPr>
        <p:txBody>
          <a:bodyPr wrap="square">
            <a:spAutoFit/>
          </a:bodyPr>
          <a:lstStyle/>
          <a:p>
            <a:pPr algn="l" fontAlgn="base"/>
            <a:r>
              <a:rPr lang="en-US" b="1" i="0" dirty="0">
                <a:solidFill>
                  <a:srgbClr val="273239"/>
                </a:solidFill>
                <a:effectLst/>
                <a:highlight>
                  <a:srgbClr val="FFFFFF"/>
                </a:highlight>
                <a:latin typeface="Nunito" pitchFamily="2" charset="0"/>
              </a:rPr>
              <a:t>Object- Relation Data Model:</a:t>
            </a:r>
          </a:p>
          <a:p>
            <a:pPr algn="l" fontAlgn="base"/>
            <a:endParaRPr lang="en-US" b="1" i="0" dirty="0">
              <a:solidFill>
                <a:srgbClr val="273239"/>
              </a:solidFill>
              <a:effectLst/>
              <a:highlight>
                <a:srgbClr val="FFFFFF"/>
              </a:highlight>
              <a:latin typeface="Nunito" pitchFamily="2" charset="0"/>
            </a:endParaRPr>
          </a:p>
          <a:p>
            <a:pPr marL="285750" indent="-285750" algn="l" fontAlgn="base">
              <a:buFontTx/>
              <a:buChar char="-"/>
            </a:pPr>
            <a:r>
              <a:rPr lang="en-US" b="0" i="0" dirty="0">
                <a:solidFill>
                  <a:srgbClr val="273239"/>
                </a:solidFill>
                <a:effectLst/>
                <a:highlight>
                  <a:srgbClr val="FFFFFF"/>
                </a:highlight>
                <a:latin typeface="Nunito" pitchFamily="2" charset="0"/>
              </a:rPr>
              <a:t>it is a combination of Object Oriented programming and a Relational Database Model. This model was developed  to bridge gap between the object-oriented and relational model.</a:t>
            </a:r>
          </a:p>
          <a:p>
            <a:pPr marL="285750" indent="-285750" algn="l" fontAlgn="base">
              <a:buFontTx/>
              <a:buChar char="-"/>
            </a:pPr>
            <a:endParaRPr lang="en-US" dirty="0">
              <a:solidFill>
                <a:srgbClr val="273239"/>
              </a:solidFill>
              <a:highlight>
                <a:srgbClr val="FFFFFF"/>
              </a:highlight>
              <a:latin typeface="Nunito" pitchFamily="2" charset="0"/>
            </a:endParaRPr>
          </a:p>
          <a:p>
            <a:pPr algn="l" fontAlgn="base"/>
            <a:r>
              <a:rPr lang="en-US" b="1" i="0" dirty="0">
                <a:solidFill>
                  <a:srgbClr val="273239"/>
                </a:solidFill>
                <a:effectLst/>
                <a:highlight>
                  <a:srgbClr val="FFFFFF"/>
                </a:highlight>
                <a:latin typeface="Nunito" pitchFamily="2" charset="0"/>
              </a:rPr>
              <a:t>Advantage:</a:t>
            </a:r>
          </a:p>
          <a:p>
            <a:pPr marL="285750" indent="-285750" algn="l" fontAlgn="base">
              <a:buFontTx/>
              <a:buChar char="-"/>
            </a:pPr>
            <a:endParaRPr lang="en-US" b="1" dirty="0">
              <a:solidFill>
                <a:srgbClr val="273239"/>
              </a:solidFill>
              <a:highlight>
                <a:srgbClr val="FFFFFF"/>
              </a:highlight>
              <a:latin typeface="Nunito" pitchFamily="2" charset="0"/>
            </a:endParaRPr>
          </a:p>
          <a:p>
            <a:pPr algn="l" fontAlgn="base"/>
            <a:r>
              <a:rPr lang="en-US" b="0" i="0" dirty="0">
                <a:solidFill>
                  <a:srgbClr val="212529"/>
                </a:solidFill>
                <a:effectLst/>
                <a:highlight>
                  <a:srgbClr val="FFFFFF"/>
                </a:highlight>
                <a:latin typeface="system-ui"/>
              </a:rPr>
              <a:t>It can easily support complex data structures, with relationships.</a:t>
            </a:r>
          </a:p>
          <a:p>
            <a:pPr algn="l" fontAlgn="base"/>
            <a:endParaRPr lang="en-US" dirty="0">
              <a:solidFill>
                <a:srgbClr val="212529"/>
              </a:solidFill>
              <a:highlight>
                <a:srgbClr val="FFFFFF"/>
              </a:highlight>
              <a:latin typeface="system-ui"/>
            </a:endParaRPr>
          </a:p>
          <a:p>
            <a:pPr algn="l" fontAlgn="base"/>
            <a:endParaRPr lang="en-US" b="0" i="0" dirty="0">
              <a:solidFill>
                <a:srgbClr val="212529"/>
              </a:solidFill>
              <a:effectLst/>
              <a:highlight>
                <a:srgbClr val="FFFFFF"/>
              </a:highlight>
              <a:latin typeface="system-ui"/>
            </a:endParaRPr>
          </a:p>
          <a:p>
            <a:pPr algn="l" fontAlgn="base"/>
            <a:r>
              <a:rPr lang="en-US" b="0" i="0" dirty="0">
                <a:solidFill>
                  <a:srgbClr val="212529"/>
                </a:solidFill>
                <a:effectLst/>
                <a:highlight>
                  <a:srgbClr val="FFFFFF"/>
                </a:highlight>
                <a:latin typeface="system-ui"/>
              </a:rPr>
              <a:t>It also supports features like Inheritance, Encapsulation, </a:t>
            </a:r>
            <a:r>
              <a:rPr lang="en-US" b="0" i="0" dirty="0" err="1">
                <a:solidFill>
                  <a:srgbClr val="212529"/>
                </a:solidFill>
                <a:effectLst/>
                <a:highlight>
                  <a:srgbClr val="FFFFFF"/>
                </a:highlight>
                <a:latin typeface="system-ui"/>
              </a:rPr>
              <a:t>etc</a:t>
            </a:r>
            <a:endParaRPr lang="en-US" b="0" i="0" dirty="0">
              <a:solidFill>
                <a:srgbClr val="212529"/>
              </a:solidFill>
              <a:effectLst/>
              <a:highlight>
                <a:srgbClr val="FFFFFF"/>
              </a:highlight>
              <a:latin typeface="system-ui"/>
            </a:endParaRPr>
          </a:p>
          <a:p>
            <a:pPr marL="285750" indent="-285750" algn="l" fontAlgn="base">
              <a:buFontTx/>
              <a:buChar char="-"/>
            </a:pPr>
            <a:endParaRPr lang="en-US" b="0" i="0" dirty="0">
              <a:solidFill>
                <a:srgbClr val="273239"/>
              </a:solidFill>
              <a:effectLst/>
              <a:highlight>
                <a:srgbClr val="FFFFFF"/>
              </a:highlight>
              <a:latin typeface="Nunito" pitchFamily="2" charset="0"/>
            </a:endParaRPr>
          </a:p>
        </p:txBody>
      </p:sp>
    </p:spTree>
    <p:extLst>
      <p:ext uri="{BB962C8B-B14F-4D97-AF65-F5344CB8AC3E}">
        <p14:creationId xmlns:p14="http://schemas.microsoft.com/office/powerpoint/2010/main" val="4525188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4E44E-5C85-D11F-8D61-33B0D19C5F14}"/>
              </a:ext>
            </a:extLst>
          </p:cNvPr>
          <p:cNvSpPr txBox="1"/>
          <p:nvPr/>
        </p:nvSpPr>
        <p:spPr>
          <a:xfrm>
            <a:off x="150223" y="52251"/>
            <a:ext cx="11906794" cy="3693319"/>
          </a:xfrm>
          <a:prstGeom prst="rect">
            <a:avLst/>
          </a:prstGeom>
          <a:noFill/>
        </p:spPr>
        <p:txBody>
          <a:bodyPr wrap="square">
            <a:spAutoFit/>
          </a:bodyPr>
          <a:lstStyle/>
          <a:p>
            <a:pPr algn="l"/>
            <a:r>
              <a:rPr lang="en-US" b="1" i="0" dirty="0">
                <a:solidFill>
                  <a:srgbClr val="212529"/>
                </a:solidFill>
                <a:effectLst/>
                <a:highlight>
                  <a:srgbClr val="FFFFFF"/>
                </a:highlight>
                <a:latin typeface="system-ui"/>
              </a:rPr>
              <a:t>Schemas:</a:t>
            </a:r>
          </a:p>
          <a:p>
            <a:pPr algn="l"/>
            <a:endParaRPr lang="en-US" b="1" dirty="0">
              <a:solidFill>
                <a:srgbClr val="212529"/>
              </a:solidFill>
              <a:highlight>
                <a:srgbClr val="FFFFFF"/>
              </a:highlight>
              <a:latin typeface="system-ui"/>
            </a:endParaRPr>
          </a:p>
          <a:p>
            <a:pPr marL="285750" indent="-285750" algn="l">
              <a:buFontTx/>
              <a:buChar char="-"/>
            </a:pPr>
            <a:r>
              <a:rPr lang="en-US" i="0" dirty="0">
                <a:solidFill>
                  <a:srgbClr val="212529"/>
                </a:solidFill>
                <a:effectLst/>
                <a:highlight>
                  <a:srgbClr val="FFFFFF"/>
                </a:highlight>
                <a:latin typeface="system-ui"/>
              </a:rPr>
              <a:t>It is a overall description of the data base.</a:t>
            </a:r>
          </a:p>
          <a:p>
            <a:pPr marL="285750" indent="-285750" algn="l">
              <a:buFontTx/>
              <a:buChar char="-"/>
            </a:pPr>
            <a:r>
              <a:rPr lang="en-US" dirty="0">
                <a:solidFill>
                  <a:srgbClr val="212529"/>
                </a:solidFill>
                <a:highlight>
                  <a:srgbClr val="FFFFFF"/>
                </a:highlight>
                <a:latin typeface="system-ui"/>
              </a:rPr>
              <a:t>The basic structure of how the data will be stored in the database is called schema, which specified during database design.</a:t>
            </a:r>
          </a:p>
          <a:p>
            <a:pPr marL="285750" indent="-285750" algn="l">
              <a:buFontTx/>
              <a:buChar char="-"/>
            </a:pPr>
            <a:r>
              <a:rPr lang="en-US" i="0" dirty="0">
                <a:solidFill>
                  <a:srgbClr val="212529"/>
                </a:solidFill>
                <a:effectLst/>
                <a:highlight>
                  <a:srgbClr val="FFFFFF"/>
                </a:highlight>
                <a:latin typeface="system-ui"/>
              </a:rPr>
              <a:t>It is not to change frequently.</a:t>
            </a:r>
          </a:p>
          <a:p>
            <a:pPr marL="285750" indent="-285750" algn="l">
              <a:buFontTx/>
              <a:buChar char="-"/>
            </a:pPr>
            <a:r>
              <a:rPr lang="en-US" i="0" dirty="0">
                <a:solidFill>
                  <a:srgbClr val="212529"/>
                </a:solidFill>
                <a:effectLst/>
                <a:highlight>
                  <a:srgbClr val="FFFFFF"/>
                </a:highlight>
                <a:latin typeface="system-ui"/>
              </a:rPr>
              <a:t>A displayed schema is called a </a:t>
            </a:r>
            <a:r>
              <a:rPr lang="en-US" b="1" i="0" dirty="0">
                <a:solidFill>
                  <a:srgbClr val="212529"/>
                </a:solidFill>
                <a:effectLst/>
                <a:highlight>
                  <a:srgbClr val="FFFFFF"/>
                </a:highlight>
                <a:latin typeface="system-ui"/>
              </a:rPr>
              <a:t>schema diagram in fig.2.1</a:t>
            </a:r>
            <a:r>
              <a:rPr lang="en-US" i="0" dirty="0">
                <a:solidFill>
                  <a:srgbClr val="212529"/>
                </a:solidFill>
                <a:effectLst/>
                <a:highlight>
                  <a:srgbClr val="FFFFFF"/>
                </a:highlight>
                <a:latin typeface="system-ui"/>
              </a:rPr>
              <a:t>.</a:t>
            </a:r>
          </a:p>
          <a:p>
            <a:pPr marL="285750" indent="-285750" algn="l">
              <a:buFontTx/>
              <a:buChar char="-"/>
            </a:pPr>
            <a:r>
              <a:rPr lang="en-US" i="0" dirty="0">
                <a:solidFill>
                  <a:srgbClr val="212529"/>
                </a:solidFill>
                <a:effectLst/>
                <a:highlight>
                  <a:srgbClr val="FFFFFF"/>
                </a:highlight>
                <a:latin typeface="system-ui"/>
              </a:rPr>
              <a:t>each object in the schema—such as STUDENT or COURSE—a </a:t>
            </a:r>
            <a:r>
              <a:rPr lang="en-US" b="1" i="0" dirty="0">
                <a:solidFill>
                  <a:srgbClr val="212529"/>
                </a:solidFill>
                <a:effectLst/>
                <a:highlight>
                  <a:srgbClr val="FFFFFF"/>
                </a:highlight>
                <a:latin typeface="system-ui"/>
              </a:rPr>
              <a:t>schema construct</a:t>
            </a:r>
            <a:r>
              <a:rPr lang="en-US" i="0" dirty="0">
                <a:solidFill>
                  <a:srgbClr val="212529"/>
                </a:solidFill>
                <a:effectLst/>
                <a:highlight>
                  <a:srgbClr val="FFFFFF"/>
                </a:highlight>
                <a:latin typeface="system-ui"/>
              </a:rPr>
              <a:t>.</a:t>
            </a:r>
          </a:p>
          <a:p>
            <a:pPr marL="285750" indent="-285750" algn="l">
              <a:buFontTx/>
              <a:buChar char="-"/>
            </a:pPr>
            <a:endParaRPr lang="en-US" dirty="0">
              <a:solidFill>
                <a:srgbClr val="212529"/>
              </a:solidFill>
              <a:highlight>
                <a:srgbClr val="FFFFFF"/>
              </a:highlight>
              <a:latin typeface="system-ui"/>
            </a:endParaRPr>
          </a:p>
          <a:p>
            <a:pPr marL="285750" indent="-285750" algn="l">
              <a:buFontTx/>
              <a:buChar char="-"/>
            </a:pPr>
            <a:r>
              <a:rPr lang="en-US" i="0" dirty="0">
                <a:solidFill>
                  <a:srgbClr val="212529"/>
                </a:solidFill>
                <a:effectLst/>
                <a:highlight>
                  <a:srgbClr val="FFFFFF"/>
                </a:highlight>
                <a:latin typeface="system-ui"/>
              </a:rPr>
              <a:t>A schema diagram displays only some aspects of a schema, such as the names of record types and data items, and some types of constraints.</a:t>
            </a:r>
          </a:p>
          <a:p>
            <a:pPr marL="285750" indent="-285750" algn="l">
              <a:buFontTx/>
              <a:buChar char="-"/>
            </a:pPr>
            <a:r>
              <a:rPr lang="en-US" i="0" dirty="0">
                <a:solidFill>
                  <a:srgbClr val="212529"/>
                </a:solidFill>
                <a:effectLst/>
                <a:highlight>
                  <a:srgbClr val="FFFFFF"/>
                </a:highlight>
                <a:latin typeface="system-ui"/>
              </a:rPr>
              <a:t> Other aspects are not specified in the schema diagram; for example</a:t>
            </a:r>
            <a:r>
              <a:rPr lang="en-US" dirty="0">
                <a:solidFill>
                  <a:srgbClr val="212529"/>
                </a:solidFill>
                <a:highlight>
                  <a:srgbClr val="FFFFFF"/>
                </a:highlight>
                <a:latin typeface="system-ui"/>
              </a:rPr>
              <a:t>  </a:t>
            </a:r>
            <a:r>
              <a:rPr lang="en-US" i="0" dirty="0">
                <a:solidFill>
                  <a:srgbClr val="212529"/>
                </a:solidFill>
                <a:effectLst/>
                <a:highlight>
                  <a:srgbClr val="FFFFFF"/>
                </a:highlight>
                <a:latin typeface="system-ui"/>
              </a:rPr>
              <a:t>the data type of each data item and  the relationships among the various files.</a:t>
            </a:r>
          </a:p>
        </p:txBody>
      </p:sp>
      <p:pic>
        <p:nvPicPr>
          <p:cNvPr id="4" name="Picture 3">
            <a:extLst>
              <a:ext uri="{FF2B5EF4-FFF2-40B4-BE49-F238E27FC236}">
                <a16:creationId xmlns:a16="http://schemas.microsoft.com/office/drawing/2014/main" id="{06F2A5B0-B7CE-7EF8-B010-9A21607F8007}"/>
              </a:ext>
            </a:extLst>
          </p:cNvPr>
          <p:cNvPicPr>
            <a:picLocks noChangeAspect="1"/>
          </p:cNvPicPr>
          <p:nvPr/>
        </p:nvPicPr>
        <p:blipFill>
          <a:blip r:embed="rId2"/>
          <a:stretch>
            <a:fillRect/>
          </a:stretch>
        </p:blipFill>
        <p:spPr>
          <a:xfrm>
            <a:off x="4121333" y="3673724"/>
            <a:ext cx="7695080" cy="2975270"/>
          </a:xfrm>
          <a:prstGeom prst="rect">
            <a:avLst/>
          </a:prstGeom>
        </p:spPr>
      </p:pic>
    </p:spTree>
    <p:extLst>
      <p:ext uri="{BB962C8B-B14F-4D97-AF65-F5344CB8AC3E}">
        <p14:creationId xmlns:p14="http://schemas.microsoft.com/office/powerpoint/2010/main" val="17497266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355E8C-A623-27D4-596E-9AE0B6CF7973}"/>
              </a:ext>
            </a:extLst>
          </p:cNvPr>
          <p:cNvSpPr txBox="1"/>
          <p:nvPr/>
        </p:nvSpPr>
        <p:spPr>
          <a:xfrm>
            <a:off x="431074" y="617029"/>
            <a:ext cx="11031583" cy="5078313"/>
          </a:xfrm>
          <a:prstGeom prst="rect">
            <a:avLst/>
          </a:prstGeom>
          <a:noFill/>
        </p:spPr>
        <p:txBody>
          <a:bodyPr wrap="square">
            <a:spAutoFit/>
          </a:bodyPr>
          <a:lstStyle/>
          <a:p>
            <a:r>
              <a:rPr lang="en-IN" b="1" dirty="0"/>
              <a:t>Instance and database state:</a:t>
            </a:r>
          </a:p>
          <a:p>
            <a:pPr algn="just"/>
            <a:r>
              <a:rPr lang="en-IN" dirty="0"/>
              <a:t> The data in the database at a particular moment in time is called a </a:t>
            </a:r>
            <a:r>
              <a:rPr lang="en-IN" b="1" dirty="0"/>
              <a:t>database state or snapshot</a:t>
            </a:r>
            <a:r>
              <a:rPr lang="en-IN" dirty="0"/>
              <a:t>. It is also called the </a:t>
            </a:r>
            <a:r>
              <a:rPr lang="en-IN" b="1" dirty="0"/>
              <a:t>current set </a:t>
            </a:r>
            <a:r>
              <a:rPr lang="en-IN" dirty="0"/>
              <a:t>of occurrences or </a:t>
            </a:r>
            <a:r>
              <a:rPr lang="en-IN" b="1" dirty="0"/>
              <a:t>instances in the database</a:t>
            </a:r>
            <a:r>
              <a:rPr lang="en-IN" dirty="0"/>
              <a:t>.</a:t>
            </a:r>
          </a:p>
          <a:p>
            <a:pPr algn="just"/>
            <a:endParaRPr lang="en-IN" dirty="0"/>
          </a:p>
          <a:p>
            <a:pPr algn="just"/>
            <a:r>
              <a:rPr lang="en-IN" dirty="0"/>
              <a:t> In a given database state, each schema construct has its own current set of instances;</a:t>
            </a:r>
          </a:p>
          <a:p>
            <a:pPr algn="just"/>
            <a:endParaRPr lang="en-IN" dirty="0"/>
          </a:p>
          <a:p>
            <a:pPr algn="just"/>
            <a:r>
              <a:rPr lang="en-IN" dirty="0"/>
              <a:t> for example, the STUDENT construct will contain the set of individual student entities (records) as its instances. Many database states can be constructed to correspond to a particular database schema. Every time we insert or delete a record, or change the value of a data item in a record, we change one state of the database into another state.</a:t>
            </a:r>
          </a:p>
          <a:p>
            <a:pPr algn="just"/>
            <a:endParaRPr lang="en-IN" dirty="0"/>
          </a:p>
          <a:p>
            <a:pPr algn="just"/>
            <a:r>
              <a:rPr lang="en-US" b="1" dirty="0"/>
              <a:t>The distinction between database schema and database state is very important.</a:t>
            </a:r>
            <a:endParaRPr lang="en-IN" b="1" dirty="0"/>
          </a:p>
          <a:p>
            <a:pPr algn="just"/>
            <a:r>
              <a:rPr lang="en-US" dirty="0"/>
              <a:t>When we define a new database, we specify its database schema only to the DBMS. At this point, the corresponding database state is the empty state with no data. We get the initial state of the database when the database is first populated or loaded with the initial data. From then on, every time an update operation is applied to the database, we get another database state. At any point in time, the database has a current state</a:t>
            </a:r>
          </a:p>
          <a:p>
            <a:pPr algn="just"/>
            <a:endParaRPr lang="en-US" dirty="0"/>
          </a:p>
          <a:p>
            <a:pPr algn="just"/>
            <a:r>
              <a:rPr lang="en-US" dirty="0"/>
              <a:t>*The schema is sometimes called the </a:t>
            </a:r>
            <a:r>
              <a:rPr lang="en-US" b="1" dirty="0"/>
              <a:t>intension</a:t>
            </a:r>
            <a:r>
              <a:rPr lang="en-US" dirty="0"/>
              <a:t>, and a database state is called an </a:t>
            </a:r>
            <a:r>
              <a:rPr lang="en-US" b="1" dirty="0"/>
              <a:t>extension</a:t>
            </a:r>
            <a:r>
              <a:rPr lang="en-US" dirty="0"/>
              <a:t> of the schema.</a:t>
            </a:r>
            <a:endParaRPr lang="en-IN" dirty="0"/>
          </a:p>
        </p:txBody>
      </p:sp>
    </p:spTree>
    <p:extLst>
      <p:ext uri="{BB962C8B-B14F-4D97-AF65-F5344CB8AC3E}">
        <p14:creationId xmlns:p14="http://schemas.microsoft.com/office/powerpoint/2010/main" val="15713587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DBD6EF-D4A5-BB70-E16E-9699A599E45D}"/>
              </a:ext>
            </a:extLst>
          </p:cNvPr>
          <p:cNvSpPr txBox="1"/>
          <p:nvPr/>
        </p:nvSpPr>
        <p:spPr>
          <a:xfrm>
            <a:off x="396815" y="465826"/>
            <a:ext cx="11540719" cy="1477328"/>
          </a:xfrm>
          <a:prstGeom prst="rect">
            <a:avLst/>
          </a:prstGeom>
          <a:noFill/>
        </p:spPr>
        <p:txBody>
          <a:bodyPr wrap="square">
            <a:spAutoFit/>
          </a:bodyPr>
          <a:lstStyle/>
          <a:p>
            <a:r>
              <a:rPr lang="en-US" b="1" dirty="0"/>
              <a:t>Three-Schema Architecture and Data Independence:      To </a:t>
            </a:r>
            <a:r>
              <a:rPr lang="en-US" dirty="0"/>
              <a:t>Proposed to support DBMS characteristics </a:t>
            </a:r>
            <a:r>
              <a:rPr lang="en-US" b="1" dirty="0"/>
              <a:t>.</a:t>
            </a:r>
          </a:p>
          <a:p>
            <a:endParaRPr lang="en-US" b="1" dirty="0"/>
          </a:p>
          <a:p>
            <a:endParaRPr lang="en-US" b="1" dirty="0"/>
          </a:p>
          <a:p>
            <a:r>
              <a:rPr lang="en-US" dirty="0"/>
              <a:t>The goal of the three-schema architecture, is to separate the user applications from the physical database. In this architecture, schemas can be defined at the following three levels</a:t>
            </a:r>
            <a:endParaRPr lang="en-IN" b="1" dirty="0"/>
          </a:p>
        </p:txBody>
      </p:sp>
      <p:pic>
        <p:nvPicPr>
          <p:cNvPr id="5" name="Picture 4">
            <a:extLst>
              <a:ext uri="{FF2B5EF4-FFF2-40B4-BE49-F238E27FC236}">
                <a16:creationId xmlns:a16="http://schemas.microsoft.com/office/drawing/2014/main" id="{189C496C-52E7-FE2D-F368-4BD14B8F61B2}"/>
              </a:ext>
            </a:extLst>
          </p:cNvPr>
          <p:cNvPicPr>
            <a:picLocks noChangeAspect="1"/>
          </p:cNvPicPr>
          <p:nvPr/>
        </p:nvPicPr>
        <p:blipFill>
          <a:blip r:embed="rId2"/>
          <a:stretch>
            <a:fillRect/>
          </a:stretch>
        </p:blipFill>
        <p:spPr>
          <a:xfrm>
            <a:off x="1174459" y="2449838"/>
            <a:ext cx="9857064" cy="4125270"/>
          </a:xfrm>
          <a:prstGeom prst="rect">
            <a:avLst/>
          </a:prstGeom>
        </p:spPr>
      </p:pic>
    </p:spTree>
    <p:extLst>
      <p:ext uri="{BB962C8B-B14F-4D97-AF65-F5344CB8AC3E}">
        <p14:creationId xmlns:p14="http://schemas.microsoft.com/office/powerpoint/2010/main" val="34846366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51CB6A-99CE-36A0-56FA-C2AB4408114F}"/>
              </a:ext>
            </a:extLst>
          </p:cNvPr>
          <p:cNvSpPr txBox="1"/>
          <p:nvPr/>
        </p:nvSpPr>
        <p:spPr>
          <a:xfrm>
            <a:off x="390617" y="736847"/>
            <a:ext cx="11345663" cy="5632311"/>
          </a:xfrm>
          <a:prstGeom prst="rect">
            <a:avLst/>
          </a:prstGeom>
          <a:noFill/>
        </p:spPr>
        <p:txBody>
          <a:bodyPr wrap="square">
            <a:spAutoFit/>
          </a:bodyPr>
          <a:lstStyle/>
          <a:p>
            <a:r>
              <a:rPr lang="en-US" sz="3200" b="1" dirty="0"/>
              <a:t>1. Internal Level:</a:t>
            </a:r>
          </a:p>
          <a:p>
            <a:endParaRPr lang="en-US" sz="3200" dirty="0"/>
          </a:p>
          <a:p>
            <a:pPr algn="just"/>
            <a:r>
              <a:rPr lang="en-US" sz="2400" dirty="0"/>
              <a:t>The internal level has an internal schema, which describes the physical storage structure of the database. The internal schema uses a physical data model and describes the complete details of data storage and access paths for the database.</a:t>
            </a:r>
          </a:p>
          <a:p>
            <a:pPr algn="just"/>
            <a:endParaRPr lang="en-US" sz="2400" dirty="0"/>
          </a:p>
          <a:p>
            <a:pPr algn="just"/>
            <a:r>
              <a:rPr lang="en-US" sz="2400" dirty="0"/>
              <a:t>2</a:t>
            </a:r>
            <a:r>
              <a:rPr lang="en-US" sz="3200" b="1" dirty="0"/>
              <a:t>. conceptual level :</a:t>
            </a:r>
          </a:p>
          <a:p>
            <a:pPr algn="just"/>
            <a:r>
              <a:rPr lang="en-US" sz="2400" dirty="0"/>
              <a:t>The conceptual level has a conceptual schema, which describes the structure of the whole database for a community of users. The conceptual schema hides the details of physical storage structures and concentrates on describing entities, data types, relationships, user operations, and constraints. Usually, a representational data model is used to describe the conceptual schema when a database system is implemented. This implementation conceptual schema is often based on a conceptual schema design in a high-level data mode</a:t>
            </a:r>
            <a:endParaRPr lang="en-IN" sz="2400" dirty="0"/>
          </a:p>
        </p:txBody>
      </p:sp>
    </p:spTree>
    <p:extLst>
      <p:ext uri="{BB962C8B-B14F-4D97-AF65-F5344CB8AC3E}">
        <p14:creationId xmlns:p14="http://schemas.microsoft.com/office/powerpoint/2010/main" val="17510868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0B68AB-6510-FB4E-B5AB-6EC5E18234FC}"/>
              </a:ext>
            </a:extLst>
          </p:cNvPr>
          <p:cNvSpPr txBox="1"/>
          <p:nvPr/>
        </p:nvSpPr>
        <p:spPr>
          <a:xfrm>
            <a:off x="594803" y="656948"/>
            <a:ext cx="11150353" cy="4049057"/>
          </a:xfrm>
          <a:prstGeom prst="rect">
            <a:avLst/>
          </a:prstGeom>
          <a:noFill/>
        </p:spPr>
        <p:txBody>
          <a:bodyPr wrap="square">
            <a:spAutoFit/>
          </a:bodyPr>
          <a:lstStyle/>
          <a:p>
            <a:endParaRPr lang="en-US" dirty="0"/>
          </a:p>
          <a:p>
            <a:r>
              <a:rPr lang="en-US" sz="3200" b="1" dirty="0"/>
              <a:t>3. External Level:</a:t>
            </a:r>
          </a:p>
          <a:p>
            <a:pPr algn="just">
              <a:lnSpc>
                <a:spcPct val="150000"/>
              </a:lnSpc>
            </a:pPr>
            <a:r>
              <a:rPr lang="en-US" sz="2000" dirty="0"/>
              <a:t>The external or view level includes a number of external schemas or user views. Each external schema describes the part of the database that a particular user group is interested in and hides the rest of the database from that user group. As in the previous level, each external schema is typically implemented using a representational data model, possibly based on an external schema design in a high-level conceptual data model.</a:t>
            </a:r>
          </a:p>
          <a:p>
            <a:pPr algn="just">
              <a:lnSpc>
                <a:spcPct val="150000"/>
              </a:lnSpc>
            </a:pPr>
            <a:endParaRPr lang="en-US" sz="2000" dirty="0"/>
          </a:p>
          <a:p>
            <a:pPr algn="just">
              <a:lnSpc>
                <a:spcPct val="150000"/>
              </a:lnSpc>
            </a:pPr>
            <a:r>
              <a:rPr lang="en-US" sz="2000" dirty="0"/>
              <a:t>* The processes of transforming requests and results between levels are called mappings.</a:t>
            </a:r>
            <a:endParaRPr lang="en-IN" sz="2000" dirty="0"/>
          </a:p>
        </p:txBody>
      </p:sp>
    </p:spTree>
    <p:extLst>
      <p:ext uri="{BB962C8B-B14F-4D97-AF65-F5344CB8AC3E}">
        <p14:creationId xmlns:p14="http://schemas.microsoft.com/office/powerpoint/2010/main" val="36483829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B94A64-3897-727F-C50C-DDED884B8B62}"/>
              </a:ext>
            </a:extLst>
          </p:cNvPr>
          <p:cNvSpPr txBox="1"/>
          <p:nvPr/>
        </p:nvSpPr>
        <p:spPr>
          <a:xfrm>
            <a:off x="1013460" y="1082040"/>
            <a:ext cx="10881360" cy="5078313"/>
          </a:xfrm>
          <a:prstGeom prst="rect">
            <a:avLst/>
          </a:prstGeom>
          <a:noFill/>
        </p:spPr>
        <p:txBody>
          <a:bodyPr wrap="square">
            <a:spAutoFit/>
          </a:bodyPr>
          <a:lstStyle/>
          <a:p>
            <a:r>
              <a:rPr lang="en-US" sz="3600" b="1" dirty="0"/>
              <a:t>Data Independence</a:t>
            </a:r>
          </a:p>
          <a:p>
            <a:endParaRPr lang="en-US" dirty="0"/>
          </a:p>
          <a:p>
            <a:r>
              <a:rPr lang="en-US" dirty="0"/>
              <a:t>The three-schema architecture can be used to further explain the concept of data independence, which can be defined as the capacity to change the schema at one level of a database system without having to change the schema at the next higher level.</a:t>
            </a:r>
          </a:p>
          <a:p>
            <a:endParaRPr lang="en-US" dirty="0"/>
          </a:p>
          <a:p>
            <a:endParaRPr lang="en-US" dirty="0"/>
          </a:p>
          <a:p>
            <a:r>
              <a:rPr lang="en-US" dirty="0"/>
              <a:t>There are two types of data independence: </a:t>
            </a:r>
          </a:p>
          <a:p>
            <a:endParaRPr lang="en-US" dirty="0"/>
          </a:p>
          <a:p>
            <a:r>
              <a:rPr lang="en-US" dirty="0"/>
              <a:t>1</a:t>
            </a:r>
            <a:r>
              <a:rPr lang="en-US" b="1" dirty="0"/>
              <a:t>. Logical data independence</a:t>
            </a:r>
            <a:r>
              <a:rPr lang="en-US" dirty="0"/>
              <a:t>:</a:t>
            </a:r>
          </a:p>
          <a:p>
            <a:endParaRPr lang="en-US" dirty="0"/>
          </a:p>
          <a:p>
            <a:r>
              <a:rPr lang="en-US" dirty="0"/>
              <a:t> Logical data independence is the capacity to change the conceptual schema without having to change external schemas or application programs.</a:t>
            </a:r>
          </a:p>
          <a:p>
            <a:endParaRPr lang="en-US" dirty="0"/>
          </a:p>
          <a:p>
            <a:r>
              <a:rPr lang="en-US" dirty="0"/>
              <a:t>We may change the conceptual schema to expand the database (by adding a record type or data item), to change constraints, or to reduce the database (by removing a record type or data item). In the last case, external schemas that refer only to the remaining data should not be affected</a:t>
            </a:r>
            <a:endParaRPr lang="en-IN" dirty="0"/>
          </a:p>
        </p:txBody>
      </p:sp>
    </p:spTree>
    <p:extLst>
      <p:ext uri="{BB962C8B-B14F-4D97-AF65-F5344CB8AC3E}">
        <p14:creationId xmlns:p14="http://schemas.microsoft.com/office/powerpoint/2010/main" val="17244183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DD4A96-2D88-965A-FE64-26DC7C7CB3EF}"/>
              </a:ext>
            </a:extLst>
          </p:cNvPr>
          <p:cNvSpPr txBox="1"/>
          <p:nvPr/>
        </p:nvSpPr>
        <p:spPr>
          <a:xfrm>
            <a:off x="586740" y="594360"/>
            <a:ext cx="11300460" cy="5653920"/>
          </a:xfrm>
          <a:prstGeom prst="rect">
            <a:avLst/>
          </a:prstGeom>
          <a:noFill/>
        </p:spPr>
        <p:txBody>
          <a:bodyPr wrap="square">
            <a:spAutoFit/>
          </a:bodyPr>
          <a:lstStyle/>
          <a:p>
            <a:r>
              <a:rPr lang="en-US" b="1" dirty="0"/>
              <a:t>2. </a:t>
            </a:r>
            <a:r>
              <a:rPr lang="en-US" sz="2000" b="1" dirty="0"/>
              <a:t>Physical data independence:</a:t>
            </a:r>
          </a:p>
          <a:p>
            <a:endParaRPr lang="en-US" sz="2000" b="1" dirty="0"/>
          </a:p>
          <a:p>
            <a:pPr algn="just"/>
            <a:r>
              <a:rPr lang="en-US" b="1" dirty="0"/>
              <a:t>Physical data independence </a:t>
            </a:r>
            <a:r>
              <a:rPr lang="en-US" dirty="0"/>
              <a:t>is the capacity to change the internal schema without having to change the conceptual schema. Hence, the external schemas need not be changed as well. </a:t>
            </a:r>
          </a:p>
          <a:p>
            <a:pPr algn="just"/>
            <a:endParaRPr lang="en-US" dirty="0"/>
          </a:p>
          <a:p>
            <a:pPr algn="just"/>
            <a:endParaRPr lang="en-US" dirty="0"/>
          </a:p>
          <a:p>
            <a:pPr algn="just"/>
            <a:r>
              <a:rPr lang="en-US" b="1" dirty="0"/>
              <a:t>For example, </a:t>
            </a:r>
            <a:r>
              <a:rPr lang="en-US" dirty="0"/>
              <a:t>the internal schema may be changed when certain file structures are reorganized or new indexes are created to improve database performance.</a:t>
            </a:r>
          </a:p>
          <a:p>
            <a:pPr algn="just"/>
            <a:endParaRPr lang="en-US" dirty="0"/>
          </a:p>
          <a:p>
            <a:pPr algn="just">
              <a:lnSpc>
                <a:spcPct val="150000"/>
              </a:lnSpc>
            </a:pPr>
            <a:r>
              <a:rPr lang="en-US" dirty="0"/>
              <a:t>physical data independence exists in most databases and file environments where physical details, such as the exact location of data on disk, and hardware details of storage encoding, placement, compression, splitting, merging of records, and so on are hidden from the user.</a:t>
            </a:r>
          </a:p>
          <a:p>
            <a:pPr algn="just"/>
            <a:endParaRPr lang="en-US" dirty="0"/>
          </a:p>
          <a:p>
            <a:pPr algn="just"/>
            <a:endParaRPr lang="en-US" dirty="0"/>
          </a:p>
          <a:p>
            <a:pPr algn="just">
              <a:lnSpc>
                <a:spcPct val="150000"/>
              </a:lnSpc>
            </a:pPr>
            <a:r>
              <a:rPr lang="en-US" dirty="0"/>
              <a:t>Note</a:t>
            </a:r>
            <a:r>
              <a:rPr lang="en-US" b="1" dirty="0"/>
              <a:t>: Data independence occurs because when the schema is changed at some level, the schema at the next higher level remains unchanged; only the mapping between the two levels is changed. Hence, application programs refer ring to the higher-level schema need not be changed.</a:t>
            </a:r>
            <a:endParaRPr lang="en-IN" b="1" dirty="0"/>
          </a:p>
        </p:txBody>
      </p:sp>
    </p:spTree>
    <p:extLst>
      <p:ext uri="{BB962C8B-B14F-4D97-AF65-F5344CB8AC3E}">
        <p14:creationId xmlns:p14="http://schemas.microsoft.com/office/powerpoint/2010/main" val="1398609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82846-887E-9493-1FD4-0148215CE0F8}"/>
              </a:ext>
            </a:extLst>
          </p:cNvPr>
          <p:cNvSpPr txBox="1"/>
          <p:nvPr/>
        </p:nvSpPr>
        <p:spPr>
          <a:xfrm>
            <a:off x="327660" y="0"/>
            <a:ext cx="11209020" cy="6247864"/>
          </a:xfrm>
          <a:prstGeom prst="rect">
            <a:avLst/>
          </a:prstGeom>
          <a:noFill/>
        </p:spPr>
        <p:txBody>
          <a:bodyPr wrap="square">
            <a:spAutoFit/>
          </a:bodyPr>
          <a:lstStyle/>
          <a:p>
            <a:r>
              <a:rPr lang="en-IN" sz="2000" b="1" dirty="0"/>
              <a:t>DBMS Languages:</a:t>
            </a:r>
          </a:p>
          <a:p>
            <a:endParaRPr lang="en-IN" sz="2000" b="1" dirty="0"/>
          </a:p>
          <a:p>
            <a:endParaRPr lang="en-IN" sz="2000" dirty="0"/>
          </a:p>
          <a:p>
            <a:pPr marL="457200" indent="-457200">
              <a:buAutoNum type="arabicPeriod"/>
            </a:pPr>
            <a:r>
              <a:rPr lang="en-IN" sz="2000" dirty="0"/>
              <a:t>Data Definition Language (DDL) </a:t>
            </a:r>
          </a:p>
          <a:p>
            <a:endParaRPr lang="en-IN" sz="2000" dirty="0"/>
          </a:p>
          <a:p>
            <a:r>
              <a:rPr lang="en-IN" sz="2000" dirty="0"/>
              <a:t>2. Data Manipulation Language (DML)</a:t>
            </a:r>
          </a:p>
          <a:p>
            <a:endParaRPr lang="en-IN" sz="2000" b="1" dirty="0"/>
          </a:p>
          <a:p>
            <a:endParaRPr lang="en-IN" sz="2000" b="1" dirty="0"/>
          </a:p>
          <a:p>
            <a:r>
              <a:rPr lang="en-US" sz="2000" b="1" dirty="0"/>
              <a:t>Data Definition Language (DDL): </a:t>
            </a:r>
          </a:p>
          <a:p>
            <a:pPr marL="342900" indent="-342900" algn="just">
              <a:buFont typeface="Arial" panose="020B0604020202020204" pitchFamily="34" charset="0"/>
              <a:buChar char="•"/>
            </a:pPr>
            <a:r>
              <a:rPr lang="en-US" sz="2000" dirty="0"/>
              <a:t>Used by the DBA and database designers to specify the conceptual schema of a database. </a:t>
            </a:r>
          </a:p>
          <a:p>
            <a:pPr marL="342900" indent="-342900" algn="just">
              <a:buFont typeface="Arial" panose="020B0604020202020204" pitchFamily="34" charset="0"/>
              <a:buChar char="•"/>
            </a:pPr>
            <a:r>
              <a:rPr lang="en-US" sz="2000" dirty="0"/>
              <a:t> DDL is used to specify the conceptual schema only. </a:t>
            </a:r>
          </a:p>
          <a:p>
            <a:pPr algn="just"/>
            <a:endParaRPr lang="en-US" sz="2000" dirty="0"/>
          </a:p>
          <a:p>
            <a:pPr marL="342900" indent="-342900" algn="just">
              <a:buFont typeface="Arial" panose="020B0604020202020204" pitchFamily="34" charset="0"/>
              <a:buChar char="•"/>
            </a:pPr>
            <a:r>
              <a:rPr lang="en-US" sz="2000" dirty="0"/>
              <a:t>Another language, </a:t>
            </a:r>
            <a:r>
              <a:rPr lang="en-US" sz="2000" b="1" dirty="0"/>
              <a:t>the storage definition language (SDL</a:t>
            </a:r>
            <a:r>
              <a:rPr lang="en-US" sz="2000" dirty="0"/>
              <a:t>), is used to specify the internal schema. </a:t>
            </a:r>
          </a:p>
          <a:p>
            <a:pPr algn="just"/>
            <a:endParaRPr lang="en-US" sz="2000" dirty="0"/>
          </a:p>
          <a:p>
            <a:pPr marL="342900" indent="-342900" algn="just">
              <a:buFont typeface="Arial" panose="020B0604020202020204" pitchFamily="34" charset="0"/>
              <a:buChar char="•"/>
            </a:pPr>
            <a:r>
              <a:rPr lang="en-US" sz="2000" dirty="0"/>
              <a:t>The mappings between the two schemas may be specified in either one of these languages. In most relational DBMSs today, there is no specific language that performs the role of SDL.</a:t>
            </a:r>
          </a:p>
          <a:p>
            <a:pPr marL="342900" indent="-342900" algn="just">
              <a:buFont typeface="Arial" panose="020B0604020202020204" pitchFamily="34" charset="0"/>
              <a:buChar char="•"/>
            </a:pPr>
            <a:r>
              <a:rPr lang="en-US" sz="2000" dirty="0"/>
              <a:t>In many DBMSs, the DDL is also used to define internal and external schemas (views).</a:t>
            </a:r>
          </a:p>
          <a:p>
            <a:pPr marL="342900" indent="-342900" algn="just">
              <a:buFont typeface="Arial" panose="020B0604020202020204" pitchFamily="34" charset="0"/>
              <a:buChar char="•"/>
            </a:pPr>
            <a:endParaRPr lang="en-US" sz="2000" b="1" dirty="0"/>
          </a:p>
          <a:p>
            <a:endParaRPr lang="en-IN" sz="2000" b="1" dirty="0"/>
          </a:p>
          <a:p>
            <a:endParaRPr lang="en-IN" sz="2000" b="1" dirty="0"/>
          </a:p>
        </p:txBody>
      </p:sp>
    </p:spTree>
    <p:extLst>
      <p:ext uri="{BB962C8B-B14F-4D97-AF65-F5344CB8AC3E}">
        <p14:creationId xmlns:p14="http://schemas.microsoft.com/office/powerpoint/2010/main" val="15811744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1E9FC6-1B74-DD19-DDBA-0348E0D5F29B}"/>
              </a:ext>
            </a:extLst>
          </p:cNvPr>
          <p:cNvSpPr txBox="1"/>
          <p:nvPr/>
        </p:nvSpPr>
        <p:spPr>
          <a:xfrm>
            <a:off x="438150" y="1127760"/>
            <a:ext cx="11315700" cy="473033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The third language</a:t>
            </a:r>
            <a:r>
              <a:rPr lang="en-US" b="1" dirty="0"/>
              <a:t>, the view definition language (VDL)</a:t>
            </a:r>
            <a:r>
              <a:rPr lang="en-US" dirty="0"/>
              <a:t>, to specify user views and their mappings to the conceptual schema, but in most DBMSs the DDL is used to define both conceptual and external schemas. </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r>
              <a:rPr lang="en-US" dirty="0"/>
              <a:t>In relational DBMSs, SQL is used in the role of VDL to define user or application views as results of predefined queries</a:t>
            </a:r>
          </a:p>
          <a:p>
            <a:pPr marL="285750" indent="-285750" algn="just">
              <a:lnSpc>
                <a:spcPct val="150000"/>
              </a:lnSpc>
              <a:buFont typeface="Arial" panose="020B0604020202020204" pitchFamily="34" charset="0"/>
              <a:buChar char="•"/>
            </a:pPr>
            <a:endParaRPr lang="en-US" dirty="0"/>
          </a:p>
          <a:p>
            <a:pPr algn="just">
              <a:lnSpc>
                <a:spcPct val="150000"/>
              </a:lnSpc>
            </a:pPr>
            <a:r>
              <a:rPr lang="en-IN" sz="3200" b="1" dirty="0"/>
              <a:t>Data Manipulation Language (DML):</a:t>
            </a:r>
          </a:p>
          <a:p>
            <a:pPr marL="457200" indent="-457200" algn="just">
              <a:lnSpc>
                <a:spcPct val="150000"/>
              </a:lnSpc>
              <a:buFont typeface="Arial" panose="020B0604020202020204" pitchFamily="34" charset="0"/>
              <a:buChar char="•"/>
            </a:pPr>
            <a:r>
              <a:rPr lang="en-US" sz="3200" dirty="0"/>
              <a:t>Used to specify database retrievals and updates </a:t>
            </a:r>
            <a:r>
              <a:rPr lang="en-IN" sz="3200" b="1" dirty="0"/>
              <a:t>.</a:t>
            </a:r>
          </a:p>
          <a:p>
            <a:pPr algn="just">
              <a:lnSpc>
                <a:spcPct val="150000"/>
              </a:lnSpc>
            </a:pPr>
            <a:r>
              <a:rPr lang="en-US" sz="3200" dirty="0"/>
              <a:t>There are two main types of DMLs………</a:t>
            </a:r>
            <a:endParaRPr lang="en-IN" sz="3200" b="1" dirty="0"/>
          </a:p>
        </p:txBody>
      </p:sp>
    </p:spTree>
    <p:extLst>
      <p:ext uri="{BB962C8B-B14F-4D97-AF65-F5344CB8AC3E}">
        <p14:creationId xmlns:p14="http://schemas.microsoft.com/office/powerpoint/2010/main" val="11654618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2E5844-6C68-3F88-5B00-B41B1AC73466}"/>
              </a:ext>
            </a:extLst>
          </p:cNvPr>
          <p:cNvSpPr txBox="1"/>
          <p:nvPr/>
        </p:nvSpPr>
        <p:spPr>
          <a:xfrm>
            <a:off x="659130" y="1348741"/>
            <a:ext cx="10873740" cy="4832092"/>
          </a:xfrm>
          <a:prstGeom prst="rect">
            <a:avLst/>
          </a:prstGeom>
          <a:noFill/>
        </p:spPr>
        <p:txBody>
          <a:bodyPr wrap="square">
            <a:spAutoFit/>
          </a:bodyPr>
          <a:lstStyle/>
          <a:p>
            <a:r>
              <a:rPr lang="en-US" sz="2800" b="1" dirty="0"/>
              <a:t>High-level or nonprocedural DML:</a:t>
            </a:r>
          </a:p>
          <a:p>
            <a:endParaRPr lang="en-US" dirty="0"/>
          </a:p>
          <a:p>
            <a:pPr marL="285750" indent="-285750">
              <a:buFont typeface="Arial" panose="020B0604020202020204" pitchFamily="34" charset="0"/>
              <a:buChar char="•"/>
            </a:pPr>
            <a:r>
              <a:rPr lang="en-US" dirty="0"/>
              <a:t>A high-level or nonprocedural DML can be used on its own to specify complex database operations concisely.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High-level DMLs, such as SQL, can specify and retrieve many records in a single DML statement; therefore, they are called set-at-a-time or set-oriented DMLs.</a:t>
            </a:r>
          </a:p>
          <a:p>
            <a:pPr marL="285750" indent="-285750">
              <a:buFont typeface="Arial" panose="020B0604020202020204" pitchFamily="34" charset="0"/>
              <a:buChar char="•"/>
            </a:pPr>
            <a:r>
              <a:rPr lang="en-US" dirty="0"/>
              <a:t>A query in a high-level DML often specifies which data to retrieve rather than how to retrieve it; therefore, such languages are also called declarative.</a:t>
            </a:r>
          </a:p>
          <a:p>
            <a:r>
              <a:rPr lang="en-US" sz="2800" b="1" dirty="0"/>
              <a:t>Low level or procedural DML:</a:t>
            </a:r>
          </a:p>
          <a:p>
            <a:pPr marL="285750" indent="-285750">
              <a:buFont typeface="Arial" panose="020B0604020202020204" pitchFamily="34" charset="0"/>
              <a:buChar char="•"/>
            </a:pPr>
            <a:r>
              <a:rPr lang="en-US" dirty="0"/>
              <a:t>A low level or procedural DML must be embedded in a general-purpose programming language.</a:t>
            </a:r>
          </a:p>
          <a:p>
            <a:pPr marL="285750" indent="-285750">
              <a:buFont typeface="Arial" panose="020B0604020202020204" pitchFamily="34" charset="0"/>
              <a:buChar char="•"/>
            </a:pPr>
            <a:r>
              <a:rPr lang="en-US" dirty="0"/>
              <a:t>This type of DML typically retrieves individual records or objects from the database and processes each separately.</a:t>
            </a:r>
          </a:p>
          <a:p>
            <a:pPr marL="285750" indent="-285750">
              <a:buFont typeface="Arial" panose="020B0604020202020204" pitchFamily="34" charset="0"/>
              <a:buChar char="•"/>
            </a:pPr>
            <a:r>
              <a:rPr lang="en-US" dirty="0"/>
              <a:t>it needs to use programming language constructs, such as looping, to retrieve and process each record from a set of records.</a:t>
            </a:r>
          </a:p>
          <a:p>
            <a:pPr marL="285750" indent="-285750">
              <a:buFont typeface="Arial" panose="020B0604020202020204" pitchFamily="34" charset="0"/>
              <a:buChar char="•"/>
            </a:pPr>
            <a:r>
              <a:rPr lang="en-US" dirty="0"/>
              <a:t>Low-level DMLs are also called record-at-a-time DMLs</a:t>
            </a:r>
            <a:endParaRPr lang="en-IN" dirty="0"/>
          </a:p>
        </p:txBody>
      </p:sp>
    </p:spTree>
    <p:extLst>
      <p:ext uri="{BB962C8B-B14F-4D97-AF65-F5344CB8AC3E}">
        <p14:creationId xmlns:p14="http://schemas.microsoft.com/office/powerpoint/2010/main" val="31361515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C676A6-F8E2-2EA3-9B55-C88CA9BBC8A9}"/>
              </a:ext>
            </a:extLst>
          </p:cNvPr>
          <p:cNvSpPr txBox="1"/>
          <p:nvPr/>
        </p:nvSpPr>
        <p:spPr>
          <a:xfrm>
            <a:off x="1013460" y="594360"/>
            <a:ext cx="10943590" cy="6370975"/>
          </a:xfrm>
          <a:prstGeom prst="rect">
            <a:avLst/>
          </a:prstGeom>
          <a:noFill/>
        </p:spPr>
        <p:txBody>
          <a:bodyPr wrap="square">
            <a:spAutoFit/>
          </a:bodyPr>
          <a:lstStyle/>
          <a:p>
            <a:r>
              <a:rPr lang="en-IN" sz="2400" b="1" dirty="0"/>
              <a:t>DBMS Interfaces:</a:t>
            </a:r>
          </a:p>
          <a:p>
            <a:endParaRPr lang="en-IN" sz="2400" b="1" dirty="0"/>
          </a:p>
          <a:p>
            <a:pPr marL="457200" indent="-457200" algn="just">
              <a:buAutoNum type="arabicPeriod"/>
            </a:pPr>
            <a:r>
              <a:rPr lang="en-US" sz="2400" b="1" u="sng" dirty="0"/>
              <a:t>Menu-based Interfaces for Web Clients or Browsing: </a:t>
            </a:r>
          </a:p>
          <a:p>
            <a:pPr algn="just"/>
            <a:r>
              <a:rPr lang="en-US" sz="2400" dirty="0"/>
              <a:t>	These interfaces present the user with lists of options (called menus) that lead the user through the formulation of a request.</a:t>
            </a:r>
          </a:p>
          <a:p>
            <a:pPr algn="just"/>
            <a:endParaRPr lang="en-US" sz="2400" dirty="0"/>
          </a:p>
          <a:p>
            <a:pPr algn="just"/>
            <a:r>
              <a:rPr lang="en-US" sz="2400" b="1" dirty="0"/>
              <a:t>2.</a:t>
            </a:r>
            <a:r>
              <a:rPr lang="en-IN" sz="2400" dirty="0"/>
              <a:t> </a:t>
            </a:r>
            <a:r>
              <a:rPr lang="en-IN" sz="2400" b="1" dirty="0"/>
              <a:t>Apps for Mobile Devices:</a:t>
            </a:r>
            <a:r>
              <a:rPr lang="en-US" sz="2400" dirty="0"/>
              <a:t> These interfaces present mobile users with access to their data. For example, banking, reservations, and insurance companies, among many others, provide apps that allow users to access their data through a mobile phone or mobile device.</a:t>
            </a:r>
          </a:p>
          <a:p>
            <a:pPr algn="just"/>
            <a:r>
              <a:rPr lang="en-US" sz="2400" dirty="0"/>
              <a:t>3.</a:t>
            </a:r>
            <a:r>
              <a:rPr lang="en-US" sz="2400" b="1" dirty="0"/>
              <a:t>Forms-based Interfaces: </a:t>
            </a:r>
          </a:p>
          <a:p>
            <a:pPr algn="just"/>
            <a:r>
              <a:rPr lang="en-US" sz="2400" dirty="0"/>
              <a:t>A forms-based interface displays a form to each user. Users can fill out all of the form entries to insert new data, or they can fill out only certain entries, in which case the DBMS will retrieve matching data for the remain </a:t>
            </a:r>
            <a:r>
              <a:rPr lang="en-US" sz="2400" dirty="0" err="1"/>
              <a:t>ingentries</a:t>
            </a:r>
            <a:r>
              <a:rPr lang="en-US" sz="2400" dirty="0"/>
              <a:t>. Forms are usually designed and programmed for naive users as interfaces to canned transactions.</a:t>
            </a:r>
            <a:endParaRPr lang="en-IN" sz="2400" b="1" dirty="0"/>
          </a:p>
          <a:p>
            <a:endParaRPr lang="en-IN" sz="2400" b="1" dirty="0"/>
          </a:p>
        </p:txBody>
      </p:sp>
    </p:spTree>
    <p:extLst>
      <p:ext uri="{BB962C8B-B14F-4D97-AF65-F5344CB8AC3E}">
        <p14:creationId xmlns:p14="http://schemas.microsoft.com/office/powerpoint/2010/main" val="7725856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066AD4-D061-5302-181B-C8DBF0D2BBF7}"/>
              </a:ext>
            </a:extLst>
          </p:cNvPr>
          <p:cNvSpPr txBox="1"/>
          <p:nvPr/>
        </p:nvSpPr>
        <p:spPr>
          <a:xfrm>
            <a:off x="349250" y="768350"/>
            <a:ext cx="11080750" cy="5078313"/>
          </a:xfrm>
          <a:prstGeom prst="rect">
            <a:avLst/>
          </a:prstGeom>
          <a:noFill/>
        </p:spPr>
        <p:txBody>
          <a:bodyPr wrap="square">
            <a:spAutoFit/>
          </a:bodyPr>
          <a:lstStyle/>
          <a:p>
            <a:r>
              <a:rPr lang="en-US" b="1" dirty="0"/>
              <a:t>4. Graphical User Interfaces:</a:t>
            </a:r>
          </a:p>
          <a:p>
            <a:pPr algn="just"/>
            <a:r>
              <a:rPr lang="en-US" b="1" dirty="0"/>
              <a:t> </a:t>
            </a:r>
            <a:r>
              <a:rPr lang="en-US" dirty="0"/>
              <a:t>A GUI typically displays a schema to the user in diagrammatic form. The user then can specify a query by manipulating the diagram. In many cases, GUIs utilize both menus and forms.</a:t>
            </a:r>
          </a:p>
          <a:p>
            <a:pPr algn="just"/>
            <a:endParaRPr lang="en-US" dirty="0"/>
          </a:p>
          <a:p>
            <a:pPr algn="just"/>
            <a:r>
              <a:rPr lang="en-US" dirty="0"/>
              <a:t>5.</a:t>
            </a:r>
            <a:r>
              <a:rPr lang="en-US" b="1" dirty="0"/>
              <a:t>Natural Language Interfaces</a:t>
            </a:r>
            <a:r>
              <a:rPr lang="en-US" dirty="0"/>
              <a:t>: </a:t>
            </a:r>
          </a:p>
          <a:p>
            <a:pPr algn="just"/>
            <a:r>
              <a:rPr lang="en-US" dirty="0"/>
              <a:t>These interfaces accept requests written in Eng </a:t>
            </a:r>
            <a:r>
              <a:rPr lang="en-US" dirty="0" err="1"/>
              <a:t>lish</a:t>
            </a:r>
            <a:r>
              <a:rPr lang="en-US" dirty="0"/>
              <a:t> or some other language and attempt to understand them. A natural language interface usually has its own schema, which is similar to the database conceptual schema, as well as a dictionary of important words.</a:t>
            </a:r>
          </a:p>
          <a:p>
            <a:pPr algn="just"/>
            <a:r>
              <a:rPr lang="en-US" dirty="0"/>
              <a:t>6.</a:t>
            </a:r>
            <a:r>
              <a:rPr lang="en-IN" dirty="0"/>
              <a:t> </a:t>
            </a:r>
            <a:r>
              <a:rPr lang="en-IN" b="1" dirty="0"/>
              <a:t>Keyword-based Database Search:</a:t>
            </a:r>
          </a:p>
          <a:p>
            <a:pPr algn="just"/>
            <a:r>
              <a:rPr lang="en-US" dirty="0"/>
              <a:t>It is similar to Web search engines, which accept strings of natural language (like English or Spanish) words and match them with documents at specific sites (for local search engines) or Web pages on the Web at large (for engines like Google or Ask). They use predefined indexes on words and use ranking functions to retrieve and present resulting documents in a decreasing degree of match.</a:t>
            </a:r>
          </a:p>
          <a:p>
            <a:pPr algn="just"/>
            <a:r>
              <a:rPr lang="en-US" b="1" dirty="0"/>
              <a:t>7.</a:t>
            </a:r>
            <a:r>
              <a:rPr lang="en-US" dirty="0"/>
              <a:t> </a:t>
            </a:r>
            <a:r>
              <a:rPr lang="en-US" b="1" dirty="0"/>
              <a:t>Speech Input and Output: </a:t>
            </a:r>
          </a:p>
          <a:p>
            <a:pPr algn="just"/>
            <a:r>
              <a:rPr lang="en-US" dirty="0"/>
              <a:t>Limited use of speech as an input query and speech as an answer to a question or result of a request is becoming commonplace. </a:t>
            </a:r>
            <a:r>
              <a:rPr lang="en-US" dirty="0" err="1"/>
              <a:t>Appli</a:t>
            </a:r>
            <a:r>
              <a:rPr lang="en-US" dirty="0"/>
              <a:t> cations with limited vocabularies, such as inquiries for telephone directory, flight arrival/departure, and credit card account information, are allowing speech for input and output to enable customers to access this information. </a:t>
            </a:r>
            <a:endParaRPr lang="en-IN" b="1" dirty="0"/>
          </a:p>
        </p:txBody>
      </p:sp>
    </p:spTree>
    <p:extLst>
      <p:ext uri="{BB962C8B-B14F-4D97-AF65-F5344CB8AC3E}">
        <p14:creationId xmlns:p14="http://schemas.microsoft.com/office/powerpoint/2010/main" val="29641330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23C0F0-9C3E-7BB1-7A2F-8E5859F323C2}"/>
              </a:ext>
            </a:extLst>
          </p:cNvPr>
          <p:cNvSpPr txBox="1"/>
          <p:nvPr/>
        </p:nvSpPr>
        <p:spPr>
          <a:xfrm>
            <a:off x="549497" y="900276"/>
            <a:ext cx="10912699" cy="2862322"/>
          </a:xfrm>
          <a:prstGeom prst="rect">
            <a:avLst/>
          </a:prstGeom>
          <a:noFill/>
        </p:spPr>
        <p:txBody>
          <a:bodyPr wrap="square">
            <a:spAutoFit/>
          </a:bodyPr>
          <a:lstStyle/>
          <a:p>
            <a:r>
              <a:rPr lang="en-US" b="1" dirty="0"/>
              <a:t>8. Interfaces for Parametric Users: </a:t>
            </a:r>
          </a:p>
          <a:p>
            <a:r>
              <a:rPr lang="en-US" dirty="0"/>
              <a:t>Parametric users, such as bank tellers, often have a small set of operations that they must perform repeatedly.</a:t>
            </a:r>
          </a:p>
          <a:p>
            <a:endParaRPr lang="en-US" dirty="0"/>
          </a:p>
          <a:p>
            <a:r>
              <a:rPr lang="en-US" dirty="0"/>
              <a:t>9. </a:t>
            </a:r>
            <a:r>
              <a:rPr lang="en-US" b="1" dirty="0"/>
              <a:t>Interfaces for the DBA:</a:t>
            </a:r>
          </a:p>
          <a:p>
            <a:r>
              <a:rPr lang="en-US" b="1" dirty="0"/>
              <a:t> </a:t>
            </a:r>
          </a:p>
          <a:p>
            <a:endParaRPr lang="en-US" b="1" dirty="0"/>
          </a:p>
          <a:p>
            <a:r>
              <a:rPr lang="en-US" dirty="0"/>
              <a:t>Most database systems contain privileged commands that can be used only by the DBA staff. These include commands for creating accounts, setting system parameters, granting account authorization, changing a schema, and reorganizing the storage structures of a database.</a:t>
            </a:r>
            <a:endParaRPr lang="en-IN" dirty="0"/>
          </a:p>
        </p:txBody>
      </p:sp>
    </p:spTree>
    <p:extLst>
      <p:ext uri="{BB962C8B-B14F-4D97-AF65-F5344CB8AC3E}">
        <p14:creationId xmlns:p14="http://schemas.microsoft.com/office/powerpoint/2010/main" val="5005937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A5CF84-38F3-2D88-C995-1879F5581E7E}"/>
              </a:ext>
            </a:extLst>
          </p:cNvPr>
          <p:cNvSpPr txBox="1"/>
          <p:nvPr/>
        </p:nvSpPr>
        <p:spPr>
          <a:xfrm>
            <a:off x="547352" y="386366"/>
            <a:ext cx="8595038" cy="369332"/>
          </a:xfrm>
          <a:prstGeom prst="rect">
            <a:avLst/>
          </a:prstGeom>
          <a:noFill/>
        </p:spPr>
        <p:txBody>
          <a:bodyPr wrap="square">
            <a:spAutoFit/>
          </a:bodyPr>
          <a:lstStyle/>
          <a:p>
            <a:r>
              <a:rPr lang="en-IN" dirty="0"/>
              <a:t>The Database System Environment:</a:t>
            </a:r>
          </a:p>
        </p:txBody>
      </p:sp>
      <p:pic>
        <p:nvPicPr>
          <p:cNvPr id="5" name="Picture 4">
            <a:extLst>
              <a:ext uri="{FF2B5EF4-FFF2-40B4-BE49-F238E27FC236}">
                <a16:creationId xmlns:a16="http://schemas.microsoft.com/office/drawing/2014/main" id="{95949936-4A55-3469-A4C9-A1D678B360B1}"/>
              </a:ext>
            </a:extLst>
          </p:cNvPr>
          <p:cNvPicPr>
            <a:picLocks noChangeAspect="1"/>
          </p:cNvPicPr>
          <p:nvPr/>
        </p:nvPicPr>
        <p:blipFill>
          <a:blip r:embed="rId2"/>
          <a:stretch>
            <a:fillRect/>
          </a:stretch>
        </p:blipFill>
        <p:spPr>
          <a:xfrm>
            <a:off x="903624" y="972356"/>
            <a:ext cx="8993789" cy="5608748"/>
          </a:xfrm>
          <a:prstGeom prst="rect">
            <a:avLst/>
          </a:prstGeom>
        </p:spPr>
      </p:pic>
    </p:spTree>
    <p:extLst>
      <p:ext uri="{BB962C8B-B14F-4D97-AF65-F5344CB8AC3E}">
        <p14:creationId xmlns:p14="http://schemas.microsoft.com/office/powerpoint/2010/main" val="36984383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9E97BF3-4B72-671A-BA38-AD704014F68C}"/>
              </a:ext>
            </a:extLst>
          </p:cNvPr>
          <p:cNvSpPr txBox="1"/>
          <p:nvPr/>
        </p:nvSpPr>
        <p:spPr>
          <a:xfrm>
            <a:off x="465719" y="715617"/>
            <a:ext cx="11290852" cy="4622869"/>
          </a:xfrm>
          <a:prstGeom prst="rect">
            <a:avLst/>
          </a:prstGeom>
          <a:noFill/>
        </p:spPr>
        <p:txBody>
          <a:bodyPr wrap="square">
            <a:spAutoFit/>
          </a:bodyPr>
          <a:lstStyle/>
          <a:p>
            <a:pPr algn="just">
              <a:lnSpc>
                <a:spcPct val="150000"/>
              </a:lnSpc>
            </a:pPr>
            <a:r>
              <a:rPr lang="en-US" b="1" dirty="0"/>
              <a:t>The query optimizer </a:t>
            </a:r>
            <a:r>
              <a:rPr lang="en-US" dirty="0"/>
              <a:t>is concerned with the rearrangement and possible reordering of operations, elimination of redundancies, and use of efficient search algorithms during execution. It consults the system catalog for statistical and other physical information about the stored data and generates executable code that performs the necessary operations for the query and makes calls on the runtime processor.</a:t>
            </a:r>
          </a:p>
          <a:p>
            <a:pPr algn="just">
              <a:lnSpc>
                <a:spcPct val="150000"/>
              </a:lnSpc>
            </a:pPr>
            <a:r>
              <a:rPr lang="en-US" dirty="0"/>
              <a:t>A higher-level </a:t>
            </a:r>
            <a:r>
              <a:rPr lang="en-US" b="1" dirty="0"/>
              <a:t>stored data manager </a:t>
            </a:r>
            <a:r>
              <a:rPr lang="en-US" dirty="0"/>
              <a:t>module of the DBMS controls access to DBMS information that is stored on disk, whether it is part of the database or the catalog.</a:t>
            </a:r>
          </a:p>
          <a:p>
            <a:pPr algn="just">
              <a:lnSpc>
                <a:spcPct val="150000"/>
              </a:lnSpc>
            </a:pPr>
            <a:r>
              <a:rPr lang="en-US" b="1" dirty="0"/>
              <a:t>The DBA staff</a:t>
            </a:r>
            <a:r>
              <a:rPr lang="en-US" dirty="0"/>
              <a:t> works on defining the database and tuning it by making changes to its definition using the </a:t>
            </a:r>
            <a:r>
              <a:rPr lang="en-US" b="1" dirty="0"/>
              <a:t>DDL</a:t>
            </a:r>
            <a:r>
              <a:rPr lang="en-US" dirty="0"/>
              <a:t> and other </a:t>
            </a:r>
            <a:r>
              <a:rPr lang="en-US" b="1" dirty="0"/>
              <a:t>privileged commands.</a:t>
            </a:r>
          </a:p>
          <a:p>
            <a:pPr algn="just">
              <a:lnSpc>
                <a:spcPct val="150000"/>
              </a:lnSpc>
            </a:pPr>
            <a:r>
              <a:rPr lang="en-US" dirty="0"/>
              <a:t>The </a:t>
            </a:r>
            <a:r>
              <a:rPr lang="en-US" b="1" dirty="0"/>
              <a:t>DDL compiler processes </a:t>
            </a:r>
            <a:r>
              <a:rPr lang="en-US" dirty="0"/>
              <a:t>schema</a:t>
            </a:r>
            <a:r>
              <a:rPr lang="en-US" b="1" dirty="0"/>
              <a:t> </a:t>
            </a:r>
            <a:r>
              <a:rPr lang="en-US" dirty="0"/>
              <a:t>definitions, specified in the DDL, and stores descriptions of the schemas (meta-data) in the DBMS catalog. The catalog includes information such as the names and sizes of files, names and data types of data items, storage details of each file, mapping information among schemas, and constraints</a:t>
            </a:r>
            <a:endParaRPr lang="en-IN" b="1" dirty="0"/>
          </a:p>
        </p:txBody>
      </p:sp>
    </p:spTree>
    <p:extLst>
      <p:ext uri="{BB962C8B-B14F-4D97-AF65-F5344CB8AC3E}">
        <p14:creationId xmlns:p14="http://schemas.microsoft.com/office/powerpoint/2010/main" val="4245624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8113A0-0C7A-89A9-FC09-9527B81BACCA}"/>
              </a:ext>
            </a:extLst>
          </p:cNvPr>
          <p:cNvSpPr txBox="1"/>
          <p:nvPr/>
        </p:nvSpPr>
        <p:spPr>
          <a:xfrm>
            <a:off x="686274" y="1096144"/>
            <a:ext cx="10819452" cy="4801314"/>
          </a:xfrm>
          <a:prstGeom prst="rect">
            <a:avLst/>
          </a:prstGeom>
          <a:noFill/>
        </p:spPr>
        <p:txBody>
          <a:bodyPr wrap="square">
            <a:spAutoFit/>
          </a:bodyPr>
          <a:lstStyle/>
          <a:p>
            <a:pPr algn="just"/>
            <a:r>
              <a:rPr lang="en-US" b="1" dirty="0"/>
              <a:t>Application programmers </a:t>
            </a:r>
            <a:r>
              <a:rPr lang="en-US" dirty="0"/>
              <a:t>write programs in host languages such as Java, C, or C++ that are submitted to a </a:t>
            </a:r>
            <a:r>
              <a:rPr lang="en-US" dirty="0" err="1"/>
              <a:t>precompiler</a:t>
            </a:r>
            <a:r>
              <a:rPr lang="en-US" dirty="0"/>
              <a:t>.</a:t>
            </a:r>
          </a:p>
          <a:p>
            <a:pPr algn="just"/>
            <a:r>
              <a:rPr lang="en-US" dirty="0"/>
              <a:t> The </a:t>
            </a:r>
            <a:r>
              <a:rPr lang="en-US" dirty="0" err="1"/>
              <a:t>precompiler</a:t>
            </a:r>
            <a:r>
              <a:rPr lang="en-US" dirty="0"/>
              <a:t> extracts DML commands from an application program written in a host programming language. </a:t>
            </a:r>
          </a:p>
          <a:p>
            <a:pPr algn="just"/>
            <a:r>
              <a:rPr lang="en-US" dirty="0"/>
              <a:t>These commands are sent to the DML compiler for compilation into object code for database access. The rest of the program is sent to the host language compiler. </a:t>
            </a:r>
          </a:p>
          <a:p>
            <a:pPr algn="just"/>
            <a:endParaRPr lang="en-US" dirty="0"/>
          </a:p>
          <a:p>
            <a:pPr algn="just"/>
            <a:r>
              <a:rPr lang="en-US" dirty="0"/>
              <a:t>The object codes for the DML commands and the rest of the program are linked, forming a canned transaction whose executable code includes calls to the runtime database processor</a:t>
            </a:r>
            <a:endParaRPr lang="en-US" b="1" dirty="0"/>
          </a:p>
          <a:p>
            <a:pPr algn="just"/>
            <a:endParaRPr lang="en-US" b="1" dirty="0"/>
          </a:p>
          <a:p>
            <a:pPr algn="just"/>
            <a:r>
              <a:rPr lang="en-US" b="1" dirty="0"/>
              <a:t>Runtime database processor: Its  </a:t>
            </a:r>
            <a:r>
              <a:rPr lang="en-US" dirty="0"/>
              <a:t>executes </a:t>
            </a:r>
          </a:p>
          <a:p>
            <a:pPr marL="342900" indent="-342900" algn="just">
              <a:buAutoNum type="arabicParenBoth"/>
            </a:pPr>
            <a:r>
              <a:rPr lang="en-US" dirty="0"/>
              <a:t>the privileged commands,</a:t>
            </a:r>
          </a:p>
          <a:p>
            <a:pPr marL="342900" indent="-342900" algn="just">
              <a:buAutoNum type="arabicParenBoth"/>
            </a:pPr>
            <a:r>
              <a:rPr lang="en-US" dirty="0"/>
              <a:t>  the executable query plans,</a:t>
            </a:r>
          </a:p>
          <a:p>
            <a:pPr algn="just"/>
            <a:r>
              <a:rPr lang="en-US" dirty="0"/>
              <a:t>(3) the canned transactions with runtime parameters.</a:t>
            </a:r>
          </a:p>
          <a:p>
            <a:pPr marL="342900" indent="-342900" algn="just">
              <a:buAutoNum type="arabicParenR" startAt="4"/>
            </a:pPr>
            <a:r>
              <a:rPr lang="en-US" dirty="0"/>
              <a:t>It works with the system catalog and may update it with statistics. </a:t>
            </a:r>
          </a:p>
          <a:p>
            <a:pPr marL="342900" indent="-342900" algn="just">
              <a:buAutoNum type="arabicParenR" startAt="4"/>
            </a:pPr>
            <a:r>
              <a:rPr lang="en-US" dirty="0"/>
              <a:t>It also works with the stored data manager, which in turn uses basic operating system services for carrying out low-level input/output (read/write) operations between the disk and main memory.</a:t>
            </a:r>
            <a:endParaRPr lang="en-IN" dirty="0"/>
          </a:p>
        </p:txBody>
      </p:sp>
    </p:spTree>
    <p:extLst>
      <p:ext uri="{BB962C8B-B14F-4D97-AF65-F5344CB8AC3E}">
        <p14:creationId xmlns:p14="http://schemas.microsoft.com/office/powerpoint/2010/main" val="42796244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1BEB88-B582-94FD-652A-C316B6C15408}"/>
              </a:ext>
            </a:extLst>
          </p:cNvPr>
          <p:cNvSpPr txBox="1"/>
          <p:nvPr/>
        </p:nvSpPr>
        <p:spPr>
          <a:xfrm>
            <a:off x="1209734" y="1050708"/>
            <a:ext cx="10365093" cy="3139321"/>
          </a:xfrm>
          <a:prstGeom prst="rect">
            <a:avLst/>
          </a:prstGeom>
          <a:noFill/>
        </p:spPr>
        <p:txBody>
          <a:bodyPr wrap="square">
            <a:spAutoFit/>
          </a:bodyPr>
          <a:lstStyle/>
          <a:p>
            <a:pPr algn="just"/>
            <a:r>
              <a:rPr lang="en-US" dirty="0"/>
              <a:t>These queries are parsed and validated for correctness of the query syntax, the names of files and data elements, and so on by </a:t>
            </a:r>
            <a:r>
              <a:rPr lang="en-US" b="1" dirty="0"/>
              <a:t>a query compiler </a:t>
            </a:r>
            <a:r>
              <a:rPr lang="en-US" dirty="0"/>
              <a:t>that compiles them into an internal form. This internal query is subjected to query optimization.</a:t>
            </a:r>
          </a:p>
          <a:p>
            <a:pPr algn="just"/>
            <a:endParaRPr lang="en-US" dirty="0"/>
          </a:p>
          <a:p>
            <a:pPr algn="just"/>
            <a:r>
              <a:rPr lang="en-US" dirty="0"/>
              <a:t>The </a:t>
            </a:r>
            <a:r>
              <a:rPr lang="en-US" b="1" dirty="0"/>
              <a:t>client program </a:t>
            </a:r>
            <a:r>
              <a:rPr lang="en-US" dirty="0"/>
              <a:t>that accesses the DBMS running on a separate computer or device from the computer on which the database resides. </a:t>
            </a:r>
          </a:p>
          <a:p>
            <a:pPr algn="just"/>
            <a:endParaRPr lang="en-US" dirty="0"/>
          </a:p>
          <a:p>
            <a:pPr algn="just"/>
            <a:r>
              <a:rPr lang="en-US" dirty="0"/>
              <a:t>The database and the DBMS catalog are usually stored on disk. Access to the disk is controlled primarily by the operating system (OS), which schedules disk read/write. Many DBMSs have their own buffer management module to sched ule disk read/write, because management of buffer storage has a considerable effect on performance. </a:t>
            </a:r>
            <a:endParaRPr lang="en-IN" dirty="0"/>
          </a:p>
        </p:txBody>
      </p:sp>
    </p:spTree>
    <p:extLst>
      <p:ext uri="{BB962C8B-B14F-4D97-AF65-F5344CB8AC3E}">
        <p14:creationId xmlns:p14="http://schemas.microsoft.com/office/powerpoint/2010/main" val="27763076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B50396-C5EA-D233-438A-805D12342CF9}"/>
              </a:ext>
            </a:extLst>
          </p:cNvPr>
          <p:cNvSpPr txBox="1"/>
          <p:nvPr/>
        </p:nvSpPr>
        <p:spPr>
          <a:xfrm>
            <a:off x="883812" y="468936"/>
            <a:ext cx="10636339" cy="2862322"/>
          </a:xfrm>
          <a:prstGeom prst="rect">
            <a:avLst/>
          </a:prstGeom>
          <a:noFill/>
        </p:spPr>
        <p:txBody>
          <a:bodyPr wrap="square">
            <a:spAutoFit/>
          </a:bodyPr>
          <a:lstStyle/>
          <a:p>
            <a:r>
              <a:rPr lang="en-IN" b="1" dirty="0"/>
              <a:t>Database System Utilities</a:t>
            </a:r>
            <a:r>
              <a:rPr lang="en-IN" dirty="0"/>
              <a:t>:</a:t>
            </a:r>
            <a:r>
              <a:rPr lang="en-US" dirty="0"/>
              <a:t> Most DBMSs have database utilities that help the DBA manage the database system. Common utilities have the following types of functions:</a:t>
            </a:r>
          </a:p>
          <a:p>
            <a:endParaRPr lang="en-US" dirty="0"/>
          </a:p>
          <a:p>
            <a:endParaRPr lang="en-IN" dirty="0"/>
          </a:p>
          <a:p>
            <a:pPr marL="285750" indent="-285750" algn="just">
              <a:buFont typeface="Arial" panose="020B0604020202020204" pitchFamily="34" charset="0"/>
              <a:buChar char="•"/>
            </a:pPr>
            <a:r>
              <a:rPr lang="en-IN" dirty="0"/>
              <a:t> Loading data stored in files into a database. Includes data conversion tools.</a:t>
            </a:r>
          </a:p>
          <a:p>
            <a:pPr marL="285750" indent="-285750" algn="just">
              <a:buFont typeface="Arial" panose="020B0604020202020204" pitchFamily="34" charset="0"/>
              <a:buChar char="•"/>
            </a:pPr>
            <a:r>
              <a:rPr lang="en-IN" dirty="0"/>
              <a:t> Backing up the database periodically on tape. </a:t>
            </a:r>
          </a:p>
          <a:p>
            <a:pPr marL="285750" indent="-285750" algn="just">
              <a:buFont typeface="Arial" panose="020B0604020202020204" pitchFamily="34" charset="0"/>
              <a:buChar char="•"/>
            </a:pPr>
            <a:r>
              <a:rPr lang="en-IN" dirty="0"/>
              <a:t> Reorganizing database file structures. </a:t>
            </a:r>
          </a:p>
          <a:p>
            <a:pPr marL="285750" indent="-285750" algn="just">
              <a:buFont typeface="Arial" panose="020B0604020202020204" pitchFamily="34" charset="0"/>
              <a:buChar char="•"/>
            </a:pPr>
            <a:r>
              <a:rPr lang="en-IN" dirty="0"/>
              <a:t>Report generation utilities. </a:t>
            </a:r>
          </a:p>
          <a:p>
            <a:pPr marL="285750" indent="-285750" algn="just">
              <a:buFont typeface="Arial" panose="020B0604020202020204" pitchFamily="34" charset="0"/>
              <a:buChar char="•"/>
            </a:pPr>
            <a:r>
              <a:rPr lang="en-IN" dirty="0"/>
              <a:t>Performance monitoring utilities.</a:t>
            </a:r>
          </a:p>
          <a:p>
            <a:pPr marL="285750" indent="-285750" algn="just">
              <a:buFont typeface="Arial" panose="020B0604020202020204" pitchFamily="34" charset="0"/>
              <a:buChar char="•"/>
            </a:pPr>
            <a:r>
              <a:rPr lang="en-IN" dirty="0"/>
              <a:t> Other functions, such as sorting, user monitoring, data compression, etc. </a:t>
            </a:r>
          </a:p>
        </p:txBody>
      </p:sp>
    </p:spTree>
    <p:extLst>
      <p:ext uri="{BB962C8B-B14F-4D97-AF65-F5344CB8AC3E}">
        <p14:creationId xmlns:p14="http://schemas.microsoft.com/office/powerpoint/2010/main" val="36652370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BC53CF-D87C-06CF-4EBD-BF7014DE2526}"/>
              </a:ext>
            </a:extLst>
          </p:cNvPr>
          <p:cNvSpPr txBox="1"/>
          <p:nvPr/>
        </p:nvSpPr>
        <p:spPr>
          <a:xfrm>
            <a:off x="749694" y="840567"/>
            <a:ext cx="8392696" cy="4801314"/>
          </a:xfrm>
          <a:prstGeom prst="rect">
            <a:avLst/>
          </a:prstGeom>
          <a:noFill/>
        </p:spPr>
        <p:txBody>
          <a:bodyPr wrap="square">
            <a:spAutoFit/>
          </a:bodyPr>
          <a:lstStyle/>
          <a:p>
            <a:r>
              <a:rPr lang="en-IN" b="1" dirty="0"/>
              <a:t>Tools, Application Environments, and Communications Facilities:</a:t>
            </a:r>
          </a:p>
          <a:p>
            <a:endParaRPr lang="en-IN" b="1" dirty="0"/>
          </a:p>
          <a:p>
            <a:r>
              <a:rPr lang="en-US" dirty="0"/>
              <a:t>Data dictionary / repository: Used to store schema descriptions and other information such as design decisions, application program descriptions, user information, usage standards, etc.</a:t>
            </a:r>
          </a:p>
          <a:p>
            <a:endParaRPr lang="en-US" dirty="0"/>
          </a:p>
          <a:p>
            <a:r>
              <a:rPr lang="en-US" dirty="0"/>
              <a:t>  </a:t>
            </a:r>
            <a:r>
              <a:rPr lang="en-US" b="1" dirty="0"/>
              <a:t>Active data dictionary </a:t>
            </a:r>
            <a:r>
              <a:rPr lang="en-US" dirty="0"/>
              <a:t>is accessed by DBMS software and users/DBA.</a:t>
            </a:r>
          </a:p>
          <a:p>
            <a:endParaRPr lang="en-US" dirty="0"/>
          </a:p>
          <a:p>
            <a:r>
              <a:rPr lang="en-US" dirty="0"/>
              <a:t> </a:t>
            </a:r>
            <a:r>
              <a:rPr lang="en-US" b="1" dirty="0"/>
              <a:t>Passive data dictionary </a:t>
            </a:r>
            <a:r>
              <a:rPr lang="en-US" dirty="0"/>
              <a:t>is accessed by users/DBA only.</a:t>
            </a:r>
          </a:p>
          <a:p>
            <a:endParaRPr lang="en-US" b="1" dirty="0"/>
          </a:p>
          <a:p>
            <a:r>
              <a:rPr lang="en-IN" dirty="0"/>
              <a:t>Application Development Environments and CASE (computer-aided software engineering) tools:</a:t>
            </a:r>
          </a:p>
          <a:p>
            <a:r>
              <a:rPr lang="en-IN" dirty="0"/>
              <a:t> Examples: </a:t>
            </a:r>
          </a:p>
          <a:p>
            <a:pPr marL="285750" indent="-285750">
              <a:buFont typeface="Arial" panose="020B0604020202020204" pitchFamily="34" charset="0"/>
              <a:buChar char="•"/>
            </a:pPr>
            <a:r>
              <a:rPr lang="en-IN" dirty="0"/>
              <a:t>PowerBuilder (Sybase) </a:t>
            </a:r>
          </a:p>
          <a:p>
            <a:pPr marL="285750" indent="-285750">
              <a:buFont typeface="Arial" panose="020B0604020202020204" pitchFamily="34" charset="0"/>
              <a:buChar char="•"/>
            </a:pPr>
            <a:r>
              <a:rPr lang="en-IN" dirty="0"/>
              <a:t>JBuilder (Borland) </a:t>
            </a:r>
          </a:p>
          <a:p>
            <a:pPr marL="285750" indent="-285750">
              <a:buFont typeface="Arial" panose="020B0604020202020204" pitchFamily="34" charset="0"/>
              <a:buChar char="•"/>
            </a:pPr>
            <a:r>
              <a:rPr lang="en-IN" dirty="0"/>
              <a:t>JDeveloper 10G (Oracle)</a:t>
            </a:r>
            <a:endParaRPr lang="en-IN" b="1" dirty="0"/>
          </a:p>
          <a:p>
            <a:endParaRPr lang="en-IN" b="1" dirty="0"/>
          </a:p>
        </p:txBody>
      </p:sp>
    </p:spTree>
    <p:extLst>
      <p:ext uri="{BB962C8B-B14F-4D97-AF65-F5344CB8AC3E}">
        <p14:creationId xmlns:p14="http://schemas.microsoft.com/office/powerpoint/2010/main" val="22286069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81C80A-9F3A-EFC3-21F3-3B5AE38F0989}"/>
              </a:ext>
            </a:extLst>
          </p:cNvPr>
          <p:cNvSpPr txBox="1"/>
          <p:nvPr/>
        </p:nvSpPr>
        <p:spPr>
          <a:xfrm>
            <a:off x="749694" y="408924"/>
            <a:ext cx="10632030" cy="3341749"/>
          </a:xfrm>
          <a:prstGeom prst="rect">
            <a:avLst/>
          </a:prstGeom>
          <a:noFill/>
        </p:spPr>
        <p:txBody>
          <a:bodyPr wrap="square">
            <a:spAutoFit/>
          </a:bodyPr>
          <a:lstStyle/>
          <a:p>
            <a:pPr algn="just">
              <a:lnSpc>
                <a:spcPct val="200000"/>
              </a:lnSpc>
            </a:pPr>
            <a:r>
              <a:rPr lang="en-US" dirty="0"/>
              <a:t>The DBMS also needs to interface with </a:t>
            </a:r>
            <a:r>
              <a:rPr lang="en-US" b="1" dirty="0"/>
              <a:t>communications software</a:t>
            </a:r>
            <a:r>
              <a:rPr lang="en-US" dirty="0"/>
              <a:t>, whose function is to allow users at locations remote from the database system site to access the database through computer terminals, workstations, or personal computers. These are connected to the database site through data communications hardware such as Internet routers, phone lines, long-haul networks, local networks, or satellite communication devices. Many commercial database systems have communication packages that work with the DBMS.</a:t>
            </a:r>
            <a:endParaRPr lang="en-IN" dirty="0"/>
          </a:p>
        </p:txBody>
      </p:sp>
    </p:spTree>
    <p:extLst>
      <p:ext uri="{BB962C8B-B14F-4D97-AF65-F5344CB8AC3E}">
        <p14:creationId xmlns:p14="http://schemas.microsoft.com/office/powerpoint/2010/main" val="39534844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9F4523-1FC7-A993-DD48-29D5D7F1A1B2}"/>
              </a:ext>
            </a:extLst>
          </p:cNvPr>
          <p:cNvSpPr txBox="1"/>
          <p:nvPr/>
        </p:nvSpPr>
        <p:spPr>
          <a:xfrm>
            <a:off x="-90872" y="692900"/>
            <a:ext cx="11194300" cy="2031325"/>
          </a:xfrm>
          <a:prstGeom prst="rect">
            <a:avLst/>
          </a:prstGeom>
          <a:noFill/>
        </p:spPr>
        <p:txBody>
          <a:bodyPr wrap="square">
            <a:spAutoFit/>
          </a:bodyPr>
          <a:lstStyle/>
          <a:p>
            <a:r>
              <a:rPr lang="en-US" b="1" dirty="0"/>
              <a:t>Centralized and Client-Server DBMS Architectures:</a:t>
            </a:r>
          </a:p>
          <a:p>
            <a:endParaRPr lang="en-US" dirty="0"/>
          </a:p>
          <a:p>
            <a:r>
              <a:rPr lang="en-US" b="1" dirty="0"/>
              <a:t>Centralized DBMS: </a:t>
            </a:r>
          </a:p>
          <a:p>
            <a:pPr marL="285750" indent="-285750" algn="just">
              <a:buFont typeface="Wingdings" panose="05000000000000000000" pitchFamily="2" charset="2"/>
              <a:buChar char="§"/>
            </a:pPr>
            <a:r>
              <a:rPr lang="en-US" dirty="0"/>
              <a:t>Combines everything into single system including- DBMS software, hardware, application programs, </a:t>
            </a:r>
          </a:p>
          <a:p>
            <a:pPr algn="just"/>
            <a:r>
              <a:rPr lang="en-US" dirty="0"/>
              <a:t>and user interface processing software.</a:t>
            </a:r>
          </a:p>
          <a:p>
            <a:pPr algn="just"/>
            <a:endParaRPr lang="en-US" dirty="0"/>
          </a:p>
          <a:p>
            <a:pPr marL="285750" indent="-285750" algn="just">
              <a:buFont typeface="Wingdings" panose="05000000000000000000" pitchFamily="2" charset="2"/>
              <a:buChar char="§"/>
            </a:pPr>
            <a:r>
              <a:rPr lang="en-US" dirty="0"/>
              <a:t> User can still connect through a remote terminal – however, all processing is done at centralized site. </a:t>
            </a:r>
            <a:endParaRPr lang="en-IN" dirty="0"/>
          </a:p>
        </p:txBody>
      </p:sp>
      <p:pic>
        <p:nvPicPr>
          <p:cNvPr id="5" name="Picture 4">
            <a:extLst>
              <a:ext uri="{FF2B5EF4-FFF2-40B4-BE49-F238E27FC236}">
                <a16:creationId xmlns:a16="http://schemas.microsoft.com/office/drawing/2014/main" id="{5C7C6938-7D24-F0B3-EF69-B3220BDE1C2B}"/>
              </a:ext>
            </a:extLst>
          </p:cNvPr>
          <p:cNvPicPr>
            <a:picLocks noChangeAspect="1"/>
          </p:cNvPicPr>
          <p:nvPr/>
        </p:nvPicPr>
        <p:blipFill>
          <a:blip r:embed="rId2"/>
          <a:stretch>
            <a:fillRect/>
          </a:stretch>
        </p:blipFill>
        <p:spPr>
          <a:xfrm>
            <a:off x="1959428" y="2995881"/>
            <a:ext cx="7576458" cy="3527027"/>
          </a:xfrm>
          <a:prstGeom prst="rect">
            <a:avLst/>
          </a:prstGeom>
        </p:spPr>
      </p:pic>
    </p:spTree>
    <p:extLst>
      <p:ext uri="{BB962C8B-B14F-4D97-AF65-F5344CB8AC3E}">
        <p14:creationId xmlns:p14="http://schemas.microsoft.com/office/powerpoint/2010/main" val="7847029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819ED4-B097-777C-3A98-DF39BBABB1AA}"/>
              </a:ext>
            </a:extLst>
          </p:cNvPr>
          <p:cNvSpPr txBox="1"/>
          <p:nvPr/>
        </p:nvSpPr>
        <p:spPr>
          <a:xfrm>
            <a:off x="704258" y="715617"/>
            <a:ext cx="9746027" cy="3139321"/>
          </a:xfrm>
          <a:prstGeom prst="rect">
            <a:avLst/>
          </a:prstGeom>
          <a:noFill/>
        </p:spPr>
        <p:txBody>
          <a:bodyPr wrap="square">
            <a:spAutoFit/>
          </a:bodyPr>
          <a:lstStyle/>
          <a:p>
            <a:r>
              <a:rPr lang="en-IN" b="1" dirty="0"/>
              <a:t>Basic 2-tier Client-Server Architectures:</a:t>
            </a:r>
          </a:p>
          <a:p>
            <a:endParaRPr lang="en-IN" dirty="0"/>
          </a:p>
          <a:p>
            <a:pPr algn="just"/>
            <a:r>
              <a:rPr lang="en-US" dirty="0"/>
              <a:t>The client/server architecture was developed to deal with computing environments in which a large number of PCs, workstations, file servers, printers, database servers, Web servers, e-mail servers, and other software and equipment are connected via a network. The idea is to define specialized servers with specific functionalities. </a:t>
            </a:r>
          </a:p>
          <a:p>
            <a:pPr algn="just"/>
            <a:r>
              <a:rPr lang="en-US" b="1" dirty="0"/>
              <a:t>For example, </a:t>
            </a:r>
            <a:r>
              <a:rPr lang="en-US" dirty="0"/>
              <a:t>it is possible to connect a number of PCs or small workstations as clients to a </a:t>
            </a:r>
            <a:r>
              <a:rPr lang="en-US" b="1" dirty="0"/>
              <a:t>file server</a:t>
            </a:r>
            <a:r>
              <a:rPr lang="en-US" dirty="0"/>
              <a:t> that maintains the files of the client machines. </a:t>
            </a:r>
          </a:p>
          <a:p>
            <a:pPr algn="just"/>
            <a:r>
              <a:rPr lang="en-US" dirty="0"/>
              <a:t>Another machine can be designated as a </a:t>
            </a:r>
            <a:r>
              <a:rPr lang="en-US" b="1" dirty="0"/>
              <a:t>printer server </a:t>
            </a:r>
            <a:r>
              <a:rPr lang="en-US" dirty="0"/>
              <a:t>by being connected to various printers; all print requests by the clients are forwarded to this machine. </a:t>
            </a:r>
          </a:p>
          <a:p>
            <a:pPr algn="just"/>
            <a:r>
              <a:rPr lang="en-US" b="1" dirty="0"/>
              <a:t>Web servers or e-mail servers </a:t>
            </a:r>
            <a:r>
              <a:rPr lang="en-US" dirty="0"/>
              <a:t>also fall into the specialized server cate gory</a:t>
            </a:r>
            <a:r>
              <a:rPr lang="en-IN" dirty="0"/>
              <a:t> </a:t>
            </a:r>
          </a:p>
        </p:txBody>
      </p:sp>
      <p:pic>
        <p:nvPicPr>
          <p:cNvPr id="5" name="Picture 4">
            <a:extLst>
              <a:ext uri="{FF2B5EF4-FFF2-40B4-BE49-F238E27FC236}">
                <a16:creationId xmlns:a16="http://schemas.microsoft.com/office/drawing/2014/main" id="{8AB20291-5CAB-E9AC-3169-24396D318EF4}"/>
              </a:ext>
            </a:extLst>
          </p:cNvPr>
          <p:cNvPicPr>
            <a:picLocks noChangeAspect="1"/>
          </p:cNvPicPr>
          <p:nvPr/>
        </p:nvPicPr>
        <p:blipFill>
          <a:blip r:embed="rId2"/>
          <a:stretch>
            <a:fillRect/>
          </a:stretch>
        </p:blipFill>
        <p:spPr>
          <a:xfrm>
            <a:off x="361870" y="3935060"/>
            <a:ext cx="10525462" cy="2105092"/>
          </a:xfrm>
          <a:prstGeom prst="rect">
            <a:avLst/>
          </a:prstGeom>
        </p:spPr>
      </p:pic>
    </p:spTree>
    <p:extLst>
      <p:ext uri="{BB962C8B-B14F-4D97-AF65-F5344CB8AC3E}">
        <p14:creationId xmlns:p14="http://schemas.microsoft.com/office/powerpoint/2010/main" val="14075889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0ABE85-EEFE-F21A-BD3E-16B88AA3AE3B}"/>
              </a:ext>
            </a:extLst>
          </p:cNvPr>
          <p:cNvSpPr txBox="1"/>
          <p:nvPr/>
        </p:nvSpPr>
        <p:spPr>
          <a:xfrm>
            <a:off x="681540" y="420284"/>
            <a:ext cx="10149272" cy="4801314"/>
          </a:xfrm>
          <a:prstGeom prst="rect">
            <a:avLst/>
          </a:prstGeom>
          <a:noFill/>
        </p:spPr>
        <p:txBody>
          <a:bodyPr wrap="square">
            <a:spAutoFit/>
          </a:bodyPr>
          <a:lstStyle/>
          <a:p>
            <a:r>
              <a:rPr lang="en-IN" b="1" dirty="0"/>
              <a:t>Clients :</a:t>
            </a:r>
          </a:p>
          <a:p>
            <a:pPr marL="285750" indent="-285750">
              <a:buFont typeface="Wingdings" panose="05000000000000000000" pitchFamily="2" charset="2"/>
              <a:buChar char="§"/>
            </a:pPr>
            <a:r>
              <a:rPr lang="en-US" dirty="0"/>
              <a:t>Provide appropriate interfaces through a client software module to access and utilize the various server resources. </a:t>
            </a:r>
          </a:p>
          <a:p>
            <a:pPr marL="285750" indent="-285750">
              <a:buFont typeface="Wingdings" panose="05000000000000000000" pitchFamily="2" charset="2"/>
              <a:buChar char="§"/>
            </a:pPr>
            <a:r>
              <a:rPr lang="en-US" dirty="0"/>
              <a:t>Clients may be diskless machines or PCs or Workstations with disks with only the client software installed. </a:t>
            </a:r>
          </a:p>
          <a:p>
            <a:pPr marL="285750" indent="-285750">
              <a:buFont typeface="Wingdings" panose="05000000000000000000" pitchFamily="2" charset="2"/>
              <a:buChar char="§"/>
            </a:pPr>
            <a:r>
              <a:rPr lang="en-US" dirty="0"/>
              <a:t> Connected to the servers via some form of a network (LAN: local area network, wireless network, etc.)</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IN" b="1" dirty="0"/>
              <a:t>DBMS Server:</a:t>
            </a:r>
          </a:p>
          <a:p>
            <a:pPr marL="285750" indent="-285750">
              <a:buFont typeface="Wingdings" panose="05000000000000000000" pitchFamily="2" charset="2"/>
              <a:buChar char="§"/>
            </a:pPr>
            <a:r>
              <a:rPr lang="en-IN" dirty="0"/>
              <a:t>Provides database query and transaction services to the clients </a:t>
            </a:r>
          </a:p>
          <a:p>
            <a:pPr marL="285750" indent="-285750">
              <a:buFont typeface="Wingdings" panose="05000000000000000000" pitchFamily="2" charset="2"/>
              <a:buChar char="§"/>
            </a:pPr>
            <a:r>
              <a:rPr lang="en-IN" dirty="0"/>
              <a:t>Relational DBMS servers are often called SQL servers, query servers, or transaction servers</a:t>
            </a:r>
          </a:p>
          <a:p>
            <a:pPr marL="285750" indent="-285750">
              <a:buFont typeface="Wingdings" panose="05000000000000000000" pitchFamily="2" charset="2"/>
              <a:buChar char="§"/>
            </a:pPr>
            <a:r>
              <a:rPr lang="en-IN" dirty="0"/>
              <a:t> Applications running on clients utilize an Application Program Interface (API) to access server databases via standard interface such as:</a:t>
            </a:r>
          </a:p>
          <a:p>
            <a:r>
              <a:rPr lang="en-IN" dirty="0"/>
              <a:t> 	</a:t>
            </a:r>
            <a:r>
              <a:rPr lang="en-IN" b="1" dirty="0"/>
              <a:t>ODBC</a:t>
            </a:r>
            <a:r>
              <a:rPr lang="en-IN" dirty="0"/>
              <a:t>: Open Database Connectivity standard</a:t>
            </a:r>
          </a:p>
          <a:p>
            <a:r>
              <a:rPr lang="en-IN" b="1" dirty="0"/>
              <a:t>	JDBC</a:t>
            </a:r>
            <a:r>
              <a:rPr lang="en-IN" dirty="0"/>
              <a:t>: for Java programming access </a:t>
            </a:r>
          </a:p>
          <a:p>
            <a:pPr marL="285750" indent="-285750">
              <a:buFont typeface="Wingdings" panose="05000000000000000000" pitchFamily="2" charset="2"/>
              <a:buChar char="§"/>
            </a:pPr>
            <a:r>
              <a:rPr lang="en-IN" dirty="0"/>
              <a:t>Client and server must install appropriate client module and server module software for ODBC or JDBC.</a:t>
            </a:r>
            <a:endParaRPr lang="en-IN" b="1" dirty="0"/>
          </a:p>
        </p:txBody>
      </p:sp>
    </p:spTree>
    <p:extLst>
      <p:ext uri="{BB962C8B-B14F-4D97-AF65-F5344CB8AC3E}">
        <p14:creationId xmlns:p14="http://schemas.microsoft.com/office/powerpoint/2010/main" val="42015502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F7AB01-43B4-F73A-6AB2-ED7B03BD3EF4}"/>
              </a:ext>
            </a:extLst>
          </p:cNvPr>
          <p:cNvSpPr txBox="1"/>
          <p:nvPr/>
        </p:nvSpPr>
        <p:spPr>
          <a:xfrm>
            <a:off x="651723" y="530952"/>
            <a:ext cx="8986394" cy="1754326"/>
          </a:xfrm>
          <a:prstGeom prst="rect">
            <a:avLst/>
          </a:prstGeom>
          <a:noFill/>
        </p:spPr>
        <p:txBody>
          <a:bodyPr wrap="square">
            <a:spAutoFit/>
          </a:bodyPr>
          <a:lstStyle/>
          <a:p>
            <a:r>
              <a:rPr lang="en-IN" b="1" dirty="0"/>
              <a:t>Two Tier Client-Server Architecture:</a:t>
            </a:r>
          </a:p>
          <a:p>
            <a:pPr marL="285750" indent="-285750" algn="just">
              <a:buFont typeface="Wingdings" panose="05000000000000000000" pitchFamily="2" charset="2"/>
              <a:buChar char="§"/>
            </a:pPr>
            <a:r>
              <a:rPr lang="en-US" dirty="0"/>
              <a:t>A client program may connect to several DBMSs, sometimes called the data sources. </a:t>
            </a:r>
          </a:p>
          <a:p>
            <a:pPr marL="285750" indent="-285750" algn="just">
              <a:buFont typeface="Wingdings" panose="05000000000000000000" pitchFamily="2" charset="2"/>
              <a:buChar char="§"/>
            </a:pPr>
            <a:r>
              <a:rPr lang="en-US" dirty="0"/>
              <a:t>In general, data sources can be files or other non-DBMS software that manages data. </a:t>
            </a:r>
          </a:p>
          <a:p>
            <a:pPr marL="285750" indent="-285750" algn="just">
              <a:buFont typeface="Wingdings" panose="05000000000000000000" pitchFamily="2" charset="2"/>
              <a:buChar char="§"/>
            </a:pPr>
            <a:r>
              <a:rPr lang="en-US" dirty="0"/>
              <a:t>Other variations of clients are possible: e.g., in some object DBMSs, more functionality is transferred to clients including data dictionary functions, optimization and recovery across multiple servers, etc. </a:t>
            </a:r>
            <a:endParaRPr lang="en-IN" dirty="0"/>
          </a:p>
        </p:txBody>
      </p:sp>
      <p:pic>
        <p:nvPicPr>
          <p:cNvPr id="5" name="Picture 4">
            <a:extLst>
              <a:ext uri="{FF2B5EF4-FFF2-40B4-BE49-F238E27FC236}">
                <a16:creationId xmlns:a16="http://schemas.microsoft.com/office/drawing/2014/main" id="{76F5BFA8-AFB1-2F60-C470-A514BF55A41E}"/>
              </a:ext>
            </a:extLst>
          </p:cNvPr>
          <p:cNvPicPr>
            <a:picLocks noChangeAspect="1"/>
          </p:cNvPicPr>
          <p:nvPr/>
        </p:nvPicPr>
        <p:blipFill>
          <a:blip r:embed="rId2"/>
          <a:stretch>
            <a:fillRect/>
          </a:stretch>
        </p:blipFill>
        <p:spPr>
          <a:xfrm>
            <a:off x="1652735" y="2834782"/>
            <a:ext cx="7233793" cy="3669545"/>
          </a:xfrm>
          <a:prstGeom prst="rect">
            <a:avLst/>
          </a:prstGeom>
        </p:spPr>
      </p:pic>
    </p:spTree>
    <p:extLst>
      <p:ext uri="{BB962C8B-B14F-4D97-AF65-F5344CB8AC3E}">
        <p14:creationId xmlns:p14="http://schemas.microsoft.com/office/powerpoint/2010/main" val="36948187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92B249-926A-EBA3-3459-A9546C97E2AD}"/>
              </a:ext>
            </a:extLst>
          </p:cNvPr>
          <p:cNvSpPr txBox="1"/>
          <p:nvPr/>
        </p:nvSpPr>
        <p:spPr>
          <a:xfrm>
            <a:off x="318052" y="323731"/>
            <a:ext cx="11682738" cy="3416320"/>
          </a:xfrm>
          <a:prstGeom prst="rect">
            <a:avLst/>
          </a:prstGeom>
          <a:noFill/>
        </p:spPr>
        <p:txBody>
          <a:bodyPr wrap="square">
            <a:spAutoFit/>
          </a:bodyPr>
          <a:lstStyle/>
          <a:p>
            <a:r>
              <a:rPr lang="en-US" b="1" dirty="0"/>
              <a:t>Three-Tier and n-Tier Architectures for Web Applications:</a:t>
            </a:r>
          </a:p>
          <a:p>
            <a:pPr marL="285750" indent="-285750">
              <a:buFont typeface="Arial" panose="020B0604020202020204" pitchFamily="34" charset="0"/>
              <a:buChar char="•"/>
            </a:pPr>
            <a:r>
              <a:rPr lang="en-US" b="1" dirty="0"/>
              <a:t>Common for Web applications</a:t>
            </a:r>
          </a:p>
          <a:p>
            <a:pPr marL="285750" indent="-285750">
              <a:buFont typeface="Arial" panose="020B0604020202020204" pitchFamily="34" charset="0"/>
              <a:buChar char="•"/>
            </a:pPr>
            <a:r>
              <a:rPr lang="en-US" b="1" dirty="0"/>
              <a:t> Intermediate Layer called Application Server or Web Server: </a:t>
            </a:r>
          </a:p>
          <a:p>
            <a:pPr marL="285750" indent="-285750">
              <a:buFont typeface="Arial" panose="020B0604020202020204" pitchFamily="34" charset="0"/>
              <a:buChar char="•"/>
            </a:pPr>
            <a:endParaRPr lang="en-US" dirty="0"/>
          </a:p>
          <a:p>
            <a:r>
              <a:rPr lang="en-US" dirty="0"/>
              <a:t>a)Stores the web connectivity software and the business logic part of the application used to access the corresponding data from the database server .</a:t>
            </a:r>
          </a:p>
          <a:p>
            <a:r>
              <a:rPr lang="en-US" dirty="0"/>
              <a:t>b)Acts like a conduit for sending partially processed data between the database server and the client.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Three-tier Architecture Can Enhance Security: </a:t>
            </a:r>
          </a:p>
          <a:p>
            <a:r>
              <a:rPr lang="en-US" dirty="0"/>
              <a:t> a)Database server only accessible via middle tier</a:t>
            </a:r>
          </a:p>
          <a:p>
            <a:r>
              <a:rPr lang="en-US" dirty="0"/>
              <a:t> b)Clients cannot directly access database server </a:t>
            </a:r>
            <a:endParaRPr lang="en-IN" dirty="0"/>
          </a:p>
          <a:p>
            <a:endParaRPr lang="en-IN" b="1" dirty="0"/>
          </a:p>
        </p:txBody>
      </p:sp>
      <p:pic>
        <p:nvPicPr>
          <p:cNvPr id="5" name="Picture 4">
            <a:extLst>
              <a:ext uri="{FF2B5EF4-FFF2-40B4-BE49-F238E27FC236}">
                <a16:creationId xmlns:a16="http://schemas.microsoft.com/office/drawing/2014/main" id="{B300EC76-CC88-0F95-F76E-EAC2207F0B53}"/>
              </a:ext>
            </a:extLst>
          </p:cNvPr>
          <p:cNvPicPr>
            <a:picLocks noChangeAspect="1"/>
          </p:cNvPicPr>
          <p:nvPr/>
        </p:nvPicPr>
        <p:blipFill>
          <a:blip r:embed="rId2"/>
          <a:stretch>
            <a:fillRect/>
          </a:stretch>
        </p:blipFill>
        <p:spPr>
          <a:xfrm>
            <a:off x="3061252" y="3629653"/>
            <a:ext cx="8371587" cy="2688141"/>
          </a:xfrm>
          <a:prstGeom prst="rect">
            <a:avLst/>
          </a:prstGeom>
        </p:spPr>
      </p:pic>
    </p:spTree>
    <p:extLst>
      <p:ext uri="{BB962C8B-B14F-4D97-AF65-F5344CB8AC3E}">
        <p14:creationId xmlns:p14="http://schemas.microsoft.com/office/powerpoint/2010/main" val="9415045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2295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477A84-0D86-4243-99AB-64A5FAD507AB}"/>
              </a:ext>
            </a:extLst>
          </p:cNvPr>
          <p:cNvPicPr>
            <a:picLocks noChangeAspect="1"/>
          </p:cNvPicPr>
          <p:nvPr/>
        </p:nvPicPr>
        <p:blipFill>
          <a:blip r:embed="rId2"/>
          <a:stretch>
            <a:fillRect/>
          </a:stretch>
        </p:blipFill>
        <p:spPr>
          <a:xfrm>
            <a:off x="759124" y="58606"/>
            <a:ext cx="11219516" cy="6799393"/>
          </a:xfrm>
          <a:prstGeom prst="rect">
            <a:avLst/>
          </a:prstGeom>
        </p:spPr>
      </p:pic>
    </p:spTree>
    <p:extLst>
      <p:ext uri="{BB962C8B-B14F-4D97-AF65-F5344CB8AC3E}">
        <p14:creationId xmlns:p14="http://schemas.microsoft.com/office/powerpoint/2010/main" val="27093676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DC47BD-9D02-1EA5-91BB-69E2A805FAB1}"/>
              </a:ext>
            </a:extLst>
          </p:cNvPr>
          <p:cNvSpPr txBox="1"/>
          <p:nvPr/>
        </p:nvSpPr>
        <p:spPr>
          <a:xfrm>
            <a:off x="4152182" y="2100379"/>
            <a:ext cx="6096000" cy="1200329"/>
          </a:xfrm>
          <a:prstGeom prst="rect">
            <a:avLst/>
          </a:prstGeom>
          <a:noFill/>
        </p:spPr>
        <p:txBody>
          <a:bodyPr wrap="square">
            <a:spAutoFit/>
          </a:bodyPr>
          <a:lstStyle/>
          <a:p>
            <a:r>
              <a:rPr lang="en-US" sz="7200" dirty="0"/>
              <a:t>E-R  Model</a:t>
            </a:r>
            <a:endParaRPr lang="en-IN" sz="7200" dirty="0"/>
          </a:p>
        </p:txBody>
      </p:sp>
    </p:spTree>
    <p:extLst>
      <p:ext uri="{BB962C8B-B14F-4D97-AF65-F5344CB8AC3E}">
        <p14:creationId xmlns:p14="http://schemas.microsoft.com/office/powerpoint/2010/main" val="8106458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0B95BC-DDF9-B959-40D8-F3AD7FD28451}"/>
              </a:ext>
            </a:extLst>
          </p:cNvPr>
          <p:cNvSpPr txBox="1"/>
          <p:nvPr/>
        </p:nvSpPr>
        <p:spPr>
          <a:xfrm>
            <a:off x="442822" y="629091"/>
            <a:ext cx="6096000" cy="646331"/>
          </a:xfrm>
          <a:prstGeom prst="rect">
            <a:avLst/>
          </a:prstGeom>
          <a:noFill/>
        </p:spPr>
        <p:txBody>
          <a:bodyPr wrap="square">
            <a:spAutoFit/>
          </a:bodyPr>
          <a:lstStyle/>
          <a:p>
            <a:r>
              <a:rPr lang="en-US" b="1"/>
              <a:t>Data modeling Using ER Model:</a:t>
            </a:r>
          </a:p>
          <a:p>
            <a:endParaRPr lang="en-IN" dirty="0"/>
          </a:p>
        </p:txBody>
      </p:sp>
      <p:sp>
        <p:nvSpPr>
          <p:cNvPr id="4" name="TextBox 3">
            <a:extLst>
              <a:ext uri="{FF2B5EF4-FFF2-40B4-BE49-F238E27FC236}">
                <a16:creationId xmlns:a16="http://schemas.microsoft.com/office/drawing/2014/main" id="{949E6EAA-842A-91A5-4848-6973BA61A16D}"/>
              </a:ext>
            </a:extLst>
          </p:cNvPr>
          <p:cNvSpPr txBox="1"/>
          <p:nvPr/>
        </p:nvSpPr>
        <p:spPr>
          <a:xfrm>
            <a:off x="442822" y="1449238"/>
            <a:ext cx="11467382" cy="5078313"/>
          </a:xfrm>
          <a:prstGeom prst="rect">
            <a:avLst/>
          </a:prstGeom>
          <a:noFill/>
        </p:spPr>
        <p:txBody>
          <a:bodyPr wrap="square">
            <a:spAutoFit/>
          </a:bodyPr>
          <a:lstStyle/>
          <a:p>
            <a:pPr marL="285750" indent="-285750">
              <a:buFont typeface="Wingdings" panose="05000000000000000000" pitchFamily="2" charset="2"/>
              <a:buChar char="Ø"/>
            </a:pPr>
            <a:r>
              <a:rPr lang="en-US" dirty="0"/>
              <a:t>This  is a popular high-level conceptual data model. This model and its variations are frequently used for the conceptual design of database applications.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conceptual schema is a concise description of the data requirements of the users and includes detailed descriptions of the entity types, relationships, and constraints.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These are expressed using the concepts provided by the high-level data model.</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E-R Model concept do not include implementation details, they are usually easier to understand and can be used to communicate with nontechnical users.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high-level conceptual schema can also be used as a reference to ensure that all users’ data requirements are met and that the requirements do not conflict.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a:t>
            </a:r>
            <a:r>
              <a:rPr lang="en-US" b="1" dirty="0"/>
              <a:t>next step </a:t>
            </a:r>
            <a:r>
              <a:rPr lang="en-US" dirty="0"/>
              <a:t>in database design is the actual implementation of the database, using a commercial DBMS ex. Relational or the object-relational database model.</a:t>
            </a:r>
          </a:p>
          <a:p>
            <a:endParaRPr lang="en-IN" dirty="0"/>
          </a:p>
        </p:txBody>
      </p:sp>
    </p:spTree>
    <p:extLst>
      <p:ext uri="{BB962C8B-B14F-4D97-AF65-F5344CB8AC3E}">
        <p14:creationId xmlns:p14="http://schemas.microsoft.com/office/powerpoint/2010/main" val="29685393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AFFD4A-6055-52AC-669A-607745C40EE2}"/>
              </a:ext>
            </a:extLst>
          </p:cNvPr>
          <p:cNvSpPr txBox="1"/>
          <p:nvPr/>
        </p:nvSpPr>
        <p:spPr>
          <a:xfrm>
            <a:off x="471577" y="500332"/>
            <a:ext cx="11214340" cy="2308324"/>
          </a:xfrm>
          <a:prstGeom prst="rect">
            <a:avLst/>
          </a:prstGeom>
          <a:noFill/>
        </p:spPr>
        <p:txBody>
          <a:bodyPr wrap="square">
            <a:spAutoFit/>
          </a:bodyPr>
          <a:lstStyle/>
          <a:p>
            <a:pPr marL="285750" indent="-285750">
              <a:buFont typeface="Wingdings" panose="05000000000000000000" pitchFamily="2" charset="2"/>
              <a:buChar char="Ø"/>
            </a:pPr>
            <a:r>
              <a:rPr lang="en-US" dirty="0"/>
              <a:t>The conceptual schema is transformed from the high-level data model into the implementation data model. This step is called logical design or data model mapping.</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last step is the physical design phase, during which the internal storage structures, file organizations, indexes, access paths, and physical design parameters for the database files are specified.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And </a:t>
            </a:r>
            <a:r>
              <a:rPr lang="en-US" b="1" dirty="0"/>
              <a:t>application programs </a:t>
            </a:r>
            <a:r>
              <a:rPr lang="en-US" dirty="0"/>
              <a:t>are designed and implemented as database transactions corresponding to the high level transaction specifications.</a:t>
            </a:r>
            <a:endParaRPr lang="en-IN" dirty="0"/>
          </a:p>
        </p:txBody>
      </p:sp>
      <p:sp>
        <p:nvSpPr>
          <p:cNvPr id="4" name="Rectangle 3">
            <a:extLst>
              <a:ext uri="{FF2B5EF4-FFF2-40B4-BE49-F238E27FC236}">
                <a16:creationId xmlns:a16="http://schemas.microsoft.com/office/drawing/2014/main" id="{ECDBA818-272D-3664-B59A-56228CABF358}"/>
              </a:ext>
            </a:extLst>
          </p:cNvPr>
          <p:cNvSpPr/>
          <p:nvPr/>
        </p:nvSpPr>
        <p:spPr>
          <a:xfrm>
            <a:off x="3485072" y="3249283"/>
            <a:ext cx="2329132"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High level Design</a:t>
            </a:r>
            <a:endParaRPr lang="en-IN" dirty="0"/>
          </a:p>
        </p:txBody>
      </p:sp>
      <p:sp>
        <p:nvSpPr>
          <p:cNvPr id="6" name="Rectangle 5">
            <a:extLst>
              <a:ext uri="{FF2B5EF4-FFF2-40B4-BE49-F238E27FC236}">
                <a16:creationId xmlns:a16="http://schemas.microsoft.com/office/drawing/2014/main" id="{9985F374-3022-4D1A-A9B8-9C6203DD0F3B}"/>
              </a:ext>
            </a:extLst>
          </p:cNvPr>
          <p:cNvSpPr/>
          <p:nvPr/>
        </p:nvSpPr>
        <p:spPr>
          <a:xfrm>
            <a:off x="3485071" y="5682612"/>
            <a:ext cx="232913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Physical Design</a:t>
            </a:r>
            <a:endParaRPr lang="en-IN" dirty="0"/>
          </a:p>
        </p:txBody>
      </p:sp>
      <p:sp>
        <p:nvSpPr>
          <p:cNvPr id="7" name="Rectangle 6">
            <a:extLst>
              <a:ext uri="{FF2B5EF4-FFF2-40B4-BE49-F238E27FC236}">
                <a16:creationId xmlns:a16="http://schemas.microsoft.com/office/drawing/2014/main" id="{6026901B-3E5D-8B35-9E03-A1A021C8C57C}"/>
              </a:ext>
            </a:extLst>
          </p:cNvPr>
          <p:cNvSpPr/>
          <p:nvPr/>
        </p:nvSpPr>
        <p:spPr>
          <a:xfrm>
            <a:off x="3485071" y="4465947"/>
            <a:ext cx="232913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Logical Design/ Data Modeling mapping</a:t>
            </a:r>
            <a:endParaRPr lang="en-IN" dirty="0"/>
          </a:p>
        </p:txBody>
      </p:sp>
      <p:sp>
        <p:nvSpPr>
          <p:cNvPr id="9" name="TextBox 8">
            <a:extLst>
              <a:ext uri="{FF2B5EF4-FFF2-40B4-BE49-F238E27FC236}">
                <a16:creationId xmlns:a16="http://schemas.microsoft.com/office/drawing/2014/main" id="{8303378B-56B6-44A6-BBB8-1E87BEB25FDE}"/>
              </a:ext>
            </a:extLst>
          </p:cNvPr>
          <p:cNvSpPr txBox="1"/>
          <p:nvPr/>
        </p:nvSpPr>
        <p:spPr>
          <a:xfrm>
            <a:off x="6377798" y="3220528"/>
            <a:ext cx="1046670" cy="646331"/>
          </a:xfrm>
          <a:prstGeom prst="rect">
            <a:avLst/>
          </a:prstGeom>
          <a:noFill/>
        </p:spPr>
        <p:txBody>
          <a:bodyPr wrap="square">
            <a:spAutoFit/>
          </a:bodyPr>
          <a:lstStyle/>
          <a:p>
            <a:r>
              <a:rPr lang="en-US" dirty="0"/>
              <a:t>E-R model</a:t>
            </a:r>
            <a:endParaRPr lang="en-IN" dirty="0"/>
          </a:p>
        </p:txBody>
      </p:sp>
      <p:sp>
        <p:nvSpPr>
          <p:cNvPr id="11" name="TextBox 10">
            <a:extLst>
              <a:ext uri="{FF2B5EF4-FFF2-40B4-BE49-F238E27FC236}">
                <a16:creationId xmlns:a16="http://schemas.microsoft.com/office/drawing/2014/main" id="{1FC5D1A5-B314-969C-C5B6-AF3F0B542570}"/>
              </a:ext>
            </a:extLst>
          </p:cNvPr>
          <p:cNvSpPr txBox="1"/>
          <p:nvPr/>
        </p:nvSpPr>
        <p:spPr>
          <a:xfrm>
            <a:off x="6377798" y="4457017"/>
            <a:ext cx="1426235" cy="923330"/>
          </a:xfrm>
          <a:prstGeom prst="rect">
            <a:avLst/>
          </a:prstGeom>
          <a:noFill/>
        </p:spPr>
        <p:txBody>
          <a:bodyPr wrap="square">
            <a:spAutoFit/>
          </a:bodyPr>
          <a:lstStyle/>
          <a:p>
            <a:r>
              <a:rPr lang="en-US" dirty="0"/>
              <a:t>Relational or Object Model</a:t>
            </a:r>
            <a:endParaRPr lang="en-IN" dirty="0"/>
          </a:p>
        </p:txBody>
      </p:sp>
      <p:sp>
        <p:nvSpPr>
          <p:cNvPr id="13" name="TextBox 12">
            <a:extLst>
              <a:ext uri="{FF2B5EF4-FFF2-40B4-BE49-F238E27FC236}">
                <a16:creationId xmlns:a16="http://schemas.microsoft.com/office/drawing/2014/main" id="{0FA61916-C459-F50C-54E7-54A12F8E4609}"/>
              </a:ext>
            </a:extLst>
          </p:cNvPr>
          <p:cNvSpPr txBox="1"/>
          <p:nvPr/>
        </p:nvSpPr>
        <p:spPr>
          <a:xfrm>
            <a:off x="6377798" y="6029228"/>
            <a:ext cx="2593673" cy="646331"/>
          </a:xfrm>
          <a:prstGeom prst="rect">
            <a:avLst/>
          </a:prstGeom>
          <a:noFill/>
        </p:spPr>
        <p:txBody>
          <a:bodyPr wrap="square">
            <a:spAutoFit/>
          </a:bodyPr>
          <a:lstStyle/>
          <a:p>
            <a:r>
              <a:rPr lang="en-US" dirty="0"/>
              <a:t>Internal Storage Structure</a:t>
            </a:r>
            <a:endParaRPr lang="en-IN" dirty="0"/>
          </a:p>
        </p:txBody>
      </p:sp>
      <p:cxnSp>
        <p:nvCxnSpPr>
          <p:cNvPr id="18" name="Connector: Elbow 17">
            <a:extLst>
              <a:ext uri="{FF2B5EF4-FFF2-40B4-BE49-F238E27FC236}">
                <a16:creationId xmlns:a16="http://schemas.microsoft.com/office/drawing/2014/main" id="{0E0154D0-09E9-4CB8-FC7C-B212B9A2561A}"/>
              </a:ext>
            </a:extLst>
          </p:cNvPr>
          <p:cNvCxnSpPr>
            <a:stCxn id="4" idx="3"/>
            <a:endCxn id="7" idx="3"/>
          </p:cNvCxnSpPr>
          <p:nvPr/>
        </p:nvCxnSpPr>
        <p:spPr>
          <a:xfrm flipH="1">
            <a:off x="5814202" y="3706483"/>
            <a:ext cx="2" cy="1216664"/>
          </a:xfrm>
          <a:prstGeom prst="bentConnector3">
            <a:avLst>
              <a:gd name="adj1" fmla="val -114300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FAB76240-4BEC-9924-EA9A-CE33B85B56DE}"/>
              </a:ext>
            </a:extLst>
          </p:cNvPr>
          <p:cNvCxnSpPr/>
          <p:nvPr/>
        </p:nvCxnSpPr>
        <p:spPr>
          <a:xfrm flipH="1">
            <a:off x="5811325" y="5103151"/>
            <a:ext cx="2" cy="1005507"/>
          </a:xfrm>
          <a:prstGeom prst="bentConnector3">
            <a:avLst>
              <a:gd name="adj1" fmla="val -1143000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F9E646E-273E-363D-30AA-ED8193866F6D}"/>
              </a:ext>
            </a:extLst>
          </p:cNvPr>
          <p:cNvSpPr txBox="1"/>
          <p:nvPr/>
        </p:nvSpPr>
        <p:spPr>
          <a:xfrm>
            <a:off x="526472" y="3497527"/>
            <a:ext cx="1823259" cy="369332"/>
          </a:xfrm>
          <a:prstGeom prst="rect">
            <a:avLst/>
          </a:prstGeom>
          <a:noFill/>
        </p:spPr>
        <p:txBody>
          <a:bodyPr wrap="square">
            <a:spAutoFit/>
          </a:bodyPr>
          <a:lstStyle/>
          <a:p>
            <a:r>
              <a:rPr lang="en-US" b="1" dirty="0"/>
              <a:t>Phase-1</a:t>
            </a:r>
            <a:endParaRPr lang="en-IN" dirty="0"/>
          </a:p>
        </p:txBody>
      </p:sp>
      <p:sp>
        <p:nvSpPr>
          <p:cNvPr id="24" name="TextBox 23">
            <a:extLst>
              <a:ext uri="{FF2B5EF4-FFF2-40B4-BE49-F238E27FC236}">
                <a16:creationId xmlns:a16="http://schemas.microsoft.com/office/drawing/2014/main" id="{BE00D2C2-AD27-C027-D566-D3DB6F06BFB9}"/>
              </a:ext>
            </a:extLst>
          </p:cNvPr>
          <p:cNvSpPr txBox="1"/>
          <p:nvPr/>
        </p:nvSpPr>
        <p:spPr>
          <a:xfrm>
            <a:off x="570807" y="4733819"/>
            <a:ext cx="1219200" cy="369332"/>
          </a:xfrm>
          <a:prstGeom prst="rect">
            <a:avLst/>
          </a:prstGeom>
          <a:noFill/>
        </p:spPr>
        <p:txBody>
          <a:bodyPr wrap="square">
            <a:spAutoFit/>
          </a:bodyPr>
          <a:lstStyle/>
          <a:p>
            <a:r>
              <a:rPr lang="en-US" b="1" dirty="0"/>
              <a:t>Phase-2</a:t>
            </a:r>
            <a:endParaRPr lang="en-IN" dirty="0"/>
          </a:p>
        </p:txBody>
      </p:sp>
      <p:sp>
        <p:nvSpPr>
          <p:cNvPr id="26" name="TextBox 25">
            <a:extLst>
              <a:ext uri="{FF2B5EF4-FFF2-40B4-BE49-F238E27FC236}">
                <a16:creationId xmlns:a16="http://schemas.microsoft.com/office/drawing/2014/main" id="{686688B0-2937-AA1C-C8AA-5B31CD5BE1A8}"/>
              </a:ext>
            </a:extLst>
          </p:cNvPr>
          <p:cNvSpPr txBox="1"/>
          <p:nvPr/>
        </p:nvSpPr>
        <p:spPr>
          <a:xfrm>
            <a:off x="570807" y="5923992"/>
            <a:ext cx="1668087" cy="369332"/>
          </a:xfrm>
          <a:prstGeom prst="rect">
            <a:avLst/>
          </a:prstGeom>
          <a:noFill/>
        </p:spPr>
        <p:txBody>
          <a:bodyPr wrap="square">
            <a:spAutoFit/>
          </a:bodyPr>
          <a:lstStyle/>
          <a:p>
            <a:r>
              <a:rPr lang="en-US" b="1" dirty="0"/>
              <a:t>Phase-3</a:t>
            </a:r>
            <a:endParaRPr lang="en-IN" dirty="0"/>
          </a:p>
        </p:txBody>
      </p:sp>
    </p:spTree>
    <p:extLst>
      <p:ext uri="{BB962C8B-B14F-4D97-AF65-F5344CB8AC3E}">
        <p14:creationId xmlns:p14="http://schemas.microsoft.com/office/powerpoint/2010/main" val="574836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61500E-0AA5-D141-A5F4-AFF63D0ABB5E}"/>
              </a:ext>
            </a:extLst>
          </p:cNvPr>
          <p:cNvPicPr>
            <a:picLocks noChangeAspect="1"/>
          </p:cNvPicPr>
          <p:nvPr/>
        </p:nvPicPr>
        <p:blipFill>
          <a:blip r:embed="rId2"/>
          <a:stretch>
            <a:fillRect/>
          </a:stretch>
        </p:blipFill>
        <p:spPr>
          <a:xfrm>
            <a:off x="764875" y="0"/>
            <a:ext cx="10292834" cy="6858000"/>
          </a:xfrm>
          <a:prstGeom prst="rect">
            <a:avLst/>
          </a:prstGeom>
        </p:spPr>
      </p:pic>
    </p:spTree>
    <p:extLst>
      <p:ext uri="{BB962C8B-B14F-4D97-AF65-F5344CB8AC3E}">
        <p14:creationId xmlns:p14="http://schemas.microsoft.com/office/powerpoint/2010/main" val="32462596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0B95BC-DDF9-B959-40D8-F3AD7FD28451}"/>
              </a:ext>
            </a:extLst>
          </p:cNvPr>
          <p:cNvSpPr txBox="1"/>
          <p:nvPr/>
        </p:nvSpPr>
        <p:spPr>
          <a:xfrm>
            <a:off x="442821" y="629091"/>
            <a:ext cx="11231205" cy="3970318"/>
          </a:xfrm>
          <a:prstGeom prst="rect">
            <a:avLst/>
          </a:prstGeom>
          <a:noFill/>
        </p:spPr>
        <p:txBody>
          <a:bodyPr wrap="square">
            <a:spAutoFit/>
          </a:bodyPr>
          <a:lstStyle/>
          <a:p>
            <a:r>
              <a:rPr lang="en-US" b="1" dirty="0"/>
              <a:t>Entity- Relationship Diagram:</a:t>
            </a:r>
          </a:p>
          <a:p>
            <a:endParaRPr lang="en-US" b="1" i="0" dirty="0">
              <a:solidFill>
                <a:srgbClr val="222426"/>
              </a:solidFill>
              <a:effectLst/>
              <a:highlight>
                <a:srgbClr val="FFFFFF"/>
              </a:highlight>
              <a:latin typeface="Roboto" panose="020F0502020204030204" pitchFamily="2" charset="0"/>
            </a:endParaRPr>
          </a:p>
          <a:p>
            <a:endParaRPr lang="en-US" b="1" dirty="0">
              <a:solidFill>
                <a:srgbClr val="222426"/>
              </a:solidFill>
              <a:highlight>
                <a:srgbClr val="FFFFFF"/>
              </a:highlight>
              <a:latin typeface="Roboto" panose="020F0502020204030204" pitchFamily="2" charset="0"/>
            </a:endParaRPr>
          </a:p>
          <a:p>
            <a:r>
              <a:rPr lang="en-US" b="0" i="0" dirty="0">
                <a:solidFill>
                  <a:srgbClr val="222426"/>
                </a:solidFill>
                <a:effectLst/>
                <a:highlight>
                  <a:srgbClr val="FFFFFF"/>
                </a:highlight>
                <a:latin typeface="Roboto" panose="020F0502020204030204" pitchFamily="2" charset="0"/>
              </a:rPr>
              <a:t>An </a:t>
            </a:r>
            <a:r>
              <a:rPr lang="en-US" b="1" i="0" dirty="0">
                <a:solidFill>
                  <a:srgbClr val="222426"/>
                </a:solidFill>
                <a:effectLst/>
                <a:highlight>
                  <a:srgbClr val="FFFFFF"/>
                </a:highlight>
                <a:latin typeface="Roboto" panose="020F0502020204030204" pitchFamily="2" charset="0"/>
              </a:rPr>
              <a:t>Entity–relationship model (ER model)</a:t>
            </a:r>
            <a:r>
              <a:rPr lang="en-US" b="0" i="0" dirty="0">
                <a:solidFill>
                  <a:srgbClr val="222426"/>
                </a:solidFill>
                <a:effectLst/>
                <a:highlight>
                  <a:srgbClr val="FFFFFF"/>
                </a:highlight>
                <a:latin typeface="Roboto" panose="020F0502020204030204" pitchFamily="2" charset="0"/>
              </a:rPr>
              <a:t> describes the structure of a database with the help of a diagram, which is known as </a:t>
            </a:r>
            <a:r>
              <a:rPr lang="en-US" b="1" i="0" dirty="0">
                <a:solidFill>
                  <a:srgbClr val="222426"/>
                </a:solidFill>
                <a:effectLst/>
                <a:highlight>
                  <a:srgbClr val="FFFFFF"/>
                </a:highlight>
                <a:latin typeface="Roboto" panose="020F0502020204030204" pitchFamily="2" charset="0"/>
              </a:rPr>
              <a:t>Entity Relationship Diagram (ER Diagram)</a:t>
            </a:r>
            <a:r>
              <a:rPr lang="en-US" b="0" i="0" dirty="0">
                <a:solidFill>
                  <a:srgbClr val="222426"/>
                </a:solidFill>
                <a:effectLst/>
                <a:highlight>
                  <a:srgbClr val="FFFFFF"/>
                </a:highlight>
                <a:latin typeface="Roboto" panose="020F0502020204030204" pitchFamily="2" charset="0"/>
              </a:rPr>
              <a:t>. </a:t>
            </a:r>
          </a:p>
          <a:p>
            <a:endParaRPr lang="en-US" dirty="0">
              <a:solidFill>
                <a:srgbClr val="222426"/>
              </a:solidFill>
              <a:highlight>
                <a:srgbClr val="FFFFFF"/>
              </a:highlight>
              <a:latin typeface="Roboto" panose="020F0502020204030204" pitchFamily="2" charset="0"/>
            </a:endParaRPr>
          </a:p>
          <a:p>
            <a:r>
              <a:rPr lang="en-US" b="0" i="0" dirty="0">
                <a:solidFill>
                  <a:srgbClr val="222426"/>
                </a:solidFill>
                <a:effectLst/>
                <a:highlight>
                  <a:srgbClr val="FFFFFF"/>
                </a:highlight>
                <a:latin typeface="Roboto" panose="020F0502020204030204" pitchFamily="2" charset="0"/>
              </a:rPr>
              <a:t>An ER model is a design or blueprint of a database that can later be implemented as a database. </a:t>
            </a:r>
          </a:p>
          <a:p>
            <a:endParaRPr lang="en-US" dirty="0">
              <a:solidFill>
                <a:srgbClr val="222426"/>
              </a:solidFill>
              <a:highlight>
                <a:srgbClr val="FFFFFF"/>
              </a:highlight>
              <a:latin typeface="Roboto" panose="020F0502020204030204" pitchFamily="2" charset="0"/>
            </a:endParaRPr>
          </a:p>
          <a:p>
            <a:endParaRPr lang="en-US" b="0" i="0" dirty="0">
              <a:solidFill>
                <a:srgbClr val="222426"/>
              </a:solidFill>
              <a:effectLst/>
              <a:highlight>
                <a:srgbClr val="FFFFFF"/>
              </a:highlight>
              <a:latin typeface="Roboto" panose="020F0502020204030204" pitchFamily="2" charset="0"/>
            </a:endParaRPr>
          </a:p>
          <a:p>
            <a:r>
              <a:rPr lang="en-US" b="0" i="0" dirty="0">
                <a:solidFill>
                  <a:srgbClr val="222426"/>
                </a:solidFill>
                <a:effectLst/>
                <a:highlight>
                  <a:srgbClr val="FFFFFF"/>
                </a:highlight>
                <a:latin typeface="Roboto" panose="020F0502020204030204" pitchFamily="2" charset="0"/>
              </a:rPr>
              <a:t>The main components of E-R  Diagram are:</a:t>
            </a:r>
          </a:p>
          <a:p>
            <a:endParaRPr lang="en-US" dirty="0">
              <a:solidFill>
                <a:srgbClr val="222426"/>
              </a:solidFill>
              <a:highlight>
                <a:srgbClr val="FFFFFF"/>
              </a:highlight>
              <a:latin typeface="Roboto" panose="020F0502020204030204" pitchFamily="2" charset="0"/>
            </a:endParaRPr>
          </a:p>
          <a:p>
            <a:pPr marL="342900" indent="-342900">
              <a:buAutoNum type="arabicParenR"/>
            </a:pPr>
            <a:r>
              <a:rPr lang="en-US" dirty="0">
                <a:solidFill>
                  <a:srgbClr val="222426"/>
                </a:solidFill>
                <a:highlight>
                  <a:srgbClr val="FFFFFF"/>
                </a:highlight>
                <a:latin typeface="Roboto" panose="020F0502020204030204" pitchFamily="2" charset="0"/>
              </a:rPr>
              <a:t>Entity</a:t>
            </a:r>
          </a:p>
          <a:p>
            <a:pPr marL="342900" indent="-342900">
              <a:buAutoNum type="arabicParenR"/>
            </a:pPr>
            <a:r>
              <a:rPr lang="en-US" dirty="0">
                <a:solidFill>
                  <a:srgbClr val="222426"/>
                </a:solidFill>
                <a:highlight>
                  <a:srgbClr val="FFFFFF"/>
                </a:highlight>
                <a:latin typeface="Roboto" panose="020F0502020204030204" pitchFamily="2" charset="0"/>
              </a:rPr>
              <a:t>Attribute </a:t>
            </a:r>
          </a:p>
          <a:p>
            <a:pPr marL="342900" indent="-342900">
              <a:buAutoNum type="arabicParenR"/>
            </a:pPr>
            <a:r>
              <a:rPr lang="en-US" dirty="0">
                <a:solidFill>
                  <a:srgbClr val="222426"/>
                </a:solidFill>
                <a:highlight>
                  <a:srgbClr val="FFFFFF"/>
                </a:highlight>
                <a:latin typeface="Roboto" panose="020F0502020204030204" pitchFamily="2" charset="0"/>
              </a:rPr>
              <a:t>Relationship  </a:t>
            </a:r>
            <a:endParaRPr lang="en-IN" dirty="0"/>
          </a:p>
        </p:txBody>
      </p:sp>
      <p:pic>
        <p:nvPicPr>
          <p:cNvPr id="5" name="Picture 4">
            <a:extLst>
              <a:ext uri="{FF2B5EF4-FFF2-40B4-BE49-F238E27FC236}">
                <a16:creationId xmlns:a16="http://schemas.microsoft.com/office/drawing/2014/main" id="{33602862-A656-8510-83DB-85BE728D4067}"/>
              </a:ext>
            </a:extLst>
          </p:cNvPr>
          <p:cNvPicPr>
            <a:picLocks noChangeAspect="1"/>
          </p:cNvPicPr>
          <p:nvPr/>
        </p:nvPicPr>
        <p:blipFill>
          <a:blip r:embed="rId2"/>
          <a:stretch>
            <a:fillRect/>
          </a:stretch>
        </p:blipFill>
        <p:spPr>
          <a:xfrm>
            <a:off x="2176608" y="4185784"/>
            <a:ext cx="6922514" cy="2582061"/>
          </a:xfrm>
          <a:prstGeom prst="rect">
            <a:avLst/>
          </a:prstGeom>
        </p:spPr>
      </p:pic>
    </p:spTree>
    <p:extLst>
      <p:ext uri="{BB962C8B-B14F-4D97-AF65-F5344CB8AC3E}">
        <p14:creationId xmlns:p14="http://schemas.microsoft.com/office/powerpoint/2010/main" val="32876933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6D13DF-7443-C9AB-E366-6110D813EAE3}"/>
              </a:ext>
            </a:extLst>
          </p:cNvPr>
          <p:cNvSpPr txBox="1"/>
          <p:nvPr/>
        </p:nvSpPr>
        <p:spPr>
          <a:xfrm>
            <a:off x="301336" y="327934"/>
            <a:ext cx="11589327" cy="5632311"/>
          </a:xfrm>
          <a:prstGeom prst="rect">
            <a:avLst/>
          </a:prstGeom>
          <a:noFill/>
        </p:spPr>
        <p:txBody>
          <a:bodyPr wrap="square">
            <a:spAutoFit/>
          </a:bodyPr>
          <a:lstStyle/>
          <a:p>
            <a:pPr algn="just"/>
            <a:r>
              <a:rPr lang="en-US" sz="2400" b="1" dirty="0"/>
              <a:t>Entity Types, Entity Sets, Attributes and Keys </a:t>
            </a:r>
          </a:p>
          <a:p>
            <a:pPr algn="just"/>
            <a:endParaRPr lang="en-US" sz="2400" dirty="0"/>
          </a:p>
          <a:p>
            <a:pPr algn="just"/>
            <a:r>
              <a:rPr lang="en-US" sz="2400" b="1" dirty="0"/>
              <a:t>• Entity</a:t>
            </a:r>
            <a:r>
              <a:rPr lang="en-US" sz="2400" dirty="0"/>
              <a:t>:  </a:t>
            </a:r>
          </a:p>
          <a:p>
            <a:pPr marL="342900" indent="-342900" algn="just">
              <a:buFont typeface="Wingdings" panose="05000000000000000000" pitchFamily="2" charset="2"/>
              <a:buChar char="Ø"/>
            </a:pPr>
            <a:r>
              <a:rPr lang="en-US" sz="2400" dirty="0"/>
              <a:t>A “ thing” in the real-world with an independent existence and which is distinguishable from other objects. </a:t>
            </a:r>
          </a:p>
          <a:p>
            <a:pPr marL="342900" indent="-342900" algn="just">
              <a:buFont typeface="Wingdings" panose="05000000000000000000" pitchFamily="2" charset="2"/>
              <a:buChar char="Ø"/>
            </a:pPr>
            <a:r>
              <a:rPr lang="en-US" sz="2400" dirty="0"/>
              <a:t>An Entity may be an object with physical existence- Example are a person, car, customer, product, book etc. </a:t>
            </a:r>
          </a:p>
          <a:p>
            <a:pPr marL="342900" indent="-342900" algn="just">
              <a:buFont typeface="Wingdings" panose="05000000000000000000" pitchFamily="2" charset="2"/>
              <a:buChar char="Ø"/>
            </a:pPr>
            <a:r>
              <a:rPr lang="en-US" sz="2400" dirty="0"/>
              <a:t>An Entity may be an object wit h conceptual /logical existence - Example are a company, a job, a university course etc. </a:t>
            </a:r>
          </a:p>
          <a:p>
            <a:pPr marL="342900" indent="-342900" algn="just">
              <a:buFont typeface="Wingdings" panose="05000000000000000000" pitchFamily="2" charset="2"/>
              <a:buChar char="Ø"/>
            </a:pPr>
            <a:r>
              <a:rPr lang="en-US" sz="2400" dirty="0"/>
              <a:t>Each entity has attributes. It is a properties that describes the entity.</a:t>
            </a:r>
          </a:p>
          <a:p>
            <a:pPr marL="342900" indent="-342900" algn="just">
              <a:buFont typeface="Wingdings" panose="05000000000000000000" pitchFamily="2" charset="2"/>
              <a:buChar char="Ø"/>
            </a:pPr>
            <a:r>
              <a:rPr lang="en-US" sz="2400" dirty="0"/>
              <a:t>An Entity is represented by rectangle.</a:t>
            </a:r>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4844679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374106-AD54-D218-4DCE-A04FD85C9FE8}"/>
              </a:ext>
            </a:extLst>
          </p:cNvPr>
          <p:cNvSpPr txBox="1"/>
          <p:nvPr/>
        </p:nvSpPr>
        <p:spPr>
          <a:xfrm>
            <a:off x="342199" y="431956"/>
            <a:ext cx="11023288" cy="2308324"/>
          </a:xfrm>
          <a:prstGeom prst="rect">
            <a:avLst/>
          </a:prstGeom>
          <a:noFill/>
        </p:spPr>
        <p:txBody>
          <a:bodyPr wrap="square">
            <a:spAutoFit/>
          </a:bodyPr>
          <a:lstStyle/>
          <a:p>
            <a:pPr algn="just"/>
            <a:r>
              <a:rPr lang="en-US" sz="1800" dirty="0"/>
              <a:t> </a:t>
            </a:r>
          </a:p>
          <a:p>
            <a:pPr algn="just"/>
            <a:r>
              <a:rPr lang="en-US" sz="1800" dirty="0"/>
              <a:t>• </a:t>
            </a:r>
            <a:r>
              <a:rPr lang="en-US" sz="1800" b="1" dirty="0"/>
              <a:t>Entity Type: </a:t>
            </a:r>
            <a:r>
              <a:rPr lang="en-US" sz="1800" dirty="0"/>
              <a:t>Collection of entities that all have the same attributes, e.g., persons, cars, customers etc. </a:t>
            </a:r>
          </a:p>
          <a:p>
            <a:pPr algn="just"/>
            <a:endParaRPr lang="en-US" sz="1800" dirty="0"/>
          </a:p>
          <a:p>
            <a:pPr algn="just"/>
            <a:r>
              <a:rPr lang="en-US" sz="1800" dirty="0"/>
              <a:t>• </a:t>
            </a:r>
            <a:r>
              <a:rPr lang="en-US" sz="1800" b="1" dirty="0"/>
              <a:t>Entity Set: </a:t>
            </a:r>
            <a:r>
              <a:rPr lang="en-US" sz="1800" dirty="0"/>
              <a:t>Collection of entities of a particular entity type at any point in time; entity set is typically referred to using the same name as entity type.</a:t>
            </a:r>
          </a:p>
          <a:p>
            <a:pPr algn="just"/>
            <a:endParaRPr lang="en-IN" sz="1800" dirty="0"/>
          </a:p>
          <a:p>
            <a:pPr algn="just"/>
            <a:endParaRPr lang="en-IN" dirty="0"/>
          </a:p>
          <a:p>
            <a:pPr algn="just"/>
            <a:endParaRPr lang="en-IN" sz="1800" dirty="0"/>
          </a:p>
        </p:txBody>
      </p:sp>
      <p:pic>
        <p:nvPicPr>
          <p:cNvPr id="5" name="Picture 4">
            <a:extLst>
              <a:ext uri="{FF2B5EF4-FFF2-40B4-BE49-F238E27FC236}">
                <a16:creationId xmlns:a16="http://schemas.microsoft.com/office/drawing/2014/main" id="{6EF70665-92D1-0683-D12A-5828BB2AD356}"/>
              </a:ext>
            </a:extLst>
          </p:cNvPr>
          <p:cNvPicPr>
            <a:picLocks noChangeAspect="1"/>
          </p:cNvPicPr>
          <p:nvPr/>
        </p:nvPicPr>
        <p:blipFill>
          <a:blip r:embed="rId2"/>
          <a:stretch>
            <a:fillRect/>
          </a:stretch>
        </p:blipFill>
        <p:spPr>
          <a:xfrm>
            <a:off x="3905127" y="3358823"/>
            <a:ext cx="4341301" cy="3067221"/>
          </a:xfrm>
          <a:prstGeom prst="rect">
            <a:avLst/>
          </a:prstGeom>
        </p:spPr>
      </p:pic>
    </p:spTree>
    <p:extLst>
      <p:ext uri="{BB962C8B-B14F-4D97-AF65-F5344CB8AC3E}">
        <p14:creationId xmlns:p14="http://schemas.microsoft.com/office/powerpoint/2010/main" val="28530097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420972C-90A9-9768-782D-22DA04B44C17}"/>
              </a:ext>
            </a:extLst>
          </p:cNvPr>
          <p:cNvPicPr>
            <a:picLocks noChangeAspect="1"/>
          </p:cNvPicPr>
          <p:nvPr/>
        </p:nvPicPr>
        <p:blipFill>
          <a:blip r:embed="rId2"/>
          <a:stretch>
            <a:fillRect/>
          </a:stretch>
        </p:blipFill>
        <p:spPr>
          <a:xfrm>
            <a:off x="427834" y="637785"/>
            <a:ext cx="9787641" cy="5582429"/>
          </a:xfrm>
          <a:prstGeom prst="rect">
            <a:avLst/>
          </a:prstGeom>
        </p:spPr>
      </p:pic>
    </p:spTree>
    <p:extLst>
      <p:ext uri="{BB962C8B-B14F-4D97-AF65-F5344CB8AC3E}">
        <p14:creationId xmlns:p14="http://schemas.microsoft.com/office/powerpoint/2010/main" val="25238799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44B525-8279-ECF8-3067-679E02CC777E}"/>
              </a:ext>
            </a:extLst>
          </p:cNvPr>
          <p:cNvSpPr txBox="1"/>
          <p:nvPr/>
        </p:nvSpPr>
        <p:spPr>
          <a:xfrm>
            <a:off x="762934" y="796476"/>
            <a:ext cx="11242071" cy="5632311"/>
          </a:xfrm>
          <a:prstGeom prst="rect">
            <a:avLst/>
          </a:prstGeom>
          <a:noFill/>
        </p:spPr>
        <p:txBody>
          <a:bodyPr wrap="square">
            <a:spAutoFit/>
          </a:bodyPr>
          <a:lstStyle/>
          <a:p>
            <a:pPr algn="just" fontAlgn="base"/>
            <a:r>
              <a:rPr lang="en-US" b="1" i="0" dirty="0">
                <a:solidFill>
                  <a:srgbClr val="273239"/>
                </a:solidFill>
                <a:effectLst/>
                <a:highlight>
                  <a:srgbClr val="FFFFFF"/>
                </a:highlight>
                <a:latin typeface="Arial" panose="020B0604020202020204" pitchFamily="34" charset="0"/>
                <a:cs typeface="Arial" panose="020B0604020202020204" pitchFamily="34" charset="0"/>
              </a:rPr>
              <a:t>Types of Entity</a:t>
            </a:r>
            <a:r>
              <a:rPr lang="en-US" b="1" dirty="0">
                <a:solidFill>
                  <a:srgbClr val="273239"/>
                </a:solidFill>
                <a:highlight>
                  <a:srgbClr val="FFFFFF"/>
                </a:highlight>
                <a:latin typeface="Arial" panose="020B0604020202020204" pitchFamily="34" charset="0"/>
                <a:cs typeface="Arial" panose="020B0604020202020204" pitchFamily="34" charset="0"/>
              </a:rPr>
              <a:t>: t</a:t>
            </a:r>
            <a:r>
              <a:rPr lang="en-US" b="0" i="0" dirty="0">
                <a:solidFill>
                  <a:srgbClr val="273239"/>
                </a:solidFill>
                <a:effectLst/>
                <a:highlight>
                  <a:srgbClr val="FFFFFF"/>
                </a:highlight>
                <a:latin typeface="Arial" panose="020B0604020202020204" pitchFamily="34" charset="0"/>
                <a:cs typeface="Arial" panose="020B0604020202020204" pitchFamily="34" charset="0"/>
              </a:rPr>
              <a:t>here are two types of entity:</a:t>
            </a:r>
          </a:p>
          <a:p>
            <a:pPr algn="just" fontAlgn="base"/>
            <a:endParaRPr lang="en-US" b="0" i="0" dirty="0">
              <a:solidFill>
                <a:srgbClr val="273239"/>
              </a:solidFill>
              <a:effectLst/>
              <a:highlight>
                <a:srgbClr val="FFFFFF"/>
              </a:highlight>
              <a:latin typeface="Arial" panose="020B0604020202020204" pitchFamily="34" charset="0"/>
              <a:cs typeface="Arial" panose="020B0604020202020204" pitchFamily="34" charset="0"/>
            </a:endParaRPr>
          </a:p>
          <a:p>
            <a:pPr marL="342900" indent="-342900" algn="just" fontAlgn="base">
              <a:buAutoNum type="arabicPeriod"/>
            </a:pPr>
            <a:r>
              <a:rPr lang="en-US" b="1" i="0" dirty="0">
                <a:solidFill>
                  <a:srgbClr val="273239"/>
                </a:solidFill>
                <a:effectLst/>
                <a:highlight>
                  <a:srgbClr val="FFFFFF"/>
                </a:highlight>
                <a:latin typeface="Arial" panose="020B0604020202020204" pitchFamily="34" charset="0"/>
                <a:cs typeface="Arial" panose="020B0604020202020204" pitchFamily="34" charset="0"/>
              </a:rPr>
              <a:t>Strong Entity:</a:t>
            </a:r>
          </a:p>
          <a:p>
            <a:pPr algn="just" fontAlgn="base"/>
            <a:endParaRPr lang="en-US" b="1" i="0" dirty="0">
              <a:solidFill>
                <a:srgbClr val="273239"/>
              </a:solidFill>
              <a:effectLst/>
              <a:highlight>
                <a:srgbClr val="FFFFFF"/>
              </a:highlight>
              <a:latin typeface="Arial" panose="020B0604020202020204" pitchFamily="34" charset="0"/>
              <a:cs typeface="Arial" panose="020B0604020202020204" pitchFamily="34" charset="0"/>
            </a:endParaRPr>
          </a:p>
          <a:p>
            <a:pPr algn="just" rtl="0" fontAlgn="base"/>
            <a:r>
              <a:rPr lang="en-US" b="0" i="0" dirty="0">
                <a:solidFill>
                  <a:srgbClr val="273239"/>
                </a:solidFill>
                <a:effectLst/>
                <a:highlight>
                  <a:srgbClr val="FFFFFF"/>
                </a:highlight>
                <a:latin typeface="Arial" panose="020B0604020202020204" pitchFamily="34" charset="0"/>
                <a:cs typeface="Arial" panose="020B0604020202020204" pitchFamily="34" charset="0"/>
              </a:rPr>
              <a:t>A </a:t>
            </a:r>
            <a:r>
              <a:rPr lang="en-US" b="1" dirty="0">
                <a:solidFill>
                  <a:srgbClr val="273239"/>
                </a:solidFill>
                <a:highlight>
                  <a:srgbClr val="FFFFFF"/>
                </a:highlight>
                <a:latin typeface="Arial" panose="020B0604020202020204" pitchFamily="34" charset="0"/>
                <a:cs typeface="Arial" panose="020B0604020202020204" pitchFamily="34" charset="0"/>
              </a:rPr>
              <a:t>Strong Entity</a:t>
            </a:r>
            <a:r>
              <a:rPr lang="en-US" b="1" i="0" dirty="0">
                <a:solidFill>
                  <a:srgbClr val="273239"/>
                </a:solidFill>
                <a:effectLst/>
                <a:highlight>
                  <a:srgbClr val="FFFFFF"/>
                </a:highlight>
                <a:latin typeface="Arial" panose="020B0604020202020204" pitchFamily="34" charset="0"/>
                <a:cs typeface="Arial" panose="020B0604020202020204" pitchFamily="34" charset="0"/>
              </a:rPr>
              <a:t> </a:t>
            </a:r>
            <a:r>
              <a:rPr lang="en-US" b="0" i="0" dirty="0">
                <a:solidFill>
                  <a:srgbClr val="273239"/>
                </a:solidFill>
                <a:effectLst/>
                <a:highlight>
                  <a:srgbClr val="FFFFFF"/>
                </a:highlight>
                <a:latin typeface="Arial" panose="020B0604020202020204" pitchFamily="34" charset="0"/>
                <a:cs typeface="Arial" panose="020B0604020202020204" pitchFamily="34" charset="0"/>
              </a:rPr>
              <a:t>is a type of entity that has a key Attribute. Strong Entity does not depend on other Entity in the Schema. It has a primary key, that helps in identifying it uniquely, and it is represented by a rectangle. These are called Strong Entity Types.</a:t>
            </a:r>
          </a:p>
          <a:p>
            <a:pPr algn="just" rtl="0" fontAlgn="base"/>
            <a:endParaRPr lang="en-US" dirty="0">
              <a:solidFill>
                <a:srgbClr val="273239"/>
              </a:solidFill>
              <a:highlight>
                <a:srgbClr val="FFFFFF"/>
              </a:highlight>
              <a:latin typeface="Arial" panose="020B0604020202020204" pitchFamily="34" charset="0"/>
              <a:cs typeface="Arial" panose="020B0604020202020204" pitchFamily="34" charset="0"/>
            </a:endParaRPr>
          </a:p>
          <a:p>
            <a:pPr algn="just" fontAlgn="base"/>
            <a:r>
              <a:rPr lang="en-US" b="1" i="0" dirty="0">
                <a:solidFill>
                  <a:srgbClr val="273239"/>
                </a:solidFill>
                <a:effectLst/>
                <a:highlight>
                  <a:srgbClr val="FFFFFF"/>
                </a:highlight>
                <a:latin typeface="Arial" panose="020B0604020202020204" pitchFamily="34" charset="0"/>
                <a:cs typeface="Arial" panose="020B0604020202020204" pitchFamily="34" charset="0"/>
              </a:rPr>
              <a:t>2. Weak Entity</a:t>
            </a:r>
          </a:p>
          <a:p>
            <a:pPr algn="just" rtl="0" fontAlgn="base"/>
            <a:r>
              <a:rPr lang="en-US" b="0" i="0" dirty="0">
                <a:solidFill>
                  <a:srgbClr val="273239"/>
                </a:solidFill>
                <a:effectLst/>
                <a:highlight>
                  <a:srgbClr val="FFFFFF"/>
                </a:highlight>
                <a:latin typeface="Arial" panose="020B0604020202020204" pitchFamily="34" charset="0"/>
                <a:cs typeface="Arial" panose="020B0604020202020204" pitchFamily="34" charset="0"/>
              </a:rPr>
              <a:t>An Entity type has a key attribute that uniquely identifies each entity in the entity set. But some entity type exists for which key attributes can’t be defined. These are called Weak Entity Types.</a:t>
            </a:r>
            <a:endParaRPr lang="en-US" b="0" i="0" u="sng" dirty="0">
              <a:solidFill>
                <a:srgbClr val="273239"/>
              </a:solidFill>
              <a:effectLst/>
              <a:highlight>
                <a:srgbClr val="FFFFFF"/>
              </a:highlight>
              <a:latin typeface="Arial" panose="020B0604020202020204" pitchFamily="34" charset="0"/>
              <a:cs typeface="Arial" panose="020B0604020202020204" pitchFamily="34" charset="0"/>
            </a:endParaRPr>
          </a:p>
          <a:p>
            <a:pPr algn="just" rtl="0" fontAlgn="base"/>
            <a:endParaRPr lang="en-US" b="0" i="0" u="sng" dirty="0">
              <a:solidFill>
                <a:srgbClr val="273239"/>
              </a:solidFill>
              <a:effectLst/>
              <a:highlight>
                <a:srgbClr val="FFFFFF"/>
              </a:highlight>
              <a:latin typeface="Arial" panose="020B0604020202020204" pitchFamily="34" charset="0"/>
              <a:cs typeface="Arial" panose="020B0604020202020204" pitchFamily="34" charset="0"/>
            </a:endParaRPr>
          </a:p>
          <a:p>
            <a:pPr algn="just" rtl="0" fontAlgn="base"/>
            <a:r>
              <a:rPr lang="en-US" b="0" i="0" dirty="0">
                <a:solidFill>
                  <a:srgbClr val="273239"/>
                </a:solidFill>
                <a:effectLst/>
                <a:highlight>
                  <a:srgbClr val="FFFFFF"/>
                </a:highlight>
                <a:latin typeface="Arial" panose="020B0604020202020204" pitchFamily="34" charset="0"/>
                <a:cs typeface="Arial" panose="020B0604020202020204" pitchFamily="34" charset="0"/>
              </a:rPr>
              <a:t>A weak entity type is represented by a Double Rectangle. The participation of weak entity types is always total. The relationship between the weak entity type and its identifying strong entity type is called identifying relationship and it is represented by a double diamond.</a:t>
            </a:r>
          </a:p>
          <a:p>
            <a:pPr algn="just" rtl="0" fontAlgn="base"/>
            <a:endParaRPr lang="en-US" dirty="0">
              <a:solidFill>
                <a:srgbClr val="273239"/>
              </a:solidFill>
              <a:highlight>
                <a:srgbClr val="FFFFFF"/>
              </a:highlight>
              <a:latin typeface="Arial" panose="020B0604020202020204" pitchFamily="34" charset="0"/>
              <a:cs typeface="Arial" panose="020B0604020202020204" pitchFamily="34" charset="0"/>
            </a:endParaRPr>
          </a:p>
          <a:p>
            <a:pPr algn="just" rtl="0" fontAlgn="base"/>
            <a:endParaRPr lang="en-US" b="0" i="0" dirty="0">
              <a:solidFill>
                <a:srgbClr val="273239"/>
              </a:solidFill>
              <a:effectLst/>
              <a:highlight>
                <a:srgbClr val="FFFFFF"/>
              </a:highlight>
              <a:latin typeface="Arial" panose="020B0604020202020204" pitchFamily="34" charset="0"/>
              <a:cs typeface="Arial" panose="020B0604020202020204" pitchFamily="34" charset="0"/>
            </a:endParaRPr>
          </a:p>
          <a:p>
            <a:pPr algn="just" rtl="0" fontAlgn="base"/>
            <a:endParaRPr lang="en-US" dirty="0">
              <a:solidFill>
                <a:srgbClr val="273239"/>
              </a:solidFill>
              <a:highlight>
                <a:srgbClr val="FFFFFF"/>
              </a:highlight>
              <a:latin typeface="Arial" panose="020B0604020202020204" pitchFamily="34" charset="0"/>
              <a:cs typeface="Arial" panose="020B0604020202020204" pitchFamily="34" charset="0"/>
            </a:endParaRPr>
          </a:p>
          <a:p>
            <a:pPr algn="just" rtl="0" fontAlgn="base"/>
            <a:endParaRPr lang="en-US" b="0" i="0" dirty="0">
              <a:solidFill>
                <a:srgbClr val="273239"/>
              </a:solidFill>
              <a:effectLst/>
              <a:highlight>
                <a:srgbClr val="FFFFFF"/>
              </a:highlight>
              <a:latin typeface="Arial" panose="020B0604020202020204" pitchFamily="34" charset="0"/>
              <a:cs typeface="Arial" panose="020B0604020202020204" pitchFamily="34" charset="0"/>
            </a:endParaRPr>
          </a:p>
          <a:p>
            <a:pPr algn="just" rtl="0" fontAlgn="base"/>
            <a:endParaRPr lang="en-US" b="0" i="0" dirty="0">
              <a:solidFill>
                <a:srgbClr val="273239"/>
              </a:solidFill>
              <a:effectLst/>
              <a:highlight>
                <a:srgbClr val="FFFFFF"/>
              </a:highlight>
              <a:latin typeface="Nunito" pitchFamily="2" charset="0"/>
            </a:endParaRPr>
          </a:p>
        </p:txBody>
      </p:sp>
      <p:pic>
        <p:nvPicPr>
          <p:cNvPr id="6" name="Picture 5">
            <a:extLst>
              <a:ext uri="{FF2B5EF4-FFF2-40B4-BE49-F238E27FC236}">
                <a16:creationId xmlns:a16="http://schemas.microsoft.com/office/drawing/2014/main" id="{0FC7164D-CBAC-1457-330A-5271F785A7BA}"/>
              </a:ext>
            </a:extLst>
          </p:cNvPr>
          <p:cNvPicPr>
            <a:picLocks noChangeAspect="1"/>
          </p:cNvPicPr>
          <p:nvPr/>
        </p:nvPicPr>
        <p:blipFill>
          <a:blip r:embed="rId2"/>
          <a:stretch>
            <a:fillRect/>
          </a:stretch>
        </p:blipFill>
        <p:spPr>
          <a:xfrm>
            <a:off x="1835429" y="5113228"/>
            <a:ext cx="9311276" cy="1108057"/>
          </a:xfrm>
          <a:prstGeom prst="rect">
            <a:avLst/>
          </a:prstGeom>
        </p:spPr>
      </p:pic>
    </p:spTree>
    <p:extLst>
      <p:ext uri="{BB962C8B-B14F-4D97-AF65-F5344CB8AC3E}">
        <p14:creationId xmlns:p14="http://schemas.microsoft.com/office/powerpoint/2010/main" val="17837007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7739B9-5347-B977-8201-537A62CFEBE0}"/>
              </a:ext>
            </a:extLst>
          </p:cNvPr>
          <p:cNvSpPr txBox="1"/>
          <p:nvPr/>
        </p:nvSpPr>
        <p:spPr>
          <a:xfrm>
            <a:off x="437566" y="454396"/>
            <a:ext cx="10967190" cy="4801314"/>
          </a:xfrm>
          <a:prstGeom prst="rect">
            <a:avLst/>
          </a:prstGeom>
          <a:noFill/>
        </p:spPr>
        <p:txBody>
          <a:bodyPr wrap="square">
            <a:spAutoFit/>
          </a:bodyPr>
          <a:lstStyle/>
          <a:p>
            <a:pPr algn="just"/>
            <a:r>
              <a:rPr lang="en-US" sz="1800" b="1" dirty="0"/>
              <a:t>Attributes</a:t>
            </a:r>
            <a:r>
              <a:rPr lang="en-US" sz="1800" dirty="0"/>
              <a:t>: </a:t>
            </a:r>
          </a:p>
          <a:p>
            <a:pPr marL="285750" indent="-285750" algn="just">
              <a:buFont typeface="Arial" panose="020B0604020202020204" pitchFamily="34" charset="0"/>
              <a:buChar char="•"/>
            </a:pPr>
            <a:r>
              <a:rPr lang="en-US" dirty="0"/>
              <a:t>A</a:t>
            </a:r>
            <a:r>
              <a:rPr lang="en-US" sz="1800" dirty="0"/>
              <a:t>n entity is represented by a set of attributes (its descriptive properties), e.g., name, age, salary, price etc.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sz="1800" dirty="0"/>
              <a:t>Attribute values that describe each entity become a major part of the data eventually stored in a database.</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 • With each attribute a domain is associated, i.e., a set of permitted values for an attribute. Possible domains are integer, string, date, etc.</a:t>
            </a:r>
          </a:p>
          <a:p>
            <a:pPr marL="285750" indent="-285750" algn="just">
              <a:buFont typeface="Arial" panose="020B0604020202020204" pitchFamily="34" charset="0"/>
              <a:buChar char="•"/>
            </a:pPr>
            <a:endParaRPr lang="en-US" dirty="0"/>
          </a:p>
          <a:p>
            <a:pPr algn="just"/>
            <a:r>
              <a:rPr lang="en-US" b="1" dirty="0"/>
              <a:t>Type of Attribute:</a:t>
            </a:r>
          </a:p>
          <a:p>
            <a:pPr algn="just"/>
            <a:endParaRPr lang="en-US" b="1" dirty="0"/>
          </a:p>
          <a:p>
            <a:pPr algn="just"/>
            <a:r>
              <a:rPr lang="en-IN" dirty="0"/>
              <a:t>1- </a:t>
            </a:r>
            <a:r>
              <a:rPr lang="en-IN" b="1" dirty="0"/>
              <a:t>Composite versus Simple (Atomic) Attributes</a:t>
            </a:r>
          </a:p>
          <a:p>
            <a:pPr algn="just"/>
            <a:r>
              <a:rPr lang="en-IN" b="1" dirty="0"/>
              <a:t>2- Single-Valued versus Multivalued Attributes</a:t>
            </a:r>
          </a:p>
          <a:p>
            <a:pPr algn="just"/>
            <a:r>
              <a:rPr lang="en-IN" b="1" dirty="0"/>
              <a:t>3-Stored versus Derived Attributes.</a:t>
            </a:r>
          </a:p>
          <a:p>
            <a:pPr algn="just"/>
            <a:r>
              <a:rPr lang="en-IN" b="1" dirty="0"/>
              <a:t>4-NULL Values</a:t>
            </a:r>
          </a:p>
          <a:p>
            <a:pPr algn="just"/>
            <a:r>
              <a:rPr lang="en-IN" b="1" dirty="0"/>
              <a:t>5-Complex Attributes.</a:t>
            </a:r>
          </a:p>
          <a:p>
            <a:pPr algn="just"/>
            <a:r>
              <a:rPr lang="en-IN" b="1" dirty="0"/>
              <a:t>6-Key Attribute</a:t>
            </a:r>
            <a:endParaRPr lang="en-US" b="1" dirty="0"/>
          </a:p>
          <a:p>
            <a:pPr algn="just"/>
            <a:endParaRPr lang="en-US" sz="1800" dirty="0"/>
          </a:p>
        </p:txBody>
      </p:sp>
    </p:spTree>
    <p:extLst>
      <p:ext uri="{BB962C8B-B14F-4D97-AF65-F5344CB8AC3E}">
        <p14:creationId xmlns:p14="http://schemas.microsoft.com/office/powerpoint/2010/main" val="9070168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F1B7AB-E4BC-8B4F-114E-7858641FFD6D}"/>
              </a:ext>
            </a:extLst>
          </p:cNvPr>
          <p:cNvSpPr txBox="1"/>
          <p:nvPr/>
        </p:nvSpPr>
        <p:spPr>
          <a:xfrm>
            <a:off x="319760" y="532933"/>
            <a:ext cx="11185973" cy="4524315"/>
          </a:xfrm>
          <a:prstGeom prst="rect">
            <a:avLst/>
          </a:prstGeom>
          <a:noFill/>
        </p:spPr>
        <p:txBody>
          <a:bodyPr wrap="square">
            <a:spAutoFit/>
          </a:bodyPr>
          <a:lstStyle/>
          <a:p>
            <a:r>
              <a:rPr lang="en-US" b="1" dirty="0"/>
              <a:t>Composite attributes:</a:t>
            </a:r>
          </a:p>
          <a:p>
            <a:r>
              <a:rPr lang="en-US" b="1" dirty="0"/>
              <a:t>It  </a:t>
            </a:r>
            <a:r>
              <a:rPr lang="en-US" dirty="0"/>
              <a:t>can be divided into smaller subparts, which represent more basic attributes with independent meanings.  Example   </a:t>
            </a:r>
            <a:r>
              <a:rPr lang="en-US" b="1" dirty="0"/>
              <a:t>Address attribute.</a:t>
            </a:r>
            <a:r>
              <a:rPr lang="en-US" dirty="0"/>
              <a:t> The value of a composite attribute is the concatenation of the values of its component simple attributes.</a:t>
            </a:r>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Simple Attribute:</a:t>
            </a:r>
          </a:p>
          <a:p>
            <a:r>
              <a:rPr lang="en-US" dirty="0"/>
              <a:t>Attributes that are not divisible are called simple or atomic attributes. Example </a:t>
            </a:r>
            <a:r>
              <a:rPr lang="en-US" dirty="0" err="1"/>
              <a:t>rollno</a:t>
            </a:r>
            <a:r>
              <a:rPr lang="en-US" dirty="0"/>
              <a:t> in student table.</a:t>
            </a:r>
            <a:endParaRPr lang="en-US" b="1" dirty="0"/>
          </a:p>
          <a:p>
            <a:endParaRPr lang="en-IN" b="1" dirty="0"/>
          </a:p>
        </p:txBody>
      </p:sp>
      <p:pic>
        <p:nvPicPr>
          <p:cNvPr id="6" name="Picture 5">
            <a:extLst>
              <a:ext uri="{FF2B5EF4-FFF2-40B4-BE49-F238E27FC236}">
                <a16:creationId xmlns:a16="http://schemas.microsoft.com/office/drawing/2014/main" id="{3038A65C-B092-3F14-A5B7-8FD79AD4560C}"/>
              </a:ext>
            </a:extLst>
          </p:cNvPr>
          <p:cNvPicPr>
            <a:picLocks noChangeAspect="1"/>
          </p:cNvPicPr>
          <p:nvPr/>
        </p:nvPicPr>
        <p:blipFill rotWithShape="1">
          <a:blip r:embed="rId2"/>
          <a:srcRect r="2309" b="12298"/>
          <a:stretch/>
        </p:blipFill>
        <p:spPr>
          <a:xfrm>
            <a:off x="4207362" y="2104634"/>
            <a:ext cx="5121761" cy="1871598"/>
          </a:xfrm>
          <a:prstGeom prst="rect">
            <a:avLst/>
          </a:prstGeom>
        </p:spPr>
      </p:pic>
    </p:spTree>
    <p:extLst>
      <p:ext uri="{BB962C8B-B14F-4D97-AF65-F5344CB8AC3E}">
        <p14:creationId xmlns:p14="http://schemas.microsoft.com/office/powerpoint/2010/main" val="31606697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281917-52B2-8E1E-6667-DDD123A0A70D}"/>
              </a:ext>
            </a:extLst>
          </p:cNvPr>
          <p:cNvSpPr txBox="1"/>
          <p:nvPr/>
        </p:nvSpPr>
        <p:spPr>
          <a:xfrm>
            <a:off x="263660" y="342199"/>
            <a:ext cx="12296717" cy="4524315"/>
          </a:xfrm>
          <a:prstGeom prst="rect">
            <a:avLst/>
          </a:prstGeom>
          <a:noFill/>
        </p:spPr>
        <p:txBody>
          <a:bodyPr wrap="square">
            <a:spAutoFit/>
          </a:bodyPr>
          <a:lstStyle/>
          <a:p>
            <a:r>
              <a:rPr lang="en-IN" b="1" dirty="0"/>
              <a:t>Single-Valued versus Multivalued Attributes:</a:t>
            </a:r>
          </a:p>
          <a:p>
            <a:endParaRPr lang="en-IN" b="1" dirty="0"/>
          </a:p>
          <a:p>
            <a:r>
              <a:rPr lang="en-US" dirty="0"/>
              <a:t>Most attributes have a single value for a particular entity; such attributes are called single-valued. For example, Age is a single-valued attribute of a person. </a:t>
            </a:r>
          </a:p>
          <a:p>
            <a:endParaRPr lang="en-US" b="1" dirty="0"/>
          </a:p>
          <a:p>
            <a:pPr algn="just" rtl="0" fontAlgn="base"/>
            <a:r>
              <a:rPr lang="en-US" b="0" i="0" dirty="0">
                <a:solidFill>
                  <a:srgbClr val="273239"/>
                </a:solidFill>
                <a:effectLst/>
                <a:highlight>
                  <a:srgbClr val="FFFFFF"/>
                </a:highlight>
                <a:latin typeface="Nunito" pitchFamily="2" charset="0"/>
              </a:rPr>
              <a:t>An attribute consisting of more than one value for a given entity.</a:t>
            </a:r>
          </a:p>
          <a:p>
            <a:pPr algn="just" rtl="0" fontAlgn="base"/>
            <a:r>
              <a:rPr lang="en-US" b="0" i="0" dirty="0">
                <a:solidFill>
                  <a:srgbClr val="273239"/>
                </a:solidFill>
                <a:effectLst/>
                <a:highlight>
                  <a:srgbClr val="FFFFFF"/>
                </a:highlight>
                <a:latin typeface="Nunito" pitchFamily="2" charset="0"/>
              </a:rPr>
              <a:t> example-</a:t>
            </a:r>
          </a:p>
          <a:p>
            <a:pPr algn="just" rtl="0" fontAlgn="base"/>
            <a:r>
              <a:rPr lang="en-US" b="0" i="0" dirty="0">
                <a:solidFill>
                  <a:srgbClr val="273239"/>
                </a:solidFill>
                <a:effectLst/>
                <a:highlight>
                  <a:srgbClr val="FFFFFF"/>
                </a:highlight>
                <a:latin typeface="Nunito" pitchFamily="2" charset="0"/>
              </a:rPr>
              <a:t> </a:t>
            </a:r>
            <a:r>
              <a:rPr lang="en-US" b="0" i="0" dirty="0" err="1">
                <a:solidFill>
                  <a:srgbClr val="273239"/>
                </a:solidFill>
                <a:effectLst/>
                <a:highlight>
                  <a:srgbClr val="FFFFFF"/>
                </a:highlight>
                <a:latin typeface="Nunito" pitchFamily="2" charset="0"/>
              </a:rPr>
              <a:t>Phone_No</a:t>
            </a:r>
            <a:r>
              <a:rPr lang="en-US" b="0" i="0" dirty="0">
                <a:solidFill>
                  <a:srgbClr val="273239"/>
                </a:solidFill>
                <a:effectLst/>
                <a:highlight>
                  <a:srgbClr val="FFFFFF"/>
                </a:highlight>
                <a:latin typeface="Nunito" pitchFamily="2" charset="0"/>
              </a:rPr>
              <a:t> (can be more than one for a given student). </a:t>
            </a:r>
          </a:p>
          <a:p>
            <a:pPr algn="just" rtl="0" fontAlgn="base"/>
            <a:r>
              <a:rPr lang="en-US" dirty="0"/>
              <a:t>-  a Colors attribute for a car.</a:t>
            </a:r>
          </a:p>
          <a:p>
            <a:pPr algn="just" rtl="0" fontAlgn="base"/>
            <a:r>
              <a:rPr lang="en-US" dirty="0"/>
              <a:t> - or a </a:t>
            </a:r>
            <a:r>
              <a:rPr lang="en-US" dirty="0" err="1"/>
              <a:t>College_degrees</a:t>
            </a:r>
            <a:r>
              <a:rPr lang="en-US" dirty="0"/>
              <a:t> attribute for a person</a:t>
            </a:r>
            <a:endParaRPr lang="en-US" b="0"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r>
              <a:rPr lang="en-US" b="0" i="0" dirty="0">
                <a:solidFill>
                  <a:srgbClr val="273239"/>
                </a:solidFill>
                <a:effectLst/>
                <a:highlight>
                  <a:srgbClr val="FFFFFF"/>
                </a:highlight>
                <a:latin typeface="Nunito" pitchFamily="2" charset="0"/>
              </a:rPr>
              <a:t>In ER diagram, a multivalued attribute is represented by a double oval. </a:t>
            </a:r>
          </a:p>
          <a:p>
            <a:pPr algn="just" rtl="0" fontAlgn="base"/>
            <a:endParaRPr lang="en-US" b="0" i="0" dirty="0">
              <a:solidFill>
                <a:srgbClr val="273239"/>
              </a:solidFill>
              <a:effectLst/>
              <a:highlight>
                <a:srgbClr val="FFFFFF"/>
              </a:highlight>
              <a:latin typeface="Nunito" pitchFamily="2" charset="0"/>
            </a:endParaRPr>
          </a:p>
          <a:p>
            <a:br>
              <a:rPr lang="en-US" dirty="0"/>
            </a:br>
            <a:endParaRPr lang="en-IN" b="1" dirty="0"/>
          </a:p>
          <a:p>
            <a:endParaRPr lang="en-IN" b="1" dirty="0"/>
          </a:p>
        </p:txBody>
      </p:sp>
      <p:pic>
        <p:nvPicPr>
          <p:cNvPr id="5" name="Picture 4">
            <a:extLst>
              <a:ext uri="{FF2B5EF4-FFF2-40B4-BE49-F238E27FC236}">
                <a16:creationId xmlns:a16="http://schemas.microsoft.com/office/drawing/2014/main" id="{B2797DF4-9AE8-CFF7-9D20-CCA7C1C1177D}"/>
              </a:ext>
            </a:extLst>
          </p:cNvPr>
          <p:cNvPicPr>
            <a:picLocks noChangeAspect="1"/>
          </p:cNvPicPr>
          <p:nvPr/>
        </p:nvPicPr>
        <p:blipFill>
          <a:blip r:embed="rId2"/>
          <a:stretch>
            <a:fillRect/>
          </a:stretch>
        </p:blipFill>
        <p:spPr>
          <a:xfrm>
            <a:off x="3085399" y="3888251"/>
            <a:ext cx="2486097" cy="1601499"/>
          </a:xfrm>
          <a:prstGeom prst="rect">
            <a:avLst/>
          </a:prstGeom>
        </p:spPr>
      </p:pic>
    </p:spTree>
    <p:extLst>
      <p:ext uri="{BB962C8B-B14F-4D97-AF65-F5344CB8AC3E}">
        <p14:creationId xmlns:p14="http://schemas.microsoft.com/office/powerpoint/2010/main" val="4803719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45AC23-18D4-9CB9-9CEF-2922C569D686}"/>
              </a:ext>
            </a:extLst>
          </p:cNvPr>
          <p:cNvSpPr txBox="1"/>
          <p:nvPr/>
        </p:nvSpPr>
        <p:spPr>
          <a:xfrm>
            <a:off x="212036" y="291548"/>
            <a:ext cx="11944404" cy="6186309"/>
          </a:xfrm>
          <a:prstGeom prst="rect">
            <a:avLst/>
          </a:prstGeom>
          <a:noFill/>
        </p:spPr>
        <p:txBody>
          <a:bodyPr wrap="square">
            <a:spAutoFit/>
          </a:bodyPr>
          <a:lstStyle/>
          <a:p>
            <a:r>
              <a:rPr lang="en-IN" b="1" dirty="0"/>
              <a:t>Stored versus Derived Attributes:</a:t>
            </a:r>
          </a:p>
          <a:p>
            <a:endParaRPr lang="en-IN" dirty="0"/>
          </a:p>
          <a:p>
            <a:pPr algn="l" fontAlgn="base"/>
            <a:r>
              <a:rPr lang="en-US" b="1" i="0" dirty="0">
                <a:solidFill>
                  <a:srgbClr val="273239"/>
                </a:solidFill>
                <a:effectLst/>
                <a:highlight>
                  <a:srgbClr val="FFFFFF"/>
                </a:highlight>
                <a:latin typeface="Nunito" pitchFamily="2" charset="0"/>
              </a:rPr>
              <a:t>Derived Attribute</a:t>
            </a:r>
          </a:p>
          <a:p>
            <a:pPr algn="just" rtl="0" fontAlgn="base"/>
            <a:r>
              <a:rPr lang="en-US" b="0" i="0" dirty="0">
                <a:solidFill>
                  <a:srgbClr val="273239"/>
                </a:solidFill>
                <a:effectLst/>
                <a:highlight>
                  <a:srgbClr val="FFFFFF"/>
                </a:highlight>
                <a:latin typeface="Nunito" pitchFamily="2" charset="0"/>
              </a:rPr>
              <a:t>An attribute that can be derived from other attributes of the entity type is known as a derived attribute. e.g.; Age (can be derived from DOB). In ER diagram, the derived attribute is represented by a dashed oval</a:t>
            </a: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rtl="0" fontAlgn="base"/>
            <a:r>
              <a:rPr lang="en-US" dirty="0"/>
              <a:t>The Age attribute is hence called a derived attribute and is said to be derivable from the </a:t>
            </a:r>
            <a:r>
              <a:rPr lang="en-US" b="1" dirty="0" err="1"/>
              <a:t>Birth_date</a:t>
            </a:r>
            <a:r>
              <a:rPr lang="en-US" b="1" dirty="0"/>
              <a:t> attribute</a:t>
            </a:r>
            <a:r>
              <a:rPr lang="en-US" dirty="0"/>
              <a:t>, which is called a </a:t>
            </a:r>
            <a:r>
              <a:rPr lang="en-US" b="1" dirty="0"/>
              <a:t>stored attribute</a:t>
            </a:r>
            <a:r>
              <a:rPr lang="en-US" dirty="0"/>
              <a:t>. </a:t>
            </a:r>
          </a:p>
          <a:p>
            <a:pPr algn="just" rtl="0" fontAlgn="base"/>
            <a:endParaRPr lang="en-US" dirty="0"/>
          </a:p>
          <a:p>
            <a:pPr algn="just" rtl="0" fontAlgn="base"/>
            <a:r>
              <a:rPr lang="en-US" dirty="0"/>
              <a:t>Some attribute values can be derived from related entities; for example, an attribute </a:t>
            </a:r>
            <a:r>
              <a:rPr lang="en-US" dirty="0" err="1"/>
              <a:t>Number_of_employees</a:t>
            </a:r>
            <a:r>
              <a:rPr lang="en-US" dirty="0"/>
              <a:t> of a DEPARTMENT entity can be derived by counting the number of employees related to (working for) that department.</a:t>
            </a:r>
            <a:endParaRPr lang="en-US" b="0"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endParaRPr lang="en-IN" dirty="0"/>
          </a:p>
        </p:txBody>
      </p:sp>
      <p:pic>
        <p:nvPicPr>
          <p:cNvPr id="5" name="Picture 4">
            <a:extLst>
              <a:ext uri="{FF2B5EF4-FFF2-40B4-BE49-F238E27FC236}">
                <a16:creationId xmlns:a16="http://schemas.microsoft.com/office/drawing/2014/main" id="{A3245983-50F6-8A7F-2878-1444C74DCAA1}"/>
              </a:ext>
            </a:extLst>
          </p:cNvPr>
          <p:cNvPicPr>
            <a:picLocks noChangeAspect="1"/>
          </p:cNvPicPr>
          <p:nvPr/>
        </p:nvPicPr>
        <p:blipFill>
          <a:blip r:embed="rId2"/>
          <a:stretch>
            <a:fillRect/>
          </a:stretch>
        </p:blipFill>
        <p:spPr>
          <a:xfrm>
            <a:off x="4886518" y="1798766"/>
            <a:ext cx="2807932" cy="2094277"/>
          </a:xfrm>
          <a:prstGeom prst="rect">
            <a:avLst/>
          </a:prstGeom>
        </p:spPr>
      </p:pic>
    </p:spTree>
    <p:extLst>
      <p:ext uri="{BB962C8B-B14F-4D97-AF65-F5344CB8AC3E}">
        <p14:creationId xmlns:p14="http://schemas.microsoft.com/office/powerpoint/2010/main" val="23970663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F6372E-33AB-F91C-99F3-FBCF4EAFC148}"/>
              </a:ext>
            </a:extLst>
          </p:cNvPr>
          <p:cNvSpPr txBox="1"/>
          <p:nvPr/>
        </p:nvSpPr>
        <p:spPr>
          <a:xfrm>
            <a:off x="397565" y="569843"/>
            <a:ext cx="11893826" cy="5632311"/>
          </a:xfrm>
          <a:prstGeom prst="rect">
            <a:avLst/>
          </a:prstGeom>
          <a:noFill/>
        </p:spPr>
        <p:txBody>
          <a:bodyPr wrap="square">
            <a:spAutoFit/>
          </a:bodyPr>
          <a:lstStyle/>
          <a:p>
            <a:r>
              <a:rPr lang="en-US" b="1" dirty="0"/>
              <a:t>NULL Values: </a:t>
            </a:r>
          </a:p>
          <a:p>
            <a:endParaRPr lang="en-US" b="1" dirty="0"/>
          </a:p>
          <a:p>
            <a:r>
              <a:rPr lang="en-US" dirty="0"/>
              <a:t>In some cases, a particular entity may not have an applicable or Unknown  value for an attribute. </a:t>
            </a:r>
          </a:p>
          <a:p>
            <a:r>
              <a:rPr lang="en-US" dirty="0"/>
              <a:t>Null value used if we do not known the value of an attribute for a particular entity.</a:t>
            </a:r>
          </a:p>
          <a:p>
            <a:endParaRPr lang="en-US" dirty="0"/>
          </a:p>
          <a:p>
            <a:r>
              <a:rPr lang="en-US" dirty="0"/>
              <a:t>For example, the </a:t>
            </a:r>
            <a:r>
              <a:rPr lang="en-US" dirty="0" err="1"/>
              <a:t>Apartment_number</a:t>
            </a:r>
            <a:r>
              <a:rPr lang="en-US" dirty="0"/>
              <a:t> attribute of an address applies only to addresses that are in apartment buildings and not to other types of residences, such as single-family homes. </a:t>
            </a:r>
          </a:p>
          <a:p>
            <a:endParaRPr lang="en-US" dirty="0"/>
          </a:p>
          <a:p>
            <a:r>
              <a:rPr lang="en-US" dirty="0"/>
              <a:t>Null- Not applicable and Unknown ( </a:t>
            </a:r>
            <a:r>
              <a:rPr lang="en-US" dirty="0" err="1"/>
              <a:t>Appartment</a:t>
            </a:r>
            <a:r>
              <a:rPr lang="en-US" dirty="0"/>
              <a:t> No. is Not Applicable)</a:t>
            </a:r>
          </a:p>
          <a:p>
            <a:r>
              <a:rPr lang="en-US" dirty="0"/>
              <a:t> Unknown- Missing and  Not Known (ex- </a:t>
            </a:r>
            <a:r>
              <a:rPr lang="en-US" b="1" dirty="0"/>
              <a:t>height of person is Missing </a:t>
            </a:r>
            <a:r>
              <a:rPr lang="en-US" dirty="0"/>
              <a:t>and </a:t>
            </a:r>
            <a:r>
              <a:rPr lang="en-US" b="1" dirty="0"/>
              <a:t>phone number is Not Known)</a:t>
            </a:r>
          </a:p>
          <a:p>
            <a:endParaRPr lang="en-US" b="1" dirty="0"/>
          </a:p>
          <a:p>
            <a:r>
              <a:rPr lang="en-IN" b="1" dirty="0"/>
              <a:t>Complex Attributes</a:t>
            </a:r>
            <a:r>
              <a:rPr lang="en-US" b="1" dirty="0"/>
              <a:t>:  </a:t>
            </a:r>
            <a:r>
              <a:rPr lang="en-US" dirty="0"/>
              <a:t>Group of </a:t>
            </a:r>
            <a:r>
              <a:rPr lang="en-IN" dirty="0"/>
              <a:t>composite and multivalued attributes is called complex attribute.</a:t>
            </a:r>
          </a:p>
          <a:p>
            <a:endParaRPr lang="en-US" dirty="0"/>
          </a:p>
          <a:p>
            <a:r>
              <a:rPr lang="en-US" dirty="0"/>
              <a:t>For example, if a person can have more than one residence and each residence can have a single address and multiple phones, an attribute </a:t>
            </a:r>
            <a:r>
              <a:rPr lang="en-US" dirty="0" err="1"/>
              <a:t>Address_phone</a:t>
            </a:r>
            <a:r>
              <a:rPr lang="en-US" dirty="0"/>
              <a:t> for a person can be specified Complex attribute. Both Phone and Address are themselves composite attributes.</a:t>
            </a:r>
          </a:p>
          <a:p>
            <a:r>
              <a:rPr lang="en-IN" dirty="0"/>
              <a:t>-a composite attribute  represent  parentheses ().</a:t>
            </a:r>
            <a:endParaRPr lang="en-US" dirty="0"/>
          </a:p>
          <a:p>
            <a:r>
              <a:rPr lang="en-US" dirty="0"/>
              <a:t>-and displaying multivalued attributes between braces { }.</a:t>
            </a:r>
          </a:p>
          <a:p>
            <a:r>
              <a:rPr lang="en-US" b="1" dirty="0"/>
              <a:t>Example- {college Degree(college, year, field)}</a:t>
            </a:r>
          </a:p>
          <a:p>
            <a:endParaRPr lang="en-IN" dirty="0"/>
          </a:p>
        </p:txBody>
      </p:sp>
    </p:spTree>
    <p:extLst>
      <p:ext uri="{BB962C8B-B14F-4D97-AF65-F5344CB8AC3E}">
        <p14:creationId xmlns:p14="http://schemas.microsoft.com/office/powerpoint/2010/main" val="23472814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34BE04-DA2F-0349-41E7-2BC63276D45B}"/>
              </a:ext>
            </a:extLst>
          </p:cNvPr>
          <p:cNvSpPr txBox="1"/>
          <p:nvPr/>
        </p:nvSpPr>
        <p:spPr>
          <a:xfrm>
            <a:off x="561109" y="568036"/>
            <a:ext cx="11485418" cy="4739759"/>
          </a:xfrm>
          <a:prstGeom prst="rect">
            <a:avLst/>
          </a:prstGeom>
          <a:noFill/>
        </p:spPr>
        <p:txBody>
          <a:bodyPr wrap="square">
            <a:spAutoFit/>
          </a:bodyPr>
          <a:lstStyle/>
          <a:p>
            <a:r>
              <a:rPr lang="en-US" sz="3200" b="1" dirty="0"/>
              <a:t>Key attributes of an Entity Type:</a:t>
            </a:r>
          </a:p>
          <a:p>
            <a:endParaRPr lang="en-US" dirty="0"/>
          </a:p>
          <a:p>
            <a:pPr algn="just"/>
            <a:r>
              <a:rPr lang="en-US" dirty="0"/>
              <a:t> </a:t>
            </a:r>
            <a:r>
              <a:rPr lang="en-US" sz="2800" dirty="0"/>
              <a:t>•</a:t>
            </a:r>
            <a:r>
              <a:rPr lang="en-US" dirty="0"/>
              <a:t> </a:t>
            </a:r>
            <a:r>
              <a:rPr lang="en-US" sz="2800" dirty="0"/>
              <a:t>Entities of an entity type need to be distinguishable.</a:t>
            </a:r>
          </a:p>
          <a:p>
            <a:pPr algn="just"/>
            <a:r>
              <a:rPr lang="en-US" sz="2800" dirty="0"/>
              <a:t> </a:t>
            </a:r>
            <a:endParaRPr lang="en-US" sz="2800" b="1" i="0" dirty="0">
              <a:solidFill>
                <a:srgbClr val="273239"/>
              </a:solidFill>
              <a:effectLst/>
              <a:highlight>
                <a:srgbClr val="FFFFFF"/>
              </a:highlight>
              <a:latin typeface="Nunito" pitchFamily="2" charset="0"/>
            </a:endParaRPr>
          </a:p>
          <a:p>
            <a:pPr algn="just" rtl="0" fontAlgn="base"/>
            <a:r>
              <a:rPr lang="en-US" sz="2800" dirty="0"/>
              <a:t>An important constraint on the entities of an entity type is the key or uniqueness constraint on attributes. An entity type usually</a:t>
            </a:r>
            <a:br>
              <a:rPr lang="en-US" sz="2800" dirty="0"/>
            </a:br>
            <a:r>
              <a:rPr lang="en-US" sz="2800" dirty="0"/>
              <a:t>has one or more attributes whose values are distinct for each individual entity in the entity set. Such an attribute is called a key attribute, and its values can be used to identify each entity uniquely.</a:t>
            </a:r>
            <a:endParaRPr lang="en-US" sz="2800" b="0" i="0" dirty="0">
              <a:solidFill>
                <a:srgbClr val="273239"/>
              </a:solidFill>
              <a:effectLst/>
              <a:highlight>
                <a:srgbClr val="FFFFFF"/>
              </a:highlight>
              <a:latin typeface="Nunito" pitchFamily="2" charset="0"/>
            </a:endParaRPr>
          </a:p>
          <a:p>
            <a:pPr algn="just"/>
            <a:endParaRPr lang="en-US" sz="2800" dirty="0"/>
          </a:p>
          <a:p>
            <a:pPr algn="just"/>
            <a:endParaRPr lang="en-IN" sz="2800" dirty="0"/>
          </a:p>
        </p:txBody>
      </p:sp>
      <p:pic>
        <p:nvPicPr>
          <p:cNvPr id="4" name="Picture 3">
            <a:extLst>
              <a:ext uri="{FF2B5EF4-FFF2-40B4-BE49-F238E27FC236}">
                <a16:creationId xmlns:a16="http://schemas.microsoft.com/office/drawing/2014/main" id="{50D3BAD6-754C-ACFF-F1B0-CB4CF7C0BC87}"/>
              </a:ext>
            </a:extLst>
          </p:cNvPr>
          <p:cNvPicPr>
            <a:picLocks noChangeAspect="1"/>
          </p:cNvPicPr>
          <p:nvPr/>
        </p:nvPicPr>
        <p:blipFill>
          <a:blip r:embed="rId2"/>
          <a:stretch>
            <a:fillRect/>
          </a:stretch>
        </p:blipFill>
        <p:spPr>
          <a:xfrm>
            <a:off x="3416054" y="4346955"/>
            <a:ext cx="4525006" cy="2457793"/>
          </a:xfrm>
          <a:prstGeom prst="rect">
            <a:avLst/>
          </a:prstGeom>
        </p:spPr>
      </p:pic>
    </p:spTree>
    <p:extLst>
      <p:ext uri="{BB962C8B-B14F-4D97-AF65-F5344CB8AC3E}">
        <p14:creationId xmlns:p14="http://schemas.microsoft.com/office/powerpoint/2010/main" val="7676695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53700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F31A00-6857-E624-C5A6-C7762BB76448}"/>
              </a:ext>
            </a:extLst>
          </p:cNvPr>
          <p:cNvSpPr txBox="1"/>
          <p:nvPr/>
        </p:nvSpPr>
        <p:spPr>
          <a:xfrm>
            <a:off x="316301" y="511834"/>
            <a:ext cx="11151079" cy="3693319"/>
          </a:xfrm>
          <a:prstGeom prst="rect">
            <a:avLst/>
          </a:prstGeom>
          <a:noFill/>
        </p:spPr>
        <p:txBody>
          <a:bodyPr wrap="square">
            <a:spAutoFit/>
          </a:bodyPr>
          <a:lstStyle/>
          <a:p>
            <a:pPr algn="l" fontAlgn="base"/>
            <a:r>
              <a:rPr lang="en-US" b="1" i="0" dirty="0">
                <a:solidFill>
                  <a:srgbClr val="273239"/>
                </a:solidFill>
                <a:effectLst/>
                <a:highlight>
                  <a:srgbClr val="FFFFFF"/>
                </a:highlight>
                <a:latin typeface="Nunito" pitchFamily="2" charset="0"/>
              </a:rPr>
              <a:t>Relationship Type and Relationship Set:</a:t>
            </a:r>
          </a:p>
          <a:p>
            <a:pPr algn="l" fontAlgn="base"/>
            <a:endParaRPr lang="en-US" b="1" i="0" dirty="0">
              <a:solidFill>
                <a:srgbClr val="273239"/>
              </a:solidFill>
              <a:effectLst/>
              <a:highlight>
                <a:srgbClr val="FFFFFF"/>
              </a:highlight>
              <a:latin typeface="Nunito" pitchFamily="2" charset="0"/>
            </a:endParaRPr>
          </a:p>
          <a:p>
            <a:pPr algn="just" rtl="0" fontAlgn="base"/>
            <a:r>
              <a:rPr lang="en-US" b="0" i="0" dirty="0">
                <a:solidFill>
                  <a:srgbClr val="273239"/>
                </a:solidFill>
                <a:effectLst/>
                <a:highlight>
                  <a:srgbClr val="FFFFFF"/>
                </a:highlight>
                <a:latin typeface="Nunito" pitchFamily="2" charset="0"/>
              </a:rPr>
              <a:t>A Relationship Type represents the association between entity types. </a:t>
            </a:r>
          </a:p>
          <a:p>
            <a:pPr algn="just" rtl="0" fontAlgn="base"/>
            <a:r>
              <a:rPr lang="en-US" b="0" i="0" dirty="0">
                <a:solidFill>
                  <a:srgbClr val="273239"/>
                </a:solidFill>
                <a:effectLst/>
                <a:highlight>
                  <a:srgbClr val="FFFFFF"/>
                </a:highlight>
                <a:latin typeface="Nunito" pitchFamily="2" charset="0"/>
              </a:rPr>
              <a:t>For example, ‘Enrolled in’ is a relationship type that exists between entity type Student and Course. In ER diagram, the relationship type is represented by a diamond and connecting the entities with lines</a:t>
            </a: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r>
              <a:rPr lang="en-US" b="0" i="0" dirty="0">
                <a:solidFill>
                  <a:srgbClr val="273239"/>
                </a:solidFill>
                <a:effectLst/>
                <a:highlight>
                  <a:srgbClr val="FFFFFF"/>
                </a:highlight>
                <a:latin typeface="Nunito" pitchFamily="2" charset="0"/>
              </a:rPr>
              <a:t>A set of relationships of the same type is known as a relationship set. </a:t>
            </a:r>
          </a:p>
          <a:p>
            <a:pPr algn="just" rtl="0" fontAlgn="base"/>
            <a:endParaRPr lang="en-US" b="0" i="0" dirty="0">
              <a:solidFill>
                <a:srgbClr val="273239"/>
              </a:solidFill>
              <a:effectLst/>
              <a:highlight>
                <a:srgbClr val="FFFFFF"/>
              </a:highlight>
              <a:latin typeface="Nunito" pitchFamily="2" charset="0"/>
            </a:endParaRPr>
          </a:p>
        </p:txBody>
      </p:sp>
      <p:pic>
        <p:nvPicPr>
          <p:cNvPr id="7" name="Picture 6">
            <a:extLst>
              <a:ext uri="{FF2B5EF4-FFF2-40B4-BE49-F238E27FC236}">
                <a16:creationId xmlns:a16="http://schemas.microsoft.com/office/drawing/2014/main" id="{2B1174A2-0DAA-CEC5-1F6E-272BCB64591B}"/>
              </a:ext>
            </a:extLst>
          </p:cNvPr>
          <p:cNvPicPr>
            <a:picLocks noChangeAspect="1"/>
          </p:cNvPicPr>
          <p:nvPr/>
        </p:nvPicPr>
        <p:blipFill>
          <a:blip r:embed="rId2"/>
          <a:stretch>
            <a:fillRect/>
          </a:stretch>
        </p:blipFill>
        <p:spPr>
          <a:xfrm>
            <a:off x="2436223" y="2353206"/>
            <a:ext cx="6411686" cy="933903"/>
          </a:xfrm>
          <a:prstGeom prst="rect">
            <a:avLst/>
          </a:prstGeom>
        </p:spPr>
      </p:pic>
      <p:pic>
        <p:nvPicPr>
          <p:cNvPr id="9" name="Picture 8">
            <a:extLst>
              <a:ext uri="{FF2B5EF4-FFF2-40B4-BE49-F238E27FC236}">
                <a16:creationId xmlns:a16="http://schemas.microsoft.com/office/drawing/2014/main" id="{0A8BBC70-5933-63B7-ADBF-CC61B7D46D66}"/>
              </a:ext>
            </a:extLst>
          </p:cNvPr>
          <p:cNvPicPr>
            <a:picLocks noChangeAspect="1"/>
          </p:cNvPicPr>
          <p:nvPr/>
        </p:nvPicPr>
        <p:blipFill rotWithShape="1">
          <a:blip r:embed="rId3"/>
          <a:srcRect t="6258" r="1129"/>
          <a:stretch/>
        </p:blipFill>
        <p:spPr>
          <a:xfrm>
            <a:off x="1587138" y="4113713"/>
            <a:ext cx="6864531" cy="2564450"/>
          </a:xfrm>
          <a:prstGeom prst="rect">
            <a:avLst/>
          </a:prstGeom>
        </p:spPr>
      </p:pic>
    </p:spTree>
    <p:extLst>
      <p:ext uri="{BB962C8B-B14F-4D97-AF65-F5344CB8AC3E}">
        <p14:creationId xmlns:p14="http://schemas.microsoft.com/office/powerpoint/2010/main" val="19814377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191C6D-EDF6-BD41-ADE5-C5B77BB7EACF}"/>
              </a:ext>
            </a:extLst>
          </p:cNvPr>
          <p:cNvSpPr txBox="1"/>
          <p:nvPr/>
        </p:nvSpPr>
        <p:spPr>
          <a:xfrm>
            <a:off x="178279" y="46008"/>
            <a:ext cx="11122325" cy="5909310"/>
          </a:xfrm>
          <a:prstGeom prst="rect">
            <a:avLst/>
          </a:prstGeom>
          <a:noFill/>
        </p:spPr>
        <p:txBody>
          <a:bodyPr wrap="square">
            <a:spAutoFit/>
          </a:bodyPr>
          <a:lstStyle/>
          <a:p>
            <a:pPr algn="l" fontAlgn="base"/>
            <a:r>
              <a:rPr lang="en-US" b="1" i="0" dirty="0">
                <a:solidFill>
                  <a:srgbClr val="273239"/>
                </a:solidFill>
                <a:effectLst/>
                <a:highlight>
                  <a:srgbClr val="FFFFFF"/>
                </a:highlight>
                <a:latin typeface="Nunito" pitchFamily="2" charset="0"/>
              </a:rPr>
              <a:t>Degree of a Relationship </a:t>
            </a:r>
            <a:r>
              <a:rPr lang="en-US" b="1" dirty="0">
                <a:solidFill>
                  <a:srgbClr val="273239"/>
                </a:solidFill>
                <a:highlight>
                  <a:srgbClr val="FFFFFF"/>
                </a:highlight>
                <a:latin typeface="Nunito" pitchFamily="2" charset="0"/>
              </a:rPr>
              <a:t>Type</a:t>
            </a:r>
            <a:r>
              <a:rPr lang="en-US" b="1" i="0" dirty="0">
                <a:solidFill>
                  <a:srgbClr val="273239"/>
                </a:solidFill>
                <a:effectLst/>
                <a:highlight>
                  <a:srgbClr val="FFFFFF"/>
                </a:highlight>
                <a:latin typeface="Nunito" pitchFamily="2" charset="0"/>
              </a:rPr>
              <a:t>:</a:t>
            </a:r>
          </a:p>
          <a:p>
            <a:pPr algn="l" fontAlgn="base"/>
            <a:r>
              <a:rPr lang="en-US" dirty="0"/>
              <a:t>The degree of a relationship type is the number of participating entity types. </a:t>
            </a:r>
          </a:p>
          <a:p>
            <a:pPr algn="l" fontAlgn="base"/>
            <a:endParaRPr lang="en-US" b="1" i="0" dirty="0">
              <a:solidFill>
                <a:srgbClr val="273239"/>
              </a:solidFill>
              <a:effectLst/>
              <a:highlight>
                <a:srgbClr val="FFFFFF"/>
              </a:highlight>
              <a:latin typeface="Nunito" pitchFamily="2" charset="0"/>
            </a:endParaRPr>
          </a:p>
          <a:p>
            <a:pPr marL="342900" indent="-342900" algn="just" rtl="0" fontAlgn="base">
              <a:buAutoNum type="arabicPeriod"/>
            </a:pPr>
            <a:r>
              <a:rPr lang="en-US" b="1" i="0" dirty="0">
                <a:solidFill>
                  <a:srgbClr val="273239"/>
                </a:solidFill>
                <a:effectLst/>
                <a:highlight>
                  <a:srgbClr val="FFFFFF"/>
                </a:highlight>
                <a:latin typeface="Nunito" pitchFamily="2" charset="0"/>
              </a:rPr>
              <a:t>Unary Relationship: </a:t>
            </a:r>
            <a:r>
              <a:rPr lang="en-US" b="0" i="0" dirty="0">
                <a:solidFill>
                  <a:srgbClr val="273239"/>
                </a:solidFill>
                <a:effectLst/>
                <a:highlight>
                  <a:srgbClr val="FFFFFF"/>
                </a:highlight>
                <a:latin typeface="Nunito" pitchFamily="2" charset="0"/>
              </a:rPr>
              <a:t>When there is only ONE entity set participating in a relation, the relationship is called a unary relationship. For example, one person is married to only one person. </a:t>
            </a: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marL="342900" indent="-342900" algn="just" rtl="0" fontAlgn="base">
              <a:buAutoNum type="arabicPeriod"/>
            </a:pPr>
            <a:r>
              <a:rPr lang="en-US" b="1" i="0" dirty="0">
                <a:solidFill>
                  <a:srgbClr val="273239"/>
                </a:solidFill>
                <a:effectLst/>
                <a:highlight>
                  <a:srgbClr val="FFFFFF"/>
                </a:highlight>
                <a:latin typeface="Nunito" pitchFamily="2" charset="0"/>
              </a:rPr>
              <a:t>Binary Relationship: </a:t>
            </a:r>
            <a:r>
              <a:rPr lang="en-US" b="0" i="0" dirty="0">
                <a:solidFill>
                  <a:srgbClr val="273239"/>
                </a:solidFill>
                <a:effectLst/>
                <a:highlight>
                  <a:srgbClr val="FFFFFF"/>
                </a:highlight>
                <a:latin typeface="Nunito" pitchFamily="2" charset="0"/>
              </a:rPr>
              <a:t>When there are TWO entities set participating in a relationship, the relationship is called a binary relationship. For example, a Student is enrolled in a Course. </a:t>
            </a: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fontAlgn="base"/>
            <a:r>
              <a:rPr lang="en-US" dirty="0">
                <a:solidFill>
                  <a:srgbClr val="273239"/>
                </a:solidFill>
                <a:highlight>
                  <a:srgbClr val="FFFFFF"/>
                </a:highlight>
                <a:latin typeface="Nunito" pitchFamily="2" charset="0"/>
              </a:rPr>
              <a:t>      Example: </a:t>
            </a:r>
            <a:r>
              <a:rPr lang="en-US" dirty="0"/>
              <a:t>the WORKS_FOR relationship is of degree two. A relationship type of degree two is called binary.</a:t>
            </a:r>
            <a:endParaRPr lang="en-US" b="1" i="0" dirty="0">
              <a:solidFill>
                <a:srgbClr val="273239"/>
              </a:solidFill>
              <a:effectLst/>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marL="342900" indent="-342900" algn="just" rtl="0" fontAlgn="base">
              <a:buAutoNum type="arabicPeriod"/>
            </a:pPr>
            <a:r>
              <a:rPr lang="en-US" b="1" i="0" dirty="0">
                <a:solidFill>
                  <a:srgbClr val="273239"/>
                </a:solidFill>
                <a:effectLst/>
                <a:highlight>
                  <a:srgbClr val="FFFFFF"/>
                </a:highlight>
                <a:latin typeface="Nunito" pitchFamily="2" charset="0"/>
              </a:rPr>
              <a:t>Ternary Relationship: </a:t>
            </a:r>
            <a:r>
              <a:rPr lang="en-US" b="0" i="0" dirty="0">
                <a:solidFill>
                  <a:srgbClr val="273239"/>
                </a:solidFill>
                <a:effectLst/>
                <a:highlight>
                  <a:srgbClr val="FFFFFF"/>
                </a:highlight>
                <a:latin typeface="Nunito" pitchFamily="2" charset="0"/>
              </a:rPr>
              <a:t>When there are three entity sets participating in a relationship, the relationship is called a ternary relationship.</a:t>
            </a:r>
          </a:p>
          <a:p>
            <a:pPr marL="342900" indent="-342900" algn="just" rtl="0" fontAlgn="base">
              <a:buAutoNum type="arabicPeriod"/>
            </a:pPr>
            <a:endParaRPr lang="en-US" dirty="0">
              <a:solidFill>
                <a:srgbClr val="273239"/>
              </a:solidFill>
              <a:highlight>
                <a:srgbClr val="FFFFFF"/>
              </a:highlight>
              <a:latin typeface="Nunito" pitchFamily="2" charset="0"/>
            </a:endParaRPr>
          </a:p>
          <a:p>
            <a:pPr algn="just" rtl="0" fontAlgn="base"/>
            <a:endParaRPr lang="en-US" dirty="0">
              <a:solidFill>
                <a:srgbClr val="273239"/>
              </a:solidFill>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a:p>
            <a:pPr algn="just" rtl="0" fontAlgn="base"/>
            <a:endParaRPr lang="en-US" b="0" i="0" dirty="0">
              <a:solidFill>
                <a:srgbClr val="273239"/>
              </a:solidFill>
              <a:effectLst/>
              <a:highlight>
                <a:srgbClr val="FFFFFF"/>
              </a:highlight>
              <a:latin typeface="Nunito" pitchFamily="2" charset="0"/>
            </a:endParaRPr>
          </a:p>
        </p:txBody>
      </p:sp>
      <p:pic>
        <p:nvPicPr>
          <p:cNvPr id="7" name="Picture 6">
            <a:extLst>
              <a:ext uri="{FF2B5EF4-FFF2-40B4-BE49-F238E27FC236}">
                <a16:creationId xmlns:a16="http://schemas.microsoft.com/office/drawing/2014/main" id="{8186398A-B50D-A313-BC91-562AD2E68CA7}"/>
              </a:ext>
            </a:extLst>
          </p:cNvPr>
          <p:cNvPicPr>
            <a:picLocks noChangeAspect="1"/>
          </p:cNvPicPr>
          <p:nvPr/>
        </p:nvPicPr>
        <p:blipFill rotWithShape="1">
          <a:blip r:embed="rId3"/>
          <a:srcRect t="10733" r="6064" b="5223"/>
          <a:stretch/>
        </p:blipFill>
        <p:spPr>
          <a:xfrm>
            <a:off x="4859547" y="1598501"/>
            <a:ext cx="2386641" cy="659883"/>
          </a:xfrm>
          <a:prstGeom prst="rect">
            <a:avLst/>
          </a:prstGeom>
        </p:spPr>
      </p:pic>
      <p:sp>
        <p:nvSpPr>
          <p:cNvPr id="2" name="Rectangle 1">
            <a:extLst>
              <a:ext uri="{FF2B5EF4-FFF2-40B4-BE49-F238E27FC236}">
                <a16:creationId xmlns:a16="http://schemas.microsoft.com/office/drawing/2014/main" id="{78A05DC4-74EE-2904-D956-63148A724410}"/>
              </a:ext>
            </a:extLst>
          </p:cNvPr>
          <p:cNvSpPr/>
          <p:nvPr/>
        </p:nvSpPr>
        <p:spPr>
          <a:xfrm>
            <a:off x="2530415" y="3197525"/>
            <a:ext cx="1058174" cy="2990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F0FD283-BA9F-160C-0AE4-71EA1123D483}"/>
              </a:ext>
            </a:extLst>
          </p:cNvPr>
          <p:cNvSpPr/>
          <p:nvPr/>
        </p:nvSpPr>
        <p:spPr>
          <a:xfrm>
            <a:off x="5940725" y="3197525"/>
            <a:ext cx="1058174" cy="2990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Diamond 4">
            <a:extLst>
              <a:ext uri="{FF2B5EF4-FFF2-40B4-BE49-F238E27FC236}">
                <a16:creationId xmlns:a16="http://schemas.microsoft.com/office/drawing/2014/main" id="{EFBF4238-1F8E-75A3-CC43-F7EF0DA85AFB}"/>
              </a:ext>
            </a:extLst>
          </p:cNvPr>
          <p:cNvSpPr/>
          <p:nvPr/>
        </p:nvSpPr>
        <p:spPr>
          <a:xfrm>
            <a:off x="4422475" y="3255034"/>
            <a:ext cx="437072" cy="253041"/>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D94232A6-717B-B9FE-44E4-5CF011F353F8}"/>
              </a:ext>
            </a:extLst>
          </p:cNvPr>
          <p:cNvCxnSpPr>
            <a:cxnSpLocks/>
          </p:cNvCxnSpPr>
          <p:nvPr/>
        </p:nvCxnSpPr>
        <p:spPr>
          <a:xfrm>
            <a:off x="3588589" y="3381554"/>
            <a:ext cx="83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1B320B4A-E876-67BE-A714-28E57F6209FF}"/>
              </a:ext>
            </a:extLst>
          </p:cNvPr>
          <p:cNvCxnSpPr>
            <a:cxnSpLocks/>
            <a:stCxn id="5" idx="3"/>
          </p:cNvCxnSpPr>
          <p:nvPr/>
        </p:nvCxnSpPr>
        <p:spPr>
          <a:xfrm>
            <a:off x="4859547" y="3381555"/>
            <a:ext cx="1081178" cy="0"/>
          </a:xfrm>
          <a:prstGeom prst="line">
            <a:avLst/>
          </a:prstGeom>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D9A3C5E7-ACDC-6723-7D2B-43A50D8BCB6D}"/>
              </a:ext>
            </a:extLst>
          </p:cNvPr>
          <p:cNvSpPr/>
          <p:nvPr/>
        </p:nvSpPr>
        <p:spPr>
          <a:xfrm>
            <a:off x="2682815" y="5364851"/>
            <a:ext cx="1058174" cy="2718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526D77B2-127C-E19E-5EA4-396078204F19}"/>
              </a:ext>
            </a:extLst>
          </p:cNvPr>
          <p:cNvSpPr/>
          <p:nvPr/>
        </p:nvSpPr>
        <p:spPr>
          <a:xfrm>
            <a:off x="6093125" y="5364851"/>
            <a:ext cx="1058174" cy="2718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Diamond 14">
            <a:extLst>
              <a:ext uri="{FF2B5EF4-FFF2-40B4-BE49-F238E27FC236}">
                <a16:creationId xmlns:a16="http://schemas.microsoft.com/office/drawing/2014/main" id="{94F6EB8B-3C6E-AD00-1480-90B5AC11AB23}"/>
              </a:ext>
            </a:extLst>
          </p:cNvPr>
          <p:cNvSpPr/>
          <p:nvPr/>
        </p:nvSpPr>
        <p:spPr>
          <a:xfrm>
            <a:off x="4574875" y="5420269"/>
            <a:ext cx="437072" cy="230037"/>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a:extLst>
              <a:ext uri="{FF2B5EF4-FFF2-40B4-BE49-F238E27FC236}">
                <a16:creationId xmlns:a16="http://schemas.microsoft.com/office/drawing/2014/main" id="{F36C617C-F045-B7F2-C946-894B73F5B4C0}"/>
              </a:ext>
            </a:extLst>
          </p:cNvPr>
          <p:cNvCxnSpPr>
            <a:cxnSpLocks/>
          </p:cNvCxnSpPr>
          <p:nvPr/>
        </p:nvCxnSpPr>
        <p:spPr>
          <a:xfrm>
            <a:off x="3740989" y="5535287"/>
            <a:ext cx="83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919CA2B-760A-0EEF-349B-E28CAE69AC40}"/>
              </a:ext>
            </a:extLst>
          </p:cNvPr>
          <p:cNvCxnSpPr>
            <a:cxnSpLocks/>
            <a:stCxn id="15" idx="3"/>
          </p:cNvCxnSpPr>
          <p:nvPr/>
        </p:nvCxnSpPr>
        <p:spPr>
          <a:xfrm>
            <a:off x="5011947" y="5535288"/>
            <a:ext cx="1081178"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8177F884-9DC9-08B1-AFDA-B0ADC22CBBF6}"/>
              </a:ext>
            </a:extLst>
          </p:cNvPr>
          <p:cNvSpPr/>
          <p:nvPr/>
        </p:nvSpPr>
        <p:spPr>
          <a:xfrm>
            <a:off x="4252822" y="4644477"/>
            <a:ext cx="1081178" cy="2530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82265923-E829-9716-F6D6-96D6D7BDF72D}"/>
              </a:ext>
            </a:extLst>
          </p:cNvPr>
          <p:cNvCxnSpPr>
            <a:cxnSpLocks/>
            <a:stCxn id="18" idx="2"/>
            <a:endCxn id="15" idx="0"/>
          </p:cNvCxnSpPr>
          <p:nvPr/>
        </p:nvCxnSpPr>
        <p:spPr>
          <a:xfrm>
            <a:off x="4793411" y="4897504"/>
            <a:ext cx="0" cy="52276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58453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F3B66E-DBB9-3BCC-1FD8-E0409D822D8B}"/>
              </a:ext>
            </a:extLst>
          </p:cNvPr>
          <p:cNvSpPr txBox="1"/>
          <p:nvPr/>
        </p:nvSpPr>
        <p:spPr>
          <a:xfrm>
            <a:off x="80513" y="862641"/>
            <a:ext cx="11312106" cy="646331"/>
          </a:xfrm>
          <a:prstGeom prst="rect">
            <a:avLst/>
          </a:prstGeom>
          <a:noFill/>
        </p:spPr>
        <p:txBody>
          <a:bodyPr wrap="square">
            <a:spAutoFit/>
          </a:bodyPr>
          <a:lstStyle/>
          <a:p>
            <a:pPr algn="just"/>
            <a:endParaRPr lang="en-US" b="1" i="0" dirty="0">
              <a:solidFill>
                <a:srgbClr val="333333"/>
              </a:solidFill>
              <a:effectLst/>
              <a:highlight>
                <a:srgbClr val="FFFFFF"/>
              </a:highlight>
              <a:latin typeface="inter-bold"/>
            </a:endParaRPr>
          </a:p>
          <a:p>
            <a:pPr algn="just"/>
            <a:endParaRPr lang="en-US" b="0" i="0" dirty="0">
              <a:solidFill>
                <a:srgbClr val="333333"/>
              </a:solidFill>
              <a:effectLst/>
              <a:highlight>
                <a:srgbClr val="FFFFFF"/>
              </a:highlight>
              <a:latin typeface="inter-regular"/>
            </a:endParaRPr>
          </a:p>
        </p:txBody>
      </p:sp>
      <p:sp>
        <p:nvSpPr>
          <p:cNvPr id="5" name="TextBox 4">
            <a:extLst>
              <a:ext uri="{FF2B5EF4-FFF2-40B4-BE49-F238E27FC236}">
                <a16:creationId xmlns:a16="http://schemas.microsoft.com/office/drawing/2014/main" id="{F7B90015-3DFB-0F6F-8264-1E0E02832021}"/>
              </a:ext>
            </a:extLst>
          </p:cNvPr>
          <p:cNvSpPr txBox="1"/>
          <p:nvPr/>
        </p:nvSpPr>
        <p:spPr>
          <a:xfrm>
            <a:off x="1069675" y="483079"/>
            <a:ext cx="10512725" cy="3693319"/>
          </a:xfrm>
          <a:prstGeom prst="rect">
            <a:avLst/>
          </a:prstGeom>
          <a:noFill/>
        </p:spPr>
        <p:txBody>
          <a:bodyPr wrap="square">
            <a:spAutoFit/>
          </a:bodyPr>
          <a:lstStyle/>
          <a:p>
            <a:r>
              <a:rPr lang="en-IN" b="1" dirty="0"/>
              <a:t>Relationship:</a:t>
            </a:r>
          </a:p>
          <a:p>
            <a:endParaRPr lang="en-IN" b="1" dirty="0"/>
          </a:p>
          <a:p>
            <a:r>
              <a:rPr lang="en-IN" b="1" dirty="0"/>
              <a:t>Cardinality Ratios:</a:t>
            </a:r>
            <a:r>
              <a:rPr lang="en-US" b="0" i="0" dirty="0">
                <a:solidFill>
                  <a:srgbClr val="273239"/>
                </a:solidFill>
                <a:effectLst/>
                <a:highlight>
                  <a:srgbClr val="FFFFFF"/>
                </a:highlight>
                <a:latin typeface="Nunito" pitchFamily="2" charset="0"/>
              </a:rPr>
              <a:t>The number of times an entity of an entity set participates in a relationship set is known as </a:t>
            </a:r>
            <a:r>
              <a:rPr lang="en-US" b="0" i="0" u="sng" dirty="0">
                <a:effectLst/>
                <a:highlight>
                  <a:srgbClr val="FFFFFF"/>
                </a:highlight>
                <a:latin typeface="Nunito" pitchFamily="2" charset="0"/>
                <a:hlinkClick r:id="rId2"/>
              </a:rPr>
              <a:t>cardinality</a:t>
            </a:r>
            <a:r>
              <a:rPr lang="en-US" b="0" i="0" dirty="0">
                <a:solidFill>
                  <a:srgbClr val="273239"/>
                </a:solidFill>
                <a:effectLst/>
                <a:highlight>
                  <a:srgbClr val="FFFFFF"/>
                </a:highlight>
                <a:latin typeface="Nunito" pitchFamily="2" charset="0"/>
              </a:rPr>
              <a:t>. Cardinality can be of different types.</a:t>
            </a:r>
          </a:p>
          <a:p>
            <a:endParaRPr lang="en-US" dirty="0">
              <a:solidFill>
                <a:srgbClr val="273239"/>
              </a:solidFill>
              <a:highlight>
                <a:srgbClr val="FFFFFF"/>
              </a:highlight>
              <a:latin typeface="Nunito" pitchFamily="2" charset="0"/>
            </a:endParaRPr>
          </a:p>
          <a:p>
            <a:endParaRPr lang="en-US" b="0" i="0" dirty="0">
              <a:solidFill>
                <a:srgbClr val="273239"/>
              </a:solidFill>
              <a:effectLst/>
              <a:highlight>
                <a:srgbClr val="FFFFFF"/>
              </a:highlight>
              <a:latin typeface="Nunito" pitchFamily="2" charset="0"/>
            </a:endParaRPr>
          </a:p>
          <a:p>
            <a:r>
              <a:rPr lang="en-US" dirty="0"/>
              <a:t>A relationship is represented by diamond shape in ER diagram, it shows the relationship among entities. There are four types of cardinal relationships: </a:t>
            </a:r>
          </a:p>
          <a:p>
            <a:endParaRPr lang="en-US" dirty="0"/>
          </a:p>
          <a:p>
            <a:pPr marL="342900" indent="-342900">
              <a:buAutoNum type="arabicPeriod"/>
            </a:pPr>
            <a:r>
              <a:rPr lang="en-US" dirty="0"/>
              <a:t>One to One </a:t>
            </a:r>
          </a:p>
          <a:p>
            <a:pPr marL="342900" indent="-342900">
              <a:buAutoNum type="arabicPeriod"/>
            </a:pPr>
            <a:r>
              <a:rPr lang="en-US" dirty="0"/>
              <a:t> One to Many</a:t>
            </a:r>
          </a:p>
          <a:p>
            <a:pPr marL="342900" indent="-342900">
              <a:buAutoNum type="arabicPeriod"/>
            </a:pPr>
            <a:r>
              <a:rPr lang="en-US" dirty="0"/>
              <a:t> Many to One </a:t>
            </a:r>
          </a:p>
          <a:p>
            <a:pPr marL="342900" indent="-342900">
              <a:buAutoNum type="arabicPeriod"/>
            </a:pPr>
            <a:r>
              <a:rPr lang="en-US" dirty="0"/>
              <a:t> Many to Many </a:t>
            </a:r>
            <a:endParaRPr lang="en-US" b="0" i="0" dirty="0">
              <a:solidFill>
                <a:srgbClr val="273239"/>
              </a:solidFill>
              <a:effectLst/>
              <a:highlight>
                <a:srgbClr val="FFFFFF"/>
              </a:highlight>
              <a:latin typeface="Nunito" pitchFamily="2" charset="0"/>
            </a:endParaRPr>
          </a:p>
        </p:txBody>
      </p:sp>
    </p:spTree>
    <p:extLst>
      <p:ext uri="{BB962C8B-B14F-4D97-AF65-F5344CB8AC3E}">
        <p14:creationId xmlns:p14="http://schemas.microsoft.com/office/powerpoint/2010/main" val="26996892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5F2575-3CEA-E522-7EF0-1A42867EA2BA}"/>
              </a:ext>
            </a:extLst>
          </p:cNvPr>
          <p:cNvPicPr>
            <a:picLocks noChangeAspect="1"/>
          </p:cNvPicPr>
          <p:nvPr/>
        </p:nvPicPr>
        <p:blipFill>
          <a:blip r:embed="rId2"/>
          <a:stretch>
            <a:fillRect/>
          </a:stretch>
        </p:blipFill>
        <p:spPr>
          <a:xfrm>
            <a:off x="2622431" y="1568146"/>
            <a:ext cx="6786112" cy="5015828"/>
          </a:xfrm>
          <a:prstGeom prst="rect">
            <a:avLst/>
          </a:prstGeom>
        </p:spPr>
      </p:pic>
    </p:spTree>
    <p:extLst>
      <p:ext uri="{BB962C8B-B14F-4D97-AF65-F5344CB8AC3E}">
        <p14:creationId xmlns:p14="http://schemas.microsoft.com/office/powerpoint/2010/main" val="36599510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24936D-3F14-7352-BAB8-0C3ADC5CDE97}"/>
              </a:ext>
            </a:extLst>
          </p:cNvPr>
          <p:cNvSpPr txBox="1"/>
          <p:nvPr/>
        </p:nvSpPr>
        <p:spPr>
          <a:xfrm>
            <a:off x="253042" y="281796"/>
            <a:ext cx="11570898" cy="3139321"/>
          </a:xfrm>
          <a:prstGeom prst="rect">
            <a:avLst/>
          </a:prstGeom>
          <a:noFill/>
        </p:spPr>
        <p:txBody>
          <a:bodyPr wrap="square">
            <a:spAutoFit/>
          </a:bodyPr>
          <a:lstStyle/>
          <a:p>
            <a:endParaRPr lang="en-US" dirty="0">
              <a:solidFill>
                <a:srgbClr val="273239"/>
              </a:solidFill>
              <a:highlight>
                <a:srgbClr val="FFFFFF"/>
              </a:highlight>
              <a:latin typeface="Nunito" pitchFamily="2" charset="0"/>
            </a:endParaRPr>
          </a:p>
          <a:p>
            <a:r>
              <a:rPr lang="en-IN" b="1" i="0" dirty="0">
                <a:solidFill>
                  <a:srgbClr val="444542"/>
                </a:solidFill>
                <a:effectLst/>
                <a:highlight>
                  <a:srgbClr val="FFFFFF"/>
                </a:highlight>
                <a:latin typeface="Raleway" panose="020F0502020204030204" pitchFamily="2" charset="0"/>
              </a:rPr>
              <a:t>One to One Relationship:</a:t>
            </a:r>
          </a:p>
          <a:p>
            <a:endParaRPr lang="en-US" dirty="0">
              <a:solidFill>
                <a:srgbClr val="273239"/>
              </a:solidFill>
              <a:highlight>
                <a:srgbClr val="FFFFFF"/>
              </a:highlight>
              <a:latin typeface="Nunito" pitchFamily="2" charset="0"/>
            </a:endParaRPr>
          </a:p>
          <a:p>
            <a:r>
              <a:rPr lang="en-US" b="0" i="0" dirty="0">
                <a:solidFill>
                  <a:srgbClr val="222426"/>
                </a:solidFill>
                <a:effectLst/>
                <a:highlight>
                  <a:srgbClr val="FFFFFF"/>
                </a:highlight>
                <a:latin typeface="Roboto" panose="02000000000000000000" pitchFamily="2" charset="0"/>
              </a:rPr>
              <a:t>When a single instance of an entity is associated with a single instance of another entity then it is called one to one relationship.</a:t>
            </a:r>
          </a:p>
          <a:p>
            <a:r>
              <a:rPr lang="en-US" dirty="0"/>
              <a:t>An example of a 1:1 binary relationship is MANAGES (Figure 7.12), which relates a department entity to the employee who manages that department. This represents the </a:t>
            </a:r>
            <a:r>
              <a:rPr lang="en-US" dirty="0" err="1"/>
              <a:t>miniworld</a:t>
            </a:r>
            <a:r>
              <a:rPr lang="en-US" dirty="0"/>
              <a:t> constraints that—at any point in time—an employee can manage one department only and a department can have one manager only</a:t>
            </a:r>
            <a:endParaRPr lang="en-US" b="0" i="0" dirty="0">
              <a:solidFill>
                <a:srgbClr val="222426"/>
              </a:solidFill>
              <a:effectLst/>
              <a:highlight>
                <a:srgbClr val="FFFFFF"/>
              </a:highlight>
              <a:latin typeface="Roboto" panose="02000000000000000000" pitchFamily="2" charset="0"/>
            </a:endParaRPr>
          </a:p>
          <a:p>
            <a:endParaRPr lang="en-US" dirty="0">
              <a:solidFill>
                <a:srgbClr val="222426"/>
              </a:solidFill>
              <a:highlight>
                <a:srgbClr val="FFFFFF"/>
              </a:highlight>
              <a:latin typeface="Roboto" panose="02000000000000000000" pitchFamily="2" charset="0"/>
            </a:endParaRPr>
          </a:p>
          <a:p>
            <a:endParaRPr lang="en-US" dirty="0">
              <a:solidFill>
                <a:srgbClr val="222426"/>
              </a:solidFill>
              <a:highlight>
                <a:srgbClr val="FFFFFF"/>
              </a:highlight>
              <a:latin typeface="Roboto" panose="02000000000000000000" pitchFamily="2" charset="0"/>
            </a:endParaRPr>
          </a:p>
          <a:p>
            <a:endParaRPr lang="en-IN" dirty="0"/>
          </a:p>
        </p:txBody>
      </p:sp>
      <p:pic>
        <p:nvPicPr>
          <p:cNvPr id="5" name="Picture 4">
            <a:extLst>
              <a:ext uri="{FF2B5EF4-FFF2-40B4-BE49-F238E27FC236}">
                <a16:creationId xmlns:a16="http://schemas.microsoft.com/office/drawing/2014/main" id="{3BD2639F-1842-5EFC-7BB3-A33247372ED7}"/>
              </a:ext>
            </a:extLst>
          </p:cNvPr>
          <p:cNvPicPr>
            <a:picLocks noChangeAspect="1"/>
          </p:cNvPicPr>
          <p:nvPr/>
        </p:nvPicPr>
        <p:blipFill>
          <a:blip r:embed="rId2"/>
          <a:stretch>
            <a:fillRect/>
          </a:stretch>
        </p:blipFill>
        <p:spPr>
          <a:xfrm>
            <a:off x="2812210" y="3536830"/>
            <a:ext cx="5923473" cy="2810741"/>
          </a:xfrm>
          <a:prstGeom prst="rect">
            <a:avLst/>
          </a:prstGeom>
        </p:spPr>
      </p:pic>
    </p:spTree>
    <p:extLst>
      <p:ext uri="{BB962C8B-B14F-4D97-AF65-F5344CB8AC3E}">
        <p14:creationId xmlns:p14="http://schemas.microsoft.com/office/powerpoint/2010/main" val="27456037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B4A60B-E9B1-4F5C-8A7D-95130FE89035}"/>
              </a:ext>
            </a:extLst>
          </p:cNvPr>
          <p:cNvSpPr txBox="1"/>
          <p:nvPr/>
        </p:nvSpPr>
        <p:spPr>
          <a:xfrm>
            <a:off x="454325" y="208183"/>
            <a:ext cx="10961298" cy="5478423"/>
          </a:xfrm>
          <a:prstGeom prst="rect">
            <a:avLst/>
          </a:prstGeom>
          <a:noFill/>
        </p:spPr>
        <p:txBody>
          <a:bodyPr wrap="square">
            <a:spAutoFit/>
          </a:bodyPr>
          <a:lstStyle/>
          <a:p>
            <a:pPr algn="l"/>
            <a:r>
              <a:rPr lang="en-IN" b="1" i="0" dirty="0">
                <a:solidFill>
                  <a:srgbClr val="444542"/>
                </a:solidFill>
                <a:effectLst/>
                <a:highlight>
                  <a:srgbClr val="FFFFFF"/>
                </a:highlight>
                <a:latin typeface="Raleway" pitchFamily="2" charset="0"/>
              </a:rPr>
              <a:t>One to Many Relationship:</a:t>
            </a:r>
          </a:p>
          <a:p>
            <a:pPr algn="l"/>
            <a:endParaRPr lang="en-IN" b="1" dirty="0">
              <a:solidFill>
                <a:srgbClr val="444542"/>
              </a:solidFill>
              <a:highlight>
                <a:srgbClr val="FFFFFF"/>
              </a:highlight>
              <a:latin typeface="Raleway" pitchFamily="2" charset="0"/>
            </a:endParaRPr>
          </a:p>
          <a:p>
            <a:pPr algn="l"/>
            <a:r>
              <a:rPr lang="en-US" b="0" i="0" dirty="0">
                <a:solidFill>
                  <a:srgbClr val="222426"/>
                </a:solidFill>
                <a:effectLst/>
                <a:highlight>
                  <a:srgbClr val="FFFFFF"/>
                </a:highlight>
                <a:latin typeface="Roboto" panose="02000000000000000000" pitchFamily="2" charset="0"/>
              </a:rPr>
              <a:t>When a single instance of an entity is associated with more than one instances of another entity then it is called one to many relationship. For example – a customer can place many orders but a order cannot be placed by many customers.</a:t>
            </a:r>
          </a:p>
          <a:p>
            <a:pPr algn="l"/>
            <a:endParaRPr lang="en-US" b="0" i="0" dirty="0">
              <a:solidFill>
                <a:srgbClr val="222426"/>
              </a:solidFill>
              <a:effectLst/>
              <a:highlight>
                <a:srgbClr val="FFFFFF"/>
              </a:highlight>
              <a:latin typeface="Roboto" panose="02000000000000000000" pitchFamily="2" charset="0"/>
            </a:endParaRPr>
          </a:p>
          <a:p>
            <a:pPr algn="l"/>
            <a:endParaRPr lang="en-US" b="0" i="0" dirty="0">
              <a:solidFill>
                <a:srgbClr val="222426"/>
              </a:solidFill>
              <a:effectLst/>
              <a:highlight>
                <a:srgbClr val="FFFFFF"/>
              </a:highlight>
              <a:latin typeface="Roboto" panose="02000000000000000000" pitchFamily="2" charset="0"/>
            </a:endParaRPr>
          </a:p>
          <a:p>
            <a:pPr algn="l"/>
            <a:endParaRPr lang="en-US" dirty="0">
              <a:solidFill>
                <a:srgbClr val="222426"/>
              </a:solidFill>
              <a:highlight>
                <a:srgbClr val="FFFFFF"/>
              </a:highlight>
              <a:latin typeface="Roboto" panose="02000000000000000000" pitchFamily="2" charset="0"/>
            </a:endParaRPr>
          </a:p>
          <a:p>
            <a:pPr algn="l"/>
            <a:endParaRPr lang="en-US" b="0" i="0" dirty="0">
              <a:solidFill>
                <a:srgbClr val="222426"/>
              </a:solidFill>
              <a:effectLst/>
              <a:highlight>
                <a:srgbClr val="FFFFFF"/>
              </a:highlight>
              <a:latin typeface="Roboto" panose="02000000000000000000" pitchFamily="2" charset="0"/>
            </a:endParaRPr>
          </a:p>
          <a:p>
            <a:pPr algn="l"/>
            <a:endParaRPr lang="en-US" dirty="0">
              <a:solidFill>
                <a:srgbClr val="222426"/>
              </a:solidFill>
              <a:highlight>
                <a:srgbClr val="FFFFFF"/>
              </a:highlight>
              <a:latin typeface="Roboto" panose="02000000000000000000" pitchFamily="2" charset="0"/>
            </a:endParaRPr>
          </a:p>
          <a:p>
            <a:pPr algn="l"/>
            <a:endParaRPr lang="en-US" b="0" i="0" dirty="0">
              <a:solidFill>
                <a:srgbClr val="222426"/>
              </a:solidFill>
              <a:effectLst/>
              <a:highlight>
                <a:srgbClr val="FFFFFF"/>
              </a:highlight>
              <a:latin typeface="Roboto" panose="02000000000000000000" pitchFamily="2" charset="0"/>
            </a:endParaRPr>
          </a:p>
          <a:p>
            <a:pPr algn="just"/>
            <a:r>
              <a:rPr lang="en-US" b="1" i="0" dirty="0">
                <a:solidFill>
                  <a:srgbClr val="333333"/>
                </a:solidFill>
                <a:effectLst/>
                <a:highlight>
                  <a:srgbClr val="FFFFFF"/>
                </a:highlight>
                <a:latin typeface="inter-bold"/>
              </a:rPr>
              <a:t>Many-to-one relationship</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When more than one instance of the entity on the left, and only one instance of an entity on the right associates with the relationship then it is known as a many-to-one relationship.</a:t>
            </a:r>
          </a:p>
          <a:p>
            <a:pPr algn="l"/>
            <a:endParaRPr lang="en-US" b="0" i="0" dirty="0">
              <a:solidFill>
                <a:srgbClr val="222426"/>
              </a:solidFill>
              <a:effectLst/>
              <a:highlight>
                <a:srgbClr val="FFFFFF"/>
              </a:highlight>
              <a:latin typeface="Roboto" panose="02000000000000000000" pitchFamily="2" charset="0"/>
            </a:endParaRPr>
          </a:p>
          <a:p>
            <a:r>
              <a:rPr kumimoji="0" lang="en-US" altLang="en-US" sz="1800" b="1" i="0" u="none" strike="noStrike" cap="none" normalizeH="0" baseline="0" dirty="0">
                <a:ln>
                  <a:noFill/>
                </a:ln>
                <a:solidFill>
                  <a:srgbClr val="333333"/>
                </a:solidFill>
                <a:effectLst/>
                <a:latin typeface="inter-bold"/>
              </a:rPr>
              <a:t>For example,</a:t>
            </a:r>
            <a:r>
              <a:rPr kumimoji="0" lang="en-US" altLang="en-US" sz="1800" b="0" i="0" u="none" strike="noStrike" cap="none" normalizeH="0" baseline="0" dirty="0">
                <a:ln>
                  <a:noFill/>
                </a:ln>
                <a:solidFill>
                  <a:srgbClr val="333333"/>
                </a:solidFill>
                <a:effectLst/>
                <a:latin typeface="inter-regular"/>
              </a:rPr>
              <a:t> Student </a:t>
            </a:r>
            <a:r>
              <a:rPr lang="en-US" altLang="en-US" dirty="0">
                <a:solidFill>
                  <a:srgbClr val="333333"/>
                </a:solidFill>
                <a:latin typeface="inter-regular"/>
              </a:rPr>
              <a:t>en</a:t>
            </a:r>
            <a:r>
              <a:rPr kumimoji="0" lang="en-US" altLang="en-US" sz="1800" b="0" i="0" u="none" strike="noStrike" cap="none" normalizeH="0" baseline="0" dirty="0">
                <a:ln>
                  <a:noFill/>
                </a:ln>
                <a:solidFill>
                  <a:srgbClr val="333333"/>
                </a:solidFill>
                <a:effectLst/>
                <a:latin typeface="inter-regular"/>
              </a:rPr>
              <a:t>rolls for only one course, but a course can have many students.</a:t>
            </a:r>
          </a:p>
          <a:p>
            <a:endParaRPr kumimoji="0" lang="en-US" altLang="en-US" sz="800" b="0" i="0" u="none" strike="noStrike" cap="none" normalizeH="0" baseline="0" dirty="0">
              <a:ln>
                <a:noFill/>
              </a:ln>
              <a:solidFill>
                <a:schemeClr val="tx1"/>
              </a:solidFill>
              <a:effectLst/>
            </a:endParaRPr>
          </a:p>
          <a:p>
            <a:pPr algn="l"/>
            <a:endParaRPr lang="en-US" b="0" i="0" dirty="0">
              <a:solidFill>
                <a:srgbClr val="222426"/>
              </a:solidFill>
              <a:effectLst/>
              <a:highlight>
                <a:srgbClr val="FFFFFF"/>
              </a:highlight>
              <a:latin typeface="Roboto" panose="02000000000000000000" pitchFamily="2" charset="0"/>
            </a:endParaRPr>
          </a:p>
          <a:p>
            <a:pPr algn="l"/>
            <a:endParaRPr lang="en-US" dirty="0">
              <a:solidFill>
                <a:srgbClr val="222426"/>
              </a:solidFill>
              <a:highlight>
                <a:srgbClr val="FFFFFF"/>
              </a:highlight>
              <a:latin typeface="Roboto" panose="02000000000000000000" pitchFamily="2" charset="0"/>
            </a:endParaRPr>
          </a:p>
          <a:p>
            <a:pPr algn="l"/>
            <a:endParaRPr lang="en-IN" b="1" i="0" dirty="0">
              <a:solidFill>
                <a:srgbClr val="444542"/>
              </a:solidFill>
              <a:effectLst/>
              <a:highlight>
                <a:srgbClr val="FFFFFF"/>
              </a:highlight>
              <a:latin typeface="Raleway" pitchFamily="2" charset="0"/>
            </a:endParaRPr>
          </a:p>
        </p:txBody>
      </p:sp>
      <p:pic>
        <p:nvPicPr>
          <p:cNvPr id="5" name="Picture 2" descr="DBMS ER model concept">
            <a:extLst>
              <a:ext uri="{FF2B5EF4-FFF2-40B4-BE49-F238E27FC236}">
                <a16:creationId xmlns:a16="http://schemas.microsoft.com/office/drawing/2014/main" id="{68E1D08D-2624-9414-4AC2-678EF05F9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3822" y="5411207"/>
            <a:ext cx="5400675" cy="9048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CC43EE0-6CD3-F453-2023-E2945EB03AEA}"/>
              </a:ext>
            </a:extLst>
          </p:cNvPr>
          <p:cNvPicPr>
            <a:picLocks noChangeAspect="1"/>
          </p:cNvPicPr>
          <p:nvPr/>
        </p:nvPicPr>
        <p:blipFill>
          <a:blip r:embed="rId3"/>
          <a:stretch>
            <a:fillRect/>
          </a:stretch>
        </p:blipFill>
        <p:spPr>
          <a:xfrm>
            <a:off x="2904226" y="2345296"/>
            <a:ext cx="5871714" cy="602098"/>
          </a:xfrm>
          <a:prstGeom prst="rect">
            <a:avLst/>
          </a:prstGeom>
        </p:spPr>
      </p:pic>
    </p:spTree>
    <p:extLst>
      <p:ext uri="{BB962C8B-B14F-4D97-AF65-F5344CB8AC3E}">
        <p14:creationId xmlns:p14="http://schemas.microsoft.com/office/powerpoint/2010/main" val="6457241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4AA5EA-3EAF-CD5C-A4CC-CF4D45594F24}"/>
              </a:ext>
            </a:extLst>
          </p:cNvPr>
          <p:cNvSpPr>
            <a:spLocks noChangeArrowheads="1"/>
          </p:cNvSpPr>
          <p:nvPr/>
        </p:nvSpPr>
        <p:spPr bwMode="auto">
          <a:xfrm>
            <a:off x="257875" y="-622467"/>
            <a:ext cx="11308649" cy="59554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inter-bold"/>
              </a:rPr>
              <a:t>Many-to-man relationship</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inter-regular"/>
              </a:rPr>
              <a:t>When more than one instance of the entity on the left, and more than one instance of an entity on the right associates with the relationship then  it is known as a many-to-many relationship. </a:t>
            </a:r>
            <a:r>
              <a:rPr kumimoji="0" lang="en-US" altLang="en-US" b="1" i="0" u="none" strike="noStrike" cap="none" normalizeH="0" baseline="0" dirty="0">
                <a:ln>
                  <a:noFill/>
                </a:ln>
                <a:solidFill>
                  <a:srgbClr val="333333"/>
                </a:solidFill>
                <a:effectLst/>
                <a:latin typeface="inter-bold"/>
              </a:rPr>
              <a:t>For example,</a:t>
            </a:r>
            <a:r>
              <a:rPr kumimoji="0" lang="en-US" altLang="en-US" b="0" i="0" u="none" strike="noStrike" cap="none" normalizeH="0" baseline="0" dirty="0">
                <a:ln>
                  <a:noFill/>
                </a:ln>
                <a:solidFill>
                  <a:srgbClr val="333333"/>
                </a:solidFill>
                <a:effectLst/>
                <a:latin typeface="inter-regular"/>
              </a:rPr>
              <a:t> Employee can assign by many projects and project can have many employees</a:t>
            </a:r>
            <a:r>
              <a:rPr kumimoji="0" lang="en-US" altLang="en-US" sz="1200" b="0" i="0" u="none" strike="noStrike" cap="none" normalizeH="0" baseline="0" dirty="0">
                <a:ln>
                  <a:noFill/>
                </a:ln>
                <a:solidFill>
                  <a:srgbClr val="333333"/>
                </a:solidFill>
                <a:effectLst/>
                <a:latin typeface="inter-regular"/>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57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b="1" i="0" dirty="0">
                <a:solidFill>
                  <a:srgbClr val="273239"/>
                </a:solidFill>
                <a:effectLst/>
                <a:highlight>
                  <a:srgbClr val="FFFFFF"/>
                </a:highlight>
                <a:latin typeface="Nunito" pitchFamily="2" charset="0"/>
              </a:rPr>
              <a:t>Participation Constraints :</a:t>
            </a:r>
            <a:r>
              <a:rPr lang="en-US" b="0" i="0" dirty="0">
                <a:solidFill>
                  <a:srgbClr val="273239"/>
                </a:solidFill>
                <a:effectLst/>
                <a:highlight>
                  <a:srgbClr val="FFFFFF"/>
                </a:highlight>
                <a:latin typeface="Nunito" pitchFamily="2" charset="0"/>
              </a:rPr>
              <a:t> Participation Constraints tell us that the participation in a relationship can either be total or partial.</a:t>
            </a:r>
          </a:p>
          <a:p>
            <a:pPr marL="0" marR="0" lvl="0" indent="0" algn="l" defTabSz="914400" rtl="0" eaLnBrk="0" fontAlgn="base" latinLnBrk="0" hangingPunct="0">
              <a:lnSpc>
                <a:spcPct val="100000"/>
              </a:lnSpc>
              <a:spcBef>
                <a:spcPct val="0"/>
              </a:spcBef>
              <a:spcAft>
                <a:spcPct val="0"/>
              </a:spcAft>
              <a:buClrTx/>
              <a:buSzTx/>
              <a:buFontTx/>
              <a:buNone/>
              <a:tabLst/>
            </a:pPr>
            <a:endParaRPr lang="en-US" b="0" i="0" dirty="0">
              <a:solidFill>
                <a:srgbClr val="273239"/>
              </a:solidFill>
              <a:effectLst/>
              <a:highlight>
                <a:srgbClr val="FFFFFF"/>
              </a:highlight>
              <a:latin typeface="Nunito" pitchFamily="2"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b="1" i="1" dirty="0">
                <a:solidFill>
                  <a:srgbClr val="273239"/>
                </a:solidFill>
                <a:effectLst/>
                <a:highlight>
                  <a:srgbClr val="FFFFFF"/>
                </a:highlight>
                <a:latin typeface="Nunito" pitchFamily="2" charset="0"/>
              </a:rPr>
              <a:t>Total Participation:</a:t>
            </a:r>
            <a:endParaRPr kumimoji="0" lang="en-US" altLang="en-US" sz="1800" b="1" u="none" strike="noStrike" cap="none" normalizeH="0" baseline="0" dirty="0">
              <a:ln>
                <a:noFill/>
              </a:ln>
              <a:solidFill>
                <a:srgbClr val="273239"/>
              </a:solidFill>
              <a:highlight>
                <a:srgbClr val="FFFFFF"/>
              </a:highlight>
              <a:latin typeface="Nunito" pitchFamily="2"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b="0" i="0" dirty="0">
                <a:solidFill>
                  <a:srgbClr val="273239"/>
                </a:solidFill>
                <a:effectLst/>
                <a:highlight>
                  <a:srgbClr val="FFFFFF"/>
                </a:highlight>
                <a:latin typeface="Nunito" pitchFamily="2" charset="0"/>
              </a:rPr>
              <a:t>When each entity in an entity set participates in a relation, it is called </a:t>
            </a:r>
            <a:r>
              <a:rPr lang="en-US" b="0" i="1" dirty="0">
                <a:solidFill>
                  <a:srgbClr val="273239"/>
                </a:solidFill>
                <a:effectLst/>
                <a:highlight>
                  <a:srgbClr val="FFFFFF"/>
                </a:highlight>
                <a:latin typeface="Nunito" pitchFamily="2" charset="0"/>
              </a:rPr>
              <a:t>Total Participation</a:t>
            </a:r>
            <a:r>
              <a:rPr lang="en-US" b="0" i="0" dirty="0">
                <a:solidFill>
                  <a:srgbClr val="273239"/>
                </a:solidFill>
                <a:effectLst/>
                <a:highlight>
                  <a:srgbClr val="FFFFFF"/>
                </a:highlight>
                <a:latin typeface="Nunito" pitchFamily="2"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b="0" i="0" dirty="0">
              <a:solidFill>
                <a:srgbClr val="273239"/>
              </a:solidFill>
              <a:effectLst/>
              <a:highlight>
                <a:srgbClr val="FFFFFF"/>
              </a:highlight>
              <a:latin typeface="Nunito" pitchFamily="2"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b="1" i="1" dirty="0">
                <a:solidFill>
                  <a:srgbClr val="273239"/>
                </a:solidFill>
                <a:effectLst/>
                <a:highlight>
                  <a:srgbClr val="FFFFFF"/>
                </a:highlight>
                <a:latin typeface="Nunito" pitchFamily="2" charset="0"/>
              </a:rPr>
              <a:t>Partial Participation:</a:t>
            </a:r>
            <a:endParaRPr lang="en-US" b="1" dirty="0">
              <a:solidFill>
                <a:srgbClr val="273239"/>
              </a:solidFill>
              <a:highlight>
                <a:srgbClr val="FFFFFF"/>
              </a:highlight>
              <a:latin typeface="Nunito" pitchFamily="2"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b="0" i="0" dirty="0">
                <a:solidFill>
                  <a:srgbClr val="273239"/>
                </a:solidFill>
                <a:effectLst/>
                <a:highlight>
                  <a:srgbClr val="FFFFFF"/>
                </a:highlight>
                <a:latin typeface="Nunito" pitchFamily="2" charset="0"/>
              </a:rPr>
              <a:t>However, when all entities in the given entity set do not participate in a relation, it is called </a:t>
            </a:r>
            <a:r>
              <a:rPr lang="en-US" b="0" i="1" dirty="0">
                <a:solidFill>
                  <a:srgbClr val="273239"/>
                </a:solidFill>
                <a:effectLst/>
                <a:highlight>
                  <a:srgbClr val="FFFFFF"/>
                </a:highlight>
                <a:latin typeface="Nunito" pitchFamily="2" charset="0"/>
              </a:rPr>
              <a:t>Partial Participation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0" name="Picture 2" descr="DBMS ER model concept">
            <a:extLst>
              <a:ext uri="{FF2B5EF4-FFF2-40B4-BE49-F238E27FC236}">
                <a16:creationId xmlns:a16="http://schemas.microsoft.com/office/drawing/2014/main" id="{265E041F-2990-7FA7-BBCD-6A80A6A01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0480" y="1580964"/>
            <a:ext cx="5400675" cy="90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1276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57093B-84D1-2CDA-EEE4-BC5DABF70481}"/>
              </a:ext>
            </a:extLst>
          </p:cNvPr>
          <p:cNvPicPr>
            <a:picLocks noChangeAspect="1"/>
          </p:cNvPicPr>
          <p:nvPr/>
        </p:nvPicPr>
        <p:blipFill>
          <a:blip r:embed="rId2"/>
          <a:stretch>
            <a:fillRect/>
          </a:stretch>
        </p:blipFill>
        <p:spPr>
          <a:xfrm>
            <a:off x="1040921" y="1591075"/>
            <a:ext cx="10110158" cy="4089918"/>
          </a:xfrm>
          <a:prstGeom prst="rect">
            <a:avLst/>
          </a:prstGeom>
        </p:spPr>
      </p:pic>
    </p:spTree>
    <p:extLst>
      <p:ext uri="{BB962C8B-B14F-4D97-AF65-F5344CB8AC3E}">
        <p14:creationId xmlns:p14="http://schemas.microsoft.com/office/powerpoint/2010/main" val="9593053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305266-7374-73DC-2113-F58AD40717B6}"/>
              </a:ext>
            </a:extLst>
          </p:cNvPr>
          <p:cNvSpPr txBox="1"/>
          <p:nvPr/>
        </p:nvSpPr>
        <p:spPr>
          <a:xfrm>
            <a:off x="977660" y="1127185"/>
            <a:ext cx="10863532" cy="1754326"/>
          </a:xfrm>
          <a:prstGeom prst="rect">
            <a:avLst/>
          </a:prstGeom>
          <a:noFill/>
        </p:spPr>
        <p:txBody>
          <a:bodyPr wrap="square">
            <a:spAutoFit/>
          </a:bodyPr>
          <a:lstStyle/>
          <a:p>
            <a:r>
              <a:rPr lang="en-US" b="1" dirty="0"/>
              <a:t>Total Participation </a:t>
            </a:r>
            <a:r>
              <a:rPr lang="en-US" dirty="0"/>
              <a:t>For example:</a:t>
            </a:r>
          </a:p>
          <a:p>
            <a:endParaRPr lang="en-US" dirty="0"/>
          </a:p>
          <a:p>
            <a:r>
              <a:rPr lang="en-US" dirty="0"/>
              <a:t> In the below diagram each college must have at-least one associated Student. </a:t>
            </a:r>
          </a:p>
          <a:p>
            <a:pPr algn="just"/>
            <a:endParaRPr lang="en-US" dirty="0"/>
          </a:p>
          <a:p>
            <a:pPr algn="just"/>
            <a:endParaRPr lang="en-US" dirty="0"/>
          </a:p>
          <a:p>
            <a:pPr algn="just"/>
            <a:endParaRPr lang="en-IN" dirty="0"/>
          </a:p>
        </p:txBody>
      </p:sp>
      <p:pic>
        <p:nvPicPr>
          <p:cNvPr id="5" name="Picture 4">
            <a:extLst>
              <a:ext uri="{FF2B5EF4-FFF2-40B4-BE49-F238E27FC236}">
                <a16:creationId xmlns:a16="http://schemas.microsoft.com/office/drawing/2014/main" id="{41729963-5150-82D7-97A0-90063F2C5EEC}"/>
              </a:ext>
            </a:extLst>
          </p:cNvPr>
          <p:cNvPicPr>
            <a:picLocks noChangeAspect="1"/>
          </p:cNvPicPr>
          <p:nvPr/>
        </p:nvPicPr>
        <p:blipFill>
          <a:blip r:embed="rId2"/>
          <a:stretch>
            <a:fillRect/>
          </a:stretch>
        </p:blipFill>
        <p:spPr>
          <a:xfrm>
            <a:off x="2761234" y="2945674"/>
            <a:ext cx="6551926" cy="3507377"/>
          </a:xfrm>
          <a:prstGeom prst="rect">
            <a:avLst/>
          </a:prstGeom>
        </p:spPr>
      </p:pic>
    </p:spTree>
    <p:extLst>
      <p:ext uri="{BB962C8B-B14F-4D97-AF65-F5344CB8AC3E}">
        <p14:creationId xmlns:p14="http://schemas.microsoft.com/office/powerpoint/2010/main" val="882082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36FA0A-1EC1-8C41-4723-AAD0DEAB491E}"/>
              </a:ext>
            </a:extLst>
          </p:cNvPr>
          <p:cNvSpPr txBox="1"/>
          <p:nvPr/>
        </p:nvSpPr>
        <p:spPr>
          <a:xfrm>
            <a:off x="845389" y="741872"/>
            <a:ext cx="10892286" cy="5632311"/>
          </a:xfrm>
          <a:prstGeom prst="rect">
            <a:avLst/>
          </a:prstGeom>
          <a:noFill/>
        </p:spPr>
        <p:txBody>
          <a:bodyPr wrap="square">
            <a:spAutoFit/>
          </a:bodyPr>
          <a:lstStyle/>
          <a:p>
            <a:r>
              <a:rPr lang="en-US" b="1" i="0" dirty="0">
                <a:solidFill>
                  <a:srgbClr val="273239"/>
                </a:solidFill>
                <a:effectLst/>
                <a:highlight>
                  <a:srgbClr val="FFFFFF"/>
                </a:highlight>
                <a:latin typeface="Nunito" pitchFamily="2" charset="0"/>
              </a:rPr>
              <a:t>Structural Constraints :</a:t>
            </a:r>
            <a:r>
              <a:rPr lang="en-US" b="0" i="0" dirty="0">
                <a:solidFill>
                  <a:srgbClr val="273239"/>
                </a:solidFill>
                <a:effectLst/>
                <a:highlight>
                  <a:srgbClr val="FFFFFF"/>
                </a:highlight>
                <a:latin typeface="Nunito" pitchFamily="2" charset="0"/>
              </a:rPr>
              <a:t> </a:t>
            </a:r>
          </a:p>
          <a:p>
            <a:endParaRPr lang="en-US" dirty="0">
              <a:solidFill>
                <a:srgbClr val="273239"/>
              </a:solidFill>
              <a:highlight>
                <a:srgbClr val="FFFFFF"/>
              </a:highlight>
              <a:latin typeface="Nunito" pitchFamily="2" charset="0"/>
            </a:endParaRPr>
          </a:p>
          <a:p>
            <a:pPr algn="just"/>
            <a:r>
              <a:rPr lang="en-US" b="0" i="0" dirty="0">
                <a:solidFill>
                  <a:srgbClr val="273239"/>
                </a:solidFill>
                <a:effectLst/>
                <a:highlight>
                  <a:srgbClr val="FFFFFF"/>
                </a:highlight>
                <a:latin typeface="Nunito" pitchFamily="2" charset="0"/>
              </a:rPr>
              <a:t>Structural Constraints are also called </a:t>
            </a:r>
            <a:r>
              <a:rPr lang="en-US" b="1" i="0" dirty="0">
                <a:solidFill>
                  <a:srgbClr val="273239"/>
                </a:solidFill>
                <a:effectLst/>
                <a:highlight>
                  <a:srgbClr val="FFFFFF"/>
                </a:highlight>
                <a:latin typeface="Nunito" pitchFamily="2" charset="0"/>
              </a:rPr>
              <a:t>Structural properties </a:t>
            </a:r>
            <a:r>
              <a:rPr lang="en-US" b="0" i="0" dirty="0">
                <a:solidFill>
                  <a:srgbClr val="273239"/>
                </a:solidFill>
                <a:effectLst/>
                <a:highlight>
                  <a:srgbClr val="FFFFFF"/>
                </a:highlight>
                <a:latin typeface="Nunito" pitchFamily="2" charset="0"/>
              </a:rPr>
              <a:t>of a database management system (DBMS). Cardinality Ratios and Participation Constraints taken together are called Structural Constraints. </a:t>
            </a:r>
          </a:p>
          <a:p>
            <a:pPr algn="just"/>
            <a:endParaRPr lang="en-US" dirty="0">
              <a:solidFill>
                <a:srgbClr val="273239"/>
              </a:solidFill>
              <a:highlight>
                <a:srgbClr val="FFFFFF"/>
              </a:highlight>
              <a:latin typeface="Nunito" pitchFamily="2" charset="0"/>
            </a:endParaRPr>
          </a:p>
          <a:p>
            <a:pPr algn="just"/>
            <a:r>
              <a:rPr lang="en-US" b="0" i="0" dirty="0">
                <a:solidFill>
                  <a:srgbClr val="273239"/>
                </a:solidFill>
                <a:effectLst/>
                <a:highlight>
                  <a:srgbClr val="FFFFFF"/>
                </a:highlight>
                <a:latin typeface="Nunito" pitchFamily="2" charset="0"/>
              </a:rPr>
              <a:t>The Structural constraints are represented by </a:t>
            </a:r>
            <a:r>
              <a:rPr lang="en-US" b="1" i="0" dirty="0">
                <a:solidFill>
                  <a:srgbClr val="273239"/>
                </a:solidFill>
                <a:effectLst/>
                <a:highlight>
                  <a:srgbClr val="FFFFFF"/>
                </a:highlight>
                <a:latin typeface="Nunito" pitchFamily="2" charset="0"/>
              </a:rPr>
              <a:t>Min-Max notation</a:t>
            </a:r>
            <a:r>
              <a:rPr lang="en-US" b="0" i="0" dirty="0">
                <a:solidFill>
                  <a:srgbClr val="273239"/>
                </a:solidFill>
                <a:effectLst/>
                <a:highlight>
                  <a:srgbClr val="FFFFFF"/>
                </a:highlight>
                <a:latin typeface="Nunito" pitchFamily="2" charset="0"/>
              </a:rPr>
              <a:t>. This is a pair of numbers(m, n) that appear on the connecting line between the entities and their relationships. The minimum number of times an entity can appear in a relation is represented by m whereas, the maximum time it is available is denoted by n.</a:t>
            </a:r>
          </a:p>
          <a:p>
            <a:pPr algn="just"/>
            <a:endParaRPr lang="en-US" dirty="0">
              <a:solidFill>
                <a:srgbClr val="273239"/>
              </a:solidFill>
              <a:highlight>
                <a:srgbClr val="FFFFFF"/>
              </a:highlight>
              <a:latin typeface="Nunito" pitchFamily="2" charset="0"/>
            </a:endParaRPr>
          </a:p>
          <a:p>
            <a:pPr algn="just"/>
            <a:r>
              <a:rPr lang="en-US" b="0" i="0" dirty="0">
                <a:solidFill>
                  <a:srgbClr val="273239"/>
                </a:solidFill>
                <a:effectLst/>
                <a:highlight>
                  <a:srgbClr val="FFFFFF"/>
                </a:highlight>
                <a:latin typeface="Nunito" pitchFamily="2" charset="0"/>
              </a:rPr>
              <a:t>If m= 0 </a:t>
            </a:r>
            <a:r>
              <a:rPr lang="en-US" dirty="0">
                <a:solidFill>
                  <a:srgbClr val="273239"/>
                </a:solidFill>
                <a:highlight>
                  <a:srgbClr val="FFFFFF"/>
                </a:highlight>
                <a:latin typeface="Nunito" pitchFamily="2" charset="0"/>
              </a:rPr>
              <a:t>-&gt;</a:t>
            </a:r>
            <a:r>
              <a:rPr lang="en-US" b="0" i="0" dirty="0">
                <a:solidFill>
                  <a:srgbClr val="273239"/>
                </a:solidFill>
                <a:effectLst/>
                <a:highlight>
                  <a:srgbClr val="FFFFFF"/>
                </a:highlight>
                <a:latin typeface="Nunito" pitchFamily="2" charset="0"/>
              </a:rPr>
              <a:t>the entity is participating in the relation partially, </a:t>
            </a:r>
          </a:p>
          <a:p>
            <a:pPr algn="just"/>
            <a:endParaRPr lang="en-US" dirty="0">
              <a:solidFill>
                <a:srgbClr val="273239"/>
              </a:solidFill>
              <a:highlight>
                <a:srgbClr val="FFFFFF"/>
              </a:highlight>
              <a:latin typeface="Nunito" pitchFamily="2" charset="0"/>
            </a:endParaRPr>
          </a:p>
          <a:p>
            <a:pPr algn="just"/>
            <a:r>
              <a:rPr lang="en-US" b="0" i="0" dirty="0">
                <a:solidFill>
                  <a:srgbClr val="273239"/>
                </a:solidFill>
                <a:effectLst/>
                <a:highlight>
                  <a:srgbClr val="FFFFFF"/>
                </a:highlight>
                <a:latin typeface="Nunito" pitchFamily="2" charset="0"/>
              </a:rPr>
              <a:t>if m </a:t>
            </a:r>
            <a:r>
              <a:rPr lang="en-US" dirty="0">
                <a:solidFill>
                  <a:srgbClr val="273239"/>
                </a:solidFill>
                <a:highlight>
                  <a:srgbClr val="FFFFFF"/>
                </a:highlight>
                <a:latin typeface="Nunito" pitchFamily="2" charset="0"/>
              </a:rPr>
              <a:t>&gt;=</a:t>
            </a:r>
            <a:r>
              <a:rPr lang="en-US" b="0" i="0" dirty="0">
                <a:solidFill>
                  <a:srgbClr val="273239"/>
                </a:solidFill>
                <a:effectLst/>
                <a:highlight>
                  <a:srgbClr val="FFFFFF"/>
                </a:highlight>
                <a:latin typeface="Nunito" pitchFamily="2" charset="0"/>
              </a:rPr>
              <a:t> 1, it denotes total participation of the entity. </a:t>
            </a:r>
          </a:p>
          <a:p>
            <a:pPr algn="just"/>
            <a:endParaRPr lang="en-US" dirty="0">
              <a:solidFill>
                <a:srgbClr val="273239"/>
              </a:solidFill>
              <a:highlight>
                <a:srgbClr val="FFFFFF"/>
              </a:highlight>
              <a:latin typeface="Nunito" pitchFamily="2" charset="0"/>
            </a:endParaRPr>
          </a:p>
          <a:p>
            <a:pPr algn="just"/>
            <a:endParaRPr lang="en-US" b="1" i="0" dirty="0">
              <a:solidFill>
                <a:srgbClr val="273239"/>
              </a:solidFill>
              <a:effectLst/>
              <a:highlight>
                <a:srgbClr val="FFFFFF"/>
              </a:highlight>
              <a:latin typeface="Nunito" pitchFamily="2" charset="0"/>
            </a:endParaRPr>
          </a:p>
          <a:p>
            <a:pPr algn="just"/>
            <a:endParaRPr lang="en-US" b="1" dirty="0">
              <a:solidFill>
                <a:srgbClr val="273239"/>
              </a:solidFill>
              <a:highlight>
                <a:srgbClr val="FFFFFF"/>
              </a:highlight>
              <a:latin typeface="Nunito" pitchFamily="2" charset="0"/>
            </a:endParaRPr>
          </a:p>
          <a:p>
            <a:pPr algn="just"/>
            <a:endParaRPr lang="en-US" b="1" i="0" dirty="0">
              <a:solidFill>
                <a:srgbClr val="273239"/>
              </a:solidFill>
              <a:effectLst/>
              <a:highlight>
                <a:srgbClr val="FFFFFF"/>
              </a:highlight>
              <a:latin typeface="Nunito" pitchFamily="2" charset="0"/>
            </a:endParaRPr>
          </a:p>
          <a:p>
            <a:pPr algn="just"/>
            <a:endParaRPr lang="en-US" b="1" dirty="0">
              <a:solidFill>
                <a:srgbClr val="273239"/>
              </a:solidFill>
              <a:highlight>
                <a:srgbClr val="FFFFFF"/>
              </a:highlight>
              <a:latin typeface="Nunito" pitchFamily="2" charset="0"/>
            </a:endParaRPr>
          </a:p>
          <a:p>
            <a:pPr algn="just"/>
            <a:r>
              <a:rPr lang="en-US" b="1" i="0" dirty="0">
                <a:solidFill>
                  <a:srgbClr val="273239"/>
                </a:solidFill>
                <a:effectLst/>
                <a:highlight>
                  <a:srgbClr val="FFFFFF"/>
                </a:highlight>
                <a:latin typeface="Nunito" pitchFamily="2" charset="0"/>
              </a:rPr>
              <a:t>Note –</a:t>
            </a:r>
            <a:r>
              <a:rPr lang="en-US" b="0" i="0" dirty="0">
                <a:solidFill>
                  <a:srgbClr val="273239"/>
                </a:solidFill>
                <a:effectLst/>
                <a:highlight>
                  <a:srgbClr val="FFFFFF"/>
                </a:highlight>
                <a:latin typeface="Nunito" pitchFamily="2" charset="0"/>
              </a:rPr>
              <a:t> Number of times an entity participates in a relationship is same as the number appearance of the entity in the tuples.</a:t>
            </a:r>
            <a:endParaRPr lang="en-IN" dirty="0"/>
          </a:p>
        </p:txBody>
      </p:sp>
      <p:pic>
        <p:nvPicPr>
          <p:cNvPr id="5" name="Picture 4">
            <a:extLst>
              <a:ext uri="{FF2B5EF4-FFF2-40B4-BE49-F238E27FC236}">
                <a16:creationId xmlns:a16="http://schemas.microsoft.com/office/drawing/2014/main" id="{B20BA103-8FD3-3645-8A2F-09F82BA3ED34}"/>
              </a:ext>
            </a:extLst>
          </p:cNvPr>
          <p:cNvPicPr>
            <a:picLocks noChangeAspect="1"/>
          </p:cNvPicPr>
          <p:nvPr/>
        </p:nvPicPr>
        <p:blipFill>
          <a:blip r:embed="rId2"/>
          <a:stretch>
            <a:fillRect/>
          </a:stretch>
        </p:blipFill>
        <p:spPr>
          <a:xfrm>
            <a:off x="1834551" y="4727276"/>
            <a:ext cx="7913033" cy="648525"/>
          </a:xfrm>
          <a:prstGeom prst="rect">
            <a:avLst/>
          </a:prstGeom>
        </p:spPr>
      </p:pic>
    </p:spTree>
    <p:extLst>
      <p:ext uri="{BB962C8B-B14F-4D97-AF65-F5344CB8AC3E}">
        <p14:creationId xmlns:p14="http://schemas.microsoft.com/office/powerpoint/2010/main" val="324200051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A3014F-896F-1C53-187C-B26D5F9888E1}"/>
              </a:ext>
            </a:extLst>
          </p:cNvPr>
          <p:cNvPicPr>
            <a:picLocks noChangeAspect="1"/>
          </p:cNvPicPr>
          <p:nvPr/>
        </p:nvPicPr>
        <p:blipFill>
          <a:blip r:embed="rId2"/>
          <a:stretch>
            <a:fillRect/>
          </a:stretch>
        </p:blipFill>
        <p:spPr>
          <a:xfrm>
            <a:off x="2266121" y="311894"/>
            <a:ext cx="7792279" cy="6342069"/>
          </a:xfrm>
          <a:prstGeom prst="rect">
            <a:avLst/>
          </a:prstGeom>
        </p:spPr>
      </p:pic>
    </p:spTree>
    <p:extLst>
      <p:ext uri="{BB962C8B-B14F-4D97-AF65-F5344CB8AC3E}">
        <p14:creationId xmlns:p14="http://schemas.microsoft.com/office/powerpoint/2010/main" val="91417354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95FA79-B2D9-6809-AFD1-77358937249D}"/>
              </a:ext>
            </a:extLst>
          </p:cNvPr>
          <p:cNvPicPr>
            <a:picLocks noChangeAspect="1"/>
          </p:cNvPicPr>
          <p:nvPr/>
        </p:nvPicPr>
        <p:blipFill>
          <a:blip r:embed="rId2"/>
          <a:stretch>
            <a:fillRect/>
          </a:stretch>
        </p:blipFill>
        <p:spPr>
          <a:xfrm>
            <a:off x="555707" y="124247"/>
            <a:ext cx="10927302" cy="5338625"/>
          </a:xfrm>
          <a:prstGeom prst="rect">
            <a:avLst/>
          </a:prstGeom>
        </p:spPr>
      </p:pic>
    </p:spTree>
    <p:extLst>
      <p:ext uri="{BB962C8B-B14F-4D97-AF65-F5344CB8AC3E}">
        <p14:creationId xmlns:p14="http://schemas.microsoft.com/office/powerpoint/2010/main" val="2794044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77FAAD-CFEB-13AC-3CC7-50FD328577BF}"/>
              </a:ext>
            </a:extLst>
          </p:cNvPr>
          <p:cNvPicPr>
            <a:picLocks noChangeAspect="1"/>
          </p:cNvPicPr>
          <p:nvPr/>
        </p:nvPicPr>
        <p:blipFill>
          <a:blip r:embed="rId2"/>
          <a:stretch>
            <a:fillRect/>
          </a:stretch>
        </p:blipFill>
        <p:spPr>
          <a:xfrm>
            <a:off x="908790" y="0"/>
            <a:ext cx="8960647" cy="6858000"/>
          </a:xfrm>
          <a:prstGeom prst="rect">
            <a:avLst/>
          </a:prstGeom>
        </p:spPr>
      </p:pic>
    </p:spTree>
    <p:extLst>
      <p:ext uri="{BB962C8B-B14F-4D97-AF65-F5344CB8AC3E}">
        <p14:creationId xmlns:p14="http://schemas.microsoft.com/office/powerpoint/2010/main" val="37504464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194FEE-F39B-A458-8629-A4C4F47DDF93}"/>
              </a:ext>
            </a:extLst>
          </p:cNvPr>
          <p:cNvPicPr>
            <a:picLocks noChangeAspect="1"/>
          </p:cNvPicPr>
          <p:nvPr/>
        </p:nvPicPr>
        <p:blipFill>
          <a:blip r:embed="rId2"/>
          <a:stretch>
            <a:fillRect/>
          </a:stretch>
        </p:blipFill>
        <p:spPr>
          <a:xfrm>
            <a:off x="387927" y="0"/>
            <a:ext cx="11665528" cy="6858000"/>
          </a:xfrm>
          <a:prstGeom prst="rect">
            <a:avLst/>
          </a:prstGeom>
        </p:spPr>
      </p:pic>
    </p:spTree>
    <p:extLst>
      <p:ext uri="{BB962C8B-B14F-4D97-AF65-F5344CB8AC3E}">
        <p14:creationId xmlns:p14="http://schemas.microsoft.com/office/powerpoint/2010/main" val="25006373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46B564-72B8-6AD2-8226-C2A931F31DCE}"/>
              </a:ext>
            </a:extLst>
          </p:cNvPr>
          <p:cNvSpPr txBox="1"/>
          <p:nvPr/>
        </p:nvSpPr>
        <p:spPr>
          <a:xfrm>
            <a:off x="770625" y="580845"/>
            <a:ext cx="10915291" cy="6186309"/>
          </a:xfrm>
          <a:prstGeom prst="rect">
            <a:avLst/>
          </a:prstGeom>
          <a:noFill/>
        </p:spPr>
        <p:txBody>
          <a:bodyPr wrap="square">
            <a:spAutoFit/>
          </a:bodyPr>
          <a:lstStyle/>
          <a:p>
            <a:pPr algn="just"/>
            <a:r>
              <a:rPr lang="en-US" b="1" i="0" dirty="0">
                <a:solidFill>
                  <a:srgbClr val="000000"/>
                </a:solidFill>
                <a:effectLst/>
                <a:highlight>
                  <a:srgbClr val="FFFFFF"/>
                </a:highlight>
                <a:latin typeface="inter-regular"/>
              </a:rPr>
              <a:t>Key in DBMS:</a:t>
            </a:r>
          </a:p>
          <a:p>
            <a:pPr algn="just"/>
            <a:endParaRPr lang="en-US" dirty="0">
              <a:solidFill>
                <a:srgbClr val="000000"/>
              </a:solidFill>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Keys play an important role in the relational database.</a:t>
            </a:r>
          </a:p>
          <a:p>
            <a:pPr algn="just">
              <a:buFont typeface="Arial" panose="020B0604020202020204" pitchFamily="34" charset="0"/>
              <a:buChar char="•"/>
            </a:pPr>
            <a:r>
              <a:rPr lang="en-US" b="0" i="0" dirty="0">
                <a:solidFill>
                  <a:srgbClr val="000000"/>
                </a:solidFill>
                <a:effectLst/>
                <a:highlight>
                  <a:srgbClr val="FFFFFF"/>
                </a:highlight>
                <a:latin typeface="inter-regular"/>
              </a:rPr>
              <a:t>It is used to uniquely identify any record or row of data from the table. It is also used to establish and identify relationships between tables.</a:t>
            </a:r>
          </a:p>
          <a:p>
            <a:pPr algn="just">
              <a:buFont typeface="Arial" panose="020B0604020202020204" pitchFamily="34" charset="0"/>
              <a:buChar char="•"/>
            </a:pPr>
            <a:endParaRPr lang="en-US" dirty="0">
              <a:solidFill>
                <a:srgbClr val="000000"/>
              </a:solidFill>
              <a:highlight>
                <a:srgbClr val="FFFFFF"/>
              </a:highlight>
              <a:latin typeface="inter-regular"/>
            </a:endParaRPr>
          </a:p>
          <a:p>
            <a:pPr algn="just"/>
            <a:r>
              <a:rPr lang="en-US" b="1" i="0" dirty="0">
                <a:solidFill>
                  <a:srgbClr val="000000"/>
                </a:solidFill>
                <a:effectLst/>
                <a:highlight>
                  <a:srgbClr val="FFFFFF"/>
                </a:highlight>
                <a:latin typeface="inter-regular"/>
              </a:rPr>
              <a:t>Type Of Key:</a:t>
            </a:r>
            <a:endParaRPr lang="en-US" b="0" i="0" dirty="0">
              <a:solidFill>
                <a:srgbClr val="000000"/>
              </a:solidFill>
              <a:effectLst/>
              <a:highlight>
                <a:srgbClr val="FFFFFF"/>
              </a:highlight>
              <a:latin typeface="inter-regular"/>
            </a:endParaRPr>
          </a:p>
          <a:p>
            <a:pPr marL="342900" indent="-342900" algn="just">
              <a:buAutoNum type="arabicParenR"/>
            </a:pPr>
            <a:r>
              <a:rPr lang="en-US" dirty="0">
                <a:solidFill>
                  <a:srgbClr val="000000"/>
                </a:solidFill>
                <a:highlight>
                  <a:srgbClr val="FFFFFF"/>
                </a:highlight>
                <a:latin typeface="inter-regular"/>
              </a:rPr>
              <a:t>Super Key </a:t>
            </a:r>
          </a:p>
          <a:p>
            <a:pPr marL="342900" indent="-342900" algn="just">
              <a:buAutoNum type="arabicParenR"/>
            </a:pPr>
            <a:r>
              <a:rPr lang="en-US" b="0" i="0" dirty="0">
                <a:solidFill>
                  <a:srgbClr val="000000"/>
                </a:solidFill>
                <a:effectLst/>
                <a:highlight>
                  <a:srgbClr val="FFFFFF"/>
                </a:highlight>
                <a:latin typeface="inter-regular"/>
              </a:rPr>
              <a:t>Primary key</a:t>
            </a:r>
          </a:p>
          <a:p>
            <a:pPr marL="342900" indent="-342900" algn="just">
              <a:buAutoNum type="arabicParenR"/>
            </a:pPr>
            <a:r>
              <a:rPr lang="en-US" dirty="0">
                <a:solidFill>
                  <a:srgbClr val="000000"/>
                </a:solidFill>
                <a:highlight>
                  <a:srgbClr val="FFFFFF"/>
                </a:highlight>
                <a:latin typeface="inter-regular"/>
              </a:rPr>
              <a:t>Candidate key</a:t>
            </a:r>
          </a:p>
          <a:p>
            <a:pPr marL="342900" indent="-342900" algn="just">
              <a:buAutoNum type="arabicParenR"/>
            </a:pPr>
            <a:r>
              <a:rPr lang="en-US" b="0" i="0" dirty="0">
                <a:solidFill>
                  <a:srgbClr val="000000"/>
                </a:solidFill>
                <a:effectLst/>
                <a:highlight>
                  <a:srgbClr val="FFFFFF"/>
                </a:highlight>
                <a:latin typeface="inter-regular"/>
              </a:rPr>
              <a:t>Alternative key</a:t>
            </a:r>
          </a:p>
          <a:p>
            <a:pPr marL="342900" indent="-342900" algn="just">
              <a:buAutoNum type="arabicParenR"/>
            </a:pPr>
            <a:r>
              <a:rPr lang="en-US" dirty="0">
                <a:solidFill>
                  <a:srgbClr val="000000"/>
                </a:solidFill>
                <a:highlight>
                  <a:srgbClr val="FFFFFF"/>
                </a:highlight>
                <a:latin typeface="inter-regular"/>
              </a:rPr>
              <a:t>Composite key</a:t>
            </a:r>
          </a:p>
          <a:p>
            <a:pPr marL="342900" indent="-342900" algn="just">
              <a:buAutoNum type="arabicParenR"/>
            </a:pPr>
            <a:endParaRPr lang="en-US" b="0" i="0" dirty="0">
              <a:solidFill>
                <a:srgbClr val="000000"/>
              </a:solidFill>
              <a:effectLst/>
              <a:highlight>
                <a:srgbClr val="FFFFFF"/>
              </a:highlight>
              <a:latin typeface="inter-regular"/>
            </a:endParaRPr>
          </a:p>
          <a:p>
            <a:pPr algn="just"/>
            <a:r>
              <a:rPr lang="en-US" b="1" dirty="0">
                <a:solidFill>
                  <a:srgbClr val="000000"/>
                </a:solidFill>
                <a:highlight>
                  <a:srgbClr val="FFFFFF"/>
                </a:highlight>
                <a:latin typeface="inter-regular"/>
              </a:rPr>
              <a:t>Super Key:</a:t>
            </a:r>
          </a:p>
          <a:p>
            <a:pPr algn="just"/>
            <a:r>
              <a:rPr lang="en-US" b="0" i="0" dirty="0">
                <a:solidFill>
                  <a:srgbClr val="333333"/>
                </a:solidFill>
                <a:effectLst/>
                <a:highlight>
                  <a:srgbClr val="FFFFFF"/>
                </a:highlight>
                <a:latin typeface="inter-regular"/>
              </a:rPr>
              <a:t>Super key is an attribute  or set of attribute  that can uniquely identify a tuple (row). </a:t>
            </a:r>
            <a:r>
              <a:rPr lang="en-US" b="0" i="0" dirty="0">
                <a:solidFill>
                  <a:srgbClr val="273239"/>
                </a:solidFill>
                <a:effectLst/>
                <a:highlight>
                  <a:srgbClr val="FFFFFF"/>
                </a:highlight>
                <a:latin typeface="Nunito" pitchFamily="2" charset="0"/>
              </a:rPr>
              <a:t> A super key is a group of single or multiple keys that identifies rows in a table. It supports NULL values. </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A super key is a superset of a candidate key.</a:t>
            </a:r>
          </a:p>
          <a:p>
            <a:pPr algn="just"/>
            <a:endParaRPr lang="en-US" b="0" i="0" dirty="0">
              <a:solidFill>
                <a:srgbClr val="333333"/>
              </a:solidFill>
              <a:effectLst/>
              <a:highlight>
                <a:srgbClr val="FFFFFF"/>
              </a:highlight>
              <a:latin typeface="inter-regular"/>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Adding zero or more attributes to the candidate key generates the super key.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 candidate key is a super key but vice versa is not true.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Super Key values may also be NULL.</a:t>
            </a:r>
          </a:p>
          <a:p>
            <a:pPr algn="just"/>
            <a:endParaRPr lang="en-US" dirty="0">
              <a:solidFill>
                <a:srgbClr val="000000"/>
              </a:solidFill>
              <a:highlight>
                <a:srgbClr val="FFFFFF"/>
              </a:highlight>
              <a:latin typeface="inter-regular"/>
            </a:endParaRPr>
          </a:p>
        </p:txBody>
      </p:sp>
    </p:spTree>
    <p:extLst>
      <p:ext uri="{BB962C8B-B14F-4D97-AF65-F5344CB8AC3E}">
        <p14:creationId xmlns:p14="http://schemas.microsoft.com/office/powerpoint/2010/main" val="399991449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38BA73-08D9-D085-886E-EECB09125E89}"/>
              </a:ext>
            </a:extLst>
          </p:cNvPr>
          <p:cNvSpPr txBox="1"/>
          <p:nvPr/>
        </p:nvSpPr>
        <p:spPr>
          <a:xfrm>
            <a:off x="247291" y="408318"/>
            <a:ext cx="11116573" cy="4247317"/>
          </a:xfrm>
          <a:prstGeom prst="rect">
            <a:avLst/>
          </a:prstGeom>
          <a:noFill/>
        </p:spPr>
        <p:txBody>
          <a:bodyPr wrap="square">
            <a:spAutoFit/>
          </a:bodyPr>
          <a:lstStyle/>
          <a:p>
            <a:pPr algn="l" fontAlgn="base"/>
            <a:r>
              <a:rPr lang="en-IN" b="0" i="0" dirty="0">
                <a:solidFill>
                  <a:srgbClr val="000000"/>
                </a:solidFill>
                <a:effectLst/>
                <a:highlight>
                  <a:srgbClr val="FFFFFF"/>
                </a:highlight>
                <a:latin typeface="inter-regular"/>
              </a:rPr>
              <a:t> </a:t>
            </a:r>
            <a:r>
              <a:rPr lang="en-US" b="1" i="0" dirty="0">
                <a:solidFill>
                  <a:srgbClr val="273239"/>
                </a:solidFill>
                <a:effectLst/>
                <a:highlight>
                  <a:srgbClr val="FFFFFF"/>
                </a:highlight>
                <a:latin typeface="Nunito" pitchFamily="2" charset="0"/>
              </a:rPr>
              <a:t>Candidate Key:</a:t>
            </a:r>
          </a:p>
          <a:p>
            <a:pPr algn="just" rtl="0" fontAlgn="base"/>
            <a:r>
              <a:rPr lang="en-US" b="0" i="0" dirty="0">
                <a:solidFill>
                  <a:srgbClr val="273239"/>
                </a:solidFill>
                <a:effectLst/>
                <a:highlight>
                  <a:srgbClr val="FFFFFF"/>
                </a:highlight>
                <a:latin typeface="Nunito" pitchFamily="2" charset="0"/>
              </a:rPr>
              <a:t>The minimal set of attributes that can uniquely identify a tuple is known as a candidate key. For Example, STUD_NO in STUDENT relation. </a:t>
            </a:r>
          </a:p>
          <a:p>
            <a:pPr algn="just" rtl="0" fontAlgn="base"/>
            <a:endParaRPr lang="en-US" dirty="0">
              <a:solidFill>
                <a:srgbClr val="273239"/>
              </a:solidFill>
              <a:highlight>
                <a:srgbClr val="FFFFFF"/>
              </a:highlight>
              <a:latin typeface="Nunito" pitchFamily="2" charset="0"/>
            </a:endParaRPr>
          </a:p>
          <a:p>
            <a:pPr algn="just" rtl="0" fontAlgn="base"/>
            <a:r>
              <a:rPr lang="en-US" b="1" dirty="0">
                <a:solidFill>
                  <a:srgbClr val="273239"/>
                </a:solidFill>
                <a:highlight>
                  <a:srgbClr val="FFFFFF"/>
                </a:highlight>
                <a:latin typeface="Nunito" pitchFamily="2" charset="0"/>
              </a:rPr>
              <a:t>Some Important point:</a:t>
            </a:r>
            <a:endParaRPr lang="en-US" b="1"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is a minimal super key.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is a super key with no repeated data is called a candidate key.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 minimal set of attributes that can uniquely identify a record.</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must contain unique values.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can contain NULL values.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Every table must have at least a single candidate key.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 table can have multiple candidate keys but only one primary key.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 value of the Candidate Key is unique and may be null for a tuple.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There can be more than one candidate key in a relationship. </a:t>
            </a:r>
          </a:p>
          <a:p>
            <a:endParaRPr lang="en-IN" dirty="0"/>
          </a:p>
        </p:txBody>
      </p:sp>
    </p:spTree>
    <p:extLst>
      <p:ext uri="{BB962C8B-B14F-4D97-AF65-F5344CB8AC3E}">
        <p14:creationId xmlns:p14="http://schemas.microsoft.com/office/powerpoint/2010/main" val="192188177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C1A371-8577-829F-C6B7-66592F09D348}"/>
              </a:ext>
            </a:extLst>
          </p:cNvPr>
          <p:cNvSpPr txBox="1"/>
          <p:nvPr/>
        </p:nvSpPr>
        <p:spPr>
          <a:xfrm>
            <a:off x="575094" y="276045"/>
            <a:ext cx="8568906" cy="5078313"/>
          </a:xfrm>
          <a:prstGeom prst="rect">
            <a:avLst/>
          </a:prstGeom>
          <a:noFill/>
        </p:spPr>
        <p:txBody>
          <a:bodyPr wrap="square">
            <a:spAutoFit/>
          </a:bodyPr>
          <a:lstStyle/>
          <a:p>
            <a:r>
              <a:rPr lang="en-US" b="1" i="0" dirty="0">
                <a:solidFill>
                  <a:srgbClr val="273239"/>
                </a:solidFill>
                <a:effectLst/>
                <a:highlight>
                  <a:srgbClr val="FFFFFF"/>
                </a:highlight>
                <a:latin typeface="Nunito" pitchFamily="2" charset="0"/>
              </a:rPr>
              <a:t>Primary Key:</a:t>
            </a:r>
          </a:p>
          <a:p>
            <a:endParaRPr lang="en-US" dirty="0">
              <a:solidFill>
                <a:srgbClr val="273239"/>
              </a:solidFill>
              <a:highlight>
                <a:srgbClr val="FFFFFF"/>
              </a:highlight>
              <a:latin typeface="Nunito" pitchFamily="2" charset="0"/>
            </a:endParaRPr>
          </a:p>
          <a:p>
            <a:r>
              <a:rPr lang="en-US" b="0" i="0" dirty="0">
                <a:solidFill>
                  <a:srgbClr val="273239"/>
                </a:solidFill>
                <a:effectLst/>
                <a:highlight>
                  <a:srgbClr val="FFFFFF"/>
                </a:highlight>
                <a:latin typeface="Nunito" pitchFamily="2" charset="0"/>
              </a:rPr>
              <a:t>There can be more than one candidate key in relation out of which one can be chosen as the primary key. </a:t>
            </a:r>
          </a:p>
          <a:p>
            <a:endParaRPr lang="en-US" dirty="0">
              <a:solidFill>
                <a:srgbClr val="273239"/>
              </a:solidFill>
              <a:highlight>
                <a:srgbClr val="FFFFFF"/>
              </a:highlight>
              <a:latin typeface="Nunito" pitchFamily="2" charset="0"/>
            </a:endParaRPr>
          </a:p>
          <a:p>
            <a:r>
              <a:rPr lang="en-US" dirty="0">
                <a:solidFill>
                  <a:srgbClr val="273239"/>
                </a:solidFill>
                <a:highlight>
                  <a:srgbClr val="FFFFFF"/>
                </a:highlight>
                <a:latin typeface="Nunito" pitchFamily="2" charset="0"/>
              </a:rPr>
              <a:t>Example :</a:t>
            </a:r>
          </a:p>
          <a:p>
            <a:r>
              <a:rPr lang="en-US" b="0" i="0" dirty="0">
                <a:solidFill>
                  <a:srgbClr val="273239"/>
                </a:solidFill>
                <a:effectLst/>
                <a:highlight>
                  <a:srgbClr val="FFFFFF"/>
                </a:highlight>
                <a:latin typeface="Nunito" pitchFamily="2" charset="0"/>
              </a:rPr>
              <a:t>STUD_NO, as well as STUD_PHONE, are candidate keys for relation STUDENT but STUD_NO can be chosen as the primary key.</a:t>
            </a:r>
          </a:p>
          <a:p>
            <a:endParaRPr lang="en-US" dirty="0">
              <a:solidFill>
                <a:srgbClr val="273239"/>
              </a:solidFill>
              <a:highlight>
                <a:srgbClr val="FFFFFF"/>
              </a:highlight>
              <a:latin typeface="Nunito" pitchFamily="2" charset="0"/>
            </a:endParaRPr>
          </a:p>
          <a:p>
            <a:endParaRPr lang="en-US" dirty="0">
              <a:solidFill>
                <a:srgbClr val="273239"/>
              </a:solidFill>
              <a:highlight>
                <a:srgbClr val="FFFFFF"/>
              </a:highlight>
              <a:latin typeface="Nunito" pitchFamily="2" charset="0"/>
            </a:endParaRPr>
          </a:p>
          <a:p>
            <a:pPr marL="285750" indent="-285750" algn="just" rtl="0"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only one  primary key out of many candidate keys </a:t>
            </a: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It is a unique key.</a:t>
            </a: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It can identify only one tuple (a record) at a time.</a:t>
            </a: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It has no duplicate values, it has unique values.</a:t>
            </a: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It cannot be NULL.</a:t>
            </a: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Primary keys are not necessarily to be a single column; more than one column can also be a primary key for a table.</a:t>
            </a:r>
          </a:p>
          <a:p>
            <a:endParaRPr lang="en-IN" dirty="0"/>
          </a:p>
        </p:txBody>
      </p:sp>
    </p:spTree>
    <p:extLst>
      <p:ext uri="{BB962C8B-B14F-4D97-AF65-F5344CB8AC3E}">
        <p14:creationId xmlns:p14="http://schemas.microsoft.com/office/powerpoint/2010/main" val="262559143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988CA9-844C-21F5-833B-28B2FC315AEC}"/>
              </a:ext>
            </a:extLst>
          </p:cNvPr>
          <p:cNvSpPr txBox="1"/>
          <p:nvPr/>
        </p:nvSpPr>
        <p:spPr>
          <a:xfrm>
            <a:off x="701615" y="759125"/>
            <a:ext cx="10702506" cy="2862322"/>
          </a:xfrm>
          <a:prstGeom prst="rect">
            <a:avLst/>
          </a:prstGeom>
          <a:noFill/>
        </p:spPr>
        <p:txBody>
          <a:bodyPr wrap="square">
            <a:spAutoFit/>
          </a:bodyPr>
          <a:lstStyle/>
          <a:p>
            <a:pPr algn="l" fontAlgn="base"/>
            <a:r>
              <a:rPr lang="en-US" b="1" i="0" dirty="0">
                <a:solidFill>
                  <a:srgbClr val="273239"/>
                </a:solidFill>
                <a:effectLst/>
                <a:highlight>
                  <a:srgbClr val="FFFFFF"/>
                </a:highlight>
                <a:latin typeface="Nunito" pitchFamily="2" charset="0"/>
              </a:rPr>
              <a:t>Alternate Key</a:t>
            </a:r>
          </a:p>
          <a:p>
            <a:pPr algn="l" rtl="0" fontAlgn="base"/>
            <a:r>
              <a:rPr lang="en-US" b="0" i="0" dirty="0">
                <a:solidFill>
                  <a:srgbClr val="273239"/>
                </a:solidFill>
                <a:effectLst/>
                <a:highlight>
                  <a:srgbClr val="FFFFFF"/>
                </a:highlight>
                <a:latin typeface="Nunito" pitchFamily="2" charset="0"/>
              </a:rPr>
              <a:t>The candidate key other than the primary key is called an </a:t>
            </a:r>
            <a:r>
              <a:rPr lang="en-US" b="0" i="0" u="sng" dirty="0">
                <a:solidFill>
                  <a:srgbClr val="273239"/>
                </a:solidFill>
                <a:effectLst/>
                <a:highlight>
                  <a:srgbClr val="FFFFFF"/>
                </a:highlight>
                <a:latin typeface="Nunito" pitchFamily="2" charset="0"/>
                <a:hlinkClick r:id="rId2"/>
              </a:rPr>
              <a:t>alternate key</a:t>
            </a:r>
            <a:r>
              <a:rPr lang="en-US" b="0" i="0" dirty="0">
                <a:solidFill>
                  <a:srgbClr val="273239"/>
                </a:solidFill>
                <a:effectLst/>
                <a:highlight>
                  <a:srgbClr val="FFFFFF"/>
                </a:highlight>
                <a:latin typeface="Nunito" pitchFamily="2" charset="0"/>
              </a:rPr>
              <a:t>.</a:t>
            </a:r>
          </a:p>
          <a:p>
            <a:pPr marL="285750" indent="-285750" algn="l" fontAlgn="base">
              <a:buFont typeface="Wingdings" panose="05000000000000000000" pitchFamily="2" charset="2"/>
              <a:buChar char="q"/>
            </a:pPr>
            <a:r>
              <a:rPr lang="en-US" b="0" i="0" dirty="0">
                <a:solidFill>
                  <a:srgbClr val="273239"/>
                </a:solidFill>
                <a:effectLst/>
                <a:highlight>
                  <a:srgbClr val="FFFFFF"/>
                </a:highlight>
                <a:latin typeface="Nunito" pitchFamily="2" charset="0"/>
              </a:rPr>
              <a:t>All the keys which are not primary keys are called alternate keys.</a:t>
            </a:r>
          </a:p>
          <a:p>
            <a:pPr marL="285750" indent="-285750" algn="l" fontAlgn="base">
              <a:buFont typeface="Wingdings" panose="05000000000000000000" pitchFamily="2" charset="2"/>
              <a:buChar char="q"/>
            </a:pPr>
            <a:r>
              <a:rPr lang="en-US" b="0" i="0" dirty="0">
                <a:solidFill>
                  <a:srgbClr val="273239"/>
                </a:solidFill>
                <a:effectLst/>
                <a:highlight>
                  <a:srgbClr val="FFFFFF"/>
                </a:highlight>
                <a:latin typeface="Nunito" pitchFamily="2" charset="0"/>
              </a:rPr>
              <a:t>It is a secondary key.</a:t>
            </a:r>
          </a:p>
          <a:p>
            <a:pPr marL="285750" indent="-285750" algn="l" fontAlgn="base">
              <a:buFont typeface="Wingdings" panose="05000000000000000000" pitchFamily="2" charset="2"/>
              <a:buChar char="q"/>
            </a:pPr>
            <a:r>
              <a:rPr lang="en-US" b="0" i="0" dirty="0">
                <a:solidFill>
                  <a:srgbClr val="273239"/>
                </a:solidFill>
                <a:effectLst/>
                <a:highlight>
                  <a:srgbClr val="FFFFFF"/>
                </a:highlight>
                <a:latin typeface="Nunito" pitchFamily="2" charset="0"/>
              </a:rPr>
              <a:t>It contains two or more fields to identify two or more records.</a:t>
            </a:r>
          </a:p>
          <a:p>
            <a:pPr marL="285750" indent="-285750" algn="l" fontAlgn="base">
              <a:buFont typeface="Wingdings" panose="05000000000000000000" pitchFamily="2" charset="2"/>
              <a:buChar char="q"/>
            </a:pPr>
            <a:r>
              <a:rPr lang="en-US" b="0" i="0" dirty="0">
                <a:solidFill>
                  <a:srgbClr val="273239"/>
                </a:solidFill>
                <a:effectLst/>
                <a:highlight>
                  <a:srgbClr val="FFFFFF"/>
                </a:highlight>
                <a:latin typeface="Nunito" pitchFamily="2" charset="0"/>
              </a:rPr>
              <a:t>These values are repeated.</a:t>
            </a:r>
          </a:p>
          <a:p>
            <a:pPr algn="l" fontAlgn="base"/>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err="1">
                <a:solidFill>
                  <a:srgbClr val="273239"/>
                </a:solidFill>
                <a:effectLst/>
                <a:highlight>
                  <a:srgbClr val="FFFFFF"/>
                </a:highlight>
                <a:latin typeface="Nunito" pitchFamily="2" charset="0"/>
              </a:rPr>
              <a:t>Eg</a:t>
            </a:r>
            <a:r>
              <a:rPr lang="en-US" b="0" i="0" dirty="0">
                <a:solidFill>
                  <a:srgbClr val="273239"/>
                </a:solidFill>
                <a:effectLst/>
                <a:highlight>
                  <a:srgbClr val="FFFFFF"/>
                </a:highlight>
                <a:latin typeface="Nunito" pitchFamily="2" charset="0"/>
              </a:rPr>
              <a:t>:- SNAME, and ADDRESS is Alternate keys</a:t>
            </a:r>
          </a:p>
          <a:p>
            <a:pPr algn="l" fontAlgn="base">
              <a:buFont typeface="Arial" panose="020B0604020202020204" pitchFamily="34" charset="0"/>
              <a:buChar char="•"/>
            </a:pPr>
            <a:endParaRPr lang="en-US" dirty="0">
              <a:solidFill>
                <a:srgbClr val="273239"/>
              </a:solidFill>
              <a:highlight>
                <a:srgbClr val="FFFFFF"/>
              </a:highlight>
              <a:latin typeface="Nunito" pitchFamily="2" charset="0"/>
            </a:endParaRPr>
          </a:p>
          <a:p>
            <a:pPr algn="l" fontAlgn="base"/>
            <a:endParaRPr lang="en-US" b="0" i="0" dirty="0">
              <a:solidFill>
                <a:srgbClr val="273239"/>
              </a:solidFill>
              <a:effectLst/>
              <a:highlight>
                <a:srgbClr val="FFFFFF"/>
              </a:highlight>
              <a:latin typeface="Nunito" pitchFamily="2" charset="0"/>
            </a:endParaRPr>
          </a:p>
        </p:txBody>
      </p:sp>
      <p:pic>
        <p:nvPicPr>
          <p:cNvPr id="5" name="Picture 4">
            <a:extLst>
              <a:ext uri="{FF2B5EF4-FFF2-40B4-BE49-F238E27FC236}">
                <a16:creationId xmlns:a16="http://schemas.microsoft.com/office/drawing/2014/main" id="{3570EB4B-384B-FB55-E4CA-9A0B297FA19B}"/>
              </a:ext>
            </a:extLst>
          </p:cNvPr>
          <p:cNvPicPr>
            <a:picLocks noChangeAspect="1"/>
          </p:cNvPicPr>
          <p:nvPr/>
        </p:nvPicPr>
        <p:blipFill>
          <a:blip r:embed="rId3"/>
          <a:stretch>
            <a:fillRect/>
          </a:stretch>
        </p:blipFill>
        <p:spPr>
          <a:xfrm>
            <a:off x="1874808" y="3334455"/>
            <a:ext cx="7217434" cy="3236366"/>
          </a:xfrm>
          <a:prstGeom prst="rect">
            <a:avLst/>
          </a:prstGeom>
        </p:spPr>
      </p:pic>
    </p:spTree>
    <p:extLst>
      <p:ext uri="{BB962C8B-B14F-4D97-AF65-F5344CB8AC3E}">
        <p14:creationId xmlns:p14="http://schemas.microsoft.com/office/powerpoint/2010/main" val="25150454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88B081-DE8E-40F4-9394-66145CDE3291}"/>
              </a:ext>
            </a:extLst>
          </p:cNvPr>
          <p:cNvSpPr txBox="1"/>
          <p:nvPr/>
        </p:nvSpPr>
        <p:spPr>
          <a:xfrm>
            <a:off x="385313" y="402566"/>
            <a:ext cx="8758687" cy="3693319"/>
          </a:xfrm>
          <a:prstGeom prst="rect">
            <a:avLst/>
          </a:prstGeom>
          <a:noFill/>
        </p:spPr>
        <p:txBody>
          <a:bodyPr wrap="square">
            <a:spAutoFit/>
          </a:bodyPr>
          <a:lstStyle/>
          <a:p>
            <a:r>
              <a:rPr lang="en-US" b="1" i="0" dirty="0">
                <a:solidFill>
                  <a:srgbClr val="273239"/>
                </a:solidFill>
                <a:effectLst/>
                <a:highlight>
                  <a:srgbClr val="FFFFFF"/>
                </a:highlight>
                <a:latin typeface="Nunito" pitchFamily="2" charset="0"/>
              </a:rPr>
              <a:t>Composite Key:</a:t>
            </a:r>
          </a:p>
          <a:p>
            <a:r>
              <a:rPr lang="en-US" b="0" i="0" dirty="0">
                <a:solidFill>
                  <a:srgbClr val="273239"/>
                </a:solidFill>
                <a:effectLst/>
                <a:highlight>
                  <a:srgbClr val="FFFFFF"/>
                </a:highlight>
                <a:latin typeface="Nunito" pitchFamily="2" charset="0"/>
              </a:rPr>
              <a:t>Sometimes, a table might not have a single column/attribute that uniquely identifies all the records of a table. To uniquely identify rows of a table, a combination of two or more columns/attributes can be used.</a:t>
            </a:r>
          </a:p>
          <a:p>
            <a:endParaRPr lang="en-US" dirty="0">
              <a:solidFill>
                <a:srgbClr val="273239"/>
              </a:solidFill>
              <a:highlight>
                <a:srgbClr val="FFFFFF"/>
              </a:highlight>
              <a:latin typeface="Nunito" pitchFamily="2" charset="0"/>
            </a:endParaRP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It acts as a primary key if there is no primary key in a table</a:t>
            </a: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Two or more attributes are used together to make a </a:t>
            </a:r>
            <a:r>
              <a:rPr lang="en-US" b="0" i="0" u="sng" dirty="0">
                <a:solidFill>
                  <a:srgbClr val="273239"/>
                </a:solidFill>
                <a:effectLst/>
                <a:highlight>
                  <a:srgbClr val="FFFFFF"/>
                </a:highlight>
                <a:latin typeface="Nunito" pitchFamily="2" charset="0"/>
                <a:hlinkClick r:id="rId2"/>
              </a:rPr>
              <a:t>composite key</a:t>
            </a:r>
            <a:r>
              <a:rPr lang="en-US" b="0" i="0" dirty="0">
                <a:solidFill>
                  <a:srgbClr val="273239"/>
                </a:solidFill>
                <a:effectLst/>
                <a:highlight>
                  <a:srgbClr val="FFFFFF"/>
                </a:highlight>
                <a:latin typeface="Nunito" pitchFamily="2" charset="0"/>
              </a:rPr>
              <a:t>.</a:t>
            </a: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Different combinations of attributes may give different accuracy in terms of identifying the rows uniquely.</a:t>
            </a:r>
          </a:p>
          <a:p>
            <a:pPr marL="285750" indent="-285750" algn="l" fontAlgn="base">
              <a:buFont typeface="Wingdings" panose="05000000000000000000" pitchFamily="2" charset="2"/>
              <a:buChar char="v"/>
            </a:pPr>
            <a:endParaRPr lang="en-US" dirty="0">
              <a:solidFill>
                <a:srgbClr val="273239"/>
              </a:solidFill>
              <a:highlight>
                <a:srgbClr val="FFFFFF"/>
              </a:highlight>
              <a:latin typeface="Nunito" pitchFamily="2" charset="0"/>
            </a:endParaRP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Example:  Full name + DOB  can be combined together to access the details of students.</a:t>
            </a:r>
          </a:p>
          <a:p>
            <a:endParaRPr lang="en-IN" dirty="0"/>
          </a:p>
        </p:txBody>
      </p:sp>
    </p:spTree>
    <p:extLst>
      <p:ext uri="{BB962C8B-B14F-4D97-AF65-F5344CB8AC3E}">
        <p14:creationId xmlns:p14="http://schemas.microsoft.com/office/powerpoint/2010/main" val="25177327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0DC963-7B0F-5598-AC38-91E4237EDFB8}"/>
              </a:ext>
            </a:extLst>
          </p:cNvPr>
          <p:cNvSpPr txBox="1"/>
          <p:nvPr/>
        </p:nvSpPr>
        <p:spPr>
          <a:xfrm>
            <a:off x="649857" y="460075"/>
            <a:ext cx="8494143" cy="3139321"/>
          </a:xfrm>
          <a:prstGeom prst="rect">
            <a:avLst/>
          </a:prstGeom>
          <a:noFill/>
        </p:spPr>
        <p:txBody>
          <a:bodyPr wrap="square">
            <a:spAutoFit/>
          </a:bodyPr>
          <a:lstStyle/>
          <a:p>
            <a:pPr algn="l" fontAlgn="base"/>
            <a:r>
              <a:rPr lang="en-IN" b="1" i="0" dirty="0">
                <a:solidFill>
                  <a:srgbClr val="273239"/>
                </a:solidFill>
                <a:effectLst/>
                <a:highlight>
                  <a:srgbClr val="FFFFFF"/>
                </a:highlight>
                <a:latin typeface="Nunito" pitchFamily="2" charset="0"/>
              </a:rPr>
              <a:t>Foreign Key:</a:t>
            </a:r>
          </a:p>
          <a:p>
            <a:pPr algn="l" fontAlgn="base"/>
            <a:endParaRPr lang="en-IN" b="1" i="0" dirty="0">
              <a:solidFill>
                <a:srgbClr val="273239"/>
              </a:solidFill>
              <a:effectLst/>
              <a:highlight>
                <a:srgbClr val="FFFFFF"/>
              </a:highlight>
              <a:latin typeface="Nunito" pitchFamily="2" charset="0"/>
            </a:endParaRP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It is a key it acts as a primary key in one table and it acts as </a:t>
            </a:r>
            <a:br>
              <a:rPr lang="en-US" b="0" i="0" dirty="0">
                <a:solidFill>
                  <a:srgbClr val="273239"/>
                </a:solidFill>
                <a:effectLst/>
                <a:highlight>
                  <a:srgbClr val="FFFFFF"/>
                </a:highlight>
                <a:latin typeface="Nunito" pitchFamily="2" charset="0"/>
              </a:rPr>
            </a:br>
            <a:r>
              <a:rPr lang="en-US" b="0" i="0" dirty="0">
                <a:solidFill>
                  <a:srgbClr val="273239"/>
                </a:solidFill>
                <a:effectLst/>
                <a:highlight>
                  <a:srgbClr val="FFFFFF"/>
                </a:highlight>
                <a:latin typeface="Nunito" pitchFamily="2" charset="0"/>
              </a:rPr>
              <a:t>secondary key in another table.</a:t>
            </a: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It combines two or more relations (tables) at a time.</a:t>
            </a:r>
          </a:p>
          <a:p>
            <a:pPr marL="285750" indent="-285750" algn="l" fontAlgn="base">
              <a:buFont typeface="Wingdings" panose="05000000000000000000" pitchFamily="2" charset="2"/>
              <a:buChar char="v"/>
            </a:pPr>
            <a:r>
              <a:rPr lang="en-US" b="0" i="0" dirty="0">
                <a:solidFill>
                  <a:srgbClr val="273239"/>
                </a:solidFill>
                <a:effectLst/>
                <a:highlight>
                  <a:srgbClr val="FFFFFF"/>
                </a:highlight>
                <a:latin typeface="Nunito" pitchFamily="2" charset="0"/>
              </a:rPr>
              <a:t>They act as a cross-reference between the tables.</a:t>
            </a:r>
          </a:p>
          <a:p>
            <a:pPr marL="285750" indent="-285750" algn="l" fontAlgn="base">
              <a:buFont typeface="Wingdings" panose="05000000000000000000" pitchFamily="2" charset="2"/>
              <a:buChar char="v"/>
            </a:pPr>
            <a:endParaRPr lang="en-US" dirty="0">
              <a:solidFill>
                <a:srgbClr val="273239"/>
              </a:solidFill>
              <a:highlight>
                <a:srgbClr val="FFFFFF"/>
              </a:highlight>
              <a:latin typeface="Nunito" pitchFamily="2" charset="0"/>
            </a:endParaRPr>
          </a:p>
          <a:p>
            <a:pPr algn="l" fontAlgn="base"/>
            <a:r>
              <a:rPr lang="en-US" b="0" i="0" dirty="0">
                <a:solidFill>
                  <a:srgbClr val="273239"/>
                </a:solidFill>
                <a:effectLst/>
                <a:highlight>
                  <a:srgbClr val="FFFFFF"/>
                </a:highlight>
                <a:latin typeface="Nunito" pitchFamily="2" charset="0"/>
              </a:rPr>
              <a:t> example: DNO is a primary key in the DEPT table and a non-key in EMP</a:t>
            </a:r>
          </a:p>
          <a:p>
            <a:pPr algn="l" fontAlgn="base"/>
            <a:endParaRPr lang="en-US" dirty="0">
              <a:solidFill>
                <a:srgbClr val="273239"/>
              </a:solidFill>
              <a:highlight>
                <a:srgbClr val="FFFFFF"/>
              </a:highlight>
              <a:latin typeface="Nunito" pitchFamily="2" charset="0"/>
            </a:endParaRPr>
          </a:p>
          <a:p>
            <a:pPr algn="l" fontAlgn="base"/>
            <a:endParaRPr lang="en-US" b="0" i="0" dirty="0">
              <a:solidFill>
                <a:srgbClr val="273239"/>
              </a:solidFill>
              <a:effectLst/>
              <a:highlight>
                <a:srgbClr val="FFFFFF"/>
              </a:highlight>
              <a:latin typeface="Nunito" pitchFamily="2" charset="0"/>
            </a:endParaRPr>
          </a:p>
          <a:p>
            <a:pPr algn="l" fontAlgn="base"/>
            <a:endParaRPr lang="en-IN" b="1" i="0" dirty="0">
              <a:solidFill>
                <a:srgbClr val="273239"/>
              </a:solidFill>
              <a:effectLst/>
              <a:highlight>
                <a:srgbClr val="FFFFFF"/>
              </a:highlight>
              <a:latin typeface="Nunito" pitchFamily="2" charset="0"/>
            </a:endParaRPr>
          </a:p>
        </p:txBody>
      </p:sp>
      <p:pic>
        <p:nvPicPr>
          <p:cNvPr id="5" name="Picture 4">
            <a:extLst>
              <a:ext uri="{FF2B5EF4-FFF2-40B4-BE49-F238E27FC236}">
                <a16:creationId xmlns:a16="http://schemas.microsoft.com/office/drawing/2014/main" id="{1307EEC0-C889-0711-D0F7-6C35036C04AB}"/>
              </a:ext>
            </a:extLst>
          </p:cNvPr>
          <p:cNvPicPr>
            <a:picLocks noChangeAspect="1"/>
          </p:cNvPicPr>
          <p:nvPr/>
        </p:nvPicPr>
        <p:blipFill>
          <a:blip r:embed="rId2"/>
          <a:stretch>
            <a:fillRect/>
          </a:stretch>
        </p:blipFill>
        <p:spPr>
          <a:xfrm>
            <a:off x="1190446" y="3141724"/>
            <a:ext cx="8085826" cy="3256201"/>
          </a:xfrm>
          <a:prstGeom prst="rect">
            <a:avLst/>
          </a:prstGeom>
        </p:spPr>
      </p:pic>
    </p:spTree>
    <p:extLst>
      <p:ext uri="{BB962C8B-B14F-4D97-AF65-F5344CB8AC3E}">
        <p14:creationId xmlns:p14="http://schemas.microsoft.com/office/powerpoint/2010/main" val="481849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7471</TotalTime>
  <Words>9402</Words>
  <Application>Microsoft Office PowerPoint</Application>
  <PresentationFormat>Widescreen</PresentationFormat>
  <Paragraphs>906</Paragraphs>
  <Slides>103</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103</vt:i4>
      </vt:variant>
    </vt:vector>
  </HeadingPairs>
  <TitlesOfParts>
    <vt:vector size="114" baseType="lpstr">
      <vt:lpstr>Aptos</vt:lpstr>
      <vt:lpstr>Aptos Display</vt:lpstr>
      <vt:lpstr>Arial</vt:lpstr>
      <vt:lpstr>inter-bold</vt:lpstr>
      <vt:lpstr>inter-regular</vt:lpstr>
      <vt:lpstr>Nunito</vt:lpstr>
      <vt:lpstr>Raleway</vt:lpstr>
      <vt:lpstr>Roboto</vt:lpstr>
      <vt:lpstr>system-ui</vt:lpstr>
      <vt:lpstr>Wingdings</vt:lpstr>
      <vt:lpstr>Office Theme</vt:lpstr>
      <vt:lpstr>Introduction to DBMS</vt:lpstr>
      <vt:lpstr>  What is a DBMS?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Anuj Dixit</dc:creator>
  <cp:lastModifiedBy>Mr. Trilok Singh</cp:lastModifiedBy>
  <cp:revision>31</cp:revision>
  <dcterms:created xsi:type="dcterms:W3CDTF">2024-07-31T06:17:43Z</dcterms:created>
  <dcterms:modified xsi:type="dcterms:W3CDTF">2024-08-30T03:59:19Z</dcterms:modified>
</cp:coreProperties>
</file>