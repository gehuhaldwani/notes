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5254-5E8C-F83C-9FEA-3B2561271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77A2D-64B8-4E3F-8FB3-B18C9D8BB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2CDB3-CCD7-8433-A559-D30E3470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7CF6F-BDBD-4318-E27E-4A27A939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E3A0C-7439-3204-B753-8E2FF68C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866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EA3D-3831-9266-2FD8-6B576FE3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10D90-D5AE-7396-A1D5-E284D0D04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F9082-F2ED-43CE-F2E7-82BDCF53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E1C5F-742D-9F1F-56BF-EB551592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CB966-A32B-BAD1-F98A-2BF665D6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296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D009-3F44-52B4-8F7C-3FCF4DA5E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0A493-1263-D995-BA7A-28396A825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B446F-97E8-6D99-828D-3D8EB4F6C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EA0BB-C970-9D56-3B7F-A6AAA903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CF71B-2553-39C3-960C-8D990230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86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99E5-E2BF-818B-62A7-D12BDE0D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55CBE-117F-93E4-4DFB-E20F47414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DACFE-1114-4A21-4EDB-2063608E7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4742A-857A-8E19-D9E6-CA46FEC4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1FF51-B51B-4F8D-C4E5-46B67C28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8F0D9-FECB-6723-6C11-9DD406D0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87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306A-BC11-67FE-D482-00FFF623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849BA-3760-9F0F-7214-33A3913C2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9690F-A693-6457-FAE8-3417ACC50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944892-22AE-067B-EAEC-154568B3B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B9A91-F577-DA2B-54B8-2263427C2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C82D77-5D89-7024-6597-E7D690E1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51F985-C73A-5520-77AE-1ACFE065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8A7C6-C367-FA79-E031-44E69DA0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34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8392A-7861-3F01-94F1-424DB2E4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E9209-86E9-C9C2-6BE8-ABBCC931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68973-EF31-CCB9-8C76-6D5FFE86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A88F6-294A-E3C7-DF2C-5F51CFE2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43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C43DD-F251-4FA7-B2B8-8CDBD5BAB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B679BF-C539-76A9-1F26-F7ABEE21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BE096-389E-6FE6-4CF0-8AF75FE69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98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D7F8B-3475-D5E9-476E-476452EB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4D7A6-4506-0077-52E0-F1F0C68FC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99A6E-06BF-711C-BAFA-C13BC53B5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96007-CC83-B3A0-16BB-F94DB809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7C8-769C-4BD0-8887-8B89C6E8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23B3A-727C-EF82-F8FF-D757AE4E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87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9C995-4F87-E393-CE53-4979134C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0F016-F26D-5182-986C-40477D46C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E4224-20A1-8280-BE06-34D48EC44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C6893-EDC3-3E3B-41C5-196B49CC5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8BA12-4F22-D1F7-8A25-7A5316C9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65ED8-C61A-09A6-29F5-B5E6B200D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36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C737-6D30-2257-B31A-5EC3A9E5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A8C72-D8B0-9B52-465B-A2C4A7853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EADD7-013D-CEF7-EEA9-C3201C3E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42F81-B063-AF08-F006-F9466FF79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4EA96-CC2F-C0FD-DB06-1B01D878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468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A11270-E558-3DFC-C9CE-9E16F2571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0BC81-1A87-00E0-7ADE-8FFD3CCCC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472B8-695F-E1EE-81FF-5ACB94355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73421-2236-229A-9D65-BFC715DE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2C58F-DEA7-42E7-1836-59A7646C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07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89BB2A-3E5F-78E5-A61E-31D43B39C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C507B-86D1-AF8A-ACA9-195DC31B0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A3078-6CC3-0063-8FB9-6DE0ADDAF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E5B86-BD05-494B-AC80-A1482B86049B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13316-F001-CB96-95D8-BC81D0F4B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8C485-A88E-C18C-E8E3-B3A2E7F9D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086E6-B8EA-4276-8437-0F0E26703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12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ifference-between-entity-entity-set-and-entity-typ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EEB8-A3D1-502D-25A6-D50BDC945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370" y="1854201"/>
            <a:ext cx="11789924" cy="684718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273239"/>
                </a:solidFill>
                <a:effectLst/>
                <a:latin typeface="Source Sans 3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5B0B2-C5ED-EECF-27EC-6662704F495E}"/>
              </a:ext>
            </a:extLst>
          </p:cNvPr>
          <p:cNvSpPr txBox="1"/>
          <p:nvPr/>
        </p:nvSpPr>
        <p:spPr>
          <a:xfrm>
            <a:off x="1043291" y="206307"/>
            <a:ext cx="103575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273239"/>
                </a:solidFill>
                <a:effectLst/>
                <a:latin typeface="Source Sans 3"/>
              </a:rPr>
              <a:t>Generalization, Specialization and Aggregation in ER Model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3BED4-B935-93DB-8C32-74307FD74641}"/>
              </a:ext>
            </a:extLst>
          </p:cNvPr>
          <p:cNvSpPr txBox="1"/>
          <p:nvPr/>
        </p:nvSpPr>
        <p:spPr>
          <a:xfrm>
            <a:off x="239948" y="791082"/>
            <a:ext cx="1178668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/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Using the ER model for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bigger data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 creates a lot of complexity while designing a database model, So in order to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minimize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Nunito" pitchFamily="2" charset="0"/>
              </a:rPr>
              <a:t> 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the complexity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Nunito" pitchFamily="2" charset="0"/>
              </a:rPr>
              <a:t> 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Generalization, Specialization, and Aggregation were introduced in the ER model and these were used for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data abstraction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in which an abstraction mechanism is used to hide details of a set of objects. Some of the terms were added to the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Enhanced ER Model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, where some new concepts were added. These new concepts are: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Generalization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Specialization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1902811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06EF9A-5409-5FFB-0019-1B427ADCDB77}"/>
              </a:ext>
            </a:extLst>
          </p:cNvPr>
          <p:cNvSpPr txBox="1"/>
          <p:nvPr/>
        </p:nvSpPr>
        <p:spPr>
          <a:xfrm>
            <a:off x="215629" y="368696"/>
            <a:ext cx="1176074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/>
            <a:r>
              <a:rPr lang="en-US" sz="4800" b="0" i="0" dirty="0">
                <a:solidFill>
                  <a:srgbClr val="273239"/>
                </a:solidFill>
                <a:effectLst/>
                <a:latin typeface="Nunito" pitchFamily="2" charset="0"/>
              </a:rPr>
              <a:t>Generalization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is the process of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extracting common properties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from a set of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entities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 and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creating a generalized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entity from it. It is a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bottom-up approach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in which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two or more entities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can be generalized to a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higher-level entity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if they have some attributes in common. </a:t>
            </a:r>
          </a:p>
          <a:p>
            <a:pPr algn="just" rtl="0" fontAlgn="base"/>
            <a:r>
              <a:rPr lang="en-US" sz="3200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Nunito" pitchFamily="2" charset="0"/>
              </a:rPr>
              <a:t>Example</a:t>
            </a:r>
            <a:r>
              <a:rPr lang="en-US" sz="3200" dirty="0">
                <a:solidFill>
                  <a:srgbClr val="273239"/>
                </a:solidFill>
                <a:latin typeface="Nunito" pitchFamily="2" charset="0"/>
              </a:rPr>
              <a:t>::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 STUDENT and FACULTY can be generalized to a higher-level entity called PERSON .In this case, common attributes like P_NAME, and P_ADD become part of a higher </a:t>
            </a:r>
            <a:r>
              <a:rPr lang="en-US" sz="3200" b="0" i="0" u="sng" dirty="0">
                <a:solidFill>
                  <a:srgbClr val="273239"/>
                </a:solidFill>
                <a:effectLst/>
                <a:latin typeface="Nunito" pitchFamily="2" charset="0"/>
              </a:rPr>
              <a:t>entity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(PERSON), and specialized </a:t>
            </a:r>
            <a:r>
              <a:rPr lang="en-US" sz="3200" b="0" i="0" u="sng" dirty="0">
                <a:solidFill>
                  <a:srgbClr val="273239"/>
                </a:solidFill>
                <a:effectLst/>
                <a:latin typeface="Nunito" pitchFamily="2" charset="0"/>
              </a:rPr>
              <a:t>attributes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like S_FEE become part of a specialized entity (STUDENT). </a:t>
            </a:r>
          </a:p>
          <a:p>
            <a:pPr algn="l" rtl="0" fontAlgn="base">
              <a:lnSpc>
                <a:spcPct val="150000"/>
              </a:lnSpc>
            </a:pPr>
            <a:r>
              <a:rPr lang="en-US" sz="3200" b="0" i="0" dirty="0">
                <a:solidFill>
                  <a:srgbClr val="273239"/>
                </a:solidFill>
                <a:effectLst/>
                <a:latin typeface="Nunito" pitchFamily="2" charset="0"/>
              </a:rPr>
              <a:t>Generalization is also called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as ‘ Bottom-up approach”.</a:t>
            </a:r>
          </a:p>
        </p:txBody>
      </p:sp>
    </p:spTree>
    <p:extLst>
      <p:ext uri="{BB962C8B-B14F-4D97-AF65-F5344CB8AC3E}">
        <p14:creationId xmlns:p14="http://schemas.microsoft.com/office/powerpoint/2010/main" val="2717669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student&#10;&#10;Description automatically generated">
            <a:extLst>
              <a:ext uri="{FF2B5EF4-FFF2-40B4-BE49-F238E27FC236}">
                <a16:creationId xmlns:a16="http://schemas.microsoft.com/office/drawing/2014/main" id="{F2CB291F-5001-3BC8-ED12-83572D62F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58" y="1526454"/>
            <a:ext cx="4697019" cy="4109891"/>
          </a:xfrm>
          <a:prstGeom prst="rect">
            <a:avLst/>
          </a:prstGeom>
        </p:spPr>
      </p:pic>
      <p:pic>
        <p:nvPicPr>
          <p:cNvPr id="1030" name="Picture 6" descr="What is Generalization in DBMS?">
            <a:extLst>
              <a:ext uri="{FF2B5EF4-FFF2-40B4-BE49-F238E27FC236}">
                <a16:creationId xmlns:a16="http://schemas.microsoft.com/office/drawing/2014/main" id="{1039876A-F081-9B5E-2547-BABB789DF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58031" y="724906"/>
            <a:ext cx="6208830" cy="4911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Generalization">
            <a:extLst>
              <a:ext uri="{FF2B5EF4-FFF2-40B4-BE49-F238E27FC236}">
                <a16:creationId xmlns:a16="http://schemas.microsoft.com/office/drawing/2014/main" id="{369B7A8D-56E0-1D73-3087-4EAE1C70F3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1489" y="494489"/>
            <a:ext cx="3086911" cy="3086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A013EC-8A46-D351-8A1D-4A87AB302CF1}"/>
              </a:ext>
            </a:extLst>
          </p:cNvPr>
          <p:cNvCxnSpPr/>
          <p:nvPr/>
        </p:nvCxnSpPr>
        <p:spPr>
          <a:xfrm>
            <a:off x="5351477" y="87549"/>
            <a:ext cx="164106" cy="6770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511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pecialization, Generalization and Aggregation - CSVeda">
            <a:extLst>
              <a:ext uri="{FF2B5EF4-FFF2-40B4-BE49-F238E27FC236}">
                <a16:creationId xmlns:a16="http://schemas.microsoft.com/office/drawing/2014/main" id="{720DC21B-6A50-AA8B-4C8D-D6F2222E0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14160" y="258277"/>
            <a:ext cx="6892877" cy="6341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550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124E02-270B-7DB1-6D7D-9990B7C03A3C}"/>
              </a:ext>
            </a:extLst>
          </p:cNvPr>
          <p:cNvSpPr txBox="1"/>
          <p:nvPr/>
        </p:nvSpPr>
        <p:spPr>
          <a:xfrm>
            <a:off x="408562" y="0"/>
            <a:ext cx="1162455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3600" b="1" i="0" dirty="0">
                <a:solidFill>
                  <a:srgbClr val="FF0000"/>
                </a:solidFill>
                <a:effectLst/>
                <a:latin typeface="Nunito" pitchFamily="2" charset="0"/>
              </a:rPr>
              <a:t>Specialization</a:t>
            </a:r>
          </a:p>
          <a:p>
            <a:pPr algn="just" rtl="0" fontAlgn="base"/>
            <a:r>
              <a:rPr lang="en-US" sz="3600" b="0" i="0" dirty="0">
                <a:solidFill>
                  <a:srgbClr val="273239"/>
                </a:solidFill>
                <a:effectLst/>
                <a:latin typeface="Nunito" pitchFamily="2" charset="0"/>
              </a:rPr>
              <a:t>In specialization, an entity is divided into 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Nunito" pitchFamily="2" charset="0"/>
              </a:rPr>
              <a:t>sub-entities</a:t>
            </a:r>
            <a:r>
              <a:rPr lang="en-US" sz="3600" b="0" i="0" dirty="0">
                <a:solidFill>
                  <a:srgbClr val="273239"/>
                </a:solidFill>
                <a:effectLst/>
                <a:latin typeface="Nunito" pitchFamily="2" charset="0"/>
              </a:rPr>
              <a:t> based on its characteristics. It is a 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Nunito" pitchFamily="2" charset="0"/>
              </a:rPr>
              <a:t>top-down approach </a:t>
            </a:r>
            <a:r>
              <a:rPr lang="en-US" sz="3600" b="0" i="0" dirty="0">
                <a:solidFill>
                  <a:srgbClr val="273239"/>
                </a:solidFill>
                <a:effectLst/>
                <a:latin typeface="Nunito" pitchFamily="2" charset="0"/>
              </a:rPr>
              <a:t>where the higher-level entity is specialized into 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Nunito" pitchFamily="2" charset="0"/>
              </a:rPr>
              <a:t>two or more lower-level </a:t>
            </a:r>
            <a:r>
              <a:rPr lang="en-US" sz="3600" b="0" i="0" u="sng" dirty="0">
                <a:solidFill>
                  <a:srgbClr val="FF0000"/>
                </a:solidFill>
                <a:effectLst/>
                <a:latin typeface="Nunito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entities</a:t>
            </a:r>
            <a:r>
              <a:rPr lang="en-US" sz="3600" b="0" i="0" dirty="0">
                <a:solidFill>
                  <a:srgbClr val="273239"/>
                </a:solidFill>
                <a:effectLst/>
                <a:latin typeface="Nunito" pitchFamily="2" charset="0"/>
              </a:rPr>
              <a:t>. For Example, an EMPLOYEE entity in an Employee management system can be specialized into DEVELOPER, TESTER, etc. In this case, common attributes like E_NAME, E_SAL, etc. become part of a higher entity (EMPLOYEE), and specialized attributes like TES_TYPE become part of a specialized entity (TESTER). </a:t>
            </a:r>
          </a:p>
          <a:p>
            <a:pPr algn="l" rtl="0" fontAlgn="base"/>
            <a:r>
              <a:rPr lang="en-US" sz="3600" b="0" i="0" dirty="0">
                <a:solidFill>
                  <a:srgbClr val="273239"/>
                </a:solidFill>
                <a:effectLst/>
                <a:latin typeface="Nunito" pitchFamily="2" charset="0"/>
              </a:rPr>
              <a:t>Specialization is also called as ” 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Nunito" pitchFamily="2" charset="0"/>
              </a:rPr>
              <a:t>Top-Down </a:t>
            </a:r>
            <a:r>
              <a:rPr lang="en-US" sz="3600" b="0" i="0" dirty="0" err="1">
                <a:solidFill>
                  <a:srgbClr val="FF0000"/>
                </a:solidFill>
                <a:effectLst/>
                <a:latin typeface="Nunito" pitchFamily="2" charset="0"/>
              </a:rPr>
              <a:t>approch</a:t>
            </a:r>
            <a:r>
              <a:rPr lang="en-US" sz="3600" b="0" i="0" dirty="0">
                <a:solidFill>
                  <a:srgbClr val="273239"/>
                </a:solidFill>
                <a:effectLst/>
                <a:latin typeface="Nunito" pitchFamily="2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173195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any&#10;&#10;Description automatically generated">
            <a:extLst>
              <a:ext uri="{FF2B5EF4-FFF2-40B4-BE49-F238E27FC236}">
                <a16:creationId xmlns:a16="http://schemas.microsoft.com/office/drawing/2014/main" id="{F407E1D8-6013-C60D-3C7A-65BE0A6FC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94" y="1400784"/>
            <a:ext cx="4447556" cy="435799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39E3C3-C2C9-8DF8-1E62-04AFB23B271C}"/>
              </a:ext>
            </a:extLst>
          </p:cNvPr>
          <p:cNvCxnSpPr/>
          <p:nvPr/>
        </p:nvCxnSpPr>
        <p:spPr>
          <a:xfrm>
            <a:off x="4883286" y="-97277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What is Specialization in DBMS?">
            <a:extLst>
              <a:ext uri="{FF2B5EF4-FFF2-40B4-BE49-F238E27FC236}">
                <a16:creationId xmlns:a16="http://schemas.microsoft.com/office/drawing/2014/main" id="{DA4F9E24-9341-AF60-0178-D61B06198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297" y="865762"/>
            <a:ext cx="6924703" cy="440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875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042614-B1FC-0547-E4A4-2B9FA13E5F13}"/>
              </a:ext>
            </a:extLst>
          </p:cNvPr>
          <p:cNvSpPr txBox="1"/>
          <p:nvPr/>
        </p:nvSpPr>
        <p:spPr>
          <a:xfrm>
            <a:off x="184825" y="155167"/>
            <a:ext cx="1182234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dirty="0">
                <a:solidFill>
                  <a:srgbClr val="273239"/>
                </a:solidFill>
                <a:effectLst/>
                <a:latin typeface="Nunito" pitchFamily="2" charset="0"/>
              </a:rPr>
              <a:t>Aggregation</a:t>
            </a:r>
          </a:p>
          <a:p>
            <a:pPr algn="just" rtl="0" fontAlgn="base"/>
            <a:r>
              <a:rPr lang="en-US" sz="2800" b="0" i="0" dirty="0">
                <a:solidFill>
                  <a:srgbClr val="273239"/>
                </a:solidFill>
                <a:effectLst/>
                <a:latin typeface="Nunito" pitchFamily="2" charset="0"/>
              </a:rPr>
              <a:t>An ER diagram is not capable of representing the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Nunito" pitchFamily="2" charset="0"/>
              </a:rPr>
              <a:t>relationship between an entity and a relationship</a:t>
            </a:r>
            <a:r>
              <a:rPr lang="en-US" sz="2800" b="0" i="0" dirty="0">
                <a:solidFill>
                  <a:srgbClr val="273239"/>
                </a:solidFill>
                <a:effectLst/>
                <a:latin typeface="Nunito" pitchFamily="2" charset="0"/>
              </a:rPr>
              <a:t> which may be required in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Nunito" pitchFamily="2" charset="0"/>
              </a:rPr>
              <a:t>some scenarios</a:t>
            </a:r>
            <a:r>
              <a:rPr lang="en-US" sz="2800" b="0" i="0" dirty="0">
                <a:solidFill>
                  <a:srgbClr val="273239"/>
                </a:solidFill>
                <a:effectLst/>
                <a:latin typeface="Nunito" pitchFamily="2" charset="0"/>
              </a:rPr>
              <a:t>. In those cases, a relationship with its corresponding entities is aggregated into a higher-level entity. Aggregation is an abstraction through which we can represent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Nunito" pitchFamily="2" charset="0"/>
              </a:rPr>
              <a:t>relationships as higher-level entity sets</a:t>
            </a:r>
            <a:r>
              <a:rPr lang="en-US" sz="2800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</a:p>
          <a:p>
            <a:pPr algn="just" rtl="0" fontAlgn="base"/>
            <a:endParaRPr lang="en-US" sz="2800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just" rtl="0" fontAlgn="base"/>
            <a:r>
              <a:rPr lang="en-US" sz="2800" b="0" i="0" dirty="0">
                <a:solidFill>
                  <a:srgbClr val="273239"/>
                </a:solidFill>
                <a:effectLst/>
                <a:latin typeface="Nunito" pitchFamily="2" charset="0"/>
              </a:rPr>
              <a:t>For Example, an Employee working on a project may require some machinery. So, REQUIRE relationship is needed between the relationship WORKS_FOR and entity MACHINERY. Using aggregation, WORKS_FOR relationship with its entities EMPLOYEE and PROJECT is aggregated into a single entity and relationship REQUIRE is created between the aggregated entity and MACHINERY.</a:t>
            </a:r>
          </a:p>
        </p:txBody>
      </p:sp>
    </p:spTree>
    <p:extLst>
      <p:ext uri="{BB962C8B-B14F-4D97-AF65-F5344CB8AC3E}">
        <p14:creationId xmlns:p14="http://schemas.microsoft.com/office/powerpoint/2010/main" val="403833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roject&#10;&#10;Description automatically generated">
            <a:extLst>
              <a:ext uri="{FF2B5EF4-FFF2-40B4-BE49-F238E27FC236}">
                <a16:creationId xmlns:a16="http://schemas.microsoft.com/office/drawing/2014/main" id="{94C61BFC-EAFC-DA08-39E6-575C5E421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99" y="651753"/>
            <a:ext cx="5635895" cy="5428034"/>
          </a:xfrm>
          <a:prstGeom prst="rect">
            <a:avLst/>
          </a:prstGeom>
        </p:spPr>
      </p:pic>
      <p:pic>
        <p:nvPicPr>
          <p:cNvPr id="4098" name="Picture 2" descr="Aggregation, Generalization, specialization and association in hindi">
            <a:extLst>
              <a:ext uri="{FF2B5EF4-FFF2-40B4-BE49-F238E27FC236}">
                <a16:creationId xmlns:a16="http://schemas.microsoft.com/office/drawing/2014/main" id="{9D86F197-1A5C-1D53-61CC-BC01D4402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712" y="651752"/>
            <a:ext cx="5635895" cy="26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613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430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Nunito</vt:lpstr>
      <vt:lpstr>Source Sans 3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Trilok Singh</dc:creator>
  <cp:lastModifiedBy>Mr. Trilok Singh</cp:lastModifiedBy>
  <cp:revision>9</cp:revision>
  <dcterms:created xsi:type="dcterms:W3CDTF">2024-09-18T04:54:12Z</dcterms:created>
  <dcterms:modified xsi:type="dcterms:W3CDTF">2024-09-20T02:03:56Z</dcterms:modified>
</cp:coreProperties>
</file>