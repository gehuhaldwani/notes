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  <p:sldId id="256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AFB85-BCC4-8C08-80C8-E8F8A46104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10A838-8919-6D76-877C-14A1571491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5225B-C3A7-B5FC-153D-0500805DF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AD2B8-A148-4EE1-9BC5-B915F802667B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D715A-C2B6-D0EB-F31C-11F89752F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E7285-6538-FF9F-A645-8FAB14333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85EE-7644-49AD-9DEC-F2773A16A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838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699CF-F244-77EF-FE76-9F313B9BC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C12D5-E58D-C2A5-099B-4E0C5F35C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5260F-661E-611F-02E2-8C295EF53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AD2B8-A148-4EE1-9BC5-B915F802667B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BADB3-C9BA-8BA9-06BE-D839C1769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AD923-0070-F254-85B2-0ED2FD5D9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85EE-7644-49AD-9DEC-F2773A16A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641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60FB5-62D0-5751-1A3F-663C18C76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26B29-DF55-C67B-E29B-A2BA769E9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1626F-4475-EC1A-92C8-BD56064AA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AD2B8-A148-4EE1-9BC5-B915F802667B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E4B9C-3989-BE6D-1305-46E857363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25B28-F1D5-9E6C-1E11-F176CC2D5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85EE-7644-49AD-9DEC-F2773A16A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435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BFAB2-4B83-89CA-2A46-8E42CFC42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64366-0437-7656-9F54-892EED25BC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28BD87-22C4-4BAA-9140-5CD042E1C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D9AAB-E948-2653-655E-E96B859FA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AD2B8-A148-4EE1-9BC5-B915F802667B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F93BE8-02E7-2DC7-2737-D77ABB77C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F599EA-9322-44BD-99EE-6EAB4AB2A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85EE-7644-49AD-9DEC-F2773A16A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92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F420B-EFC7-14E2-54F3-7608ADBC8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1D252-BE73-9346-4C5C-51E441BB6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1A71BF-B0A0-9EF3-5815-B66FB47067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08C76-0CA3-C70E-F077-96E860EC66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8ACA87-8FFC-D5D8-EC24-435168D82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DF6346-8B88-BE29-6ECE-FDB7C9925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AD2B8-A148-4EE1-9BC5-B915F802667B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352EB-2E81-3414-D665-5B9A09B06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D89088-6A6D-5FB6-BF37-2B4AEE3A0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85EE-7644-49AD-9DEC-F2773A16A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435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BCC67-32AF-9BF4-8066-0FADF0002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DE1812-34A9-70DE-851D-811B17C2F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AD2B8-A148-4EE1-9BC5-B915F802667B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50B728-45C7-0176-4DC4-34424D4E5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CAE3D8-1AF8-E05C-AABC-F9ABAF118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85EE-7644-49AD-9DEC-F2773A16A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744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A96C46-CE5C-2D8B-A0E8-20459A57F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AD2B8-A148-4EE1-9BC5-B915F802667B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03AF5C-2968-F07E-1A90-993517BC7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311B5-DD52-C620-94EF-E6FA8BC56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85EE-7644-49AD-9DEC-F2773A16A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149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9940C-F50B-4912-891C-3D3C326CC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1447C-6A8F-33C3-955C-9232FC973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234DE7-7508-FF29-54C2-CE1ED808B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36AB0-6B8A-B38E-9CFF-E917A7CEA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AD2B8-A148-4EE1-9BC5-B915F802667B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3FC84-C159-C5DB-03D9-DCD131B07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8A22F-479C-2E66-3AC8-5BBE97C70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85EE-7644-49AD-9DEC-F2773A16A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569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75DE2-9258-42EA-F1BD-DBA628335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790680-D820-4B6F-03A1-0777E2DF25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95AE7D-F7B7-D592-4D3C-044AC1D328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77ADE-5D15-5E09-D874-75DB2FA96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AD2B8-A148-4EE1-9BC5-B915F802667B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B73346-82CD-C4E1-3009-DB4B1C8BB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98C5C-A2AA-F2C3-44A3-39F61944E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85EE-7644-49AD-9DEC-F2773A16A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78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DF34E-6B80-809F-43F0-5CD6C6FA4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0A5B17-3AB9-D317-D2C8-0D48479C0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353E9-58B0-F7FA-3543-AB78E899A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AD2B8-A148-4EE1-9BC5-B915F802667B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CF6C0-2F63-ECD5-805E-F9EB5109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86DBF-9AD3-44CA-D949-3DE309C7E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85EE-7644-49AD-9DEC-F2773A16A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118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101430-EB45-E10D-EC65-182F9C744B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F7E39-95FE-3659-D2A3-2AD258F22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12374-EB56-812D-60A3-D57F734DA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AD2B8-A148-4EE1-9BC5-B915F802667B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B8943-3FB6-3CDD-45D6-B8A6E7C05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8A7A7-D928-DCCC-FD31-EB636F69B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A85EE-7644-49AD-9DEC-F2773A16A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763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A4B938-7077-D88B-FCC0-98F846B88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16129-84FC-6440-1860-11D7F6E7F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364D3-AD28-A489-8505-3FBAF260D9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7AD2B8-A148-4EE1-9BC5-B915F802667B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EA1A1-6A4F-1148-44E8-5EC2825286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E8335-2F5C-3C4A-8D36-5A49AEA2BA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A85EE-7644-49AD-9DEC-F2773A16A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842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0B0646-D55D-7730-0DB5-774BD487A221}"/>
              </a:ext>
            </a:extLst>
          </p:cNvPr>
          <p:cNvSpPr txBox="1"/>
          <p:nvPr/>
        </p:nvSpPr>
        <p:spPr>
          <a:xfrm>
            <a:off x="916831" y="306581"/>
            <a:ext cx="60943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4000" b="1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FOREIGN KEY Constraint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74BEE36-8673-DF19-E7B7-2CE4DFEDE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455" y="1302551"/>
            <a:ext cx="11391089" cy="341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FOREIGN KEY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is a field (or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collection of fields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) in one table, that refers to the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PRIMARY KEY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 another table.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table with the foreign key is called the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child table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and the table with the primary key is called the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referenced or parent table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359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20F8EED-E25E-BB17-A6EB-566E1CAB32C0}"/>
              </a:ext>
            </a:extLst>
          </p:cNvPr>
          <p:cNvSpPr txBox="1"/>
          <p:nvPr/>
        </p:nvSpPr>
        <p:spPr>
          <a:xfrm>
            <a:off x="420721" y="68972"/>
            <a:ext cx="608708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Persons 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PersonID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int,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varchar(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FirstName varchar(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Age int,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PRIMARY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PersonID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4AE43-446F-5F47-51B5-4E2CC8F65A03}"/>
              </a:ext>
            </a:extLst>
          </p:cNvPr>
          <p:cNvSpPr txBox="1"/>
          <p:nvPr/>
        </p:nvSpPr>
        <p:spPr>
          <a:xfrm>
            <a:off x="1848255" y="3218100"/>
            <a:ext cx="1085606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Orders (</a:t>
            </a: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OrderID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int </a:t>
            </a:r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OrderNumber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int </a:t>
            </a:r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PersonID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int,</a:t>
            </a: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PRIMARY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OrderID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CONSTRAINT </a:t>
            </a:r>
            <a:r>
              <a:rPr lang="en-US" sz="28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FK_PersonOrder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FOREIGN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PersonID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REFERENCES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Persons(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PersonID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28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F4DEF39-1A13-AD45-4EF1-0A7A53AD2004}"/>
              </a:ext>
            </a:extLst>
          </p:cNvPr>
          <p:cNvCxnSpPr>
            <a:cxnSpLocks/>
          </p:cNvCxnSpPr>
          <p:nvPr/>
        </p:nvCxnSpPr>
        <p:spPr>
          <a:xfrm flipV="1">
            <a:off x="126460" y="2509736"/>
            <a:ext cx="6994187" cy="8171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6785C24-9AC3-D012-22E8-82AF4F485B35}"/>
              </a:ext>
            </a:extLst>
          </p:cNvPr>
          <p:cNvCxnSpPr>
            <a:cxnSpLocks/>
          </p:cNvCxnSpPr>
          <p:nvPr/>
        </p:nvCxnSpPr>
        <p:spPr>
          <a:xfrm flipV="1">
            <a:off x="83900" y="2407596"/>
            <a:ext cx="6929743" cy="9192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1352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DD2D58-1FC3-7D82-B12D-47E46A54F29F}"/>
              </a:ext>
            </a:extLst>
          </p:cNvPr>
          <p:cNvSpPr txBox="1"/>
          <p:nvPr/>
        </p:nvSpPr>
        <p:spPr>
          <a:xfrm>
            <a:off x="372081" y="134197"/>
            <a:ext cx="78769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SQL FOREIGN KEY on ALTER 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88C6FE-C38F-1384-AF4E-F57A16DFD44E}"/>
              </a:ext>
            </a:extLst>
          </p:cNvPr>
          <p:cNvSpPr txBox="1"/>
          <p:nvPr/>
        </p:nvSpPr>
        <p:spPr>
          <a:xfrm>
            <a:off x="372081" y="897181"/>
            <a:ext cx="1125247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Orders</a:t>
            </a:r>
            <a:br>
              <a:rPr lang="en-US" sz="2800" dirty="0"/>
            </a:br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CONSTRAINT </a:t>
            </a:r>
            <a:r>
              <a:rPr lang="en-US" sz="28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FK_PersonOrder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FOREIGN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PersonID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</a:p>
          <a:p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REFERENCES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Persons(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PersonID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28D1FC-66A6-E8A9-88BF-CEBC53517374}"/>
              </a:ext>
            </a:extLst>
          </p:cNvPr>
          <p:cNvSpPr txBox="1"/>
          <p:nvPr/>
        </p:nvSpPr>
        <p:spPr>
          <a:xfrm>
            <a:off x="7506512" y="748473"/>
            <a:ext cx="1890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Orders</a:t>
            </a:r>
            <a:endParaRPr lang="en-IN" sz="3200" dirty="0">
              <a:solidFill>
                <a:srgbClr val="FF0000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FA53A7-7CC0-57B8-EFC7-88A44FC789A2}"/>
              </a:ext>
            </a:extLst>
          </p:cNvPr>
          <p:cNvCxnSpPr>
            <a:cxnSpLocks/>
          </p:cNvCxnSpPr>
          <p:nvPr/>
        </p:nvCxnSpPr>
        <p:spPr>
          <a:xfrm>
            <a:off x="8822986" y="1031412"/>
            <a:ext cx="1147865" cy="400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71AB419-BCD8-26DE-EB53-1098867051B6}"/>
              </a:ext>
            </a:extLst>
          </p:cNvPr>
          <p:cNvSpPr txBox="1"/>
          <p:nvPr/>
        </p:nvSpPr>
        <p:spPr>
          <a:xfrm>
            <a:off x="372081" y="4252659"/>
            <a:ext cx="92485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DROP a FOREIGN KEY Constraint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972ECC-59BB-3243-FECD-0446F0BD42EC}"/>
              </a:ext>
            </a:extLst>
          </p:cNvPr>
          <p:cNvSpPr txBox="1"/>
          <p:nvPr/>
        </p:nvSpPr>
        <p:spPr>
          <a:xfrm>
            <a:off x="476655" y="5006712"/>
            <a:ext cx="100365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Orders</a:t>
            </a:r>
            <a:br>
              <a:rPr lang="en-US" sz="2800" dirty="0"/>
            </a:br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DROP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FOREIGN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FK_PersonOrder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10188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1C5A04-8A8E-EC46-AF95-9AB7BD607034}"/>
              </a:ext>
            </a:extLst>
          </p:cNvPr>
          <p:cNvSpPr txBox="1"/>
          <p:nvPr/>
        </p:nvSpPr>
        <p:spPr>
          <a:xfrm>
            <a:off x="2402730" y="408875"/>
            <a:ext cx="80545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3200" b="1" i="0" dirty="0">
                <a:solidFill>
                  <a:srgbClr val="273239"/>
                </a:solidFill>
                <a:effectLst/>
                <a:latin typeface="Nunito" pitchFamily="2" charset="0"/>
              </a:rPr>
              <a:t>DISABLE the FOREIGN KEY Constraint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C88B38-8F5F-DC4E-C5AC-D0A3D7313E7D}"/>
              </a:ext>
            </a:extLst>
          </p:cNvPr>
          <p:cNvSpPr txBox="1"/>
          <p:nvPr/>
        </p:nvSpPr>
        <p:spPr>
          <a:xfrm>
            <a:off x="2648354" y="145444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MYSQL&gt; SET FOREIGN_KEY_CHECKS = 0; </a:t>
            </a:r>
            <a:r>
              <a:rPr lang="en-US" dirty="0">
                <a:solidFill>
                  <a:srgbClr val="FF0000"/>
                </a:solidFill>
              </a:rPr>
              <a:t>1 to enable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651C5A99-D65C-3891-F404-5F2A59C36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91" y="2855626"/>
            <a:ext cx="10266331" cy="1541427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SELECT * FROM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INFORMATION_SCHEMA.TABLE_CONSTRAINTS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WHERE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en-US" sz="3200" dirty="0">
                <a:latin typeface="Consolas" panose="020B0609020204030204" pitchFamily="49" charset="0"/>
              </a:rPr>
              <a:t>‘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en-US" sz="3200" dirty="0" err="1">
                <a:latin typeface="Consolas" panose="020B0609020204030204" pitchFamily="49" charset="0"/>
              </a:rPr>
              <a:t>U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serTableName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en-US" sz="3200" dirty="0">
                <a:latin typeface="Consolas" panose="020B0609020204030204" pitchFamily="49" charset="0"/>
              </a:rPr>
              <a:t>’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035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44E135D-9D1E-A390-42E2-224F1B91D52B}"/>
              </a:ext>
            </a:extLst>
          </p:cNvPr>
          <p:cNvSpPr txBox="1"/>
          <p:nvPr/>
        </p:nvSpPr>
        <p:spPr>
          <a:xfrm>
            <a:off x="369650" y="428178"/>
            <a:ext cx="11712103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CREATE TABLE </a:t>
            </a:r>
            <a:r>
              <a:rPr lang="en-IN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users(</a:t>
            </a:r>
            <a:r>
              <a:rPr lang="en-IN" sz="3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user_id</a:t>
            </a:r>
            <a:r>
              <a:rPr lang="en-IN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INT</a:t>
            </a:r>
            <a:r>
              <a:rPr lang="en-IN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AUTO_INCREMENT PRIMARY </a:t>
            </a:r>
            <a:r>
              <a:rPr lang="en-IN" sz="32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KEY</a:t>
            </a:r>
            <a:r>
              <a:rPr lang="en-IN" sz="3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,username</a:t>
            </a:r>
            <a:r>
              <a:rPr lang="en-IN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VARCHAR(40)</a:t>
            </a:r>
            <a:r>
              <a:rPr lang="en-IN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,password </a:t>
            </a:r>
            <a:r>
              <a:rPr lang="en-IN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VARCHAR</a:t>
            </a:r>
            <a:r>
              <a:rPr lang="en-IN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(55),email </a:t>
            </a:r>
            <a:r>
              <a:rPr lang="en-IN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VARCHAR</a:t>
            </a:r>
            <a:r>
              <a:rPr lang="en-IN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(55));</a:t>
            </a:r>
            <a:br>
              <a:rPr lang="en-IN" sz="3200" dirty="0"/>
            </a:br>
            <a:br>
              <a:rPr lang="en-IN" sz="3200" dirty="0"/>
            </a:br>
            <a:r>
              <a:rPr lang="en-IN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CREATE TABLE </a:t>
            </a:r>
            <a:r>
              <a:rPr lang="en-IN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roles(</a:t>
            </a:r>
            <a:r>
              <a:rPr lang="en-IN" sz="3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role_id</a:t>
            </a:r>
            <a:r>
              <a:rPr lang="en-IN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INT</a:t>
            </a:r>
            <a:r>
              <a:rPr lang="en-IN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AUTO_INCREMENT</a:t>
            </a:r>
            <a:r>
              <a:rPr lang="en-IN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IN" sz="3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role_name</a:t>
            </a:r>
            <a:r>
              <a:rPr lang="en-IN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VARCHAR</a:t>
            </a:r>
            <a:r>
              <a:rPr lang="en-IN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(50),</a:t>
            </a:r>
            <a:r>
              <a:rPr lang="en-IN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PRIMARY KEY</a:t>
            </a:r>
            <a:r>
              <a:rPr lang="en-IN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IN" sz="3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role_id</a:t>
            </a:r>
            <a:r>
              <a:rPr lang="en-IN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));</a:t>
            </a:r>
            <a:br>
              <a:rPr lang="en-IN" sz="3200" dirty="0"/>
            </a:br>
            <a:br>
              <a:rPr lang="en-IN" sz="3200" dirty="0"/>
            </a:br>
            <a:r>
              <a:rPr lang="en-IN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CREATE TABLE </a:t>
            </a:r>
            <a:r>
              <a:rPr lang="en-IN" sz="3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user_roles</a:t>
            </a:r>
            <a:r>
              <a:rPr lang="en-IN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IN" sz="3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user_id</a:t>
            </a:r>
            <a:r>
              <a:rPr lang="en-IN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32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INT</a:t>
            </a:r>
            <a:r>
              <a:rPr lang="en-IN" sz="3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,role_id</a:t>
            </a:r>
            <a:r>
              <a:rPr lang="en-IN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INT</a:t>
            </a:r>
            <a:r>
              <a:rPr lang="en-IN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en-IN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PRIMARY KEY</a:t>
            </a:r>
            <a:r>
              <a:rPr lang="en-IN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IN" sz="3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user_id,role_id</a:t>
            </a:r>
            <a:r>
              <a:rPr lang="en-IN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),</a:t>
            </a:r>
            <a:r>
              <a:rPr lang="en-IN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FOREIGN KEY</a:t>
            </a:r>
            <a:r>
              <a:rPr lang="en-IN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IN" sz="3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user_id</a:t>
            </a:r>
            <a:r>
              <a:rPr lang="en-IN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 </a:t>
            </a:r>
            <a:r>
              <a:rPr lang="en-IN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REFERENCES</a:t>
            </a:r>
            <a:r>
              <a:rPr lang="en-IN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users(</a:t>
            </a:r>
            <a:r>
              <a:rPr lang="en-IN" sz="3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user_id</a:t>
            </a:r>
            <a:r>
              <a:rPr lang="en-IN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),</a:t>
            </a:r>
            <a:r>
              <a:rPr lang="en-IN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FOREIGN KEY</a:t>
            </a:r>
            <a:r>
              <a:rPr lang="en-IN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IN" sz="3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role_id</a:t>
            </a:r>
            <a:r>
              <a:rPr lang="en-IN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en-IN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REFERENCES</a:t>
            </a:r>
            <a:r>
              <a:rPr lang="en-IN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roles(</a:t>
            </a:r>
            <a:r>
              <a:rPr lang="en-IN" sz="3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role_id</a:t>
            </a:r>
            <a:r>
              <a:rPr lang="en-IN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));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524285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A6B52D-94CB-39BB-DAA9-21C87641E9E6}"/>
              </a:ext>
            </a:extLst>
          </p:cNvPr>
          <p:cNvSpPr txBox="1"/>
          <p:nvPr/>
        </p:nvSpPr>
        <p:spPr>
          <a:xfrm>
            <a:off x="5623803" y="168559"/>
            <a:ext cx="663021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CREATE </a:t>
            </a:r>
            <a:r>
              <a:rPr lang="en-US" sz="2800" b="1" i="0" dirty="0">
                <a:solidFill>
                  <a:srgbClr val="006699"/>
                </a:solidFill>
                <a:effectLst/>
                <a:latin typeface="Montserrat" panose="020F0502020204030204" pitchFamily="2" charset="0"/>
              </a:rPr>
              <a:t>TABLE</a:t>
            </a:r>
            <a:r>
              <a:rPr lang="en-US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customer </a:t>
            </a:r>
          </a:p>
          <a:p>
            <a:pPr algn="l"/>
            <a:r>
              <a:rPr lang="en-US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(  </a:t>
            </a:r>
          </a:p>
          <a:p>
            <a:pPr algn="l"/>
            <a:r>
              <a:rPr lang="en-US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 	ID </a:t>
            </a:r>
            <a:r>
              <a:rPr lang="en-US" sz="2800" b="1" i="0" dirty="0">
                <a:solidFill>
                  <a:srgbClr val="006699"/>
                </a:solidFill>
                <a:effectLst/>
                <a:latin typeface="Montserrat" panose="020F0502020204030204" pitchFamily="2" charset="0"/>
              </a:rPr>
              <a:t>INT</a:t>
            </a:r>
            <a:r>
              <a:rPr lang="en-US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</a:t>
            </a:r>
            <a:r>
              <a:rPr lang="en-US" sz="2800" b="0" i="0" dirty="0">
                <a:solidFill>
                  <a:srgbClr val="808080"/>
                </a:solidFill>
                <a:effectLst/>
                <a:latin typeface="Montserrat" panose="020F0502020204030204" pitchFamily="2" charset="0"/>
              </a:rPr>
              <a:t>NOT</a:t>
            </a:r>
            <a:r>
              <a:rPr lang="en-US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</a:t>
            </a:r>
            <a:r>
              <a:rPr lang="en-US" sz="2800" b="0" i="0" dirty="0">
                <a:solidFill>
                  <a:srgbClr val="808080"/>
                </a:solidFill>
                <a:effectLst/>
                <a:latin typeface="Montserrat" panose="020F0502020204030204" pitchFamily="2" charset="0"/>
              </a:rPr>
              <a:t>NULL</a:t>
            </a:r>
            <a:r>
              <a:rPr lang="en-US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AUTO_INCREMENT,  </a:t>
            </a:r>
          </a:p>
          <a:p>
            <a:pPr algn="l"/>
            <a:r>
              <a:rPr lang="en-US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 	</a:t>
            </a:r>
            <a:r>
              <a:rPr lang="en-US" sz="2800" b="1" i="0" dirty="0">
                <a:solidFill>
                  <a:srgbClr val="006699"/>
                </a:solidFill>
                <a:effectLst/>
                <a:latin typeface="Montserrat" panose="020F0502020204030204" pitchFamily="2" charset="0"/>
              </a:rPr>
              <a:t>Name</a:t>
            </a:r>
            <a:r>
              <a:rPr lang="en-US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</a:t>
            </a:r>
            <a:r>
              <a:rPr lang="en-US" sz="2800" b="1" i="0" dirty="0">
                <a:solidFill>
                  <a:srgbClr val="006699"/>
                </a:solidFill>
                <a:effectLst/>
                <a:latin typeface="Montserrat" panose="020F0502020204030204" pitchFamily="2" charset="0"/>
              </a:rPr>
              <a:t>varchar</a:t>
            </a:r>
            <a:r>
              <a:rPr lang="en-US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(50) </a:t>
            </a:r>
            <a:r>
              <a:rPr lang="en-US" sz="2800" b="0" i="0" dirty="0">
                <a:solidFill>
                  <a:srgbClr val="808080"/>
                </a:solidFill>
                <a:effectLst/>
                <a:latin typeface="Montserrat" panose="020F0502020204030204" pitchFamily="2" charset="0"/>
              </a:rPr>
              <a:t>NOT</a:t>
            </a:r>
            <a:r>
              <a:rPr lang="en-US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</a:t>
            </a:r>
            <a:r>
              <a:rPr lang="en-US" sz="2800" b="0" i="0" dirty="0">
                <a:solidFill>
                  <a:srgbClr val="808080"/>
                </a:solidFill>
                <a:effectLst/>
                <a:latin typeface="Montserrat" panose="020F0502020204030204" pitchFamily="2" charset="0"/>
              </a:rPr>
              <a:t>NULL</a:t>
            </a:r>
            <a:r>
              <a:rPr lang="en-US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,  </a:t>
            </a:r>
          </a:p>
          <a:p>
            <a:pPr algn="l"/>
            <a:r>
              <a:rPr lang="en-US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 	City </a:t>
            </a:r>
            <a:r>
              <a:rPr lang="en-US" sz="2800" b="1" i="0" dirty="0">
                <a:solidFill>
                  <a:srgbClr val="006699"/>
                </a:solidFill>
                <a:effectLst/>
                <a:latin typeface="Montserrat" panose="020F0502020204030204" pitchFamily="2" charset="0"/>
              </a:rPr>
              <a:t>varchar</a:t>
            </a:r>
            <a:r>
              <a:rPr lang="en-US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(50) </a:t>
            </a:r>
            <a:r>
              <a:rPr lang="en-US" sz="2800" b="0" i="0" dirty="0">
                <a:solidFill>
                  <a:srgbClr val="808080"/>
                </a:solidFill>
                <a:effectLst/>
                <a:latin typeface="Montserrat" panose="020F0502020204030204" pitchFamily="2" charset="0"/>
              </a:rPr>
              <a:t>NOT</a:t>
            </a:r>
            <a:r>
              <a:rPr lang="en-US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</a:t>
            </a:r>
            <a:r>
              <a:rPr lang="en-US" sz="2800" b="0" i="0" dirty="0">
                <a:solidFill>
                  <a:srgbClr val="808080"/>
                </a:solidFill>
                <a:effectLst/>
                <a:latin typeface="Montserrat" panose="020F0502020204030204" pitchFamily="2" charset="0"/>
              </a:rPr>
              <a:t>NULL</a:t>
            </a:r>
            <a:r>
              <a:rPr lang="en-US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,  </a:t>
            </a:r>
          </a:p>
          <a:p>
            <a:pPr algn="l"/>
            <a:r>
              <a:rPr lang="en-US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	 </a:t>
            </a:r>
            <a:r>
              <a:rPr lang="en-US" sz="2800" b="1" i="0" dirty="0">
                <a:solidFill>
                  <a:srgbClr val="006699"/>
                </a:solidFill>
                <a:effectLst/>
                <a:latin typeface="Montserrat" panose="020F0502020204030204" pitchFamily="2" charset="0"/>
              </a:rPr>
              <a:t>PRIMARY</a:t>
            </a:r>
            <a:r>
              <a:rPr lang="en-US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</a:t>
            </a:r>
            <a:r>
              <a:rPr lang="en-US" sz="2800" b="1" i="0" dirty="0">
                <a:solidFill>
                  <a:srgbClr val="006699"/>
                </a:solidFill>
                <a:effectLst/>
                <a:latin typeface="Montserrat" panose="020F0502020204030204" pitchFamily="2" charset="0"/>
              </a:rPr>
              <a:t>KEY</a:t>
            </a:r>
            <a:r>
              <a:rPr lang="en-US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(ID)  </a:t>
            </a:r>
          </a:p>
          <a:p>
            <a:pPr algn="l"/>
            <a:r>
              <a:rPr lang="en-US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); 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C77886-7AB0-91DB-792B-BC64B5EFC590}"/>
              </a:ext>
            </a:extLst>
          </p:cNvPr>
          <p:cNvSpPr txBox="1"/>
          <p:nvPr/>
        </p:nvSpPr>
        <p:spPr>
          <a:xfrm>
            <a:off x="543939" y="2440210"/>
            <a:ext cx="839496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CREATE </a:t>
            </a:r>
            <a:r>
              <a:rPr lang="en-IN" sz="2800" b="1" i="0" dirty="0">
                <a:solidFill>
                  <a:srgbClr val="006699"/>
                </a:solidFill>
                <a:effectLst/>
                <a:latin typeface="Montserrat" panose="020F0502020204030204" pitchFamily="2" charset="0"/>
              </a:rPr>
              <a:t>TABLE</a:t>
            </a:r>
            <a:r>
              <a:rPr lang="en-IN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contact </a:t>
            </a:r>
          </a:p>
          <a:p>
            <a:pPr algn="l"/>
            <a:r>
              <a:rPr lang="en-IN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(  </a:t>
            </a:r>
          </a:p>
          <a:p>
            <a:pPr algn="l"/>
            <a:r>
              <a:rPr lang="en-IN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 ID </a:t>
            </a:r>
            <a:r>
              <a:rPr lang="en-IN" sz="2800" b="1" i="0" dirty="0">
                <a:solidFill>
                  <a:srgbClr val="006699"/>
                </a:solidFill>
                <a:effectLst/>
                <a:latin typeface="Montserrat" panose="020F0502020204030204" pitchFamily="2" charset="0"/>
              </a:rPr>
              <a:t>INT</a:t>
            </a:r>
            <a:r>
              <a:rPr lang="en-IN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,  </a:t>
            </a:r>
          </a:p>
          <a:p>
            <a:pPr algn="l"/>
            <a:r>
              <a:rPr lang="en-IN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 </a:t>
            </a:r>
            <a:r>
              <a:rPr lang="en-IN" sz="2800" b="0" i="0" dirty="0" err="1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Customer_Id</a:t>
            </a:r>
            <a:r>
              <a:rPr lang="en-IN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</a:t>
            </a:r>
            <a:r>
              <a:rPr lang="en-IN" sz="2800" b="1" i="0" dirty="0">
                <a:solidFill>
                  <a:srgbClr val="006699"/>
                </a:solidFill>
                <a:effectLst/>
                <a:latin typeface="Montserrat" panose="020F0502020204030204" pitchFamily="2" charset="0"/>
              </a:rPr>
              <a:t>INT</a:t>
            </a:r>
            <a:r>
              <a:rPr lang="en-IN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,  </a:t>
            </a:r>
          </a:p>
          <a:p>
            <a:pPr algn="l"/>
            <a:r>
              <a:rPr lang="en-IN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 </a:t>
            </a:r>
            <a:r>
              <a:rPr lang="en-IN" sz="2800" b="0" i="0" dirty="0" err="1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Customer_Info</a:t>
            </a:r>
            <a:r>
              <a:rPr lang="en-IN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</a:t>
            </a:r>
            <a:r>
              <a:rPr lang="en-IN" sz="2800" b="1" i="0" dirty="0">
                <a:solidFill>
                  <a:srgbClr val="006699"/>
                </a:solidFill>
                <a:effectLst/>
                <a:latin typeface="Montserrat" panose="020F0502020204030204" pitchFamily="2" charset="0"/>
              </a:rPr>
              <a:t>varchar</a:t>
            </a:r>
            <a:r>
              <a:rPr lang="en-IN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(50) </a:t>
            </a:r>
            <a:r>
              <a:rPr lang="en-IN" sz="2800" b="0" i="0" dirty="0">
                <a:solidFill>
                  <a:srgbClr val="808080"/>
                </a:solidFill>
                <a:effectLst/>
                <a:latin typeface="Montserrat" panose="020F0502020204030204" pitchFamily="2" charset="0"/>
              </a:rPr>
              <a:t>NOT</a:t>
            </a:r>
            <a:r>
              <a:rPr lang="en-IN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</a:t>
            </a:r>
            <a:r>
              <a:rPr lang="en-IN" sz="2800" b="0" i="0" dirty="0">
                <a:solidFill>
                  <a:srgbClr val="808080"/>
                </a:solidFill>
                <a:effectLst/>
                <a:latin typeface="Montserrat" panose="020F0502020204030204" pitchFamily="2" charset="0"/>
              </a:rPr>
              <a:t>NULL</a:t>
            </a:r>
            <a:r>
              <a:rPr lang="en-IN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,  </a:t>
            </a:r>
          </a:p>
          <a:p>
            <a:pPr algn="l"/>
            <a:r>
              <a:rPr lang="en-IN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 </a:t>
            </a:r>
            <a:r>
              <a:rPr lang="en-IN" sz="2800" b="1" i="0" dirty="0">
                <a:solidFill>
                  <a:srgbClr val="006699"/>
                </a:solidFill>
                <a:effectLst/>
                <a:latin typeface="Montserrat" panose="020F0502020204030204" pitchFamily="2" charset="0"/>
              </a:rPr>
              <a:t>CONSTRAINT</a:t>
            </a:r>
            <a:r>
              <a:rPr lang="en-IN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</a:t>
            </a:r>
            <a:r>
              <a:rPr lang="en-IN" sz="2800" b="0" i="0" dirty="0" err="1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fk_customer</a:t>
            </a:r>
            <a:r>
              <a:rPr lang="en-IN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</a:t>
            </a:r>
            <a:r>
              <a:rPr lang="en-IN" sz="2800" b="1" i="0" dirty="0">
                <a:solidFill>
                  <a:srgbClr val="006699"/>
                </a:solidFill>
                <a:effectLst/>
                <a:latin typeface="Montserrat" panose="020F0502020204030204" pitchFamily="2" charset="0"/>
              </a:rPr>
              <a:t>FOREIGN</a:t>
            </a:r>
            <a:r>
              <a:rPr lang="en-IN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</a:t>
            </a:r>
            <a:r>
              <a:rPr lang="en-IN" sz="2800" b="1" i="0" dirty="0">
                <a:solidFill>
                  <a:srgbClr val="006699"/>
                </a:solidFill>
                <a:effectLst/>
                <a:latin typeface="Montserrat" panose="020F0502020204030204" pitchFamily="2" charset="0"/>
              </a:rPr>
              <a:t>KEY</a:t>
            </a:r>
            <a:r>
              <a:rPr lang="en-IN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(</a:t>
            </a:r>
            <a:r>
              <a:rPr lang="en-IN" sz="2800" b="0" i="0" dirty="0" err="1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Customer_Id</a:t>
            </a:r>
            <a:r>
              <a:rPr lang="en-IN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)    </a:t>
            </a:r>
            <a:r>
              <a:rPr lang="en-IN" sz="2800" b="1" i="0" dirty="0">
                <a:solidFill>
                  <a:srgbClr val="006699"/>
                </a:solidFill>
                <a:effectLst/>
                <a:latin typeface="Montserrat" panose="020F0502020204030204" pitchFamily="2" charset="0"/>
              </a:rPr>
              <a:t>REFERENCES</a:t>
            </a:r>
            <a:r>
              <a:rPr lang="en-IN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customer(ID)  </a:t>
            </a:r>
          </a:p>
          <a:p>
            <a:pPr algn="l"/>
            <a:r>
              <a:rPr lang="en-IN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 </a:t>
            </a:r>
            <a:r>
              <a:rPr lang="en-IN" sz="2800" b="1" i="0" dirty="0">
                <a:solidFill>
                  <a:srgbClr val="006699"/>
                </a:solidFill>
                <a:effectLst/>
                <a:latin typeface="Montserrat" panose="020F0502020204030204" pitchFamily="2" charset="0"/>
              </a:rPr>
              <a:t>ON</a:t>
            </a:r>
            <a:r>
              <a:rPr lang="en-IN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</a:t>
            </a:r>
            <a:r>
              <a:rPr lang="en-IN" sz="2800" b="1" i="0" dirty="0">
                <a:solidFill>
                  <a:srgbClr val="006699"/>
                </a:solidFill>
                <a:effectLst/>
                <a:latin typeface="Montserrat" panose="020F0502020204030204" pitchFamily="2" charset="0"/>
              </a:rPr>
              <a:t>DELETE</a:t>
            </a:r>
            <a:r>
              <a:rPr lang="en-IN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</a:t>
            </a:r>
            <a:r>
              <a:rPr lang="en-IN" sz="2800" b="1" i="0" dirty="0">
                <a:solidFill>
                  <a:srgbClr val="006699"/>
                </a:solidFill>
                <a:effectLst/>
                <a:latin typeface="Montserrat" panose="020F0502020204030204" pitchFamily="2" charset="0"/>
              </a:rPr>
              <a:t>CASCADE</a:t>
            </a:r>
            <a:r>
              <a:rPr lang="en-IN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  </a:t>
            </a:r>
            <a:r>
              <a:rPr lang="en-IN" sz="2800" b="1" i="0" dirty="0">
                <a:solidFill>
                  <a:srgbClr val="006699"/>
                </a:solidFill>
                <a:effectLst/>
                <a:latin typeface="Montserrat" panose="020F0502020204030204" pitchFamily="2" charset="0"/>
              </a:rPr>
              <a:t>ON</a:t>
            </a:r>
            <a:r>
              <a:rPr lang="en-IN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</a:t>
            </a:r>
            <a:r>
              <a:rPr lang="en-IN" sz="2800" b="1" i="0" dirty="0">
                <a:solidFill>
                  <a:srgbClr val="006699"/>
                </a:solidFill>
                <a:effectLst/>
                <a:latin typeface="Montserrat" panose="020F0502020204030204" pitchFamily="2" charset="0"/>
              </a:rPr>
              <a:t>UPDATE</a:t>
            </a:r>
            <a:r>
              <a:rPr lang="en-IN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</a:t>
            </a:r>
            <a:r>
              <a:rPr lang="en-IN" sz="2800" b="1" i="0" dirty="0">
                <a:solidFill>
                  <a:srgbClr val="006699"/>
                </a:solidFill>
                <a:effectLst/>
                <a:latin typeface="Montserrat" panose="020F0502020204030204" pitchFamily="2" charset="0"/>
              </a:rPr>
              <a:t>CASCADE</a:t>
            </a:r>
            <a:r>
              <a:rPr lang="en-IN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  </a:t>
            </a:r>
          </a:p>
          <a:p>
            <a:pPr algn="l"/>
            <a:r>
              <a:rPr lang="en-IN" sz="2800" b="0" i="0" dirty="0">
                <a:solidFill>
                  <a:srgbClr val="2B2A29"/>
                </a:solidFill>
                <a:effectLst/>
                <a:latin typeface="Montserrat" panose="020F0502020204030204" pitchFamily="2" charset="0"/>
              </a:rPr>
              <a:t>);  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25D703-6591-E836-86F7-FD514759CFE0}"/>
              </a:ext>
            </a:extLst>
          </p:cNvPr>
          <p:cNvCxnSpPr/>
          <p:nvPr/>
        </p:nvCxnSpPr>
        <p:spPr>
          <a:xfrm>
            <a:off x="2324911" y="797668"/>
            <a:ext cx="4484451" cy="34630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0591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431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Montserrat</vt:lpstr>
      <vt:lpstr>Nunito</vt:lpstr>
      <vt:lpstr>Segoe UI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 Trilok Singh</dc:creator>
  <cp:lastModifiedBy>Mr. Trilok Singh</cp:lastModifiedBy>
  <cp:revision>16</cp:revision>
  <dcterms:created xsi:type="dcterms:W3CDTF">2024-09-25T04:51:35Z</dcterms:created>
  <dcterms:modified xsi:type="dcterms:W3CDTF">2024-09-25T06:46:12Z</dcterms:modified>
</cp:coreProperties>
</file>