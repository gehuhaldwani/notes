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03" autoAdjust="0"/>
    <p:restoredTop sz="94610"/>
  </p:normalViewPr>
  <p:slideViewPr>
    <p:cSldViewPr snapToGrid="0" snapToObjects="1">
      <p:cViewPr varScale="1">
        <p:scale>
          <a:sx n="69" d="100"/>
          <a:sy n="69"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598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med">
    <p:split orient="vert"/>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spd="med">
    <p:split orient="vert"/>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4"/>
          <a:stretch>
            <a:fillRect/>
          </a:stretch>
        </p:blipFill>
        <p:spPr>
          <a:xfrm>
            <a:off x="0" y="0"/>
            <a:ext cx="5486400" cy="8229600"/>
          </a:xfrm>
          <a:prstGeom prst="rect">
            <a:avLst/>
          </a:prstGeom>
        </p:spPr>
      </p:pic>
      <p:sp>
        <p:nvSpPr>
          <p:cNvPr id="5" name="Text 2"/>
          <p:cNvSpPr/>
          <p:nvPr/>
        </p:nvSpPr>
        <p:spPr>
          <a:xfrm>
            <a:off x="6319599" y="1862614"/>
            <a:ext cx="7477601" cy="2499598"/>
          </a:xfrm>
          <a:prstGeom prst="rect">
            <a:avLst/>
          </a:prstGeom>
          <a:noFill/>
          <a:ln/>
        </p:spPr>
        <p:txBody>
          <a:bodyPr wrap="square" rtlCol="0" anchor="t"/>
          <a:lstStyle/>
          <a:p>
            <a:pPr marL="0" indent="0">
              <a:lnSpc>
                <a:spcPts val="6561"/>
              </a:lnSpc>
              <a:buNone/>
            </a:pPr>
            <a:r>
              <a:rPr lang="en-US" sz="5249" b="1" dirty="0">
                <a:solidFill>
                  <a:srgbClr val="FFFFFF"/>
                </a:solidFill>
                <a:latin typeface="Syne" pitchFamily="34" charset="0"/>
                <a:ea typeface="Syne" pitchFamily="34" charset="-122"/>
                <a:cs typeface="Syne" pitchFamily="34" charset="-120"/>
              </a:rPr>
              <a:t>Database Management System</a:t>
            </a:r>
            <a:endParaRPr lang="en-US" sz="5249" dirty="0"/>
          </a:p>
        </p:txBody>
      </p:sp>
      <p:sp>
        <p:nvSpPr>
          <p:cNvPr id="6" name="Text 3"/>
          <p:cNvSpPr/>
          <p:nvPr/>
        </p:nvSpPr>
        <p:spPr>
          <a:xfrm>
            <a:off x="6319599" y="4695468"/>
            <a:ext cx="7477601" cy="1066205"/>
          </a:xfrm>
          <a:prstGeom prst="rect">
            <a:avLst/>
          </a:prstGeom>
          <a:noFill/>
          <a:ln/>
        </p:spPr>
        <p:txBody>
          <a:bodyPr wrap="square" rtlCol="0" anchor="t"/>
          <a:lstStyle/>
          <a:p>
            <a:pPr marL="0" indent="0">
              <a:lnSpc>
                <a:spcPts val="2799"/>
              </a:lnSpc>
              <a:buNone/>
            </a:pPr>
            <a:r>
              <a:rPr lang="en-US" sz="2400" dirty="0">
                <a:solidFill>
                  <a:srgbClr val="D9E1FF"/>
                </a:solidFill>
                <a:latin typeface="Arimo" pitchFamily="34" charset="0"/>
                <a:ea typeface="Arimo" pitchFamily="34" charset="-122"/>
                <a:cs typeface="Arimo" pitchFamily="34" charset="-120"/>
              </a:rPr>
              <a:t>Welcome to the world of Database Management Systems. Discover the history, benefits, and key components of DBMS, as well as the importance of data modeling and security.</a:t>
            </a:r>
          </a:p>
          <a:p>
            <a:pPr marL="0" indent="0">
              <a:lnSpc>
                <a:spcPts val="2799"/>
              </a:lnSpc>
              <a:buNone/>
            </a:pPr>
            <a:endParaRPr lang="en-US" sz="2400" dirty="0">
              <a:solidFill>
                <a:srgbClr val="D9E1FF"/>
              </a:solidFill>
              <a:latin typeface="Arimo" pitchFamily="34" charset="0"/>
              <a:ea typeface="Arimo" pitchFamily="34" charset="-122"/>
            </a:endParaRPr>
          </a:p>
        </p:txBody>
      </p:sp>
      <p:sp>
        <p:nvSpPr>
          <p:cNvPr id="7" name="Text 4"/>
          <p:cNvSpPr/>
          <p:nvPr/>
        </p:nvSpPr>
        <p:spPr>
          <a:xfrm>
            <a:off x="6319599" y="6413383"/>
            <a:ext cx="7477601" cy="355402"/>
          </a:xfrm>
          <a:prstGeom prst="rect">
            <a:avLst/>
          </a:prstGeom>
          <a:noFill/>
          <a:ln/>
        </p:spPr>
        <p:txBody>
          <a:bodyPr wrap="non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By DHRUV GARG</a:t>
            </a:r>
            <a:endParaRPr lang="en-US" sz="1750" dirty="0"/>
          </a:p>
        </p:txBody>
      </p:sp>
    </p:spTree>
  </p:cSld>
  <p:clrMapOvr>
    <a:masterClrMapping/>
  </p:clrMapOvr>
  <p:transition spd="slow">
    <p:dissolve/>
    <p:sndAc>
      <p:stSnd>
        <p:snd r:embed="rId3" name="applaus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33199" y="2195751"/>
            <a:ext cx="7477601" cy="2083118"/>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Introduction to Database Management System</a:t>
            </a:r>
            <a:endParaRPr lang="en-US" sz="4374" dirty="0"/>
          </a:p>
        </p:txBody>
      </p:sp>
      <p:sp>
        <p:nvSpPr>
          <p:cNvPr id="6" name="Text 3"/>
          <p:cNvSpPr/>
          <p:nvPr/>
        </p:nvSpPr>
        <p:spPr>
          <a:xfrm>
            <a:off x="833199" y="4612124"/>
            <a:ext cx="7477601" cy="1421606"/>
          </a:xfrm>
          <a:prstGeom prst="rect">
            <a:avLst/>
          </a:prstGeom>
          <a:noFill/>
          <a:ln/>
        </p:spPr>
        <p:txBody>
          <a:bodyPr wrap="square" rtlCol="0" anchor="t"/>
          <a:lstStyle/>
          <a:p>
            <a:pPr marL="0" indent="0">
              <a:lnSpc>
                <a:spcPts val="2799"/>
              </a:lnSpc>
              <a:buNone/>
            </a:pPr>
            <a:r>
              <a:rPr lang="en-US" sz="2400" dirty="0">
                <a:solidFill>
                  <a:srgbClr val="D9E1FF"/>
                </a:solidFill>
                <a:latin typeface="Arimo" pitchFamily="34" charset="0"/>
                <a:ea typeface="Arimo" pitchFamily="34" charset="-122"/>
                <a:cs typeface="Arimo" pitchFamily="34" charset="-120"/>
              </a:rPr>
              <a:t>A Database Management System (DBMS) is a software application that allows users to efficiently store, organize, and retrieve data. It provides a structured and secure environment for managing data, enabling businesses to make informed decisions based on accurate and consistent information</a:t>
            </a:r>
            <a:r>
              <a:rPr lang="en-US" sz="1750" dirty="0">
                <a:solidFill>
                  <a:srgbClr val="D9E1FF"/>
                </a:solidFill>
                <a:latin typeface="Arimo" pitchFamily="34" charset="0"/>
                <a:ea typeface="Arimo" pitchFamily="34" charset="-122"/>
                <a:cs typeface="Arimo" pitchFamily="34" charset="-120"/>
              </a:rPr>
              <a:t>.</a:t>
            </a:r>
            <a:endParaRPr lang="en-US" sz="1750"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1548"/>
            <a:ext cx="14630400" cy="8231148"/>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702362"/>
          </a:xfrm>
          <a:prstGeom prst="rect">
            <a:avLst/>
          </a:prstGeom>
        </p:spPr>
      </p:pic>
      <p:sp>
        <p:nvSpPr>
          <p:cNvPr id="5" name="Text 2"/>
          <p:cNvSpPr/>
          <p:nvPr/>
        </p:nvSpPr>
        <p:spPr>
          <a:xfrm>
            <a:off x="2482691" y="3296841"/>
            <a:ext cx="9665018" cy="1351359"/>
          </a:xfrm>
          <a:prstGeom prst="rect">
            <a:avLst/>
          </a:prstGeom>
          <a:noFill/>
          <a:ln/>
        </p:spPr>
        <p:txBody>
          <a:bodyPr wrap="square" rtlCol="0" anchor="t"/>
          <a:lstStyle/>
          <a:p>
            <a:pPr marL="0" indent="0">
              <a:lnSpc>
                <a:spcPts val="5320"/>
              </a:lnSpc>
              <a:buNone/>
            </a:pPr>
            <a:r>
              <a:rPr lang="en-US" sz="4256" b="1" dirty="0">
                <a:solidFill>
                  <a:srgbClr val="FFFFFF"/>
                </a:solidFill>
                <a:latin typeface="Syne" pitchFamily="34" charset="0"/>
                <a:ea typeface="Syne" pitchFamily="34" charset="-122"/>
                <a:cs typeface="Syne" pitchFamily="34" charset="-120"/>
              </a:rPr>
              <a:t>History of DBMS: Evolution and Impact</a:t>
            </a:r>
            <a:endParaRPr lang="en-US" sz="4256" dirty="0"/>
          </a:p>
        </p:txBody>
      </p:sp>
      <p:sp>
        <p:nvSpPr>
          <p:cNvPr id="6" name="Text 3"/>
          <p:cNvSpPr/>
          <p:nvPr/>
        </p:nvSpPr>
        <p:spPr>
          <a:xfrm>
            <a:off x="2482691" y="4784412"/>
            <a:ext cx="9665018" cy="1383506"/>
          </a:xfrm>
          <a:prstGeom prst="rect">
            <a:avLst/>
          </a:prstGeom>
          <a:noFill/>
          <a:ln/>
        </p:spPr>
        <p:txBody>
          <a:bodyPr wrap="square" rtlCol="0" anchor="t"/>
          <a:lstStyle/>
          <a:p>
            <a:pPr marL="0" indent="0">
              <a:lnSpc>
                <a:spcPts val="2724"/>
              </a:lnSpc>
              <a:buNone/>
            </a:pPr>
            <a:r>
              <a:rPr lang="en-US" sz="2000" dirty="0">
                <a:solidFill>
                  <a:srgbClr val="D9E1FF"/>
                </a:solidFill>
                <a:latin typeface="Arimo" pitchFamily="34" charset="0"/>
                <a:ea typeface="Arimo" pitchFamily="34" charset="-122"/>
                <a:cs typeface="Arimo" pitchFamily="34" charset="-120"/>
              </a:rPr>
              <a:t>DBMS has evolved significantly since its inception in the 1960s. The introduction of the relational model in the 1970s revolutionized data management. Advances in hardware and software in the 1980s and 1990s led to more sophisticated DBMSs, including object-oriented and distributed systems.</a:t>
            </a:r>
            <a:endParaRPr lang="en-US" sz="2000" dirty="0"/>
          </a:p>
        </p:txBody>
      </p:sp>
      <p:sp>
        <p:nvSpPr>
          <p:cNvPr id="7" name="Text 4"/>
          <p:cNvSpPr/>
          <p:nvPr/>
        </p:nvSpPr>
        <p:spPr>
          <a:xfrm>
            <a:off x="2482691" y="6304130"/>
            <a:ext cx="9665018" cy="1037630"/>
          </a:xfrm>
          <a:prstGeom prst="rect">
            <a:avLst/>
          </a:prstGeom>
          <a:noFill/>
          <a:ln/>
        </p:spPr>
        <p:txBody>
          <a:bodyPr wrap="square" rtlCol="0" anchor="t"/>
          <a:lstStyle/>
          <a:p>
            <a:pPr marL="0" indent="0">
              <a:lnSpc>
                <a:spcPts val="2724"/>
              </a:lnSpc>
              <a:buNone/>
            </a:pPr>
            <a:r>
              <a:rPr lang="en-US" sz="2000" dirty="0">
                <a:solidFill>
                  <a:srgbClr val="D9E1FF"/>
                </a:solidFill>
                <a:latin typeface="Arimo" pitchFamily="34" charset="0"/>
                <a:ea typeface="Arimo" pitchFamily="34" charset="-122"/>
                <a:cs typeface="Arimo" pitchFamily="34" charset="-120"/>
              </a:rPr>
              <a:t>In the 21st century, big data and cloud computing have shaped the field of DBMS. Technologies like NoSQL databases have emerged to handle unstructured data. Today, DBMSs are essential tools for organizations, providing secure data storage, retrieval, and analysis for informed decision-making</a:t>
            </a:r>
            <a:r>
              <a:rPr lang="en-US" sz="1702" dirty="0">
                <a:solidFill>
                  <a:srgbClr val="D9E1FF"/>
                </a:solidFill>
                <a:latin typeface="Arimo" pitchFamily="34" charset="0"/>
                <a:ea typeface="Arimo" pitchFamily="34" charset="-122"/>
                <a:cs typeface="Arimo" pitchFamily="34" charset="-120"/>
              </a:rPr>
              <a:t>.</a:t>
            </a:r>
            <a:endParaRPr lang="en-US" sz="1702"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561630"/>
          </a:xfrm>
          <a:prstGeom prst="rect">
            <a:avLst/>
          </a:prstGeom>
        </p:spPr>
      </p:pic>
      <p:sp>
        <p:nvSpPr>
          <p:cNvPr id="5" name="Text 2"/>
          <p:cNvSpPr/>
          <p:nvPr/>
        </p:nvSpPr>
        <p:spPr>
          <a:xfrm>
            <a:off x="2734389" y="3126581"/>
            <a:ext cx="9161621" cy="1280636"/>
          </a:xfrm>
          <a:prstGeom prst="rect">
            <a:avLst/>
          </a:prstGeom>
          <a:noFill/>
          <a:ln/>
        </p:spPr>
        <p:txBody>
          <a:bodyPr wrap="square" rtlCol="0" anchor="t"/>
          <a:lstStyle/>
          <a:p>
            <a:pPr marL="0" indent="0">
              <a:lnSpc>
                <a:spcPts val="5043"/>
              </a:lnSpc>
              <a:buNone/>
            </a:pPr>
            <a:r>
              <a:rPr lang="en-US" sz="4034" b="1" dirty="0">
                <a:solidFill>
                  <a:srgbClr val="FFFFFF"/>
                </a:solidFill>
                <a:latin typeface="Syne" pitchFamily="34" charset="0"/>
                <a:ea typeface="Syne" pitchFamily="34" charset="-122"/>
                <a:cs typeface="Syne" pitchFamily="34" charset="-120"/>
              </a:rPr>
              <a:t>Data Models: Organizing Information</a:t>
            </a:r>
            <a:endParaRPr lang="en-US" sz="4034" dirty="0"/>
          </a:p>
        </p:txBody>
      </p:sp>
      <p:sp>
        <p:nvSpPr>
          <p:cNvPr id="6" name="Text 3"/>
          <p:cNvSpPr/>
          <p:nvPr/>
        </p:nvSpPr>
        <p:spPr>
          <a:xfrm>
            <a:off x="2734388" y="4087058"/>
            <a:ext cx="9161621" cy="2950012"/>
          </a:xfrm>
          <a:prstGeom prst="rect">
            <a:avLst/>
          </a:prstGeom>
          <a:noFill/>
          <a:ln/>
        </p:spPr>
        <p:txBody>
          <a:bodyPr wrap="square" rtlCol="0" anchor="t"/>
          <a:lstStyle/>
          <a:p>
            <a:pPr marL="0" indent="0">
              <a:lnSpc>
                <a:spcPts val="2582"/>
              </a:lnSpc>
              <a:buNone/>
            </a:pPr>
            <a:r>
              <a:rPr lang="en-US" dirty="0">
                <a:solidFill>
                  <a:srgbClr val="D9E1FF"/>
                </a:solidFill>
                <a:latin typeface="Arimo" pitchFamily="34" charset="0"/>
                <a:ea typeface="Arimo" pitchFamily="34" charset="-122"/>
                <a:cs typeface="Arimo" pitchFamily="34" charset="-120"/>
              </a:rPr>
              <a:t>Data models are frameworks used to organize and structure data in a database. Common data models include hierarchical, network, relational, and object-oriented models. Each model has its strengths and weaknesses, and choosing the right one is crucial for efficient data management. Data models serve as a blueprint for how data is structured and organized within a database. The hierarchical model arranges data in a tree-like structure, while the network model allows for more complex relationships between data elements. In contrast, the relational model uses tables with rows and columns to store data in a structured manner, and the object-oriented model enables the storage of both data and its associated behaviors. Choosing the appropriate data model is essential for ensuring data integrity and efficient data retrieval.</a:t>
            </a:r>
            <a:endParaRPr lang="en-US"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5" name="Text 2"/>
          <p:cNvSpPr/>
          <p:nvPr/>
        </p:nvSpPr>
        <p:spPr>
          <a:xfrm>
            <a:off x="801529" y="1072277"/>
            <a:ext cx="9369623" cy="1309926"/>
          </a:xfrm>
          <a:prstGeom prst="rect">
            <a:avLst/>
          </a:prstGeom>
          <a:noFill/>
          <a:ln/>
        </p:spPr>
        <p:txBody>
          <a:bodyPr wrap="square" rtlCol="0" anchor="t"/>
          <a:lstStyle/>
          <a:p>
            <a:pPr marL="0" indent="0">
              <a:lnSpc>
                <a:spcPts val="5157"/>
              </a:lnSpc>
              <a:buNone/>
            </a:pPr>
            <a:r>
              <a:rPr lang="en-US" sz="4126" b="1" dirty="0">
                <a:solidFill>
                  <a:srgbClr val="FFFFFF"/>
                </a:solidFill>
                <a:latin typeface="Syne" pitchFamily="34" charset="0"/>
                <a:ea typeface="Syne" pitchFamily="34" charset="-122"/>
                <a:cs typeface="Syne" pitchFamily="34" charset="-120"/>
              </a:rPr>
              <a:t>Relational Database Management Systems (RDBMS)</a:t>
            </a:r>
            <a:endParaRPr lang="en-US" sz="4126" dirty="0"/>
          </a:p>
        </p:txBody>
      </p:sp>
      <p:sp>
        <p:nvSpPr>
          <p:cNvPr id="6" name="Shape 3"/>
          <p:cNvSpPr/>
          <p:nvPr/>
        </p:nvSpPr>
        <p:spPr>
          <a:xfrm>
            <a:off x="801529" y="2696527"/>
            <a:ext cx="9369623" cy="2548652"/>
          </a:xfrm>
          <a:prstGeom prst="roundRect">
            <a:avLst>
              <a:gd name="adj" fmla="val 2467"/>
            </a:avLst>
          </a:prstGeom>
          <a:solidFill>
            <a:srgbClr val="171542"/>
          </a:solidFill>
          <a:ln/>
        </p:spPr>
        <p:txBody>
          <a:bodyPr/>
          <a:lstStyle/>
          <a:p>
            <a:endParaRPr lang="en-US"/>
          </a:p>
        </p:txBody>
      </p:sp>
      <p:sp>
        <p:nvSpPr>
          <p:cNvPr id="7" name="Text 4"/>
          <p:cNvSpPr/>
          <p:nvPr/>
        </p:nvSpPr>
        <p:spPr>
          <a:xfrm>
            <a:off x="1011079" y="2906078"/>
            <a:ext cx="2453640" cy="327422"/>
          </a:xfrm>
          <a:prstGeom prst="rect">
            <a:avLst/>
          </a:prstGeom>
          <a:noFill/>
          <a:ln/>
        </p:spPr>
        <p:txBody>
          <a:bodyPr wrap="none" rtlCol="0" anchor="t"/>
          <a:lstStyle/>
          <a:p>
            <a:pPr marL="0" indent="0">
              <a:lnSpc>
                <a:spcPts val="2579"/>
              </a:lnSpc>
              <a:buNone/>
            </a:pPr>
            <a:r>
              <a:rPr lang="en-US" sz="2063" b="1" dirty="0">
                <a:solidFill>
                  <a:srgbClr val="FFFFFF"/>
                </a:solidFill>
                <a:latin typeface="Syne" pitchFamily="34" charset="0"/>
                <a:ea typeface="Syne" pitchFamily="34" charset="-122"/>
                <a:cs typeface="Syne" pitchFamily="34" charset="-120"/>
              </a:rPr>
              <a:t>What is RDBMS?</a:t>
            </a:r>
            <a:endParaRPr lang="en-US" sz="2063" dirty="0"/>
          </a:p>
        </p:txBody>
      </p:sp>
      <p:sp>
        <p:nvSpPr>
          <p:cNvPr id="8" name="Text 5"/>
          <p:cNvSpPr/>
          <p:nvPr/>
        </p:nvSpPr>
        <p:spPr>
          <a:xfrm>
            <a:off x="1011079" y="3359229"/>
            <a:ext cx="8950523" cy="1676400"/>
          </a:xfrm>
          <a:prstGeom prst="rect">
            <a:avLst/>
          </a:prstGeom>
          <a:noFill/>
          <a:ln/>
        </p:spPr>
        <p:txBody>
          <a:bodyPr wrap="square" rtlCol="0" anchor="t"/>
          <a:lstStyle/>
          <a:p>
            <a:pPr marL="0" indent="0">
              <a:lnSpc>
                <a:spcPts val="2640"/>
              </a:lnSpc>
              <a:buNone/>
            </a:pPr>
            <a:r>
              <a:rPr lang="en-US" dirty="0">
                <a:solidFill>
                  <a:srgbClr val="D9E1FF"/>
                </a:solidFill>
                <a:latin typeface="Arimo" pitchFamily="34" charset="0"/>
                <a:ea typeface="Arimo" pitchFamily="34" charset="-122"/>
                <a:cs typeface="Arimo" pitchFamily="34" charset="-120"/>
              </a:rPr>
              <a:t>RDBMS, or Relational Database Management Systems, are a type of DBMS that organizes data into tables with relationships between them. Unlike other database management systems, RDBMS follows the relational model and uses SQL to manipulate and query the data. Using RDBMS allows for efficient data storage, retrieval, and maintenance, making it a popular choice for many applications.</a:t>
            </a:r>
            <a:endParaRPr lang="en-US" dirty="0"/>
          </a:p>
        </p:txBody>
      </p:sp>
      <p:sp>
        <p:nvSpPr>
          <p:cNvPr id="9" name="Text 6"/>
          <p:cNvSpPr/>
          <p:nvPr/>
        </p:nvSpPr>
        <p:spPr>
          <a:xfrm>
            <a:off x="1136809" y="5480923"/>
            <a:ext cx="9034343" cy="1676400"/>
          </a:xfrm>
          <a:prstGeom prst="rect">
            <a:avLst/>
          </a:prstGeom>
          <a:noFill/>
          <a:ln/>
        </p:spPr>
        <p:txBody>
          <a:bodyPr wrap="square" rtlCol="0" anchor="t"/>
          <a:lstStyle/>
          <a:p>
            <a:pPr marL="342900" indent="-342900" algn="l">
              <a:lnSpc>
                <a:spcPts val="2640"/>
              </a:lnSpc>
              <a:buSzPct val="100000"/>
              <a:buChar char="•"/>
            </a:pPr>
            <a:r>
              <a:rPr lang="en-US" dirty="0">
                <a:solidFill>
                  <a:srgbClr val="D9E1FF"/>
                </a:solidFill>
                <a:latin typeface="Arimo" pitchFamily="34" charset="0"/>
                <a:ea typeface="Arimo" pitchFamily="34" charset="-122"/>
                <a:cs typeface="Arimo" pitchFamily="34" charset="-120"/>
              </a:rPr>
              <a:t>RDBMS provides a structured approach to store and manage data by breaking it into smaller, interconnected tables, which helps in eliminating data redundancy and ensuring data consistency. RDBMS also supports ACID (Atomicity, Consistency, Isolation, Durability) properties that guarantee data integrity and reliability in transactions. With its standardized language, SQL, RDBMS offers a uniform and versatile way to interact with and retrieve data from the database.</a:t>
            </a:r>
            <a:endParaRPr lang="en-US"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 calcmode="lin" valueType="num">
                                      <p:cBhvr additive="base">
                                        <p:cTn id="2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319599" y="2009894"/>
            <a:ext cx="7477601" cy="1388745"/>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The Hierarchical Model: Structuring Data</a:t>
            </a:r>
            <a:endParaRPr lang="en-US" sz="4374" dirty="0"/>
          </a:p>
        </p:txBody>
      </p:sp>
      <p:sp>
        <p:nvSpPr>
          <p:cNvPr id="6" name="Text 3"/>
          <p:cNvSpPr/>
          <p:nvPr/>
        </p:nvSpPr>
        <p:spPr>
          <a:xfrm>
            <a:off x="6319599" y="3731895"/>
            <a:ext cx="7477601" cy="2487811"/>
          </a:xfrm>
          <a:prstGeom prst="rect">
            <a:avLst/>
          </a:prstGeom>
          <a:noFill/>
          <a:ln/>
        </p:spPr>
        <p:txBody>
          <a:bodyPr wrap="square" rtlCol="0" anchor="t"/>
          <a:lstStyle/>
          <a:p>
            <a:pPr marL="0" indent="0">
              <a:lnSpc>
                <a:spcPts val="2799"/>
              </a:lnSpc>
              <a:buNone/>
            </a:pPr>
            <a:r>
              <a:rPr lang="en-US" sz="2000" dirty="0">
                <a:solidFill>
                  <a:srgbClr val="D9E1FF"/>
                </a:solidFill>
                <a:latin typeface="Arimo" pitchFamily="34" charset="0"/>
                <a:ea typeface="Arimo" pitchFamily="34" charset="-122"/>
                <a:cs typeface="Arimo" pitchFamily="34" charset="-120"/>
              </a:rPr>
              <a:t>The hierarchical model is a data model that organizes data in a tree-like structure, where each record has a parent-child relationship. It is characterized by a top-down approach, where data is organized hierarchically, with a single root record and child records branching out. This model is efficient for representing one-to-many relationships but can be less flexible for complex data relationships. Understanding the hierarchical model helps in designing efficient database structures.</a:t>
            </a:r>
            <a:endParaRPr lang="en-US" sz="2000"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668667"/>
          </a:xfrm>
          <a:prstGeom prst="rect">
            <a:avLst/>
          </a:prstGeom>
        </p:spPr>
      </p:pic>
      <p:sp>
        <p:nvSpPr>
          <p:cNvPr id="5" name="Text 2"/>
          <p:cNvSpPr/>
          <p:nvPr/>
        </p:nvSpPr>
        <p:spPr>
          <a:xfrm>
            <a:off x="2542818" y="3256002"/>
            <a:ext cx="9544645" cy="1334214"/>
          </a:xfrm>
          <a:prstGeom prst="rect">
            <a:avLst/>
          </a:prstGeom>
          <a:noFill/>
          <a:ln/>
        </p:spPr>
        <p:txBody>
          <a:bodyPr wrap="square" rtlCol="0" anchor="t"/>
          <a:lstStyle/>
          <a:p>
            <a:pPr marL="0" indent="0">
              <a:lnSpc>
                <a:spcPts val="5253"/>
              </a:lnSpc>
              <a:buNone/>
            </a:pPr>
            <a:r>
              <a:rPr lang="en-US" sz="4203" b="1" dirty="0">
                <a:solidFill>
                  <a:srgbClr val="FFFFFF"/>
                </a:solidFill>
                <a:latin typeface="Syne" pitchFamily="34" charset="0"/>
                <a:ea typeface="Syne" pitchFamily="34" charset="-122"/>
                <a:cs typeface="Syne" pitchFamily="34" charset="-120"/>
              </a:rPr>
              <a:t>The Network Model: Connecting Data</a:t>
            </a:r>
            <a:endParaRPr lang="en-US" sz="4203" dirty="0"/>
          </a:p>
        </p:txBody>
      </p:sp>
      <p:sp>
        <p:nvSpPr>
          <p:cNvPr id="6" name="Text 3"/>
          <p:cNvSpPr/>
          <p:nvPr/>
        </p:nvSpPr>
        <p:spPr>
          <a:xfrm>
            <a:off x="2542818" y="4425613"/>
            <a:ext cx="9544645" cy="2731770"/>
          </a:xfrm>
          <a:prstGeom prst="rect">
            <a:avLst/>
          </a:prstGeom>
          <a:noFill/>
          <a:ln/>
        </p:spPr>
        <p:txBody>
          <a:bodyPr wrap="square" rtlCol="0" anchor="t"/>
          <a:lstStyle/>
          <a:p>
            <a:pPr marL="0" indent="0">
              <a:lnSpc>
                <a:spcPts val="2690"/>
              </a:lnSpc>
              <a:buNone/>
            </a:pPr>
            <a:r>
              <a:rPr lang="en-US" dirty="0">
                <a:solidFill>
                  <a:srgbClr val="D9E1FF"/>
                </a:solidFill>
                <a:latin typeface="Arimo" pitchFamily="34" charset="0"/>
                <a:ea typeface="Arimo" pitchFamily="34" charset="-122"/>
                <a:cs typeface="Arimo" pitchFamily="34" charset="-120"/>
              </a:rPr>
              <a:t>The network model is a data model that represents data as a collection of records connected by relationships. It allows for complex data relationships by using a graph-like structure. Each record can have multiple parent and child records, enabling many-to-many relationships. Understanding the network model is essential for designing databases with interconnected data. In addition to the hierarchical model, the network model allows for the implementation of complex data relationships by utilizing a graph-like structure. By allowing records to have multiple parent and child records, it enables the representation of many-to-many relationships. This understanding of the network model is crucial for designing databases that involve interconnected data.</a:t>
            </a:r>
            <a:endParaRPr lang="en-US"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380655"/>
          </a:xfrm>
          <a:prstGeom prst="rect">
            <a:avLst/>
          </a:prstGeom>
        </p:spPr>
      </p:pic>
      <p:sp>
        <p:nvSpPr>
          <p:cNvPr id="5" name="Text 2"/>
          <p:cNvSpPr/>
          <p:nvPr/>
        </p:nvSpPr>
        <p:spPr>
          <a:xfrm>
            <a:off x="3057882" y="2530892"/>
            <a:ext cx="8514517" cy="1785223"/>
          </a:xfrm>
          <a:prstGeom prst="rect">
            <a:avLst/>
          </a:prstGeom>
          <a:noFill/>
          <a:ln/>
        </p:spPr>
        <p:txBody>
          <a:bodyPr wrap="square" rtlCol="0" anchor="t"/>
          <a:lstStyle/>
          <a:p>
            <a:pPr marL="0" indent="0">
              <a:lnSpc>
                <a:spcPts val="4686"/>
              </a:lnSpc>
              <a:buNone/>
            </a:pPr>
            <a:r>
              <a:rPr lang="en-US" sz="3749" b="1" dirty="0">
                <a:solidFill>
                  <a:srgbClr val="FFFFFF"/>
                </a:solidFill>
                <a:latin typeface="Syne" pitchFamily="34" charset="0"/>
                <a:ea typeface="Syne" pitchFamily="34" charset="-122"/>
                <a:cs typeface="Syne" pitchFamily="34" charset="-120"/>
              </a:rPr>
              <a:t>The Object-Oriented Model: Representing Real-World Objects</a:t>
            </a:r>
            <a:endParaRPr lang="en-US" sz="3749" dirty="0"/>
          </a:p>
        </p:txBody>
      </p:sp>
      <p:sp>
        <p:nvSpPr>
          <p:cNvPr id="6" name="Text 3"/>
          <p:cNvSpPr/>
          <p:nvPr/>
        </p:nvSpPr>
        <p:spPr>
          <a:xfrm>
            <a:off x="3057882" y="3869308"/>
            <a:ext cx="8514517" cy="1219200"/>
          </a:xfrm>
          <a:prstGeom prst="rect">
            <a:avLst/>
          </a:prstGeom>
          <a:noFill/>
          <a:ln/>
        </p:spPr>
        <p:txBody>
          <a:bodyPr wrap="square" rtlCol="0" anchor="t"/>
          <a:lstStyle/>
          <a:p>
            <a:pPr marL="0" indent="0">
              <a:lnSpc>
                <a:spcPts val="2399"/>
              </a:lnSpc>
              <a:buNone/>
            </a:pPr>
            <a:r>
              <a:rPr lang="en-US" dirty="0">
                <a:solidFill>
                  <a:srgbClr val="D9E1FF"/>
                </a:solidFill>
                <a:latin typeface="Arimo" pitchFamily="34" charset="0"/>
                <a:ea typeface="Arimo" pitchFamily="34" charset="-122"/>
                <a:cs typeface="Arimo" pitchFamily="34" charset="-120"/>
              </a:rPr>
              <a:t>The object-oriented model is a data model that represents data as a collection of objects, each with its own set of attributes and methods. It mirrors the real-world objects it represents and is used in object-oriented programming. Understanding the object-oriented model is vital in designing databases for modern applications.</a:t>
            </a:r>
            <a:endParaRPr lang="en-US" dirty="0"/>
          </a:p>
        </p:txBody>
      </p:sp>
      <p:sp>
        <p:nvSpPr>
          <p:cNvPr id="7" name="Text 4"/>
          <p:cNvSpPr/>
          <p:nvPr/>
        </p:nvSpPr>
        <p:spPr>
          <a:xfrm>
            <a:off x="3362563" y="5678282"/>
            <a:ext cx="8209836" cy="609600"/>
          </a:xfrm>
          <a:prstGeom prst="rect">
            <a:avLst/>
          </a:prstGeom>
          <a:noFill/>
          <a:ln/>
        </p:spPr>
        <p:txBody>
          <a:bodyPr wrap="square" rtlCol="0" anchor="t"/>
          <a:lstStyle/>
          <a:p>
            <a:pPr marL="342900" indent="-342900" algn="l">
              <a:lnSpc>
                <a:spcPts val="2399"/>
              </a:lnSpc>
              <a:buSzPct val="100000"/>
              <a:buFont typeface="+mj-lt"/>
              <a:buAutoNum type="arabicPeriod"/>
            </a:pPr>
            <a:r>
              <a:rPr lang="en-US" dirty="0">
                <a:solidFill>
                  <a:srgbClr val="D9E1FF"/>
                </a:solidFill>
                <a:latin typeface="Arimo" pitchFamily="34" charset="0"/>
                <a:ea typeface="Arimo" pitchFamily="34" charset="-122"/>
                <a:cs typeface="Arimo" pitchFamily="34" charset="-120"/>
              </a:rPr>
              <a:t>Object DBMSs add database functionality to object programming languages. They bring much more than persistent storage of programming language objects.</a:t>
            </a:r>
            <a:endParaRPr lang="en-US" dirty="0"/>
          </a:p>
        </p:txBody>
      </p:sp>
      <p:sp>
        <p:nvSpPr>
          <p:cNvPr id="8" name="Text 5"/>
          <p:cNvSpPr/>
          <p:nvPr/>
        </p:nvSpPr>
        <p:spPr>
          <a:xfrm>
            <a:off x="3362563" y="6877657"/>
            <a:ext cx="8209836" cy="609600"/>
          </a:xfrm>
          <a:prstGeom prst="rect">
            <a:avLst/>
          </a:prstGeom>
          <a:noFill/>
          <a:ln/>
        </p:spPr>
        <p:txBody>
          <a:bodyPr wrap="square" rtlCol="0" anchor="t"/>
          <a:lstStyle/>
          <a:p>
            <a:pPr marL="342900" indent="-342900" algn="l">
              <a:lnSpc>
                <a:spcPts val="2399"/>
              </a:lnSpc>
              <a:buSzPct val="100000"/>
              <a:buFont typeface="+mj-lt"/>
              <a:buAutoNum type="arabicPeriod" startAt="2"/>
            </a:pPr>
            <a:r>
              <a:rPr lang="en-US" dirty="0">
                <a:solidFill>
                  <a:srgbClr val="D9E1FF"/>
                </a:solidFill>
                <a:latin typeface="Arimo" pitchFamily="34" charset="0"/>
                <a:ea typeface="Arimo" pitchFamily="34" charset="-122"/>
                <a:cs typeface="Arimo" pitchFamily="34" charset="-120"/>
              </a:rPr>
              <a:t>A major benefit of this approach is the unification of the application and database development into a seamless data model and language environment.</a:t>
            </a:r>
            <a:endParaRPr lang="en-US"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33199" y="2018109"/>
            <a:ext cx="7477601" cy="2083118"/>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The Semi-structured Model: Flexibility in Data Organization</a:t>
            </a:r>
            <a:endParaRPr lang="en-US" sz="4374" dirty="0"/>
          </a:p>
        </p:txBody>
      </p:sp>
      <p:sp>
        <p:nvSpPr>
          <p:cNvPr id="6" name="Text 3"/>
          <p:cNvSpPr/>
          <p:nvPr/>
        </p:nvSpPr>
        <p:spPr>
          <a:xfrm>
            <a:off x="833199" y="4434483"/>
            <a:ext cx="7477601" cy="1777008"/>
          </a:xfrm>
          <a:prstGeom prst="rect">
            <a:avLst/>
          </a:prstGeom>
          <a:noFill/>
          <a:ln/>
        </p:spPr>
        <p:txBody>
          <a:bodyPr wrap="square" rtlCol="0" anchor="t"/>
          <a:lstStyle/>
          <a:p>
            <a:pPr marL="0" indent="0">
              <a:lnSpc>
                <a:spcPts val="2799"/>
              </a:lnSpc>
              <a:buNone/>
            </a:pPr>
            <a:r>
              <a:rPr lang="en-US" sz="2000" dirty="0">
                <a:solidFill>
                  <a:srgbClr val="D9E1FF"/>
                </a:solidFill>
                <a:latin typeface="Arimo" pitchFamily="34" charset="0"/>
                <a:ea typeface="Arimo" pitchFamily="34" charset="-122"/>
                <a:cs typeface="Arimo" pitchFamily="34" charset="-120"/>
              </a:rPr>
              <a:t>The semi-structured model is a data model that allows for flexible and dynamic data organization. It accommodates data with varying structures and formats, making it suitable for handling unstructured or loosely structured data, such as XML or JSON. Understanding the semi-structured model is crucial in managing modern data sources.</a:t>
            </a:r>
            <a:endParaRPr lang="en-US" sz="2000"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777490"/>
          </a:xfrm>
          <a:prstGeom prst="rect">
            <a:avLst/>
          </a:prstGeom>
        </p:spPr>
      </p:pic>
      <p:sp>
        <p:nvSpPr>
          <p:cNvPr id="5" name="Text 2"/>
          <p:cNvSpPr/>
          <p:nvPr/>
        </p:nvSpPr>
        <p:spPr>
          <a:xfrm>
            <a:off x="2348389" y="3620810"/>
            <a:ext cx="7170420" cy="694373"/>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Architecture of a DBMS</a:t>
            </a:r>
            <a:endParaRPr lang="en-US" sz="4374" dirty="0"/>
          </a:p>
        </p:txBody>
      </p:sp>
      <p:sp>
        <p:nvSpPr>
          <p:cNvPr id="6" name="Text 3"/>
          <p:cNvSpPr/>
          <p:nvPr/>
        </p:nvSpPr>
        <p:spPr>
          <a:xfrm>
            <a:off x="2348389" y="4648438"/>
            <a:ext cx="9933503" cy="1066205"/>
          </a:xfrm>
          <a:prstGeom prst="rect">
            <a:avLst/>
          </a:prstGeom>
          <a:noFill/>
          <a:ln/>
        </p:spPr>
        <p:txBody>
          <a:bodyPr wrap="square" rtlCol="0" anchor="t"/>
          <a:lstStyle/>
          <a:p>
            <a:pPr marL="0" indent="0">
              <a:lnSpc>
                <a:spcPts val="2799"/>
              </a:lnSpc>
              <a:buNone/>
            </a:pPr>
            <a:r>
              <a:rPr lang="en-US" sz="2000" dirty="0">
                <a:solidFill>
                  <a:srgbClr val="D9E1FF"/>
                </a:solidFill>
                <a:latin typeface="Arimo" pitchFamily="34" charset="0"/>
                <a:ea typeface="Arimo" pitchFamily="34" charset="-122"/>
                <a:cs typeface="Arimo" pitchFamily="34" charset="-120"/>
              </a:rPr>
              <a:t>A DBMS is a multi-layered system that allows for the efficient and secure storage and retrieval of data. The layers include the external, conceptual, internal, and data access layers. Learn about the role of each layer in ensuring the integrity and accessibility of data.</a:t>
            </a:r>
            <a:endParaRPr lang="en-US" sz="2000" dirty="0"/>
          </a:p>
        </p:txBody>
      </p:sp>
      <p:sp>
        <p:nvSpPr>
          <p:cNvPr id="7" name="Text 4"/>
          <p:cNvSpPr/>
          <p:nvPr/>
        </p:nvSpPr>
        <p:spPr>
          <a:xfrm>
            <a:off x="2348389" y="6186131"/>
            <a:ext cx="9933503" cy="1421606"/>
          </a:xfrm>
          <a:prstGeom prst="rect">
            <a:avLst/>
          </a:prstGeom>
          <a:noFill/>
          <a:ln/>
        </p:spPr>
        <p:txBody>
          <a:bodyPr wrap="square" rtlCol="0" anchor="t"/>
          <a:lstStyle/>
          <a:p>
            <a:pPr marL="0" indent="0">
              <a:lnSpc>
                <a:spcPts val="2799"/>
              </a:lnSpc>
              <a:buNone/>
            </a:pPr>
            <a:r>
              <a:rPr lang="en-US" sz="2000" dirty="0">
                <a:solidFill>
                  <a:srgbClr val="D9E1FF"/>
                </a:solidFill>
                <a:latin typeface="Arimo" pitchFamily="34" charset="0"/>
                <a:ea typeface="Arimo" pitchFamily="34" charset="-122"/>
                <a:cs typeface="Arimo" pitchFamily="34" charset="-120"/>
              </a:rPr>
              <a:t>The external layer allows for user interaction with the DBMS while the conceptual layer helps in creating the schema description of databases. The internal layer is responsible for how the data is physically stored and accessed. The data access layer lies between the user and the DBMS making sure that user requests are processed correctly by the DBMS.</a:t>
            </a:r>
            <a:endParaRPr lang="en-US" sz="2000"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additive="base">
                                        <p:cTn id="1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319599" y="1263134"/>
            <a:ext cx="6515100" cy="694373"/>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File System vs. DBMS</a:t>
            </a:r>
            <a:endParaRPr lang="en-US" sz="4374" dirty="0"/>
          </a:p>
        </p:txBody>
      </p:sp>
      <p:sp>
        <p:nvSpPr>
          <p:cNvPr id="6" name="Text 3"/>
          <p:cNvSpPr/>
          <p:nvPr/>
        </p:nvSpPr>
        <p:spPr>
          <a:xfrm>
            <a:off x="6319599" y="2290763"/>
            <a:ext cx="7477601" cy="710803"/>
          </a:xfrm>
          <a:prstGeom prst="rect">
            <a:avLst/>
          </a:prstGeom>
          <a:noFill/>
          <a:ln/>
        </p:spPr>
        <p:txBody>
          <a:bodyPr wrap="square" rtlCol="0" anchor="t"/>
          <a:lstStyle/>
          <a:p>
            <a:pPr marL="0" indent="0">
              <a:lnSpc>
                <a:spcPts val="2799"/>
              </a:lnSpc>
              <a:buNone/>
            </a:pPr>
            <a:r>
              <a:rPr lang="en-US" dirty="0">
                <a:solidFill>
                  <a:srgbClr val="D9E1FF"/>
                </a:solidFill>
                <a:latin typeface="Arimo" pitchFamily="34" charset="0"/>
                <a:ea typeface="Arimo" pitchFamily="34" charset="-122"/>
                <a:cs typeface="Arimo" pitchFamily="34" charset="-120"/>
              </a:rPr>
              <a:t>Discover the fundamental distinctions between a file system and a Database Management System (DBMS). .</a:t>
            </a:r>
            <a:endParaRPr lang="en-US" dirty="0"/>
          </a:p>
        </p:txBody>
      </p:sp>
      <p:sp>
        <p:nvSpPr>
          <p:cNvPr id="7" name="Text 4"/>
          <p:cNvSpPr/>
          <p:nvPr/>
        </p:nvSpPr>
        <p:spPr>
          <a:xfrm>
            <a:off x="6675001" y="3251478"/>
            <a:ext cx="7122200"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D9E1FF"/>
                </a:solidFill>
                <a:latin typeface="Arimo" pitchFamily="34" charset="0"/>
                <a:ea typeface="Arimo" pitchFamily="34" charset="-122"/>
                <a:cs typeface="Arimo" pitchFamily="34" charset="-120"/>
              </a:rPr>
              <a:t>A file system organizes data into files and folders, while a DBMS organizes data into tables and relationships.</a:t>
            </a:r>
            <a:endParaRPr lang="en-US" sz="1750" dirty="0"/>
          </a:p>
        </p:txBody>
      </p:sp>
      <p:sp>
        <p:nvSpPr>
          <p:cNvPr id="8" name="Text 5"/>
          <p:cNvSpPr/>
          <p:nvPr/>
        </p:nvSpPr>
        <p:spPr>
          <a:xfrm>
            <a:off x="6675001" y="4051102"/>
            <a:ext cx="7122200"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D9E1FF"/>
                </a:solidFill>
                <a:latin typeface="Arimo" pitchFamily="34" charset="0"/>
                <a:ea typeface="Arimo" pitchFamily="34" charset="-122"/>
                <a:cs typeface="Arimo" pitchFamily="34" charset="-120"/>
              </a:rPr>
              <a:t>In a file system, data redundancy is common, whereas a DBMS promotes data consistency through normalization.</a:t>
            </a:r>
            <a:endParaRPr lang="en-US" sz="1750" dirty="0"/>
          </a:p>
        </p:txBody>
      </p:sp>
      <p:sp>
        <p:nvSpPr>
          <p:cNvPr id="9" name="Text 6"/>
          <p:cNvSpPr/>
          <p:nvPr/>
        </p:nvSpPr>
        <p:spPr>
          <a:xfrm>
            <a:off x="6675001" y="4850725"/>
            <a:ext cx="7122200"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D9E1FF"/>
                </a:solidFill>
                <a:latin typeface="Arimo" pitchFamily="34" charset="0"/>
                <a:ea typeface="Arimo" pitchFamily="34" charset="-122"/>
                <a:cs typeface="Arimo" pitchFamily="34" charset="-120"/>
              </a:rPr>
              <a:t>File systems are limited in their ability to handle complex queries, whereas a DBMS provides powerful query capabilities.</a:t>
            </a:r>
            <a:endParaRPr lang="en-US" sz="1750" dirty="0"/>
          </a:p>
        </p:txBody>
      </p:sp>
      <p:sp>
        <p:nvSpPr>
          <p:cNvPr id="10" name="Text 7"/>
          <p:cNvSpPr/>
          <p:nvPr/>
        </p:nvSpPr>
        <p:spPr>
          <a:xfrm>
            <a:off x="6675001" y="5650349"/>
            <a:ext cx="7122200"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D9E1FF"/>
                </a:solidFill>
                <a:latin typeface="Arimo" pitchFamily="34" charset="0"/>
                <a:ea typeface="Arimo" pitchFamily="34" charset="-122"/>
                <a:cs typeface="Arimo" pitchFamily="34" charset="-120"/>
              </a:rPr>
              <a:t>DBMSs offer data integrity and security features, such as role-based access control and encryption, which are not inherent in file systems.</a:t>
            </a:r>
            <a:endParaRPr lang="en-US" sz="1750" dirty="0"/>
          </a:p>
        </p:txBody>
      </p:sp>
      <p:sp>
        <p:nvSpPr>
          <p:cNvPr id="11" name="Text 8"/>
          <p:cNvSpPr/>
          <p:nvPr/>
        </p:nvSpPr>
        <p:spPr>
          <a:xfrm>
            <a:off x="6319599" y="6611064"/>
            <a:ext cx="7477601" cy="355402"/>
          </a:xfrm>
          <a:prstGeom prst="rect">
            <a:avLst/>
          </a:prstGeom>
          <a:noFill/>
          <a:ln/>
        </p:spPr>
        <p:txBody>
          <a:bodyPr wrap="none" rtlCol="0" anchor="t"/>
          <a:lstStyle/>
          <a:p>
            <a:pPr marL="0" indent="0">
              <a:lnSpc>
                <a:spcPts val="2799"/>
              </a:lnSpc>
              <a:buNone/>
            </a:pPr>
            <a:endParaRPr lang="en-US" sz="1750"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IN" dirty="0"/>
          </a:p>
        </p:txBody>
      </p:sp>
      <p:sp>
        <p:nvSpPr>
          <p:cNvPr id="4" name="Text 2"/>
          <p:cNvSpPr/>
          <p:nvPr/>
        </p:nvSpPr>
        <p:spPr>
          <a:xfrm>
            <a:off x="2576512" y="583883"/>
            <a:ext cx="9477256" cy="1324689"/>
          </a:xfrm>
          <a:prstGeom prst="rect">
            <a:avLst/>
          </a:prstGeom>
          <a:noFill/>
          <a:ln/>
        </p:spPr>
        <p:txBody>
          <a:bodyPr wrap="square" rtlCol="0" anchor="t"/>
          <a:lstStyle/>
          <a:p>
            <a:pPr marL="0" indent="0">
              <a:lnSpc>
                <a:spcPts val="5216"/>
              </a:lnSpc>
              <a:buNone/>
            </a:pPr>
            <a:r>
              <a:rPr lang="en-US" sz="4173" b="1" dirty="0">
                <a:solidFill>
                  <a:srgbClr val="FFFFFF"/>
                </a:solidFill>
                <a:latin typeface="Syne" pitchFamily="34" charset="0"/>
                <a:ea typeface="Syne" pitchFamily="34" charset="-122"/>
                <a:cs typeface="Syne" pitchFamily="34" charset="-120"/>
              </a:rPr>
              <a:t>Benefits of Using a Database Management System</a:t>
            </a:r>
            <a:endParaRPr lang="en-US" sz="4173" dirty="0"/>
          </a:p>
        </p:txBody>
      </p:sp>
      <p:sp>
        <p:nvSpPr>
          <p:cNvPr id="5" name="Shape 3"/>
          <p:cNvSpPr/>
          <p:nvPr/>
        </p:nvSpPr>
        <p:spPr>
          <a:xfrm>
            <a:off x="2576512" y="2498169"/>
            <a:ext cx="476964" cy="476964"/>
          </a:xfrm>
          <a:prstGeom prst="roundRect">
            <a:avLst>
              <a:gd name="adj" fmla="val 13334"/>
            </a:avLst>
          </a:prstGeom>
          <a:solidFill>
            <a:srgbClr val="171542"/>
          </a:solidFill>
          <a:ln/>
        </p:spPr>
        <p:txBody>
          <a:bodyPr/>
          <a:lstStyle/>
          <a:p>
            <a:endParaRPr lang="en-US"/>
          </a:p>
        </p:txBody>
      </p:sp>
      <p:sp>
        <p:nvSpPr>
          <p:cNvPr id="6" name="Text 4"/>
          <p:cNvSpPr/>
          <p:nvPr/>
        </p:nvSpPr>
        <p:spPr>
          <a:xfrm>
            <a:off x="2754035" y="2537936"/>
            <a:ext cx="121920" cy="397431"/>
          </a:xfrm>
          <a:prstGeom prst="rect">
            <a:avLst/>
          </a:prstGeom>
          <a:noFill/>
          <a:ln/>
        </p:spPr>
        <p:txBody>
          <a:bodyPr wrap="none" rtlCol="0" anchor="t"/>
          <a:lstStyle/>
          <a:p>
            <a:pPr marL="0" indent="0" algn="ctr">
              <a:lnSpc>
                <a:spcPts val="3130"/>
              </a:lnSpc>
              <a:buNone/>
            </a:pPr>
            <a:r>
              <a:rPr lang="en-US" sz="2504" b="1" dirty="0">
                <a:solidFill>
                  <a:srgbClr val="FFFFFF"/>
                </a:solidFill>
                <a:latin typeface="Syne" pitchFamily="34" charset="0"/>
                <a:ea typeface="Syne" pitchFamily="34" charset="-122"/>
                <a:cs typeface="Syne" pitchFamily="34" charset="-120"/>
              </a:rPr>
              <a:t>1</a:t>
            </a:r>
            <a:endParaRPr lang="en-US" sz="2504" dirty="0"/>
          </a:p>
        </p:txBody>
      </p:sp>
      <p:sp>
        <p:nvSpPr>
          <p:cNvPr id="7" name="Text 5"/>
          <p:cNvSpPr/>
          <p:nvPr/>
        </p:nvSpPr>
        <p:spPr>
          <a:xfrm>
            <a:off x="3212951" y="2349868"/>
            <a:ext cx="2328863" cy="993696"/>
          </a:xfrm>
          <a:prstGeom prst="rect">
            <a:avLst/>
          </a:prstGeom>
          <a:noFill/>
          <a:ln/>
        </p:spPr>
        <p:txBody>
          <a:bodyPr wrap="square" rtlCol="0" anchor="t"/>
          <a:lstStyle/>
          <a:p>
            <a:pPr marL="0" indent="0">
              <a:lnSpc>
                <a:spcPts val="2608"/>
              </a:lnSpc>
              <a:buNone/>
            </a:pPr>
            <a:r>
              <a:rPr lang="en-US" sz="2087" b="1" dirty="0">
                <a:solidFill>
                  <a:srgbClr val="FFFFFF"/>
                </a:solidFill>
                <a:latin typeface="Syne" pitchFamily="34" charset="0"/>
                <a:ea typeface="Syne" pitchFamily="34" charset="-122"/>
                <a:cs typeface="Syne" pitchFamily="34" charset="-120"/>
              </a:rPr>
              <a:t>Data Organization and Efficiency</a:t>
            </a:r>
            <a:endParaRPr lang="en-US" sz="2087" dirty="0"/>
          </a:p>
        </p:txBody>
      </p:sp>
      <p:sp>
        <p:nvSpPr>
          <p:cNvPr id="8" name="Text 6"/>
          <p:cNvSpPr/>
          <p:nvPr/>
        </p:nvSpPr>
        <p:spPr>
          <a:xfrm>
            <a:off x="3265348" y="3390371"/>
            <a:ext cx="2328863" cy="1696045"/>
          </a:xfrm>
          <a:prstGeom prst="rect">
            <a:avLst/>
          </a:prstGeom>
          <a:noFill/>
          <a:ln/>
        </p:spPr>
        <p:txBody>
          <a:bodyPr wrap="square" rtlCol="0" anchor="t"/>
          <a:lstStyle/>
          <a:p>
            <a:pPr marL="0" indent="0">
              <a:lnSpc>
                <a:spcPts val="2671"/>
              </a:lnSpc>
              <a:buNone/>
            </a:pPr>
            <a:r>
              <a:rPr lang="en-US" sz="1669" dirty="0">
                <a:solidFill>
                  <a:srgbClr val="D9E1FF"/>
                </a:solidFill>
                <a:latin typeface="Arimo" pitchFamily="34" charset="0"/>
                <a:ea typeface="Arimo" pitchFamily="34" charset="-122"/>
                <a:cs typeface="Arimo" pitchFamily="34" charset="-120"/>
              </a:rPr>
              <a:t>A DBMS ensures structured storage and efficient retrieval of data, optimizing data management processes.</a:t>
            </a:r>
            <a:endParaRPr lang="en-US" sz="1669" dirty="0"/>
          </a:p>
        </p:txBody>
      </p:sp>
      <p:sp>
        <p:nvSpPr>
          <p:cNvPr id="9" name="Shape 7"/>
          <p:cNvSpPr/>
          <p:nvPr/>
        </p:nvSpPr>
        <p:spPr>
          <a:xfrm>
            <a:off x="5806202" y="2498169"/>
            <a:ext cx="476964" cy="476964"/>
          </a:xfrm>
          <a:prstGeom prst="roundRect">
            <a:avLst>
              <a:gd name="adj" fmla="val 13334"/>
            </a:avLst>
          </a:prstGeom>
          <a:solidFill>
            <a:srgbClr val="171542"/>
          </a:solidFill>
          <a:ln/>
        </p:spPr>
        <p:txBody>
          <a:bodyPr/>
          <a:lstStyle/>
          <a:p>
            <a:endParaRPr lang="en-US"/>
          </a:p>
        </p:txBody>
      </p:sp>
      <p:sp>
        <p:nvSpPr>
          <p:cNvPr id="10" name="Text 8"/>
          <p:cNvSpPr/>
          <p:nvPr/>
        </p:nvSpPr>
        <p:spPr>
          <a:xfrm>
            <a:off x="5945624" y="2537936"/>
            <a:ext cx="198120" cy="397431"/>
          </a:xfrm>
          <a:prstGeom prst="rect">
            <a:avLst/>
          </a:prstGeom>
          <a:noFill/>
          <a:ln/>
        </p:spPr>
        <p:txBody>
          <a:bodyPr wrap="none" rtlCol="0" anchor="t"/>
          <a:lstStyle/>
          <a:p>
            <a:pPr marL="0" indent="0" algn="ctr">
              <a:lnSpc>
                <a:spcPts val="3130"/>
              </a:lnSpc>
              <a:buNone/>
            </a:pPr>
            <a:r>
              <a:rPr lang="en-US" sz="2504" b="1" dirty="0">
                <a:solidFill>
                  <a:srgbClr val="FFFFFF"/>
                </a:solidFill>
                <a:latin typeface="Syne" pitchFamily="34" charset="0"/>
                <a:ea typeface="Syne" pitchFamily="34" charset="-122"/>
                <a:cs typeface="Syne" pitchFamily="34" charset="-120"/>
              </a:rPr>
              <a:t>2</a:t>
            </a:r>
            <a:endParaRPr lang="en-US" sz="2504" dirty="0"/>
          </a:p>
        </p:txBody>
      </p:sp>
      <p:sp>
        <p:nvSpPr>
          <p:cNvPr id="11" name="Text 9"/>
          <p:cNvSpPr/>
          <p:nvPr/>
        </p:nvSpPr>
        <p:spPr>
          <a:xfrm>
            <a:off x="6495098" y="2571036"/>
            <a:ext cx="2328863" cy="993696"/>
          </a:xfrm>
          <a:prstGeom prst="rect">
            <a:avLst/>
          </a:prstGeom>
          <a:noFill/>
          <a:ln/>
        </p:spPr>
        <p:txBody>
          <a:bodyPr wrap="square" rtlCol="0" anchor="t"/>
          <a:lstStyle/>
          <a:p>
            <a:pPr marL="0" indent="0">
              <a:lnSpc>
                <a:spcPts val="2608"/>
              </a:lnSpc>
              <a:buNone/>
            </a:pPr>
            <a:r>
              <a:rPr lang="en-US" sz="2087" b="1" dirty="0">
                <a:solidFill>
                  <a:srgbClr val="FFFFFF"/>
                </a:solidFill>
                <a:latin typeface="Syne" pitchFamily="34" charset="0"/>
                <a:ea typeface="Syne" pitchFamily="34" charset="-122"/>
                <a:cs typeface="Syne" pitchFamily="34" charset="-120"/>
              </a:rPr>
              <a:t>Data Integrity and Consistency</a:t>
            </a:r>
            <a:endParaRPr lang="en-US" sz="2087" dirty="0"/>
          </a:p>
        </p:txBody>
      </p:sp>
      <p:sp>
        <p:nvSpPr>
          <p:cNvPr id="12" name="Text 10"/>
          <p:cNvSpPr/>
          <p:nvPr/>
        </p:nvSpPr>
        <p:spPr>
          <a:xfrm>
            <a:off x="6486847" y="3273187"/>
            <a:ext cx="2328863" cy="1696045"/>
          </a:xfrm>
          <a:prstGeom prst="rect">
            <a:avLst/>
          </a:prstGeom>
          <a:noFill/>
          <a:ln/>
        </p:spPr>
        <p:txBody>
          <a:bodyPr wrap="square" rtlCol="0" anchor="t"/>
          <a:lstStyle/>
          <a:p>
            <a:pPr marL="0" indent="0">
              <a:lnSpc>
                <a:spcPts val="2671"/>
              </a:lnSpc>
              <a:buNone/>
            </a:pPr>
            <a:r>
              <a:rPr lang="en-US" sz="1669" dirty="0">
                <a:solidFill>
                  <a:srgbClr val="D9E1FF"/>
                </a:solidFill>
                <a:latin typeface="Arimo" pitchFamily="34" charset="0"/>
                <a:ea typeface="Arimo" pitchFamily="34" charset="-122"/>
                <a:cs typeface="Arimo" pitchFamily="34" charset="-120"/>
              </a:rPr>
              <a:t>By enforcing data integrity rules, a DBMS maintains the accuracy and consistency of data across the database.</a:t>
            </a:r>
            <a:endParaRPr lang="en-US" sz="1669" dirty="0"/>
          </a:p>
        </p:txBody>
      </p:sp>
      <p:sp>
        <p:nvSpPr>
          <p:cNvPr id="13" name="Shape 11"/>
          <p:cNvSpPr/>
          <p:nvPr/>
        </p:nvSpPr>
        <p:spPr>
          <a:xfrm>
            <a:off x="9035891" y="2498169"/>
            <a:ext cx="476964" cy="476964"/>
          </a:xfrm>
          <a:prstGeom prst="roundRect">
            <a:avLst>
              <a:gd name="adj" fmla="val 13334"/>
            </a:avLst>
          </a:prstGeom>
          <a:solidFill>
            <a:srgbClr val="171542"/>
          </a:solidFill>
          <a:ln/>
        </p:spPr>
        <p:txBody>
          <a:bodyPr/>
          <a:lstStyle/>
          <a:p>
            <a:endParaRPr lang="en-US"/>
          </a:p>
        </p:txBody>
      </p:sp>
      <p:sp>
        <p:nvSpPr>
          <p:cNvPr id="14" name="Text 12"/>
          <p:cNvSpPr/>
          <p:nvPr/>
        </p:nvSpPr>
        <p:spPr>
          <a:xfrm>
            <a:off x="9171503" y="2537936"/>
            <a:ext cx="205740" cy="397431"/>
          </a:xfrm>
          <a:prstGeom prst="rect">
            <a:avLst/>
          </a:prstGeom>
          <a:noFill/>
          <a:ln/>
        </p:spPr>
        <p:txBody>
          <a:bodyPr wrap="none" rtlCol="0" anchor="t"/>
          <a:lstStyle/>
          <a:p>
            <a:pPr marL="0" indent="0" algn="ctr">
              <a:lnSpc>
                <a:spcPts val="3130"/>
              </a:lnSpc>
              <a:buNone/>
            </a:pPr>
            <a:r>
              <a:rPr lang="en-US" sz="2504" b="1" dirty="0">
                <a:solidFill>
                  <a:srgbClr val="FFFFFF"/>
                </a:solidFill>
                <a:latin typeface="Syne" pitchFamily="34" charset="0"/>
                <a:ea typeface="Syne" pitchFamily="34" charset="-122"/>
                <a:cs typeface="Syne" pitchFamily="34" charset="-120"/>
              </a:rPr>
              <a:t>3</a:t>
            </a:r>
            <a:endParaRPr lang="en-US" sz="2504" dirty="0"/>
          </a:p>
        </p:txBody>
      </p:sp>
      <p:sp>
        <p:nvSpPr>
          <p:cNvPr id="15" name="Text 13"/>
          <p:cNvSpPr/>
          <p:nvPr/>
        </p:nvSpPr>
        <p:spPr>
          <a:xfrm>
            <a:off x="9724787" y="2571036"/>
            <a:ext cx="2328863" cy="993696"/>
          </a:xfrm>
          <a:prstGeom prst="rect">
            <a:avLst/>
          </a:prstGeom>
          <a:noFill/>
          <a:ln/>
        </p:spPr>
        <p:txBody>
          <a:bodyPr wrap="square" rtlCol="0" anchor="t"/>
          <a:lstStyle/>
          <a:p>
            <a:pPr marL="0" indent="0">
              <a:lnSpc>
                <a:spcPts val="2608"/>
              </a:lnSpc>
              <a:buNone/>
            </a:pPr>
            <a:r>
              <a:rPr lang="en-US" sz="2087" b="1" dirty="0">
                <a:solidFill>
                  <a:srgbClr val="FFFFFF"/>
                </a:solidFill>
                <a:latin typeface="Syne" pitchFamily="34" charset="0"/>
                <a:ea typeface="Syne" pitchFamily="34" charset="-122"/>
                <a:cs typeface="Syne" pitchFamily="34" charset="-120"/>
              </a:rPr>
              <a:t>Data Security and Access Control</a:t>
            </a:r>
            <a:endParaRPr lang="en-US" sz="2087" dirty="0"/>
          </a:p>
        </p:txBody>
      </p:sp>
      <p:sp>
        <p:nvSpPr>
          <p:cNvPr id="16" name="Text 14"/>
          <p:cNvSpPr/>
          <p:nvPr/>
        </p:nvSpPr>
        <p:spPr>
          <a:xfrm>
            <a:off x="9708286" y="3373040"/>
            <a:ext cx="2328863" cy="1696045"/>
          </a:xfrm>
          <a:prstGeom prst="rect">
            <a:avLst/>
          </a:prstGeom>
          <a:noFill/>
          <a:ln/>
        </p:spPr>
        <p:txBody>
          <a:bodyPr wrap="square" rtlCol="0" anchor="t"/>
          <a:lstStyle/>
          <a:p>
            <a:pPr marL="0" indent="0">
              <a:lnSpc>
                <a:spcPts val="2671"/>
              </a:lnSpc>
              <a:buNone/>
            </a:pPr>
            <a:r>
              <a:rPr lang="en-US" sz="1669" dirty="0">
                <a:solidFill>
                  <a:srgbClr val="D9E1FF"/>
                </a:solidFill>
                <a:latin typeface="Arimo" pitchFamily="34" charset="0"/>
                <a:ea typeface="Arimo" pitchFamily="34" charset="-122"/>
                <a:cs typeface="Arimo" pitchFamily="34" charset="-120"/>
              </a:rPr>
              <a:t>A DBMS offers robust security features to protect sensitive data and allows control over user access rights.</a:t>
            </a:r>
            <a:endParaRPr lang="en-US" sz="1669" dirty="0"/>
          </a:p>
        </p:txBody>
      </p:sp>
      <p:sp>
        <p:nvSpPr>
          <p:cNvPr id="17" name="Shape 15"/>
          <p:cNvSpPr/>
          <p:nvPr/>
        </p:nvSpPr>
        <p:spPr>
          <a:xfrm>
            <a:off x="2576512" y="5765483"/>
            <a:ext cx="476964" cy="476964"/>
          </a:xfrm>
          <a:prstGeom prst="roundRect">
            <a:avLst>
              <a:gd name="adj" fmla="val 13334"/>
            </a:avLst>
          </a:prstGeom>
          <a:solidFill>
            <a:srgbClr val="171542"/>
          </a:solidFill>
          <a:ln/>
        </p:spPr>
        <p:txBody>
          <a:bodyPr/>
          <a:lstStyle/>
          <a:p>
            <a:endParaRPr lang="en-US"/>
          </a:p>
        </p:txBody>
      </p:sp>
      <p:sp>
        <p:nvSpPr>
          <p:cNvPr id="18" name="Text 16"/>
          <p:cNvSpPr/>
          <p:nvPr/>
        </p:nvSpPr>
        <p:spPr>
          <a:xfrm>
            <a:off x="2700695" y="5805249"/>
            <a:ext cx="228600" cy="397431"/>
          </a:xfrm>
          <a:prstGeom prst="rect">
            <a:avLst/>
          </a:prstGeom>
          <a:noFill/>
          <a:ln/>
        </p:spPr>
        <p:txBody>
          <a:bodyPr wrap="none" rtlCol="0" anchor="t"/>
          <a:lstStyle/>
          <a:p>
            <a:pPr marL="0" indent="0" algn="ctr">
              <a:lnSpc>
                <a:spcPts val="3130"/>
              </a:lnSpc>
              <a:buNone/>
            </a:pPr>
            <a:r>
              <a:rPr lang="en-US" sz="2504" b="1" dirty="0">
                <a:solidFill>
                  <a:srgbClr val="FFFFFF"/>
                </a:solidFill>
                <a:latin typeface="Syne" pitchFamily="34" charset="0"/>
                <a:ea typeface="Syne" pitchFamily="34" charset="-122"/>
                <a:cs typeface="Syne" pitchFamily="34" charset="-120"/>
              </a:rPr>
              <a:t>4</a:t>
            </a:r>
            <a:endParaRPr lang="en-US" sz="2504" dirty="0"/>
          </a:p>
        </p:txBody>
      </p:sp>
      <p:sp>
        <p:nvSpPr>
          <p:cNvPr id="19" name="Text 17"/>
          <p:cNvSpPr/>
          <p:nvPr/>
        </p:nvSpPr>
        <p:spPr>
          <a:xfrm>
            <a:off x="3265408" y="5838349"/>
            <a:ext cx="3943826" cy="662464"/>
          </a:xfrm>
          <a:prstGeom prst="rect">
            <a:avLst/>
          </a:prstGeom>
          <a:noFill/>
          <a:ln/>
        </p:spPr>
        <p:txBody>
          <a:bodyPr wrap="square" rtlCol="0" anchor="t"/>
          <a:lstStyle/>
          <a:p>
            <a:pPr marL="0" indent="0">
              <a:lnSpc>
                <a:spcPts val="2608"/>
              </a:lnSpc>
              <a:buNone/>
            </a:pPr>
            <a:r>
              <a:rPr lang="en-US" sz="2087" b="1" dirty="0">
                <a:solidFill>
                  <a:srgbClr val="FFFFFF"/>
                </a:solidFill>
                <a:latin typeface="Syne" pitchFamily="34" charset="0"/>
                <a:ea typeface="Syne" pitchFamily="34" charset="-122"/>
                <a:cs typeface="Syne" pitchFamily="34" charset="-120"/>
              </a:rPr>
              <a:t>Data Scalability and Performance</a:t>
            </a:r>
            <a:endParaRPr lang="en-US" sz="2087" dirty="0"/>
          </a:p>
        </p:txBody>
      </p:sp>
      <p:sp>
        <p:nvSpPr>
          <p:cNvPr id="20" name="Text 18"/>
          <p:cNvSpPr/>
          <p:nvPr/>
        </p:nvSpPr>
        <p:spPr>
          <a:xfrm>
            <a:off x="3265408" y="6627971"/>
            <a:ext cx="3943826" cy="1017627"/>
          </a:xfrm>
          <a:prstGeom prst="rect">
            <a:avLst/>
          </a:prstGeom>
          <a:noFill/>
          <a:ln/>
        </p:spPr>
        <p:txBody>
          <a:bodyPr wrap="square" rtlCol="0" anchor="t"/>
          <a:lstStyle/>
          <a:p>
            <a:pPr marL="0" indent="0">
              <a:lnSpc>
                <a:spcPts val="2671"/>
              </a:lnSpc>
              <a:buNone/>
            </a:pPr>
            <a:r>
              <a:rPr lang="en-US" sz="1669" dirty="0">
                <a:solidFill>
                  <a:srgbClr val="D9E1FF"/>
                </a:solidFill>
                <a:latin typeface="Arimo" pitchFamily="34" charset="0"/>
                <a:ea typeface="Arimo" pitchFamily="34" charset="-122"/>
                <a:cs typeface="Arimo" pitchFamily="34" charset="-120"/>
              </a:rPr>
              <a:t>A DBMS can handle large volumes of data and provides mechanisms for optimizing query performance.</a:t>
            </a:r>
            <a:endParaRPr lang="en-US" sz="1669" dirty="0"/>
          </a:p>
        </p:txBody>
      </p:sp>
      <p:sp>
        <p:nvSpPr>
          <p:cNvPr id="21" name="Shape 19"/>
          <p:cNvSpPr/>
          <p:nvPr/>
        </p:nvSpPr>
        <p:spPr>
          <a:xfrm>
            <a:off x="8395566" y="5683360"/>
            <a:ext cx="476964" cy="447525"/>
          </a:xfrm>
          <a:prstGeom prst="roundRect">
            <a:avLst>
              <a:gd name="adj" fmla="val 13334"/>
            </a:avLst>
          </a:prstGeom>
          <a:solidFill>
            <a:srgbClr val="171542"/>
          </a:solidFill>
          <a:ln/>
        </p:spPr>
        <p:txBody>
          <a:bodyPr/>
          <a:lstStyle/>
          <a:p>
            <a:endParaRPr lang="en-US"/>
          </a:p>
        </p:txBody>
      </p:sp>
      <p:sp>
        <p:nvSpPr>
          <p:cNvPr id="22" name="Text 20"/>
          <p:cNvSpPr/>
          <p:nvPr/>
        </p:nvSpPr>
        <p:spPr>
          <a:xfrm>
            <a:off x="8464086" y="5683360"/>
            <a:ext cx="339924" cy="397431"/>
          </a:xfrm>
          <a:prstGeom prst="rect">
            <a:avLst/>
          </a:prstGeom>
          <a:noFill/>
          <a:ln/>
        </p:spPr>
        <p:txBody>
          <a:bodyPr wrap="none" rtlCol="0" anchor="t"/>
          <a:lstStyle/>
          <a:p>
            <a:pPr marL="0" indent="0" algn="ctr">
              <a:lnSpc>
                <a:spcPts val="3130"/>
              </a:lnSpc>
              <a:buNone/>
            </a:pPr>
            <a:r>
              <a:rPr lang="en-US" sz="2504" b="1" dirty="0">
                <a:solidFill>
                  <a:srgbClr val="FFFFFF"/>
                </a:solidFill>
                <a:latin typeface="Syne" pitchFamily="34" charset="0"/>
                <a:ea typeface="Syne" pitchFamily="34" charset="-122"/>
                <a:cs typeface="Syne" pitchFamily="34" charset="-120"/>
              </a:rPr>
              <a:t>5</a:t>
            </a:r>
            <a:endParaRPr lang="en-US" sz="2504" dirty="0"/>
          </a:p>
        </p:txBody>
      </p:sp>
      <p:sp>
        <p:nvSpPr>
          <p:cNvPr id="23" name="Text 21"/>
          <p:cNvSpPr/>
          <p:nvPr/>
        </p:nvSpPr>
        <p:spPr>
          <a:xfrm>
            <a:off x="8921118" y="5713876"/>
            <a:ext cx="3268028" cy="455705"/>
          </a:xfrm>
          <a:prstGeom prst="rect">
            <a:avLst/>
          </a:prstGeom>
          <a:noFill/>
          <a:ln/>
        </p:spPr>
        <p:txBody>
          <a:bodyPr wrap="square" rtlCol="0" anchor="t"/>
          <a:lstStyle/>
          <a:p>
            <a:pPr marL="0" indent="0">
              <a:lnSpc>
                <a:spcPts val="2608"/>
              </a:lnSpc>
              <a:buNone/>
            </a:pPr>
            <a:r>
              <a:rPr lang="en-US" sz="2087" b="1" dirty="0">
                <a:solidFill>
                  <a:srgbClr val="FFFFFF"/>
                </a:solidFill>
                <a:latin typeface="Syne" pitchFamily="34" charset="0"/>
                <a:ea typeface="Syne" pitchFamily="34" charset="-122"/>
                <a:cs typeface="Syne" pitchFamily="34" charset="-120"/>
              </a:rPr>
              <a:t>Data Backup and Recovery</a:t>
            </a:r>
            <a:endParaRPr lang="en-US" sz="2087" dirty="0"/>
          </a:p>
        </p:txBody>
      </p:sp>
      <p:sp>
        <p:nvSpPr>
          <p:cNvPr id="24" name="Text 22"/>
          <p:cNvSpPr/>
          <p:nvPr/>
        </p:nvSpPr>
        <p:spPr>
          <a:xfrm>
            <a:off x="8947904" y="6484434"/>
            <a:ext cx="3943826" cy="1017627"/>
          </a:xfrm>
          <a:prstGeom prst="rect">
            <a:avLst/>
          </a:prstGeom>
          <a:noFill/>
          <a:ln/>
        </p:spPr>
        <p:txBody>
          <a:bodyPr wrap="square" rtlCol="0" anchor="t"/>
          <a:lstStyle/>
          <a:p>
            <a:pPr marL="0" indent="0">
              <a:lnSpc>
                <a:spcPts val="2671"/>
              </a:lnSpc>
              <a:buNone/>
            </a:pPr>
            <a:r>
              <a:rPr lang="en-US" sz="1669" dirty="0">
                <a:solidFill>
                  <a:srgbClr val="D9E1FF"/>
                </a:solidFill>
                <a:latin typeface="Arimo" pitchFamily="34" charset="0"/>
                <a:ea typeface="Arimo" pitchFamily="34" charset="-122"/>
                <a:cs typeface="Arimo" pitchFamily="34" charset="-120"/>
              </a:rPr>
              <a:t>With built-in backup and recovery mechanisms, a DBMS ensures data protection and disaster recovery.</a:t>
            </a:r>
            <a:endParaRPr lang="en-US" sz="1669"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00" fill="hold"/>
                                        <p:tgtEl>
                                          <p:spTgt spid="21"/>
                                        </p:tgtEl>
                                        <p:attrNameLst>
                                          <p:attrName>ppt_x</p:attrName>
                                        </p:attrNameLst>
                                      </p:cBhvr>
                                      <p:tavLst>
                                        <p:tav tm="0">
                                          <p:val>
                                            <p:strVal val="#ppt_x"/>
                                          </p:val>
                                        </p:tav>
                                        <p:tav tm="100000">
                                          <p:val>
                                            <p:strVal val="#ppt_x"/>
                                          </p:val>
                                        </p:tav>
                                      </p:tavLst>
                                    </p:anim>
                                    <p:anim calcmode="lin" valueType="num">
                                      <p:cBhvr additive="base">
                                        <p:cTn id="72" dur="500" fill="hold"/>
                                        <p:tgtEl>
                                          <p:spTgt spid="21"/>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00" fill="hold"/>
                                        <p:tgtEl>
                                          <p:spTgt spid="22"/>
                                        </p:tgtEl>
                                        <p:attrNameLst>
                                          <p:attrName>ppt_x</p:attrName>
                                        </p:attrNameLst>
                                      </p:cBhvr>
                                      <p:tavLst>
                                        <p:tav tm="0">
                                          <p:val>
                                            <p:strVal val="#ppt_x"/>
                                          </p:val>
                                        </p:tav>
                                        <p:tav tm="100000">
                                          <p:val>
                                            <p:strVal val="#ppt_x"/>
                                          </p:val>
                                        </p:tav>
                                      </p:tavLst>
                                    </p:anim>
                                    <p:anim calcmode="lin" valueType="num">
                                      <p:cBhvr additive="base">
                                        <p:cTn id="76" dur="500" fill="hold"/>
                                        <p:tgtEl>
                                          <p:spTgt spid="22"/>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ppt_x"/>
                                          </p:val>
                                        </p:tav>
                                        <p:tav tm="100000">
                                          <p:val>
                                            <p:strVal val="#ppt_x"/>
                                          </p:val>
                                        </p:tav>
                                      </p:tavLst>
                                    </p:anim>
                                    <p:anim calcmode="lin" valueType="num">
                                      <p:cBhvr additive="base">
                                        <p:cTn id="80" dur="500" fill="hold"/>
                                        <p:tgtEl>
                                          <p:spTgt spid="23"/>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fill="hold"/>
                                        <p:tgtEl>
                                          <p:spTgt spid="24"/>
                                        </p:tgtEl>
                                        <p:attrNameLst>
                                          <p:attrName>ppt_x</p:attrName>
                                        </p:attrNameLst>
                                      </p:cBhvr>
                                      <p:tavLst>
                                        <p:tav tm="0">
                                          <p:val>
                                            <p:strVal val="#ppt_x"/>
                                          </p:val>
                                        </p:tav>
                                        <p:tav tm="100000">
                                          <p:val>
                                            <p:strVal val="#ppt_x"/>
                                          </p:val>
                                        </p:tav>
                                      </p:tavLst>
                                    </p:anim>
                                    <p:anim calcmode="lin" valueType="num">
                                      <p:cBhvr additive="base">
                                        <p:cTn id="8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sp>
        <p:nvSpPr>
          <p:cNvPr id="4" name="Text 2"/>
          <p:cNvSpPr/>
          <p:nvPr/>
        </p:nvSpPr>
        <p:spPr>
          <a:xfrm>
            <a:off x="2348389" y="1288137"/>
            <a:ext cx="6263640" cy="694373"/>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Limitations of DBMS</a:t>
            </a:r>
            <a:endParaRPr lang="en-US" sz="4374" dirty="0"/>
          </a:p>
        </p:txBody>
      </p:sp>
      <p:sp>
        <p:nvSpPr>
          <p:cNvPr id="5" name="Text 3"/>
          <p:cNvSpPr/>
          <p:nvPr/>
        </p:nvSpPr>
        <p:spPr>
          <a:xfrm>
            <a:off x="2348389" y="2426851"/>
            <a:ext cx="9933503" cy="1066205"/>
          </a:xfrm>
          <a:prstGeom prst="rect">
            <a:avLst/>
          </a:prstGeom>
          <a:noFill/>
          <a:ln/>
        </p:spPr>
        <p:txBody>
          <a:bodyPr wrap="square" rtlCol="0" anchor="t"/>
          <a:lstStyle/>
          <a:p>
            <a:pPr marL="0" indent="0">
              <a:lnSpc>
                <a:spcPts val="2799"/>
              </a:lnSpc>
              <a:buNone/>
            </a:pPr>
            <a:r>
              <a:rPr lang="en-US" sz="2000" dirty="0">
                <a:solidFill>
                  <a:srgbClr val="D9E1FF"/>
                </a:solidFill>
                <a:latin typeface="Arimo" pitchFamily="34" charset="0"/>
                <a:ea typeface="Arimo" pitchFamily="34" charset="-122"/>
                <a:cs typeface="Arimo" pitchFamily="34" charset="-120"/>
              </a:rPr>
              <a:t>While Database Management Systems (DBMSs) offer many advantages, they are not without their limitations. Explore some of the common drawbacks of using a DBMS, such as high cost, complexity, and potential for data corruption or loss.</a:t>
            </a:r>
            <a:endParaRPr lang="en-US" sz="2000" dirty="0"/>
          </a:p>
        </p:txBody>
      </p:sp>
      <p:sp>
        <p:nvSpPr>
          <p:cNvPr id="6" name="Text 4"/>
          <p:cNvSpPr/>
          <p:nvPr/>
        </p:nvSpPr>
        <p:spPr>
          <a:xfrm>
            <a:off x="2703790" y="3742968"/>
            <a:ext cx="9578102" cy="710803"/>
          </a:xfrm>
          <a:prstGeom prst="rect">
            <a:avLst/>
          </a:prstGeom>
          <a:noFill/>
          <a:ln/>
        </p:spPr>
        <p:txBody>
          <a:bodyPr wrap="square" rtlCol="0" anchor="t"/>
          <a:lstStyle/>
          <a:p>
            <a:pPr marL="342900" indent="-342900" algn="l">
              <a:lnSpc>
                <a:spcPts val="2799"/>
              </a:lnSpc>
              <a:buSzPct val="100000"/>
              <a:buChar char="•"/>
            </a:pPr>
            <a:r>
              <a:rPr lang="en-US" dirty="0">
                <a:solidFill>
                  <a:srgbClr val="D9E1FF"/>
                </a:solidFill>
                <a:latin typeface="Arimo" pitchFamily="34" charset="0"/>
                <a:ea typeface="Arimo" pitchFamily="34" charset="-122"/>
                <a:cs typeface="Arimo" pitchFamily="34" charset="-120"/>
              </a:rPr>
              <a:t>DBMSs can be expensive to implement and maintain, requiring specialized hardware and software.</a:t>
            </a:r>
            <a:endParaRPr lang="en-US" dirty="0"/>
          </a:p>
        </p:txBody>
      </p:sp>
      <p:sp>
        <p:nvSpPr>
          <p:cNvPr id="7" name="Text 5"/>
          <p:cNvSpPr/>
          <p:nvPr/>
        </p:nvSpPr>
        <p:spPr>
          <a:xfrm>
            <a:off x="2703790" y="4495635"/>
            <a:ext cx="9578102" cy="710803"/>
          </a:xfrm>
          <a:prstGeom prst="rect">
            <a:avLst/>
          </a:prstGeom>
          <a:noFill/>
          <a:ln/>
        </p:spPr>
        <p:txBody>
          <a:bodyPr wrap="square" rtlCol="0" anchor="t"/>
          <a:lstStyle/>
          <a:p>
            <a:pPr marL="342900" indent="-342900" algn="l">
              <a:lnSpc>
                <a:spcPts val="2799"/>
              </a:lnSpc>
              <a:buSzPct val="100000"/>
              <a:buChar char="•"/>
            </a:pPr>
            <a:r>
              <a:rPr lang="en-US" dirty="0">
                <a:solidFill>
                  <a:srgbClr val="D9E1FF"/>
                </a:solidFill>
                <a:latin typeface="Arimo" pitchFamily="34" charset="0"/>
                <a:ea typeface="Arimo" pitchFamily="34" charset="-122"/>
                <a:cs typeface="Arimo" pitchFamily="34" charset="-120"/>
              </a:rPr>
              <a:t>Managing a DBMS can be complex, requiring trained professionals to design, implement, and maintain it.</a:t>
            </a:r>
            <a:endParaRPr lang="en-US" dirty="0"/>
          </a:p>
        </p:txBody>
      </p:sp>
      <p:sp>
        <p:nvSpPr>
          <p:cNvPr id="8" name="Text 6"/>
          <p:cNvSpPr/>
          <p:nvPr/>
        </p:nvSpPr>
        <p:spPr>
          <a:xfrm>
            <a:off x="2703790" y="5248303"/>
            <a:ext cx="9578102" cy="355402"/>
          </a:xfrm>
          <a:prstGeom prst="rect">
            <a:avLst/>
          </a:prstGeom>
          <a:noFill/>
          <a:ln/>
        </p:spPr>
        <p:txBody>
          <a:bodyPr wrap="none" rtlCol="0" anchor="t"/>
          <a:lstStyle/>
          <a:p>
            <a:pPr marL="342900" indent="-342900" algn="l">
              <a:lnSpc>
                <a:spcPts val="2799"/>
              </a:lnSpc>
              <a:buSzPct val="100000"/>
              <a:buChar char="•"/>
            </a:pPr>
            <a:r>
              <a:rPr lang="en-US" dirty="0">
                <a:solidFill>
                  <a:srgbClr val="D9E1FF"/>
                </a:solidFill>
                <a:latin typeface="Arimo" pitchFamily="34" charset="0"/>
                <a:ea typeface="Arimo" pitchFamily="34" charset="-122"/>
                <a:cs typeface="Arimo" pitchFamily="34" charset="-120"/>
              </a:rPr>
              <a:t>DBMSs can be vulnerable to data corruption or loss, requiring backup and recovery procedures.</a:t>
            </a:r>
            <a:endParaRPr lang="en-US" dirty="0"/>
          </a:p>
        </p:txBody>
      </p:sp>
      <p:sp>
        <p:nvSpPr>
          <p:cNvPr id="9" name="Text 7"/>
          <p:cNvSpPr/>
          <p:nvPr/>
        </p:nvSpPr>
        <p:spPr>
          <a:xfrm>
            <a:off x="2703790" y="5763549"/>
            <a:ext cx="9578102" cy="710803"/>
          </a:xfrm>
          <a:prstGeom prst="rect">
            <a:avLst/>
          </a:prstGeom>
          <a:noFill/>
          <a:ln/>
        </p:spPr>
        <p:txBody>
          <a:bodyPr wrap="square" rtlCol="0" anchor="t"/>
          <a:lstStyle/>
          <a:p>
            <a:pPr marL="342900" indent="-342900" algn="l">
              <a:lnSpc>
                <a:spcPts val="2799"/>
              </a:lnSpc>
              <a:buSzPct val="100000"/>
              <a:buChar char="•"/>
            </a:pPr>
            <a:r>
              <a:rPr lang="en-US" dirty="0">
                <a:solidFill>
                  <a:srgbClr val="D9E1FF"/>
                </a:solidFill>
                <a:latin typeface="Arimo" pitchFamily="34" charset="0"/>
                <a:ea typeface="Arimo" pitchFamily="34" charset="-122"/>
                <a:cs typeface="Arimo" pitchFamily="34" charset="-120"/>
              </a:rPr>
              <a:t>Performance issues can arise with large databases or complex queries, requiring careful database design and indexing.</a:t>
            </a:r>
            <a:endParaRPr lang="en-US" dirty="0"/>
          </a:p>
        </p:txBody>
      </p:sp>
      <p:sp>
        <p:nvSpPr>
          <p:cNvPr id="10" name="Text 8"/>
          <p:cNvSpPr/>
          <p:nvPr/>
        </p:nvSpPr>
        <p:spPr>
          <a:xfrm>
            <a:off x="2703790" y="6474352"/>
            <a:ext cx="9578102" cy="355402"/>
          </a:xfrm>
          <a:prstGeom prst="rect">
            <a:avLst/>
          </a:prstGeom>
          <a:noFill/>
          <a:ln/>
        </p:spPr>
        <p:txBody>
          <a:bodyPr wrap="none" rtlCol="0" anchor="t"/>
          <a:lstStyle/>
          <a:p>
            <a:pPr marL="342900" indent="-342900" algn="l">
              <a:lnSpc>
                <a:spcPts val="2799"/>
              </a:lnSpc>
              <a:buSzPct val="100000"/>
              <a:buChar char="•"/>
            </a:pPr>
            <a:r>
              <a:rPr lang="en-US" dirty="0">
                <a:solidFill>
                  <a:srgbClr val="D9E1FF"/>
                </a:solidFill>
                <a:latin typeface="Arimo" pitchFamily="34" charset="0"/>
                <a:ea typeface="Arimo" pitchFamily="34" charset="-122"/>
                <a:cs typeface="Arimo" pitchFamily="34" charset="-120"/>
              </a:rPr>
              <a:t>DBMSs can be limited in their ability to handle unstructured data, such as text or multimedia files.</a:t>
            </a:r>
            <a:endParaRPr lang="en-US"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 calcmode="lin" valueType="num">
                                      <p:cBhvr additive="base">
                                        <p:cTn id="2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 calcmode="lin" valueType="num">
                                      <p:cBhvr additive="base">
                                        <p:cTn id="2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203507"/>
            <a:ext cx="14630400" cy="8536662"/>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307062"/>
            <a:ext cx="14630400" cy="2399705"/>
          </a:xfrm>
          <a:prstGeom prst="rect">
            <a:avLst/>
          </a:prstGeom>
        </p:spPr>
      </p:pic>
      <p:sp>
        <p:nvSpPr>
          <p:cNvPr id="5" name="Text 2"/>
          <p:cNvSpPr/>
          <p:nvPr/>
        </p:nvSpPr>
        <p:spPr>
          <a:xfrm>
            <a:off x="3023830" y="2327791"/>
            <a:ext cx="8582620" cy="1199674"/>
          </a:xfrm>
          <a:prstGeom prst="rect">
            <a:avLst/>
          </a:prstGeom>
          <a:noFill/>
          <a:ln/>
        </p:spPr>
        <p:txBody>
          <a:bodyPr wrap="square" rtlCol="0" anchor="t"/>
          <a:lstStyle/>
          <a:p>
            <a:pPr marL="0" indent="0">
              <a:lnSpc>
                <a:spcPts val="4724"/>
              </a:lnSpc>
              <a:buNone/>
            </a:pPr>
            <a:r>
              <a:rPr lang="en-US" sz="3779" b="1" dirty="0">
                <a:solidFill>
                  <a:srgbClr val="FFFFFF"/>
                </a:solidFill>
                <a:latin typeface="Syne" pitchFamily="34" charset="0"/>
                <a:ea typeface="Syne" pitchFamily="34" charset="-122"/>
                <a:cs typeface="Syne" pitchFamily="34" charset="-120"/>
              </a:rPr>
              <a:t>Components of DBMS: Building a Robust System</a:t>
            </a:r>
            <a:endParaRPr lang="en-US" sz="3779" dirty="0"/>
          </a:p>
        </p:txBody>
      </p:sp>
      <p:sp>
        <p:nvSpPr>
          <p:cNvPr id="6" name="Text 3"/>
          <p:cNvSpPr/>
          <p:nvPr/>
        </p:nvSpPr>
        <p:spPr>
          <a:xfrm>
            <a:off x="3023830" y="3754592"/>
            <a:ext cx="8582620" cy="1535311"/>
          </a:xfrm>
          <a:prstGeom prst="rect">
            <a:avLst/>
          </a:prstGeom>
          <a:noFill/>
          <a:ln/>
        </p:spPr>
        <p:txBody>
          <a:bodyPr wrap="square" rtlCol="0" anchor="t"/>
          <a:lstStyle/>
          <a:p>
            <a:pPr marL="0" indent="0">
              <a:lnSpc>
                <a:spcPts val="2419"/>
              </a:lnSpc>
              <a:buNone/>
            </a:pPr>
            <a:r>
              <a:rPr lang="en-US" dirty="0">
                <a:solidFill>
                  <a:srgbClr val="D9E1FF"/>
                </a:solidFill>
                <a:latin typeface="Arimo" pitchFamily="34" charset="0"/>
                <a:ea typeface="Arimo" pitchFamily="34" charset="-122"/>
                <a:cs typeface="Arimo" pitchFamily="34" charset="-120"/>
              </a:rPr>
              <a:t>In a DBMS, the hardware provides the physical infrastructure, the software manages the database operations, the data serves as the valuable information used by the organization and a description of this data called the schema, the people handle the system's administration, and the procedure outlines the guidelines for data management and usage. Understanding these components ensures a well-functioning DBMS.</a:t>
            </a:r>
            <a:endParaRPr lang="en-US" dirty="0"/>
          </a:p>
        </p:txBody>
      </p:sp>
      <p:sp>
        <p:nvSpPr>
          <p:cNvPr id="7" name="Text 4"/>
          <p:cNvSpPr/>
          <p:nvPr/>
        </p:nvSpPr>
        <p:spPr>
          <a:xfrm>
            <a:off x="3023830" y="5683159"/>
            <a:ext cx="8582620" cy="1842373"/>
          </a:xfrm>
          <a:prstGeom prst="rect">
            <a:avLst/>
          </a:prstGeom>
          <a:noFill/>
          <a:ln/>
        </p:spPr>
        <p:txBody>
          <a:bodyPr wrap="square" rtlCol="0" anchor="t"/>
          <a:lstStyle/>
          <a:p>
            <a:pPr marL="0" indent="0">
              <a:lnSpc>
                <a:spcPts val="2419"/>
              </a:lnSpc>
              <a:buNone/>
            </a:pPr>
            <a:r>
              <a:rPr lang="en-US" dirty="0">
                <a:solidFill>
                  <a:srgbClr val="D9E1FF"/>
                </a:solidFill>
                <a:latin typeface="Arimo" pitchFamily="34" charset="0"/>
                <a:ea typeface="Arimo" pitchFamily="34" charset="-122"/>
                <a:cs typeface="Arimo" pitchFamily="34" charset="-120"/>
              </a:rPr>
              <a:t>A crucial component of a DBMS is the software that manages the database operations. This software includes the database engine, which controls the storage, retrieval, and manipulation of data. The people involved in the system's administration play a crucial role in ensuring the proper functioning of the DBMS by managing user access, security, and backups. Finally, procedures outline the guidelines for data management and usage, ensuring consistency and integrity within the system.</a:t>
            </a:r>
            <a:endParaRPr lang="en-US"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30076"/>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124313"/>
          </a:xfrm>
          <a:prstGeom prst="rect">
            <a:avLst/>
          </a:prstGeom>
        </p:spPr>
      </p:pic>
      <p:sp>
        <p:nvSpPr>
          <p:cNvPr id="5" name="Text 2"/>
          <p:cNvSpPr/>
          <p:nvPr/>
        </p:nvSpPr>
        <p:spPr>
          <a:xfrm>
            <a:off x="3516273" y="2591633"/>
            <a:ext cx="4130040" cy="531138"/>
          </a:xfrm>
          <a:prstGeom prst="rect">
            <a:avLst/>
          </a:prstGeom>
          <a:noFill/>
          <a:ln/>
        </p:spPr>
        <p:txBody>
          <a:bodyPr wrap="none" rtlCol="0" anchor="t"/>
          <a:lstStyle/>
          <a:p>
            <a:pPr marL="0" indent="0">
              <a:lnSpc>
                <a:spcPts val="4182"/>
              </a:lnSpc>
              <a:buNone/>
            </a:pPr>
            <a:r>
              <a:rPr lang="en-US" sz="3346" b="1" dirty="0">
                <a:solidFill>
                  <a:srgbClr val="FFFFFF"/>
                </a:solidFill>
                <a:latin typeface="Syne" pitchFamily="34" charset="0"/>
                <a:ea typeface="Syne" pitchFamily="34" charset="-122"/>
                <a:cs typeface="Syne" pitchFamily="34" charset="-120"/>
              </a:rPr>
              <a:t>DBMS Languages</a:t>
            </a:r>
            <a:endParaRPr lang="en-US" sz="3346" dirty="0"/>
          </a:p>
        </p:txBody>
      </p:sp>
      <p:sp>
        <p:nvSpPr>
          <p:cNvPr id="6" name="Shape 3"/>
          <p:cNvSpPr/>
          <p:nvPr/>
        </p:nvSpPr>
        <p:spPr>
          <a:xfrm>
            <a:off x="3516273" y="3377684"/>
            <a:ext cx="7597854" cy="3104992"/>
          </a:xfrm>
          <a:prstGeom prst="roundRect">
            <a:avLst>
              <a:gd name="adj" fmla="val 1799"/>
            </a:avLst>
          </a:prstGeom>
          <a:solidFill>
            <a:srgbClr val="171542"/>
          </a:solidFill>
          <a:ln/>
        </p:spPr>
        <p:txBody>
          <a:bodyPr/>
          <a:lstStyle/>
          <a:p>
            <a:endParaRPr lang="en-US"/>
          </a:p>
        </p:txBody>
      </p:sp>
      <p:sp>
        <p:nvSpPr>
          <p:cNvPr id="7" name="Text 4"/>
          <p:cNvSpPr/>
          <p:nvPr/>
        </p:nvSpPr>
        <p:spPr>
          <a:xfrm>
            <a:off x="3686175" y="3547586"/>
            <a:ext cx="3779520" cy="265509"/>
          </a:xfrm>
          <a:prstGeom prst="rect">
            <a:avLst/>
          </a:prstGeom>
          <a:noFill/>
          <a:ln/>
        </p:spPr>
        <p:txBody>
          <a:bodyPr wrap="none" rtlCol="0" anchor="t"/>
          <a:lstStyle/>
          <a:p>
            <a:pPr marL="0" indent="0">
              <a:lnSpc>
                <a:spcPts val="2091"/>
              </a:lnSpc>
              <a:buNone/>
            </a:pPr>
            <a:r>
              <a:rPr lang="en-US" sz="1673" b="1" dirty="0">
                <a:solidFill>
                  <a:srgbClr val="FFFFFF"/>
                </a:solidFill>
                <a:latin typeface="Syne" pitchFamily="34" charset="0"/>
                <a:ea typeface="Syne" pitchFamily="34" charset="-122"/>
                <a:cs typeface="Syne" pitchFamily="34" charset="-120"/>
              </a:rPr>
              <a:t>Querying and Manipulating Data</a:t>
            </a:r>
            <a:endParaRPr lang="en-US" sz="1673" dirty="0"/>
          </a:p>
        </p:txBody>
      </p:sp>
      <p:sp>
        <p:nvSpPr>
          <p:cNvPr id="8" name="Text 5"/>
          <p:cNvSpPr/>
          <p:nvPr/>
        </p:nvSpPr>
        <p:spPr>
          <a:xfrm>
            <a:off x="3957876" y="4004191"/>
            <a:ext cx="6986349" cy="543639"/>
          </a:xfrm>
          <a:prstGeom prst="rect">
            <a:avLst/>
          </a:prstGeom>
          <a:noFill/>
          <a:ln/>
        </p:spPr>
        <p:txBody>
          <a:bodyPr wrap="square" rtlCol="0" anchor="t"/>
          <a:lstStyle/>
          <a:p>
            <a:pPr marL="342900" indent="-342900" algn="l">
              <a:lnSpc>
                <a:spcPts val="2141"/>
              </a:lnSpc>
              <a:buSzPct val="100000"/>
              <a:buChar char="•"/>
            </a:pPr>
            <a:r>
              <a:rPr lang="en-US" sz="1600" dirty="0">
                <a:solidFill>
                  <a:srgbClr val="D9E1FF"/>
                </a:solidFill>
                <a:latin typeface="Arimo" pitchFamily="34" charset="0"/>
                <a:ea typeface="Arimo" pitchFamily="34" charset="-122"/>
                <a:cs typeface="Arimo" pitchFamily="34" charset="-120"/>
              </a:rPr>
              <a:t>SQL, or Structured Query Language, allows users to write queries that can retrieve specific data from a database based on certain conditions or criteria.</a:t>
            </a:r>
            <a:endParaRPr lang="en-US" sz="1600" dirty="0"/>
          </a:p>
        </p:txBody>
      </p:sp>
      <p:sp>
        <p:nvSpPr>
          <p:cNvPr id="9" name="Text 6"/>
          <p:cNvSpPr/>
          <p:nvPr/>
        </p:nvSpPr>
        <p:spPr>
          <a:xfrm>
            <a:off x="3957876" y="4615696"/>
            <a:ext cx="6986349" cy="543639"/>
          </a:xfrm>
          <a:prstGeom prst="rect">
            <a:avLst/>
          </a:prstGeom>
          <a:noFill/>
          <a:ln/>
        </p:spPr>
        <p:txBody>
          <a:bodyPr wrap="square" rtlCol="0" anchor="t"/>
          <a:lstStyle/>
          <a:p>
            <a:pPr marL="342900" indent="-342900" algn="l">
              <a:lnSpc>
                <a:spcPts val="2141"/>
              </a:lnSpc>
              <a:buSzPct val="100000"/>
              <a:buChar char="•"/>
            </a:pPr>
            <a:r>
              <a:rPr lang="en-US" sz="1600" dirty="0">
                <a:solidFill>
                  <a:srgbClr val="D9E1FF"/>
                </a:solidFill>
                <a:latin typeface="Arimo" pitchFamily="34" charset="0"/>
                <a:ea typeface="Arimo" pitchFamily="34" charset="-122"/>
                <a:cs typeface="Arimo" pitchFamily="34" charset="-120"/>
              </a:rPr>
              <a:t>SQL provides a wide range of functions and operators that enable users to perform calculations, filtering, sorting, and aggregation operations on data.</a:t>
            </a:r>
            <a:endParaRPr lang="en-US" sz="1600" dirty="0"/>
          </a:p>
        </p:txBody>
      </p:sp>
      <p:sp>
        <p:nvSpPr>
          <p:cNvPr id="10" name="Text 7"/>
          <p:cNvSpPr/>
          <p:nvPr/>
        </p:nvSpPr>
        <p:spPr>
          <a:xfrm>
            <a:off x="3957875" y="5446402"/>
            <a:ext cx="6986349" cy="815459"/>
          </a:xfrm>
          <a:prstGeom prst="rect">
            <a:avLst/>
          </a:prstGeom>
          <a:noFill/>
          <a:ln/>
        </p:spPr>
        <p:txBody>
          <a:bodyPr wrap="square" rtlCol="0" anchor="t"/>
          <a:lstStyle/>
          <a:p>
            <a:pPr marL="342900" indent="-342900" algn="l">
              <a:lnSpc>
                <a:spcPts val="2141"/>
              </a:lnSpc>
              <a:buSzPct val="100000"/>
              <a:buChar char="•"/>
            </a:pPr>
            <a:r>
              <a:rPr lang="en-US" sz="1600" dirty="0">
                <a:solidFill>
                  <a:srgbClr val="D9E1FF"/>
                </a:solidFill>
                <a:latin typeface="Arimo" pitchFamily="34" charset="0"/>
                <a:ea typeface="Arimo" pitchFamily="34" charset="-122"/>
                <a:cs typeface="Arimo" pitchFamily="34" charset="-120"/>
              </a:rPr>
              <a:t>Additionally, SQL can be used to modify data in the database by inserting, updating, or deleting records, providing users with a comprehensive language for both querying and manipulating data.</a:t>
            </a:r>
            <a:endParaRPr lang="en-US" sz="1600" dirty="0"/>
          </a:p>
        </p:txBody>
      </p:sp>
      <p:sp>
        <p:nvSpPr>
          <p:cNvPr id="11" name="Text 8"/>
          <p:cNvSpPr/>
          <p:nvPr/>
        </p:nvSpPr>
        <p:spPr>
          <a:xfrm>
            <a:off x="3516273" y="6676589"/>
            <a:ext cx="7597854" cy="1359098"/>
          </a:xfrm>
          <a:prstGeom prst="rect">
            <a:avLst/>
          </a:prstGeom>
          <a:noFill/>
          <a:ln/>
        </p:spPr>
        <p:txBody>
          <a:bodyPr wrap="square" rtlCol="0" anchor="t"/>
          <a:lstStyle/>
          <a:p>
            <a:pPr marL="0" indent="0">
              <a:lnSpc>
                <a:spcPts val="2141"/>
              </a:lnSpc>
              <a:buNone/>
            </a:pPr>
            <a:r>
              <a:rPr lang="en-US" sz="1600" dirty="0">
                <a:solidFill>
                  <a:srgbClr val="D9E1FF"/>
                </a:solidFill>
                <a:latin typeface="Arimo" pitchFamily="34" charset="0"/>
                <a:ea typeface="Arimo" pitchFamily="34" charset="-122"/>
                <a:cs typeface="Arimo" pitchFamily="34" charset="-120"/>
              </a:rPr>
              <a:t>SQL is widely used in relational DBMSs, including MySQL, Oracle, and Microsoft SQL Server, among others. It is a high-level language that abstracts many of the complexities of data management, making it easy for developers and analysts to work with data. </a:t>
            </a:r>
            <a:endParaRPr lang="en-US" sz="1600"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0C0A33">
              <a:alpha val="80000"/>
            </a:srgbClr>
          </a:solidFill>
          <a:ln/>
        </p:spPr>
        <p:txBody>
          <a:bodyPr/>
          <a:lstStyle/>
          <a:p>
            <a:endParaRPr lang="en-US"/>
          </a:p>
        </p:txBody>
      </p:sp>
      <p:sp>
        <p:nvSpPr>
          <p:cNvPr id="6" name="Text 3"/>
          <p:cNvSpPr/>
          <p:nvPr/>
        </p:nvSpPr>
        <p:spPr>
          <a:xfrm>
            <a:off x="2348389" y="2232065"/>
            <a:ext cx="7208520" cy="694373"/>
          </a:xfrm>
          <a:prstGeom prst="rect">
            <a:avLst/>
          </a:prstGeom>
          <a:noFill/>
          <a:ln/>
        </p:spPr>
        <p:txBody>
          <a:bodyPr wrap="non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Example of a Database</a:t>
            </a:r>
            <a:endParaRPr lang="en-US" sz="4374" dirty="0"/>
          </a:p>
        </p:txBody>
      </p:sp>
      <p:sp>
        <p:nvSpPr>
          <p:cNvPr id="7" name="Text 4"/>
          <p:cNvSpPr/>
          <p:nvPr/>
        </p:nvSpPr>
        <p:spPr>
          <a:xfrm>
            <a:off x="2348389" y="3259693"/>
            <a:ext cx="9933503" cy="1066205"/>
          </a:xfrm>
          <a:prstGeom prst="rect">
            <a:avLst/>
          </a:prstGeom>
          <a:noFill/>
          <a:ln/>
        </p:spPr>
        <p:txBody>
          <a:bodyPr wrap="square" rtlCol="0" anchor="t"/>
          <a:lstStyle/>
          <a:p>
            <a:pPr marL="0" indent="0">
              <a:lnSpc>
                <a:spcPts val="2799"/>
              </a:lnSpc>
              <a:buNone/>
            </a:pPr>
            <a:r>
              <a:rPr lang="en-US" dirty="0">
                <a:solidFill>
                  <a:srgbClr val="D9E1FF"/>
                </a:solidFill>
                <a:latin typeface="Arimo" pitchFamily="34" charset="0"/>
                <a:ea typeface="Arimo" pitchFamily="34" charset="-122"/>
                <a:cs typeface="Arimo" pitchFamily="34" charset="-120"/>
              </a:rPr>
              <a:t>A common example of a database is an e-commerce website's customer database. The database stores customer information such as names, addresses, and purchase history. This information can then be used for targeted marketing or to improve the user experience.</a:t>
            </a:r>
            <a:endParaRPr lang="en-US" dirty="0"/>
          </a:p>
        </p:txBody>
      </p:sp>
      <p:sp>
        <p:nvSpPr>
          <p:cNvPr id="8" name="Text 5"/>
          <p:cNvSpPr/>
          <p:nvPr/>
        </p:nvSpPr>
        <p:spPr>
          <a:xfrm>
            <a:off x="2348389" y="4575810"/>
            <a:ext cx="9933503" cy="1421606"/>
          </a:xfrm>
          <a:prstGeom prst="rect">
            <a:avLst/>
          </a:prstGeom>
          <a:noFill/>
          <a:ln/>
        </p:spPr>
        <p:txBody>
          <a:bodyPr wrap="square" rtlCol="0" anchor="t"/>
          <a:lstStyle/>
          <a:p>
            <a:pPr marL="0" indent="0">
              <a:lnSpc>
                <a:spcPts val="2799"/>
              </a:lnSpc>
              <a:buNone/>
            </a:pPr>
            <a:r>
              <a:rPr lang="en-US" dirty="0">
                <a:solidFill>
                  <a:srgbClr val="D9E1FF"/>
                </a:solidFill>
                <a:latin typeface="Arimo" pitchFamily="34" charset="0"/>
                <a:ea typeface="Arimo" pitchFamily="34" charset="-122"/>
                <a:cs typeface="Arimo" pitchFamily="34" charset="-120"/>
              </a:rPr>
              <a:t>Databases can also be used in other industries, such as healthcare, where patient records are stored and accessed for medical purposes. In the banking industry, databases are used to store and manage financial transactions. Regardless of the industry, databases play a crucial role in organizing and maintaining large amounts of data efficiently and securely.</a:t>
            </a:r>
            <a:endParaRPr lang="en-US"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5" name="Text 2"/>
          <p:cNvSpPr/>
          <p:nvPr/>
        </p:nvSpPr>
        <p:spPr>
          <a:xfrm>
            <a:off x="4490799" y="1346121"/>
            <a:ext cx="9306401" cy="1388745"/>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Conclusion and Key Takeaways</a:t>
            </a:r>
            <a:endParaRPr lang="en-US" sz="4374" dirty="0"/>
          </a:p>
        </p:txBody>
      </p:sp>
      <p:sp>
        <p:nvSpPr>
          <p:cNvPr id="6" name="Shape 3"/>
          <p:cNvSpPr/>
          <p:nvPr/>
        </p:nvSpPr>
        <p:spPr>
          <a:xfrm>
            <a:off x="4490799" y="3241715"/>
            <a:ext cx="499943" cy="499943"/>
          </a:xfrm>
          <a:prstGeom prst="roundRect">
            <a:avLst>
              <a:gd name="adj" fmla="val 13333"/>
            </a:avLst>
          </a:prstGeom>
          <a:solidFill>
            <a:srgbClr val="171542"/>
          </a:solidFill>
          <a:ln/>
        </p:spPr>
        <p:txBody>
          <a:bodyPr/>
          <a:lstStyle/>
          <a:p>
            <a:endParaRPr lang="en-US"/>
          </a:p>
        </p:txBody>
      </p:sp>
      <p:sp>
        <p:nvSpPr>
          <p:cNvPr id="7" name="Text 4"/>
          <p:cNvSpPr/>
          <p:nvPr/>
        </p:nvSpPr>
        <p:spPr>
          <a:xfrm>
            <a:off x="4675942" y="3283387"/>
            <a:ext cx="1295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1</a:t>
            </a:r>
            <a:endParaRPr lang="en-US" sz="2624" dirty="0"/>
          </a:p>
        </p:txBody>
      </p:sp>
      <p:sp>
        <p:nvSpPr>
          <p:cNvPr id="8" name="Text 5"/>
          <p:cNvSpPr/>
          <p:nvPr/>
        </p:nvSpPr>
        <p:spPr>
          <a:xfrm>
            <a:off x="5212913" y="3318034"/>
            <a:ext cx="3695700"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Advancements in DBMS</a:t>
            </a:r>
            <a:endParaRPr lang="en-US" sz="2187" dirty="0"/>
          </a:p>
        </p:txBody>
      </p:sp>
      <p:sp>
        <p:nvSpPr>
          <p:cNvPr id="9" name="Text 6"/>
          <p:cNvSpPr/>
          <p:nvPr/>
        </p:nvSpPr>
        <p:spPr>
          <a:xfrm>
            <a:off x="5212913" y="3798451"/>
            <a:ext cx="3820001" cy="1421606"/>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Reflect on the rapid advancements in DBMS technologies and their impact on businesses and data-driven decision-making.</a:t>
            </a:r>
            <a:endParaRPr lang="en-US" sz="1750" dirty="0"/>
          </a:p>
        </p:txBody>
      </p:sp>
      <p:sp>
        <p:nvSpPr>
          <p:cNvPr id="10" name="Shape 7"/>
          <p:cNvSpPr/>
          <p:nvPr/>
        </p:nvSpPr>
        <p:spPr>
          <a:xfrm>
            <a:off x="9255085" y="3241715"/>
            <a:ext cx="499943" cy="499943"/>
          </a:xfrm>
          <a:prstGeom prst="roundRect">
            <a:avLst>
              <a:gd name="adj" fmla="val 13333"/>
            </a:avLst>
          </a:prstGeom>
          <a:solidFill>
            <a:srgbClr val="171542"/>
          </a:solidFill>
          <a:ln/>
        </p:spPr>
        <p:txBody>
          <a:bodyPr/>
          <a:lstStyle/>
          <a:p>
            <a:endParaRPr lang="en-US"/>
          </a:p>
        </p:txBody>
      </p:sp>
      <p:sp>
        <p:nvSpPr>
          <p:cNvPr id="11" name="Text 8"/>
          <p:cNvSpPr/>
          <p:nvPr/>
        </p:nvSpPr>
        <p:spPr>
          <a:xfrm>
            <a:off x="9402128" y="3283387"/>
            <a:ext cx="20574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2</a:t>
            </a:r>
            <a:endParaRPr lang="en-US" sz="2624" dirty="0"/>
          </a:p>
        </p:txBody>
      </p:sp>
      <p:sp>
        <p:nvSpPr>
          <p:cNvPr id="12" name="Text 9"/>
          <p:cNvSpPr/>
          <p:nvPr/>
        </p:nvSpPr>
        <p:spPr>
          <a:xfrm>
            <a:off x="9977199" y="3318034"/>
            <a:ext cx="3055620"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The Future of DBMS</a:t>
            </a:r>
            <a:endParaRPr lang="en-US" sz="2187" dirty="0"/>
          </a:p>
        </p:txBody>
      </p:sp>
      <p:sp>
        <p:nvSpPr>
          <p:cNvPr id="13" name="Text 10"/>
          <p:cNvSpPr/>
          <p:nvPr/>
        </p:nvSpPr>
        <p:spPr>
          <a:xfrm>
            <a:off x="9977199" y="3798451"/>
            <a:ext cx="3820001" cy="1421606"/>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Explore emerging trends and possibilities in DBMS, such as big data management, NoSQL databases, and cloud-based solutions.</a:t>
            </a:r>
            <a:endParaRPr lang="en-US" sz="1750" dirty="0"/>
          </a:p>
        </p:txBody>
      </p:sp>
      <p:sp>
        <p:nvSpPr>
          <p:cNvPr id="14" name="Shape 11"/>
          <p:cNvSpPr/>
          <p:nvPr/>
        </p:nvSpPr>
        <p:spPr>
          <a:xfrm>
            <a:off x="4490799" y="5615821"/>
            <a:ext cx="499943" cy="499943"/>
          </a:xfrm>
          <a:prstGeom prst="roundRect">
            <a:avLst>
              <a:gd name="adj" fmla="val 13333"/>
            </a:avLst>
          </a:prstGeom>
          <a:solidFill>
            <a:srgbClr val="171542"/>
          </a:solidFill>
          <a:ln/>
        </p:spPr>
        <p:txBody>
          <a:bodyPr/>
          <a:lstStyle/>
          <a:p>
            <a:endParaRPr lang="en-US"/>
          </a:p>
        </p:txBody>
      </p:sp>
      <p:sp>
        <p:nvSpPr>
          <p:cNvPr id="15" name="Text 12"/>
          <p:cNvSpPr/>
          <p:nvPr/>
        </p:nvSpPr>
        <p:spPr>
          <a:xfrm>
            <a:off x="4634032" y="5657493"/>
            <a:ext cx="213360" cy="416481"/>
          </a:xfrm>
          <a:prstGeom prst="rect">
            <a:avLst/>
          </a:prstGeom>
          <a:noFill/>
          <a:ln/>
        </p:spPr>
        <p:txBody>
          <a:bodyPr wrap="none" rtlCol="0" anchor="t"/>
          <a:lstStyle/>
          <a:p>
            <a:pPr marL="0" indent="0" algn="ctr">
              <a:lnSpc>
                <a:spcPts val="3281"/>
              </a:lnSpc>
              <a:buNone/>
            </a:pPr>
            <a:r>
              <a:rPr lang="en-US" sz="2624" b="1" dirty="0">
                <a:solidFill>
                  <a:srgbClr val="FFFFFF"/>
                </a:solidFill>
                <a:latin typeface="Syne" pitchFamily="34" charset="0"/>
                <a:ea typeface="Syne" pitchFamily="34" charset="-122"/>
                <a:cs typeface="Syne" pitchFamily="34" charset="-120"/>
              </a:rPr>
              <a:t>3</a:t>
            </a:r>
            <a:endParaRPr lang="en-US" sz="2624" dirty="0"/>
          </a:p>
        </p:txBody>
      </p:sp>
      <p:sp>
        <p:nvSpPr>
          <p:cNvPr id="16" name="Text 13"/>
          <p:cNvSpPr/>
          <p:nvPr/>
        </p:nvSpPr>
        <p:spPr>
          <a:xfrm>
            <a:off x="5212913" y="5692140"/>
            <a:ext cx="2354580" cy="347186"/>
          </a:xfrm>
          <a:prstGeom prst="rect">
            <a:avLst/>
          </a:prstGeom>
          <a:noFill/>
          <a:ln/>
        </p:spPr>
        <p:txBody>
          <a:bodyPr wrap="none" rtlCol="0" anchor="t"/>
          <a:lstStyle/>
          <a:p>
            <a:pPr marL="0" indent="0">
              <a:lnSpc>
                <a:spcPts val="2734"/>
              </a:lnSpc>
              <a:buNone/>
            </a:pPr>
            <a:r>
              <a:rPr lang="en-US" sz="2187" b="1" dirty="0">
                <a:solidFill>
                  <a:srgbClr val="FFFFFF"/>
                </a:solidFill>
                <a:latin typeface="Syne" pitchFamily="34" charset="0"/>
                <a:ea typeface="Syne" pitchFamily="34" charset="-122"/>
                <a:cs typeface="Syne" pitchFamily="34" charset="-120"/>
              </a:rPr>
              <a:t>Key Takeaways</a:t>
            </a:r>
            <a:endParaRPr lang="en-US" sz="2187" dirty="0"/>
          </a:p>
        </p:txBody>
      </p:sp>
      <p:sp>
        <p:nvSpPr>
          <p:cNvPr id="17" name="Text 14"/>
          <p:cNvSpPr/>
          <p:nvPr/>
        </p:nvSpPr>
        <p:spPr>
          <a:xfrm>
            <a:off x="5212913" y="6172557"/>
            <a:ext cx="8584287" cy="710803"/>
          </a:xfrm>
          <a:prstGeom prst="rect">
            <a:avLst/>
          </a:prstGeom>
          <a:noFill/>
          <a:ln/>
        </p:spPr>
        <p:txBody>
          <a:bodyPr wrap="square" rtlCol="0" anchor="t"/>
          <a:lstStyle/>
          <a:p>
            <a:pPr marL="0" indent="0">
              <a:lnSpc>
                <a:spcPts val="2799"/>
              </a:lnSpc>
              <a:buNone/>
            </a:pPr>
            <a:r>
              <a:rPr lang="en-US" sz="1750" dirty="0">
                <a:solidFill>
                  <a:srgbClr val="D9E1FF"/>
                </a:solidFill>
                <a:latin typeface="Arimo" pitchFamily="34" charset="0"/>
                <a:ea typeface="Arimo" pitchFamily="34" charset="-122"/>
                <a:cs typeface="Arimo" pitchFamily="34" charset="-120"/>
              </a:rPr>
              <a:t>Summarize the key points covered throughout the presentation, emphasizing the importance of DBMS in today's data-centric world.</a:t>
            </a:r>
            <a:endParaRPr lang="en-US" sz="1750" dirty="0"/>
          </a:p>
        </p:txBody>
      </p:sp>
    </p:spTree>
  </p:cSld>
  <p:clrMapOvr>
    <a:masterClrMapping/>
  </p:clrMapOvr>
  <p:transition spd="med">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50D48"/>
          </a:solidFill>
          <a:ln/>
        </p:spPr>
        <p:txBody>
          <a:bodyPr/>
          <a:lstStyle/>
          <a:p>
            <a:endParaRPr lang="en-US"/>
          </a:p>
        </p:txBody>
      </p:sp>
      <p:sp>
        <p:nvSpPr>
          <p:cNvPr id="3" name="Shape 1"/>
          <p:cNvSpPr/>
          <p:nvPr/>
        </p:nvSpPr>
        <p:spPr>
          <a:xfrm>
            <a:off x="0" y="0"/>
            <a:ext cx="14630400" cy="8229600"/>
          </a:xfrm>
          <a:prstGeom prst="rect">
            <a:avLst/>
          </a:prstGeom>
          <a:solidFill>
            <a:srgbClr val="0C0A3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33199" y="2595682"/>
            <a:ext cx="7477601" cy="1388745"/>
          </a:xfrm>
          <a:prstGeom prst="rect">
            <a:avLst/>
          </a:prstGeom>
          <a:noFill/>
          <a:ln/>
        </p:spPr>
        <p:txBody>
          <a:bodyPr wrap="square" rtlCol="0" anchor="t"/>
          <a:lstStyle/>
          <a:p>
            <a:pPr marL="0" indent="0">
              <a:lnSpc>
                <a:spcPts val="5468"/>
              </a:lnSpc>
              <a:buNone/>
            </a:pPr>
            <a:r>
              <a:rPr lang="en-US" sz="4374" b="1" dirty="0">
                <a:solidFill>
                  <a:srgbClr val="FFFFFF"/>
                </a:solidFill>
                <a:latin typeface="Syne" pitchFamily="34" charset="0"/>
                <a:ea typeface="Syne" pitchFamily="34" charset="-122"/>
                <a:cs typeface="Syne" pitchFamily="34" charset="-120"/>
              </a:rPr>
              <a:t>Thank You for Your Attention!</a:t>
            </a:r>
            <a:endParaRPr lang="en-US" sz="4374" dirty="0"/>
          </a:p>
        </p:txBody>
      </p:sp>
      <p:sp>
        <p:nvSpPr>
          <p:cNvPr id="6" name="Text 3"/>
          <p:cNvSpPr/>
          <p:nvPr/>
        </p:nvSpPr>
        <p:spPr>
          <a:xfrm>
            <a:off x="833199" y="4317683"/>
            <a:ext cx="7477601" cy="710803"/>
          </a:xfrm>
          <a:prstGeom prst="rect">
            <a:avLst/>
          </a:prstGeom>
          <a:noFill/>
          <a:ln/>
        </p:spPr>
        <p:txBody>
          <a:bodyPr wrap="square" rtlCol="0" anchor="t"/>
          <a:lstStyle/>
          <a:p>
            <a:pPr marL="0" indent="0">
              <a:lnSpc>
                <a:spcPts val="2799"/>
              </a:lnSpc>
              <a:buNone/>
            </a:pPr>
            <a:r>
              <a:rPr lang="en-US" sz="2000" dirty="0">
                <a:solidFill>
                  <a:srgbClr val="D9E1FF"/>
                </a:solidFill>
                <a:latin typeface="Arimo" pitchFamily="34" charset="0"/>
                <a:ea typeface="Arimo" pitchFamily="34" charset="-122"/>
                <a:cs typeface="Arimo" pitchFamily="34" charset="-120"/>
              </a:rPr>
              <a:t>I appreciate your time and attention throughout this presentation on Database Management Systems. </a:t>
            </a:r>
            <a:endParaRPr lang="en-US" sz="2000" dirty="0"/>
          </a:p>
        </p:txBody>
      </p:sp>
      <p:sp>
        <p:nvSpPr>
          <p:cNvPr id="7" name="Text 4"/>
          <p:cNvSpPr/>
          <p:nvPr/>
        </p:nvSpPr>
        <p:spPr>
          <a:xfrm>
            <a:off x="833199" y="5278398"/>
            <a:ext cx="7477601" cy="355402"/>
          </a:xfrm>
          <a:prstGeom prst="rect">
            <a:avLst/>
          </a:prstGeom>
          <a:noFill/>
          <a:ln/>
        </p:spPr>
        <p:txBody>
          <a:bodyPr wrap="none" rtlCol="0" anchor="t"/>
          <a:lstStyle/>
          <a:p>
            <a:pPr marL="0" indent="0">
              <a:lnSpc>
                <a:spcPts val="2799"/>
              </a:lnSpc>
              <a:buNone/>
            </a:pPr>
            <a:endParaRPr lang="en-US" sz="1750" dirty="0"/>
          </a:p>
        </p:txBody>
      </p:sp>
    </p:spTree>
  </p:cSld>
  <p:clrMapOvr>
    <a:masterClrMapping/>
  </p:clrMapOvr>
  <p:transition spd="med">
    <p:split orient="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1856</Words>
  <Application>Microsoft Office PowerPoint</Application>
  <PresentationFormat>Custom</PresentationFormat>
  <Paragraphs>98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Arimo</vt:lpstr>
      <vt:lpstr>Calibri</vt:lpstr>
      <vt:lpstr>Syne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Aniket Jain</cp:lastModifiedBy>
  <cp:revision>12</cp:revision>
  <dcterms:created xsi:type="dcterms:W3CDTF">2023-12-10T13:50:54Z</dcterms:created>
  <dcterms:modified xsi:type="dcterms:W3CDTF">2023-12-12T04:35:34Z</dcterms:modified>
</cp:coreProperties>
</file>