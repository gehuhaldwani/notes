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4CD40-AC0F-93A5-FD0F-B93B86A672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CC9BC3-F268-B4B4-9BE3-4804270450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0EDBB-3753-8406-B8F2-7D7D5AE87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2ACB-C0C5-4148-BC28-224FD3509F7D}" type="datetimeFigureOut">
              <a:rPr lang="en-IN" smtClean="0"/>
              <a:t>27-08-2024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93AAD-3D56-ABFE-AEBD-EC3FA533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758F5-E225-FCB9-673C-1F14B4253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C1ED-C472-41EB-9EFB-0466AE8B55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180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75F3B-B794-FBF8-1B82-ABAC29269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E9904-C56A-E372-D7D4-6A22F6133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B6B5B-4454-FE5B-556E-F88BC02FF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2ACB-C0C5-4148-BC28-224FD3509F7D}" type="datetimeFigureOut">
              <a:rPr lang="en-IN" smtClean="0"/>
              <a:t>27-08-2024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8A482-315B-244B-E962-EACBBA1B8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0FC62-1519-C060-07C1-9888E2A5C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C1ED-C472-41EB-9EFB-0466AE8B55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820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43644-F44F-2B43-BC25-EF127DE5F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4032F9-5194-F3F7-3C4F-113B2B806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D34E2-B5EF-A328-E2BB-039F2F2B7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2ACB-C0C5-4148-BC28-224FD3509F7D}" type="datetimeFigureOut">
              <a:rPr lang="en-IN" smtClean="0"/>
              <a:t>27-08-2024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0EB19-7679-ACB9-5372-0CE618E11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ECCAE-43CB-7000-E704-D1503349C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C1ED-C472-41EB-9EFB-0466AE8B55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694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B4B77-1D3A-C5E1-1F2F-437D9428D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5571F-DD75-005E-2594-62B0731736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9FFCAD-40F1-87AD-1FCF-3957F44FE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74B3F0-9747-6898-6D40-C265AE1FC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2ACB-C0C5-4148-BC28-224FD3509F7D}" type="datetimeFigureOut">
              <a:rPr lang="en-IN" smtClean="0"/>
              <a:t>27-08-2024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6AAE91-94F8-66AB-A41D-D3F29F7C4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684B6-3F69-C149-2EDC-403EE8BA3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C1ED-C472-41EB-9EFB-0466AE8B55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774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97D27-5ABD-424D-D448-EF8D43B68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E9D03-033E-5792-117B-F7D178FBA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2F4C33-9604-5091-C3BC-EAC848A51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7FA57A-BAE7-61DA-3BCF-7DAF1F17E0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19F2D2-E6B3-0E2D-E078-770E62DD4A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C7C666-0AA0-A2A1-27E3-D468F59A6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2ACB-C0C5-4148-BC28-224FD3509F7D}" type="datetimeFigureOut">
              <a:rPr lang="en-IN" smtClean="0"/>
              <a:t>27-08-2024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C78DCD-4ADE-2C7A-CDD4-9F22CF946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7BC39A-A4F2-86B3-3569-107254154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C1ED-C472-41EB-9EFB-0466AE8B55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033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A5199-AAB2-9ED1-A55E-AEB305366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78C946-F2D4-1831-BB22-1166BDEAA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2ACB-C0C5-4148-BC28-224FD3509F7D}" type="datetimeFigureOut">
              <a:rPr lang="en-IN" smtClean="0"/>
              <a:t>27-08-2024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C3CD4C-7726-7D21-20E8-8A857BF40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5E3283-24C5-4121-022F-CFDC0CE0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C1ED-C472-41EB-9EFB-0466AE8B55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599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04205F-DC10-BD26-51C8-5268534D5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2ACB-C0C5-4148-BC28-224FD3509F7D}" type="datetimeFigureOut">
              <a:rPr lang="en-IN" smtClean="0"/>
              <a:t>27-08-2024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1F10BB-5994-3378-E2F5-EFB098040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AC7A5-C196-43A9-34E5-A0865BA4F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C1ED-C472-41EB-9EFB-0466AE8B55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449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F4B54-A125-38F3-B5DA-91C7F1767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25E12-FD77-8433-001A-A5B8C41FD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0998EE-E4AD-75D5-C169-691809982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5C2850-FE8E-D8F9-BC5E-991C5EEEE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2ACB-C0C5-4148-BC28-224FD3509F7D}" type="datetimeFigureOut">
              <a:rPr lang="en-IN" smtClean="0"/>
              <a:t>27-08-2024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BF5ED-AD2F-7C89-1E53-9D6DCF6FB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4D3708-065E-A148-5EBB-C20B49E3D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C1ED-C472-41EB-9EFB-0466AE8B55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889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78621-19B6-533A-534D-4B65BA23B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E42FC3-DEC4-B496-84B4-D554F0CA4E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89C220-0260-E696-9561-12D789C1B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BFA404-DEDB-0E0F-DA0F-EB968723F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2ACB-C0C5-4148-BC28-224FD3509F7D}" type="datetimeFigureOut">
              <a:rPr lang="en-IN" smtClean="0"/>
              <a:t>27-08-2024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20FFE5-6444-D675-788D-F2E30549F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B625F1-3001-3937-2E99-B4C2AC784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C1ED-C472-41EB-9EFB-0466AE8B55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471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08A30-38B6-9E1A-A942-A1B01F80A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D8EF84-4AC7-FB20-FC0A-9D0AB9A8C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931C3-4B18-157A-D437-406A753C4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2ACB-C0C5-4148-BC28-224FD3509F7D}" type="datetimeFigureOut">
              <a:rPr lang="en-IN" smtClean="0"/>
              <a:t>27-08-2024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81D74-83F0-E6FA-BAF8-A230178F0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E7A74-05B9-EC12-C995-6BC829607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C1ED-C472-41EB-9EFB-0466AE8B55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88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476491-F7D0-2976-D51D-57624ABC57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561D21-EDFE-B187-C755-15C8185B8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47D44-4F4A-63BF-1742-7E29A1A7A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2ACB-C0C5-4148-BC28-224FD3509F7D}" type="datetimeFigureOut">
              <a:rPr lang="en-IN" smtClean="0"/>
              <a:t>27-08-2024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B01A7-8014-4517-525E-2514BA0CB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74AAB-9F96-3E50-6482-DC0D95CFE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C1ED-C472-41EB-9EFB-0466AE8B55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17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2C7149-F208-5036-B032-2BA6A3F4A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C5717-963B-E45F-E9F1-EF6B67A97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C86FB-0FC7-132D-7B57-DB8FC3C8C8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2A2ACB-C0C5-4148-BC28-224FD3509F7D}" type="datetimeFigureOut">
              <a:rPr lang="en-IN" smtClean="0"/>
              <a:t>27-08-2024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DC387-DD36-0E72-E960-88E076B2A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00CD0-2549-6776-6612-B063E30D48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D9C1ED-C472-41EB-9EFB-0466AE8B55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13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81C2A2B-A566-F833-47A8-426502CC18D8}"/>
              </a:ext>
            </a:extLst>
          </p:cNvPr>
          <p:cNvSpPr txBox="1"/>
          <p:nvPr/>
        </p:nvSpPr>
        <p:spPr>
          <a:xfrm>
            <a:off x="3741906" y="0"/>
            <a:ext cx="47081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Wotfard"/>
              </a:rPr>
              <a:t>MySQL Primary Key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BDAE4F-9173-3239-264E-C8D8B776E584}"/>
              </a:ext>
            </a:extLst>
          </p:cNvPr>
          <p:cNvSpPr txBox="1"/>
          <p:nvPr/>
        </p:nvSpPr>
        <p:spPr>
          <a:xfrm>
            <a:off x="321013" y="769441"/>
            <a:ext cx="1167319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Wotfard"/>
              </a:rPr>
              <a:t>In MySQL, a primary key is a </a:t>
            </a:r>
            <a:r>
              <a:rPr lang="en-US" sz="3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Wotfard"/>
              </a:rPr>
              <a:t>column</a:t>
            </a:r>
            <a:r>
              <a:rPr lang="en-US" sz="36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Wotfard"/>
              </a:rPr>
              <a:t> or a </a:t>
            </a:r>
            <a:r>
              <a:rPr lang="en-US" sz="3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Wotfard"/>
              </a:rPr>
              <a:t>set of columns </a:t>
            </a:r>
            <a:r>
              <a:rPr lang="en-US" sz="36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Wotfard"/>
              </a:rPr>
              <a:t>that </a:t>
            </a:r>
            <a:r>
              <a:rPr lang="en-US" sz="3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Wotfard"/>
              </a:rPr>
              <a:t>uniquely identifies each row </a:t>
            </a:r>
            <a:r>
              <a:rPr lang="en-US" sz="36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Wotfard"/>
              </a:rPr>
              <a:t>in the table.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Wotfard"/>
              </a:rPr>
              <a:t>A primary key column must contain </a:t>
            </a:r>
            <a:r>
              <a:rPr lang="en-US" sz="3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Wotfard"/>
              </a:rPr>
              <a:t>unique values</a:t>
            </a:r>
            <a:r>
              <a:rPr lang="en-US" sz="36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Wotfard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Wotfard"/>
              </a:rPr>
              <a:t>If the primary key consists of multiple columns, the </a:t>
            </a:r>
            <a:r>
              <a:rPr lang="en-US" sz="3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Wotfard"/>
              </a:rPr>
              <a:t>combination of values </a:t>
            </a:r>
            <a:r>
              <a:rPr lang="en-US" sz="36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Wotfard"/>
              </a:rPr>
              <a:t>in these columns </a:t>
            </a:r>
            <a:r>
              <a:rPr lang="en-US" sz="3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Wotfard"/>
              </a:rPr>
              <a:t>must be unique</a:t>
            </a:r>
            <a:r>
              <a:rPr lang="en-US" sz="36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Wotfard"/>
              </a:rPr>
              <a:t>. Additionally, a primary key column cannot contain </a:t>
            </a:r>
            <a:r>
              <a:rPr lang="en-US" sz="3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Wotfard"/>
              </a:rPr>
              <a:t>NULL</a:t>
            </a:r>
            <a:r>
              <a:rPr lang="en-US" sz="36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Wotfard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Wotfard"/>
              </a:rPr>
              <a:t>A table can have either </a:t>
            </a:r>
            <a:r>
              <a:rPr lang="en-US" sz="3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Wotfard"/>
              </a:rPr>
              <a:t>zero or one </a:t>
            </a:r>
            <a:r>
              <a:rPr lang="en-US" sz="36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Wotfard"/>
              </a:rPr>
              <a:t>primary key, but </a:t>
            </a:r>
            <a:r>
              <a:rPr lang="en-US" sz="3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Wotfard"/>
              </a:rPr>
              <a:t>not more than one.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9720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81C2A2B-A566-F833-47A8-426502CC18D8}"/>
              </a:ext>
            </a:extLst>
          </p:cNvPr>
          <p:cNvSpPr txBox="1"/>
          <p:nvPr/>
        </p:nvSpPr>
        <p:spPr>
          <a:xfrm>
            <a:off x="603116" y="0"/>
            <a:ext cx="106809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Wotfard"/>
              </a:rPr>
              <a:t>Defining a single-column primary key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BDAE4F-9173-3239-264E-C8D8B776E584}"/>
              </a:ext>
            </a:extLst>
          </p:cNvPr>
          <p:cNvSpPr txBox="1"/>
          <p:nvPr/>
        </p:nvSpPr>
        <p:spPr>
          <a:xfrm>
            <a:off x="603115" y="1538882"/>
            <a:ext cx="1167319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Roboto Mono" panose="00000009000000000000" pitchFamily="49" charset="0"/>
              </a:rPr>
              <a:t>MYSQL&gt;CREATE TABLE table_name( </a:t>
            </a:r>
          </a:p>
          <a:p>
            <a:pPr algn="l"/>
            <a:r>
              <a:rPr lang="en-US" sz="3600" dirty="0">
                <a:solidFill>
                  <a:srgbClr val="383A42"/>
                </a:solidFill>
                <a:highlight>
                  <a:srgbClr val="FAFAFA"/>
                </a:highlight>
                <a:latin typeface="Roboto Mono" panose="00000009000000000000" pitchFamily="49" charset="0"/>
              </a:rPr>
              <a:t>       </a:t>
            </a:r>
            <a:r>
              <a:rPr lang="en-US" sz="3600" b="0" i="0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Roboto Mono" panose="00000009000000000000" pitchFamily="49" charset="0"/>
              </a:rPr>
              <a:t>column1 datatype </a:t>
            </a:r>
            <a:r>
              <a:rPr lang="en-US" sz="3600" b="0" i="0" dirty="0">
                <a:solidFill>
                  <a:srgbClr val="FF0000"/>
                </a:solidFill>
                <a:effectLst/>
                <a:highlight>
                  <a:srgbClr val="FAFAFA"/>
                </a:highlight>
                <a:latin typeface="Roboto Mono" panose="00000009000000000000" pitchFamily="49" charset="0"/>
              </a:rPr>
              <a:t>PRIMARY KEY</a:t>
            </a:r>
            <a:r>
              <a:rPr lang="en-US" sz="3600" b="0" i="0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Roboto Mono" panose="00000009000000000000" pitchFamily="49" charset="0"/>
              </a:rPr>
              <a:t>,</a:t>
            </a:r>
          </a:p>
          <a:p>
            <a:pPr algn="l"/>
            <a:r>
              <a:rPr lang="en-US" sz="3600" b="0" i="0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Roboto Mono" panose="00000009000000000000" pitchFamily="49" charset="0"/>
              </a:rPr>
              <a:t> 	    column2 datatype, ... </a:t>
            </a:r>
          </a:p>
          <a:p>
            <a:pPr algn="l"/>
            <a:r>
              <a:rPr lang="en-US" sz="3600" b="0" i="0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Roboto Mono" panose="00000009000000000000" pitchFamily="49" charset="0"/>
              </a:rPr>
              <a:t>);</a:t>
            </a:r>
          </a:p>
          <a:p>
            <a:pPr algn="l"/>
            <a:endParaRPr lang="en-US" sz="3600" b="0" i="0" dirty="0">
              <a:solidFill>
                <a:srgbClr val="383A42"/>
              </a:solidFill>
              <a:effectLst/>
              <a:highlight>
                <a:srgbClr val="FAFAFA"/>
              </a:highlight>
              <a:latin typeface="Roboto Mono" panose="00000009000000000000" pitchFamily="49" charset="0"/>
            </a:endParaRPr>
          </a:p>
          <a:p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font-family-code)"/>
              </a:rPr>
              <a:t>PRIMARY KEY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Wotfard"/>
              </a:rPr>
              <a:t> constraint as a </a:t>
            </a:r>
            <a:r>
              <a:rPr kumimoji="0" lang="en-US" altLang="en-US" sz="3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Wotfard"/>
              </a:rPr>
              <a:t>column constraint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Wotfard"/>
              </a:rPr>
              <a:t>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/>
            <a:endParaRPr lang="en-US" sz="3600" dirty="0">
              <a:solidFill>
                <a:srgbClr val="383A42"/>
              </a:solidFill>
              <a:highlight>
                <a:srgbClr val="FAFAFA"/>
              </a:highlight>
              <a:latin typeface="Roboto Mono" panose="00000009000000000000" pitchFamily="49" charset="0"/>
            </a:endParaRPr>
          </a:p>
          <a:p>
            <a:pPr algn="l"/>
            <a:endParaRPr lang="en-US" sz="3600" dirty="0">
              <a:solidFill>
                <a:srgbClr val="383A42"/>
              </a:solidFill>
              <a:highlight>
                <a:srgbClr val="FAFAFA"/>
              </a:highlight>
              <a:latin typeface="Roboto Mono" panose="00000009000000000000" pitchFamily="49" charset="0"/>
            </a:endParaRPr>
          </a:p>
          <a:p>
            <a:pPr algn="l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B3CA69-90B2-8F3F-1E73-60455FC0F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115" y="5410174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42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81C2A2B-A566-F833-47A8-426502CC18D8}"/>
              </a:ext>
            </a:extLst>
          </p:cNvPr>
          <p:cNvSpPr txBox="1"/>
          <p:nvPr/>
        </p:nvSpPr>
        <p:spPr>
          <a:xfrm>
            <a:off x="603116" y="0"/>
            <a:ext cx="106809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Wotfard"/>
              </a:rPr>
              <a:t>Defining a single-column primary key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BDAE4F-9173-3239-264E-C8D8B776E584}"/>
              </a:ext>
            </a:extLst>
          </p:cNvPr>
          <p:cNvSpPr txBox="1"/>
          <p:nvPr/>
        </p:nvSpPr>
        <p:spPr>
          <a:xfrm>
            <a:off x="603115" y="1538882"/>
            <a:ext cx="11673191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Roboto Mono" panose="00000009000000000000" pitchFamily="49" charset="0"/>
              </a:rPr>
              <a:t>MYSQL&gt;CREATE TABLE table_name( </a:t>
            </a:r>
          </a:p>
          <a:p>
            <a:pPr algn="l"/>
            <a:r>
              <a:rPr lang="en-US" sz="3600" dirty="0">
                <a:solidFill>
                  <a:srgbClr val="383A42"/>
                </a:solidFill>
                <a:highlight>
                  <a:srgbClr val="FAFAFA"/>
                </a:highlight>
                <a:latin typeface="Roboto Mono" panose="00000009000000000000" pitchFamily="49" charset="0"/>
              </a:rPr>
              <a:t>    </a:t>
            </a:r>
            <a:r>
              <a:rPr lang="en-US" sz="3600" b="0" i="0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Roboto Mono" panose="00000009000000000000" pitchFamily="49" charset="0"/>
              </a:rPr>
              <a:t>column1 datatype, </a:t>
            </a:r>
          </a:p>
          <a:p>
            <a:pPr lvl="2"/>
            <a:r>
              <a:rPr lang="en-US" sz="3600" b="0" i="0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Roboto Mono" panose="00000009000000000000" pitchFamily="49" charset="0"/>
              </a:rPr>
              <a:t> column2 datatype, </a:t>
            </a:r>
          </a:p>
          <a:p>
            <a:pPr lvl="2"/>
            <a:r>
              <a:rPr lang="en-US" sz="3600" b="0" i="0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Roboto Mono" panose="00000009000000000000" pitchFamily="49" charset="0"/>
              </a:rPr>
              <a:t>..., </a:t>
            </a:r>
          </a:p>
          <a:p>
            <a:pPr lvl="2"/>
            <a:r>
              <a:rPr lang="en-US" sz="3600" b="0" i="0" dirty="0">
                <a:solidFill>
                  <a:srgbClr val="FF0000"/>
                </a:solidFill>
                <a:effectLst/>
                <a:highlight>
                  <a:srgbClr val="FAFAFA"/>
                </a:highlight>
                <a:latin typeface="Roboto Mono" panose="00000009000000000000" pitchFamily="49" charset="0"/>
              </a:rPr>
              <a:t>PRIMARY KEY(column1) </a:t>
            </a:r>
          </a:p>
          <a:p>
            <a:pPr lvl="2"/>
            <a:r>
              <a:rPr lang="en-US" sz="3600" b="0" i="0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Roboto Mono" panose="00000009000000000000" pitchFamily="49" charset="0"/>
              </a:rPr>
              <a:t>);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(--font-family-code)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font-family-code)"/>
              </a:rPr>
              <a:t>PRIMARY KEY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Wotfard"/>
              </a:rPr>
              <a:t> constraint as a </a:t>
            </a:r>
            <a:r>
              <a:rPr lang="en-IN" sz="3600" b="0" i="1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Wotfard"/>
              </a:rPr>
              <a:t>table</a:t>
            </a:r>
            <a:r>
              <a:rPr kumimoji="0" lang="en-US" altLang="en-US" sz="3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Wotfard"/>
              </a:rPr>
              <a:t> constraint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Wotfard"/>
              </a:rPr>
              <a:t>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/>
            <a:endParaRPr lang="en-US" sz="3600" dirty="0">
              <a:solidFill>
                <a:srgbClr val="383A42"/>
              </a:solidFill>
              <a:highlight>
                <a:srgbClr val="FAFAFA"/>
              </a:highlight>
              <a:latin typeface="Roboto Mono" panose="00000009000000000000" pitchFamily="49" charset="0"/>
            </a:endParaRPr>
          </a:p>
          <a:p>
            <a:pPr algn="l"/>
            <a:endParaRPr lang="en-US" sz="3600" dirty="0">
              <a:solidFill>
                <a:srgbClr val="383A42"/>
              </a:solidFill>
              <a:highlight>
                <a:srgbClr val="FAFAFA"/>
              </a:highlight>
              <a:latin typeface="Roboto Mono" panose="00000009000000000000" pitchFamily="49" charset="0"/>
            </a:endParaRPr>
          </a:p>
          <a:p>
            <a:pPr algn="l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B3CA69-90B2-8F3F-1E73-60455FC0F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115" y="5410174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325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81C2A2B-A566-F833-47A8-426502CC18D8}"/>
              </a:ext>
            </a:extLst>
          </p:cNvPr>
          <p:cNvSpPr txBox="1"/>
          <p:nvPr/>
        </p:nvSpPr>
        <p:spPr>
          <a:xfrm>
            <a:off x="603116" y="0"/>
            <a:ext cx="106809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4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Wotfard"/>
              </a:rPr>
              <a:t>Defining a multi-column primary key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BDAE4F-9173-3239-264E-C8D8B776E584}"/>
              </a:ext>
            </a:extLst>
          </p:cNvPr>
          <p:cNvSpPr txBox="1"/>
          <p:nvPr/>
        </p:nvSpPr>
        <p:spPr>
          <a:xfrm>
            <a:off x="603115" y="1538882"/>
            <a:ext cx="11673191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Roboto Mono" panose="00000009000000000000" pitchFamily="49" charset="0"/>
              </a:rPr>
              <a:t>MYSQL&gt;CREATE TABLE table_name( </a:t>
            </a:r>
          </a:p>
          <a:p>
            <a:pPr algn="l"/>
            <a:r>
              <a:rPr lang="en-US" sz="3600" dirty="0">
                <a:solidFill>
                  <a:srgbClr val="383A42"/>
                </a:solidFill>
                <a:highlight>
                  <a:srgbClr val="FAFAFA"/>
                </a:highlight>
                <a:latin typeface="Roboto Mono" panose="00000009000000000000" pitchFamily="49" charset="0"/>
              </a:rPr>
              <a:t>    </a:t>
            </a:r>
            <a:r>
              <a:rPr lang="en-US" sz="3600" b="0" i="0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Roboto Mono" panose="00000009000000000000" pitchFamily="49" charset="0"/>
              </a:rPr>
              <a:t>column1 datatype, </a:t>
            </a:r>
          </a:p>
          <a:p>
            <a:pPr lvl="2"/>
            <a:r>
              <a:rPr lang="en-US" sz="3600" b="0" i="0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Roboto Mono" panose="00000009000000000000" pitchFamily="49" charset="0"/>
              </a:rPr>
              <a:t> column2 datatype, </a:t>
            </a:r>
          </a:p>
          <a:p>
            <a:pPr lvl="2"/>
            <a:r>
              <a:rPr lang="en-US" sz="3600" b="0" i="0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Roboto Mono" panose="00000009000000000000" pitchFamily="49" charset="0"/>
              </a:rPr>
              <a:t> column3 datatype</a:t>
            </a:r>
          </a:p>
          <a:p>
            <a:pPr lvl="2"/>
            <a:r>
              <a:rPr lang="en-US" sz="3600" b="0" i="0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Roboto Mono" panose="00000009000000000000" pitchFamily="49" charset="0"/>
              </a:rPr>
              <a:t>..., </a:t>
            </a:r>
          </a:p>
          <a:p>
            <a:pPr lvl="2"/>
            <a:r>
              <a:rPr lang="en-US" sz="3600" b="0" i="0" dirty="0">
                <a:solidFill>
                  <a:srgbClr val="FF0000"/>
                </a:solidFill>
                <a:effectLst/>
                <a:highlight>
                  <a:srgbClr val="FAFAFA"/>
                </a:highlight>
                <a:latin typeface="Roboto Mono" panose="00000009000000000000" pitchFamily="49" charset="0"/>
              </a:rPr>
              <a:t>PRIMARY KEY(column1,column3) </a:t>
            </a:r>
          </a:p>
          <a:p>
            <a:pPr lvl="2"/>
            <a:r>
              <a:rPr lang="en-US" sz="3600" b="0" i="0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Roboto Mono" panose="00000009000000000000" pitchFamily="49" charset="0"/>
              </a:rPr>
              <a:t>);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(--font-family-code)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font-family-code)"/>
              </a:rPr>
              <a:t>PRIMARY KEY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Wotfard"/>
              </a:rPr>
              <a:t> constraint as a </a:t>
            </a:r>
            <a:r>
              <a:rPr lang="en-IN" sz="3600" b="0" i="1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Wotfard"/>
              </a:rPr>
              <a:t>table</a:t>
            </a:r>
            <a:r>
              <a:rPr kumimoji="0" lang="en-US" altLang="en-US" sz="3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Wotfard"/>
              </a:rPr>
              <a:t> constraint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Wotfard"/>
              </a:rPr>
              <a:t>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/>
            <a:endParaRPr lang="en-US" sz="3600" dirty="0">
              <a:solidFill>
                <a:srgbClr val="383A42"/>
              </a:solidFill>
              <a:highlight>
                <a:srgbClr val="FAFAFA"/>
              </a:highlight>
              <a:latin typeface="Roboto Mono" panose="00000009000000000000" pitchFamily="49" charset="0"/>
            </a:endParaRPr>
          </a:p>
          <a:p>
            <a:pPr algn="l"/>
            <a:endParaRPr lang="en-US" sz="3600" dirty="0">
              <a:solidFill>
                <a:srgbClr val="383A42"/>
              </a:solidFill>
              <a:highlight>
                <a:srgbClr val="FAFAFA"/>
              </a:highlight>
              <a:latin typeface="Roboto Mono" panose="00000009000000000000" pitchFamily="49" charset="0"/>
            </a:endParaRPr>
          </a:p>
          <a:p>
            <a:pPr algn="l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B3CA69-90B2-8F3F-1E73-60455FC0F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115" y="5410174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112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81C2A2B-A566-F833-47A8-426502CC18D8}"/>
              </a:ext>
            </a:extLst>
          </p:cNvPr>
          <p:cNvSpPr txBox="1"/>
          <p:nvPr/>
        </p:nvSpPr>
        <p:spPr>
          <a:xfrm>
            <a:off x="603116" y="0"/>
            <a:ext cx="106809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4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Wotfard"/>
              </a:rPr>
              <a:t>Defining a multi-column primary key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BDAE4F-9173-3239-264E-C8D8B776E584}"/>
              </a:ext>
            </a:extLst>
          </p:cNvPr>
          <p:cNvSpPr txBox="1"/>
          <p:nvPr/>
        </p:nvSpPr>
        <p:spPr>
          <a:xfrm>
            <a:off x="603115" y="1538882"/>
            <a:ext cx="11673191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Roboto Mono" panose="00000009000000000000" pitchFamily="49" charset="0"/>
              </a:rPr>
              <a:t>MYSQL&gt; ALTER TABLE Employee </a:t>
            </a:r>
          </a:p>
          <a:p>
            <a:pPr lvl="4"/>
            <a:r>
              <a:rPr lang="en-US" sz="3600" b="0" i="0" dirty="0">
                <a:solidFill>
                  <a:srgbClr val="FF0000"/>
                </a:solidFill>
                <a:effectLst/>
                <a:highlight>
                  <a:srgbClr val="FAFAFA"/>
                </a:highlight>
                <a:latin typeface="Roboto Mono" panose="00000009000000000000" pitchFamily="49" charset="0"/>
              </a:rPr>
              <a:t>  ADD PRIMARY	KEY(id);</a:t>
            </a:r>
            <a:endParaRPr lang="en-US" sz="3600" b="0" i="0" dirty="0">
              <a:solidFill>
                <a:srgbClr val="383A42"/>
              </a:solidFill>
              <a:effectLst/>
              <a:highlight>
                <a:srgbClr val="FAFAFA"/>
              </a:highlight>
              <a:latin typeface="Roboto Mono" panose="00000009000000000000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(--font-family-code)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Roboto Mono" panose="00000009000000000000" pitchFamily="49" charset="0"/>
              </a:rPr>
              <a:t>MYSQL&gt; </a:t>
            </a:r>
            <a:r>
              <a:rPr lang="en-US" sz="3200" b="0" i="0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Roboto Mono" panose="00000009000000000000" pitchFamily="49" charset="0"/>
              </a:rPr>
              <a:t>ALTER TABLE Employee </a:t>
            </a:r>
          </a:p>
          <a:p>
            <a:pPr algn="l"/>
            <a:r>
              <a:rPr lang="en-US" sz="3200" dirty="0">
                <a:solidFill>
                  <a:srgbClr val="383A42"/>
                </a:solidFill>
                <a:highlight>
                  <a:srgbClr val="FAFAFA"/>
                </a:highlight>
                <a:latin typeface="Roboto Mono" panose="00000009000000000000" pitchFamily="49" charset="0"/>
              </a:rPr>
              <a:t>	     </a:t>
            </a:r>
            <a:r>
              <a:rPr lang="en-US" sz="3200" b="0" i="0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Roboto Mono" panose="00000009000000000000" pitchFamily="49" charset="0"/>
              </a:rPr>
              <a:t>ADD </a:t>
            </a:r>
            <a:r>
              <a:rPr lang="en-US" sz="3200" b="0" i="0" dirty="0">
                <a:solidFill>
                  <a:srgbClr val="FF0000"/>
                </a:solidFill>
                <a:effectLst/>
                <a:highlight>
                  <a:srgbClr val="FAFAFA"/>
                </a:highlight>
                <a:latin typeface="Roboto Mono" panose="00000009000000000000" pitchFamily="49" charset="0"/>
              </a:rPr>
              <a:t>constraint </a:t>
            </a:r>
            <a:r>
              <a:rPr lang="en-US" sz="3200" b="0" i="0" dirty="0" err="1">
                <a:solidFill>
                  <a:srgbClr val="FF0000"/>
                </a:solidFill>
                <a:effectLst/>
                <a:highlight>
                  <a:srgbClr val="FAFAFA"/>
                </a:highlight>
                <a:latin typeface="Roboto Mono" panose="00000009000000000000" pitchFamily="49" charset="0"/>
              </a:rPr>
              <a:t>pk_id</a:t>
            </a:r>
            <a:r>
              <a:rPr lang="en-US" sz="3200" b="0" i="0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Roboto Mono" panose="00000009000000000000" pitchFamily="49" charset="0"/>
              </a:rPr>
              <a:t> PRIMARY KEY(id);</a:t>
            </a:r>
          </a:p>
          <a:p>
            <a:r>
              <a:rPr lang="en-US" sz="3600" b="0" i="0" dirty="0">
                <a:solidFill>
                  <a:srgbClr val="FF0000"/>
                </a:solidFill>
                <a:effectLst/>
                <a:highlight>
                  <a:srgbClr val="FAFAFA"/>
                </a:highlight>
                <a:latin typeface="Roboto Mono" panose="00000009000000000000" pitchFamily="49" charset="0"/>
              </a:rPr>
              <a:t> 		</a:t>
            </a:r>
          </a:p>
          <a:p>
            <a:r>
              <a:rPr lang="en-US" sz="3600" dirty="0">
                <a:solidFill>
                  <a:srgbClr val="FF0000"/>
                </a:solidFill>
                <a:highlight>
                  <a:srgbClr val="FAFAFA"/>
                </a:highlight>
                <a:latin typeface="Roboto Mono" panose="00000009000000000000" pitchFamily="49" charset="0"/>
              </a:rPr>
              <a:t>	</a:t>
            </a:r>
            <a:r>
              <a:rPr lang="en-US" sz="4800" b="0" i="0" dirty="0">
                <a:solidFill>
                  <a:schemeClr val="accent2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Wotfard"/>
              </a:rPr>
              <a:t>Removing the primary key from a table</a:t>
            </a:r>
          </a:p>
          <a:p>
            <a:pPr algn="l"/>
            <a:r>
              <a:rPr lang="en-US" sz="3600" b="0" i="0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Roboto Mono" panose="00000009000000000000" pitchFamily="49" charset="0"/>
              </a:rPr>
              <a:t>MYSQL&gt; </a:t>
            </a:r>
            <a:r>
              <a:rPr lang="en-US" sz="3200" b="0" i="0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Roboto Mono" panose="00000009000000000000" pitchFamily="49" charset="0"/>
              </a:rPr>
              <a:t>ALTER TABLE Employee </a:t>
            </a:r>
            <a:r>
              <a:rPr lang="en-US" sz="3200" b="0" i="0" dirty="0">
                <a:solidFill>
                  <a:srgbClr val="FF0000"/>
                </a:solidFill>
                <a:effectLst/>
                <a:highlight>
                  <a:srgbClr val="FAFAFA"/>
                </a:highlight>
                <a:latin typeface="Roboto Mono" panose="00000009000000000000" pitchFamily="49" charset="0"/>
              </a:rPr>
              <a:t>DROP</a:t>
            </a:r>
            <a:r>
              <a:rPr lang="en-US" sz="3200" b="0" i="0" dirty="0">
                <a:solidFill>
                  <a:srgbClr val="383A42"/>
                </a:solidFill>
                <a:effectLst/>
                <a:highlight>
                  <a:srgbClr val="FAFAFA"/>
                </a:highlight>
                <a:latin typeface="Roboto Mono" panose="00000009000000000000" pitchFamily="49" charset="0"/>
              </a:rPr>
              <a:t> PRIMARY KEY;</a:t>
            </a:r>
            <a:endParaRPr lang="en-US" sz="3200" dirty="0">
              <a:solidFill>
                <a:srgbClr val="383A42"/>
              </a:solidFill>
              <a:highlight>
                <a:srgbClr val="FAFAFA"/>
              </a:highlight>
              <a:latin typeface="Roboto Mono" panose="00000009000000000000" pitchFamily="49" charset="0"/>
            </a:endParaRPr>
          </a:p>
          <a:p>
            <a:pPr algn="l"/>
            <a:endParaRPr lang="en-US" sz="3600" dirty="0">
              <a:solidFill>
                <a:srgbClr val="383A42"/>
              </a:solidFill>
              <a:highlight>
                <a:srgbClr val="FAFAFA"/>
              </a:highlight>
              <a:latin typeface="Roboto Mono" panose="00000009000000000000" pitchFamily="49" charset="0"/>
            </a:endParaRPr>
          </a:p>
          <a:p>
            <a:pPr algn="l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B3CA69-90B2-8F3F-1E73-60455FC0F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115" y="5410174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319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249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Roboto Mono</vt:lpstr>
      <vt:lpstr>var(--font-family-code)</vt:lpstr>
      <vt:lpstr>Wotfard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 Trilok Singh</dc:creator>
  <cp:lastModifiedBy>Mr. Trilok Singh</cp:lastModifiedBy>
  <cp:revision>15</cp:revision>
  <dcterms:created xsi:type="dcterms:W3CDTF">2024-08-27T05:48:45Z</dcterms:created>
  <dcterms:modified xsi:type="dcterms:W3CDTF">2024-08-27T06:31:25Z</dcterms:modified>
</cp:coreProperties>
</file>