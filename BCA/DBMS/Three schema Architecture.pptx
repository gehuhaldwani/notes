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3" r:id="rId7"/>
    <p:sldId id="260" r:id="rId8"/>
    <p:sldId id="261"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E1610-A1E2-B905-41C4-9272575C5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8CE6725-2E69-C280-979F-3B2F8DBED0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D80C2C-2E9E-1506-E23E-E9C797865895}"/>
              </a:ext>
            </a:extLst>
          </p:cNvPr>
          <p:cNvSpPr>
            <a:spLocks noGrp="1"/>
          </p:cNvSpPr>
          <p:nvPr>
            <p:ph type="dt" sz="half" idx="10"/>
          </p:nvPr>
        </p:nvSpPr>
        <p:spPr/>
        <p:txBody>
          <a:bodyPr/>
          <a:lstStyle/>
          <a:p>
            <a:fld id="{B13E5D2A-554A-4B99-A3DE-7CFE6296D5EB}" type="datetimeFigureOut">
              <a:rPr lang="en-IN" smtClean="0"/>
              <a:t>03-09-2024</a:t>
            </a:fld>
            <a:endParaRPr lang="en-IN"/>
          </a:p>
        </p:txBody>
      </p:sp>
      <p:sp>
        <p:nvSpPr>
          <p:cNvPr id="5" name="Footer Placeholder 4">
            <a:extLst>
              <a:ext uri="{FF2B5EF4-FFF2-40B4-BE49-F238E27FC236}">
                <a16:creationId xmlns:a16="http://schemas.microsoft.com/office/drawing/2014/main" id="{88AC3913-B249-AB40-189F-AFFD0B90B0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996452-D5F9-9B8F-C631-9D0373C3CDC1}"/>
              </a:ext>
            </a:extLst>
          </p:cNvPr>
          <p:cNvSpPr>
            <a:spLocks noGrp="1"/>
          </p:cNvSpPr>
          <p:nvPr>
            <p:ph type="sldNum" sz="quarter" idx="12"/>
          </p:nvPr>
        </p:nvSpPr>
        <p:spPr/>
        <p:txBody>
          <a:bodyPr/>
          <a:lstStyle/>
          <a:p>
            <a:fld id="{2D2E21AF-C930-424A-866C-91B6CE8F45FB}" type="slidenum">
              <a:rPr lang="en-IN" smtClean="0"/>
              <a:t>‹#›</a:t>
            </a:fld>
            <a:endParaRPr lang="en-IN"/>
          </a:p>
        </p:txBody>
      </p:sp>
    </p:spTree>
    <p:extLst>
      <p:ext uri="{BB962C8B-B14F-4D97-AF65-F5344CB8AC3E}">
        <p14:creationId xmlns:p14="http://schemas.microsoft.com/office/powerpoint/2010/main" val="3095735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055F4-B580-C45F-DDCE-485151A40C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BB6318-ABF7-E186-7DFD-F2087DBB8A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B41713-F66B-C229-796D-D71F2AB8FD36}"/>
              </a:ext>
            </a:extLst>
          </p:cNvPr>
          <p:cNvSpPr>
            <a:spLocks noGrp="1"/>
          </p:cNvSpPr>
          <p:nvPr>
            <p:ph type="dt" sz="half" idx="10"/>
          </p:nvPr>
        </p:nvSpPr>
        <p:spPr/>
        <p:txBody>
          <a:bodyPr/>
          <a:lstStyle/>
          <a:p>
            <a:fld id="{B13E5D2A-554A-4B99-A3DE-7CFE6296D5EB}" type="datetimeFigureOut">
              <a:rPr lang="en-IN" smtClean="0"/>
              <a:t>03-09-2024</a:t>
            </a:fld>
            <a:endParaRPr lang="en-IN"/>
          </a:p>
        </p:txBody>
      </p:sp>
      <p:sp>
        <p:nvSpPr>
          <p:cNvPr id="5" name="Footer Placeholder 4">
            <a:extLst>
              <a:ext uri="{FF2B5EF4-FFF2-40B4-BE49-F238E27FC236}">
                <a16:creationId xmlns:a16="http://schemas.microsoft.com/office/drawing/2014/main" id="{C457A7C3-4F60-C6AE-D50D-F3D5F2B746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DB9FA2-2523-8C85-106F-F4754CFB5EC7}"/>
              </a:ext>
            </a:extLst>
          </p:cNvPr>
          <p:cNvSpPr>
            <a:spLocks noGrp="1"/>
          </p:cNvSpPr>
          <p:nvPr>
            <p:ph type="sldNum" sz="quarter" idx="12"/>
          </p:nvPr>
        </p:nvSpPr>
        <p:spPr/>
        <p:txBody>
          <a:bodyPr/>
          <a:lstStyle/>
          <a:p>
            <a:fld id="{2D2E21AF-C930-424A-866C-91B6CE8F45FB}" type="slidenum">
              <a:rPr lang="en-IN" smtClean="0"/>
              <a:t>‹#›</a:t>
            </a:fld>
            <a:endParaRPr lang="en-IN"/>
          </a:p>
        </p:txBody>
      </p:sp>
    </p:spTree>
    <p:extLst>
      <p:ext uri="{BB962C8B-B14F-4D97-AF65-F5344CB8AC3E}">
        <p14:creationId xmlns:p14="http://schemas.microsoft.com/office/powerpoint/2010/main" val="3725683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2EBDD-329E-BDC8-2B42-EFE66C8C11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4AA9251-6449-0060-F84F-77588DB66D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4746A6-C1A4-62AA-1723-961A6FA6C64C}"/>
              </a:ext>
            </a:extLst>
          </p:cNvPr>
          <p:cNvSpPr>
            <a:spLocks noGrp="1"/>
          </p:cNvSpPr>
          <p:nvPr>
            <p:ph type="dt" sz="half" idx="10"/>
          </p:nvPr>
        </p:nvSpPr>
        <p:spPr/>
        <p:txBody>
          <a:bodyPr/>
          <a:lstStyle/>
          <a:p>
            <a:fld id="{B13E5D2A-554A-4B99-A3DE-7CFE6296D5EB}" type="datetimeFigureOut">
              <a:rPr lang="en-IN" smtClean="0"/>
              <a:t>03-09-2024</a:t>
            </a:fld>
            <a:endParaRPr lang="en-IN"/>
          </a:p>
        </p:txBody>
      </p:sp>
      <p:sp>
        <p:nvSpPr>
          <p:cNvPr id="5" name="Footer Placeholder 4">
            <a:extLst>
              <a:ext uri="{FF2B5EF4-FFF2-40B4-BE49-F238E27FC236}">
                <a16:creationId xmlns:a16="http://schemas.microsoft.com/office/drawing/2014/main" id="{AA3D5B9F-9A27-DED9-70BB-4A11BF9F16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CAFFB2-D889-15EC-AE3C-F1A9A1C4B8E0}"/>
              </a:ext>
            </a:extLst>
          </p:cNvPr>
          <p:cNvSpPr>
            <a:spLocks noGrp="1"/>
          </p:cNvSpPr>
          <p:nvPr>
            <p:ph type="sldNum" sz="quarter" idx="12"/>
          </p:nvPr>
        </p:nvSpPr>
        <p:spPr/>
        <p:txBody>
          <a:bodyPr/>
          <a:lstStyle/>
          <a:p>
            <a:fld id="{2D2E21AF-C930-424A-866C-91B6CE8F45FB}" type="slidenum">
              <a:rPr lang="en-IN" smtClean="0"/>
              <a:t>‹#›</a:t>
            </a:fld>
            <a:endParaRPr lang="en-IN"/>
          </a:p>
        </p:txBody>
      </p:sp>
    </p:spTree>
    <p:extLst>
      <p:ext uri="{BB962C8B-B14F-4D97-AF65-F5344CB8AC3E}">
        <p14:creationId xmlns:p14="http://schemas.microsoft.com/office/powerpoint/2010/main" val="2119679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98BC0-1082-E013-0F27-4D7B465C5F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5CDF22-ABE4-A5BD-F4C0-615C58D35C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9E6E3E7-22D8-8B89-31CC-580345D3F0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6A6B4B-2F7E-0924-FDC8-31C882D46C94}"/>
              </a:ext>
            </a:extLst>
          </p:cNvPr>
          <p:cNvSpPr>
            <a:spLocks noGrp="1"/>
          </p:cNvSpPr>
          <p:nvPr>
            <p:ph type="dt" sz="half" idx="10"/>
          </p:nvPr>
        </p:nvSpPr>
        <p:spPr/>
        <p:txBody>
          <a:bodyPr/>
          <a:lstStyle/>
          <a:p>
            <a:fld id="{B13E5D2A-554A-4B99-A3DE-7CFE6296D5EB}" type="datetimeFigureOut">
              <a:rPr lang="en-IN" smtClean="0"/>
              <a:t>03-09-2024</a:t>
            </a:fld>
            <a:endParaRPr lang="en-IN"/>
          </a:p>
        </p:txBody>
      </p:sp>
      <p:sp>
        <p:nvSpPr>
          <p:cNvPr id="6" name="Footer Placeholder 5">
            <a:extLst>
              <a:ext uri="{FF2B5EF4-FFF2-40B4-BE49-F238E27FC236}">
                <a16:creationId xmlns:a16="http://schemas.microsoft.com/office/drawing/2014/main" id="{AB05E300-0978-2368-0106-0C3681DBF3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B41F04-82A3-58EF-6766-4D6CB20113A1}"/>
              </a:ext>
            </a:extLst>
          </p:cNvPr>
          <p:cNvSpPr>
            <a:spLocks noGrp="1"/>
          </p:cNvSpPr>
          <p:nvPr>
            <p:ph type="sldNum" sz="quarter" idx="12"/>
          </p:nvPr>
        </p:nvSpPr>
        <p:spPr/>
        <p:txBody>
          <a:bodyPr/>
          <a:lstStyle/>
          <a:p>
            <a:fld id="{2D2E21AF-C930-424A-866C-91B6CE8F45FB}" type="slidenum">
              <a:rPr lang="en-IN" smtClean="0"/>
              <a:t>‹#›</a:t>
            </a:fld>
            <a:endParaRPr lang="en-IN"/>
          </a:p>
        </p:txBody>
      </p:sp>
    </p:spTree>
    <p:extLst>
      <p:ext uri="{BB962C8B-B14F-4D97-AF65-F5344CB8AC3E}">
        <p14:creationId xmlns:p14="http://schemas.microsoft.com/office/powerpoint/2010/main" val="4097346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CDE72-C947-7252-3837-93D7DBA60BE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889F25-0E72-65A4-BEC0-013F8BFC24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9329B-86DD-F381-0BB0-92879F17C0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4C4E641-888A-006F-200B-CD8A6F590B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01954D-03F0-651F-B5D3-3AC9C4C9D1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2F32A66-DCBF-737F-8D92-3089CCC976BF}"/>
              </a:ext>
            </a:extLst>
          </p:cNvPr>
          <p:cNvSpPr>
            <a:spLocks noGrp="1"/>
          </p:cNvSpPr>
          <p:nvPr>
            <p:ph type="dt" sz="half" idx="10"/>
          </p:nvPr>
        </p:nvSpPr>
        <p:spPr/>
        <p:txBody>
          <a:bodyPr/>
          <a:lstStyle/>
          <a:p>
            <a:fld id="{B13E5D2A-554A-4B99-A3DE-7CFE6296D5EB}" type="datetimeFigureOut">
              <a:rPr lang="en-IN" smtClean="0"/>
              <a:t>03-09-2024</a:t>
            </a:fld>
            <a:endParaRPr lang="en-IN"/>
          </a:p>
        </p:txBody>
      </p:sp>
      <p:sp>
        <p:nvSpPr>
          <p:cNvPr id="8" name="Footer Placeholder 7">
            <a:extLst>
              <a:ext uri="{FF2B5EF4-FFF2-40B4-BE49-F238E27FC236}">
                <a16:creationId xmlns:a16="http://schemas.microsoft.com/office/drawing/2014/main" id="{B35628DF-C11C-70D0-715D-5F5448A92A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347F2D4-BDF0-D1B7-65C7-1B0E40A60270}"/>
              </a:ext>
            </a:extLst>
          </p:cNvPr>
          <p:cNvSpPr>
            <a:spLocks noGrp="1"/>
          </p:cNvSpPr>
          <p:nvPr>
            <p:ph type="sldNum" sz="quarter" idx="12"/>
          </p:nvPr>
        </p:nvSpPr>
        <p:spPr/>
        <p:txBody>
          <a:bodyPr/>
          <a:lstStyle/>
          <a:p>
            <a:fld id="{2D2E21AF-C930-424A-866C-91B6CE8F45FB}" type="slidenum">
              <a:rPr lang="en-IN" smtClean="0"/>
              <a:t>‹#›</a:t>
            </a:fld>
            <a:endParaRPr lang="en-IN"/>
          </a:p>
        </p:txBody>
      </p:sp>
    </p:spTree>
    <p:extLst>
      <p:ext uri="{BB962C8B-B14F-4D97-AF65-F5344CB8AC3E}">
        <p14:creationId xmlns:p14="http://schemas.microsoft.com/office/powerpoint/2010/main" val="859380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55769-8592-DC80-4E7C-5C8EB671E6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1B24815-EBE1-92C7-D078-3F0C67B98766}"/>
              </a:ext>
            </a:extLst>
          </p:cNvPr>
          <p:cNvSpPr>
            <a:spLocks noGrp="1"/>
          </p:cNvSpPr>
          <p:nvPr>
            <p:ph type="dt" sz="half" idx="10"/>
          </p:nvPr>
        </p:nvSpPr>
        <p:spPr/>
        <p:txBody>
          <a:bodyPr/>
          <a:lstStyle/>
          <a:p>
            <a:fld id="{B13E5D2A-554A-4B99-A3DE-7CFE6296D5EB}" type="datetimeFigureOut">
              <a:rPr lang="en-IN" smtClean="0"/>
              <a:t>03-09-2024</a:t>
            </a:fld>
            <a:endParaRPr lang="en-IN"/>
          </a:p>
        </p:txBody>
      </p:sp>
      <p:sp>
        <p:nvSpPr>
          <p:cNvPr id="4" name="Footer Placeholder 3">
            <a:extLst>
              <a:ext uri="{FF2B5EF4-FFF2-40B4-BE49-F238E27FC236}">
                <a16:creationId xmlns:a16="http://schemas.microsoft.com/office/drawing/2014/main" id="{D4406A44-0462-68B8-88AC-A32A89E3F32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DFCA5D7-4D3A-351F-2BF2-B786A017AF50}"/>
              </a:ext>
            </a:extLst>
          </p:cNvPr>
          <p:cNvSpPr>
            <a:spLocks noGrp="1"/>
          </p:cNvSpPr>
          <p:nvPr>
            <p:ph type="sldNum" sz="quarter" idx="12"/>
          </p:nvPr>
        </p:nvSpPr>
        <p:spPr/>
        <p:txBody>
          <a:bodyPr/>
          <a:lstStyle/>
          <a:p>
            <a:fld id="{2D2E21AF-C930-424A-866C-91B6CE8F45FB}" type="slidenum">
              <a:rPr lang="en-IN" smtClean="0"/>
              <a:t>‹#›</a:t>
            </a:fld>
            <a:endParaRPr lang="en-IN"/>
          </a:p>
        </p:txBody>
      </p:sp>
    </p:spTree>
    <p:extLst>
      <p:ext uri="{BB962C8B-B14F-4D97-AF65-F5344CB8AC3E}">
        <p14:creationId xmlns:p14="http://schemas.microsoft.com/office/powerpoint/2010/main" val="3235581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8115D-987A-1B9E-3D36-88349B34F800}"/>
              </a:ext>
            </a:extLst>
          </p:cNvPr>
          <p:cNvSpPr>
            <a:spLocks noGrp="1"/>
          </p:cNvSpPr>
          <p:nvPr>
            <p:ph type="dt" sz="half" idx="10"/>
          </p:nvPr>
        </p:nvSpPr>
        <p:spPr/>
        <p:txBody>
          <a:bodyPr/>
          <a:lstStyle/>
          <a:p>
            <a:fld id="{B13E5D2A-554A-4B99-A3DE-7CFE6296D5EB}" type="datetimeFigureOut">
              <a:rPr lang="en-IN" smtClean="0"/>
              <a:t>03-09-2024</a:t>
            </a:fld>
            <a:endParaRPr lang="en-IN"/>
          </a:p>
        </p:txBody>
      </p:sp>
      <p:sp>
        <p:nvSpPr>
          <p:cNvPr id="3" name="Footer Placeholder 2">
            <a:extLst>
              <a:ext uri="{FF2B5EF4-FFF2-40B4-BE49-F238E27FC236}">
                <a16:creationId xmlns:a16="http://schemas.microsoft.com/office/drawing/2014/main" id="{B01667F4-7BBB-7026-A3A0-DA25838EEA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FB9E832-FAFF-3115-0683-1B826E462C9B}"/>
              </a:ext>
            </a:extLst>
          </p:cNvPr>
          <p:cNvSpPr>
            <a:spLocks noGrp="1"/>
          </p:cNvSpPr>
          <p:nvPr>
            <p:ph type="sldNum" sz="quarter" idx="12"/>
          </p:nvPr>
        </p:nvSpPr>
        <p:spPr/>
        <p:txBody>
          <a:bodyPr/>
          <a:lstStyle/>
          <a:p>
            <a:fld id="{2D2E21AF-C930-424A-866C-91B6CE8F45FB}" type="slidenum">
              <a:rPr lang="en-IN" smtClean="0"/>
              <a:t>‹#›</a:t>
            </a:fld>
            <a:endParaRPr lang="en-IN"/>
          </a:p>
        </p:txBody>
      </p:sp>
    </p:spTree>
    <p:extLst>
      <p:ext uri="{BB962C8B-B14F-4D97-AF65-F5344CB8AC3E}">
        <p14:creationId xmlns:p14="http://schemas.microsoft.com/office/powerpoint/2010/main" val="3081012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4D058-6C92-2995-3A9C-2F9FC9E941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3B6611-1134-98A8-0B7D-6F3CCB67E0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807C08A-A3FE-E452-DDE5-9402F9B22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E4605F-651D-5442-51CB-20F50D1762AA}"/>
              </a:ext>
            </a:extLst>
          </p:cNvPr>
          <p:cNvSpPr>
            <a:spLocks noGrp="1"/>
          </p:cNvSpPr>
          <p:nvPr>
            <p:ph type="dt" sz="half" idx="10"/>
          </p:nvPr>
        </p:nvSpPr>
        <p:spPr/>
        <p:txBody>
          <a:bodyPr/>
          <a:lstStyle/>
          <a:p>
            <a:fld id="{B13E5D2A-554A-4B99-A3DE-7CFE6296D5EB}" type="datetimeFigureOut">
              <a:rPr lang="en-IN" smtClean="0"/>
              <a:t>03-09-2024</a:t>
            </a:fld>
            <a:endParaRPr lang="en-IN"/>
          </a:p>
        </p:txBody>
      </p:sp>
      <p:sp>
        <p:nvSpPr>
          <p:cNvPr id="6" name="Footer Placeholder 5">
            <a:extLst>
              <a:ext uri="{FF2B5EF4-FFF2-40B4-BE49-F238E27FC236}">
                <a16:creationId xmlns:a16="http://schemas.microsoft.com/office/drawing/2014/main" id="{69F5BC05-3270-2EE0-FBBE-92EDFD1E04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1735B5-8FBF-2D33-9132-3A15021D2C7C}"/>
              </a:ext>
            </a:extLst>
          </p:cNvPr>
          <p:cNvSpPr>
            <a:spLocks noGrp="1"/>
          </p:cNvSpPr>
          <p:nvPr>
            <p:ph type="sldNum" sz="quarter" idx="12"/>
          </p:nvPr>
        </p:nvSpPr>
        <p:spPr/>
        <p:txBody>
          <a:bodyPr/>
          <a:lstStyle/>
          <a:p>
            <a:fld id="{2D2E21AF-C930-424A-866C-91B6CE8F45FB}" type="slidenum">
              <a:rPr lang="en-IN" smtClean="0"/>
              <a:t>‹#›</a:t>
            </a:fld>
            <a:endParaRPr lang="en-IN"/>
          </a:p>
        </p:txBody>
      </p:sp>
    </p:spTree>
    <p:extLst>
      <p:ext uri="{BB962C8B-B14F-4D97-AF65-F5344CB8AC3E}">
        <p14:creationId xmlns:p14="http://schemas.microsoft.com/office/powerpoint/2010/main" val="2017094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41F61-BE36-61AC-8644-AD580BC9BB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B7EA390-9704-F941-6574-D2F79707A9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68F3CD6-3B7C-5B6E-56E6-3099662F26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9AABC8-42F8-85A6-0EC5-0978750CDB9F}"/>
              </a:ext>
            </a:extLst>
          </p:cNvPr>
          <p:cNvSpPr>
            <a:spLocks noGrp="1"/>
          </p:cNvSpPr>
          <p:nvPr>
            <p:ph type="dt" sz="half" idx="10"/>
          </p:nvPr>
        </p:nvSpPr>
        <p:spPr/>
        <p:txBody>
          <a:bodyPr/>
          <a:lstStyle/>
          <a:p>
            <a:fld id="{B13E5D2A-554A-4B99-A3DE-7CFE6296D5EB}" type="datetimeFigureOut">
              <a:rPr lang="en-IN" smtClean="0"/>
              <a:t>03-09-2024</a:t>
            </a:fld>
            <a:endParaRPr lang="en-IN"/>
          </a:p>
        </p:txBody>
      </p:sp>
      <p:sp>
        <p:nvSpPr>
          <p:cNvPr id="6" name="Footer Placeholder 5">
            <a:extLst>
              <a:ext uri="{FF2B5EF4-FFF2-40B4-BE49-F238E27FC236}">
                <a16:creationId xmlns:a16="http://schemas.microsoft.com/office/drawing/2014/main" id="{4DDDDEF6-87AF-5986-04AD-1603C74CEB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DBD35C-5B6C-DE15-AFE4-05BFDF3213FD}"/>
              </a:ext>
            </a:extLst>
          </p:cNvPr>
          <p:cNvSpPr>
            <a:spLocks noGrp="1"/>
          </p:cNvSpPr>
          <p:nvPr>
            <p:ph type="sldNum" sz="quarter" idx="12"/>
          </p:nvPr>
        </p:nvSpPr>
        <p:spPr/>
        <p:txBody>
          <a:bodyPr/>
          <a:lstStyle/>
          <a:p>
            <a:fld id="{2D2E21AF-C930-424A-866C-91B6CE8F45FB}" type="slidenum">
              <a:rPr lang="en-IN" smtClean="0"/>
              <a:t>‹#›</a:t>
            </a:fld>
            <a:endParaRPr lang="en-IN"/>
          </a:p>
        </p:txBody>
      </p:sp>
    </p:spTree>
    <p:extLst>
      <p:ext uri="{BB962C8B-B14F-4D97-AF65-F5344CB8AC3E}">
        <p14:creationId xmlns:p14="http://schemas.microsoft.com/office/powerpoint/2010/main" val="950324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0012A-2355-BF4A-E813-3E53D60540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1D3585-70A2-D04A-E014-6021FC8B56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E5BCF0-9556-723D-81C3-2C2BD269EC42}"/>
              </a:ext>
            </a:extLst>
          </p:cNvPr>
          <p:cNvSpPr>
            <a:spLocks noGrp="1"/>
          </p:cNvSpPr>
          <p:nvPr>
            <p:ph type="dt" sz="half" idx="10"/>
          </p:nvPr>
        </p:nvSpPr>
        <p:spPr/>
        <p:txBody>
          <a:bodyPr/>
          <a:lstStyle/>
          <a:p>
            <a:fld id="{B13E5D2A-554A-4B99-A3DE-7CFE6296D5EB}" type="datetimeFigureOut">
              <a:rPr lang="en-IN" smtClean="0"/>
              <a:t>03-09-2024</a:t>
            </a:fld>
            <a:endParaRPr lang="en-IN"/>
          </a:p>
        </p:txBody>
      </p:sp>
      <p:sp>
        <p:nvSpPr>
          <p:cNvPr id="5" name="Footer Placeholder 4">
            <a:extLst>
              <a:ext uri="{FF2B5EF4-FFF2-40B4-BE49-F238E27FC236}">
                <a16:creationId xmlns:a16="http://schemas.microsoft.com/office/drawing/2014/main" id="{017663D1-9C9A-0C1D-1E58-6A8C83DB5E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3B4A0E-F2BA-5990-17F2-D9A158B7E9AA}"/>
              </a:ext>
            </a:extLst>
          </p:cNvPr>
          <p:cNvSpPr>
            <a:spLocks noGrp="1"/>
          </p:cNvSpPr>
          <p:nvPr>
            <p:ph type="sldNum" sz="quarter" idx="12"/>
          </p:nvPr>
        </p:nvSpPr>
        <p:spPr/>
        <p:txBody>
          <a:bodyPr/>
          <a:lstStyle/>
          <a:p>
            <a:fld id="{2D2E21AF-C930-424A-866C-91B6CE8F45FB}" type="slidenum">
              <a:rPr lang="en-IN" smtClean="0"/>
              <a:t>‹#›</a:t>
            </a:fld>
            <a:endParaRPr lang="en-IN"/>
          </a:p>
        </p:txBody>
      </p:sp>
    </p:spTree>
    <p:extLst>
      <p:ext uri="{BB962C8B-B14F-4D97-AF65-F5344CB8AC3E}">
        <p14:creationId xmlns:p14="http://schemas.microsoft.com/office/powerpoint/2010/main" val="1313945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89622C-E229-221A-E638-F025990F6A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849E99-E1A2-7504-B628-0D4EBBB8A4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519E03-522D-9A9D-C057-82EABA9A3594}"/>
              </a:ext>
            </a:extLst>
          </p:cNvPr>
          <p:cNvSpPr>
            <a:spLocks noGrp="1"/>
          </p:cNvSpPr>
          <p:nvPr>
            <p:ph type="dt" sz="half" idx="10"/>
          </p:nvPr>
        </p:nvSpPr>
        <p:spPr/>
        <p:txBody>
          <a:bodyPr/>
          <a:lstStyle/>
          <a:p>
            <a:fld id="{B13E5D2A-554A-4B99-A3DE-7CFE6296D5EB}" type="datetimeFigureOut">
              <a:rPr lang="en-IN" smtClean="0"/>
              <a:t>03-09-2024</a:t>
            </a:fld>
            <a:endParaRPr lang="en-IN"/>
          </a:p>
        </p:txBody>
      </p:sp>
      <p:sp>
        <p:nvSpPr>
          <p:cNvPr id="5" name="Footer Placeholder 4">
            <a:extLst>
              <a:ext uri="{FF2B5EF4-FFF2-40B4-BE49-F238E27FC236}">
                <a16:creationId xmlns:a16="http://schemas.microsoft.com/office/drawing/2014/main" id="{BA03976C-81D2-D9C6-DFCE-714B967354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A95A8F-25C4-12D4-B033-AA8D6C47645A}"/>
              </a:ext>
            </a:extLst>
          </p:cNvPr>
          <p:cNvSpPr>
            <a:spLocks noGrp="1"/>
          </p:cNvSpPr>
          <p:nvPr>
            <p:ph type="sldNum" sz="quarter" idx="12"/>
          </p:nvPr>
        </p:nvSpPr>
        <p:spPr/>
        <p:txBody>
          <a:bodyPr/>
          <a:lstStyle/>
          <a:p>
            <a:fld id="{2D2E21AF-C930-424A-866C-91B6CE8F45FB}" type="slidenum">
              <a:rPr lang="en-IN" smtClean="0"/>
              <a:t>‹#›</a:t>
            </a:fld>
            <a:endParaRPr lang="en-IN"/>
          </a:p>
        </p:txBody>
      </p:sp>
    </p:spTree>
    <p:extLst>
      <p:ext uri="{BB962C8B-B14F-4D97-AF65-F5344CB8AC3E}">
        <p14:creationId xmlns:p14="http://schemas.microsoft.com/office/powerpoint/2010/main" val="3305970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4617EF-3B6F-D15E-DD39-215CEC84AA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23693F-198F-28C5-9801-16A3720487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6FEB58-B643-0361-8E1E-F394CBD91D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3E5D2A-554A-4B99-A3DE-7CFE6296D5EB}" type="datetimeFigureOut">
              <a:rPr lang="en-IN" smtClean="0"/>
              <a:t>03-09-2024</a:t>
            </a:fld>
            <a:endParaRPr lang="en-IN"/>
          </a:p>
        </p:txBody>
      </p:sp>
      <p:sp>
        <p:nvSpPr>
          <p:cNvPr id="5" name="Footer Placeholder 4">
            <a:extLst>
              <a:ext uri="{FF2B5EF4-FFF2-40B4-BE49-F238E27FC236}">
                <a16:creationId xmlns:a16="http://schemas.microsoft.com/office/drawing/2014/main" id="{E51361DC-98F1-9CF6-74D3-A4E0315C40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50DD45F-1403-DF17-2283-DFA9A51F69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2E21AF-C930-424A-866C-91B6CE8F45FB}" type="slidenum">
              <a:rPr lang="en-IN" smtClean="0"/>
              <a:t>‹#›</a:t>
            </a:fld>
            <a:endParaRPr lang="en-IN"/>
          </a:p>
        </p:txBody>
      </p:sp>
    </p:spTree>
    <p:extLst>
      <p:ext uri="{BB962C8B-B14F-4D97-AF65-F5344CB8AC3E}">
        <p14:creationId xmlns:p14="http://schemas.microsoft.com/office/powerpoint/2010/main" val="4021362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125D1F9-F70D-17CA-1365-894C01A7D3F4}"/>
              </a:ext>
            </a:extLst>
          </p:cNvPr>
          <p:cNvSpPr>
            <a:spLocks noGrp="1"/>
          </p:cNvSpPr>
          <p:nvPr>
            <p:ph type="subTitle" idx="1"/>
          </p:nvPr>
        </p:nvSpPr>
        <p:spPr>
          <a:xfrm>
            <a:off x="1280808" y="226541"/>
            <a:ext cx="9144000" cy="648949"/>
          </a:xfrm>
        </p:spPr>
        <p:txBody>
          <a:bodyPr/>
          <a:lstStyle/>
          <a:p>
            <a:r>
              <a:rPr lang="en-IN" sz="4000" b="1" i="0" dirty="0">
                <a:solidFill>
                  <a:srgbClr val="FF0000"/>
                </a:solidFill>
                <a:effectLst/>
                <a:highlight>
                  <a:srgbClr val="FFFFFF"/>
                </a:highlight>
                <a:latin typeface="erdana"/>
              </a:rPr>
              <a:t>Three schema Architecture</a:t>
            </a:r>
          </a:p>
          <a:p>
            <a:endParaRPr lang="en-IN" dirty="0"/>
          </a:p>
        </p:txBody>
      </p:sp>
      <p:sp>
        <p:nvSpPr>
          <p:cNvPr id="7" name="TextBox 6">
            <a:extLst>
              <a:ext uri="{FF2B5EF4-FFF2-40B4-BE49-F238E27FC236}">
                <a16:creationId xmlns:a16="http://schemas.microsoft.com/office/drawing/2014/main" id="{4056CAD2-D091-AA62-E17A-F87DF72B3A3D}"/>
              </a:ext>
            </a:extLst>
          </p:cNvPr>
          <p:cNvSpPr txBox="1"/>
          <p:nvPr/>
        </p:nvSpPr>
        <p:spPr>
          <a:xfrm>
            <a:off x="342898" y="1625889"/>
            <a:ext cx="11320565" cy="4524315"/>
          </a:xfrm>
          <a:prstGeom prst="rect">
            <a:avLst/>
          </a:prstGeom>
          <a:noFill/>
        </p:spPr>
        <p:txBody>
          <a:bodyPr wrap="square">
            <a:spAutoFit/>
          </a:bodyPr>
          <a:lstStyle/>
          <a:p>
            <a:pPr algn="just">
              <a:buFont typeface="Arial" panose="020B0604020202020204" pitchFamily="34" charset="0"/>
              <a:buChar char="•"/>
            </a:pPr>
            <a:r>
              <a:rPr lang="en-US" sz="3600" b="0" i="0" dirty="0">
                <a:solidFill>
                  <a:srgbClr val="000000"/>
                </a:solidFill>
                <a:effectLst/>
                <a:highlight>
                  <a:srgbClr val="FFFFFF"/>
                </a:highlight>
                <a:latin typeface="inter-regular"/>
              </a:rPr>
              <a:t>The </a:t>
            </a:r>
            <a:r>
              <a:rPr lang="en-US" sz="3600" dirty="0">
                <a:solidFill>
                  <a:srgbClr val="FF0000"/>
                </a:solidFill>
                <a:highlight>
                  <a:srgbClr val="FFFFFF"/>
                </a:highlight>
                <a:latin typeface="inter-regular"/>
              </a:rPr>
              <a:t>T</a:t>
            </a:r>
            <a:r>
              <a:rPr lang="en-US" sz="3600" b="0" i="0" dirty="0">
                <a:solidFill>
                  <a:srgbClr val="FF0000"/>
                </a:solidFill>
                <a:effectLst/>
                <a:highlight>
                  <a:srgbClr val="FFFFFF"/>
                </a:highlight>
                <a:latin typeface="inter-regular"/>
              </a:rPr>
              <a:t>hree schema </a:t>
            </a:r>
            <a:r>
              <a:rPr lang="en-US" sz="3600" b="0" i="0" dirty="0">
                <a:solidFill>
                  <a:srgbClr val="000000"/>
                </a:solidFill>
                <a:effectLst/>
                <a:highlight>
                  <a:srgbClr val="FFFFFF"/>
                </a:highlight>
                <a:latin typeface="inter-regular"/>
              </a:rPr>
              <a:t>architecture is also called </a:t>
            </a:r>
            <a:r>
              <a:rPr lang="en-US" sz="3600" b="0" i="0" dirty="0">
                <a:solidFill>
                  <a:srgbClr val="FF0000"/>
                </a:solidFill>
                <a:effectLst/>
                <a:highlight>
                  <a:srgbClr val="FFFFFF"/>
                </a:highlight>
                <a:latin typeface="inter-regular"/>
              </a:rPr>
              <a:t>ANSI/SPARC </a:t>
            </a:r>
            <a:r>
              <a:rPr lang="en-US" sz="3600" b="0" i="0" dirty="0">
                <a:solidFill>
                  <a:srgbClr val="000000"/>
                </a:solidFill>
                <a:effectLst/>
                <a:highlight>
                  <a:srgbClr val="FFFFFF"/>
                </a:highlight>
                <a:latin typeface="inter-regular"/>
              </a:rPr>
              <a:t>architecture or </a:t>
            </a:r>
            <a:r>
              <a:rPr lang="en-US" sz="3600" b="0" i="0" dirty="0">
                <a:solidFill>
                  <a:srgbClr val="FF0000"/>
                </a:solidFill>
                <a:effectLst/>
                <a:highlight>
                  <a:srgbClr val="FFFFFF"/>
                </a:highlight>
                <a:latin typeface="inter-regular"/>
              </a:rPr>
              <a:t>three-level architecture</a:t>
            </a:r>
            <a:r>
              <a:rPr lang="en-US" sz="3600" b="0" i="0" dirty="0">
                <a:solidFill>
                  <a:srgbClr val="000000"/>
                </a:solidFill>
                <a:effectLst/>
                <a:highlight>
                  <a:srgbClr val="FFFFFF"/>
                </a:highlight>
                <a:latin typeface="inter-regular"/>
              </a:rPr>
              <a:t>.</a:t>
            </a:r>
          </a:p>
          <a:p>
            <a:pPr algn="just">
              <a:buFont typeface="Arial" panose="020B0604020202020204" pitchFamily="34" charset="0"/>
              <a:buChar char="•"/>
            </a:pPr>
            <a:r>
              <a:rPr lang="en-US" sz="3600" b="0" i="0" dirty="0">
                <a:solidFill>
                  <a:srgbClr val="000000"/>
                </a:solidFill>
                <a:effectLst/>
                <a:highlight>
                  <a:srgbClr val="FFFFFF"/>
                </a:highlight>
                <a:latin typeface="inter-regular"/>
              </a:rPr>
              <a:t>This </a:t>
            </a:r>
            <a:r>
              <a:rPr lang="en-IN" sz="3600" b="1" i="0" dirty="0">
                <a:solidFill>
                  <a:srgbClr val="FF0000"/>
                </a:solidFill>
                <a:effectLst/>
                <a:highlight>
                  <a:srgbClr val="FFFFFF"/>
                </a:highlight>
                <a:latin typeface="erdana"/>
              </a:rPr>
              <a:t>schema</a:t>
            </a:r>
            <a:r>
              <a:rPr lang="en-US" sz="3600" b="0" i="0" dirty="0">
                <a:solidFill>
                  <a:srgbClr val="000000"/>
                </a:solidFill>
                <a:effectLst/>
                <a:highlight>
                  <a:srgbClr val="FFFFFF"/>
                </a:highlight>
                <a:latin typeface="inter-regular"/>
              </a:rPr>
              <a:t> is used to describe the structure of a specific database system.</a:t>
            </a:r>
          </a:p>
          <a:p>
            <a:pPr algn="just">
              <a:buFont typeface="Arial" panose="020B0604020202020204" pitchFamily="34" charset="0"/>
              <a:buChar char="•"/>
            </a:pPr>
            <a:r>
              <a:rPr lang="en-US" sz="3600" b="0" i="0" dirty="0">
                <a:solidFill>
                  <a:srgbClr val="000000"/>
                </a:solidFill>
                <a:effectLst/>
                <a:highlight>
                  <a:srgbClr val="FFFFFF"/>
                </a:highlight>
                <a:latin typeface="inter-regular"/>
              </a:rPr>
              <a:t>The three-schema architecture is also used to separate the </a:t>
            </a:r>
            <a:r>
              <a:rPr lang="en-US" sz="3600" b="0" i="0" dirty="0">
                <a:solidFill>
                  <a:srgbClr val="FF0000"/>
                </a:solidFill>
                <a:effectLst/>
                <a:highlight>
                  <a:srgbClr val="FFFFFF"/>
                </a:highlight>
                <a:latin typeface="inter-regular"/>
              </a:rPr>
              <a:t>user applications </a:t>
            </a:r>
            <a:r>
              <a:rPr lang="en-US" sz="3600" b="0" i="0" dirty="0">
                <a:solidFill>
                  <a:srgbClr val="000000"/>
                </a:solidFill>
                <a:effectLst/>
                <a:highlight>
                  <a:srgbClr val="FFFFFF"/>
                </a:highlight>
                <a:latin typeface="inter-regular"/>
              </a:rPr>
              <a:t>from </a:t>
            </a:r>
            <a:r>
              <a:rPr lang="en-US" sz="3600" b="0" i="0" dirty="0">
                <a:solidFill>
                  <a:srgbClr val="FF0000"/>
                </a:solidFill>
                <a:effectLst/>
                <a:highlight>
                  <a:srgbClr val="FFFFFF"/>
                </a:highlight>
                <a:latin typeface="inter-regular"/>
              </a:rPr>
              <a:t>physical database</a:t>
            </a:r>
            <a:r>
              <a:rPr lang="en-US" sz="3600" b="0" i="0" dirty="0">
                <a:solidFill>
                  <a:srgbClr val="000000"/>
                </a:solidFill>
                <a:effectLst/>
                <a:highlight>
                  <a:srgbClr val="FFFFFF"/>
                </a:highlight>
                <a:latin typeface="inter-regular"/>
              </a:rPr>
              <a:t>.</a:t>
            </a:r>
          </a:p>
          <a:p>
            <a:pPr algn="just">
              <a:buFont typeface="Arial" panose="020B0604020202020204" pitchFamily="34" charset="0"/>
              <a:buChar char="•"/>
            </a:pPr>
            <a:r>
              <a:rPr lang="en-US" sz="3600" b="0" i="0" dirty="0">
                <a:solidFill>
                  <a:srgbClr val="000000"/>
                </a:solidFill>
                <a:effectLst/>
                <a:highlight>
                  <a:srgbClr val="FFFFFF"/>
                </a:highlight>
                <a:latin typeface="inter-regular"/>
              </a:rPr>
              <a:t>The three-schema architecture contains three-levels. It breaks the database down into three different categories.</a:t>
            </a:r>
          </a:p>
        </p:txBody>
      </p:sp>
    </p:spTree>
    <p:extLst>
      <p:ext uri="{BB962C8B-B14F-4D97-AF65-F5344CB8AC3E}">
        <p14:creationId xmlns:p14="http://schemas.microsoft.com/office/powerpoint/2010/main" val="2943233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BMS Three schema Architecture">
            <a:extLst>
              <a:ext uri="{FF2B5EF4-FFF2-40B4-BE49-F238E27FC236}">
                <a16:creationId xmlns:a16="http://schemas.microsoft.com/office/drawing/2014/main" id="{79B15B31-4D8E-2996-003A-3910C385FE8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559" y="179941"/>
            <a:ext cx="9904881" cy="6498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3076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11AC7D-0987-6066-0CDF-A6D76810BBD8}"/>
              </a:ext>
            </a:extLst>
          </p:cNvPr>
          <p:cNvSpPr>
            <a:spLocks noGrp="1"/>
          </p:cNvSpPr>
          <p:nvPr>
            <p:ph idx="1"/>
          </p:nvPr>
        </p:nvSpPr>
        <p:spPr>
          <a:xfrm>
            <a:off x="321013" y="194553"/>
            <a:ext cx="11673191" cy="6517532"/>
          </a:xfrm>
        </p:spPr>
        <p:txBody>
          <a:bodyPr>
            <a:normAutofit/>
          </a:bodyPr>
          <a:lstStyle/>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Physical Level:</a:t>
            </a:r>
            <a:r>
              <a:rPr lang="en-US" b="0" i="0" dirty="0">
                <a:solidFill>
                  <a:srgbClr val="273239"/>
                </a:solidFill>
                <a:effectLst/>
                <a:highlight>
                  <a:srgbClr val="FFFFFF"/>
                </a:highlight>
                <a:latin typeface="Nunito" pitchFamily="2" charset="0"/>
              </a:rPr>
              <a:t> At the physical level, the information about the </a:t>
            </a:r>
            <a:r>
              <a:rPr lang="en-US" b="0" i="0" dirty="0">
                <a:solidFill>
                  <a:srgbClr val="FF0000"/>
                </a:solidFill>
                <a:effectLst/>
                <a:highlight>
                  <a:srgbClr val="FFFFFF"/>
                </a:highlight>
                <a:latin typeface="Nunito" pitchFamily="2" charset="0"/>
              </a:rPr>
              <a:t>location of database objects </a:t>
            </a:r>
            <a:r>
              <a:rPr lang="en-US" b="0" i="0" dirty="0">
                <a:solidFill>
                  <a:srgbClr val="273239"/>
                </a:solidFill>
                <a:effectLst/>
                <a:highlight>
                  <a:srgbClr val="FFFFFF"/>
                </a:highlight>
                <a:latin typeface="Nunito" pitchFamily="2" charset="0"/>
              </a:rPr>
              <a:t>store is kept. Various users of DBMS are unaware of the locations of these objects. In simple terms, physical level of a database describes </a:t>
            </a:r>
            <a:r>
              <a:rPr lang="en-US" b="0" i="0" dirty="0">
                <a:solidFill>
                  <a:srgbClr val="FF0000"/>
                </a:solidFill>
                <a:effectLst/>
                <a:highlight>
                  <a:srgbClr val="FFFFFF"/>
                </a:highlight>
                <a:latin typeface="Nunito" pitchFamily="2" charset="0"/>
              </a:rPr>
              <a:t>how the data is being stored in secondary storage </a:t>
            </a:r>
            <a:r>
              <a:rPr lang="en-US" b="0" i="0" dirty="0">
                <a:solidFill>
                  <a:srgbClr val="273239"/>
                </a:solidFill>
                <a:effectLst/>
                <a:highlight>
                  <a:srgbClr val="FFFFFF"/>
                </a:highlight>
                <a:latin typeface="Nunito" pitchFamily="2" charset="0"/>
              </a:rPr>
              <a:t>devices like </a:t>
            </a:r>
            <a:r>
              <a:rPr lang="en-US" b="0" i="0" dirty="0">
                <a:solidFill>
                  <a:srgbClr val="FF0000"/>
                </a:solidFill>
                <a:effectLst/>
                <a:highlight>
                  <a:srgbClr val="FFFFFF"/>
                </a:highlight>
                <a:latin typeface="Nunito" pitchFamily="2" charset="0"/>
              </a:rPr>
              <a:t>disks and tapes </a:t>
            </a:r>
            <a:r>
              <a:rPr lang="en-US" b="0" i="0" dirty="0">
                <a:solidFill>
                  <a:srgbClr val="273239"/>
                </a:solidFill>
                <a:effectLst/>
                <a:highlight>
                  <a:srgbClr val="FFFFFF"/>
                </a:highlight>
                <a:latin typeface="Nunito" pitchFamily="2" charset="0"/>
              </a:rPr>
              <a:t>and also gives insights on additional storage details.</a:t>
            </a:r>
          </a:p>
          <a:p>
            <a:pPr algn="l" fontAlgn="base">
              <a:buFont typeface="Arial" panose="020B0604020202020204" pitchFamily="34" charset="0"/>
              <a:buChar char="•"/>
            </a:pP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Conceptual Level: </a:t>
            </a:r>
            <a:r>
              <a:rPr lang="en-US" b="0" i="0" dirty="0">
                <a:solidFill>
                  <a:srgbClr val="273239"/>
                </a:solidFill>
                <a:effectLst/>
                <a:highlight>
                  <a:srgbClr val="FFFFFF"/>
                </a:highlight>
                <a:latin typeface="Nunito" pitchFamily="2" charset="0"/>
              </a:rPr>
              <a:t>At conceptual level, data is represented </a:t>
            </a:r>
            <a:r>
              <a:rPr lang="en-US" b="0" i="0" dirty="0">
                <a:solidFill>
                  <a:srgbClr val="FF0000"/>
                </a:solidFill>
                <a:effectLst/>
                <a:highlight>
                  <a:srgbClr val="FFFFFF"/>
                </a:highlight>
                <a:latin typeface="Nunito" pitchFamily="2" charset="0"/>
              </a:rPr>
              <a:t>in the form of various database tables</a:t>
            </a:r>
            <a:r>
              <a:rPr lang="en-US" b="0" i="0" dirty="0">
                <a:solidFill>
                  <a:srgbClr val="273239"/>
                </a:solidFill>
                <a:effectLst/>
                <a:highlight>
                  <a:srgbClr val="FFFFFF"/>
                </a:highlight>
                <a:latin typeface="Nunito" pitchFamily="2" charset="0"/>
              </a:rPr>
              <a:t>. For Example, STUDENT database may contain STUDENT and COURSE tables which will be visible to users, but users are unaware of their storage. Also referred as logical schema, it describes </a:t>
            </a:r>
            <a:r>
              <a:rPr lang="en-US" b="0" i="0" dirty="0">
                <a:solidFill>
                  <a:srgbClr val="FF0000"/>
                </a:solidFill>
                <a:effectLst/>
                <a:highlight>
                  <a:srgbClr val="FFFFFF"/>
                </a:highlight>
                <a:latin typeface="Nunito" pitchFamily="2" charset="0"/>
              </a:rPr>
              <a:t>what kind of data is to be stored in the database</a:t>
            </a:r>
            <a:r>
              <a:rPr lang="en-US" b="0" i="0" dirty="0">
                <a:solidFill>
                  <a:srgbClr val="273239"/>
                </a:solidFill>
                <a:effectLst/>
                <a:highlight>
                  <a:srgbClr val="FFFFFF"/>
                </a:highlight>
                <a:latin typeface="Nunito" pitchFamily="2" charset="0"/>
              </a:rPr>
              <a:t>.</a:t>
            </a:r>
          </a:p>
          <a:p>
            <a:pPr marL="0" indent="0" algn="l" fontAlgn="base">
              <a:buNone/>
            </a:pPr>
            <a:endParaRPr lang="en-US" b="0" i="0" dirty="0">
              <a:solidFill>
                <a:srgbClr val="273239"/>
              </a:solidFill>
              <a:effectLst/>
              <a:highlight>
                <a:srgbClr val="FFFFFF"/>
              </a:highlight>
              <a:latin typeface="Nunito" pitchFamily="2" charset="0"/>
            </a:endParaRPr>
          </a:p>
          <a:p>
            <a:endParaRPr lang="en-IN" dirty="0"/>
          </a:p>
        </p:txBody>
      </p:sp>
    </p:spTree>
    <p:extLst>
      <p:ext uri="{BB962C8B-B14F-4D97-AF65-F5344CB8AC3E}">
        <p14:creationId xmlns:p14="http://schemas.microsoft.com/office/powerpoint/2010/main" val="1555176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EE7385-CA61-02DD-CBB1-0E7E35AFAC25}"/>
              </a:ext>
            </a:extLst>
          </p:cNvPr>
          <p:cNvSpPr>
            <a:spLocks noGrp="1"/>
          </p:cNvSpPr>
          <p:nvPr>
            <p:ph idx="1"/>
          </p:nvPr>
        </p:nvSpPr>
        <p:spPr>
          <a:xfrm>
            <a:off x="282102" y="330740"/>
            <a:ext cx="11071698" cy="5846223"/>
          </a:xfrm>
        </p:spPr>
        <p:txBody>
          <a:bodyPr/>
          <a:lstStyle/>
          <a:p>
            <a:r>
              <a:rPr lang="en-US" b="1" i="0" dirty="0">
                <a:solidFill>
                  <a:srgbClr val="273239"/>
                </a:solidFill>
                <a:effectLst/>
                <a:highlight>
                  <a:srgbClr val="FFFFFF"/>
                </a:highlight>
                <a:latin typeface="Nunito" pitchFamily="2" charset="0"/>
              </a:rPr>
              <a:t>External Level: </a:t>
            </a:r>
            <a:r>
              <a:rPr lang="en-US" b="0" i="0" dirty="0">
                <a:solidFill>
                  <a:srgbClr val="273239"/>
                </a:solidFill>
                <a:effectLst/>
                <a:highlight>
                  <a:srgbClr val="FFFFFF"/>
                </a:highlight>
                <a:latin typeface="Nunito" pitchFamily="2" charset="0"/>
              </a:rPr>
              <a:t> An external level specifies a </a:t>
            </a:r>
            <a:r>
              <a:rPr lang="en-US" b="0" i="0" dirty="0">
                <a:solidFill>
                  <a:srgbClr val="FF0000"/>
                </a:solidFill>
                <a:effectLst/>
                <a:highlight>
                  <a:srgbClr val="FFFFFF"/>
                </a:highlight>
                <a:latin typeface="Nunito" pitchFamily="2" charset="0"/>
              </a:rPr>
              <a:t>view of the data </a:t>
            </a:r>
            <a:r>
              <a:rPr lang="en-US" b="0" i="0" dirty="0">
                <a:solidFill>
                  <a:srgbClr val="273239"/>
                </a:solidFill>
                <a:effectLst/>
                <a:highlight>
                  <a:srgbClr val="FFFFFF"/>
                </a:highlight>
                <a:latin typeface="Nunito" pitchFamily="2" charset="0"/>
              </a:rPr>
              <a:t>in terms of conceptual level tables.  Each external level view is used to cater to the needs of </a:t>
            </a:r>
            <a:r>
              <a:rPr lang="en-US" b="0" i="0" dirty="0">
                <a:solidFill>
                  <a:srgbClr val="FF0000"/>
                </a:solidFill>
                <a:effectLst/>
                <a:highlight>
                  <a:srgbClr val="FFFFFF"/>
                </a:highlight>
                <a:latin typeface="Nunito" pitchFamily="2" charset="0"/>
              </a:rPr>
              <a:t>a particular category of users</a:t>
            </a:r>
            <a:r>
              <a:rPr lang="en-US" b="0" i="0" dirty="0">
                <a:solidFill>
                  <a:srgbClr val="273239"/>
                </a:solidFill>
                <a:effectLst/>
                <a:highlight>
                  <a:srgbClr val="FFFFFF"/>
                </a:highlight>
                <a:latin typeface="Nunito" pitchFamily="2" charset="0"/>
              </a:rPr>
              <a:t>. </a:t>
            </a:r>
          </a:p>
          <a:p>
            <a:r>
              <a:rPr lang="en-US" b="0" i="0" dirty="0">
                <a:solidFill>
                  <a:srgbClr val="273239"/>
                </a:solidFill>
                <a:effectLst/>
                <a:highlight>
                  <a:srgbClr val="FFFFFF"/>
                </a:highlight>
                <a:latin typeface="Nunito" pitchFamily="2" charset="0"/>
              </a:rPr>
              <a:t>For Example, FACULTY of a university is interested in looking course details of students, STUDENTS are interested in looking at all details related to academics, accounts, courses and hostel details as well. So, different views can be generated for different users. </a:t>
            </a:r>
          </a:p>
          <a:p>
            <a:r>
              <a:rPr lang="en-US" b="0" i="0" dirty="0">
                <a:solidFill>
                  <a:srgbClr val="273239"/>
                </a:solidFill>
                <a:effectLst/>
                <a:highlight>
                  <a:srgbClr val="FFFFFF"/>
                </a:highlight>
                <a:latin typeface="Nunito" pitchFamily="2" charset="0"/>
              </a:rPr>
              <a:t>The main focus of external level is data abstraction</a:t>
            </a:r>
            <a:endParaRPr lang="en-IN" dirty="0"/>
          </a:p>
        </p:txBody>
      </p:sp>
    </p:spTree>
    <p:extLst>
      <p:ext uri="{BB962C8B-B14F-4D97-AF65-F5344CB8AC3E}">
        <p14:creationId xmlns:p14="http://schemas.microsoft.com/office/powerpoint/2010/main" val="1672412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AEE8B-C0BC-A45A-9401-35DE2A2F463B}"/>
              </a:ext>
            </a:extLst>
          </p:cNvPr>
          <p:cNvSpPr>
            <a:spLocks noGrp="1"/>
          </p:cNvSpPr>
          <p:nvPr>
            <p:ph type="title"/>
          </p:nvPr>
        </p:nvSpPr>
        <p:spPr>
          <a:xfrm>
            <a:off x="838200" y="365126"/>
            <a:ext cx="10515600" cy="870288"/>
          </a:xfrm>
        </p:spPr>
        <p:txBody>
          <a:bodyPr>
            <a:normAutofit fontScale="90000"/>
          </a:bodyPr>
          <a:lstStyle/>
          <a:p>
            <a:pPr algn="ctr"/>
            <a:r>
              <a:rPr lang="en-US" b="1" i="0" dirty="0">
                <a:solidFill>
                  <a:srgbClr val="273239"/>
                </a:solidFill>
                <a:effectLst/>
                <a:highlight>
                  <a:srgbClr val="FFFFFF"/>
                </a:highlight>
                <a:latin typeface="Nunito" pitchFamily="2" charset="0"/>
              </a:rPr>
              <a:t>Data Independence</a:t>
            </a:r>
            <a:br>
              <a:rPr lang="en-US" b="1" i="0" dirty="0">
                <a:solidFill>
                  <a:srgbClr val="273239"/>
                </a:solidFill>
                <a:effectLst/>
                <a:highlight>
                  <a:srgbClr val="FFFFFF"/>
                </a:highlight>
                <a:latin typeface="Nunito" pitchFamily="2" charset="0"/>
              </a:rPr>
            </a:br>
            <a:endParaRPr lang="en-IN" dirty="0"/>
          </a:p>
        </p:txBody>
      </p:sp>
      <p:sp>
        <p:nvSpPr>
          <p:cNvPr id="3" name="Content Placeholder 2">
            <a:extLst>
              <a:ext uri="{FF2B5EF4-FFF2-40B4-BE49-F238E27FC236}">
                <a16:creationId xmlns:a16="http://schemas.microsoft.com/office/drawing/2014/main" id="{1E717583-AAB0-1866-87CE-3E53935A2A74}"/>
              </a:ext>
            </a:extLst>
          </p:cNvPr>
          <p:cNvSpPr>
            <a:spLocks noGrp="1"/>
          </p:cNvSpPr>
          <p:nvPr>
            <p:ph idx="1"/>
          </p:nvPr>
        </p:nvSpPr>
        <p:spPr>
          <a:xfrm>
            <a:off x="175097" y="924128"/>
            <a:ext cx="11848289" cy="5856051"/>
          </a:xfrm>
        </p:spPr>
        <p:txBody>
          <a:bodyPr>
            <a:normAutofit/>
          </a:bodyPr>
          <a:lstStyle/>
          <a:p>
            <a:pPr marL="0" indent="0" algn="just" rtl="0" fontAlgn="base">
              <a:buNone/>
            </a:pPr>
            <a:r>
              <a:rPr lang="en-US" b="0" i="0" dirty="0">
                <a:solidFill>
                  <a:srgbClr val="273239"/>
                </a:solidFill>
                <a:effectLst/>
                <a:highlight>
                  <a:srgbClr val="FFFFFF"/>
                </a:highlight>
                <a:latin typeface="Nunito" pitchFamily="2" charset="0"/>
              </a:rPr>
              <a:t>Data independence means a </a:t>
            </a:r>
            <a:r>
              <a:rPr lang="en-US" b="0" i="0" dirty="0">
                <a:solidFill>
                  <a:srgbClr val="FF0000"/>
                </a:solidFill>
                <a:effectLst/>
                <a:highlight>
                  <a:srgbClr val="FFFFFF"/>
                </a:highlight>
                <a:latin typeface="Nunito" pitchFamily="2" charset="0"/>
              </a:rPr>
              <a:t>change of data at one level should not affect another level</a:t>
            </a:r>
            <a:r>
              <a:rPr lang="en-US" b="0" i="0" dirty="0">
                <a:solidFill>
                  <a:srgbClr val="273239"/>
                </a:solidFill>
                <a:effectLst/>
                <a:highlight>
                  <a:srgbClr val="FFFFFF"/>
                </a:highlight>
                <a:latin typeface="Nunito" pitchFamily="2" charset="0"/>
              </a:rPr>
              <a:t>. Two types of data independence are present in this architecture:</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Physical Data Independence:</a:t>
            </a:r>
            <a:r>
              <a:rPr lang="en-US" b="0" i="0" dirty="0">
                <a:solidFill>
                  <a:srgbClr val="273239"/>
                </a:solidFill>
                <a:effectLst/>
                <a:highlight>
                  <a:srgbClr val="FFFFFF"/>
                </a:highlight>
                <a:latin typeface="Nunito" pitchFamily="2" charset="0"/>
              </a:rPr>
              <a:t> Any </a:t>
            </a:r>
            <a:r>
              <a:rPr lang="en-US" b="0" i="0" dirty="0">
                <a:solidFill>
                  <a:srgbClr val="FF0000"/>
                </a:solidFill>
                <a:effectLst/>
                <a:highlight>
                  <a:srgbClr val="FFFFFF"/>
                </a:highlight>
                <a:latin typeface="Nunito" pitchFamily="2" charset="0"/>
              </a:rPr>
              <a:t>change in the physical location of tables and indexes should not affect the conceptual level </a:t>
            </a:r>
            <a:r>
              <a:rPr lang="en-US" b="0" i="0" dirty="0">
                <a:solidFill>
                  <a:srgbClr val="273239"/>
                </a:solidFill>
                <a:effectLst/>
                <a:highlight>
                  <a:srgbClr val="FFFFFF"/>
                </a:highlight>
                <a:latin typeface="Nunito" pitchFamily="2" charset="0"/>
              </a:rPr>
              <a:t>or external view of data. This data independence is easy to achieve and implemented by most of the DBMS.</a:t>
            </a:r>
          </a:p>
          <a:p>
            <a:endParaRPr lang="en-IN" dirty="0"/>
          </a:p>
        </p:txBody>
      </p:sp>
    </p:spTree>
    <p:extLst>
      <p:ext uri="{BB962C8B-B14F-4D97-AF65-F5344CB8AC3E}">
        <p14:creationId xmlns:p14="http://schemas.microsoft.com/office/powerpoint/2010/main" val="502976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049B4D-8504-BEE0-8A26-4D899C82B4CF}"/>
              </a:ext>
            </a:extLst>
          </p:cNvPr>
          <p:cNvSpPr>
            <a:spLocks noGrp="1"/>
          </p:cNvSpPr>
          <p:nvPr>
            <p:ph idx="1"/>
          </p:nvPr>
        </p:nvSpPr>
        <p:spPr>
          <a:xfrm>
            <a:off x="379379" y="418289"/>
            <a:ext cx="11527276" cy="5758674"/>
          </a:xfrm>
        </p:spPr>
        <p:txBody>
          <a:bodyPr/>
          <a:lstStyle/>
          <a:p>
            <a:r>
              <a:rPr lang="en-US" b="1" i="0" dirty="0">
                <a:solidFill>
                  <a:srgbClr val="273239"/>
                </a:solidFill>
                <a:effectLst/>
                <a:highlight>
                  <a:srgbClr val="FFFFFF"/>
                </a:highlight>
                <a:latin typeface="Nunito" pitchFamily="2" charset="0"/>
              </a:rPr>
              <a:t>Conceptual Data Independence:</a:t>
            </a:r>
            <a:r>
              <a:rPr lang="en-US" b="0" i="0" dirty="0">
                <a:solidFill>
                  <a:srgbClr val="273239"/>
                </a:solidFill>
                <a:effectLst/>
                <a:highlight>
                  <a:srgbClr val="FFFFFF"/>
                </a:highlight>
                <a:latin typeface="Nunito" pitchFamily="2" charset="0"/>
              </a:rPr>
              <a:t> The data at conceptual level schema and external level schema must be independent. This means a change in </a:t>
            </a:r>
            <a:r>
              <a:rPr lang="en-US" b="0" i="0" dirty="0">
                <a:solidFill>
                  <a:srgbClr val="FF0000"/>
                </a:solidFill>
                <a:effectLst/>
                <a:highlight>
                  <a:srgbClr val="FFFFFF"/>
                </a:highlight>
                <a:latin typeface="Nunito" pitchFamily="2" charset="0"/>
              </a:rPr>
              <a:t>conceptual schema should not affect external schema</a:t>
            </a:r>
            <a:r>
              <a:rPr lang="en-US" b="0" i="0" dirty="0">
                <a:solidFill>
                  <a:srgbClr val="273239"/>
                </a:solidFill>
                <a:effectLst/>
                <a:highlight>
                  <a:srgbClr val="FFFFFF"/>
                </a:highlight>
                <a:latin typeface="Nunito" pitchFamily="2" charset="0"/>
              </a:rPr>
              <a:t>. e.g.; Adding or deleting attributes of a table should not affect the user’s view of the table. </a:t>
            </a:r>
            <a:r>
              <a:rPr lang="en-US" b="1" i="1" u="sng" dirty="0">
                <a:solidFill>
                  <a:srgbClr val="FF0000"/>
                </a:solidFill>
                <a:effectLst/>
                <a:highlight>
                  <a:srgbClr val="FFFFFF"/>
                </a:highlight>
                <a:latin typeface="Nunito" pitchFamily="2" charset="0"/>
              </a:rPr>
              <a:t>But</a:t>
            </a:r>
            <a:r>
              <a:rPr lang="en-US" b="0" i="0" dirty="0">
                <a:solidFill>
                  <a:srgbClr val="273239"/>
                </a:solidFill>
                <a:effectLst/>
                <a:highlight>
                  <a:srgbClr val="FFFFFF"/>
                </a:highlight>
                <a:latin typeface="Nunito" pitchFamily="2" charset="0"/>
              </a:rPr>
              <a:t> this type of independence is difficult to achieve as compared to physical data independence because the changes in conceptual schema are reflected in the user’s view.</a:t>
            </a:r>
          </a:p>
          <a:p>
            <a:endParaRPr lang="en-IN" dirty="0"/>
          </a:p>
        </p:txBody>
      </p:sp>
    </p:spTree>
    <p:extLst>
      <p:ext uri="{BB962C8B-B14F-4D97-AF65-F5344CB8AC3E}">
        <p14:creationId xmlns:p14="http://schemas.microsoft.com/office/powerpoint/2010/main" val="84845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FCBE2B-BFFC-5D2B-8FD9-6996618642B9}"/>
              </a:ext>
            </a:extLst>
          </p:cNvPr>
          <p:cNvSpPr>
            <a:spLocks noGrp="1"/>
          </p:cNvSpPr>
          <p:nvPr>
            <p:ph idx="1"/>
          </p:nvPr>
        </p:nvSpPr>
        <p:spPr>
          <a:xfrm>
            <a:off x="87549" y="136186"/>
            <a:ext cx="11984477" cy="6721813"/>
          </a:xfrm>
        </p:spPr>
        <p:txBody>
          <a:bodyPr>
            <a:normAutofit/>
          </a:bodyPr>
          <a:lstStyle/>
          <a:p>
            <a:pPr marL="0" indent="0" algn="ctr" fontAlgn="base">
              <a:buNone/>
            </a:pPr>
            <a:r>
              <a:rPr lang="en-US" b="1" i="0" dirty="0">
                <a:solidFill>
                  <a:srgbClr val="FF0000"/>
                </a:solidFill>
                <a:effectLst/>
                <a:highlight>
                  <a:srgbClr val="FFFFFF"/>
                </a:highlight>
                <a:latin typeface="Nunito" pitchFamily="2" charset="0"/>
              </a:rPr>
              <a:t>Advantages of DBMS</a:t>
            </a:r>
          </a:p>
          <a:p>
            <a:pPr marL="0" indent="0" algn="just" rtl="0" fontAlgn="base">
              <a:buNone/>
            </a:pPr>
            <a:r>
              <a:rPr lang="en-US" b="0" i="0" dirty="0">
                <a:solidFill>
                  <a:srgbClr val="273239"/>
                </a:solidFill>
                <a:effectLst/>
                <a:highlight>
                  <a:srgbClr val="FFFFFF"/>
                </a:highlight>
                <a:latin typeface="Nunito" pitchFamily="2" charset="0"/>
              </a:rPr>
              <a:t>DBMS helps in efficient organization of data in database which has following advantages over typical file system:</a:t>
            </a:r>
          </a:p>
          <a:p>
            <a:pPr algn="just" rtl="0" fontAlgn="base"/>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FF0000"/>
                </a:solidFill>
                <a:effectLst/>
                <a:highlight>
                  <a:srgbClr val="FFFFFF"/>
                </a:highlight>
                <a:latin typeface="Nunito" pitchFamily="2" charset="0"/>
              </a:rPr>
              <a:t>Minimized redundancy and data inconsistency</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Data is normalized in DBMS to minimize the redundancy which helps in keeping data consistent. For Example, student information can be kept at one place in DBMS and accessed by different users. This minimized redundancy is due to primary key and foreign keys</a:t>
            </a:r>
          </a:p>
          <a:p>
            <a:pPr algn="l" fontAlgn="base">
              <a:buFont typeface="Arial" panose="020B0604020202020204" pitchFamily="34" charset="0"/>
              <a:buChar char="•"/>
            </a:pP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FF0000"/>
                </a:solidFill>
                <a:effectLst/>
                <a:highlight>
                  <a:srgbClr val="FFFFFF"/>
                </a:highlight>
                <a:latin typeface="Nunito" pitchFamily="2" charset="0"/>
              </a:rPr>
              <a:t>Simplified Data Access</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A user need only name of the relation not exact location to access data, so the process is very simple.</a:t>
            </a:r>
          </a:p>
          <a:p>
            <a:endParaRPr lang="en-IN" dirty="0"/>
          </a:p>
        </p:txBody>
      </p:sp>
    </p:spTree>
    <p:extLst>
      <p:ext uri="{BB962C8B-B14F-4D97-AF65-F5344CB8AC3E}">
        <p14:creationId xmlns:p14="http://schemas.microsoft.com/office/powerpoint/2010/main" val="662228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527CAF-11D1-FF1A-0B84-6FF7512FC854}"/>
              </a:ext>
            </a:extLst>
          </p:cNvPr>
          <p:cNvSpPr>
            <a:spLocks noGrp="1"/>
          </p:cNvSpPr>
          <p:nvPr>
            <p:ph idx="1"/>
          </p:nvPr>
        </p:nvSpPr>
        <p:spPr>
          <a:xfrm>
            <a:off x="321013" y="214009"/>
            <a:ext cx="11712102" cy="6381344"/>
          </a:xfrm>
        </p:spPr>
        <p:txBody>
          <a:bodyPr>
            <a:normAutofit/>
          </a:bodyPr>
          <a:lstStyle/>
          <a:p>
            <a:pPr algn="l" fontAlgn="base">
              <a:buFont typeface="Arial" panose="020B0604020202020204" pitchFamily="34" charset="0"/>
              <a:buChar char="•"/>
            </a:pPr>
            <a:r>
              <a:rPr lang="en-US" b="1" i="0" dirty="0">
                <a:solidFill>
                  <a:srgbClr val="FF0000"/>
                </a:solidFill>
                <a:effectLst/>
                <a:highlight>
                  <a:srgbClr val="FFFFFF"/>
                </a:highlight>
                <a:latin typeface="Nunito" pitchFamily="2" charset="0"/>
              </a:rPr>
              <a:t>Multiple data views</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Different views of same data can be created to fulfill the needs of different users. For Example, faculty salary information can be hidden from student view of data but shown in admin view.</a:t>
            </a:r>
          </a:p>
          <a:p>
            <a:pPr algn="l" fontAlgn="base">
              <a:buFont typeface="Arial" panose="020B0604020202020204" pitchFamily="34" charset="0"/>
              <a:buChar char="•"/>
            </a:pP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FF0000"/>
                </a:solidFill>
                <a:effectLst/>
                <a:highlight>
                  <a:srgbClr val="FFFFFF"/>
                </a:highlight>
                <a:latin typeface="Nunito" pitchFamily="2" charset="0"/>
              </a:rPr>
              <a:t>Data Security</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Only authorized users are allowed to access the data in DBMS. Also, data can be encrypted by DBMS which makes it secure.</a:t>
            </a:r>
          </a:p>
          <a:p>
            <a:pPr algn="l" fontAlgn="base">
              <a:buFont typeface="Arial" panose="020B0604020202020204" pitchFamily="34" charset="0"/>
              <a:buChar char="•"/>
            </a:pP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FF0000"/>
                </a:solidFill>
                <a:effectLst/>
                <a:highlight>
                  <a:srgbClr val="FFFFFF"/>
                </a:highlight>
                <a:latin typeface="Nunito" pitchFamily="2" charset="0"/>
              </a:rPr>
              <a:t>Concurrent access to data</a:t>
            </a:r>
            <a:r>
              <a:rPr lang="en-US" b="1" i="0" dirty="0">
                <a:solidFill>
                  <a:srgbClr val="273239"/>
                </a:solidFill>
                <a:effectLst/>
                <a:highlight>
                  <a:srgbClr val="FFFFFF"/>
                </a:highlight>
                <a:latin typeface="Nunito" pitchFamily="2" charset="0"/>
              </a:rPr>
              <a:t>: </a:t>
            </a:r>
            <a:r>
              <a:rPr lang="en-US" b="0" i="0" dirty="0">
                <a:solidFill>
                  <a:srgbClr val="273239"/>
                </a:solidFill>
                <a:effectLst/>
                <a:highlight>
                  <a:srgbClr val="FFFFFF"/>
                </a:highlight>
                <a:latin typeface="Nunito" pitchFamily="2" charset="0"/>
              </a:rPr>
              <a:t>Data can be accessed concurrently by different multiple users at same time in DBMS.</a:t>
            </a:r>
          </a:p>
          <a:p>
            <a:pPr algn="l" fontAlgn="base">
              <a:buFont typeface="Arial" panose="020B0604020202020204" pitchFamily="34" charset="0"/>
              <a:buChar char="•"/>
            </a:pP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FF0000"/>
                </a:solidFill>
                <a:effectLst/>
                <a:highlight>
                  <a:srgbClr val="FFFFFF"/>
                </a:highlight>
                <a:latin typeface="Nunito" pitchFamily="2" charset="0"/>
              </a:rPr>
              <a:t>Backup and Recovery mechanism</a:t>
            </a:r>
            <a:r>
              <a:rPr lang="en-US" b="1" i="0" dirty="0">
                <a:solidFill>
                  <a:srgbClr val="273239"/>
                </a:solidFill>
                <a:effectLst/>
                <a:highlight>
                  <a:srgbClr val="FFFFFF"/>
                </a:highlight>
                <a:latin typeface="Nunito" pitchFamily="2" charset="0"/>
              </a:rPr>
              <a:t>:</a:t>
            </a:r>
            <a:r>
              <a:rPr lang="en-US" b="0" i="0" dirty="0">
                <a:solidFill>
                  <a:srgbClr val="273239"/>
                </a:solidFill>
                <a:effectLst/>
                <a:highlight>
                  <a:srgbClr val="FFFFFF"/>
                </a:highlight>
                <a:latin typeface="Nunito" pitchFamily="2" charset="0"/>
              </a:rPr>
              <a:t> DBMS backup and recovery mechanism helps to avoid data loss and data inconsistency in case of catastrophic failures.</a:t>
            </a:r>
          </a:p>
          <a:p>
            <a:endParaRPr lang="en-IN" dirty="0"/>
          </a:p>
        </p:txBody>
      </p:sp>
    </p:spTree>
    <p:extLst>
      <p:ext uri="{BB962C8B-B14F-4D97-AF65-F5344CB8AC3E}">
        <p14:creationId xmlns:p14="http://schemas.microsoft.com/office/powerpoint/2010/main" val="1367838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6606AB-12C6-8EF3-D4E4-FCA6FD9864F0}"/>
              </a:ext>
            </a:extLst>
          </p:cNvPr>
          <p:cNvSpPr txBox="1"/>
          <p:nvPr/>
        </p:nvSpPr>
        <p:spPr>
          <a:xfrm>
            <a:off x="819555" y="394129"/>
            <a:ext cx="10571534" cy="830997"/>
          </a:xfrm>
          <a:prstGeom prst="rect">
            <a:avLst/>
          </a:prstGeom>
          <a:noFill/>
        </p:spPr>
        <p:txBody>
          <a:bodyPr wrap="square">
            <a:spAutoFit/>
          </a:bodyPr>
          <a:lstStyle/>
          <a:p>
            <a:pPr algn="l" fontAlgn="base"/>
            <a:r>
              <a:rPr lang="en-IN" sz="4800" b="1" i="0" dirty="0">
                <a:solidFill>
                  <a:srgbClr val="FF0000"/>
                </a:solidFill>
                <a:effectLst/>
                <a:latin typeface="Source Sans 3"/>
              </a:rPr>
              <a:t>Disadvantages of DBMS</a:t>
            </a:r>
          </a:p>
        </p:txBody>
      </p:sp>
      <p:sp>
        <p:nvSpPr>
          <p:cNvPr id="7" name="TextBox 6">
            <a:extLst>
              <a:ext uri="{FF2B5EF4-FFF2-40B4-BE49-F238E27FC236}">
                <a16:creationId xmlns:a16="http://schemas.microsoft.com/office/drawing/2014/main" id="{C09E492E-14BF-F280-D31D-AA1667755342}"/>
              </a:ext>
            </a:extLst>
          </p:cNvPr>
          <p:cNvSpPr txBox="1"/>
          <p:nvPr/>
        </p:nvSpPr>
        <p:spPr>
          <a:xfrm>
            <a:off x="252919" y="1337712"/>
            <a:ext cx="11721830" cy="5109091"/>
          </a:xfrm>
          <a:prstGeom prst="rect">
            <a:avLst/>
          </a:prstGeom>
          <a:noFill/>
        </p:spPr>
        <p:txBody>
          <a:bodyPr wrap="square">
            <a:spAutoFit/>
          </a:bodyPr>
          <a:lstStyle/>
          <a:p>
            <a:pPr marL="342900" indent="-342900" algn="l" fontAlgn="base">
              <a:buAutoNum type="arabicPeriod"/>
            </a:pPr>
            <a:r>
              <a:rPr lang="en-IN" sz="2800" b="1" i="0" dirty="0">
                <a:solidFill>
                  <a:srgbClr val="FF0000"/>
                </a:solidFill>
                <a:effectLst/>
                <a:latin typeface="Nunito" pitchFamily="2" charset="0"/>
              </a:rPr>
              <a:t>Increased Cost:</a:t>
            </a:r>
            <a:r>
              <a:rPr lang="en-US" sz="2800" b="1" i="0" dirty="0">
                <a:solidFill>
                  <a:srgbClr val="FF0000"/>
                </a:solidFill>
                <a:effectLst/>
                <a:latin typeface="Nunito" pitchFamily="2" charset="0"/>
              </a:rPr>
              <a:t>Cost of Hardware and Software</a:t>
            </a:r>
            <a:r>
              <a:rPr lang="en-US" sz="2800" b="0" i="0" dirty="0">
                <a:solidFill>
                  <a:srgbClr val="273239"/>
                </a:solidFill>
                <a:effectLst/>
                <a:latin typeface="Nunito" pitchFamily="2" charset="0"/>
              </a:rPr>
              <a:t>: high-speed processor and also a large memory size.</a:t>
            </a:r>
          </a:p>
          <a:p>
            <a:pPr marL="342900" indent="-342900" algn="l" fontAlgn="base">
              <a:buAutoNum type="arabicPeriod"/>
            </a:pPr>
            <a:endParaRPr lang="en-US" sz="2800" dirty="0">
              <a:solidFill>
                <a:srgbClr val="273239"/>
              </a:solidFill>
              <a:latin typeface="Nunito" pitchFamily="2" charset="0"/>
            </a:endParaRPr>
          </a:p>
          <a:p>
            <a:pPr marL="342900" indent="-342900" algn="l" fontAlgn="base">
              <a:buAutoNum type="arabicPeriod"/>
            </a:pPr>
            <a:r>
              <a:rPr lang="en-US" sz="2800" b="1" i="0" dirty="0">
                <a:solidFill>
                  <a:srgbClr val="FF0000"/>
                </a:solidFill>
                <a:effectLst/>
                <a:latin typeface="Nunito" pitchFamily="2" charset="0"/>
              </a:rPr>
              <a:t>Expensive an</a:t>
            </a:r>
            <a:r>
              <a:rPr lang="en-US" sz="2800" b="1" dirty="0">
                <a:solidFill>
                  <a:srgbClr val="FF0000"/>
                </a:solidFill>
                <a:latin typeface="Nunito" pitchFamily="2" charset="0"/>
              </a:rPr>
              <a:t>d </a:t>
            </a:r>
            <a:r>
              <a:rPr lang="en-IN" sz="2800" b="1" i="0" dirty="0">
                <a:solidFill>
                  <a:srgbClr val="FF0000"/>
                </a:solidFill>
                <a:effectLst/>
                <a:latin typeface="Nunito" pitchFamily="2" charset="0"/>
              </a:rPr>
              <a:t>sophisticated</a:t>
            </a:r>
            <a:r>
              <a:rPr lang="en-US" sz="2800" b="1" dirty="0">
                <a:solidFill>
                  <a:srgbClr val="FF0000"/>
                </a:solidFill>
                <a:latin typeface="Nunito" pitchFamily="2" charset="0"/>
              </a:rPr>
              <a:t> </a:t>
            </a:r>
            <a:r>
              <a:rPr lang="en-US" sz="2800" b="0" i="0" dirty="0">
                <a:solidFill>
                  <a:srgbClr val="273239"/>
                </a:solidFill>
                <a:effectLst/>
                <a:latin typeface="Nunito" pitchFamily="2" charset="0"/>
              </a:rPr>
              <a:t>hardware and software</a:t>
            </a:r>
          </a:p>
          <a:p>
            <a:pPr marL="342900" indent="-342900" algn="l" fontAlgn="base">
              <a:buAutoNum type="arabicPeriod"/>
            </a:pPr>
            <a:endParaRPr lang="en-US" sz="2800" b="1" i="0" dirty="0">
              <a:solidFill>
                <a:srgbClr val="273239"/>
              </a:solidFill>
              <a:effectLst/>
              <a:latin typeface="Nunito" pitchFamily="2" charset="0"/>
            </a:endParaRPr>
          </a:p>
          <a:p>
            <a:pPr marL="342900" indent="-342900" algn="l" fontAlgn="base">
              <a:buAutoNum type="arabicPeriod"/>
            </a:pPr>
            <a:r>
              <a:rPr lang="en-US" sz="2800" b="1" i="0" dirty="0">
                <a:solidFill>
                  <a:srgbClr val="FF0000"/>
                </a:solidFill>
                <a:effectLst/>
                <a:latin typeface="Nunito" pitchFamily="2" charset="0"/>
              </a:rPr>
              <a:t>Training </a:t>
            </a:r>
            <a:r>
              <a:rPr lang="en-US" sz="2800" b="0" i="0" dirty="0">
                <a:solidFill>
                  <a:srgbClr val="273239"/>
                </a:solidFill>
                <a:effectLst/>
                <a:latin typeface="Nunito" pitchFamily="2" charset="0"/>
              </a:rPr>
              <a:t>(all levels including programming, application development, and database administration), licensing, and regulatory compliance costs very high.</a:t>
            </a:r>
            <a:r>
              <a:rPr lang="en-IN" sz="2800" b="1" i="0" dirty="0">
                <a:solidFill>
                  <a:srgbClr val="273239"/>
                </a:solidFill>
                <a:effectLst/>
                <a:latin typeface="Nunito" pitchFamily="2" charset="0"/>
              </a:rPr>
              <a:t> </a:t>
            </a:r>
          </a:p>
          <a:p>
            <a:pPr marL="342900" indent="-342900" algn="l" fontAlgn="base">
              <a:buAutoNum type="arabicPeriod"/>
            </a:pPr>
            <a:endParaRPr lang="en-IN" sz="2800" b="1" i="0" dirty="0">
              <a:solidFill>
                <a:srgbClr val="273239"/>
              </a:solidFill>
              <a:effectLst/>
              <a:latin typeface="Nunito" pitchFamily="2" charset="0"/>
            </a:endParaRPr>
          </a:p>
          <a:p>
            <a:pPr marL="342900" indent="-342900" algn="l" fontAlgn="base">
              <a:buAutoNum type="arabicPeriod"/>
            </a:pPr>
            <a:r>
              <a:rPr lang="en-IN" sz="2800" b="1" i="0" dirty="0">
                <a:solidFill>
                  <a:srgbClr val="FF0000"/>
                </a:solidFill>
                <a:effectLst/>
                <a:latin typeface="Nunito" pitchFamily="2" charset="0"/>
              </a:rPr>
              <a:t>Cost of Staff Training:</a:t>
            </a:r>
            <a:r>
              <a:rPr lang="en-US" sz="2800" b="0" i="0" dirty="0">
                <a:solidFill>
                  <a:srgbClr val="273239"/>
                </a:solidFill>
                <a:effectLst/>
                <a:latin typeface="Nunito" pitchFamily="2" charset="0"/>
              </a:rPr>
              <a:t>Educated staff (database administrator, application programmers, data entry operations) </a:t>
            </a:r>
            <a:endParaRPr lang="en-IN" sz="2800" b="1" i="0" dirty="0">
              <a:solidFill>
                <a:srgbClr val="273239"/>
              </a:solidFill>
              <a:effectLst/>
              <a:latin typeface="Nunito" pitchFamily="2" charset="0"/>
            </a:endParaRPr>
          </a:p>
          <a:p>
            <a:pPr marL="342900" indent="-342900" algn="l" fontAlgn="base">
              <a:buAutoNum type="arabicPeriod"/>
            </a:pPr>
            <a:endParaRPr lang="en-IN" b="1" i="0" dirty="0">
              <a:solidFill>
                <a:srgbClr val="273239"/>
              </a:solidFill>
              <a:effectLst/>
              <a:latin typeface="Nunito" pitchFamily="2" charset="0"/>
            </a:endParaRPr>
          </a:p>
        </p:txBody>
      </p:sp>
    </p:spTree>
    <p:extLst>
      <p:ext uri="{BB962C8B-B14F-4D97-AF65-F5344CB8AC3E}">
        <p14:creationId xmlns:p14="http://schemas.microsoft.com/office/powerpoint/2010/main" val="2722199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7E4CEA-441B-177B-C5A7-C01D891A1E50}"/>
              </a:ext>
            </a:extLst>
          </p:cNvPr>
          <p:cNvSpPr>
            <a:spLocks noGrp="1"/>
          </p:cNvSpPr>
          <p:nvPr>
            <p:ph idx="1"/>
          </p:nvPr>
        </p:nvSpPr>
        <p:spPr>
          <a:xfrm>
            <a:off x="838200" y="214009"/>
            <a:ext cx="10515600" cy="5962954"/>
          </a:xfrm>
        </p:spPr>
        <p:txBody>
          <a:bodyPr>
            <a:normAutofit lnSpcReduction="10000"/>
          </a:bodyPr>
          <a:lstStyle/>
          <a:p>
            <a:pPr marL="342900" indent="-342900" algn="l" fontAlgn="base">
              <a:buAutoNum type="arabicPeriod"/>
            </a:pPr>
            <a:endParaRPr lang="en-IN" b="1" dirty="0">
              <a:solidFill>
                <a:srgbClr val="273239"/>
              </a:solidFill>
              <a:latin typeface="Nunito" pitchFamily="2" charset="0"/>
            </a:endParaRPr>
          </a:p>
          <a:p>
            <a:pPr marL="0" indent="0" algn="l" fontAlgn="base">
              <a:buNone/>
            </a:pPr>
            <a:r>
              <a:rPr lang="en-IN" b="1" i="0" dirty="0">
                <a:solidFill>
                  <a:srgbClr val="FF0000"/>
                </a:solidFill>
                <a:effectLst/>
                <a:latin typeface="Nunito" pitchFamily="2" charset="0"/>
              </a:rPr>
              <a:t>5.Cost of Data Conversion:</a:t>
            </a:r>
            <a:r>
              <a:rPr lang="en-US" b="0" i="0" dirty="0">
                <a:solidFill>
                  <a:srgbClr val="FF0000"/>
                </a:solidFill>
                <a:effectLst/>
                <a:latin typeface="Nunito" pitchFamily="2" charset="0"/>
              </a:rPr>
              <a:t> </a:t>
            </a:r>
            <a:r>
              <a:rPr lang="en-US" b="0" i="0" dirty="0">
                <a:solidFill>
                  <a:srgbClr val="273239"/>
                </a:solidFill>
                <a:effectLst/>
                <a:latin typeface="Nunito" pitchFamily="2" charset="0"/>
              </a:rPr>
              <a:t>convert our data into a database management system,</a:t>
            </a:r>
            <a:r>
              <a:rPr lang="en-IN" b="0" i="0" dirty="0">
                <a:solidFill>
                  <a:srgbClr val="273239"/>
                </a:solidFill>
                <a:effectLst/>
                <a:latin typeface="Nunito" pitchFamily="2" charset="0"/>
              </a:rPr>
              <a:t>hire database system designers,</a:t>
            </a:r>
          </a:p>
          <a:p>
            <a:pPr marL="342900" indent="-342900" algn="l" fontAlgn="base">
              <a:buAutoNum type="arabicPeriod"/>
            </a:pPr>
            <a:endParaRPr lang="en-IN" dirty="0">
              <a:solidFill>
                <a:srgbClr val="273239"/>
              </a:solidFill>
              <a:latin typeface="Nunito" pitchFamily="2" charset="0"/>
            </a:endParaRPr>
          </a:p>
          <a:p>
            <a:pPr marL="0" indent="0" algn="l" fontAlgn="base">
              <a:buNone/>
            </a:pPr>
            <a:r>
              <a:rPr lang="en-IN" b="1" i="0" dirty="0">
                <a:solidFill>
                  <a:srgbClr val="FF0000"/>
                </a:solidFill>
                <a:effectLst/>
                <a:latin typeface="Nunito" pitchFamily="2" charset="0"/>
              </a:rPr>
              <a:t>6.Complexity</a:t>
            </a:r>
            <a:r>
              <a:rPr lang="en-IN" b="0" i="0" dirty="0">
                <a:solidFill>
                  <a:srgbClr val="FF0000"/>
                </a:solidFill>
                <a:effectLst/>
                <a:latin typeface="Nunito" pitchFamily="2" charset="0"/>
              </a:rPr>
              <a:t>:</a:t>
            </a:r>
            <a:r>
              <a:rPr lang="en-US" b="0" i="0" dirty="0">
                <a:solidFill>
                  <a:srgbClr val="484848"/>
                </a:solidFill>
                <a:effectLst/>
                <a:latin typeface="Inter"/>
              </a:rPr>
              <a:t> DBMS is very complex to operate and manage. It requires skilled personnel to maintain</a:t>
            </a:r>
            <a:endParaRPr lang="en-IN" b="0" i="0" dirty="0">
              <a:solidFill>
                <a:srgbClr val="FF0000"/>
              </a:solidFill>
              <a:effectLst/>
              <a:latin typeface="Nunito" pitchFamily="2" charset="0"/>
            </a:endParaRPr>
          </a:p>
          <a:p>
            <a:pPr marL="342900" indent="-342900" algn="l" fontAlgn="base">
              <a:buAutoNum type="arabicPeriod"/>
            </a:pPr>
            <a:endParaRPr lang="en-IN" dirty="0">
              <a:solidFill>
                <a:srgbClr val="273239"/>
              </a:solidFill>
              <a:latin typeface="Nunito" pitchFamily="2" charset="0"/>
            </a:endParaRPr>
          </a:p>
          <a:p>
            <a:pPr marL="0" indent="0" algn="l" fontAlgn="base">
              <a:buNone/>
            </a:pPr>
            <a:r>
              <a:rPr lang="en-IN" b="1" i="0" dirty="0">
                <a:solidFill>
                  <a:srgbClr val="FF0000"/>
                </a:solidFill>
                <a:effectLst/>
                <a:latin typeface="Nunito" pitchFamily="2" charset="0"/>
              </a:rPr>
              <a:t>7.Compatibility</a:t>
            </a:r>
            <a:r>
              <a:rPr lang="en-IN" b="0" i="0" dirty="0">
                <a:solidFill>
                  <a:srgbClr val="FF0000"/>
                </a:solidFill>
                <a:effectLst/>
                <a:latin typeface="Nunito" pitchFamily="2" charset="0"/>
              </a:rPr>
              <a:t>: </a:t>
            </a:r>
            <a:r>
              <a:rPr lang="en-US" b="0" i="0" dirty="0">
                <a:solidFill>
                  <a:srgbClr val="FF0000"/>
                </a:solidFill>
                <a:effectLst/>
                <a:latin typeface="Nunito" pitchFamily="2" charset="0"/>
              </a:rPr>
              <a:t> </a:t>
            </a:r>
            <a:r>
              <a:rPr lang="en-US" b="0" i="0" dirty="0">
                <a:solidFill>
                  <a:srgbClr val="273239"/>
                </a:solidFill>
                <a:effectLst/>
                <a:latin typeface="Nunito" pitchFamily="2" charset="0"/>
              </a:rPr>
              <a:t>DBMS software may not be compatible with other software systems or platforms, making it difficult to integrate with other applications</a:t>
            </a:r>
          </a:p>
          <a:p>
            <a:pPr marL="342900" indent="-342900" algn="l" fontAlgn="base">
              <a:buAutoNum type="arabicPeriod"/>
            </a:pPr>
            <a:endParaRPr lang="en-IN" b="0" i="0" dirty="0">
              <a:solidFill>
                <a:srgbClr val="273239"/>
              </a:solidFill>
              <a:effectLst/>
              <a:latin typeface="Nunito" pitchFamily="2" charset="0"/>
            </a:endParaRPr>
          </a:p>
          <a:p>
            <a:pPr marL="0" indent="0" algn="l" fontAlgn="base">
              <a:buNone/>
            </a:pPr>
            <a:r>
              <a:rPr lang="en-US" b="1" i="0" dirty="0">
                <a:solidFill>
                  <a:srgbClr val="FF0000"/>
                </a:solidFill>
                <a:effectLst/>
                <a:latin typeface="Nunito" pitchFamily="2" charset="0"/>
              </a:rPr>
              <a:t>8.Security</a:t>
            </a:r>
            <a:r>
              <a:rPr lang="en-US" b="0" i="0" dirty="0">
                <a:solidFill>
                  <a:srgbClr val="FF0000"/>
                </a:solidFill>
                <a:effectLst/>
                <a:latin typeface="Nunito" pitchFamily="2" charset="0"/>
              </a:rPr>
              <a:t>: </a:t>
            </a:r>
            <a:r>
              <a:rPr lang="en-US" b="0" i="0" dirty="0">
                <a:solidFill>
                  <a:srgbClr val="273239"/>
                </a:solidFill>
                <a:effectLst/>
                <a:latin typeface="Nunito" pitchFamily="2" charset="0"/>
              </a:rPr>
              <a:t>A DBMS can be vulnerable to security breaches if not properly configured and managed. This can lead to data loss or theft.</a:t>
            </a:r>
            <a:endParaRPr lang="en-US" b="1" dirty="0">
              <a:solidFill>
                <a:srgbClr val="273239"/>
              </a:solidFill>
              <a:latin typeface="Nunito" pitchFamily="2" charset="0"/>
            </a:endParaRPr>
          </a:p>
          <a:p>
            <a:endParaRPr lang="en-IN" b="1" i="0" dirty="0">
              <a:solidFill>
                <a:srgbClr val="000000"/>
              </a:solidFill>
              <a:effectLst/>
              <a:latin typeface="Inter"/>
            </a:endParaRPr>
          </a:p>
          <a:p>
            <a:endParaRPr lang="en-IN" dirty="0"/>
          </a:p>
        </p:txBody>
      </p:sp>
    </p:spTree>
    <p:extLst>
      <p:ext uri="{BB962C8B-B14F-4D97-AF65-F5344CB8AC3E}">
        <p14:creationId xmlns:p14="http://schemas.microsoft.com/office/powerpoint/2010/main" val="65355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567E5-E8C9-67F6-07E5-14871B6FA0C9}"/>
              </a:ext>
            </a:extLst>
          </p:cNvPr>
          <p:cNvSpPr>
            <a:spLocks noGrp="1"/>
          </p:cNvSpPr>
          <p:nvPr>
            <p:ph idx="1"/>
          </p:nvPr>
        </p:nvSpPr>
        <p:spPr>
          <a:xfrm>
            <a:off x="89169" y="444298"/>
            <a:ext cx="11934217" cy="5392298"/>
          </a:xfrm>
        </p:spPr>
        <p:txBody>
          <a:bodyPr>
            <a:normAutofit lnSpcReduction="10000"/>
          </a:bodyPr>
          <a:lstStyle/>
          <a:p>
            <a:r>
              <a:rPr lang="en-IN" sz="3200" b="1" i="0" dirty="0">
                <a:solidFill>
                  <a:srgbClr val="FF0000"/>
                </a:solidFill>
                <a:effectLst/>
                <a:latin typeface="Inter"/>
              </a:rPr>
              <a:t>Dependence on technology :</a:t>
            </a:r>
          </a:p>
          <a:p>
            <a:endParaRPr lang="en-IN" sz="3200" b="1" i="0" dirty="0">
              <a:solidFill>
                <a:srgbClr val="FF0000"/>
              </a:solidFill>
              <a:effectLst/>
              <a:latin typeface="Inter"/>
            </a:endParaRPr>
          </a:p>
          <a:p>
            <a:r>
              <a:rPr lang="en-US" sz="3200" b="1" i="0" dirty="0">
                <a:solidFill>
                  <a:srgbClr val="FF0000"/>
                </a:solidFill>
                <a:effectLst/>
                <a:latin typeface="Inter"/>
              </a:rPr>
              <a:t>Not beneficial for small firms:</a:t>
            </a:r>
          </a:p>
          <a:p>
            <a:endParaRPr lang="en-US" sz="3200" b="1" i="0" dirty="0">
              <a:solidFill>
                <a:srgbClr val="FF0000"/>
              </a:solidFill>
              <a:effectLst/>
              <a:latin typeface="Inter"/>
            </a:endParaRPr>
          </a:p>
          <a:p>
            <a:r>
              <a:rPr lang="en-IN" sz="3200" b="1" i="0" dirty="0">
                <a:solidFill>
                  <a:srgbClr val="FF0000"/>
                </a:solidFill>
                <a:effectLst/>
                <a:latin typeface="Inter"/>
              </a:rPr>
              <a:t>Frequent upgrade issue:</a:t>
            </a:r>
          </a:p>
          <a:p>
            <a:endParaRPr lang="en-IN" sz="3200" b="1" i="0" dirty="0">
              <a:solidFill>
                <a:srgbClr val="FF0000"/>
              </a:solidFill>
              <a:effectLst/>
              <a:latin typeface="Inter"/>
            </a:endParaRPr>
          </a:p>
          <a:p>
            <a:r>
              <a:rPr lang="en-IN" sz="3800" b="1" i="0" dirty="0">
                <a:solidFill>
                  <a:srgbClr val="FF0000"/>
                </a:solidFill>
                <a:effectLst/>
                <a:latin typeface="Inter"/>
              </a:rPr>
              <a:t>Scalability :</a:t>
            </a:r>
            <a:r>
              <a:rPr lang="en-IN" sz="3800" b="0" i="0" dirty="0">
                <a:solidFill>
                  <a:srgbClr val="FF0000"/>
                </a:solidFill>
                <a:effectLst/>
                <a:latin typeface="Inter"/>
              </a:rPr>
              <a:t> </a:t>
            </a:r>
            <a:r>
              <a:rPr lang="en-IN" sz="3800" b="0" i="0" dirty="0">
                <a:solidFill>
                  <a:srgbClr val="445578"/>
                </a:solidFill>
                <a:effectLst/>
                <a:latin typeface="Inter"/>
              </a:rPr>
              <a:t>The DBMS system may </a:t>
            </a:r>
            <a:r>
              <a:rPr lang="en-US" sz="3800" b="0" i="0" dirty="0">
                <a:solidFill>
                  <a:srgbClr val="445578"/>
                </a:solidFill>
                <a:effectLst/>
                <a:latin typeface="Inter"/>
              </a:rPr>
              <a:t> need help to handle increasing database size. Because of this increase in database size, complexity will increase, This can be a costly and </a:t>
            </a:r>
            <a:r>
              <a:rPr lang="en-US" sz="3800" b="0" i="0">
                <a:solidFill>
                  <a:srgbClr val="445578"/>
                </a:solidFill>
                <a:effectLst/>
                <a:latin typeface="Inter"/>
              </a:rPr>
              <a:t>time-consuming process.</a:t>
            </a:r>
            <a:endParaRPr lang="en-US" sz="3800" b="0" i="0" dirty="0">
              <a:solidFill>
                <a:srgbClr val="445578"/>
              </a:solidFill>
              <a:effectLst/>
              <a:latin typeface="Inter"/>
            </a:endParaRPr>
          </a:p>
          <a:p>
            <a:endParaRPr lang="en-IN" b="1" i="0" dirty="0">
              <a:solidFill>
                <a:srgbClr val="FF0000"/>
              </a:solidFill>
              <a:effectLst/>
              <a:latin typeface="Inter"/>
            </a:endParaRPr>
          </a:p>
          <a:p>
            <a:endParaRPr lang="en-IN" dirty="0"/>
          </a:p>
        </p:txBody>
      </p:sp>
    </p:spTree>
    <p:extLst>
      <p:ext uri="{BB962C8B-B14F-4D97-AF65-F5344CB8AC3E}">
        <p14:creationId xmlns:p14="http://schemas.microsoft.com/office/powerpoint/2010/main" val="2795914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859</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erdana</vt:lpstr>
      <vt:lpstr>Inter</vt:lpstr>
      <vt:lpstr>inter-regular</vt:lpstr>
      <vt:lpstr>Nunito</vt:lpstr>
      <vt:lpstr>Source Sans 3</vt:lpstr>
      <vt:lpstr>Office Theme</vt:lpstr>
      <vt:lpstr>PowerPoint Presentation</vt:lpstr>
      <vt:lpstr>PowerPoint Presentation</vt:lpstr>
      <vt:lpstr>PowerPoint Presentation</vt:lpstr>
      <vt:lpstr>PowerPoint Presentation</vt:lpstr>
      <vt:lpstr>Data Independence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Trilok Singh</dc:creator>
  <cp:lastModifiedBy>Mr. Trilok Singh</cp:lastModifiedBy>
  <cp:revision>14</cp:revision>
  <dcterms:created xsi:type="dcterms:W3CDTF">2024-08-30T06:05:12Z</dcterms:created>
  <dcterms:modified xsi:type="dcterms:W3CDTF">2024-09-03T10:30:13Z</dcterms:modified>
</cp:coreProperties>
</file>