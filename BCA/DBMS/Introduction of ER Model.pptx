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Lst>
  <p:sldIdLst>
    <p:sldId id="256" r:id="rId2"/>
    <p:sldId id="257" r:id="rId3"/>
    <p:sldId id="258" r:id="rId4"/>
    <p:sldId id="259" r:id="rId5"/>
    <p:sldId id="260" r:id="rId6"/>
    <p:sldId id="261" r:id="rId7"/>
    <p:sldId id="262" r:id="rId8"/>
    <p:sldId id="263" r:id="rId9"/>
    <p:sldId id="265" r:id="rId10"/>
    <p:sldId id="266" r:id="rId11"/>
    <p:sldId id="264" r:id="rId12"/>
    <p:sldId id="267" r:id="rId13"/>
    <p:sldId id="268" r:id="rId14"/>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p:cViewPr varScale="1">
        <p:scale>
          <a:sx n="79" d="100"/>
          <a:sy n="79" d="100"/>
        </p:scale>
        <p:origin x="821" y="72"/>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tableStyles" Target="tableStyles.xml"/><Relationship Id="rId3" Type="http://schemas.openxmlformats.org/officeDocument/2006/relationships/slide" Target="slides/slide2.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theme" Target="theme/theme1.xml"/><Relationship Id="rId2" Type="http://schemas.openxmlformats.org/officeDocument/2006/relationships/slide" Target="slides/slide1.xml"/><Relationship Id="rId16" Type="http://schemas.openxmlformats.org/officeDocument/2006/relationships/viewProps" Target="viewProp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5" Type="http://schemas.openxmlformats.org/officeDocument/2006/relationships/slide" Target="slides/slide4.xml"/><Relationship Id="rId15" Type="http://schemas.openxmlformats.org/officeDocument/2006/relationships/presProps" Target="presProps.xml"/><Relationship Id="rId10" Type="http://schemas.openxmlformats.org/officeDocument/2006/relationships/slide" Target="slides/slide9.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352FB6A-45F3-D3AC-B833-03D682BF9B42}"/>
              </a:ext>
            </a:extLst>
          </p:cNvPr>
          <p:cNvSpPr>
            <a:spLocks noGrp="1"/>
          </p:cNvSpPr>
          <p:nvPr>
            <p:ph type="ctrTitle"/>
          </p:nvPr>
        </p:nvSpPr>
        <p:spPr>
          <a:xfrm>
            <a:off x="1524000" y="1122363"/>
            <a:ext cx="9144000" cy="2387600"/>
          </a:xfrm>
        </p:spPr>
        <p:txBody>
          <a:bodyPr anchor="b"/>
          <a:lstStyle>
            <a:lvl1pPr algn="ctr">
              <a:defRPr sz="6000"/>
            </a:lvl1pPr>
          </a:lstStyle>
          <a:p>
            <a:r>
              <a:rPr lang="en-US"/>
              <a:t>Click to edit Master title style</a:t>
            </a:r>
            <a:endParaRPr lang="en-IN"/>
          </a:p>
        </p:txBody>
      </p:sp>
      <p:sp>
        <p:nvSpPr>
          <p:cNvPr id="3" name="Subtitle 2">
            <a:extLst>
              <a:ext uri="{FF2B5EF4-FFF2-40B4-BE49-F238E27FC236}">
                <a16:creationId xmlns:a16="http://schemas.microsoft.com/office/drawing/2014/main" id="{9C603325-B42A-5CA9-D83D-CF5337D7D778}"/>
              </a:ext>
            </a:extLst>
          </p:cNvPr>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endParaRPr lang="en-IN"/>
          </a:p>
        </p:txBody>
      </p:sp>
      <p:sp>
        <p:nvSpPr>
          <p:cNvPr id="4" name="Date Placeholder 3">
            <a:extLst>
              <a:ext uri="{FF2B5EF4-FFF2-40B4-BE49-F238E27FC236}">
                <a16:creationId xmlns:a16="http://schemas.microsoft.com/office/drawing/2014/main" id="{A56AC3A7-F746-CB27-1645-DFE1DC609832}"/>
              </a:ext>
            </a:extLst>
          </p:cNvPr>
          <p:cNvSpPr>
            <a:spLocks noGrp="1"/>
          </p:cNvSpPr>
          <p:nvPr>
            <p:ph type="dt" sz="half" idx="10"/>
          </p:nvPr>
        </p:nvSpPr>
        <p:spPr/>
        <p:txBody>
          <a:bodyPr/>
          <a:lstStyle/>
          <a:p>
            <a:fld id="{290334D7-163C-4B38-9D26-84ABCE164446}" type="datetimeFigureOut">
              <a:rPr lang="en-IN" smtClean="0"/>
              <a:t>18-09-2024</a:t>
            </a:fld>
            <a:endParaRPr lang="en-IN"/>
          </a:p>
        </p:txBody>
      </p:sp>
      <p:sp>
        <p:nvSpPr>
          <p:cNvPr id="5" name="Footer Placeholder 4">
            <a:extLst>
              <a:ext uri="{FF2B5EF4-FFF2-40B4-BE49-F238E27FC236}">
                <a16:creationId xmlns:a16="http://schemas.microsoft.com/office/drawing/2014/main" id="{F2520237-11C2-788E-7A35-DDD9DCE076EC}"/>
              </a:ext>
            </a:extLst>
          </p:cNvPr>
          <p:cNvSpPr>
            <a:spLocks noGrp="1"/>
          </p:cNvSpPr>
          <p:nvPr>
            <p:ph type="ftr" sz="quarter" idx="11"/>
          </p:nvPr>
        </p:nvSpPr>
        <p:spPr/>
        <p:txBody>
          <a:bodyPr/>
          <a:lstStyle/>
          <a:p>
            <a:endParaRPr lang="en-IN"/>
          </a:p>
        </p:txBody>
      </p:sp>
      <p:sp>
        <p:nvSpPr>
          <p:cNvPr id="6" name="Slide Number Placeholder 5">
            <a:extLst>
              <a:ext uri="{FF2B5EF4-FFF2-40B4-BE49-F238E27FC236}">
                <a16:creationId xmlns:a16="http://schemas.microsoft.com/office/drawing/2014/main" id="{DB4EDDB4-94B5-D1E0-2ACA-7A71879B644F}"/>
              </a:ext>
            </a:extLst>
          </p:cNvPr>
          <p:cNvSpPr>
            <a:spLocks noGrp="1"/>
          </p:cNvSpPr>
          <p:nvPr>
            <p:ph type="sldNum" sz="quarter" idx="12"/>
          </p:nvPr>
        </p:nvSpPr>
        <p:spPr/>
        <p:txBody>
          <a:bodyPr/>
          <a:lstStyle/>
          <a:p>
            <a:fld id="{8790C219-15D6-4866-B2D0-04036C4CC68C}" type="slidenum">
              <a:rPr lang="en-IN" smtClean="0"/>
              <a:t>‹#›</a:t>
            </a:fld>
            <a:endParaRPr lang="en-IN"/>
          </a:p>
        </p:txBody>
      </p:sp>
    </p:spTree>
    <p:extLst>
      <p:ext uri="{BB962C8B-B14F-4D97-AF65-F5344CB8AC3E}">
        <p14:creationId xmlns:p14="http://schemas.microsoft.com/office/powerpoint/2010/main" val="3225497052"/>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C19683B-5DFD-9B08-94D1-9DD826F98280}"/>
              </a:ext>
            </a:extLst>
          </p:cNvPr>
          <p:cNvSpPr>
            <a:spLocks noGrp="1"/>
          </p:cNvSpPr>
          <p:nvPr>
            <p:ph type="title"/>
          </p:nvPr>
        </p:nvSpPr>
        <p:spPr/>
        <p:txBody>
          <a:bodyPr/>
          <a:lstStyle/>
          <a:p>
            <a:r>
              <a:rPr lang="en-US"/>
              <a:t>Click to edit Master title style</a:t>
            </a:r>
            <a:endParaRPr lang="en-IN"/>
          </a:p>
        </p:txBody>
      </p:sp>
      <p:sp>
        <p:nvSpPr>
          <p:cNvPr id="3" name="Content Placeholder 2">
            <a:extLst>
              <a:ext uri="{FF2B5EF4-FFF2-40B4-BE49-F238E27FC236}">
                <a16:creationId xmlns:a16="http://schemas.microsoft.com/office/drawing/2014/main" id="{F586CC22-1016-3343-B2D5-42BF215F5CAF}"/>
              </a:ext>
            </a:extLst>
          </p:cNvPr>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Date Placeholder 3">
            <a:extLst>
              <a:ext uri="{FF2B5EF4-FFF2-40B4-BE49-F238E27FC236}">
                <a16:creationId xmlns:a16="http://schemas.microsoft.com/office/drawing/2014/main" id="{3B68478B-C072-E785-02A4-331208379A93}"/>
              </a:ext>
            </a:extLst>
          </p:cNvPr>
          <p:cNvSpPr>
            <a:spLocks noGrp="1"/>
          </p:cNvSpPr>
          <p:nvPr>
            <p:ph type="dt" sz="half" idx="10"/>
          </p:nvPr>
        </p:nvSpPr>
        <p:spPr/>
        <p:txBody>
          <a:bodyPr/>
          <a:lstStyle/>
          <a:p>
            <a:fld id="{290334D7-163C-4B38-9D26-84ABCE164446}" type="datetimeFigureOut">
              <a:rPr lang="en-IN" smtClean="0"/>
              <a:t>18-09-2024</a:t>
            </a:fld>
            <a:endParaRPr lang="en-IN"/>
          </a:p>
        </p:txBody>
      </p:sp>
      <p:sp>
        <p:nvSpPr>
          <p:cNvPr id="5" name="Footer Placeholder 4">
            <a:extLst>
              <a:ext uri="{FF2B5EF4-FFF2-40B4-BE49-F238E27FC236}">
                <a16:creationId xmlns:a16="http://schemas.microsoft.com/office/drawing/2014/main" id="{96A899D8-BCCD-16EF-4679-AE0BF41CE54F}"/>
              </a:ext>
            </a:extLst>
          </p:cNvPr>
          <p:cNvSpPr>
            <a:spLocks noGrp="1"/>
          </p:cNvSpPr>
          <p:nvPr>
            <p:ph type="ftr" sz="quarter" idx="11"/>
          </p:nvPr>
        </p:nvSpPr>
        <p:spPr/>
        <p:txBody>
          <a:bodyPr/>
          <a:lstStyle/>
          <a:p>
            <a:endParaRPr lang="en-IN"/>
          </a:p>
        </p:txBody>
      </p:sp>
      <p:sp>
        <p:nvSpPr>
          <p:cNvPr id="6" name="Slide Number Placeholder 5">
            <a:extLst>
              <a:ext uri="{FF2B5EF4-FFF2-40B4-BE49-F238E27FC236}">
                <a16:creationId xmlns:a16="http://schemas.microsoft.com/office/drawing/2014/main" id="{FD85F7B5-255E-1344-4F46-059DC87DC4DA}"/>
              </a:ext>
            </a:extLst>
          </p:cNvPr>
          <p:cNvSpPr>
            <a:spLocks noGrp="1"/>
          </p:cNvSpPr>
          <p:nvPr>
            <p:ph type="sldNum" sz="quarter" idx="12"/>
          </p:nvPr>
        </p:nvSpPr>
        <p:spPr/>
        <p:txBody>
          <a:bodyPr/>
          <a:lstStyle/>
          <a:p>
            <a:fld id="{8790C219-15D6-4866-B2D0-04036C4CC68C}" type="slidenum">
              <a:rPr lang="en-IN" smtClean="0"/>
              <a:t>‹#›</a:t>
            </a:fld>
            <a:endParaRPr lang="en-IN"/>
          </a:p>
        </p:txBody>
      </p:sp>
    </p:spTree>
    <p:extLst>
      <p:ext uri="{BB962C8B-B14F-4D97-AF65-F5344CB8AC3E}">
        <p14:creationId xmlns:p14="http://schemas.microsoft.com/office/powerpoint/2010/main" val="1156575102"/>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246A909-74AF-460B-0834-CF4BCAE9CEFA}"/>
              </a:ext>
            </a:extLst>
          </p:cNvPr>
          <p:cNvSpPr>
            <a:spLocks noGrp="1"/>
          </p:cNvSpPr>
          <p:nvPr>
            <p:ph type="title"/>
          </p:nvPr>
        </p:nvSpPr>
        <p:spPr>
          <a:xfrm>
            <a:off x="831850" y="1709738"/>
            <a:ext cx="10515600" cy="2852737"/>
          </a:xfrm>
        </p:spPr>
        <p:txBody>
          <a:bodyPr anchor="b"/>
          <a:lstStyle>
            <a:lvl1pPr>
              <a:defRPr sz="6000"/>
            </a:lvl1pPr>
          </a:lstStyle>
          <a:p>
            <a:r>
              <a:rPr lang="en-US"/>
              <a:t>Click to edit Master title style</a:t>
            </a:r>
            <a:endParaRPr lang="en-IN"/>
          </a:p>
        </p:txBody>
      </p:sp>
      <p:sp>
        <p:nvSpPr>
          <p:cNvPr id="3" name="Text Placeholder 2">
            <a:extLst>
              <a:ext uri="{FF2B5EF4-FFF2-40B4-BE49-F238E27FC236}">
                <a16:creationId xmlns:a16="http://schemas.microsoft.com/office/drawing/2014/main" id="{D9C180FE-AE82-19CB-4618-AC5447A9A4BE}"/>
              </a:ext>
            </a:extLst>
          </p:cNvPr>
          <p:cNvSpPr>
            <a:spLocks noGrp="1"/>
          </p:cNvSpPr>
          <p:nvPr>
            <p:ph type="body" idx="1"/>
          </p:nvPr>
        </p:nvSpPr>
        <p:spPr>
          <a:xfrm>
            <a:off x="831850" y="4589463"/>
            <a:ext cx="10515600" cy="1500187"/>
          </a:xfrm>
        </p:spPr>
        <p:txBody>
          <a:bodyPr/>
          <a:lstStyle>
            <a:lvl1pPr marL="0" indent="0">
              <a:buNone/>
              <a:defRPr sz="2400">
                <a:solidFill>
                  <a:schemeClr val="tx1">
                    <a:tint val="82000"/>
                  </a:schemeClr>
                </a:solidFill>
              </a:defRPr>
            </a:lvl1pPr>
            <a:lvl2pPr marL="457200" indent="0">
              <a:buNone/>
              <a:defRPr sz="2000">
                <a:solidFill>
                  <a:schemeClr val="tx1">
                    <a:tint val="82000"/>
                  </a:schemeClr>
                </a:solidFill>
              </a:defRPr>
            </a:lvl2pPr>
            <a:lvl3pPr marL="914400" indent="0">
              <a:buNone/>
              <a:defRPr sz="1800">
                <a:solidFill>
                  <a:schemeClr val="tx1">
                    <a:tint val="82000"/>
                  </a:schemeClr>
                </a:solidFill>
              </a:defRPr>
            </a:lvl3pPr>
            <a:lvl4pPr marL="1371600" indent="0">
              <a:buNone/>
              <a:defRPr sz="1600">
                <a:solidFill>
                  <a:schemeClr val="tx1">
                    <a:tint val="82000"/>
                  </a:schemeClr>
                </a:solidFill>
              </a:defRPr>
            </a:lvl4pPr>
            <a:lvl5pPr marL="1828800" indent="0">
              <a:buNone/>
              <a:defRPr sz="1600">
                <a:solidFill>
                  <a:schemeClr val="tx1">
                    <a:tint val="82000"/>
                  </a:schemeClr>
                </a:solidFill>
              </a:defRPr>
            </a:lvl5pPr>
            <a:lvl6pPr marL="2286000" indent="0">
              <a:buNone/>
              <a:defRPr sz="1600">
                <a:solidFill>
                  <a:schemeClr val="tx1">
                    <a:tint val="82000"/>
                  </a:schemeClr>
                </a:solidFill>
              </a:defRPr>
            </a:lvl6pPr>
            <a:lvl7pPr marL="2743200" indent="0">
              <a:buNone/>
              <a:defRPr sz="1600">
                <a:solidFill>
                  <a:schemeClr val="tx1">
                    <a:tint val="82000"/>
                  </a:schemeClr>
                </a:solidFill>
              </a:defRPr>
            </a:lvl7pPr>
            <a:lvl8pPr marL="3200400" indent="0">
              <a:buNone/>
              <a:defRPr sz="1600">
                <a:solidFill>
                  <a:schemeClr val="tx1">
                    <a:tint val="82000"/>
                  </a:schemeClr>
                </a:solidFill>
              </a:defRPr>
            </a:lvl8pPr>
            <a:lvl9pPr marL="3657600" indent="0">
              <a:buNone/>
              <a:defRPr sz="1600">
                <a:solidFill>
                  <a:schemeClr val="tx1">
                    <a:tint val="82000"/>
                  </a:schemeClr>
                </a:solidFill>
              </a:defRPr>
            </a:lvl9pPr>
          </a:lstStyle>
          <a:p>
            <a:pPr lvl="0"/>
            <a:r>
              <a:rPr lang="en-US"/>
              <a:t>Click to edit Master text styles</a:t>
            </a:r>
          </a:p>
        </p:txBody>
      </p:sp>
      <p:sp>
        <p:nvSpPr>
          <p:cNvPr id="4" name="Date Placeholder 3">
            <a:extLst>
              <a:ext uri="{FF2B5EF4-FFF2-40B4-BE49-F238E27FC236}">
                <a16:creationId xmlns:a16="http://schemas.microsoft.com/office/drawing/2014/main" id="{57E5D7D6-AF7A-8762-CA6F-2FA9AEF8930B}"/>
              </a:ext>
            </a:extLst>
          </p:cNvPr>
          <p:cNvSpPr>
            <a:spLocks noGrp="1"/>
          </p:cNvSpPr>
          <p:nvPr>
            <p:ph type="dt" sz="half" idx="10"/>
          </p:nvPr>
        </p:nvSpPr>
        <p:spPr/>
        <p:txBody>
          <a:bodyPr/>
          <a:lstStyle/>
          <a:p>
            <a:fld id="{290334D7-163C-4B38-9D26-84ABCE164446}" type="datetimeFigureOut">
              <a:rPr lang="en-IN" smtClean="0"/>
              <a:t>18-09-2024</a:t>
            </a:fld>
            <a:endParaRPr lang="en-IN"/>
          </a:p>
        </p:txBody>
      </p:sp>
      <p:sp>
        <p:nvSpPr>
          <p:cNvPr id="5" name="Footer Placeholder 4">
            <a:extLst>
              <a:ext uri="{FF2B5EF4-FFF2-40B4-BE49-F238E27FC236}">
                <a16:creationId xmlns:a16="http://schemas.microsoft.com/office/drawing/2014/main" id="{76AA09F9-75C4-E5F4-C39F-813777844393}"/>
              </a:ext>
            </a:extLst>
          </p:cNvPr>
          <p:cNvSpPr>
            <a:spLocks noGrp="1"/>
          </p:cNvSpPr>
          <p:nvPr>
            <p:ph type="ftr" sz="quarter" idx="11"/>
          </p:nvPr>
        </p:nvSpPr>
        <p:spPr/>
        <p:txBody>
          <a:bodyPr/>
          <a:lstStyle/>
          <a:p>
            <a:endParaRPr lang="en-IN"/>
          </a:p>
        </p:txBody>
      </p:sp>
      <p:sp>
        <p:nvSpPr>
          <p:cNvPr id="6" name="Slide Number Placeholder 5">
            <a:extLst>
              <a:ext uri="{FF2B5EF4-FFF2-40B4-BE49-F238E27FC236}">
                <a16:creationId xmlns:a16="http://schemas.microsoft.com/office/drawing/2014/main" id="{2FB6349F-F304-A8E6-8113-765C6BB41FA7}"/>
              </a:ext>
            </a:extLst>
          </p:cNvPr>
          <p:cNvSpPr>
            <a:spLocks noGrp="1"/>
          </p:cNvSpPr>
          <p:nvPr>
            <p:ph type="sldNum" sz="quarter" idx="12"/>
          </p:nvPr>
        </p:nvSpPr>
        <p:spPr/>
        <p:txBody>
          <a:bodyPr/>
          <a:lstStyle/>
          <a:p>
            <a:fld id="{8790C219-15D6-4866-B2D0-04036C4CC68C}" type="slidenum">
              <a:rPr lang="en-IN" smtClean="0"/>
              <a:t>‹#›</a:t>
            </a:fld>
            <a:endParaRPr lang="en-IN"/>
          </a:p>
        </p:txBody>
      </p:sp>
    </p:spTree>
    <p:extLst>
      <p:ext uri="{BB962C8B-B14F-4D97-AF65-F5344CB8AC3E}">
        <p14:creationId xmlns:p14="http://schemas.microsoft.com/office/powerpoint/2010/main" val="2469228293"/>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771F7CA-4FDD-EEEA-FEC5-779B6F2A1766}"/>
              </a:ext>
            </a:extLst>
          </p:cNvPr>
          <p:cNvSpPr>
            <a:spLocks noGrp="1"/>
          </p:cNvSpPr>
          <p:nvPr>
            <p:ph type="title"/>
          </p:nvPr>
        </p:nvSpPr>
        <p:spPr/>
        <p:txBody>
          <a:bodyPr/>
          <a:lstStyle/>
          <a:p>
            <a:r>
              <a:rPr lang="en-US"/>
              <a:t>Click to edit Master title style</a:t>
            </a:r>
            <a:endParaRPr lang="en-IN"/>
          </a:p>
        </p:txBody>
      </p:sp>
      <p:sp>
        <p:nvSpPr>
          <p:cNvPr id="3" name="Content Placeholder 2">
            <a:extLst>
              <a:ext uri="{FF2B5EF4-FFF2-40B4-BE49-F238E27FC236}">
                <a16:creationId xmlns:a16="http://schemas.microsoft.com/office/drawing/2014/main" id="{B7F54CC5-02AE-DC21-8387-3C24E7A0B0D5}"/>
              </a:ext>
            </a:extLst>
          </p:cNvPr>
          <p:cNvSpPr>
            <a:spLocks noGrp="1"/>
          </p:cNvSpPr>
          <p:nvPr>
            <p:ph sz="half" idx="1"/>
          </p:nvPr>
        </p:nvSpPr>
        <p:spPr>
          <a:xfrm>
            <a:off x="838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Content Placeholder 3">
            <a:extLst>
              <a:ext uri="{FF2B5EF4-FFF2-40B4-BE49-F238E27FC236}">
                <a16:creationId xmlns:a16="http://schemas.microsoft.com/office/drawing/2014/main" id="{3FF1C283-E66D-C924-8A17-2E412D205865}"/>
              </a:ext>
            </a:extLst>
          </p:cNvPr>
          <p:cNvSpPr>
            <a:spLocks noGrp="1"/>
          </p:cNvSpPr>
          <p:nvPr>
            <p:ph sz="half" idx="2"/>
          </p:nvPr>
        </p:nvSpPr>
        <p:spPr>
          <a:xfrm>
            <a:off x="6172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5" name="Date Placeholder 4">
            <a:extLst>
              <a:ext uri="{FF2B5EF4-FFF2-40B4-BE49-F238E27FC236}">
                <a16:creationId xmlns:a16="http://schemas.microsoft.com/office/drawing/2014/main" id="{DB2B82E5-EF77-CF20-3F64-F715C2EDE304}"/>
              </a:ext>
            </a:extLst>
          </p:cNvPr>
          <p:cNvSpPr>
            <a:spLocks noGrp="1"/>
          </p:cNvSpPr>
          <p:nvPr>
            <p:ph type="dt" sz="half" idx="10"/>
          </p:nvPr>
        </p:nvSpPr>
        <p:spPr/>
        <p:txBody>
          <a:bodyPr/>
          <a:lstStyle/>
          <a:p>
            <a:fld id="{290334D7-163C-4B38-9D26-84ABCE164446}" type="datetimeFigureOut">
              <a:rPr lang="en-IN" smtClean="0"/>
              <a:t>18-09-2024</a:t>
            </a:fld>
            <a:endParaRPr lang="en-IN"/>
          </a:p>
        </p:txBody>
      </p:sp>
      <p:sp>
        <p:nvSpPr>
          <p:cNvPr id="6" name="Footer Placeholder 5">
            <a:extLst>
              <a:ext uri="{FF2B5EF4-FFF2-40B4-BE49-F238E27FC236}">
                <a16:creationId xmlns:a16="http://schemas.microsoft.com/office/drawing/2014/main" id="{6D4AD3C3-3AB2-9B4A-1A5E-59ACCEDCEC63}"/>
              </a:ext>
            </a:extLst>
          </p:cNvPr>
          <p:cNvSpPr>
            <a:spLocks noGrp="1"/>
          </p:cNvSpPr>
          <p:nvPr>
            <p:ph type="ftr" sz="quarter" idx="11"/>
          </p:nvPr>
        </p:nvSpPr>
        <p:spPr/>
        <p:txBody>
          <a:bodyPr/>
          <a:lstStyle/>
          <a:p>
            <a:endParaRPr lang="en-IN"/>
          </a:p>
        </p:txBody>
      </p:sp>
      <p:sp>
        <p:nvSpPr>
          <p:cNvPr id="7" name="Slide Number Placeholder 6">
            <a:extLst>
              <a:ext uri="{FF2B5EF4-FFF2-40B4-BE49-F238E27FC236}">
                <a16:creationId xmlns:a16="http://schemas.microsoft.com/office/drawing/2014/main" id="{723FB644-C927-1D25-6961-69CC7B9E2302}"/>
              </a:ext>
            </a:extLst>
          </p:cNvPr>
          <p:cNvSpPr>
            <a:spLocks noGrp="1"/>
          </p:cNvSpPr>
          <p:nvPr>
            <p:ph type="sldNum" sz="quarter" idx="12"/>
          </p:nvPr>
        </p:nvSpPr>
        <p:spPr/>
        <p:txBody>
          <a:bodyPr/>
          <a:lstStyle/>
          <a:p>
            <a:fld id="{8790C219-15D6-4866-B2D0-04036C4CC68C}" type="slidenum">
              <a:rPr lang="en-IN" smtClean="0"/>
              <a:t>‹#›</a:t>
            </a:fld>
            <a:endParaRPr lang="en-IN"/>
          </a:p>
        </p:txBody>
      </p:sp>
    </p:spTree>
    <p:extLst>
      <p:ext uri="{BB962C8B-B14F-4D97-AF65-F5344CB8AC3E}">
        <p14:creationId xmlns:p14="http://schemas.microsoft.com/office/powerpoint/2010/main" val="1653913991"/>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03516C5-84CF-3693-8210-EEBC5FF7BFC0}"/>
              </a:ext>
            </a:extLst>
          </p:cNvPr>
          <p:cNvSpPr>
            <a:spLocks noGrp="1"/>
          </p:cNvSpPr>
          <p:nvPr>
            <p:ph type="title"/>
          </p:nvPr>
        </p:nvSpPr>
        <p:spPr>
          <a:xfrm>
            <a:off x="839788" y="365125"/>
            <a:ext cx="10515600" cy="1325563"/>
          </a:xfrm>
        </p:spPr>
        <p:txBody>
          <a:bodyPr/>
          <a:lstStyle/>
          <a:p>
            <a:r>
              <a:rPr lang="en-US"/>
              <a:t>Click to edit Master title style</a:t>
            </a:r>
            <a:endParaRPr lang="en-IN"/>
          </a:p>
        </p:txBody>
      </p:sp>
      <p:sp>
        <p:nvSpPr>
          <p:cNvPr id="3" name="Text Placeholder 2">
            <a:extLst>
              <a:ext uri="{FF2B5EF4-FFF2-40B4-BE49-F238E27FC236}">
                <a16:creationId xmlns:a16="http://schemas.microsoft.com/office/drawing/2014/main" id="{6AD5742E-F6AB-9B1E-4FD6-6D6156E607B0}"/>
              </a:ext>
            </a:extLst>
          </p:cNvPr>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a:extLst>
              <a:ext uri="{FF2B5EF4-FFF2-40B4-BE49-F238E27FC236}">
                <a16:creationId xmlns:a16="http://schemas.microsoft.com/office/drawing/2014/main" id="{D6C37880-3EAF-A280-C857-30D6A4BC91E9}"/>
              </a:ext>
            </a:extLst>
          </p:cNvPr>
          <p:cNvSpPr>
            <a:spLocks noGrp="1"/>
          </p:cNvSpPr>
          <p:nvPr>
            <p:ph sz="half" idx="2"/>
          </p:nvPr>
        </p:nvSpPr>
        <p:spPr>
          <a:xfrm>
            <a:off x="839788" y="2505075"/>
            <a:ext cx="5157787"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5" name="Text Placeholder 4">
            <a:extLst>
              <a:ext uri="{FF2B5EF4-FFF2-40B4-BE49-F238E27FC236}">
                <a16:creationId xmlns:a16="http://schemas.microsoft.com/office/drawing/2014/main" id="{75A0CBD6-70C1-4E0E-951E-D4D9089117FD}"/>
              </a:ext>
            </a:extLst>
          </p:cNvPr>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a:extLst>
              <a:ext uri="{FF2B5EF4-FFF2-40B4-BE49-F238E27FC236}">
                <a16:creationId xmlns:a16="http://schemas.microsoft.com/office/drawing/2014/main" id="{EB374C0A-8829-A286-FE30-7B33572C23AE}"/>
              </a:ext>
            </a:extLst>
          </p:cNvPr>
          <p:cNvSpPr>
            <a:spLocks noGrp="1"/>
          </p:cNvSpPr>
          <p:nvPr>
            <p:ph sz="quarter" idx="4"/>
          </p:nvPr>
        </p:nvSpPr>
        <p:spPr>
          <a:xfrm>
            <a:off x="6172200" y="2505075"/>
            <a:ext cx="5183188"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7" name="Date Placeholder 6">
            <a:extLst>
              <a:ext uri="{FF2B5EF4-FFF2-40B4-BE49-F238E27FC236}">
                <a16:creationId xmlns:a16="http://schemas.microsoft.com/office/drawing/2014/main" id="{6612F3D1-7E99-643B-B618-41B9EC4FCC0D}"/>
              </a:ext>
            </a:extLst>
          </p:cNvPr>
          <p:cNvSpPr>
            <a:spLocks noGrp="1"/>
          </p:cNvSpPr>
          <p:nvPr>
            <p:ph type="dt" sz="half" idx="10"/>
          </p:nvPr>
        </p:nvSpPr>
        <p:spPr/>
        <p:txBody>
          <a:bodyPr/>
          <a:lstStyle/>
          <a:p>
            <a:fld id="{290334D7-163C-4B38-9D26-84ABCE164446}" type="datetimeFigureOut">
              <a:rPr lang="en-IN" smtClean="0"/>
              <a:t>18-09-2024</a:t>
            </a:fld>
            <a:endParaRPr lang="en-IN"/>
          </a:p>
        </p:txBody>
      </p:sp>
      <p:sp>
        <p:nvSpPr>
          <p:cNvPr id="8" name="Footer Placeholder 7">
            <a:extLst>
              <a:ext uri="{FF2B5EF4-FFF2-40B4-BE49-F238E27FC236}">
                <a16:creationId xmlns:a16="http://schemas.microsoft.com/office/drawing/2014/main" id="{D0B4318A-320A-6763-14A2-E1E7DA4448EB}"/>
              </a:ext>
            </a:extLst>
          </p:cNvPr>
          <p:cNvSpPr>
            <a:spLocks noGrp="1"/>
          </p:cNvSpPr>
          <p:nvPr>
            <p:ph type="ftr" sz="quarter" idx="11"/>
          </p:nvPr>
        </p:nvSpPr>
        <p:spPr/>
        <p:txBody>
          <a:bodyPr/>
          <a:lstStyle/>
          <a:p>
            <a:endParaRPr lang="en-IN"/>
          </a:p>
        </p:txBody>
      </p:sp>
      <p:sp>
        <p:nvSpPr>
          <p:cNvPr id="9" name="Slide Number Placeholder 8">
            <a:extLst>
              <a:ext uri="{FF2B5EF4-FFF2-40B4-BE49-F238E27FC236}">
                <a16:creationId xmlns:a16="http://schemas.microsoft.com/office/drawing/2014/main" id="{5E596FA3-D7F3-594C-7A0B-46A84034C791}"/>
              </a:ext>
            </a:extLst>
          </p:cNvPr>
          <p:cNvSpPr>
            <a:spLocks noGrp="1"/>
          </p:cNvSpPr>
          <p:nvPr>
            <p:ph type="sldNum" sz="quarter" idx="12"/>
          </p:nvPr>
        </p:nvSpPr>
        <p:spPr/>
        <p:txBody>
          <a:bodyPr/>
          <a:lstStyle/>
          <a:p>
            <a:fld id="{8790C219-15D6-4866-B2D0-04036C4CC68C}" type="slidenum">
              <a:rPr lang="en-IN" smtClean="0"/>
              <a:t>‹#›</a:t>
            </a:fld>
            <a:endParaRPr lang="en-IN"/>
          </a:p>
        </p:txBody>
      </p:sp>
    </p:spTree>
    <p:extLst>
      <p:ext uri="{BB962C8B-B14F-4D97-AF65-F5344CB8AC3E}">
        <p14:creationId xmlns:p14="http://schemas.microsoft.com/office/powerpoint/2010/main" val="3230760431"/>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A90BE46-A64F-8B1B-A89C-30098900CB23}"/>
              </a:ext>
            </a:extLst>
          </p:cNvPr>
          <p:cNvSpPr>
            <a:spLocks noGrp="1"/>
          </p:cNvSpPr>
          <p:nvPr>
            <p:ph type="title"/>
          </p:nvPr>
        </p:nvSpPr>
        <p:spPr/>
        <p:txBody>
          <a:bodyPr/>
          <a:lstStyle/>
          <a:p>
            <a:r>
              <a:rPr lang="en-US"/>
              <a:t>Click to edit Master title style</a:t>
            </a:r>
            <a:endParaRPr lang="en-IN"/>
          </a:p>
        </p:txBody>
      </p:sp>
      <p:sp>
        <p:nvSpPr>
          <p:cNvPr id="3" name="Date Placeholder 2">
            <a:extLst>
              <a:ext uri="{FF2B5EF4-FFF2-40B4-BE49-F238E27FC236}">
                <a16:creationId xmlns:a16="http://schemas.microsoft.com/office/drawing/2014/main" id="{45201E02-DF06-166D-8380-9A6CDD5F6532}"/>
              </a:ext>
            </a:extLst>
          </p:cNvPr>
          <p:cNvSpPr>
            <a:spLocks noGrp="1"/>
          </p:cNvSpPr>
          <p:nvPr>
            <p:ph type="dt" sz="half" idx="10"/>
          </p:nvPr>
        </p:nvSpPr>
        <p:spPr/>
        <p:txBody>
          <a:bodyPr/>
          <a:lstStyle/>
          <a:p>
            <a:fld id="{290334D7-163C-4B38-9D26-84ABCE164446}" type="datetimeFigureOut">
              <a:rPr lang="en-IN" smtClean="0"/>
              <a:t>18-09-2024</a:t>
            </a:fld>
            <a:endParaRPr lang="en-IN"/>
          </a:p>
        </p:txBody>
      </p:sp>
      <p:sp>
        <p:nvSpPr>
          <p:cNvPr id="4" name="Footer Placeholder 3">
            <a:extLst>
              <a:ext uri="{FF2B5EF4-FFF2-40B4-BE49-F238E27FC236}">
                <a16:creationId xmlns:a16="http://schemas.microsoft.com/office/drawing/2014/main" id="{D48F0B6C-17B4-3B9B-0ADD-8E1C16547D08}"/>
              </a:ext>
            </a:extLst>
          </p:cNvPr>
          <p:cNvSpPr>
            <a:spLocks noGrp="1"/>
          </p:cNvSpPr>
          <p:nvPr>
            <p:ph type="ftr" sz="quarter" idx="11"/>
          </p:nvPr>
        </p:nvSpPr>
        <p:spPr/>
        <p:txBody>
          <a:bodyPr/>
          <a:lstStyle/>
          <a:p>
            <a:endParaRPr lang="en-IN"/>
          </a:p>
        </p:txBody>
      </p:sp>
      <p:sp>
        <p:nvSpPr>
          <p:cNvPr id="5" name="Slide Number Placeholder 4">
            <a:extLst>
              <a:ext uri="{FF2B5EF4-FFF2-40B4-BE49-F238E27FC236}">
                <a16:creationId xmlns:a16="http://schemas.microsoft.com/office/drawing/2014/main" id="{FA8CB7CF-6A49-3045-B63D-1BFDB810637C}"/>
              </a:ext>
            </a:extLst>
          </p:cNvPr>
          <p:cNvSpPr>
            <a:spLocks noGrp="1"/>
          </p:cNvSpPr>
          <p:nvPr>
            <p:ph type="sldNum" sz="quarter" idx="12"/>
          </p:nvPr>
        </p:nvSpPr>
        <p:spPr/>
        <p:txBody>
          <a:bodyPr/>
          <a:lstStyle/>
          <a:p>
            <a:fld id="{8790C219-15D6-4866-B2D0-04036C4CC68C}" type="slidenum">
              <a:rPr lang="en-IN" smtClean="0"/>
              <a:t>‹#›</a:t>
            </a:fld>
            <a:endParaRPr lang="en-IN"/>
          </a:p>
        </p:txBody>
      </p:sp>
    </p:spTree>
    <p:extLst>
      <p:ext uri="{BB962C8B-B14F-4D97-AF65-F5344CB8AC3E}">
        <p14:creationId xmlns:p14="http://schemas.microsoft.com/office/powerpoint/2010/main" val="3769585240"/>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a:extLst>
              <a:ext uri="{FF2B5EF4-FFF2-40B4-BE49-F238E27FC236}">
                <a16:creationId xmlns:a16="http://schemas.microsoft.com/office/drawing/2014/main" id="{191DEFCA-5143-BCB8-33A9-581E62690E80}"/>
              </a:ext>
            </a:extLst>
          </p:cNvPr>
          <p:cNvSpPr>
            <a:spLocks noGrp="1"/>
          </p:cNvSpPr>
          <p:nvPr>
            <p:ph type="dt" sz="half" idx="10"/>
          </p:nvPr>
        </p:nvSpPr>
        <p:spPr/>
        <p:txBody>
          <a:bodyPr/>
          <a:lstStyle/>
          <a:p>
            <a:fld id="{290334D7-163C-4B38-9D26-84ABCE164446}" type="datetimeFigureOut">
              <a:rPr lang="en-IN" smtClean="0"/>
              <a:t>18-09-2024</a:t>
            </a:fld>
            <a:endParaRPr lang="en-IN"/>
          </a:p>
        </p:txBody>
      </p:sp>
      <p:sp>
        <p:nvSpPr>
          <p:cNvPr id="3" name="Footer Placeholder 2">
            <a:extLst>
              <a:ext uri="{FF2B5EF4-FFF2-40B4-BE49-F238E27FC236}">
                <a16:creationId xmlns:a16="http://schemas.microsoft.com/office/drawing/2014/main" id="{A57D135D-22DE-D228-35D0-BBB7D4D80977}"/>
              </a:ext>
            </a:extLst>
          </p:cNvPr>
          <p:cNvSpPr>
            <a:spLocks noGrp="1"/>
          </p:cNvSpPr>
          <p:nvPr>
            <p:ph type="ftr" sz="quarter" idx="11"/>
          </p:nvPr>
        </p:nvSpPr>
        <p:spPr/>
        <p:txBody>
          <a:bodyPr/>
          <a:lstStyle/>
          <a:p>
            <a:endParaRPr lang="en-IN"/>
          </a:p>
        </p:txBody>
      </p:sp>
      <p:sp>
        <p:nvSpPr>
          <p:cNvPr id="4" name="Slide Number Placeholder 3">
            <a:extLst>
              <a:ext uri="{FF2B5EF4-FFF2-40B4-BE49-F238E27FC236}">
                <a16:creationId xmlns:a16="http://schemas.microsoft.com/office/drawing/2014/main" id="{12538728-CC75-0AAB-46DE-4D80E6605EB2}"/>
              </a:ext>
            </a:extLst>
          </p:cNvPr>
          <p:cNvSpPr>
            <a:spLocks noGrp="1"/>
          </p:cNvSpPr>
          <p:nvPr>
            <p:ph type="sldNum" sz="quarter" idx="12"/>
          </p:nvPr>
        </p:nvSpPr>
        <p:spPr/>
        <p:txBody>
          <a:bodyPr/>
          <a:lstStyle/>
          <a:p>
            <a:fld id="{8790C219-15D6-4866-B2D0-04036C4CC68C}" type="slidenum">
              <a:rPr lang="en-IN" smtClean="0"/>
              <a:t>‹#›</a:t>
            </a:fld>
            <a:endParaRPr lang="en-IN"/>
          </a:p>
        </p:txBody>
      </p:sp>
    </p:spTree>
    <p:extLst>
      <p:ext uri="{BB962C8B-B14F-4D97-AF65-F5344CB8AC3E}">
        <p14:creationId xmlns:p14="http://schemas.microsoft.com/office/powerpoint/2010/main" val="333625195"/>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7893547-4E25-A020-6AD1-4992E186D8EA}"/>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endParaRPr lang="en-IN"/>
          </a:p>
        </p:txBody>
      </p:sp>
      <p:sp>
        <p:nvSpPr>
          <p:cNvPr id="3" name="Content Placeholder 2">
            <a:extLst>
              <a:ext uri="{FF2B5EF4-FFF2-40B4-BE49-F238E27FC236}">
                <a16:creationId xmlns:a16="http://schemas.microsoft.com/office/drawing/2014/main" id="{F6813891-DD9F-43EF-7936-C18624CA99A1}"/>
              </a:ext>
            </a:extLst>
          </p:cNvPr>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Text Placeholder 3">
            <a:extLst>
              <a:ext uri="{FF2B5EF4-FFF2-40B4-BE49-F238E27FC236}">
                <a16:creationId xmlns:a16="http://schemas.microsoft.com/office/drawing/2014/main" id="{1014A007-85CB-ED0C-B36E-3AE152BC19CC}"/>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64EA02F2-54EC-8020-A2D1-9EEC9923A89E}"/>
              </a:ext>
            </a:extLst>
          </p:cNvPr>
          <p:cNvSpPr>
            <a:spLocks noGrp="1"/>
          </p:cNvSpPr>
          <p:nvPr>
            <p:ph type="dt" sz="half" idx="10"/>
          </p:nvPr>
        </p:nvSpPr>
        <p:spPr/>
        <p:txBody>
          <a:bodyPr/>
          <a:lstStyle/>
          <a:p>
            <a:fld id="{290334D7-163C-4B38-9D26-84ABCE164446}" type="datetimeFigureOut">
              <a:rPr lang="en-IN" smtClean="0"/>
              <a:t>18-09-2024</a:t>
            </a:fld>
            <a:endParaRPr lang="en-IN"/>
          </a:p>
        </p:txBody>
      </p:sp>
      <p:sp>
        <p:nvSpPr>
          <p:cNvPr id="6" name="Footer Placeholder 5">
            <a:extLst>
              <a:ext uri="{FF2B5EF4-FFF2-40B4-BE49-F238E27FC236}">
                <a16:creationId xmlns:a16="http://schemas.microsoft.com/office/drawing/2014/main" id="{AAAEF7EC-54D5-E1AE-C4AD-270DE26878BF}"/>
              </a:ext>
            </a:extLst>
          </p:cNvPr>
          <p:cNvSpPr>
            <a:spLocks noGrp="1"/>
          </p:cNvSpPr>
          <p:nvPr>
            <p:ph type="ftr" sz="quarter" idx="11"/>
          </p:nvPr>
        </p:nvSpPr>
        <p:spPr/>
        <p:txBody>
          <a:bodyPr/>
          <a:lstStyle/>
          <a:p>
            <a:endParaRPr lang="en-IN"/>
          </a:p>
        </p:txBody>
      </p:sp>
      <p:sp>
        <p:nvSpPr>
          <p:cNvPr id="7" name="Slide Number Placeholder 6">
            <a:extLst>
              <a:ext uri="{FF2B5EF4-FFF2-40B4-BE49-F238E27FC236}">
                <a16:creationId xmlns:a16="http://schemas.microsoft.com/office/drawing/2014/main" id="{041B8430-D515-226E-F789-6E1EAB75D153}"/>
              </a:ext>
            </a:extLst>
          </p:cNvPr>
          <p:cNvSpPr>
            <a:spLocks noGrp="1"/>
          </p:cNvSpPr>
          <p:nvPr>
            <p:ph type="sldNum" sz="quarter" idx="12"/>
          </p:nvPr>
        </p:nvSpPr>
        <p:spPr/>
        <p:txBody>
          <a:bodyPr/>
          <a:lstStyle/>
          <a:p>
            <a:fld id="{8790C219-15D6-4866-B2D0-04036C4CC68C}" type="slidenum">
              <a:rPr lang="en-IN" smtClean="0"/>
              <a:t>‹#›</a:t>
            </a:fld>
            <a:endParaRPr lang="en-IN"/>
          </a:p>
        </p:txBody>
      </p:sp>
    </p:spTree>
    <p:extLst>
      <p:ext uri="{BB962C8B-B14F-4D97-AF65-F5344CB8AC3E}">
        <p14:creationId xmlns:p14="http://schemas.microsoft.com/office/powerpoint/2010/main" val="4288638016"/>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5A140EB-3B17-D3CB-70D6-B1EAD85862E1}"/>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endParaRPr lang="en-IN"/>
          </a:p>
        </p:txBody>
      </p:sp>
      <p:sp>
        <p:nvSpPr>
          <p:cNvPr id="3" name="Picture Placeholder 2">
            <a:extLst>
              <a:ext uri="{FF2B5EF4-FFF2-40B4-BE49-F238E27FC236}">
                <a16:creationId xmlns:a16="http://schemas.microsoft.com/office/drawing/2014/main" id="{EF8DBE0B-7F71-D785-6FCD-6FAEA749B823}"/>
              </a:ext>
            </a:extLst>
          </p:cNvPr>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IN"/>
          </a:p>
        </p:txBody>
      </p:sp>
      <p:sp>
        <p:nvSpPr>
          <p:cNvPr id="4" name="Text Placeholder 3">
            <a:extLst>
              <a:ext uri="{FF2B5EF4-FFF2-40B4-BE49-F238E27FC236}">
                <a16:creationId xmlns:a16="http://schemas.microsoft.com/office/drawing/2014/main" id="{261F6EE6-0AC2-CB74-3263-51E73ACB3B6B}"/>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4704D2AF-AC70-A1CA-61E2-13C07CF4798A}"/>
              </a:ext>
            </a:extLst>
          </p:cNvPr>
          <p:cNvSpPr>
            <a:spLocks noGrp="1"/>
          </p:cNvSpPr>
          <p:nvPr>
            <p:ph type="dt" sz="half" idx="10"/>
          </p:nvPr>
        </p:nvSpPr>
        <p:spPr/>
        <p:txBody>
          <a:bodyPr/>
          <a:lstStyle/>
          <a:p>
            <a:fld id="{290334D7-163C-4B38-9D26-84ABCE164446}" type="datetimeFigureOut">
              <a:rPr lang="en-IN" smtClean="0"/>
              <a:t>18-09-2024</a:t>
            </a:fld>
            <a:endParaRPr lang="en-IN"/>
          </a:p>
        </p:txBody>
      </p:sp>
      <p:sp>
        <p:nvSpPr>
          <p:cNvPr id="6" name="Footer Placeholder 5">
            <a:extLst>
              <a:ext uri="{FF2B5EF4-FFF2-40B4-BE49-F238E27FC236}">
                <a16:creationId xmlns:a16="http://schemas.microsoft.com/office/drawing/2014/main" id="{83FE4F56-1D42-1F34-CA4F-ABF615916666}"/>
              </a:ext>
            </a:extLst>
          </p:cNvPr>
          <p:cNvSpPr>
            <a:spLocks noGrp="1"/>
          </p:cNvSpPr>
          <p:nvPr>
            <p:ph type="ftr" sz="quarter" idx="11"/>
          </p:nvPr>
        </p:nvSpPr>
        <p:spPr/>
        <p:txBody>
          <a:bodyPr/>
          <a:lstStyle/>
          <a:p>
            <a:endParaRPr lang="en-IN"/>
          </a:p>
        </p:txBody>
      </p:sp>
      <p:sp>
        <p:nvSpPr>
          <p:cNvPr id="7" name="Slide Number Placeholder 6">
            <a:extLst>
              <a:ext uri="{FF2B5EF4-FFF2-40B4-BE49-F238E27FC236}">
                <a16:creationId xmlns:a16="http://schemas.microsoft.com/office/drawing/2014/main" id="{6258C189-EED3-BC62-CD63-34783A863A0B}"/>
              </a:ext>
            </a:extLst>
          </p:cNvPr>
          <p:cNvSpPr>
            <a:spLocks noGrp="1"/>
          </p:cNvSpPr>
          <p:nvPr>
            <p:ph type="sldNum" sz="quarter" idx="12"/>
          </p:nvPr>
        </p:nvSpPr>
        <p:spPr/>
        <p:txBody>
          <a:bodyPr/>
          <a:lstStyle/>
          <a:p>
            <a:fld id="{8790C219-15D6-4866-B2D0-04036C4CC68C}" type="slidenum">
              <a:rPr lang="en-IN" smtClean="0"/>
              <a:t>‹#›</a:t>
            </a:fld>
            <a:endParaRPr lang="en-IN"/>
          </a:p>
        </p:txBody>
      </p:sp>
    </p:spTree>
    <p:extLst>
      <p:ext uri="{BB962C8B-B14F-4D97-AF65-F5344CB8AC3E}">
        <p14:creationId xmlns:p14="http://schemas.microsoft.com/office/powerpoint/2010/main" val="2857177798"/>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D62AF02-E911-441E-DC99-82DD9F93D5D6}"/>
              </a:ext>
            </a:extLst>
          </p:cNvPr>
          <p:cNvSpPr>
            <a:spLocks noGrp="1"/>
          </p:cNvSpPr>
          <p:nvPr>
            <p:ph type="title"/>
          </p:nvPr>
        </p:nvSpPr>
        <p:spPr/>
        <p:txBody>
          <a:bodyPr/>
          <a:lstStyle/>
          <a:p>
            <a:r>
              <a:rPr lang="en-US"/>
              <a:t>Click to edit Master title style</a:t>
            </a:r>
            <a:endParaRPr lang="en-IN"/>
          </a:p>
        </p:txBody>
      </p:sp>
      <p:sp>
        <p:nvSpPr>
          <p:cNvPr id="3" name="Vertical Text Placeholder 2">
            <a:extLst>
              <a:ext uri="{FF2B5EF4-FFF2-40B4-BE49-F238E27FC236}">
                <a16:creationId xmlns:a16="http://schemas.microsoft.com/office/drawing/2014/main" id="{31191EB1-DB16-0886-D089-5C5FC0CCF557}"/>
              </a:ext>
            </a:extLst>
          </p:cNvPr>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Date Placeholder 3">
            <a:extLst>
              <a:ext uri="{FF2B5EF4-FFF2-40B4-BE49-F238E27FC236}">
                <a16:creationId xmlns:a16="http://schemas.microsoft.com/office/drawing/2014/main" id="{C39CE5C3-8B95-7259-AF39-20F004689755}"/>
              </a:ext>
            </a:extLst>
          </p:cNvPr>
          <p:cNvSpPr>
            <a:spLocks noGrp="1"/>
          </p:cNvSpPr>
          <p:nvPr>
            <p:ph type="dt" sz="half" idx="10"/>
          </p:nvPr>
        </p:nvSpPr>
        <p:spPr/>
        <p:txBody>
          <a:bodyPr/>
          <a:lstStyle/>
          <a:p>
            <a:fld id="{290334D7-163C-4B38-9D26-84ABCE164446}" type="datetimeFigureOut">
              <a:rPr lang="en-IN" smtClean="0"/>
              <a:t>18-09-2024</a:t>
            </a:fld>
            <a:endParaRPr lang="en-IN"/>
          </a:p>
        </p:txBody>
      </p:sp>
      <p:sp>
        <p:nvSpPr>
          <p:cNvPr id="5" name="Footer Placeholder 4">
            <a:extLst>
              <a:ext uri="{FF2B5EF4-FFF2-40B4-BE49-F238E27FC236}">
                <a16:creationId xmlns:a16="http://schemas.microsoft.com/office/drawing/2014/main" id="{D8D78F21-E0AA-35C6-B341-71E4F0AD27D7}"/>
              </a:ext>
            </a:extLst>
          </p:cNvPr>
          <p:cNvSpPr>
            <a:spLocks noGrp="1"/>
          </p:cNvSpPr>
          <p:nvPr>
            <p:ph type="ftr" sz="quarter" idx="11"/>
          </p:nvPr>
        </p:nvSpPr>
        <p:spPr/>
        <p:txBody>
          <a:bodyPr/>
          <a:lstStyle/>
          <a:p>
            <a:endParaRPr lang="en-IN"/>
          </a:p>
        </p:txBody>
      </p:sp>
      <p:sp>
        <p:nvSpPr>
          <p:cNvPr id="6" name="Slide Number Placeholder 5">
            <a:extLst>
              <a:ext uri="{FF2B5EF4-FFF2-40B4-BE49-F238E27FC236}">
                <a16:creationId xmlns:a16="http://schemas.microsoft.com/office/drawing/2014/main" id="{9D667D4B-A4E4-C205-0E87-8406736E9564}"/>
              </a:ext>
            </a:extLst>
          </p:cNvPr>
          <p:cNvSpPr>
            <a:spLocks noGrp="1"/>
          </p:cNvSpPr>
          <p:nvPr>
            <p:ph type="sldNum" sz="quarter" idx="12"/>
          </p:nvPr>
        </p:nvSpPr>
        <p:spPr/>
        <p:txBody>
          <a:bodyPr/>
          <a:lstStyle/>
          <a:p>
            <a:fld id="{8790C219-15D6-4866-B2D0-04036C4CC68C}" type="slidenum">
              <a:rPr lang="en-IN" smtClean="0"/>
              <a:t>‹#›</a:t>
            </a:fld>
            <a:endParaRPr lang="en-IN"/>
          </a:p>
        </p:txBody>
      </p:sp>
    </p:spTree>
    <p:extLst>
      <p:ext uri="{BB962C8B-B14F-4D97-AF65-F5344CB8AC3E}">
        <p14:creationId xmlns:p14="http://schemas.microsoft.com/office/powerpoint/2010/main" val="3695983012"/>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a:extLst>
              <a:ext uri="{FF2B5EF4-FFF2-40B4-BE49-F238E27FC236}">
                <a16:creationId xmlns:a16="http://schemas.microsoft.com/office/drawing/2014/main" id="{624C1D8A-E197-E217-DC25-35F87382904D}"/>
              </a:ext>
            </a:extLst>
          </p:cNvPr>
          <p:cNvSpPr>
            <a:spLocks noGrp="1"/>
          </p:cNvSpPr>
          <p:nvPr>
            <p:ph type="title" orient="vert"/>
          </p:nvPr>
        </p:nvSpPr>
        <p:spPr>
          <a:xfrm>
            <a:off x="8724900" y="365125"/>
            <a:ext cx="2628900" cy="5811838"/>
          </a:xfrm>
        </p:spPr>
        <p:txBody>
          <a:bodyPr vert="eaVert"/>
          <a:lstStyle/>
          <a:p>
            <a:r>
              <a:rPr lang="en-US"/>
              <a:t>Click to edit Master title style</a:t>
            </a:r>
            <a:endParaRPr lang="en-IN"/>
          </a:p>
        </p:txBody>
      </p:sp>
      <p:sp>
        <p:nvSpPr>
          <p:cNvPr id="3" name="Vertical Text Placeholder 2">
            <a:extLst>
              <a:ext uri="{FF2B5EF4-FFF2-40B4-BE49-F238E27FC236}">
                <a16:creationId xmlns:a16="http://schemas.microsoft.com/office/drawing/2014/main" id="{BCCFD467-F9A3-B0EE-B2DF-5613CB733D3A}"/>
              </a:ext>
            </a:extLst>
          </p:cNvPr>
          <p:cNvSpPr>
            <a:spLocks noGrp="1"/>
          </p:cNvSpPr>
          <p:nvPr>
            <p:ph type="body" orient="vert" idx="1"/>
          </p:nvPr>
        </p:nvSpPr>
        <p:spPr>
          <a:xfrm>
            <a:off x="838200" y="365125"/>
            <a:ext cx="7734300" cy="5811838"/>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Date Placeholder 3">
            <a:extLst>
              <a:ext uri="{FF2B5EF4-FFF2-40B4-BE49-F238E27FC236}">
                <a16:creationId xmlns:a16="http://schemas.microsoft.com/office/drawing/2014/main" id="{99B4DCE2-AEAD-6C25-5D5E-BE77CF44C722}"/>
              </a:ext>
            </a:extLst>
          </p:cNvPr>
          <p:cNvSpPr>
            <a:spLocks noGrp="1"/>
          </p:cNvSpPr>
          <p:nvPr>
            <p:ph type="dt" sz="half" idx="10"/>
          </p:nvPr>
        </p:nvSpPr>
        <p:spPr/>
        <p:txBody>
          <a:bodyPr/>
          <a:lstStyle/>
          <a:p>
            <a:fld id="{290334D7-163C-4B38-9D26-84ABCE164446}" type="datetimeFigureOut">
              <a:rPr lang="en-IN" smtClean="0"/>
              <a:t>18-09-2024</a:t>
            </a:fld>
            <a:endParaRPr lang="en-IN"/>
          </a:p>
        </p:txBody>
      </p:sp>
      <p:sp>
        <p:nvSpPr>
          <p:cNvPr id="5" name="Footer Placeholder 4">
            <a:extLst>
              <a:ext uri="{FF2B5EF4-FFF2-40B4-BE49-F238E27FC236}">
                <a16:creationId xmlns:a16="http://schemas.microsoft.com/office/drawing/2014/main" id="{72F26C2E-9EAA-BD66-DA1A-78FDF9AF42F6}"/>
              </a:ext>
            </a:extLst>
          </p:cNvPr>
          <p:cNvSpPr>
            <a:spLocks noGrp="1"/>
          </p:cNvSpPr>
          <p:nvPr>
            <p:ph type="ftr" sz="quarter" idx="11"/>
          </p:nvPr>
        </p:nvSpPr>
        <p:spPr/>
        <p:txBody>
          <a:bodyPr/>
          <a:lstStyle/>
          <a:p>
            <a:endParaRPr lang="en-IN"/>
          </a:p>
        </p:txBody>
      </p:sp>
      <p:sp>
        <p:nvSpPr>
          <p:cNvPr id="6" name="Slide Number Placeholder 5">
            <a:extLst>
              <a:ext uri="{FF2B5EF4-FFF2-40B4-BE49-F238E27FC236}">
                <a16:creationId xmlns:a16="http://schemas.microsoft.com/office/drawing/2014/main" id="{CAF395CC-FB30-ECAD-862F-63998B617D2C}"/>
              </a:ext>
            </a:extLst>
          </p:cNvPr>
          <p:cNvSpPr>
            <a:spLocks noGrp="1"/>
          </p:cNvSpPr>
          <p:nvPr>
            <p:ph type="sldNum" sz="quarter" idx="12"/>
          </p:nvPr>
        </p:nvSpPr>
        <p:spPr/>
        <p:txBody>
          <a:bodyPr/>
          <a:lstStyle/>
          <a:p>
            <a:fld id="{8790C219-15D6-4866-B2D0-04036C4CC68C}" type="slidenum">
              <a:rPr lang="en-IN" smtClean="0"/>
              <a:t>‹#›</a:t>
            </a:fld>
            <a:endParaRPr lang="en-IN"/>
          </a:p>
        </p:txBody>
      </p:sp>
    </p:spTree>
    <p:extLst>
      <p:ext uri="{BB962C8B-B14F-4D97-AF65-F5344CB8AC3E}">
        <p14:creationId xmlns:p14="http://schemas.microsoft.com/office/powerpoint/2010/main" val="4085899163"/>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43230573-6D44-D4B2-4820-4B862776439E}"/>
              </a:ext>
            </a:extLst>
          </p:cNvPr>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US"/>
              <a:t>Click to edit Master title style</a:t>
            </a:r>
            <a:endParaRPr lang="en-IN"/>
          </a:p>
        </p:txBody>
      </p:sp>
      <p:sp>
        <p:nvSpPr>
          <p:cNvPr id="3" name="Text Placeholder 2">
            <a:extLst>
              <a:ext uri="{FF2B5EF4-FFF2-40B4-BE49-F238E27FC236}">
                <a16:creationId xmlns:a16="http://schemas.microsoft.com/office/drawing/2014/main" id="{8FF58AD0-59CA-F4D9-DA56-14E93BA51581}"/>
              </a:ext>
            </a:extLst>
          </p:cNvPr>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Date Placeholder 3">
            <a:extLst>
              <a:ext uri="{FF2B5EF4-FFF2-40B4-BE49-F238E27FC236}">
                <a16:creationId xmlns:a16="http://schemas.microsoft.com/office/drawing/2014/main" id="{F4F5F5E9-5B9A-45D6-03CC-484B6365A087}"/>
              </a:ext>
            </a:extLst>
          </p:cNvPr>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82000"/>
                  </a:schemeClr>
                </a:solidFill>
              </a:defRPr>
            </a:lvl1pPr>
          </a:lstStyle>
          <a:p>
            <a:fld id="{290334D7-163C-4B38-9D26-84ABCE164446}" type="datetimeFigureOut">
              <a:rPr lang="en-IN" smtClean="0"/>
              <a:t>18-09-2024</a:t>
            </a:fld>
            <a:endParaRPr lang="en-IN"/>
          </a:p>
        </p:txBody>
      </p:sp>
      <p:sp>
        <p:nvSpPr>
          <p:cNvPr id="5" name="Footer Placeholder 4">
            <a:extLst>
              <a:ext uri="{FF2B5EF4-FFF2-40B4-BE49-F238E27FC236}">
                <a16:creationId xmlns:a16="http://schemas.microsoft.com/office/drawing/2014/main" id="{23491273-2021-B62F-F165-CF7CAB073967}"/>
              </a:ext>
            </a:extLst>
          </p:cNvPr>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82000"/>
                  </a:schemeClr>
                </a:solidFill>
              </a:defRPr>
            </a:lvl1pPr>
          </a:lstStyle>
          <a:p>
            <a:endParaRPr lang="en-IN"/>
          </a:p>
        </p:txBody>
      </p:sp>
      <p:sp>
        <p:nvSpPr>
          <p:cNvPr id="6" name="Slide Number Placeholder 5">
            <a:extLst>
              <a:ext uri="{FF2B5EF4-FFF2-40B4-BE49-F238E27FC236}">
                <a16:creationId xmlns:a16="http://schemas.microsoft.com/office/drawing/2014/main" id="{C29807F9-53E4-81EC-B866-16FCB1438FCC}"/>
              </a:ext>
            </a:extLst>
          </p:cNvPr>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82000"/>
                  </a:schemeClr>
                </a:solidFill>
              </a:defRPr>
            </a:lvl1pPr>
          </a:lstStyle>
          <a:p>
            <a:fld id="{8790C219-15D6-4866-B2D0-04036C4CC68C}" type="slidenum">
              <a:rPr lang="en-IN" smtClean="0"/>
              <a:t>‹#›</a:t>
            </a:fld>
            <a:endParaRPr lang="en-IN"/>
          </a:p>
        </p:txBody>
      </p:sp>
    </p:spTree>
    <p:extLst>
      <p:ext uri="{BB962C8B-B14F-4D97-AF65-F5344CB8AC3E}">
        <p14:creationId xmlns:p14="http://schemas.microsoft.com/office/powerpoint/2010/main" val="341117404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3.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1.xml"/></Relationships>
</file>

<file path=ppt/slides/_rels/slide4.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hyperlink" Target="https://www.geeksforgeeks.org/difference-between-strong-and-weak-entity/" TargetMode="External"/><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2" Type="http://schemas.openxmlformats.org/officeDocument/2006/relationships/hyperlink" Target="https://www.geeksforgeeks.org/weak-entity-set-in-er-diagrams/" TargetMode="External"/><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hyperlink" Target="https://www.geeksforgeeks.org/types-of-attributes-in-er-model/" TargetMode="External"/><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2" Type="http://schemas.openxmlformats.org/officeDocument/2006/relationships/image" Target="../media/image5.png"/><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2" Type="http://schemas.openxmlformats.org/officeDocument/2006/relationships/image" Target="../media/image6.png"/><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2" Type="http://schemas.openxmlformats.org/officeDocument/2006/relationships/image" Target="../media/image7.png"/><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2" Type="http://schemas.openxmlformats.org/officeDocument/2006/relationships/image" Target="../media/image8.png"/><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2" Type="http://schemas.openxmlformats.org/officeDocument/2006/relationships/image" Target="../media/image9.png"/><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2" Type="http://schemas.openxmlformats.org/officeDocument/2006/relationships/image" Target="../media/image10.png"/><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73AA29A-6390-B846-B8C5-AC4D1C913BE7}"/>
              </a:ext>
            </a:extLst>
          </p:cNvPr>
          <p:cNvSpPr>
            <a:spLocks noGrp="1"/>
          </p:cNvSpPr>
          <p:nvPr>
            <p:ph type="ctrTitle"/>
          </p:nvPr>
        </p:nvSpPr>
        <p:spPr>
          <a:xfrm>
            <a:off x="1524000" y="1122363"/>
            <a:ext cx="9144000" cy="297875"/>
          </a:xfrm>
        </p:spPr>
        <p:txBody>
          <a:bodyPr>
            <a:normAutofit fontScale="90000"/>
          </a:bodyPr>
          <a:lstStyle/>
          <a:p>
            <a:r>
              <a:rPr lang="en-IN" b="1" i="0" dirty="0">
                <a:solidFill>
                  <a:srgbClr val="273239"/>
                </a:solidFill>
                <a:effectLst/>
                <a:latin typeface="Source Sans 3"/>
              </a:rPr>
              <a:t>Introduction of ER Model</a:t>
            </a:r>
            <a:br>
              <a:rPr lang="en-IN" b="1" i="0" dirty="0">
                <a:solidFill>
                  <a:srgbClr val="273239"/>
                </a:solidFill>
                <a:effectLst/>
                <a:latin typeface="Source Sans 3"/>
              </a:rPr>
            </a:br>
            <a:endParaRPr lang="en-IN" dirty="0"/>
          </a:p>
        </p:txBody>
      </p:sp>
      <p:sp>
        <p:nvSpPr>
          <p:cNvPr id="3" name="Subtitle 2">
            <a:extLst>
              <a:ext uri="{FF2B5EF4-FFF2-40B4-BE49-F238E27FC236}">
                <a16:creationId xmlns:a16="http://schemas.microsoft.com/office/drawing/2014/main" id="{2457AB4C-C6D5-CEE6-8E62-A6BA2BD5898B}"/>
              </a:ext>
            </a:extLst>
          </p:cNvPr>
          <p:cNvSpPr>
            <a:spLocks noGrp="1"/>
          </p:cNvSpPr>
          <p:nvPr>
            <p:ph type="subTitle" idx="1"/>
          </p:nvPr>
        </p:nvSpPr>
        <p:spPr>
          <a:xfrm>
            <a:off x="0" y="578735"/>
            <a:ext cx="12052570" cy="6279266"/>
          </a:xfrm>
        </p:spPr>
        <p:txBody>
          <a:bodyPr>
            <a:noAutofit/>
          </a:bodyPr>
          <a:lstStyle/>
          <a:p>
            <a:pPr marL="342900" indent="-342900" algn="l">
              <a:buFont typeface="Wingdings" panose="05000000000000000000" pitchFamily="2" charset="2"/>
              <a:buChar char="v"/>
            </a:pPr>
            <a:r>
              <a:rPr lang="en-US" sz="3200" b="0" i="0" dirty="0">
                <a:solidFill>
                  <a:srgbClr val="FF0000"/>
                </a:solidFill>
                <a:effectLst/>
                <a:latin typeface="Nunito" pitchFamily="2" charset="0"/>
              </a:rPr>
              <a:t>Peter Chen </a:t>
            </a:r>
            <a:r>
              <a:rPr lang="en-US" sz="3200" b="0" i="0" dirty="0">
                <a:solidFill>
                  <a:srgbClr val="273239"/>
                </a:solidFill>
                <a:effectLst/>
                <a:latin typeface="Nunito" pitchFamily="2" charset="0"/>
              </a:rPr>
              <a:t>developed the ER diagram in </a:t>
            </a:r>
            <a:r>
              <a:rPr lang="en-US" sz="3200" b="0" i="0" dirty="0">
                <a:solidFill>
                  <a:srgbClr val="FF0000"/>
                </a:solidFill>
                <a:effectLst/>
                <a:latin typeface="Nunito" pitchFamily="2" charset="0"/>
              </a:rPr>
              <a:t>1976</a:t>
            </a:r>
            <a:r>
              <a:rPr lang="en-US" sz="3200" b="0" i="0" dirty="0">
                <a:solidFill>
                  <a:srgbClr val="273239"/>
                </a:solidFill>
                <a:effectLst/>
                <a:latin typeface="Nunito" pitchFamily="2" charset="0"/>
              </a:rPr>
              <a:t>. </a:t>
            </a:r>
          </a:p>
          <a:p>
            <a:pPr marL="342900" indent="-342900" algn="l">
              <a:buFont typeface="Wingdings" panose="05000000000000000000" pitchFamily="2" charset="2"/>
              <a:buChar char="v"/>
            </a:pPr>
            <a:r>
              <a:rPr lang="en-US" sz="3200" b="0" i="0" dirty="0">
                <a:solidFill>
                  <a:srgbClr val="273239"/>
                </a:solidFill>
                <a:effectLst/>
                <a:latin typeface="Nunito" pitchFamily="2" charset="0"/>
              </a:rPr>
              <a:t>The ER model was created to provide a simple and understandable model for representing the structure and logic of databases. </a:t>
            </a:r>
          </a:p>
          <a:p>
            <a:pPr marL="342900" indent="-342900" algn="l">
              <a:buFont typeface="Wingdings" panose="05000000000000000000" pitchFamily="2" charset="2"/>
              <a:buChar char="v"/>
            </a:pPr>
            <a:r>
              <a:rPr lang="en-US" sz="3200" b="0" i="0" dirty="0">
                <a:solidFill>
                  <a:srgbClr val="273239"/>
                </a:solidFill>
                <a:effectLst/>
                <a:latin typeface="Nunito" pitchFamily="2" charset="0"/>
              </a:rPr>
              <a:t>It has since evolved into the </a:t>
            </a:r>
            <a:r>
              <a:rPr lang="en-US" sz="3200" b="0" i="0" dirty="0">
                <a:solidFill>
                  <a:srgbClr val="FF0000"/>
                </a:solidFill>
                <a:effectLst/>
                <a:latin typeface="Nunito" pitchFamily="2" charset="0"/>
              </a:rPr>
              <a:t>Enhanced ER Model </a:t>
            </a:r>
            <a:r>
              <a:rPr lang="en-US" sz="3200" b="0" i="0" dirty="0">
                <a:solidFill>
                  <a:srgbClr val="273239"/>
                </a:solidFill>
                <a:effectLst/>
                <a:latin typeface="Nunito" pitchFamily="2" charset="0"/>
              </a:rPr>
              <a:t>and the </a:t>
            </a:r>
            <a:r>
              <a:rPr lang="en-US" sz="3200" b="0" i="0" dirty="0">
                <a:solidFill>
                  <a:srgbClr val="FF0000"/>
                </a:solidFill>
                <a:effectLst/>
                <a:latin typeface="Nunito" pitchFamily="2" charset="0"/>
              </a:rPr>
              <a:t>Object Relationship Model.</a:t>
            </a:r>
          </a:p>
          <a:p>
            <a:pPr marL="342900" indent="-342900" algn="l">
              <a:buFont typeface="Wingdings" panose="05000000000000000000" pitchFamily="2" charset="2"/>
              <a:buChar char="v"/>
            </a:pPr>
            <a:endParaRPr lang="en-US" sz="3200" dirty="0">
              <a:solidFill>
                <a:srgbClr val="FF0000"/>
              </a:solidFill>
              <a:latin typeface="Nunito" pitchFamily="2" charset="0"/>
            </a:endParaRPr>
          </a:p>
          <a:p>
            <a:pPr marL="342900" indent="-342900" algn="l">
              <a:buFont typeface="Wingdings" panose="05000000000000000000" pitchFamily="2" charset="2"/>
              <a:buChar char="v"/>
            </a:pPr>
            <a:r>
              <a:rPr lang="en-US" sz="3200" b="0" i="0" dirty="0">
                <a:solidFill>
                  <a:srgbClr val="273239"/>
                </a:solidFill>
                <a:effectLst/>
                <a:latin typeface="Nunito" pitchFamily="2" charset="0"/>
              </a:rPr>
              <a:t>The Entity Relational Model is a model for identifying entities to be represented in the database and representation of how those entities are related. </a:t>
            </a:r>
          </a:p>
          <a:p>
            <a:pPr marL="342900" indent="-342900" algn="l">
              <a:buFont typeface="Wingdings" panose="05000000000000000000" pitchFamily="2" charset="2"/>
              <a:buChar char="v"/>
            </a:pPr>
            <a:r>
              <a:rPr lang="en-US" sz="3200" b="0" i="0" dirty="0">
                <a:solidFill>
                  <a:srgbClr val="273239"/>
                </a:solidFill>
                <a:effectLst/>
                <a:latin typeface="Nunito" pitchFamily="2" charset="0"/>
              </a:rPr>
              <a:t>The Entity Relationship Diagram explains the relationship among the entities present in the database</a:t>
            </a:r>
            <a:endParaRPr lang="en-IN" sz="3200" dirty="0">
              <a:solidFill>
                <a:srgbClr val="FF0000"/>
              </a:solidFill>
            </a:endParaRPr>
          </a:p>
        </p:txBody>
      </p:sp>
    </p:spTree>
    <p:extLst>
      <p:ext uri="{BB962C8B-B14F-4D97-AF65-F5344CB8AC3E}">
        <p14:creationId xmlns:p14="http://schemas.microsoft.com/office/powerpoint/2010/main" val="2230695365"/>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Subtitle 2">
            <a:extLst>
              <a:ext uri="{FF2B5EF4-FFF2-40B4-BE49-F238E27FC236}">
                <a16:creationId xmlns:a16="http://schemas.microsoft.com/office/drawing/2014/main" id="{2457AB4C-C6D5-CEE6-8E62-A6BA2BD5898B}"/>
              </a:ext>
            </a:extLst>
          </p:cNvPr>
          <p:cNvSpPr>
            <a:spLocks noGrp="1"/>
          </p:cNvSpPr>
          <p:nvPr>
            <p:ph type="subTitle" idx="1"/>
          </p:nvPr>
        </p:nvSpPr>
        <p:spPr>
          <a:xfrm>
            <a:off x="0" y="333543"/>
            <a:ext cx="12052570" cy="6524457"/>
          </a:xfrm>
        </p:spPr>
        <p:txBody>
          <a:bodyPr>
            <a:normAutofit/>
          </a:bodyPr>
          <a:lstStyle/>
          <a:p>
            <a:pPr fontAlgn="base"/>
            <a:r>
              <a:rPr lang="en-US" sz="3600" b="1" i="0" dirty="0">
                <a:solidFill>
                  <a:srgbClr val="FF0000"/>
                </a:solidFill>
                <a:effectLst/>
                <a:latin typeface="Nunito" pitchFamily="2" charset="0"/>
              </a:rPr>
              <a:t>Symbols Used in ER Model</a:t>
            </a:r>
          </a:p>
          <a:p>
            <a:pPr algn="l" fontAlgn="base"/>
            <a:endParaRPr lang="en-US" b="1" i="0" dirty="0">
              <a:solidFill>
                <a:srgbClr val="FF0000"/>
              </a:solidFill>
              <a:effectLst/>
              <a:latin typeface="Nunito" pitchFamily="2" charset="0"/>
            </a:endParaRPr>
          </a:p>
          <a:p>
            <a:pPr algn="l" fontAlgn="base">
              <a:buFont typeface="Arial" panose="020B0604020202020204" pitchFamily="34" charset="0"/>
              <a:buChar char="•"/>
            </a:pPr>
            <a:r>
              <a:rPr lang="en-IN" sz="3200" b="1" i="0" dirty="0">
                <a:solidFill>
                  <a:srgbClr val="FF0000"/>
                </a:solidFill>
                <a:effectLst/>
                <a:latin typeface="Nunito" pitchFamily="2" charset="0"/>
              </a:rPr>
              <a:t>Rectangles: </a:t>
            </a:r>
            <a:r>
              <a:rPr lang="en-IN" sz="3200" b="0" i="0" dirty="0">
                <a:solidFill>
                  <a:srgbClr val="273239"/>
                </a:solidFill>
                <a:effectLst/>
                <a:latin typeface="Nunito" pitchFamily="2" charset="0"/>
              </a:rPr>
              <a:t>Rectangles represent Entities in the ER Model.</a:t>
            </a:r>
          </a:p>
          <a:p>
            <a:pPr algn="l" fontAlgn="base">
              <a:buFont typeface="Arial" panose="020B0604020202020204" pitchFamily="34" charset="0"/>
              <a:buChar char="•"/>
            </a:pPr>
            <a:r>
              <a:rPr lang="en-IN" sz="3200" b="1" i="0" dirty="0">
                <a:solidFill>
                  <a:srgbClr val="FF0000"/>
                </a:solidFill>
                <a:effectLst/>
                <a:latin typeface="Nunito" pitchFamily="2" charset="0"/>
              </a:rPr>
              <a:t>Ellipses: </a:t>
            </a:r>
            <a:r>
              <a:rPr lang="en-IN" sz="3200" b="0" i="0" dirty="0">
                <a:solidFill>
                  <a:srgbClr val="273239"/>
                </a:solidFill>
                <a:effectLst/>
                <a:latin typeface="Nunito" pitchFamily="2" charset="0"/>
              </a:rPr>
              <a:t>Ellipses represent Attributes in the ER Model.</a:t>
            </a:r>
          </a:p>
          <a:p>
            <a:pPr algn="l" fontAlgn="base">
              <a:buFont typeface="Arial" panose="020B0604020202020204" pitchFamily="34" charset="0"/>
              <a:buChar char="•"/>
            </a:pPr>
            <a:r>
              <a:rPr lang="en-IN" sz="3200" b="1" i="0" dirty="0">
                <a:solidFill>
                  <a:srgbClr val="FF0000"/>
                </a:solidFill>
                <a:effectLst/>
                <a:latin typeface="Nunito" pitchFamily="2" charset="0"/>
              </a:rPr>
              <a:t>Diamond: </a:t>
            </a:r>
            <a:r>
              <a:rPr lang="en-IN" sz="3200" b="0" i="0" dirty="0">
                <a:solidFill>
                  <a:srgbClr val="273239"/>
                </a:solidFill>
                <a:effectLst/>
                <a:latin typeface="Nunito" pitchFamily="2" charset="0"/>
              </a:rPr>
              <a:t>Diamonds represent Relationships among Entities.</a:t>
            </a:r>
          </a:p>
          <a:p>
            <a:pPr algn="l" fontAlgn="base">
              <a:buFont typeface="Arial" panose="020B0604020202020204" pitchFamily="34" charset="0"/>
              <a:buChar char="•"/>
            </a:pPr>
            <a:r>
              <a:rPr lang="en-IN" sz="3200" b="1" i="0" dirty="0">
                <a:solidFill>
                  <a:srgbClr val="FF0000"/>
                </a:solidFill>
                <a:effectLst/>
                <a:latin typeface="Nunito" pitchFamily="2" charset="0"/>
              </a:rPr>
              <a:t>Lines: </a:t>
            </a:r>
            <a:r>
              <a:rPr lang="en-IN" sz="3200" b="0" i="0" dirty="0">
                <a:solidFill>
                  <a:srgbClr val="273239"/>
                </a:solidFill>
                <a:effectLst/>
                <a:latin typeface="Nunito" pitchFamily="2" charset="0"/>
              </a:rPr>
              <a:t>Lines represent attributes to entities and entity sets with other relationship types.</a:t>
            </a:r>
          </a:p>
          <a:p>
            <a:pPr algn="l" fontAlgn="base">
              <a:buFont typeface="Arial" panose="020B0604020202020204" pitchFamily="34" charset="0"/>
              <a:buChar char="•"/>
            </a:pPr>
            <a:r>
              <a:rPr lang="en-IN" sz="3200" b="1" i="0" dirty="0">
                <a:solidFill>
                  <a:srgbClr val="FF0000"/>
                </a:solidFill>
                <a:effectLst/>
                <a:latin typeface="Nunito" pitchFamily="2" charset="0"/>
              </a:rPr>
              <a:t>Double Ellipse: </a:t>
            </a:r>
            <a:r>
              <a:rPr lang="en-IN" sz="3200" b="0" i="0" dirty="0">
                <a:solidFill>
                  <a:srgbClr val="273239"/>
                </a:solidFill>
                <a:effectLst/>
                <a:latin typeface="Nunito" pitchFamily="2" charset="0"/>
              </a:rPr>
              <a:t>Double Ellipses represent Multi-Valued Attributes.</a:t>
            </a:r>
          </a:p>
          <a:p>
            <a:pPr algn="l" fontAlgn="base">
              <a:buFont typeface="Arial" panose="020B0604020202020204" pitchFamily="34" charset="0"/>
              <a:buChar char="•"/>
            </a:pPr>
            <a:r>
              <a:rPr lang="en-IN" sz="3200" b="1" i="0" dirty="0">
                <a:solidFill>
                  <a:srgbClr val="FF0000"/>
                </a:solidFill>
                <a:effectLst/>
                <a:latin typeface="Nunito" pitchFamily="2" charset="0"/>
              </a:rPr>
              <a:t>Double Rectangle: </a:t>
            </a:r>
            <a:r>
              <a:rPr lang="en-IN" sz="3200" b="0" i="0" dirty="0">
                <a:solidFill>
                  <a:srgbClr val="273239"/>
                </a:solidFill>
                <a:effectLst/>
                <a:latin typeface="Nunito" pitchFamily="2" charset="0"/>
              </a:rPr>
              <a:t>Double Rectangle represents a Weak Entity.</a:t>
            </a:r>
          </a:p>
          <a:p>
            <a:pPr algn="l" fontAlgn="base"/>
            <a:endParaRPr lang="en-US" b="1" i="0" dirty="0">
              <a:solidFill>
                <a:srgbClr val="273239"/>
              </a:solidFill>
              <a:effectLst/>
              <a:latin typeface="Nunito" pitchFamily="2" charset="0"/>
            </a:endParaRPr>
          </a:p>
        </p:txBody>
      </p:sp>
    </p:spTree>
    <p:extLst>
      <p:ext uri="{BB962C8B-B14F-4D97-AF65-F5344CB8AC3E}">
        <p14:creationId xmlns:p14="http://schemas.microsoft.com/office/powerpoint/2010/main" val="2866837291"/>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TextBox 5">
            <a:extLst>
              <a:ext uri="{FF2B5EF4-FFF2-40B4-BE49-F238E27FC236}">
                <a16:creationId xmlns:a16="http://schemas.microsoft.com/office/drawing/2014/main" id="{6AC68942-1EAB-CD39-AF34-D78F7E03E69A}"/>
              </a:ext>
            </a:extLst>
          </p:cNvPr>
          <p:cNvSpPr txBox="1"/>
          <p:nvPr/>
        </p:nvSpPr>
        <p:spPr>
          <a:xfrm>
            <a:off x="234387" y="343568"/>
            <a:ext cx="11838007" cy="2585323"/>
          </a:xfrm>
          <a:prstGeom prst="rect">
            <a:avLst/>
          </a:prstGeom>
          <a:noFill/>
        </p:spPr>
        <p:txBody>
          <a:bodyPr wrap="square">
            <a:spAutoFit/>
          </a:bodyPr>
          <a:lstStyle/>
          <a:p>
            <a:pPr algn="l" fontAlgn="base"/>
            <a:r>
              <a:rPr lang="en-US" b="1" i="0" dirty="0">
                <a:solidFill>
                  <a:srgbClr val="273239"/>
                </a:solidFill>
                <a:effectLst/>
                <a:latin typeface="Nunito" pitchFamily="2" charset="0"/>
              </a:rPr>
              <a:t>What is Entity?</a:t>
            </a:r>
          </a:p>
          <a:p>
            <a:pPr algn="just" rtl="0" fontAlgn="base"/>
            <a:r>
              <a:rPr lang="en-US" sz="2400" b="0" i="0" dirty="0">
                <a:solidFill>
                  <a:srgbClr val="273239"/>
                </a:solidFill>
                <a:effectLst/>
                <a:latin typeface="Nunito" pitchFamily="2" charset="0"/>
              </a:rPr>
              <a:t>An Entity may be an object with a physical existence – a particular person, car, house, or employee – or it may be an object with a conceptual existence – a company, a job, or a university course.</a:t>
            </a:r>
          </a:p>
          <a:p>
            <a:pPr algn="just" rtl="0" fontAlgn="base"/>
            <a:endParaRPr lang="en-US" dirty="0">
              <a:solidFill>
                <a:srgbClr val="273239"/>
              </a:solidFill>
              <a:latin typeface="Nunito" pitchFamily="2" charset="0"/>
            </a:endParaRPr>
          </a:p>
          <a:p>
            <a:pPr algn="just" rtl="0" fontAlgn="base"/>
            <a:endParaRPr lang="en-US" b="0" i="0" dirty="0">
              <a:solidFill>
                <a:srgbClr val="273239"/>
              </a:solidFill>
              <a:effectLst/>
              <a:latin typeface="Nunito" pitchFamily="2" charset="0"/>
            </a:endParaRPr>
          </a:p>
          <a:p>
            <a:pPr algn="just" rtl="0" fontAlgn="base"/>
            <a:endParaRPr lang="en-US" b="0" i="0" dirty="0">
              <a:solidFill>
                <a:srgbClr val="273239"/>
              </a:solidFill>
              <a:effectLst/>
              <a:latin typeface="Nunito" pitchFamily="2" charset="0"/>
            </a:endParaRPr>
          </a:p>
          <a:p>
            <a:pPr algn="just" rtl="0" fontAlgn="base"/>
            <a:endParaRPr lang="en-US" b="0" i="0" dirty="0">
              <a:solidFill>
                <a:srgbClr val="273239"/>
              </a:solidFill>
              <a:effectLst/>
              <a:latin typeface="Nunito" pitchFamily="2" charset="0"/>
            </a:endParaRPr>
          </a:p>
        </p:txBody>
      </p:sp>
      <p:sp>
        <p:nvSpPr>
          <p:cNvPr id="10" name="TextBox 9">
            <a:extLst>
              <a:ext uri="{FF2B5EF4-FFF2-40B4-BE49-F238E27FC236}">
                <a16:creationId xmlns:a16="http://schemas.microsoft.com/office/drawing/2014/main" id="{8FF30DCB-033C-CEDD-1909-69B959CD55EE}"/>
              </a:ext>
            </a:extLst>
          </p:cNvPr>
          <p:cNvSpPr txBox="1"/>
          <p:nvPr/>
        </p:nvSpPr>
        <p:spPr>
          <a:xfrm>
            <a:off x="59320" y="1910663"/>
            <a:ext cx="12013074" cy="1569660"/>
          </a:xfrm>
          <a:prstGeom prst="rect">
            <a:avLst/>
          </a:prstGeom>
          <a:noFill/>
        </p:spPr>
        <p:txBody>
          <a:bodyPr wrap="square">
            <a:spAutoFit/>
          </a:bodyPr>
          <a:lstStyle/>
          <a:p>
            <a:pPr algn="l" fontAlgn="base"/>
            <a:r>
              <a:rPr lang="en-US" sz="2400" b="1" i="0" dirty="0">
                <a:solidFill>
                  <a:srgbClr val="273239"/>
                </a:solidFill>
                <a:effectLst/>
                <a:latin typeface="Nunito" pitchFamily="2" charset="0"/>
              </a:rPr>
              <a:t>What is Entity Set?</a:t>
            </a:r>
          </a:p>
          <a:p>
            <a:pPr algn="just" rtl="0" fontAlgn="base"/>
            <a:r>
              <a:rPr lang="en-US" sz="2400" b="0" i="0" dirty="0">
                <a:solidFill>
                  <a:srgbClr val="273239"/>
                </a:solidFill>
                <a:effectLst/>
                <a:latin typeface="Nunito" pitchFamily="2" charset="0"/>
              </a:rPr>
              <a:t>An Entity is an object of Entity Type and a set of all entities is called an entity set. For Example, E1 is an entity having Entity Type Student and the set of all students is called Entity Set. In ER diagram, Entity Type is represented as:</a:t>
            </a:r>
          </a:p>
        </p:txBody>
      </p:sp>
      <p:pic>
        <p:nvPicPr>
          <p:cNvPr id="2056" name="Picture 8" descr="Entity Set">
            <a:extLst>
              <a:ext uri="{FF2B5EF4-FFF2-40B4-BE49-F238E27FC236}">
                <a16:creationId xmlns:a16="http://schemas.microsoft.com/office/drawing/2014/main" id="{EA7534F3-D489-2862-2636-8E56286EC5F1}"/>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420549" y="3557911"/>
            <a:ext cx="2580731" cy="2979013"/>
          </a:xfrm>
          <a:prstGeom prst="rect">
            <a:avLst/>
          </a:prstGeom>
          <a:noFill/>
          <a:extLst>
            <a:ext uri="{909E8E84-426E-40DD-AFC4-6F175D3DCCD1}">
              <a14:hiddenFill xmlns:a14="http://schemas.microsoft.com/office/drawing/2010/main">
                <a:solidFill>
                  <a:srgbClr val="FFFFFF"/>
                </a:solidFill>
              </a14:hiddenFill>
            </a:ext>
          </a:extLst>
        </p:spPr>
      </p:pic>
      <p:sp>
        <p:nvSpPr>
          <p:cNvPr id="12" name="TextBox 11">
            <a:extLst>
              <a:ext uri="{FF2B5EF4-FFF2-40B4-BE49-F238E27FC236}">
                <a16:creationId xmlns:a16="http://schemas.microsoft.com/office/drawing/2014/main" id="{0B2ED704-7AF8-95A9-68A0-38E54C8D8CB3}"/>
              </a:ext>
            </a:extLst>
          </p:cNvPr>
          <p:cNvSpPr txBox="1"/>
          <p:nvPr/>
        </p:nvSpPr>
        <p:spPr>
          <a:xfrm>
            <a:off x="4039564" y="3858852"/>
            <a:ext cx="7731887" cy="2554545"/>
          </a:xfrm>
          <a:prstGeom prst="rect">
            <a:avLst/>
          </a:prstGeom>
          <a:noFill/>
        </p:spPr>
        <p:txBody>
          <a:bodyPr wrap="square">
            <a:spAutoFit/>
          </a:bodyPr>
          <a:lstStyle/>
          <a:p>
            <a:r>
              <a:rPr lang="en-US" sz="3200" b="0" i="0" dirty="0">
                <a:solidFill>
                  <a:srgbClr val="273239"/>
                </a:solidFill>
                <a:effectLst/>
                <a:latin typeface="Nunito" pitchFamily="2" charset="0"/>
              </a:rPr>
              <a:t>We can represent the entity set in ER Diagram but can’t represent entity in ER Diagram because entity is row and column in the relation and ER Diagram is graphical representation of data.</a:t>
            </a:r>
            <a:endParaRPr lang="en-IN" sz="3200" dirty="0"/>
          </a:p>
        </p:txBody>
      </p:sp>
    </p:spTree>
    <p:extLst>
      <p:ext uri="{BB962C8B-B14F-4D97-AF65-F5344CB8AC3E}">
        <p14:creationId xmlns:p14="http://schemas.microsoft.com/office/powerpoint/2010/main" val="2087574282"/>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6EFBAC0-F8C9-BD58-0715-C5B8CF06895C}"/>
              </a:ext>
            </a:extLst>
          </p:cNvPr>
          <p:cNvSpPr>
            <a:spLocks noGrp="1"/>
          </p:cNvSpPr>
          <p:nvPr>
            <p:ph type="title"/>
          </p:nvPr>
        </p:nvSpPr>
        <p:spPr>
          <a:xfrm>
            <a:off x="324091" y="0"/>
            <a:ext cx="11029709" cy="1325563"/>
          </a:xfrm>
        </p:spPr>
        <p:txBody>
          <a:bodyPr>
            <a:normAutofit/>
          </a:bodyPr>
          <a:lstStyle/>
          <a:p>
            <a:pPr algn="ctr" fontAlgn="base"/>
            <a:r>
              <a:rPr lang="en-US" b="1" i="0" dirty="0">
                <a:solidFill>
                  <a:srgbClr val="273239"/>
                </a:solidFill>
                <a:effectLst/>
                <a:latin typeface="Nunito" pitchFamily="2" charset="0"/>
              </a:rPr>
              <a:t>Types of Entity</a:t>
            </a:r>
            <a:br>
              <a:rPr lang="en-US" b="1" i="0" dirty="0">
                <a:solidFill>
                  <a:srgbClr val="273239"/>
                </a:solidFill>
                <a:effectLst/>
                <a:latin typeface="Nunito" pitchFamily="2" charset="0"/>
              </a:rPr>
            </a:br>
            <a:endParaRPr lang="en-IN" dirty="0"/>
          </a:p>
        </p:txBody>
      </p:sp>
      <p:sp>
        <p:nvSpPr>
          <p:cNvPr id="3" name="Content Placeholder 2">
            <a:extLst>
              <a:ext uri="{FF2B5EF4-FFF2-40B4-BE49-F238E27FC236}">
                <a16:creationId xmlns:a16="http://schemas.microsoft.com/office/drawing/2014/main" id="{A7A413AD-0F3E-8AE8-882F-FF31327B3B8F}"/>
              </a:ext>
            </a:extLst>
          </p:cNvPr>
          <p:cNvSpPr>
            <a:spLocks noGrp="1"/>
          </p:cNvSpPr>
          <p:nvPr>
            <p:ph idx="1"/>
          </p:nvPr>
        </p:nvSpPr>
        <p:spPr>
          <a:xfrm>
            <a:off x="34240" y="801919"/>
            <a:ext cx="11957131" cy="3272370"/>
          </a:xfrm>
        </p:spPr>
        <p:txBody>
          <a:bodyPr>
            <a:normAutofit/>
          </a:bodyPr>
          <a:lstStyle/>
          <a:p>
            <a:pPr marL="0" indent="0" algn="l" fontAlgn="base">
              <a:buNone/>
            </a:pPr>
            <a:r>
              <a:rPr lang="en-US" sz="3200" b="0" i="0" dirty="0">
                <a:solidFill>
                  <a:srgbClr val="273239"/>
                </a:solidFill>
                <a:effectLst/>
                <a:latin typeface="Nunito" pitchFamily="2" charset="0"/>
              </a:rPr>
              <a:t>There are two types of entity:</a:t>
            </a:r>
            <a:br>
              <a:rPr lang="en-US" sz="3200" b="0" i="0" dirty="0">
                <a:solidFill>
                  <a:srgbClr val="273239"/>
                </a:solidFill>
                <a:effectLst/>
                <a:latin typeface="Nunito" pitchFamily="2" charset="0"/>
              </a:rPr>
            </a:br>
            <a:r>
              <a:rPr lang="en-US" sz="3200" b="1" i="0" dirty="0">
                <a:solidFill>
                  <a:srgbClr val="273239"/>
                </a:solidFill>
                <a:effectLst/>
                <a:latin typeface="Nunito" pitchFamily="2" charset="0"/>
              </a:rPr>
              <a:t>1. Strong Entity </a:t>
            </a:r>
            <a:r>
              <a:rPr lang="en-US" sz="3200" b="0" i="0" dirty="0">
                <a:solidFill>
                  <a:srgbClr val="273239"/>
                </a:solidFill>
                <a:effectLst/>
                <a:latin typeface="Nunito" pitchFamily="2" charset="0"/>
              </a:rPr>
              <a:t>A </a:t>
            </a:r>
            <a:r>
              <a:rPr lang="en-US" sz="3200" b="0" i="0" u="sng" dirty="0">
                <a:solidFill>
                  <a:srgbClr val="273239"/>
                </a:solidFill>
                <a:effectLst/>
                <a:latin typeface="Nunito" pitchFamily="2" charset="0"/>
                <a:hlinkClick r:id="rId2"/>
              </a:rPr>
              <a:t>Strong Entity </a:t>
            </a:r>
            <a:r>
              <a:rPr lang="en-US" sz="3200" b="0" i="0" dirty="0">
                <a:solidFill>
                  <a:srgbClr val="273239"/>
                </a:solidFill>
                <a:effectLst/>
                <a:latin typeface="Nunito" pitchFamily="2" charset="0"/>
              </a:rPr>
              <a:t>is a type of entity that has a </a:t>
            </a:r>
            <a:r>
              <a:rPr lang="en-US" sz="3200" b="0" i="0" dirty="0">
                <a:solidFill>
                  <a:srgbClr val="FF0000"/>
                </a:solidFill>
                <a:effectLst/>
                <a:latin typeface="Nunito" pitchFamily="2" charset="0"/>
              </a:rPr>
              <a:t>key Attribute</a:t>
            </a:r>
            <a:r>
              <a:rPr lang="en-US" sz="3200" b="0" i="0" dirty="0">
                <a:solidFill>
                  <a:srgbClr val="273239"/>
                </a:solidFill>
                <a:effectLst/>
                <a:latin typeface="Nunito" pitchFamily="2" charset="0"/>
              </a:rPr>
              <a:t>. Strong Entity </a:t>
            </a:r>
            <a:r>
              <a:rPr lang="en-US" sz="3200" b="0" i="0" dirty="0">
                <a:solidFill>
                  <a:srgbClr val="FF0000"/>
                </a:solidFill>
                <a:effectLst/>
                <a:latin typeface="Nunito" pitchFamily="2" charset="0"/>
              </a:rPr>
              <a:t>does not depend on other Entity </a:t>
            </a:r>
            <a:r>
              <a:rPr lang="en-US" sz="3200" b="0" i="0" dirty="0">
                <a:solidFill>
                  <a:srgbClr val="273239"/>
                </a:solidFill>
                <a:effectLst/>
                <a:latin typeface="Nunito" pitchFamily="2" charset="0"/>
              </a:rPr>
              <a:t>in the Schema. </a:t>
            </a:r>
            <a:r>
              <a:rPr lang="en-US" sz="3200" b="0" i="0" dirty="0">
                <a:solidFill>
                  <a:srgbClr val="FF0000"/>
                </a:solidFill>
                <a:effectLst/>
                <a:latin typeface="Nunito" pitchFamily="2" charset="0"/>
              </a:rPr>
              <a:t>It has a primary key</a:t>
            </a:r>
            <a:r>
              <a:rPr lang="en-US" sz="3200" b="0" i="0" dirty="0">
                <a:solidFill>
                  <a:srgbClr val="273239"/>
                </a:solidFill>
                <a:effectLst/>
                <a:latin typeface="Nunito" pitchFamily="2" charset="0"/>
              </a:rPr>
              <a:t>, that helps in identifying it </a:t>
            </a:r>
            <a:r>
              <a:rPr lang="en-US" sz="3200" b="0" i="0" dirty="0">
                <a:solidFill>
                  <a:srgbClr val="FF0000"/>
                </a:solidFill>
                <a:effectLst/>
                <a:latin typeface="Nunito" pitchFamily="2" charset="0"/>
              </a:rPr>
              <a:t>uniquely</a:t>
            </a:r>
            <a:r>
              <a:rPr lang="en-US" sz="3200" b="0" i="0" dirty="0">
                <a:solidFill>
                  <a:srgbClr val="273239"/>
                </a:solidFill>
                <a:effectLst/>
                <a:latin typeface="Nunito" pitchFamily="2" charset="0"/>
              </a:rPr>
              <a:t>, and it is represented by a rectangle. These are called Strong Entity Types.</a:t>
            </a:r>
          </a:p>
          <a:p>
            <a:endParaRPr lang="en-IN" dirty="0"/>
          </a:p>
        </p:txBody>
      </p:sp>
      <p:pic>
        <p:nvPicPr>
          <p:cNvPr id="3074" name="Picture 2" descr="Strong Entity and Weak Entity">
            <a:extLst>
              <a:ext uri="{FF2B5EF4-FFF2-40B4-BE49-F238E27FC236}">
                <a16:creationId xmlns:a16="http://schemas.microsoft.com/office/drawing/2014/main" id="{ABC171B9-0583-6BD3-1A06-5AE41422DBC4}"/>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200629" y="4074289"/>
            <a:ext cx="11790742" cy="2355701"/>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592590133"/>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0947176C-E818-64C2-0148-DBED2B12E33E}"/>
              </a:ext>
            </a:extLst>
          </p:cNvPr>
          <p:cNvSpPr>
            <a:spLocks noGrp="1"/>
          </p:cNvSpPr>
          <p:nvPr>
            <p:ph idx="1"/>
          </p:nvPr>
        </p:nvSpPr>
        <p:spPr>
          <a:xfrm>
            <a:off x="208344" y="0"/>
            <a:ext cx="11864051" cy="6858000"/>
          </a:xfrm>
        </p:spPr>
        <p:txBody>
          <a:bodyPr>
            <a:normAutofit lnSpcReduction="10000"/>
          </a:bodyPr>
          <a:lstStyle/>
          <a:p>
            <a:pPr algn="l" fontAlgn="base"/>
            <a:r>
              <a:rPr lang="en-US" sz="3200" b="1" i="0" dirty="0">
                <a:solidFill>
                  <a:srgbClr val="273239"/>
                </a:solidFill>
                <a:effectLst/>
                <a:latin typeface="Nunito" pitchFamily="2" charset="0"/>
              </a:rPr>
              <a:t>2. Weak Entity</a:t>
            </a:r>
          </a:p>
          <a:p>
            <a:pPr algn="just" rtl="0" fontAlgn="base"/>
            <a:r>
              <a:rPr lang="en-US" sz="3200" b="0" i="0" dirty="0">
                <a:solidFill>
                  <a:srgbClr val="273239"/>
                </a:solidFill>
                <a:effectLst/>
                <a:latin typeface="Nunito" pitchFamily="2" charset="0"/>
              </a:rPr>
              <a:t>An Entity type has a key attribute that uniquely identifies each entity in the entity set. But some entity type exists for which key attributes can’t be defined. These are called </a:t>
            </a:r>
            <a:r>
              <a:rPr lang="en-US" sz="3200" b="0" i="0" u="sng" dirty="0">
                <a:solidFill>
                  <a:srgbClr val="273239"/>
                </a:solidFill>
                <a:effectLst/>
                <a:latin typeface="Nunito" pitchFamily="2" charset="0"/>
                <a:hlinkClick r:id="rId2"/>
              </a:rPr>
              <a:t>Weak Entity types </a:t>
            </a:r>
            <a:r>
              <a:rPr lang="en-US" sz="3200" b="0" i="0" dirty="0">
                <a:solidFill>
                  <a:srgbClr val="273239"/>
                </a:solidFill>
                <a:effectLst/>
                <a:latin typeface="Nunito" pitchFamily="2" charset="0"/>
              </a:rPr>
              <a:t>.</a:t>
            </a:r>
          </a:p>
          <a:p>
            <a:pPr algn="just" rtl="0" fontAlgn="base"/>
            <a:r>
              <a:rPr lang="en-US" sz="3200" b="1" i="0" dirty="0">
                <a:solidFill>
                  <a:srgbClr val="273239"/>
                </a:solidFill>
                <a:effectLst/>
                <a:latin typeface="Nunito" pitchFamily="2" charset="0"/>
              </a:rPr>
              <a:t>For Example, </a:t>
            </a:r>
            <a:r>
              <a:rPr lang="en-US" sz="3200" b="0" i="0" dirty="0">
                <a:solidFill>
                  <a:srgbClr val="273239"/>
                </a:solidFill>
                <a:effectLst/>
                <a:latin typeface="Nunito" pitchFamily="2" charset="0"/>
              </a:rPr>
              <a:t>A company may store the information of dependents </a:t>
            </a:r>
            <a:r>
              <a:rPr lang="en-US" sz="3200" b="0" i="0" dirty="0">
                <a:solidFill>
                  <a:srgbClr val="FF0000"/>
                </a:solidFill>
                <a:effectLst/>
                <a:latin typeface="Nunito" pitchFamily="2" charset="0"/>
              </a:rPr>
              <a:t>(Parents, Children, Spouse) </a:t>
            </a:r>
            <a:r>
              <a:rPr lang="en-US" sz="3200" b="0" i="0" dirty="0">
                <a:solidFill>
                  <a:srgbClr val="273239"/>
                </a:solidFill>
                <a:effectLst/>
                <a:latin typeface="Nunito" pitchFamily="2" charset="0"/>
              </a:rPr>
              <a:t>of an Employee. But the </a:t>
            </a:r>
            <a:r>
              <a:rPr lang="en-US" sz="3200" b="0" i="0" dirty="0">
                <a:solidFill>
                  <a:srgbClr val="FF0000"/>
                </a:solidFill>
                <a:effectLst/>
                <a:latin typeface="Nunito" pitchFamily="2" charset="0"/>
              </a:rPr>
              <a:t>dependents can’t exist without the employee</a:t>
            </a:r>
            <a:r>
              <a:rPr lang="en-US" sz="3200" b="0" i="0" dirty="0">
                <a:solidFill>
                  <a:srgbClr val="273239"/>
                </a:solidFill>
                <a:effectLst/>
                <a:latin typeface="Nunito" pitchFamily="2" charset="0"/>
              </a:rPr>
              <a:t>. So Dependent will be a </a:t>
            </a:r>
            <a:r>
              <a:rPr lang="en-US" sz="3200" b="1" i="0" dirty="0">
                <a:solidFill>
                  <a:srgbClr val="FF0000"/>
                </a:solidFill>
                <a:effectLst/>
                <a:latin typeface="Nunito" pitchFamily="2" charset="0"/>
              </a:rPr>
              <a:t>Weak Entity Type </a:t>
            </a:r>
            <a:r>
              <a:rPr lang="en-US" sz="3200" b="0" i="0" dirty="0">
                <a:solidFill>
                  <a:srgbClr val="273239"/>
                </a:solidFill>
                <a:effectLst/>
                <a:latin typeface="Nunito" pitchFamily="2" charset="0"/>
              </a:rPr>
              <a:t>and </a:t>
            </a:r>
            <a:r>
              <a:rPr lang="en-US" sz="3200" b="0" i="0" dirty="0">
                <a:solidFill>
                  <a:srgbClr val="FF0000"/>
                </a:solidFill>
                <a:effectLst/>
                <a:latin typeface="Nunito" pitchFamily="2" charset="0"/>
              </a:rPr>
              <a:t>Employee </a:t>
            </a:r>
            <a:r>
              <a:rPr lang="en-US" sz="3200" b="0" i="0" dirty="0">
                <a:solidFill>
                  <a:srgbClr val="273239"/>
                </a:solidFill>
                <a:effectLst/>
                <a:latin typeface="Nunito" pitchFamily="2" charset="0"/>
              </a:rPr>
              <a:t>will be Identifying Entity type for Dependent, which means it is </a:t>
            </a:r>
            <a:r>
              <a:rPr lang="en-US" sz="3200" b="1" i="0" dirty="0">
                <a:solidFill>
                  <a:srgbClr val="FF0000"/>
                </a:solidFill>
                <a:effectLst/>
                <a:latin typeface="Nunito" pitchFamily="2" charset="0"/>
              </a:rPr>
              <a:t>Strong Entity Type </a:t>
            </a:r>
            <a:r>
              <a:rPr lang="en-US" sz="3200" b="0" i="0" dirty="0">
                <a:solidFill>
                  <a:srgbClr val="273239"/>
                </a:solidFill>
                <a:effectLst/>
                <a:latin typeface="Nunito" pitchFamily="2" charset="0"/>
              </a:rPr>
              <a:t>.</a:t>
            </a:r>
          </a:p>
          <a:p>
            <a:pPr algn="just" rtl="0" fontAlgn="base"/>
            <a:r>
              <a:rPr lang="en-US" sz="3200" b="0" i="0" dirty="0">
                <a:solidFill>
                  <a:srgbClr val="273239"/>
                </a:solidFill>
                <a:effectLst/>
                <a:latin typeface="Nunito" pitchFamily="2" charset="0"/>
              </a:rPr>
              <a:t>A weak entity type is represented by a </a:t>
            </a:r>
            <a:r>
              <a:rPr lang="en-US" sz="3200" b="0" i="0" dirty="0">
                <a:solidFill>
                  <a:srgbClr val="FF0000"/>
                </a:solidFill>
                <a:effectLst/>
                <a:latin typeface="Nunito" pitchFamily="2" charset="0"/>
              </a:rPr>
              <a:t>Double Rectangle</a:t>
            </a:r>
            <a:r>
              <a:rPr lang="en-US" sz="3200" b="0" i="0" dirty="0">
                <a:solidFill>
                  <a:srgbClr val="273239"/>
                </a:solidFill>
                <a:effectLst/>
                <a:latin typeface="Nunito" pitchFamily="2" charset="0"/>
              </a:rPr>
              <a:t>. The participation of weak entity types is </a:t>
            </a:r>
            <a:r>
              <a:rPr lang="en-US" sz="3200" b="0" i="0" dirty="0">
                <a:solidFill>
                  <a:srgbClr val="FF0000"/>
                </a:solidFill>
                <a:effectLst/>
                <a:latin typeface="Nunito" pitchFamily="2" charset="0"/>
              </a:rPr>
              <a:t>always total</a:t>
            </a:r>
            <a:r>
              <a:rPr lang="en-US" sz="3200" b="0" i="0" dirty="0">
                <a:solidFill>
                  <a:srgbClr val="273239"/>
                </a:solidFill>
                <a:effectLst/>
                <a:latin typeface="Nunito" pitchFamily="2" charset="0"/>
              </a:rPr>
              <a:t>. The relationship between the weak entity type and its identifying strong entity type is called identifying relationship and it is represented by a </a:t>
            </a:r>
            <a:r>
              <a:rPr lang="en-US" sz="3200" b="0" i="0" dirty="0">
                <a:solidFill>
                  <a:srgbClr val="FF0000"/>
                </a:solidFill>
                <a:effectLst/>
                <a:latin typeface="Nunito" pitchFamily="2" charset="0"/>
              </a:rPr>
              <a:t>double diamond</a:t>
            </a:r>
            <a:r>
              <a:rPr lang="en-US" sz="3200" b="0" i="0" dirty="0">
                <a:solidFill>
                  <a:srgbClr val="273239"/>
                </a:solidFill>
                <a:effectLst/>
                <a:latin typeface="Nunito" pitchFamily="2" charset="0"/>
              </a:rPr>
              <a:t>.</a:t>
            </a:r>
          </a:p>
          <a:p>
            <a:endParaRPr lang="en-IN" dirty="0"/>
          </a:p>
        </p:txBody>
      </p:sp>
    </p:spTree>
    <p:extLst>
      <p:ext uri="{BB962C8B-B14F-4D97-AF65-F5344CB8AC3E}">
        <p14:creationId xmlns:p14="http://schemas.microsoft.com/office/powerpoint/2010/main" val="2748721916"/>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Rectangle 3">
            <a:extLst>
              <a:ext uri="{FF2B5EF4-FFF2-40B4-BE49-F238E27FC236}">
                <a16:creationId xmlns:a16="http://schemas.microsoft.com/office/drawing/2014/main" id="{D8B5A467-BCBD-3C92-0EDD-A1150A2B4688}"/>
              </a:ext>
            </a:extLst>
          </p:cNvPr>
          <p:cNvSpPr>
            <a:spLocks noChangeArrowheads="1"/>
          </p:cNvSpPr>
          <p:nvPr/>
        </p:nvSpPr>
        <p:spPr bwMode="auto">
          <a:xfrm>
            <a:off x="152145" y="382012"/>
            <a:ext cx="11920250" cy="2954655"/>
          </a:xfrm>
          <a:prstGeom prst="rect">
            <a:avLst/>
          </a:prstGeom>
          <a:solidFill>
            <a:srgbClr val="FFFFFF"/>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0" tIns="0" rIns="0" bIns="0" numCol="1" anchor="ctr" anchorCtr="0" compatLnSpc="1">
            <a:prstTxWarp prst="textNoShape">
              <a:avLst/>
            </a:prstTxWarp>
            <a:spAutoFit/>
          </a:bodyPr>
          <a:lstStyle>
            <a:lvl1pPr eaLnBrk="0" fontAlgn="base" hangingPunct="0">
              <a:spcBef>
                <a:spcPct val="0"/>
              </a:spcBef>
              <a:spcAft>
                <a:spcPct val="0"/>
              </a:spcAft>
              <a:defRPr>
                <a:solidFill>
                  <a:schemeClr val="tx1"/>
                </a:solidFill>
                <a:latin typeface="Arial" panose="020B0604020202020204" pitchFamily="34" charset="0"/>
              </a:defRPr>
            </a:lvl1pPr>
            <a:lvl2pPr eaLnBrk="0" fontAlgn="base" hangingPunct="0">
              <a:spcBef>
                <a:spcPct val="0"/>
              </a:spcBef>
              <a:spcAft>
                <a:spcPct val="0"/>
              </a:spcAft>
              <a:defRPr>
                <a:solidFill>
                  <a:schemeClr val="tx1"/>
                </a:solidFill>
                <a:latin typeface="Arial" panose="020B0604020202020204" pitchFamily="34" charset="0"/>
              </a:defRPr>
            </a:lvl2pPr>
            <a:lvl3pPr eaLnBrk="0" fontAlgn="base" hangingPunct="0">
              <a:spcBef>
                <a:spcPct val="0"/>
              </a:spcBef>
              <a:spcAft>
                <a:spcPct val="0"/>
              </a:spcAft>
              <a:defRPr>
                <a:solidFill>
                  <a:schemeClr val="tx1"/>
                </a:solidFill>
                <a:latin typeface="Arial" panose="020B0604020202020204" pitchFamily="34" charset="0"/>
              </a:defRPr>
            </a:lvl3pPr>
            <a:lvl4pPr eaLnBrk="0" fontAlgn="base" hangingPunct="0">
              <a:spcBef>
                <a:spcPct val="0"/>
              </a:spcBef>
              <a:spcAft>
                <a:spcPct val="0"/>
              </a:spcAft>
              <a:defRPr>
                <a:solidFill>
                  <a:schemeClr val="tx1"/>
                </a:solidFill>
                <a:latin typeface="Arial" panose="020B0604020202020204" pitchFamily="34" charset="0"/>
              </a:defRPr>
            </a:lvl4pPr>
            <a:lvl5pPr eaLnBrk="0" fontAlgn="base" hangingPunct="0">
              <a:spcBef>
                <a:spcPct val="0"/>
              </a:spcBef>
              <a:spcAft>
                <a:spcPct val="0"/>
              </a:spcAft>
              <a:defRPr>
                <a:solidFill>
                  <a:schemeClr val="tx1"/>
                </a:solidFill>
                <a:latin typeface="Arial" panose="020B0604020202020204" pitchFamily="34" charset="0"/>
              </a:defRPr>
            </a:lvl5pPr>
            <a:lvl6pPr eaLnBrk="0" fontAlgn="base" hangingPunct="0">
              <a:spcBef>
                <a:spcPct val="0"/>
              </a:spcBef>
              <a:spcAft>
                <a:spcPct val="0"/>
              </a:spcAft>
              <a:defRPr>
                <a:solidFill>
                  <a:schemeClr val="tx1"/>
                </a:solidFill>
                <a:latin typeface="Arial" panose="020B0604020202020204" pitchFamily="34" charset="0"/>
              </a:defRPr>
            </a:lvl6pPr>
            <a:lvl7pPr eaLnBrk="0" fontAlgn="base" hangingPunct="0">
              <a:spcBef>
                <a:spcPct val="0"/>
              </a:spcBef>
              <a:spcAft>
                <a:spcPct val="0"/>
              </a:spcAft>
              <a:defRPr>
                <a:solidFill>
                  <a:schemeClr val="tx1"/>
                </a:solidFill>
                <a:latin typeface="Arial" panose="020B0604020202020204" pitchFamily="34" charset="0"/>
              </a:defRPr>
            </a:lvl7pPr>
            <a:lvl8pPr eaLnBrk="0" fontAlgn="base" hangingPunct="0">
              <a:spcBef>
                <a:spcPct val="0"/>
              </a:spcBef>
              <a:spcAft>
                <a:spcPct val="0"/>
              </a:spcAft>
              <a:defRPr>
                <a:solidFill>
                  <a:schemeClr val="tx1"/>
                </a:solidFill>
                <a:latin typeface="Arial" panose="020B0604020202020204" pitchFamily="34" charset="0"/>
              </a:defRPr>
            </a:lvl8pPr>
            <a:lvl9pPr eaLnBrk="0" fontAlgn="base" hangingPunct="0">
              <a:spcBef>
                <a:spcPct val="0"/>
              </a:spcBef>
              <a:spcAft>
                <a:spcPct val="0"/>
              </a:spcAft>
              <a:defRPr>
                <a:solidFill>
                  <a:schemeClr val="tx1"/>
                </a:solidFill>
                <a:latin typeface="Arial" panose="020B0604020202020204" pitchFamily="34" charset="0"/>
              </a:defRPr>
            </a:lvl9pPr>
          </a:lstStyle>
          <a:p>
            <a:pPr marL="0" marR="0" lvl="0" indent="0" algn="l" defTabSz="914400" rtl="0" eaLnBrk="0" fontAlgn="base" latinLnBrk="0" hangingPunct="0">
              <a:lnSpc>
                <a:spcPct val="100000"/>
              </a:lnSpc>
              <a:spcBef>
                <a:spcPct val="0"/>
              </a:spcBef>
              <a:spcAft>
                <a:spcPct val="0"/>
              </a:spcAft>
              <a:buClrTx/>
              <a:buSzTx/>
              <a:buFontTx/>
              <a:buNone/>
              <a:tabLst/>
            </a:pPr>
            <a:r>
              <a:rPr kumimoji="0" lang="en-US" altLang="en-US" sz="2800" b="1" i="0" u="none" strike="noStrike" cap="none" normalizeH="0" baseline="0" dirty="0">
                <a:ln>
                  <a:noFill/>
                </a:ln>
                <a:solidFill>
                  <a:srgbClr val="273239"/>
                </a:solidFill>
                <a:effectLst/>
                <a:latin typeface="Nunito" pitchFamily="2" charset="0"/>
              </a:rPr>
              <a:t>What is Attributes?</a:t>
            </a:r>
          </a:p>
          <a:p>
            <a:pPr marL="0" marR="0" lvl="0" indent="0" algn="l" defTabSz="914400" rtl="0" eaLnBrk="0" fontAlgn="base" latinLnBrk="0" hangingPunct="0">
              <a:lnSpc>
                <a:spcPct val="100000"/>
              </a:lnSpc>
              <a:spcBef>
                <a:spcPct val="0"/>
              </a:spcBef>
              <a:spcAft>
                <a:spcPct val="0"/>
              </a:spcAft>
              <a:buClrTx/>
              <a:buSzTx/>
              <a:buFontTx/>
              <a:buNone/>
              <a:tabLst/>
            </a:pPr>
            <a:r>
              <a:rPr kumimoji="0" lang="en-US" altLang="en-US" sz="3200" b="0" i="0" u="sng" strike="noStrike" cap="none" normalizeH="0" baseline="0" dirty="0">
                <a:ln>
                  <a:noFill/>
                </a:ln>
                <a:solidFill>
                  <a:srgbClr val="FF0000"/>
                </a:solidFill>
                <a:effectLst/>
                <a:latin typeface="Nunito" pitchFamily="2" charset="0"/>
                <a:hlinkClick r:id="rId2">
                  <a:extLst>
                    <a:ext uri="{A12FA001-AC4F-418D-AE19-62706E023703}">
                      <ahyp:hlinkClr xmlns:ahyp="http://schemas.microsoft.com/office/drawing/2018/hyperlinkcolor" val="tx"/>
                    </a:ext>
                  </a:extLst>
                </a:hlinkClick>
              </a:rPr>
              <a:t>Attributes</a:t>
            </a:r>
            <a:r>
              <a:rPr kumimoji="0" lang="en-US" altLang="en-US" sz="3200" b="0" i="0" u="sng" strike="noStrike" cap="none" normalizeH="0" baseline="0" dirty="0">
                <a:ln>
                  <a:noFill/>
                </a:ln>
                <a:solidFill>
                  <a:srgbClr val="467886"/>
                </a:solidFill>
                <a:effectLst/>
                <a:latin typeface="Nunito" pitchFamily="2" charset="0"/>
                <a:hlinkClick r:id="rId2">
                  <a:extLst>
                    <a:ext uri="{A12FA001-AC4F-418D-AE19-62706E023703}">
                      <ahyp:hlinkClr xmlns:ahyp="http://schemas.microsoft.com/office/drawing/2018/hyperlinkcolor" val="tx"/>
                    </a:ext>
                  </a:extLst>
                </a:hlinkClick>
              </a:rPr>
              <a:t> </a:t>
            </a:r>
            <a:r>
              <a:rPr kumimoji="0" lang="en-US" altLang="en-US" sz="3200" b="0" i="0" u="none" strike="noStrike" cap="none" normalizeH="0" baseline="0" dirty="0">
                <a:ln>
                  <a:noFill/>
                </a:ln>
                <a:solidFill>
                  <a:srgbClr val="273239"/>
                </a:solidFill>
                <a:effectLst/>
                <a:latin typeface="Nunito" pitchFamily="2" charset="0"/>
              </a:rPr>
              <a:t>are the </a:t>
            </a:r>
            <a:r>
              <a:rPr kumimoji="0" lang="en-US" altLang="en-US" sz="3200" b="0" i="0" u="none" strike="noStrike" cap="none" normalizeH="0" baseline="0" dirty="0">
                <a:ln>
                  <a:noFill/>
                </a:ln>
                <a:solidFill>
                  <a:srgbClr val="FF0000"/>
                </a:solidFill>
                <a:effectLst/>
                <a:latin typeface="Nunito" pitchFamily="2" charset="0"/>
              </a:rPr>
              <a:t>properties </a:t>
            </a:r>
            <a:r>
              <a:rPr kumimoji="0" lang="en-US" altLang="en-US" sz="3200" b="0" i="0" u="none" strike="noStrike" cap="none" normalizeH="0" baseline="0" dirty="0">
                <a:ln>
                  <a:noFill/>
                </a:ln>
                <a:solidFill>
                  <a:srgbClr val="273239"/>
                </a:solidFill>
                <a:effectLst/>
                <a:latin typeface="Nunito" pitchFamily="2" charset="0"/>
              </a:rPr>
              <a:t>that define the </a:t>
            </a:r>
            <a:r>
              <a:rPr kumimoji="0" lang="en-US" altLang="en-US" sz="3200" b="0" i="0" u="none" strike="noStrike" cap="none" normalizeH="0" baseline="0" dirty="0">
                <a:ln>
                  <a:noFill/>
                </a:ln>
                <a:solidFill>
                  <a:srgbClr val="FF0000"/>
                </a:solidFill>
                <a:effectLst/>
                <a:latin typeface="Nunito" pitchFamily="2" charset="0"/>
              </a:rPr>
              <a:t>entity type</a:t>
            </a:r>
            <a:r>
              <a:rPr kumimoji="0" lang="en-US" altLang="en-US" sz="3200" b="0" i="0" u="none" strike="noStrike" cap="none" normalizeH="0" baseline="0" dirty="0">
                <a:ln>
                  <a:noFill/>
                </a:ln>
                <a:solidFill>
                  <a:srgbClr val="273239"/>
                </a:solidFill>
                <a:effectLst/>
                <a:latin typeface="Nunito" pitchFamily="2" charset="0"/>
              </a:rPr>
              <a:t>. </a:t>
            </a:r>
          </a:p>
          <a:p>
            <a:pPr marL="0" marR="0" lvl="0" indent="0" algn="l" defTabSz="914400" rtl="0" eaLnBrk="0" fontAlgn="base" latinLnBrk="0" hangingPunct="0">
              <a:lnSpc>
                <a:spcPct val="100000"/>
              </a:lnSpc>
              <a:spcBef>
                <a:spcPct val="0"/>
              </a:spcBef>
              <a:spcAft>
                <a:spcPct val="0"/>
              </a:spcAft>
              <a:buClrTx/>
              <a:buSzTx/>
              <a:buFontTx/>
              <a:buNone/>
              <a:tabLst/>
            </a:pPr>
            <a:r>
              <a:rPr kumimoji="0" lang="en-US" altLang="en-US" sz="3200" b="0" i="0" u="none" strike="noStrike" cap="none" normalizeH="0" baseline="0" dirty="0">
                <a:ln>
                  <a:noFill/>
                </a:ln>
                <a:solidFill>
                  <a:srgbClr val="273239"/>
                </a:solidFill>
                <a:effectLst/>
                <a:latin typeface="Nunito" pitchFamily="2" charset="0"/>
              </a:rPr>
              <a:t>For example</a:t>
            </a:r>
            <a:r>
              <a:rPr kumimoji="0" lang="en-US" altLang="en-US" sz="3200" b="0" i="0" u="none" strike="noStrike" cap="none" normalizeH="0" baseline="0" dirty="0">
                <a:ln>
                  <a:noFill/>
                </a:ln>
                <a:solidFill>
                  <a:schemeClr val="accent2">
                    <a:lumMod val="75000"/>
                  </a:schemeClr>
                </a:solidFill>
                <a:effectLst/>
                <a:latin typeface="Nunito" pitchFamily="2" charset="0"/>
              </a:rPr>
              <a:t>, </a:t>
            </a:r>
            <a:r>
              <a:rPr kumimoji="0" lang="en-US" altLang="en-US" sz="3200" b="0" i="0" u="none" strike="noStrike" cap="none" normalizeH="0" baseline="0" dirty="0" err="1">
                <a:ln>
                  <a:noFill/>
                </a:ln>
                <a:solidFill>
                  <a:schemeClr val="accent2">
                    <a:lumMod val="75000"/>
                  </a:schemeClr>
                </a:solidFill>
                <a:effectLst/>
                <a:latin typeface="Nunito" pitchFamily="2" charset="0"/>
              </a:rPr>
              <a:t>Roll_No</a:t>
            </a:r>
            <a:r>
              <a:rPr kumimoji="0" lang="en-US" altLang="en-US" sz="3200" b="0" i="0" u="none" strike="noStrike" cap="none" normalizeH="0" baseline="0" dirty="0">
                <a:ln>
                  <a:noFill/>
                </a:ln>
                <a:solidFill>
                  <a:schemeClr val="accent2">
                    <a:lumMod val="75000"/>
                  </a:schemeClr>
                </a:solidFill>
                <a:effectLst/>
                <a:latin typeface="Nunito" pitchFamily="2" charset="0"/>
              </a:rPr>
              <a:t>, Name, DOB, Age, Address, and </a:t>
            </a:r>
            <a:r>
              <a:rPr kumimoji="0" lang="en-US" altLang="en-US" sz="3200" b="0" i="0" u="none" strike="noStrike" cap="none" normalizeH="0" baseline="0" dirty="0" err="1">
                <a:ln>
                  <a:noFill/>
                </a:ln>
                <a:solidFill>
                  <a:schemeClr val="accent2">
                    <a:lumMod val="75000"/>
                  </a:schemeClr>
                </a:solidFill>
                <a:effectLst/>
                <a:latin typeface="Nunito" pitchFamily="2" charset="0"/>
              </a:rPr>
              <a:t>Mobile_No</a:t>
            </a:r>
            <a:r>
              <a:rPr kumimoji="0" lang="en-US" altLang="en-US" sz="3200" b="0" i="0" u="none" strike="noStrike" cap="none" normalizeH="0" baseline="0" dirty="0">
                <a:ln>
                  <a:noFill/>
                </a:ln>
                <a:solidFill>
                  <a:schemeClr val="accent2">
                    <a:lumMod val="75000"/>
                  </a:schemeClr>
                </a:solidFill>
                <a:effectLst/>
                <a:latin typeface="Nunito" pitchFamily="2" charset="0"/>
              </a:rPr>
              <a:t> </a:t>
            </a:r>
            <a:r>
              <a:rPr kumimoji="0" lang="en-US" altLang="en-US" sz="3200" b="0" i="0" u="none" strike="noStrike" cap="none" normalizeH="0" baseline="0" dirty="0">
                <a:ln>
                  <a:noFill/>
                </a:ln>
                <a:solidFill>
                  <a:srgbClr val="273239"/>
                </a:solidFill>
                <a:effectLst/>
                <a:latin typeface="Nunito" pitchFamily="2" charset="0"/>
              </a:rPr>
              <a:t>are the attributes that define entity type Student. </a:t>
            </a:r>
          </a:p>
          <a:p>
            <a:pPr marL="0" marR="0" lvl="0" indent="0" algn="l" defTabSz="914400" rtl="0" eaLnBrk="0" fontAlgn="base" latinLnBrk="0" hangingPunct="0">
              <a:lnSpc>
                <a:spcPct val="100000"/>
              </a:lnSpc>
              <a:spcBef>
                <a:spcPct val="0"/>
              </a:spcBef>
              <a:spcAft>
                <a:spcPct val="0"/>
              </a:spcAft>
              <a:buClrTx/>
              <a:buSzTx/>
              <a:buFontTx/>
              <a:buNone/>
              <a:tabLst/>
            </a:pPr>
            <a:r>
              <a:rPr kumimoji="0" lang="en-US" altLang="en-US" sz="3200" b="0" i="0" u="none" strike="noStrike" cap="none" normalizeH="0" baseline="0" dirty="0">
                <a:ln>
                  <a:noFill/>
                </a:ln>
                <a:solidFill>
                  <a:srgbClr val="273239"/>
                </a:solidFill>
                <a:effectLst/>
                <a:latin typeface="Nunito" pitchFamily="2" charset="0"/>
              </a:rPr>
              <a:t>In ER diagram, the attribute is represented by an oval. </a:t>
            </a:r>
            <a:r>
              <a:rPr kumimoji="0" lang="en-US" altLang="en-US" sz="2800" b="0" i="0" u="none" strike="noStrike" cap="none" normalizeH="0" baseline="0" dirty="0">
                <a:ln>
                  <a:noFill/>
                </a:ln>
                <a:solidFill>
                  <a:srgbClr val="273239"/>
                </a:solidFill>
                <a:effectLst/>
                <a:latin typeface="Nunito" pitchFamily="2" charset="0"/>
              </a:rPr>
              <a:t>  </a:t>
            </a:r>
            <a:endParaRPr kumimoji="0" lang="en-US" altLang="en-US" sz="2800" b="0" i="0" u="none" strike="noStrike" cap="none" normalizeH="0" baseline="0" dirty="0">
              <a:ln>
                <a:noFill/>
              </a:ln>
              <a:solidFill>
                <a:schemeClr val="tx1"/>
              </a:solidFill>
              <a:effectLst/>
            </a:endParaRPr>
          </a:p>
          <a:p>
            <a:pPr marL="0" marR="0" lvl="0" indent="0" algn="l" defTabSz="914400" rtl="0" eaLnBrk="0" fontAlgn="base" latinLnBrk="0" hangingPunct="0">
              <a:lnSpc>
                <a:spcPct val="100000"/>
              </a:lnSpc>
              <a:spcBef>
                <a:spcPct val="0"/>
              </a:spcBef>
              <a:spcAft>
                <a:spcPct val="0"/>
              </a:spcAft>
              <a:buClrTx/>
              <a:buSzTx/>
              <a:buFontTx/>
              <a:buNone/>
              <a:tabLst/>
            </a:pPr>
            <a:br>
              <a:rPr kumimoji="0" lang="en-US" altLang="en-US" sz="1800" b="0" i="0" u="none" strike="noStrike" cap="none" normalizeH="0" baseline="0" dirty="0">
                <a:ln>
                  <a:noFill/>
                </a:ln>
                <a:solidFill>
                  <a:schemeClr val="tx1"/>
                </a:solidFill>
                <a:effectLst/>
                <a:latin typeface="Arial" panose="020B0604020202020204" pitchFamily="34" charset="0"/>
              </a:rPr>
            </a:br>
            <a:endParaRPr kumimoji="0" lang="en-US" altLang="en-US" sz="1800" b="0" i="0" u="none" strike="noStrike" cap="none" normalizeH="0" baseline="0" dirty="0">
              <a:ln>
                <a:noFill/>
              </a:ln>
              <a:solidFill>
                <a:schemeClr val="tx1"/>
              </a:solidFill>
              <a:effectLst/>
              <a:latin typeface="Arial" panose="020B0604020202020204" pitchFamily="34" charset="0"/>
            </a:endParaRPr>
          </a:p>
        </p:txBody>
      </p:sp>
      <p:pic>
        <p:nvPicPr>
          <p:cNvPr id="4100" name="Picture 4" descr="Attribute">
            <a:extLst>
              <a:ext uri="{FF2B5EF4-FFF2-40B4-BE49-F238E27FC236}">
                <a16:creationId xmlns:a16="http://schemas.microsoft.com/office/drawing/2014/main" id="{4BF633F8-074D-2916-9C28-B13DF56EF807}"/>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3422667" y="3429000"/>
            <a:ext cx="5346665" cy="2811609"/>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1957674874"/>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Rectangle 3">
            <a:extLst>
              <a:ext uri="{FF2B5EF4-FFF2-40B4-BE49-F238E27FC236}">
                <a16:creationId xmlns:a16="http://schemas.microsoft.com/office/drawing/2014/main" id="{252DDBB6-8BA0-3EAE-2556-276083209838}"/>
              </a:ext>
            </a:extLst>
          </p:cNvPr>
          <p:cNvSpPr>
            <a:spLocks noChangeArrowheads="1"/>
          </p:cNvSpPr>
          <p:nvPr/>
        </p:nvSpPr>
        <p:spPr bwMode="auto">
          <a:xfrm>
            <a:off x="268147" y="417397"/>
            <a:ext cx="11655706" cy="3277820"/>
          </a:xfrm>
          <a:prstGeom prst="rect">
            <a:avLst/>
          </a:prstGeom>
          <a:solidFill>
            <a:srgbClr val="FFFFFF"/>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0" tIns="0" rIns="0" bIns="0" numCol="1" anchor="ctr" anchorCtr="0" compatLnSpc="1">
            <a:prstTxWarp prst="textNoShape">
              <a:avLst/>
            </a:prstTxWarp>
            <a:spAutoFit/>
          </a:bodyPr>
          <a:lstStyle>
            <a:lvl1pPr eaLnBrk="0" fontAlgn="base" hangingPunct="0">
              <a:spcBef>
                <a:spcPct val="0"/>
              </a:spcBef>
              <a:spcAft>
                <a:spcPct val="0"/>
              </a:spcAft>
              <a:defRPr>
                <a:solidFill>
                  <a:schemeClr val="tx1"/>
                </a:solidFill>
                <a:latin typeface="Arial" panose="020B0604020202020204" pitchFamily="34" charset="0"/>
              </a:defRPr>
            </a:lvl1pPr>
            <a:lvl2pPr eaLnBrk="0" fontAlgn="base" hangingPunct="0">
              <a:spcBef>
                <a:spcPct val="0"/>
              </a:spcBef>
              <a:spcAft>
                <a:spcPct val="0"/>
              </a:spcAft>
              <a:defRPr>
                <a:solidFill>
                  <a:schemeClr val="tx1"/>
                </a:solidFill>
                <a:latin typeface="Arial" panose="020B0604020202020204" pitchFamily="34" charset="0"/>
              </a:defRPr>
            </a:lvl2pPr>
            <a:lvl3pPr eaLnBrk="0" fontAlgn="base" hangingPunct="0">
              <a:spcBef>
                <a:spcPct val="0"/>
              </a:spcBef>
              <a:spcAft>
                <a:spcPct val="0"/>
              </a:spcAft>
              <a:defRPr>
                <a:solidFill>
                  <a:schemeClr val="tx1"/>
                </a:solidFill>
                <a:latin typeface="Arial" panose="020B0604020202020204" pitchFamily="34" charset="0"/>
              </a:defRPr>
            </a:lvl3pPr>
            <a:lvl4pPr eaLnBrk="0" fontAlgn="base" hangingPunct="0">
              <a:spcBef>
                <a:spcPct val="0"/>
              </a:spcBef>
              <a:spcAft>
                <a:spcPct val="0"/>
              </a:spcAft>
              <a:defRPr>
                <a:solidFill>
                  <a:schemeClr val="tx1"/>
                </a:solidFill>
                <a:latin typeface="Arial" panose="020B0604020202020204" pitchFamily="34" charset="0"/>
              </a:defRPr>
            </a:lvl4pPr>
            <a:lvl5pPr eaLnBrk="0" fontAlgn="base" hangingPunct="0">
              <a:spcBef>
                <a:spcPct val="0"/>
              </a:spcBef>
              <a:spcAft>
                <a:spcPct val="0"/>
              </a:spcAft>
              <a:defRPr>
                <a:solidFill>
                  <a:schemeClr val="tx1"/>
                </a:solidFill>
                <a:latin typeface="Arial" panose="020B0604020202020204" pitchFamily="34" charset="0"/>
              </a:defRPr>
            </a:lvl5pPr>
            <a:lvl6pPr eaLnBrk="0" fontAlgn="base" hangingPunct="0">
              <a:spcBef>
                <a:spcPct val="0"/>
              </a:spcBef>
              <a:spcAft>
                <a:spcPct val="0"/>
              </a:spcAft>
              <a:defRPr>
                <a:solidFill>
                  <a:schemeClr val="tx1"/>
                </a:solidFill>
                <a:latin typeface="Arial" panose="020B0604020202020204" pitchFamily="34" charset="0"/>
              </a:defRPr>
            </a:lvl6pPr>
            <a:lvl7pPr eaLnBrk="0" fontAlgn="base" hangingPunct="0">
              <a:spcBef>
                <a:spcPct val="0"/>
              </a:spcBef>
              <a:spcAft>
                <a:spcPct val="0"/>
              </a:spcAft>
              <a:defRPr>
                <a:solidFill>
                  <a:schemeClr val="tx1"/>
                </a:solidFill>
                <a:latin typeface="Arial" panose="020B0604020202020204" pitchFamily="34" charset="0"/>
              </a:defRPr>
            </a:lvl7pPr>
            <a:lvl8pPr eaLnBrk="0" fontAlgn="base" hangingPunct="0">
              <a:spcBef>
                <a:spcPct val="0"/>
              </a:spcBef>
              <a:spcAft>
                <a:spcPct val="0"/>
              </a:spcAft>
              <a:defRPr>
                <a:solidFill>
                  <a:schemeClr val="tx1"/>
                </a:solidFill>
                <a:latin typeface="Arial" panose="020B0604020202020204" pitchFamily="34" charset="0"/>
              </a:defRPr>
            </a:lvl8pPr>
            <a:lvl9pPr eaLnBrk="0" fontAlgn="base" hangingPunct="0">
              <a:spcBef>
                <a:spcPct val="0"/>
              </a:spcBef>
              <a:spcAft>
                <a:spcPct val="0"/>
              </a:spcAft>
              <a:defRPr>
                <a:solidFill>
                  <a:schemeClr val="tx1"/>
                </a:solidFill>
                <a:latin typeface="Arial" panose="020B0604020202020204" pitchFamily="34" charset="0"/>
              </a:defRPr>
            </a:lvl9pPr>
          </a:lstStyle>
          <a:p>
            <a:pPr marL="0" marR="0" lvl="0" indent="0" algn="l" defTabSz="914400" rtl="0" eaLnBrk="0" fontAlgn="base" latinLnBrk="0" hangingPunct="0">
              <a:lnSpc>
                <a:spcPct val="100000"/>
              </a:lnSpc>
              <a:spcBef>
                <a:spcPct val="0"/>
              </a:spcBef>
              <a:spcAft>
                <a:spcPct val="0"/>
              </a:spcAft>
              <a:buClrTx/>
              <a:buSzTx/>
              <a:buFontTx/>
              <a:buNone/>
              <a:tabLst/>
            </a:pPr>
            <a:r>
              <a:rPr kumimoji="0" lang="en-US" altLang="en-US" sz="3600" b="1" i="0" u="none" strike="noStrike" cap="none" normalizeH="0" baseline="0" dirty="0">
                <a:ln>
                  <a:noFill/>
                </a:ln>
                <a:solidFill>
                  <a:srgbClr val="273239"/>
                </a:solidFill>
                <a:effectLst/>
                <a:latin typeface="Nunito" pitchFamily="2" charset="0"/>
              </a:rPr>
              <a:t>Types of Attributes</a:t>
            </a:r>
          </a:p>
          <a:p>
            <a:pPr marL="0" marR="0" lvl="0" indent="0" algn="l" defTabSz="914400" rtl="0" eaLnBrk="0" fontAlgn="base" latinLnBrk="0" hangingPunct="0">
              <a:lnSpc>
                <a:spcPct val="100000"/>
              </a:lnSpc>
              <a:spcBef>
                <a:spcPct val="0"/>
              </a:spcBef>
              <a:spcAft>
                <a:spcPct val="0"/>
              </a:spcAft>
              <a:buClrTx/>
              <a:buSzTx/>
              <a:buFontTx/>
              <a:buNone/>
              <a:tabLst/>
            </a:pPr>
            <a:r>
              <a:rPr kumimoji="0" lang="en-US" altLang="en-US" sz="3600" b="1" i="0" u="none" strike="noStrike" cap="none" normalizeH="0" baseline="0" dirty="0">
                <a:ln>
                  <a:noFill/>
                </a:ln>
                <a:solidFill>
                  <a:srgbClr val="273239"/>
                </a:solidFill>
                <a:effectLst/>
                <a:latin typeface="Nunito" pitchFamily="2" charset="0"/>
              </a:rPr>
              <a:t>1. Key Attribute</a:t>
            </a:r>
          </a:p>
          <a:p>
            <a:pPr marL="0" marR="0" lvl="0" indent="0" algn="l" defTabSz="914400" rtl="0" eaLnBrk="0" fontAlgn="base" latinLnBrk="0" hangingPunct="0">
              <a:lnSpc>
                <a:spcPct val="100000"/>
              </a:lnSpc>
              <a:spcBef>
                <a:spcPct val="0"/>
              </a:spcBef>
              <a:spcAft>
                <a:spcPct val="0"/>
              </a:spcAft>
              <a:buClrTx/>
              <a:buSzTx/>
              <a:buFontTx/>
              <a:buNone/>
              <a:tabLst/>
            </a:pPr>
            <a:r>
              <a:rPr kumimoji="0" lang="en-US" altLang="en-US" sz="3200" b="0" i="0" u="none" strike="noStrike" cap="none" normalizeH="0" baseline="0" dirty="0">
                <a:ln>
                  <a:noFill/>
                </a:ln>
                <a:solidFill>
                  <a:srgbClr val="273239"/>
                </a:solidFill>
                <a:effectLst/>
                <a:latin typeface="Nunito" pitchFamily="2" charset="0"/>
              </a:rPr>
              <a:t>The attribute which </a:t>
            </a:r>
            <a:r>
              <a:rPr kumimoji="0" lang="en-US" altLang="en-US" sz="3200" b="1" i="0" u="none" strike="noStrike" cap="none" normalizeH="0" baseline="0" dirty="0">
                <a:ln>
                  <a:noFill/>
                </a:ln>
                <a:solidFill>
                  <a:srgbClr val="273239"/>
                </a:solidFill>
                <a:effectLst/>
                <a:latin typeface="Nunito" pitchFamily="2" charset="0"/>
              </a:rPr>
              <a:t>uniquely identifies each entity </a:t>
            </a:r>
            <a:r>
              <a:rPr kumimoji="0" lang="en-US" altLang="en-US" sz="3200" b="0" i="0" u="none" strike="noStrike" cap="none" normalizeH="0" baseline="0" dirty="0">
                <a:ln>
                  <a:noFill/>
                </a:ln>
                <a:solidFill>
                  <a:srgbClr val="273239"/>
                </a:solidFill>
                <a:effectLst/>
                <a:latin typeface="Nunito" pitchFamily="2" charset="0"/>
              </a:rPr>
              <a:t>in the entity set is called the key attribute. For example, </a:t>
            </a:r>
            <a:r>
              <a:rPr kumimoji="0" lang="en-US" altLang="en-US" sz="3200" b="0" i="0" u="none" strike="noStrike" cap="none" normalizeH="0" baseline="0" dirty="0" err="1">
                <a:ln>
                  <a:noFill/>
                </a:ln>
                <a:solidFill>
                  <a:srgbClr val="273239"/>
                </a:solidFill>
                <a:effectLst/>
                <a:latin typeface="Nunito" pitchFamily="2" charset="0"/>
              </a:rPr>
              <a:t>Roll_No</a:t>
            </a:r>
            <a:r>
              <a:rPr kumimoji="0" lang="en-US" altLang="en-US" sz="3200" b="0" i="0" u="none" strike="noStrike" cap="none" normalizeH="0" baseline="0" dirty="0">
                <a:ln>
                  <a:noFill/>
                </a:ln>
                <a:solidFill>
                  <a:srgbClr val="273239"/>
                </a:solidFill>
                <a:effectLst/>
                <a:latin typeface="Nunito" pitchFamily="2" charset="0"/>
              </a:rPr>
              <a:t> will be unique for each student. In ER diagram, the key attribute is represented by an oval with underlying lines.</a:t>
            </a:r>
            <a:endParaRPr kumimoji="0" lang="en-US" altLang="en-US" sz="3200" b="0" i="0" u="none" strike="noStrike" cap="none" normalizeH="0" baseline="0" dirty="0">
              <a:ln>
                <a:noFill/>
              </a:ln>
              <a:solidFill>
                <a:schemeClr val="tx1"/>
              </a:solidFill>
              <a:effectLst/>
            </a:endParaRPr>
          </a:p>
          <a:p>
            <a:pPr marL="0" marR="0" lvl="0" indent="0" algn="l" defTabSz="914400" rtl="0" eaLnBrk="0" fontAlgn="base" latinLnBrk="0" hangingPunct="0">
              <a:lnSpc>
                <a:spcPct val="100000"/>
              </a:lnSpc>
              <a:spcBef>
                <a:spcPct val="0"/>
              </a:spcBef>
              <a:spcAft>
                <a:spcPct val="0"/>
              </a:spcAft>
              <a:buClrTx/>
              <a:buSzTx/>
              <a:buFontTx/>
              <a:buNone/>
              <a:tabLst/>
            </a:pPr>
            <a:r>
              <a:rPr kumimoji="0" lang="en-US" altLang="en-US" sz="1300" b="0" i="0" u="none" strike="noStrike" cap="none" normalizeH="0" baseline="0" dirty="0">
                <a:ln>
                  <a:noFill/>
                </a:ln>
                <a:solidFill>
                  <a:srgbClr val="273239"/>
                </a:solidFill>
                <a:effectLst/>
                <a:latin typeface="Nunito" pitchFamily="2" charset="0"/>
              </a:rPr>
              <a:t> </a:t>
            </a:r>
            <a:endParaRPr kumimoji="0" lang="en-US" altLang="en-US" sz="1800" b="0" i="0" u="none" strike="noStrike" cap="none" normalizeH="0" baseline="0" dirty="0">
              <a:ln>
                <a:noFill/>
              </a:ln>
              <a:solidFill>
                <a:schemeClr val="tx1"/>
              </a:solidFill>
              <a:effectLst/>
              <a:latin typeface="Arial" panose="020B0604020202020204" pitchFamily="34" charset="0"/>
            </a:endParaRPr>
          </a:p>
        </p:txBody>
      </p:sp>
      <p:pic>
        <p:nvPicPr>
          <p:cNvPr id="5124" name="Picture 4" descr="Key Attribute">
            <a:extLst>
              <a:ext uri="{FF2B5EF4-FFF2-40B4-BE49-F238E27FC236}">
                <a16:creationId xmlns:a16="http://schemas.microsoft.com/office/drawing/2014/main" id="{A33AD8B0-C2FC-891C-FE04-A3F1C65363EC}"/>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0" y="3576576"/>
            <a:ext cx="4336143" cy="2280213"/>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3970051662"/>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Rectangle 1">
            <a:extLst>
              <a:ext uri="{FF2B5EF4-FFF2-40B4-BE49-F238E27FC236}">
                <a16:creationId xmlns:a16="http://schemas.microsoft.com/office/drawing/2014/main" id="{BDC0E198-2191-1A74-E66F-9AA057B4E4D6}"/>
              </a:ext>
            </a:extLst>
          </p:cNvPr>
          <p:cNvSpPr>
            <a:spLocks noChangeArrowheads="1"/>
          </p:cNvSpPr>
          <p:nvPr/>
        </p:nvSpPr>
        <p:spPr bwMode="auto">
          <a:xfrm>
            <a:off x="231492" y="364298"/>
            <a:ext cx="11960508" cy="3154710"/>
          </a:xfrm>
          <a:prstGeom prst="rect">
            <a:avLst/>
          </a:prstGeom>
          <a:solidFill>
            <a:srgbClr val="FFFFFF"/>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0" tIns="0" rIns="0" bIns="0" numCol="1" anchor="ctr" anchorCtr="0" compatLnSpc="1">
            <a:prstTxWarp prst="textNoShape">
              <a:avLst/>
            </a:prstTxWarp>
            <a:spAutoFit/>
          </a:bodyPr>
          <a:lstStyle>
            <a:lvl1pPr eaLnBrk="0" fontAlgn="base" hangingPunct="0">
              <a:spcBef>
                <a:spcPct val="0"/>
              </a:spcBef>
              <a:spcAft>
                <a:spcPct val="0"/>
              </a:spcAft>
              <a:defRPr>
                <a:solidFill>
                  <a:schemeClr val="tx1"/>
                </a:solidFill>
                <a:latin typeface="Arial" panose="020B0604020202020204" pitchFamily="34" charset="0"/>
              </a:defRPr>
            </a:lvl1pPr>
            <a:lvl2pPr eaLnBrk="0" fontAlgn="base" hangingPunct="0">
              <a:spcBef>
                <a:spcPct val="0"/>
              </a:spcBef>
              <a:spcAft>
                <a:spcPct val="0"/>
              </a:spcAft>
              <a:defRPr>
                <a:solidFill>
                  <a:schemeClr val="tx1"/>
                </a:solidFill>
                <a:latin typeface="Arial" panose="020B0604020202020204" pitchFamily="34" charset="0"/>
              </a:defRPr>
            </a:lvl2pPr>
            <a:lvl3pPr eaLnBrk="0" fontAlgn="base" hangingPunct="0">
              <a:spcBef>
                <a:spcPct val="0"/>
              </a:spcBef>
              <a:spcAft>
                <a:spcPct val="0"/>
              </a:spcAft>
              <a:defRPr>
                <a:solidFill>
                  <a:schemeClr val="tx1"/>
                </a:solidFill>
                <a:latin typeface="Arial" panose="020B0604020202020204" pitchFamily="34" charset="0"/>
              </a:defRPr>
            </a:lvl3pPr>
            <a:lvl4pPr eaLnBrk="0" fontAlgn="base" hangingPunct="0">
              <a:spcBef>
                <a:spcPct val="0"/>
              </a:spcBef>
              <a:spcAft>
                <a:spcPct val="0"/>
              </a:spcAft>
              <a:defRPr>
                <a:solidFill>
                  <a:schemeClr val="tx1"/>
                </a:solidFill>
                <a:latin typeface="Arial" panose="020B0604020202020204" pitchFamily="34" charset="0"/>
              </a:defRPr>
            </a:lvl4pPr>
            <a:lvl5pPr eaLnBrk="0" fontAlgn="base" hangingPunct="0">
              <a:spcBef>
                <a:spcPct val="0"/>
              </a:spcBef>
              <a:spcAft>
                <a:spcPct val="0"/>
              </a:spcAft>
              <a:defRPr>
                <a:solidFill>
                  <a:schemeClr val="tx1"/>
                </a:solidFill>
                <a:latin typeface="Arial" panose="020B0604020202020204" pitchFamily="34" charset="0"/>
              </a:defRPr>
            </a:lvl5pPr>
            <a:lvl6pPr eaLnBrk="0" fontAlgn="base" hangingPunct="0">
              <a:spcBef>
                <a:spcPct val="0"/>
              </a:spcBef>
              <a:spcAft>
                <a:spcPct val="0"/>
              </a:spcAft>
              <a:defRPr>
                <a:solidFill>
                  <a:schemeClr val="tx1"/>
                </a:solidFill>
                <a:latin typeface="Arial" panose="020B0604020202020204" pitchFamily="34" charset="0"/>
              </a:defRPr>
            </a:lvl6pPr>
            <a:lvl7pPr eaLnBrk="0" fontAlgn="base" hangingPunct="0">
              <a:spcBef>
                <a:spcPct val="0"/>
              </a:spcBef>
              <a:spcAft>
                <a:spcPct val="0"/>
              </a:spcAft>
              <a:defRPr>
                <a:solidFill>
                  <a:schemeClr val="tx1"/>
                </a:solidFill>
                <a:latin typeface="Arial" panose="020B0604020202020204" pitchFamily="34" charset="0"/>
              </a:defRPr>
            </a:lvl7pPr>
            <a:lvl8pPr eaLnBrk="0" fontAlgn="base" hangingPunct="0">
              <a:spcBef>
                <a:spcPct val="0"/>
              </a:spcBef>
              <a:spcAft>
                <a:spcPct val="0"/>
              </a:spcAft>
              <a:defRPr>
                <a:solidFill>
                  <a:schemeClr val="tx1"/>
                </a:solidFill>
                <a:latin typeface="Arial" panose="020B0604020202020204" pitchFamily="34" charset="0"/>
              </a:defRPr>
            </a:lvl8pPr>
            <a:lvl9pPr eaLnBrk="0" fontAlgn="base" hangingPunct="0">
              <a:spcBef>
                <a:spcPct val="0"/>
              </a:spcBef>
              <a:spcAft>
                <a:spcPct val="0"/>
              </a:spcAft>
              <a:defRPr>
                <a:solidFill>
                  <a:schemeClr val="tx1"/>
                </a:solidFill>
                <a:latin typeface="Arial" panose="020B0604020202020204" pitchFamily="34" charset="0"/>
              </a:defRPr>
            </a:lvl9pPr>
          </a:lstStyle>
          <a:p>
            <a:pPr marL="0" marR="0" lvl="0" indent="0" algn="l" defTabSz="914400" rtl="0" eaLnBrk="0" fontAlgn="base" latinLnBrk="0" hangingPunct="0">
              <a:lnSpc>
                <a:spcPct val="100000"/>
              </a:lnSpc>
              <a:spcBef>
                <a:spcPct val="0"/>
              </a:spcBef>
              <a:spcAft>
                <a:spcPct val="0"/>
              </a:spcAft>
              <a:buClrTx/>
              <a:buSzTx/>
              <a:buFontTx/>
              <a:buNone/>
              <a:tabLst/>
            </a:pPr>
            <a:r>
              <a:rPr kumimoji="0" lang="en-US" altLang="en-US" sz="3200" b="1" i="0" u="none" strike="noStrike" cap="none" normalizeH="0" baseline="0" dirty="0">
                <a:ln>
                  <a:noFill/>
                </a:ln>
                <a:solidFill>
                  <a:srgbClr val="273239"/>
                </a:solidFill>
                <a:effectLst/>
                <a:latin typeface="Nunito" pitchFamily="2" charset="0"/>
              </a:rPr>
              <a:t>2. Composite Attribute</a:t>
            </a:r>
          </a:p>
          <a:p>
            <a:pPr marL="0" marR="0" lvl="0" indent="0" algn="l" defTabSz="914400" rtl="0" eaLnBrk="0" fontAlgn="base" latinLnBrk="0" hangingPunct="0">
              <a:lnSpc>
                <a:spcPct val="100000"/>
              </a:lnSpc>
              <a:spcBef>
                <a:spcPct val="0"/>
              </a:spcBef>
              <a:spcAft>
                <a:spcPct val="0"/>
              </a:spcAft>
              <a:buClrTx/>
              <a:buSzTx/>
              <a:buFontTx/>
              <a:buNone/>
              <a:tabLst/>
            </a:pPr>
            <a:r>
              <a:rPr kumimoji="0" lang="en-US" altLang="en-US" sz="3200" b="0" i="0" u="none" strike="noStrike" cap="none" normalizeH="0" baseline="0" dirty="0">
                <a:ln>
                  <a:noFill/>
                </a:ln>
                <a:solidFill>
                  <a:srgbClr val="273239"/>
                </a:solidFill>
                <a:effectLst/>
                <a:latin typeface="Nunito" pitchFamily="2" charset="0"/>
              </a:rPr>
              <a:t>An attribute </a:t>
            </a:r>
            <a:r>
              <a:rPr kumimoji="0" lang="en-US" altLang="en-US" sz="3200" b="1" i="0" u="none" strike="noStrike" cap="none" normalizeH="0" baseline="0" dirty="0">
                <a:ln>
                  <a:noFill/>
                </a:ln>
                <a:solidFill>
                  <a:srgbClr val="273239"/>
                </a:solidFill>
                <a:effectLst/>
                <a:latin typeface="Nunito" pitchFamily="2" charset="0"/>
              </a:rPr>
              <a:t>composed of many other attributes </a:t>
            </a:r>
            <a:r>
              <a:rPr kumimoji="0" lang="en-US" altLang="en-US" sz="3200" b="0" i="0" u="none" strike="noStrike" cap="none" normalizeH="0" baseline="0" dirty="0">
                <a:ln>
                  <a:noFill/>
                </a:ln>
                <a:solidFill>
                  <a:srgbClr val="273239"/>
                </a:solidFill>
                <a:effectLst/>
                <a:latin typeface="Nunito" pitchFamily="2" charset="0"/>
              </a:rPr>
              <a:t>is called a composite attribute. For example, the Address attribute of the student Entity type consists of Street, City, State, and Country. In ER diagram, the composite attribute is represented by an oval comprising of ovals.</a:t>
            </a:r>
            <a:endParaRPr kumimoji="0" lang="en-US" altLang="en-US" sz="3200" b="0" i="0" u="none" strike="noStrike" cap="none" normalizeH="0" baseline="0" dirty="0">
              <a:ln>
                <a:noFill/>
              </a:ln>
              <a:solidFill>
                <a:schemeClr val="tx1"/>
              </a:solidFill>
              <a:effectLst/>
            </a:endParaRPr>
          </a:p>
          <a:p>
            <a:pPr marL="0" marR="0" lvl="0" indent="0" algn="l" defTabSz="914400" rtl="0" eaLnBrk="0" fontAlgn="base" latinLnBrk="0" hangingPunct="0">
              <a:lnSpc>
                <a:spcPct val="100000"/>
              </a:lnSpc>
              <a:spcBef>
                <a:spcPct val="0"/>
              </a:spcBef>
              <a:spcAft>
                <a:spcPct val="0"/>
              </a:spcAft>
              <a:buClrTx/>
              <a:buSzTx/>
              <a:buFontTx/>
              <a:buNone/>
              <a:tabLst/>
            </a:pPr>
            <a:r>
              <a:rPr kumimoji="0" lang="en-US" altLang="en-US" sz="1300" b="0" i="0" u="none" strike="noStrike" cap="none" normalizeH="0" baseline="0" dirty="0">
                <a:ln>
                  <a:noFill/>
                </a:ln>
                <a:solidFill>
                  <a:srgbClr val="273239"/>
                </a:solidFill>
                <a:effectLst/>
                <a:latin typeface="Nunito" pitchFamily="2" charset="0"/>
              </a:rPr>
              <a:t> </a:t>
            </a:r>
            <a:endParaRPr kumimoji="0" lang="en-US" altLang="en-US" sz="1800" b="0" i="0" u="none" strike="noStrike" cap="none" normalizeH="0" baseline="0" dirty="0">
              <a:ln>
                <a:noFill/>
              </a:ln>
              <a:solidFill>
                <a:schemeClr val="tx1"/>
              </a:solidFill>
              <a:effectLst/>
              <a:latin typeface="Arial" panose="020B0604020202020204" pitchFamily="34" charset="0"/>
            </a:endParaRPr>
          </a:p>
        </p:txBody>
      </p:sp>
      <p:pic>
        <p:nvPicPr>
          <p:cNvPr id="6146" name="Picture 2" descr="Composite Attribute">
            <a:extLst>
              <a:ext uri="{FF2B5EF4-FFF2-40B4-BE49-F238E27FC236}">
                <a16:creationId xmlns:a16="http://schemas.microsoft.com/office/drawing/2014/main" id="{4E3176D4-559E-E253-6DEF-E8FC67EB399D}"/>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1840374" y="4038895"/>
            <a:ext cx="7986532" cy="2819105"/>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993990585"/>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a:extLst>
              <a:ext uri="{FF2B5EF4-FFF2-40B4-BE49-F238E27FC236}">
                <a16:creationId xmlns:a16="http://schemas.microsoft.com/office/drawing/2014/main" id="{D07B44B1-C961-F763-F04D-2D771FD09902}"/>
              </a:ext>
            </a:extLst>
          </p:cNvPr>
          <p:cNvSpPr>
            <a:spLocks noChangeArrowheads="1"/>
          </p:cNvSpPr>
          <p:nvPr/>
        </p:nvSpPr>
        <p:spPr bwMode="auto">
          <a:xfrm>
            <a:off x="243067" y="298002"/>
            <a:ext cx="11702005" cy="2662267"/>
          </a:xfrm>
          <a:prstGeom prst="rect">
            <a:avLst/>
          </a:prstGeom>
          <a:solidFill>
            <a:srgbClr val="FFFFFF"/>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0" tIns="0" rIns="0" bIns="0" numCol="1" anchor="ctr" anchorCtr="0" compatLnSpc="1">
            <a:prstTxWarp prst="textNoShape">
              <a:avLst/>
            </a:prstTxWarp>
            <a:spAutoFit/>
          </a:bodyPr>
          <a:lstStyle>
            <a:lvl1pPr eaLnBrk="0" fontAlgn="base" hangingPunct="0">
              <a:spcBef>
                <a:spcPct val="0"/>
              </a:spcBef>
              <a:spcAft>
                <a:spcPct val="0"/>
              </a:spcAft>
              <a:defRPr>
                <a:solidFill>
                  <a:schemeClr val="tx1"/>
                </a:solidFill>
                <a:latin typeface="Arial" panose="020B0604020202020204" pitchFamily="34" charset="0"/>
              </a:defRPr>
            </a:lvl1pPr>
            <a:lvl2pPr eaLnBrk="0" fontAlgn="base" hangingPunct="0">
              <a:spcBef>
                <a:spcPct val="0"/>
              </a:spcBef>
              <a:spcAft>
                <a:spcPct val="0"/>
              </a:spcAft>
              <a:defRPr>
                <a:solidFill>
                  <a:schemeClr val="tx1"/>
                </a:solidFill>
                <a:latin typeface="Arial" panose="020B0604020202020204" pitchFamily="34" charset="0"/>
              </a:defRPr>
            </a:lvl2pPr>
            <a:lvl3pPr eaLnBrk="0" fontAlgn="base" hangingPunct="0">
              <a:spcBef>
                <a:spcPct val="0"/>
              </a:spcBef>
              <a:spcAft>
                <a:spcPct val="0"/>
              </a:spcAft>
              <a:defRPr>
                <a:solidFill>
                  <a:schemeClr val="tx1"/>
                </a:solidFill>
                <a:latin typeface="Arial" panose="020B0604020202020204" pitchFamily="34" charset="0"/>
              </a:defRPr>
            </a:lvl3pPr>
            <a:lvl4pPr eaLnBrk="0" fontAlgn="base" hangingPunct="0">
              <a:spcBef>
                <a:spcPct val="0"/>
              </a:spcBef>
              <a:spcAft>
                <a:spcPct val="0"/>
              </a:spcAft>
              <a:defRPr>
                <a:solidFill>
                  <a:schemeClr val="tx1"/>
                </a:solidFill>
                <a:latin typeface="Arial" panose="020B0604020202020204" pitchFamily="34" charset="0"/>
              </a:defRPr>
            </a:lvl4pPr>
            <a:lvl5pPr eaLnBrk="0" fontAlgn="base" hangingPunct="0">
              <a:spcBef>
                <a:spcPct val="0"/>
              </a:spcBef>
              <a:spcAft>
                <a:spcPct val="0"/>
              </a:spcAft>
              <a:defRPr>
                <a:solidFill>
                  <a:schemeClr val="tx1"/>
                </a:solidFill>
                <a:latin typeface="Arial" panose="020B0604020202020204" pitchFamily="34" charset="0"/>
              </a:defRPr>
            </a:lvl5pPr>
            <a:lvl6pPr eaLnBrk="0" fontAlgn="base" hangingPunct="0">
              <a:spcBef>
                <a:spcPct val="0"/>
              </a:spcBef>
              <a:spcAft>
                <a:spcPct val="0"/>
              </a:spcAft>
              <a:defRPr>
                <a:solidFill>
                  <a:schemeClr val="tx1"/>
                </a:solidFill>
                <a:latin typeface="Arial" panose="020B0604020202020204" pitchFamily="34" charset="0"/>
              </a:defRPr>
            </a:lvl6pPr>
            <a:lvl7pPr eaLnBrk="0" fontAlgn="base" hangingPunct="0">
              <a:spcBef>
                <a:spcPct val="0"/>
              </a:spcBef>
              <a:spcAft>
                <a:spcPct val="0"/>
              </a:spcAft>
              <a:defRPr>
                <a:solidFill>
                  <a:schemeClr val="tx1"/>
                </a:solidFill>
                <a:latin typeface="Arial" panose="020B0604020202020204" pitchFamily="34" charset="0"/>
              </a:defRPr>
            </a:lvl7pPr>
            <a:lvl8pPr eaLnBrk="0" fontAlgn="base" hangingPunct="0">
              <a:spcBef>
                <a:spcPct val="0"/>
              </a:spcBef>
              <a:spcAft>
                <a:spcPct val="0"/>
              </a:spcAft>
              <a:defRPr>
                <a:solidFill>
                  <a:schemeClr val="tx1"/>
                </a:solidFill>
                <a:latin typeface="Arial" panose="020B0604020202020204" pitchFamily="34" charset="0"/>
              </a:defRPr>
            </a:lvl8pPr>
            <a:lvl9pPr eaLnBrk="0" fontAlgn="base" hangingPunct="0">
              <a:spcBef>
                <a:spcPct val="0"/>
              </a:spcBef>
              <a:spcAft>
                <a:spcPct val="0"/>
              </a:spcAft>
              <a:defRPr>
                <a:solidFill>
                  <a:schemeClr val="tx1"/>
                </a:solidFill>
                <a:latin typeface="Arial" panose="020B0604020202020204" pitchFamily="34" charset="0"/>
              </a:defRPr>
            </a:lvl9pPr>
          </a:lstStyle>
          <a:p>
            <a:pPr marL="0" marR="0" lvl="0" indent="0" algn="l" defTabSz="914400" rtl="0" eaLnBrk="0" fontAlgn="base" latinLnBrk="0" hangingPunct="0">
              <a:lnSpc>
                <a:spcPct val="100000"/>
              </a:lnSpc>
              <a:spcBef>
                <a:spcPct val="0"/>
              </a:spcBef>
              <a:spcAft>
                <a:spcPct val="0"/>
              </a:spcAft>
              <a:buClrTx/>
              <a:buSzTx/>
              <a:buFontTx/>
              <a:buNone/>
              <a:tabLst/>
            </a:pPr>
            <a:r>
              <a:rPr kumimoji="0" lang="en-US" altLang="en-US" sz="3200" b="1" i="0" u="none" strike="noStrike" cap="none" normalizeH="0" baseline="0" dirty="0">
                <a:ln>
                  <a:noFill/>
                </a:ln>
                <a:solidFill>
                  <a:srgbClr val="273239"/>
                </a:solidFill>
                <a:effectLst/>
                <a:latin typeface="Nunito" pitchFamily="2" charset="0"/>
              </a:rPr>
              <a:t>3. Multivalued Attribute</a:t>
            </a:r>
          </a:p>
          <a:p>
            <a:pPr marL="0" marR="0" lvl="0" indent="0" algn="l" defTabSz="914400" rtl="0" eaLnBrk="0" fontAlgn="base" latinLnBrk="0" hangingPunct="0">
              <a:lnSpc>
                <a:spcPct val="100000"/>
              </a:lnSpc>
              <a:spcBef>
                <a:spcPct val="0"/>
              </a:spcBef>
              <a:spcAft>
                <a:spcPct val="0"/>
              </a:spcAft>
              <a:buClrTx/>
              <a:buSzTx/>
              <a:buFontTx/>
              <a:buNone/>
              <a:tabLst/>
            </a:pPr>
            <a:r>
              <a:rPr kumimoji="0" lang="en-US" altLang="en-US" sz="3200" b="0" i="0" u="none" strike="noStrike" cap="none" normalizeH="0" baseline="0" dirty="0">
                <a:ln>
                  <a:noFill/>
                </a:ln>
                <a:solidFill>
                  <a:srgbClr val="273239"/>
                </a:solidFill>
                <a:effectLst/>
                <a:latin typeface="Nunito" pitchFamily="2" charset="0"/>
              </a:rPr>
              <a:t>An attribute consisting of more than one value for a given entity. For example, </a:t>
            </a:r>
            <a:r>
              <a:rPr kumimoji="0" lang="en-US" altLang="en-US" sz="3200" b="0" i="0" u="none" strike="noStrike" cap="none" normalizeH="0" baseline="0" dirty="0" err="1">
                <a:ln>
                  <a:noFill/>
                </a:ln>
                <a:solidFill>
                  <a:srgbClr val="273239"/>
                </a:solidFill>
                <a:effectLst/>
                <a:latin typeface="Nunito" pitchFamily="2" charset="0"/>
              </a:rPr>
              <a:t>Phone_No</a:t>
            </a:r>
            <a:r>
              <a:rPr kumimoji="0" lang="en-US" altLang="en-US" sz="3200" b="0" i="0" u="none" strike="noStrike" cap="none" normalizeH="0" baseline="0" dirty="0">
                <a:ln>
                  <a:noFill/>
                </a:ln>
                <a:solidFill>
                  <a:srgbClr val="273239"/>
                </a:solidFill>
                <a:effectLst/>
                <a:latin typeface="Nunito" pitchFamily="2" charset="0"/>
              </a:rPr>
              <a:t> (can be more than one for a given student). In ER diagram, a multivalued attribute is represented by a double oval.</a:t>
            </a:r>
            <a:endParaRPr kumimoji="0" lang="en-US" altLang="en-US" sz="3200" b="0" i="0" u="none" strike="noStrike" cap="none" normalizeH="0" baseline="0" dirty="0">
              <a:ln>
                <a:noFill/>
              </a:ln>
              <a:solidFill>
                <a:schemeClr val="tx1"/>
              </a:solidFill>
              <a:effectLst/>
            </a:endParaRPr>
          </a:p>
          <a:p>
            <a:pPr marL="0" marR="0" lvl="0" indent="0" algn="l" defTabSz="914400" rtl="0" eaLnBrk="0" fontAlgn="base" latinLnBrk="0" hangingPunct="0">
              <a:lnSpc>
                <a:spcPct val="100000"/>
              </a:lnSpc>
              <a:spcBef>
                <a:spcPct val="0"/>
              </a:spcBef>
              <a:spcAft>
                <a:spcPct val="0"/>
              </a:spcAft>
              <a:buClrTx/>
              <a:buSzTx/>
              <a:buFontTx/>
              <a:buNone/>
              <a:tabLst/>
            </a:pPr>
            <a:r>
              <a:rPr kumimoji="0" lang="en-US" altLang="en-US" sz="1300" b="0" i="0" u="none" strike="noStrike" cap="none" normalizeH="0" baseline="0" dirty="0">
                <a:ln>
                  <a:noFill/>
                </a:ln>
                <a:solidFill>
                  <a:srgbClr val="273239"/>
                </a:solidFill>
                <a:effectLst/>
                <a:latin typeface="Nunito" pitchFamily="2" charset="0"/>
              </a:rPr>
              <a:t>  </a:t>
            </a:r>
            <a:endParaRPr kumimoji="0" lang="en-US" altLang="en-US" sz="1800" b="0" i="0" u="none" strike="noStrike" cap="none" normalizeH="0" baseline="0" dirty="0">
              <a:ln>
                <a:noFill/>
              </a:ln>
              <a:solidFill>
                <a:schemeClr val="tx1"/>
              </a:solidFill>
              <a:effectLst/>
              <a:latin typeface="Arial" panose="020B0604020202020204" pitchFamily="34" charset="0"/>
            </a:endParaRPr>
          </a:p>
        </p:txBody>
      </p:sp>
      <p:pic>
        <p:nvPicPr>
          <p:cNvPr id="7170" name="Picture 2" descr="Multivalued Attribute">
            <a:extLst>
              <a:ext uri="{FF2B5EF4-FFF2-40B4-BE49-F238E27FC236}">
                <a16:creationId xmlns:a16="http://schemas.microsoft.com/office/drawing/2014/main" id="{75260D8D-575A-0860-7682-CD498756D4FB}"/>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3634450" y="2212112"/>
            <a:ext cx="3970115" cy="2237129"/>
          </a:xfrm>
          <a:prstGeom prst="rect">
            <a:avLst/>
          </a:prstGeom>
          <a:noFill/>
          <a:extLst>
            <a:ext uri="{909E8E84-426E-40DD-AFC4-6F175D3DCCD1}">
              <a14:hiddenFill xmlns:a14="http://schemas.microsoft.com/office/drawing/2010/main">
                <a:solidFill>
                  <a:srgbClr val="FFFFFF"/>
                </a:solidFill>
              </a14:hiddenFill>
            </a:ext>
          </a:extLst>
        </p:spPr>
      </p:pic>
      <p:sp>
        <p:nvSpPr>
          <p:cNvPr id="3" name="TextBox 2">
            <a:extLst>
              <a:ext uri="{FF2B5EF4-FFF2-40B4-BE49-F238E27FC236}">
                <a16:creationId xmlns:a16="http://schemas.microsoft.com/office/drawing/2014/main" id="{121C45D6-9FA0-6D4C-848B-BF6181900C2B}"/>
              </a:ext>
            </a:extLst>
          </p:cNvPr>
          <p:cNvSpPr txBox="1"/>
          <p:nvPr/>
        </p:nvSpPr>
        <p:spPr>
          <a:xfrm>
            <a:off x="324090" y="5127585"/>
            <a:ext cx="11867909" cy="1323439"/>
          </a:xfrm>
          <a:prstGeom prst="rect">
            <a:avLst/>
          </a:prstGeom>
          <a:noFill/>
        </p:spPr>
        <p:txBody>
          <a:bodyPr wrap="square" rtlCol="0">
            <a:spAutoFit/>
          </a:bodyPr>
          <a:lstStyle/>
          <a:p>
            <a:r>
              <a:rPr lang="en-US" sz="4000" dirty="0" err="1">
                <a:solidFill>
                  <a:srgbClr val="FF0000"/>
                </a:solidFill>
              </a:rPr>
              <a:t>Address,Childress,Subjects,Books,Departments..</a:t>
            </a:r>
            <a:r>
              <a:rPr lang="en-US" sz="4000" dirty="0" err="1"/>
              <a:t>can</a:t>
            </a:r>
            <a:r>
              <a:rPr lang="en-US" sz="4000" dirty="0"/>
              <a:t> also be multivalued</a:t>
            </a:r>
            <a:endParaRPr lang="en-IN" sz="4000" dirty="0"/>
          </a:p>
        </p:txBody>
      </p:sp>
    </p:spTree>
    <p:extLst>
      <p:ext uri="{BB962C8B-B14F-4D97-AF65-F5344CB8AC3E}">
        <p14:creationId xmlns:p14="http://schemas.microsoft.com/office/powerpoint/2010/main" val="944172531"/>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a:extLst>
              <a:ext uri="{FF2B5EF4-FFF2-40B4-BE49-F238E27FC236}">
                <a16:creationId xmlns:a16="http://schemas.microsoft.com/office/drawing/2014/main" id="{DC8A68CB-6C23-F990-7693-08F32F9792B7}"/>
              </a:ext>
            </a:extLst>
          </p:cNvPr>
          <p:cNvSpPr>
            <a:spLocks noChangeArrowheads="1"/>
          </p:cNvSpPr>
          <p:nvPr/>
        </p:nvSpPr>
        <p:spPr bwMode="auto">
          <a:xfrm>
            <a:off x="246926" y="544010"/>
            <a:ext cx="11455080" cy="2662267"/>
          </a:xfrm>
          <a:prstGeom prst="rect">
            <a:avLst/>
          </a:prstGeom>
          <a:solidFill>
            <a:srgbClr val="FFFFFF"/>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0" tIns="0" rIns="0" bIns="0" numCol="1" anchor="ctr" anchorCtr="0" compatLnSpc="1">
            <a:prstTxWarp prst="textNoShape">
              <a:avLst/>
            </a:prstTxWarp>
            <a:spAutoFit/>
          </a:bodyPr>
          <a:lstStyle>
            <a:lvl1pPr eaLnBrk="0" fontAlgn="base" hangingPunct="0">
              <a:spcBef>
                <a:spcPct val="0"/>
              </a:spcBef>
              <a:spcAft>
                <a:spcPct val="0"/>
              </a:spcAft>
              <a:defRPr>
                <a:solidFill>
                  <a:schemeClr val="tx1"/>
                </a:solidFill>
                <a:latin typeface="Arial" panose="020B0604020202020204" pitchFamily="34" charset="0"/>
              </a:defRPr>
            </a:lvl1pPr>
            <a:lvl2pPr eaLnBrk="0" fontAlgn="base" hangingPunct="0">
              <a:spcBef>
                <a:spcPct val="0"/>
              </a:spcBef>
              <a:spcAft>
                <a:spcPct val="0"/>
              </a:spcAft>
              <a:defRPr>
                <a:solidFill>
                  <a:schemeClr val="tx1"/>
                </a:solidFill>
                <a:latin typeface="Arial" panose="020B0604020202020204" pitchFamily="34" charset="0"/>
              </a:defRPr>
            </a:lvl2pPr>
            <a:lvl3pPr eaLnBrk="0" fontAlgn="base" hangingPunct="0">
              <a:spcBef>
                <a:spcPct val="0"/>
              </a:spcBef>
              <a:spcAft>
                <a:spcPct val="0"/>
              </a:spcAft>
              <a:defRPr>
                <a:solidFill>
                  <a:schemeClr val="tx1"/>
                </a:solidFill>
                <a:latin typeface="Arial" panose="020B0604020202020204" pitchFamily="34" charset="0"/>
              </a:defRPr>
            </a:lvl3pPr>
            <a:lvl4pPr eaLnBrk="0" fontAlgn="base" hangingPunct="0">
              <a:spcBef>
                <a:spcPct val="0"/>
              </a:spcBef>
              <a:spcAft>
                <a:spcPct val="0"/>
              </a:spcAft>
              <a:defRPr>
                <a:solidFill>
                  <a:schemeClr val="tx1"/>
                </a:solidFill>
                <a:latin typeface="Arial" panose="020B0604020202020204" pitchFamily="34" charset="0"/>
              </a:defRPr>
            </a:lvl4pPr>
            <a:lvl5pPr eaLnBrk="0" fontAlgn="base" hangingPunct="0">
              <a:spcBef>
                <a:spcPct val="0"/>
              </a:spcBef>
              <a:spcAft>
                <a:spcPct val="0"/>
              </a:spcAft>
              <a:defRPr>
                <a:solidFill>
                  <a:schemeClr val="tx1"/>
                </a:solidFill>
                <a:latin typeface="Arial" panose="020B0604020202020204" pitchFamily="34" charset="0"/>
              </a:defRPr>
            </a:lvl5pPr>
            <a:lvl6pPr eaLnBrk="0" fontAlgn="base" hangingPunct="0">
              <a:spcBef>
                <a:spcPct val="0"/>
              </a:spcBef>
              <a:spcAft>
                <a:spcPct val="0"/>
              </a:spcAft>
              <a:defRPr>
                <a:solidFill>
                  <a:schemeClr val="tx1"/>
                </a:solidFill>
                <a:latin typeface="Arial" panose="020B0604020202020204" pitchFamily="34" charset="0"/>
              </a:defRPr>
            </a:lvl6pPr>
            <a:lvl7pPr eaLnBrk="0" fontAlgn="base" hangingPunct="0">
              <a:spcBef>
                <a:spcPct val="0"/>
              </a:spcBef>
              <a:spcAft>
                <a:spcPct val="0"/>
              </a:spcAft>
              <a:defRPr>
                <a:solidFill>
                  <a:schemeClr val="tx1"/>
                </a:solidFill>
                <a:latin typeface="Arial" panose="020B0604020202020204" pitchFamily="34" charset="0"/>
              </a:defRPr>
            </a:lvl7pPr>
            <a:lvl8pPr eaLnBrk="0" fontAlgn="base" hangingPunct="0">
              <a:spcBef>
                <a:spcPct val="0"/>
              </a:spcBef>
              <a:spcAft>
                <a:spcPct val="0"/>
              </a:spcAft>
              <a:defRPr>
                <a:solidFill>
                  <a:schemeClr val="tx1"/>
                </a:solidFill>
                <a:latin typeface="Arial" panose="020B0604020202020204" pitchFamily="34" charset="0"/>
              </a:defRPr>
            </a:lvl8pPr>
            <a:lvl9pPr eaLnBrk="0" fontAlgn="base" hangingPunct="0">
              <a:spcBef>
                <a:spcPct val="0"/>
              </a:spcBef>
              <a:spcAft>
                <a:spcPct val="0"/>
              </a:spcAft>
              <a:defRPr>
                <a:solidFill>
                  <a:schemeClr val="tx1"/>
                </a:solidFill>
                <a:latin typeface="Arial" panose="020B0604020202020204" pitchFamily="34" charset="0"/>
              </a:defRPr>
            </a:lvl9pPr>
          </a:lstStyle>
          <a:p>
            <a:pPr marL="0" marR="0" lvl="0" indent="0" algn="l" defTabSz="914400" rtl="0" eaLnBrk="0" fontAlgn="base" latinLnBrk="0" hangingPunct="0">
              <a:lnSpc>
                <a:spcPct val="100000"/>
              </a:lnSpc>
              <a:spcBef>
                <a:spcPct val="0"/>
              </a:spcBef>
              <a:spcAft>
                <a:spcPct val="0"/>
              </a:spcAft>
              <a:buClrTx/>
              <a:buSzTx/>
              <a:buFontTx/>
              <a:buNone/>
              <a:tabLst/>
            </a:pPr>
            <a:r>
              <a:rPr kumimoji="0" lang="en-US" altLang="en-US" sz="3200" b="1" i="0" u="none" strike="noStrike" cap="none" normalizeH="0" baseline="0" dirty="0">
                <a:ln>
                  <a:noFill/>
                </a:ln>
                <a:solidFill>
                  <a:srgbClr val="273239"/>
                </a:solidFill>
                <a:effectLst/>
                <a:latin typeface="Nunito" pitchFamily="2" charset="0"/>
              </a:rPr>
              <a:t>4. Derived Attribute</a:t>
            </a:r>
          </a:p>
          <a:p>
            <a:pPr marL="0" marR="0" lvl="0" indent="0" algn="l" defTabSz="914400" rtl="0" eaLnBrk="0" fontAlgn="base" latinLnBrk="0" hangingPunct="0">
              <a:lnSpc>
                <a:spcPct val="100000"/>
              </a:lnSpc>
              <a:spcBef>
                <a:spcPct val="0"/>
              </a:spcBef>
              <a:spcAft>
                <a:spcPct val="0"/>
              </a:spcAft>
              <a:buClrTx/>
              <a:buSzTx/>
              <a:buFontTx/>
              <a:buNone/>
              <a:tabLst/>
            </a:pPr>
            <a:r>
              <a:rPr kumimoji="0" lang="en-US" altLang="en-US" sz="3200" b="0" i="0" u="none" strike="noStrike" cap="none" normalizeH="0" baseline="0" dirty="0">
                <a:ln>
                  <a:noFill/>
                </a:ln>
                <a:solidFill>
                  <a:srgbClr val="273239"/>
                </a:solidFill>
                <a:effectLst/>
                <a:latin typeface="Nunito" pitchFamily="2" charset="0"/>
              </a:rPr>
              <a:t>An attribute that can be derived from other attributes of the entity type is known as a derived attribute. e.g.; Age (can be derived from DOB). In ER diagram, the derived attribute is represented by a dashed oval.</a:t>
            </a:r>
            <a:endParaRPr kumimoji="0" lang="en-US" altLang="en-US" sz="3200" b="0" i="0" u="none" strike="noStrike" cap="none" normalizeH="0" baseline="0" dirty="0">
              <a:ln>
                <a:noFill/>
              </a:ln>
              <a:solidFill>
                <a:schemeClr val="tx1"/>
              </a:solidFill>
              <a:effectLst/>
            </a:endParaRPr>
          </a:p>
          <a:p>
            <a:pPr marL="0" marR="0" lvl="0" indent="0" algn="l" defTabSz="914400" rtl="0" eaLnBrk="0" fontAlgn="base" latinLnBrk="0" hangingPunct="0">
              <a:lnSpc>
                <a:spcPct val="100000"/>
              </a:lnSpc>
              <a:spcBef>
                <a:spcPct val="0"/>
              </a:spcBef>
              <a:spcAft>
                <a:spcPct val="0"/>
              </a:spcAft>
              <a:buClrTx/>
              <a:buSzTx/>
              <a:buFontTx/>
              <a:buNone/>
              <a:tabLst/>
            </a:pPr>
            <a:r>
              <a:rPr kumimoji="0" lang="en-US" altLang="en-US" sz="1300" b="0" i="0" u="none" strike="noStrike" cap="none" normalizeH="0" baseline="0" dirty="0">
                <a:ln>
                  <a:noFill/>
                </a:ln>
                <a:solidFill>
                  <a:srgbClr val="273239"/>
                </a:solidFill>
                <a:effectLst/>
                <a:latin typeface="Nunito" pitchFamily="2" charset="0"/>
              </a:rPr>
              <a:t>  </a:t>
            </a:r>
            <a:endParaRPr kumimoji="0" lang="en-US" altLang="en-US" sz="1800" b="0" i="0" u="none" strike="noStrike" cap="none" normalizeH="0" baseline="0" dirty="0">
              <a:ln>
                <a:noFill/>
              </a:ln>
              <a:solidFill>
                <a:schemeClr val="tx1"/>
              </a:solidFill>
              <a:effectLst/>
              <a:latin typeface="Arial" panose="020B0604020202020204" pitchFamily="34" charset="0"/>
            </a:endParaRPr>
          </a:p>
        </p:txBody>
      </p:sp>
      <p:pic>
        <p:nvPicPr>
          <p:cNvPr id="8194" name="Picture 2" descr="Derived Attribute">
            <a:extLst>
              <a:ext uri="{FF2B5EF4-FFF2-40B4-BE49-F238E27FC236}">
                <a16:creationId xmlns:a16="http://schemas.microsoft.com/office/drawing/2014/main" id="{54A7661D-566D-B040-BD1C-322ED9ADF01C}"/>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872803" y="3090530"/>
            <a:ext cx="3587602" cy="1886584"/>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3604681007"/>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a:extLst>
              <a:ext uri="{FF2B5EF4-FFF2-40B4-BE49-F238E27FC236}">
                <a16:creationId xmlns:a16="http://schemas.microsoft.com/office/drawing/2014/main" id="{3EEAB036-0547-AB96-E8A0-EF0C59DCAF77}"/>
              </a:ext>
            </a:extLst>
          </p:cNvPr>
          <p:cNvSpPr>
            <a:spLocks noChangeArrowheads="1"/>
          </p:cNvSpPr>
          <p:nvPr/>
        </p:nvSpPr>
        <p:spPr bwMode="auto">
          <a:xfrm>
            <a:off x="301556" y="527046"/>
            <a:ext cx="11702375" cy="150810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lvl1pPr eaLnBrk="0" fontAlgn="base" hangingPunct="0">
              <a:spcBef>
                <a:spcPct val="0"/>
              </a:spcBef>
              <a:spcAft>
                <a:spcPct val="0"/>
              </a:spcAft>
              <a:defRPr>
                <a:solidFill>
                  <a:schemeClr val="tx1"/>
                </a:solidFill>
                <a:latin typeface="Arial" panose="020B0604020202020204" pitchFamily="34" charset="0"/>
              </a:defRPr>
            </a:lvl1pPr>
            <a:lvl2pPr eaLnBrk="0" fontAlgn="base" hangingPunct="0">
              <a:spcBef>
                <a:spcPct val="0"/>
              </a:spcBef>
              <a:spcAft>
                <a:spcPct val="0"/>
              </a:spcAft>
              <a:defRPr>
                <a:solidFill>
                  <a:schemeClr val="tx1"/>
                </a:solidFill>
                <a:latin typeface="Arial" panose="020B0604020202020204" pitchFamily="34" charset="0"/>
              </a:defRPr>
            </a:lvl2pPr>
            <a:lvl3pPr eaLnBrk="0" fontAlgn="base" hangingPunct="0">
              <a:spcBef>
                <a:spcPct val="0"/>
              </a:spcBef>
              <a:spcAft>
                <a:spcPct val="0"/>
              </a:spcAft>
              <a:defRPr>
                <a:solidFill>
                  <a:schemeClr val="tx1"/>
                </a:solidFill>
                <a:latin typeface="Arial" panose="020B0604020202020204" pitchFamily="34" charset="0"/>
              </a:defRPr>
            </a:lvl3pPr>
            <a:lvl4pPr eaLnBrk="0" fontAlgn="base" hangingPunct="0">
              <a:spcBef>
                <a:spcPct val="0"/>
              </a:spcBef>
              <a:spcAft>
                <a:spcPct val="0"/>
              </a:spcAft>
              <a:defRPr>
                <a:solidFill>
                  <a:schemeClr val="tx1"/>
                </a:solidFill>
                <a:latin typeface="Arial" panose="020B0604020202020204" pitchFamily="34" charset="0"/>
              </a:defRPr>
            </a:lvl4pPr>
            <a:lvl5pPr eaLnBrk="0" fontAlgn="base" hangingPunct="0">
              <a:spcBef>
                <a:spcPct val="0"/>
              </a:spcBef>
              <a:spcAft>
                <a:spcPct val="0"/>
              </a:spcAft>
              <a:defRPr>
                <a:solidFill>
                  <a:schemeClr val="tx1"/>
                </a:solidFill>
                <a:latin typeface="Arial" panose="020B0604020202020204" pitchFamily="34" charset="0"/>
              </a:defRPr>
            </a:lvl5pPr>
            <a:lvl6pPr eaLnBrk="0" fontAlgn="base" hangingPunct="0">
              <a:spcBef>
                <a:spcPct val="0"/>
              </a:spcBef>
              <a:spcAft>
                <a:spcPct val="0"/>
              </a:spcAft>
              <a:defRPr>
                <a:solidFill>
                  <a:schemeClr val="tx1"/>
                </a:solidFill>
                <a:latin typeface="Arial" panose="020B0604020202020204" pitchFamily="34" charset="0"/>
              </a:defRPr>
            </a:lvl6pPr>
            <a:lvl7pPr eaLnBrk="0" fontAlgn="base" hangingPunct="0">
              <a:spcBef>
                <a:spcPct val="0"/>
              </a:spcBef>
              <a:spcAft>
                <a:spcPct val="0"/>
              </a:spcAft>
              <a:defRPr>
                <a:solidFill>
                  <a:schemeClr val="tx1"/>
                </a:solidFill>
                <a:latin typeface="Arial" panose="020B0604020202020204" pitchFamily="34" charset="0"/>
              </a:defRPr>
            </a:lvl7pPr>
            <a:lvl8pPr eaLnBrk="0" fontAlgn="base" hangingPunct="0">
              <a:spcBef>
                <a:spcPct val="0"/>
              </a:spcBef>
              <a:spcAft>
                <a:spcPct val="0"/>
              </a:spcAft>
              <a:defRPr>
                <a:solidFill>
                  <a:schemeClr val="tx1"/>
                </a:solidFill>
                <a:latin typeface="Arial" panose="020B0604020202020204" pitchFamily="34" charset="0"/>
              </a:defRPr>
            </a:lvl8pPr>
            <a:lvl9pPr eaLnBrk="0" fontAlgn="base" hangingPunct="0">
              <a:spcBef>
                <a:spcPct val="0"/>
              </a:spcBef>
              <a:spcAft>
                <a:spcPct val="0"/>
              </a:spcAft>
              <a:defRPr>
                <a:solidFill>
                  <a:schemeClr val="tx1"/>
                </a:solidFill>
                <a:latin typeface="Arial" panose="020B0604020202020204" pitchFamily="34" charset="0"/>
              </a:defRPr>
            </a:lvl9pPr>
          </a:lstStyle>
          <a:p>
            <a:pPr marL="0" marR="0" lvl="0" indent="0" algn="l" defTabSz="914400" rtl="0" eaLnBrk="0" fontAlgn="base" latinLnBrk="0" hangingPunct="0">
              <a:lnSpc>
                <a:spcPct val="100000"/>
              </a:lnSpc>
              <a:spcBef>
                <a:spcPct val="0"/>
              </a:spcBef>
              <a:spcAft>
                <a:spcPct val="0"/>
              </a:spcAft>
              <a:buClrTx/>
              <a:buSzTx/>
              <a:buFontTx/>
              <a:buNone/>
              <a:tabLst/>
            </a:pPr>
            <a:r>
              <a:rPr kumimoji="0" lang="en-US" altLang="en-US" sz="2800" b="0" i="0" u="none" strike="noStrike" cap="none" normalizeH="0" baseline="0" dirty="0">
                <a:ln>
                  <a:noFill/>
                </a:ln>
                <a:solidFill>
                  <a:srgbClr val="FF0000"/>
                </a:solidFill>
                <a:effectLst/>
                <a:latin typeface="Nunito" pitchFamily="2" charset="0"/>
              </a:rPr>
              <a:t>The Complete Entity Type Student with its Attributes can be represented as</a:t>
            </a:r>
            <a:endParaRPr kumimoji="0" lang="en-US" altLang="en-US" sz="2800" b="0" i="0" u="none" strike="noStrike" cap="none" normalizeH="0" baseline="0" dirty="0">
              <a:ln>
                <a:noFill/>
              </a:ln>
              <a:solidFill>
                <a:srgbClr val="FF0000"/>
              </a:solidFill>
              <a:effectLst/>
            </a:endParaRPr>
          </a:p>
          <a:p>
            <a:pPr marL="0" marR="0" lvl="0" indent="0" algn="l" defTabSz="914400" rtl="0" eaLnBrk="0" fontAlgn="base" latinLnBrk="0" hangingPunct="0">
              <a:lnSpc>
                <a:spcPct val="100000"/>
              </a:lnSpc>
              <a:spcBef>
                <a:spcPct val="0"/>
              </a:spcBef>
              <a:spcAft>
                <a:spcPct val="0"/>
              </a:spcAft>
              <a:buClrTx/>
              <a:buSzTx/>
              <a:buFontTx/>
              <a:buNone/>
              <a:tabLst/>
            </a:pPr>
            <a:br>
              <a:rPr kumimoji="0" lang="en-US" altLang="en-US" sz="1800" b="0" i="0" u="none" strike="noStrike" cap="none" normalizeH="0" baseline="0" dirty="0">
                <a:ln>
                  <a:noFill/>
                </a:ln>
                <a:solidFill>
                  <a:schemeClr val="tx1"/>
                </a:solidFill>
                <a:effectLst/>
                <a:latin typeface="Arial" panose="020B0604020202020204" pitchFamily="34" charset="0"/>
              </a:rPr>
            </a:br>
            <a:endParaRPr kumimoji="0" lang="en-US" altLang="en-US" sz="1800" b="0" i="0" u="none" strike="noStrike" cap="none" normalizeH="0" baseline="0" dirty="0">
              <a:ln>
                <a:noFill/>
              </a:ln>
              <a:solidFill>
                <a:schemeClr val="tx1"/>
              </a:solidFill>
              <a:effectLst/>
              <a:latin typeface="Arial" panose="020B0604020202020204" pitchFamily="34" charset="0"/>
            </a:endParaRPr>
          </a:p>
        </p:txBody>
      </p:sp>
      <p:pic>
        <p:nvPicPr>
          <p:cNvPr id="1026" name="Picture 2" descr="Entity And Attribute">
            <a:extLst>
              <a:ext uri="{FF2B5EF4-FFF2-40B4-BE49-F238E27FC236}">
                <a16:creationId xmlns:a16="http://schemas.microsoft.com/office/drawing/2014/main" id="{00B280D5-2913-4710-B772-5F2B26230FB0}"/>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1986293" y="1060146"/>
            <a:ext cx="7980667" cy="4737708"/>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2813577224"/>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5" name="Picture 4" descr="A diagram of a computer program&#10;&#10;Description automatically generated with medium confidence">
            <a:extLst>
              <a:ext uri="{FF2B5EF4-FFF2-40B4-BE49-F238E27FC236}">
                <a16:creationId xmlns:a16="http://schemas.microsoft.com/office/drawing/2014/main" id="{94947AA4-7F05-A889-16BB-77472655DE40}"/>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573932" y="136186"/>
            <a:ext cx="10690698" cy="6527261"/>
          </a:xfrm>
          <a:prstGeom prst="rect">
            <a:avLst/>
          </a:prstGeom>
        </p:spPr>
      </p:pic>
    </p:spTree>
    <p:extLst>
      <p:ext uri="{BB962C8B-B14F-4D97-AF65-F5344CB8AC3E}">
        <p14:creationId xmlns:p14="http://schemas.microsoft.com/office/powerpoint/2010/main" val="750766723"/>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5" name="Picture 4" descr="A diagram of a computer program">
            <a:extLst>
              <a:ext uri="{FF2B5EF4-FFF2-40B4-BE49-F238E27FC236}">
                <a16:creationId xmlns:a16="http://schemas.microsoft.com/office/drawing/2014/main" id="{B448768B-8B53-A8DB-A4E2-5E0B1360E4E3}"/>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109377" y="165369"/>
            <a:ext cx="12103450" cy="6391073"/>
          </a:xfrm>
          <a:prstGeom prst="rect">
            <a:avLst/>
          </a:prstGeom>
        </p:spPr>
      </p:pic>
    </p:spTree>
    <p:extLst>
      <p:ext uri="{BB962C8B-B14F-4D97-AF65-F5344CB8AC3E}">
        <p14:creationId xmlns:p14="http://schemas.microsoft.com/office/powerpoint/2010/main" val="695498790"/>
      </p:ext>
    </p:extLst>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docProps/app.xml><?xml version="1.0" encoding="utf-8"?>
<Properties xmlns="http://schemas.openxmlformats.org/officeDocument/2006/extended-properties" xmlns:vt="http://schemas.openxmlformats.org/officeDocument/2006/docPropsVTypes">
  <TotalTime>103</TotalTime>
  <Words>802</Words>
  <Application>Microsoft Office PowerPoint</Application>
  <PresentationFormat>Widescreen</PresentationFormat>
  <Paragraphs>49</Paragraphs>
  <Slides>13</Slides>
  <Notes>0</Notes>
  <HiddenSlides>0</HiddenSlides>
  <MMClips>0</MMClips>
  <ScaleCrop>false</ScaleCrop>
  <HeadingPairs>
    <vt:vector size="6" baseType="variant">
      <vt:variant>
        <vt:lpstr>Fonts Used</vt:lpstr>
      </vt:variant>
      <vt:variant>
        <vt:i4>6</vt:i4>
      </vt:variant>
      <vt:variant>
        <vt:lpstr>Theme</vt:lpstr>
      </vt:variant>
      <vt:variant>
        <vt:i4>1</vt:i4>
      </vt:variant>
      <vt:variant>
        <vt:lpstr>Slide Titles</vt:lpstr>
      </vt:variant>
      <vt:variant>
        <vt:i4>13</vt:i4>
      </vt:variant>
    </vt:vector>
  </HeadingPairs>
  <TitlesOfParts>
    <vt:vector size="20" baseType="lpstr">
      <vt:lpstr>Aptos</vt:lpstr>
      <vt:lpstr>Aptos Display</vt:lpstr>
      <vt:lpstr>Arial</vt:lpstr>
      <vt:lpstr>Nunito</vt:lpstr>
      <vt:lpstr>Source Sans 3</vt:lpstr>
      <vt:lpstr>Wingdings</vt:lpstr>
      <vt:lpstr>Office Theme</vt:lpstr>
      <vt:lpstr>Introduction of ER Model </vt:lpstr>
      <vt:lpstr>PowerPoint Presentation</vt:lpstr>
      <vt:lpstr>PowerPoint Presentation</vt:lpstr>
      <vt:lpstr>Types of Entity </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Mr. Trilok Singh</dc:creator>
  <cp:lastModifiedBy>Mr. Trilok Singh</cp:lastModifiedBy>
  <cp:revision>16</cp:revision>
  <dcterms:created xsi:type="dcterms:W3CDTF">2024-09-09T17:35:05Z</dcterms:created>
  <dcterms:modified xsi:type="dcterms:W3CDTF">2024-09-18T07:15:41Z</dcterms:modified>
</cp:coreProperties>
</file>