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s/slide139.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6.xml" ContentType="application/vnd.openxmlformats-officedocument.presentationml.slide+xml"/>
  <Override PartName="/ppt/slides/slide128.xml" ContentType="application/vnd.openxmlformats-officedocument.presentationml.slide+xml"/>
  <Override PartName="/ppt/slides/slide13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1"/>
  </p:notesMasterIdLst>
  <p:sldIdLst>
    <p:sldId id="256" r:id="rId2"/>
    <p:sldId id="257" r:id="rId3"/>
    <p:sldId id="258" r:id="rId4"/>
    <p:sldId id="259" r:id="rId5"/>
    <p:sldId id="260" r:id="rId6"/>
    <p:sldId id="320" r:id="rId7"/>
    <p:sldId id="319" r:id="rId8"/>
    <p:sldId id="321" r:id="rId9"/>
    <p:sldId id="322" r:id="rId10"/>
    <p:sldId id="261" r:id="rId11"/>
    <p:sldId id="323" r:id="rId12"/>
    <p:sldId id="324" r:id="rId13"/>
    <p:sldId id="325" r:id="rId14"/>
    <p:sldId id="263" r:id="rId15"/>
    <p:sldId id="264" r:id="rId16"/>
    <p:sldId id="265" r:id="rId17"/>
    <p:sldId id="266" r:id="rId18"/>
    <p:sldId id="267" r:id="rId19"/>
    <p:sldId id="345" r:id="rId20"/>
    <p:sldId id="341" r:id="rId21"/>
    <p:sldId id="342" r:id="rId22"/>
    <p:sldId id="343" r:id="rId23"/>
    <p:sldId id="344" r:id="rId24"/>
    <p:sldId id="269" r:id="rId25"/>
    <p:sldId id="339" r:id="rId26"/>
    <p:sldId id="340" r:id="rId27"/>
    <p:sldId id="327" r:id="rId28"/>
    <p:sldId id="328" r:id="rId29"/>
    <p:sldId id="329" r:id="rId30"/>
    <p:sldId id="330" r:id="rId31"/>
    <p:sldId id="274" r:id="rId32"/>
    <p:sldId id="275" r:id="rId33"/>
    <p:sldId id="346" r:id="rId34"/>
    <p:sldId id="347" r:id="rId35"/>
    <p:sldId id="326" r:id="rId36"/>
    <p:sldId id="270" r:id="rId37"/>
    <p:sldId id="271" r:id="rId38"/>
    <p:sldId id="273" r:id="rId39"/>
    <p:sldId id="276" r:id="rId40"/>
    <p:sldId id="277" r:id="rId41"/>
    <p:sldId id="278" r:id="rId42"/>
    <p:sldId id="272" r:id="rId43"/>
    <p:sldId id="281" r:id="rId44"/>
    <p:sldId id="279" r:id="rId45"/>
    <p:sldId id="280" r:id="rId46"/>
    <p:sldId id="282" r:id="rId47"/>
    <p:sldId id="283" r:id="rId48"/>
    <p:sldId id="284" r:id="rId49"/>
    <p:sldId id="348" r:id="rId50"/>
    <p:sldId id="353" r:id="rId51"/>
    <p:sldId id="349" r:id="rId52"/>
    <p:sldId id="350" r:id="rId53"/>
    <p:sldId id="352" r:id="rId54"/>
    <p:sldId id="288" r:id="rId55"/>
    <p:sldId id="351" r:id="rId56"/>
    <p:sldId id="354" r:id="rId57"/>
    <p:sldId id="355" r:id="rId58"/>
    <p:sldId id="285" r:id="rId59"/>
    <p:sldId id="286" r:id="rId60"/>
    <p:sldId id="287" r:id="rId61"/>
    <p:sldId id="289" r:id="rId62"/>
    <p:sldId id="290" r:id="rId63"/>
    <p:sldId id="293" r:id="rId64"/>
    <p:sldId id="292" r:id="rId65"/>
    <p:sldId id="294" r:id="rId66"/>
    <p:sldId id="291" r:id="rId67"/>
    <p:sldId id="333" r:id="rId68"/>
    <p:sldId id="331" r:id="rId69"/>
    <p:sldId id="356" r:id="rId70"/>
    <p:sldId id="357" r:id="rId71"/>
    <p:sldId id="332" r:id="rId72"/>
    <p:sldId id="295" r:id="rId73"/>
    <p:sldId id="358" r:id="rId74"/>
    <p:sldId id="359" r:id="rId75"/>
    <p:sldId id="360" r:id="rId76"/>
    <p:sldId id="361" r:id="rId77"/>
    <p:sldId id="363" r:id="rId78"/>
    <p:sldId id="364" r:id="rId79"/>
    <p:sldId id="365" r:id="rId80"/>
    <p:sldId id="362" r:id="rId81"/>
    <p:sldId id="366" r:id="rId82"/>
    <p:sldId id="367" r:id="rId83"/>
    <p:sldId id="368" r:id="rId84"/>
    <p:sldId id="369" r:id="rId85"/>
    <p:sldId id="370" r:id="rId86"/>
    <p:sldId id="371" r:id="rId87"/>
    <p:sldId id="372" r:id="rId88"/>
    <p:sldId id="373" r:id="rId89"/>
    <p:sldId id="374" r:id="rId90"/>
    <p:sldId id="375" r:id="rId91"/>
    <p:sldId id="376" r:id="rId92"/>
    <p:sldId id="377" r:id="rId93"/>
    <p:sldId id="378" r:id="rId94"/>
    <p:sldId id="296" r:id="rId95"/>
    <p:sldId id="297" r:id="rId96"/>
    <p:sldId id="298" r:id="rId97"/>
    <p:sldId id="299" r:id="rId98"/>
    <p:sldId id="300" r:id="rId99"/>
    <p:sldId id="301" r:id="rId100"/>
    <p:sldId id="302" r:id="rId101"/>
    <p:sldId id="303" r:id="rId102"/>
    <p:sldId id="304" r:id="rId103"/>
    <p:sldId id="334" r:id="rId104"/>
    <p:sldId id="338" r:id="rId105"/>
    <p:sldId id="335" r:id="rId106"/>
    <p:sldId id="336" r:id="rId107"/>
    <p:sldId id="337" r:id="rId108"/>
    <p:sldId id="379" r:id="rId109"/>
    <p:sldId id="380" r:id="rId110"/>
    <p:sldId id="381" r:id="rId111"/>
    <p:sldId id="382" r:id="rId112"/>
    <p:sldId id="383" r:id="rId113"/>
    <p:sldId id="384" r:id="rId114"/>
    <p:sldId id="385" r:id="rId115"/>
    <p:sldId id="386" r:id="rId116"/>
    <p:sldId id="387" r:id="rId117"/>
    <p:sldId id="316" r:id="rId118"/>
    <p:sldId id="317" r:id="rId119"/>
    <p:sldId id="388" r:id="rId120"/>
    <p:sldId id="389" r:id="rId121"/>
    <p:sldId id="390" r:id="rId122"/>
    <p:sldId id="391" r:id="rId123"/>
    <p:sldId id="392" r:id="rId124"/>
    <p:sldId id="394" r:id="rId125"/>
    <p:sldId id="305" r:id="rId126"/>
    <p:sldId id="306" r:id="rId127"/>
    <p:sldId id="307" r:id="rId128"/>
    <p:sldId id="308" r:id="rId129"/>
    <p:sldId id="311" r:id="rId130"/>
    <p:sldId id="309" r:id="rId131"/>
    <p:sldId id="310" r:id="rId132"/>
    <p:sldId id="312" r:id="rId133"/>
    <p:sldId id="313" r:id="rId134"/>
    <p:sldId id="314" r:id="rId135"/>
    <p:sldId id="315" r:id="rId136"/>
    <p:sldId id="318" r:id="rId137"/>
    <p:sldId id="395" r:id="rId138"/>
    <p:sldId id="396" r:id="rId139"/>
    <p:sldId id="397" r:id="rId1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9985" autoAdjust="0"/>
    <p:restoredTop sz="95223" autoAdjust="0"/>
  </p:normalViewPr>
  <p:slideViewPr>
    <p:cSldViewPr snapToGrid="0">
      <p:cViewPr>
        <p:scale>
          <a:sx n="75" d="100"/>
          <a:sy n="75" d="100"/>
        </p:scale>
        <p:origin x="-450" y="-285"/>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AA2E93-7812-4F3F-97EE-238D21DF0CBE}" type="datetimeFigureOut">
              <a:rPr lang="en-IN" smtClean="0"/>
              <a:pPr/>
              <a:t>22-04-2026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061610-ACD0-4160-8456-2EFCBAF151F8}" type="slidenum">
              <a:rPr lang="en-IN" smtClean="0"/>
              <a:pPr/>
              <a:t>‹#›</a:t>
            </a:fld>
            <a:endParaRPr lang="en-IN"/>
          </a:p>
        </p:txBody>
      </p:sp>
    </p:spTree>
    <p:extLst>
      <p:ext uri="{BB962C8B-B14F-4D97-AF65-F5344CB8AC3E}">
        <p14:creationId xmlns="" xmlns:p14="http://schemas.microsoft.com/office/powerpoint/2010/main" val="3048065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061610-ACD0-4160-8456-2EFCBAF151F8}" type="slidenum">
              <a:rPr lang="en-IN" smtClean="0"/>
              <a:pPr/>
              <a:t>1</a:t>
            </a:fld>
            <a:endParaRPr lang="en-IN"/>
          </a:p>
        </p:txBody>
      </p:sp>
    </p:spTree>
    <p:extLst>
      <p:ext uri="{BB962C8B-B14F-4D97-AF65-F5344CB8AC3E}">
        <p14:creationId xmlns="" xmlns:p14="http://schemas.microsoft.com/office/powerpoint/2010/main" val="1255835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1061610-ACD0-4160-8456-2EFCBAF151F8}" type="slidenum">
              <a:rPr lang="en-IN" smtClean="0"/>
              <a:pPr/>
              <a:t>34</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061610-ACD0-4160-8456-2EFCBAF151F8}" type="slidenum">
              <a:rPr lang="en-IN" smtClean="0"/>
              <a:pPr/>
              <a:t>130</a:t>
            </a:fld>
            <a:endParaRPr lang="en-IN"/>
          </a:p>
        </p:txBody>
      </p:sp>
    </p:spTree>
    <p:extLst>
      <p:ext uri="{BB962C8B-B14F-4D97-AF65-F5344CB8AC3E}">
        <p14:creationId xmlns="" xmlns:p14="http://schemas.microsoft.com/office/powerpoint/2010/main" val="473956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2873748-3D21-812C-1364-C2BC96B9B7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5ED06988-4C58-A3EB-9702-1C42C30C04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951E430C-58C5-24B0-7EF5-348608D5BE34}"/>
              </a:ext>
            </a:extLst>
          </p:cNvPr>
          <p:cNvSpPr>
            <a:spLocks noGrp="1"/>
          </p:cNvSpPr>
          <p:nvPr>
            <p:ph type="dt" sz="half" idx="10"/>
          </p:nvPr>
        </p:nvSpPr>
        <p:spPr/>
        <p:txBody>
          <a:bodyPr/>
          <a:lstStyle/>
          <a:p>
            <a:fld id="{5594E371-C47B-4925-A5B3-8DED6562B769}" type="datetimeFigureOut">
              <a:rPr lang="en-IN" smtClean="0"/>
              <a:pPr/>
              <a:t>22-04-2026</a:t>
            </a:fld>
            <a:endParaRPr lang="en-IN"/>
          </a:p>
        </p:txBody>
      </p:sp>
      <p:sp>
        <p:nvSpPr>
          <p:cNvPr id="5" name="Footer Placeholder 4">
            <a:extLst>
              <a:ext uri="{FF2B5EF4-FFF2-40B4-BE49-F238E27FC236}">
                <a16:creationId xmlns="" xmlns:a16="http://schemas.microsoft.com/office/drawing/2014/main" id="{10229065-F9DD-EC9D-4E22-DEE2908A62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01422F4E-064F-0A7F-09ED-17BE10BBD7D0}"/>
              </a:ext>
            </a:extLst>
          </p:cNvPr>
          <p:cNvSpPr>
            <a:spLocks noGrp="1"/>
          </p:cNvSpPr>
          <p:nvPr>
            <p:ph type="sldNum" sz="quarter" idx="12"/>
          </p:nvPr>
        </p:nvSpPr>
        <p:spPr/>
        <p:txBody>
          <a:bodyPr/>
          <a:lstStyle/>
          <a:p>
            <a:fld id="{A6554C38-5AB5-47A1-BC0D-76CBF7F7E8CD}" type="slidenum">
              <a:rPr lang="en-IN" smtClean="0"/>
              <a:pPr/>
              <a:t>‹#›</a:t>
            </a:fld>
            <a:endParaRPr lang="en-IN"/>
          </a:p>
        </p:txBody>
      </p:sp>
    </p:spTree>
    <p:extLst>
      <p:ext uri="{BB962C8B-B14F-4D97-AF65-F5344CB8AC3E}">
        <p14:creationId xmlns="" xmlns:p14="http://schemas.microsoft.com/office/powerpoint/2010/main" val="2147694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0ED3E4-F818-1364-B34B-15E7E74A2C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3D6FAC40-DC3D-141E-7C0A-F824E5B54E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8E9F7676-3D6C-7AD7-04EB-3600A9A6448C}"/>
              </a:ext>
            </a:extLst>
          </p:cNvPr>
          <p:cNvSpPr>
            <a:spLocks noGrp="1"/>
          </p:cNvSpPr>
          <p:nvPr>
            <p:ph type="dt" sz="half" idx="10"/>
          </p:nvPr>
        </p:nvSpPr>
        <p:spPr/>
        <p:txBody>
          <a:bodyPr/>
          <a:lstStyle/>
          <a:p>
            <a:fld id="{5594E371-C47B-4925-A5B3-8DED6562B769}" type="datetimeFigureOut">
              <a:rPr lang="en-IN" smtClean="0"/>
              <a:pPr/>
              <a:t>22-04-2026</a:t>
            </a:fld>
            <a:endParaRPr lang="en-IN"/>
          </a:p>
        </p:txBody>
      </p:sp>
      <p:sp>
        <p:nvSpPr>
          <p:cNvPr id="5" name="Footer Placeholder 4">
            <a:extLst>
              <a:ext uri="{FF2B5EF4-FFF2-40B4-BE49-F238E27FC236}">
                <a16:creationId xmlns="" xmlns:a16="http://schemas.microsoft.com/office/drawing/2014/main" id="{064392DF-AADF-ABB3-3A5E-86731E8F55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AE89FA15-B943-47BF-463D-C742EFDED74E}"/>
              </a:ext>
            </a:extLst>
          </p:cNvPr>
          <p:cNvSpPr>
            <a:spLocks noGrp="1"/>
          </p:cNvSpPr>
          <p:nvPr>
            <p:ph type="sldNum" sz="quarter" idx="12"/>
          </p:nvPr>
        </p:nvSpPr>
        <p:spPr/>
        <p:txBody>
          <a:bodyPr/>
          <a:lstStyle/>
          <a:p>
            <a:fld id="{A6554C38-5AB5-47A1-BC0D-76CBF7F7E8CD}" type="slidenum">
              <a:rPr lang="en-IN" smtClean="0"/>
              <a:pPr/>
              <a:t>‹#›</a:t>
            </a:fld>
            <a:endParaRPr lang="en-IN"/>
          </a:p>
        </p:txBody>
      </p:sp>
    </p:spTree>
    <p:extLst>
      <p:ext uri="{BB962C8B-B14F-4D97-AF65-F5344CB8AC3E}">
        <p14:creationId xmlns="" xmlns:p14="http://schemas.microsoft.com/office/powerpoint/2010/main" val="2327133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42C8608-A501-76F8-2C3E-3D9E0E8010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EDC35CC2-B822-473A-E0D9-3DF2B69F0D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210BB15C-941E-A19C-1C46-6B9F652E5BD6}"/>
              </a:ext>
            </a:extLst>
          </p:cNvPr>
          <p:cNvSpPr>
            <a:spLocks noGrp="1"/>
          </p:cNvSpPr>
          <p:nvPr>
            <p:ph type="dt" sz="half" idx="10"/>
          </p:nvPr>
        </p:nvSpPr>
        <p:spPr/>
        <p:txBody>
          <a:bodyPr/>
          <a:lstStyle/>
          <a:p>
            <a:fld id="{5594E371-C47B-4925-A5B3-8DED6562B769}" type="datetimeFigureOut">
              <a:rPr lang="en-IN" smtClean="0"/>
              <a:pPr/>
              <a:t>22-04-2026</a:t>
            </a:fld>
            <a:endParaRPr lang="en-IN"/>
          </a:p>
        </p:txBody>
      </p:sp>
      <p:sp>
        <p:nvSpPr>
          <p:cNvPr id="5" name="Footer Placeholder 4">
            <a:extLst>
              <a:ext uri="{FF2B5EF4-FFF2-40B4-BE49-F238E27FC236}">
                <a16:creationId xmlns="" xmlns:a16="http://schemas.microsoft.com/office/drawing/2014/main" id="{0BB90F86-16E7-AF58-BF49-17F0BEEAD7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36C5AEF-AF86-B34D-1007-3C8EE7FBCC93}"/>
              </a:ext>
            </a:extLst>
          </p:cNvPr>
          <p:cNvSpPr>
            <a:spLocks noGrp="1"/>
          </p:cNvSpPr>
          <p:nvPr>
            <p:ph type="sldNum" sz="quarter" idx="12"/>
          </p:nvPr>
        </p:nvSpPr>
        <p:spPr/>
        <p:txBody>
          <a:bodyPr/>
          <a:lstStyle/>
          <a:p>
            <a:fld id="{A6554C38-5AB5-47A1-BC0D-76CBF7F7E8CD}" type="slidenum">
              <a:rPr lang="en-IN" smtClean="0"/>
              <a:pPr/>
              <a:t>‹#›</a:t>
            </a:fld>
            <a:endParaRPr lang="en-IN"/>
          </a:p>
        </p:txBody>
      </p:sp>
    </p:spTree>
    <p:extLst>
      <p:ext uri="{BB962C8B-B14F-4D97-AF65-F5344CB8AC3E}">
        <p14:creationId xmlns="" xmlns:p14="http://schemas.microsoft.com/office/powerpoint/2010/main" val="1331922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7B16452-63E7-DC44-6D3A-92CB3A5BCE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52DD215A-A5C4-C807-EF3F-64B816D54A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D7864FFD-17E9-4A19-7D0E-56FC50741B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8D3A561D-7F66-A297-15EF-7BC2E01ABCCF}"/>
              </a:ext>
            </a:extLst>
          </p:cNvPr>
          <p:cNvSpPr>
            <a:spLocks noGrp="1"/>
          </p:cNvSpPr>
          <p:nvPr>
            <p:ph type="dt" sz="half" idx="10"/>
          </p:nvPr>
        </p:nvSpPr>
        <p:spPr/>
        <p:txBody>
          <a:bodyPr/>
          <a:lstStyle/>
          <a:p>
            <a:fld id="{5594E371-C47B-4925-A5B3-8DED6562B769}" type="datetimeFigureOut">
              <a:rPr lang="en-IN" smtClean="0"/>
              <a:pPr/>
              <a:t>22-04-2026</a:t>
            </a:fld>
            <a:endParaRPr lang="en-IN"/>
          </a:p>
        </p:txBody>
      </p:sp>
      <p:sp>
        <p:nvSpPr>
          <p:cNvPr id="6" name="Footer Placeholder 5">
            <a:extLst>
              <a:ext uri="{FF2B5EF4-FFF2-40B4-BE49-F238E27FC236}">
                <a16:creationId xmlns="" xmlns:a16="http://schemas.microsoft.com/office/drawing/2014/main" id="{BE50735E-FEEB-544F-70AE-D3719F5F62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704E0866-85AD-2897-0CB7-2E97667E49AA}"/>
              </a:ext>
            </a:extLst>
          </p:cNvPr>
          <p:cNvSpPr>
            <a:spLocks noGrp="1"/>
          </p:cNvSpPr>
          <p:nvPr>
            <p:ph type="sldNum" sz="quarter" idx="12"/>
          </p:nvPr>
        </p:nvSpPr>
        <p:spPr/>
        <p:txBody>
          <a:bodyPr/>
          <a:lstStyle/>
          <a:p>
            <a:fld id="{A6554C38-5AB5-47A1-BC0D-76CBF7F7E8CD}" type="slidenum">
              <a:rPr lang="en-IN" smtClean="0"/>
              <a:pPr/>
              <a:t>‹#›</a:t>
            </a:fld>
            <a:endParaRPr lang="en-IN"/>
          </a:p>
        </p:txBody>
      </p:sp>
    </p:spTree>
    <p:extLst>
      <p:ext uri="{BB962C8B-B14F-4D97-AF65-F5344CB8AC3E}">
        <p14:creationId xmlns="" xmlns:p14="http://schemas.microsoft.com/office/powerpoint/2010/main" val="1011814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65D173F-AC77-D0A0-B200-2B48E9DE1AB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FEDDF516-2BDD-C4DC-1DE8-2094946694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72D5779E-0A9D-1906-38B4-067B61200C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EBE8ED97-AA5A-7ADE-DA90-FDA8239F80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38D72EFF-5EE7-657F-D3F7-79068DDA4B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0293DF5F-AB1C-B02B-7D44-EFDDECD16436}"/>
              </a:ext>
            </a:extLst>
          </p:cNvPr>
          <p:cNvSpPr>
            <a:spLocks noGrp="1"/>
          </p:cNvSpPr>
          <p:nvPr>
            <p:ph type="dt" sz="half" idx="10"/>
          </p:nvPr>
        </p:nvSpPr>
        <p:spPr/>
        <p:txBody>
          <a:bodyPr/>
          <a:lstStyle/>
          <a:p>
            <a:fld id="{5594E371-C47B-4925-A5B3-8DED6562B769}" type="datetimeFigureOut">
              <a:rPr lang="en-IN" smtClean="0"/>
              <a:pPr/>
              <a:t>22-04-2026</a:t>
            </a:fld>
            <a:endParaRPr lang="en-IN"/>
          </a:p>
        </p:txBody>
      </p:sp>
      <p:sp>
        <p:nvSpPr>
          <p:cNvPr id="8" name="Footer Placeholder 7">
            <a:extLst>
              <a:ext uri="{FF2B5EF4-FFF2-40B4-BE49-F238E27FC236}">
                <a16:creationId xmlns="" xmlns:a16="http://schemas.microsoft.com/office/drawing/2014/main" id="{EAD7C78F-D985-C5D8-3748-672CC28D4EB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E5C561D6-1404-6334-AC79-F6AC2F828A53}"/>
              </a:ext>
            </a:extLst>
          </p:cNvPr>
          <p:cNvSpPr>
            <a:spLocks noGrp="1"/>
          </p:cNvSpPr>
          <p:nvPr>
            <p:ph type="sldNum" sz="quarter" idx="12"/>
          </p:nvPr>
        </p:nvSpPr>
        <p:spPr/>
        <p:txBody>
          <a:bodyPr/>
          <a:lstStyle/>
          <a:p>
            <a:fld id="{A6554C38-5AB5-47A1-BC0D-76CBF7F7E8CD}" type="slidenum">
              <a:rPr lang="en-IN" smtClean="0"/>
              <a:pPr/>
              <a:t>‹#›</a:t>
            </a:fld>
            <a:endParaRPr lang="en-IN"/>
          </a:p>
        </p:txBody>
      </p:sp>
    </p:spTree>
    <p:extLst>
      <p:ext uri="{BB962C8B-B14F-4D97-AF65-F5344CB8AC3E}">
        <p14:creationId xmlns="" xmlns:p14="http://schemas.microsoft.com/office/powerpoint/2010/main" val="1874923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16FAEA-CE9A-DFE1-4B56-4C48708B9E7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24711F8E-EC29-9FD6-32A2-9BB68C6D8724}"/>
              </a:ext>
            </a:extLst>
          </p:cNvPr>
          <p:cNvSpPr>
            <a:spLocks noGrp="1"/>
          </p:cNvSpPr>
          <p:nvPr>
            <p:ph type="dt" sz="half" idx="10"/>
          </p:nvPr>
        </p:nvSpPr>
        <p:spPr/>
        <p:txBody>
          <a:bodyPr/>
          <a:lstStyle/>
          <a:p>
            <a:fld id="{5594E371-C47B-4925-A5B3-8DED6562B769}" type="datetimeFigureOut">
              <a:rPr lang="en-IN" smtClean="0"/>
              <a:pPr/>
              <a:t>22-04-2026</a:t>
            </a:fld>
            <a:endParaRPr lang="en-IN"/>
          </a:p>
        </p:txBody>
      </p:sp>
      <p:sp>
        <p:nvSpPr>
          <p:cNvPr id="4" name="Footer Placeholder 3">
            <a:extLst>
              <a:ext uri="{FF2B5EF4-FFF2-40B4-BE49-F238E27FC236}">
                <a16:creationId xmlns="" xmlns:a16="http://schemas.microsoft.com/office/drawing/2014/main" id="{F38CB579-D9FB-F6E9-86F1-78B8660235D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455F0E26-F01A-6A2E-F021-55B877111BCB}"/>
              </a:ext>
            </a:extLst>
          </p:cNvPr>
          <p:cNvSpPr>
            <a:spLocks noGrp="1"/>
          </p:cNvSpPr>
          <p:nvPr>
            <p:ph type="sldNum" sz="quarter" idx="12"/>
          </p:nvPr>
        </p:nvSpPr>
        <p:spPr/>
        <p:txBody>
          <a:bodyPr/>
          <a:lstStyle/>
          <a:p>
            <a:fld id="{A6554C38-5AB5-47A1-BC0D-76CBF7F7E8CD}" type="slidenum">
              <a:rPr lang="en-IN" smtClean="0"/>
              <a:pPr/>
              <a:t>‹#›</a:t>
            </a:fld>
            <a:endParaRPr lang="en-IN"/>
          </a:p>
        </p:txBody>
      </p:sp>
    </p:spTree>
    <p:extLst>
      <p:ext uri="{BB962C8B-B14F-4D97-AF65-F5344CB8AC3E}">
        <p14:creationId xmlns="" xmlns:p14="http://schemas.microsoft.com/office/powerpoint/2010/main" val="21961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044D8708-83E0-C397-03F2-6CFC1241CB54}"/>
              </a:ext>
            </a:extLst>
          </p:cNvPr>
          <p:cNvSpPr>
            <a:spLocks noGrp="1"/>
          </p:cNvSpPr>
          <p:nvPr>
            <p:ph type="dt" sz="half" idx="10"/>
          </p:nvPr>
        </p:nvSpPr>
        <p:spPr/>
        <p:txBody>
          <a:bodyPr/>
          <a:lstStyle/>
          <a:p>
            <a:fld id="{5594E371-C47B-4925-A5B3-8DED6562B769}" type="datetimeFigureOut">
              <a:rPr lang="en-IN" smtClean="0"/>
              <a:pPr/>
              <a:t>22-04-2026</a:t>
            </a:fld>
            <a:endParaRPr lang="en-IN"/>
          </a:p>
        </p:txBody>
      </p:sp>
      <p:sp>
        <p:nvSpPr>
          <p:cNvPr id="3" name="Footer Placeholder 2">
            <a:extLst>
              <a:ext uri="{FF2B5EF4-FFF2-40B4-BE49-F238E27FC236}">
                <a16:creationId xmlns="" xmlns:a16="http://schemas.microsoft.com/office/drawing/2014/main" id="{7EAEFFF4-88A6-C2E4-EBF2-CF388B55CA5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55B477A8-930E-78A3-5D62-815CE486BFB0}"/>
              </a:ext>
            </a:extLst>
          </p:cNvPr>
          <p:cNvSpPr>
            <a:spLocks noGrp="1"/>
          </p:cNvSpPr>
          <p:nvPr>
            <p:ph type="sldNum" sz="quarter" idx="12"/>
          </p:nvPr>
        </p:nvSpPr>
        <p:spPr/>
        <p:txBody>
          <a:bodyPr/>
          <a:lstStyle/>
          <a:p>
            <a:fld id="{A6554C38-5AB5-47A1-BC0D-76CBF7F7E8CD}" type="slidenum">
              <a:rPr lang="en-IN" smtClean="0"/>
              <a:pPr/>
              <a:t>‹#›</a:t>
            </a:fld>
            <a:endParaRPr lang="en-IN"/>
          </a:p>
        </p:txBody>
      </p:sp>
    </p:spTree>
    <p:extLst>
      <p:ext uri="{BB962C8B-B14F-4D97-AF65-F5344CB8AC3E}">
        <p14:creationId xmlns="" xmlns:p14="http://schemas.microsoft.com/office/powerpoint/2010/main" val="1254212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79F4C2F-75CE-B507-6BA4-9DAAEC3707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B7280B76-5E30-07D2-913E-4E2D818AFA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8AE6D195-F5FE-7241-1C7E-51974BB4F3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6D7B1918-B753-395B-BBFB-2FEFA8A834FF}"/>
              </a:ext>
            </a:extLst>
          </p:cNvPr>
          <p:cNvSpPr>
            <a:spLocks noGrp="1"/>
          </p:cNvSpPr>
          <p:nvPr>
            <p:ph type="dt" sz="half" idx="10"/>
          </p:nvPr>
        </p:nvSpPr>
        <p:spPr/>
        <p:txBody>
          <a:bodyPr/>
          <a:lstStyle/>
          <a:p>
            <a:fld id="{5594E371-C47B-4925-A5B3-8DED6562B769}" type="datetimeFigureOut">
              <a:rPr lang="en-IN" smtClean="0"/>
              <a:pPr/>
              <a:t>22-04-2026</a:t>
            </a:fld>
            <a:endParaRPr lang="en-IN"/>
          </a:p>
        </p:txBody>
      </p:sp>
      <p:sp>
        <p:nvSpPr>
          <p:cNvPr id="6" name="Footer Placeholder 5">
            <a:extLst>
              <a:ext uri="{FF2B5EF4-FFF2-40B4-BE49-F238E27FC236}">
                <a16:creationId xmlns="" xmlns:a16="http://schemas.microsoft.com/office/drawing/2014/main" id="{88B119C9-09DC-FA74-05B8-0FFAD75AEC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3812D3CA-9D62-A57C-1B1B-66D66367C1CC}"/>
              </a:ext>
            </a:extLst>
          </p:cNvPr>
          <p:cNvSpPr>
            <a:spLocks noGrp="1"/>
          </p:cNvSpPr>
          <p:nvPr>
            <p:ph type="sldNum" sz="quarter" idx="12"/>
          </p:nvPr>
        </p:nvSpPr>
        <p:spPr/>
        <p:txBody>
          <a:bodyPr/>
          <a:lstStyle/>
          <a:p>
            <a:fld id="{A6554C38-5AB5-47A1-BC0D-76CBF7F7E8CD}" type="slidenum">
              <a:rPr lang="en-IN" smtClean="0"/>
              <a:pPr/>
              <a:t>‹#›</a:t>
            </a:fld>
            <a:endParaRPr lang="en-IN"/>
          </a:p>
        </p:txBody>
      </p:sp>
    </p:spTree>
    <p:extLst>
      <p:ext uri="{BB962C8B-B14F-4D97-AF65-F5344CB8AC3E}">
        <p14:creationId xmlns="" xmlns:p14="http://schemas.microsoft.com/office/powerpoint/2010/main" val="3842829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8E9431-0CA5-F761-0B9C-AD260DFDDA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752F709F-DFC9-C911-8955-05F9C63597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EB979BFF-CECE-FCD5-CADF-DA795EE9F6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2A0C35DF-7C7C-A252-C2D7-FCB7767BBD9E}"/>
              </a:ext>
            </a:extLst>
          </p:cNvPr>
          <p:cNvSpPr>
            <a:spLocks noGrp="1"/>
          </p:cNvSpPr>
          <p:nvPr>
            <p:ph type="dt" sz="half" idx="10"/>
          </p:nvPr>
        </p:nvSpPr>
        <p:spPr/>
        <p:txBody>
          <a:bodyPr/>
          <a:lstStyle/>
          <a:p>
            <a:fld id="{5594E371-C47B-4925-A5B3-8DED6562B769}" type="datetimeFigureOut">
              <a:rPr lang="en-IN" smtClean="0"/>
              <a:pPr/>
              <a:t>22-04-2026</a:t>
            </a:fld>
            <a:endParaRPr lang="en-IN"/>
          </a:p>
        </p:txBody>
      </p:sp>
      <p:sp>
        <p:nvSpPr>
          <p:cNvPr id="6" name="Footer Placeholder 5">
            <a:extLst>
              <a:ext uri="{FF2B5EF4-FFF2-40B4-BE49-F238E27FC236}">
                <a16:creationId xmlns="" xmlns:a16="http://schemas.microsoft.com/office/drawing/2014/main" id="{DCE11E3C-915F-A21F-48E6-F411CD99C0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CE124713-BA50-E967-8A4A-88C451B89626}"/>
              </a:ext>
            </a:extLst>
          </p:cNvPr>
          <p:cNvSpPr>
            <a:spLocks noGrp="1"/>
          </p:cNvSpPr>
          <p:nvPr>
            <p:ph type="sldNum" sz="quarter" idx="12"/>
          </p:nvPr>
        </p:nvSpPr>
        <p:spPr/>
        <p:txBody>
          <a:bodyPr/>
          <a:lstStyle/>
          <a:p>
            <a:fld id="{A6554C38-5AB5-47A1-BC0D-76CBF7F7E8CD}" type="slidenum">
              <a:rPr lang="en-IN" smtClean="0"/>
              <a:pPr/>
              <a:t>‹#›</a:t>
            </a:fld>
            <a:endParaRPr lang="en-IN"/>
          </a:p>
        </p:txBody>
      </p:sp>
    </p:spTree>
    <p:extLst>
      <p:ext uri="{BB962C8B-B14F-4D97-AF65-F5344CB8AC3E}">
        <p14:creationId xmlns="" xmlns:p14="http://schemas.microsoft.com/office/powerpoint/2010/main" val="3622400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8874390-48BD-586C-A1ED-4E91FADB722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B3512A5C-CC3B-F73C-90AA-FE421740E1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F466613D-6C3C-2D9E-E778-8F5D0B1B9A43}"/>
              </a:ext>
            </a:extLst>
          </p:cNvPr>
          <p:cNvSpPr>
            <a:spLocks noGrp="1"/>
          </p:cNvSpPr>
          <p:nvPr>
            <p:ph type="dt" sz="half" idx="10"/>
          </p:nvPr>
        </p:nvSpPr>
        <p:spPr/>
        <p:txBody>
          <a:bodyPr/>
          <a:lstStyle/>
          <a:p>
            <a:fld id="{5594E371-C47B-4925-A5B3-8DED6562B769}" type="datetimeFigureOut">
              <a:rPr lang="en-IN" smtClean="0"/>
              <a:pPr/>
              <a:t>22-04-2026</a:t>
            </a:fld>
            <a:endParaRPr lang="en-IN"/>
          </a:p>
        </p:txBody>
      </p:sp>
      <p:sp>
        <p:nvSpPr>
          <p:cNvPr id="5" name="Footer Placeholder 4">
            <a:extLst>
              <a:ext uri="{FF2B5EF4-FFF2-40B4-BE49-F238E27FC236}">
                <a16:creationId xmlns="" xmlns:a16="http://schemas.microsoft.com/office/drawing/2014/main" id="{81DA339C-C948-1065-705C-2084B949A4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BD5B2D4-8F15-BB49-2C4A-B08680B92D65}"/>
              </a:ext>
            </a:extLst>
          </p:cNvPr>
          <p:cNvSpPr>
            <a:spLocks noGrp="1"/>
          </p:cNvSpPr>
          <p:nvPr>
            <p:ph type="sldNum" sz="quarter" idx="12"/>
          </p:nvPr>
        </p:nvSpPr>
        <p:spPr/>
        <p:txBody>
          <a:bodyPr/>
          <a:lstStyle/>
          <a:p>
            <a:fld id="{A6554C38-5AB5-47A1-BC0D-76CBF7F7E8CD}" type="slidenum">
              <a:rPr lang="en-IN" smtClean="0"/>
              <a:pPr/>
              <a:t>‹#›</a:t>
            </a:fld>
            <a:endParaRPr lang="en-IN"/>
          </a:p>
        </p:txBody>
      </p:sp>
    </p:spTree>
    <p:extLst>
      <p:ext uri="{BB962C8B-B14F-4D97-AF65-F5344CB8AC3E}">
        <p14:creationId xmlns="" xmlns:p14="http://schemas.microsoft.com/office/powerpoint/2010/main" val="4009321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36A9BD9B-F792-2813-15D8-7736F7E187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ECD4F203-D95F-E734-EA37-B3B49E1D43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FD826AF2-7023-2E9A-5CC1-FD82164A053F}"/>
              </a:ext>
            </a:extLst>
          </p:cNvPr>
          <p:cNvSpPr>
            <a:spLocks noGrp="1"/>
          </p:cNvSpPr>
          <p:nvPr>
            <p:ph type="dt" sz="half" idx="10"/>
          </p:nvPr>
        </p:nvSpPr>
        <p:spPr/>
        <p:txBody>
          <a:bodyPr/>
          <a:lstStyle/>
          <a:p>
            <a:fld id="{5594E371-C47B-4925-A5B3-8DED6562B769}" type="datetimeFigureOut">
              <a:rPr lang="en-IN" smtClean="0"/>
              <a:pPr/>
              <a:t>22-04-2026</a:t>
            </a:fld>
            <a:endParaRPr lang="en-IN"/>
          </a:p>
        </p:txBody>
      </p:sp>
      <p:sp>
        <p:nvSpPr>
          <p:cNvPr id="5" name="Footer Placeholder 4">
            <a:extLst>
              <a:ext uri="{FF2B5EF4-FFF2-40B4-BE49-F238E27FC236}">
                <a16:creationId xmlns="" xmlns:a16="http://schemas.microsoft.com/office/drawing/2014/main" id="{AB66DE70-47DE-37F9-A787-405947E2FB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5B98A074-2782-5F7F-FB6F-614AC62DBB50}"/>
              </a:ext>
            </a:extLst>
          </p:cNvPr>
          <p:cNvSpPr>
            <a:spLocks noGrp="1"/>
          </p:cNvSpPr>
          <p:nvPr>
            <p:ph type="sldNum" sz="quarter" idx="12"/>
          </p:nvPr>
        </p:nvSpPr>
        <p:spPr/>
        <p:txBody>
          <a:bodyPr/>
          <a:lstStyle/>
          <a:p>
            <a:fld id="{A6554C38-5AB5-47A1-BC0D-76CBF7F7E8CD}" type="slidenum">
              <a:rPr lang="en-IN" smtClean="0"/>
              <a:pPr/>
              <a:t>‹#›</a:t>
            </a:fld>
            <a:endParaRPr lang="en-IN"/>
          </a:p>
        </p:txBody>
      </p:sp>
    </p:spTree>
    <p:extLst>
      <p:ext uri="{BB962C8B-B14F-4D97-AF65-F5344CB8AC3E}">
        <p14:creationId xmlns="" xmlns:p14="http://schemas.microsoft.com/office/powerpoint/2010/main" val="3491444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6E9DC636-9354-6F25-25BB-CE2E7A39A3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C132CDAC-7DF9-BC7E-5AF6-F989323F86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D8842AA-13DC-B336-48E7-8B56025174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94E371-C47B-4925-A5B3-8DED6562B769}" type="datetimeFigureOut">
              <a:rPr lang="en-IN" smtClean="0"/>
              <a:pPr/>
              <a:t>22-04-2026</a:t>
            </a:fld>
            <a:endParaRPr lang="en-IN"/>
          </a:p>
        </p:txBody>
      </p:sp>
      <p:sp>
        <p:nvSpPr>
          <p:cNvPr id="5" name="Footer Placeholder 4">
            <a:extLst>
              <a:ext uri="{FF2B5EF4-FFF2-40B4-BE49-F238E27FC236}">
                <a16:creationId xmlns="" xmlns:a16="http://schemas.microsoft.com/office/drawing/2014/main" id="{0C1B5ED3-A965-7534-ABDA-AADFC152D6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 xmlns:a16="http://schemas.microsoft.com/office/drawing/2014/main" id="{D4A1A652-FAB1-F6A7-92F0-DC83BB65B3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6554C38-5AB5-47A1-BC0D-76CBF7F7E8CD}" type="slidenum">
              <a:rPr lang="en-IN" smtClean="0"/>
              <a:pPr/>
              <a:t>‹#›</a:t>
            </a:fld>
            <a:endParaRPr lang="en-IN"/>
          </a:p>
        </p:txBody>
      </p:sp>
    </p:spTree>
    <p:extLst>
      <p:ext uri="{BB962C8B-B14F-4D97-AF65-F5344CB8AC3E}">
        <p14:creationId xmlns="" xmlns:p14="http://schemas.microsoft.com/office/powerpoint/2010/main" val="4188147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twitter.com/Override"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twitter.com/Override"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twitter.com/Override"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hyperlink" Target="https://developer.android.com/guide/topics/providers/content-providers"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hyperlink" Target="http://twitter.com/Override"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www.geeksforgeeks.org/android/activity-lifecycle-in-android-with-demo-app/" TargetMode="External"/><Relationship Id="rId2" Type="http://schemas.openxmlformats.org/officeDocument/2006/relationships/hyperlink" Target="https://www.geeksforgeeks.org/android/components-android-application/"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developer.android.com/guide/topics/manifest/application-element" TargetMode="External"/><Relationship Id="rId2" Type="http://schemas.openxmlformats.org/officeDocument/2006/relationships/hyperlink" Target="https://developer.android.com/guide/topics/manifest/activity-element"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hyperlink" Target="https://developer.android.com/reference/android/app/Activity"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hyperlink" Target="https://developer.android.com/reference/android/content/Intent" TargetMode="Externa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s://www.geeksforgeeks.org/notifications-in-android-oreo-8/" TargetMode="External"/><Relationship Id="rId2" Type="http://schemas.openxmlformats.org/officeDocument/2006/relationships/hyperlink" Target="https://www.geeksforgeeks.org/toasts-android-studio/" TargetMode="Externa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developer.android.com/reference/android/view/View" TargetMode="External"/><Relationship Id="rId2" Type="http://schemas.openxmlformats.org/officeDocument/2006/relationships/hyperlink" Target="https://developer.android.com/guide/components/activities" TargetMode="External"/><Relationship Id="rId1" Type="http://schemas.openxmlformats.org/officeDocument/2006/relationships/slideLayout" Target="../slideLayouts/slideLayout2.xml"/><Relationship Id="rId4" Type="http://schemas.openxmlformats.org/officeDocument/2006/relationships/hyperlink" Target="https://developer.android.com/reference/android/view/ViewGroup" TargetMode="External"/></Relationships>
</file>

<file path=ppt/slides/_rels/slide5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s://www.geeksforgeeks.org/imageview-in-android-with-example/" TargetMode="External"/><Relationship Id="rId7" Type="http://schemas.openxmlformats.org/officeDocument/2006/relationships/hyperlink" Target="https://developer.android.com/reference/android/widget/TextView" TargetMode="External"/><Relationship Id="rId2" Type="http://schemas.openxmlformats.org/officeDocument/2006/relationships/hyperlink" Target="https://www.geeksforgeeks.org/textview-widget-in-android-using-java-with-examples/" TargetMode="External"/><Relationship Id="rId1" Type="http://schemas.openxmlformats.org/officeDocument/2006/relationships/slideLayout" Target="../slideLayouts/slideLayout2.xml"/><Relationship Id="rId6" Type="http://schemas.openxmlformats.org/officeDocument/2006/relationships/hyperlink" Target="https://developer.android.com/reference/android/widget/Button" TargetMode="External"/><Relationship Id="rId5" Type="http://schemas.openxmlformats.org/officeDocument/2006/relationships/hyperlink" Target="https://www.geeksforgeeks.org/radiobutton-in-kotlin/" TargetMode="External"/><Relationship Id="rId4" Type="http://schemas.openxmlformats.org/officeDocument/2006/relationships/hyperlink" Target="https://www.geeksforgeeks.org/edittext-widget-in-android-using-java-with-examples/" TargetMode="External"/></Relationships>
</file>

<file path=ppt/slides/_rels/slide61.xml.rels><?xml version="1.0" encoding="UTF-8" standalone="yes"?>
<Relationships xmlns="http://schemas.openxmlformats.org/package/2006/relationships"><Relationship Id="rId3" Type="http://schemas.openxmlformats.org/officeDocument/2006/relationships/hyperlink" Target="https://developer.android.com/reference/androidx/constraintlayout/widget/ConstraintLayout" TargetMode="External"/><Relationship Id="rId2" Type="http://schemas.openxmlformats.org/officeDocument/2006/relationships/hyperlink" Target="https://developer.android.com/reference/android/widget/LinearLayout"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developer.android.com/studio/write/layout-editor"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hyperlink" Target="https://developer.android.com/reference/android/app/Activity"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hyperlink" Target="NULL" TargetMode="Externa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hyperlink" Target="http://schemas.android.com/tools"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hyperlink" Target="https://www.geeksforgeeks.org/blogs/android-app-development-fundamentals-for-beginners/" TargetMode="Externa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8" Type="http://schemas.openxmlformats.org/officeDocument/2006/relationships/hyperlink" Target="https://www.tutlane.com/tutorial/android/android-checkbox-with-examples" TargetMode="External"/><Relationship Id="rId3" Type="http://schemas.openxmlformats.org/officeDocument/2006/relationships/hyperlink" Target="https://www.tutlane.com/tutorial/android/android-edittext-with-examples" TargetMode="External"/><Relationship Id="rId7" Type="http://schemas.openxmlformats.org/officeDocument/2006/relationships/hyperlink" Target="https://www.tutlane.com/tutorial/android/android-toggle-button-with-examples" TargetMode="External"/><Relationship Id="rId2" Type="http://schemas.openxmlformats.org/officeDocument/2006/relationships/hyperlink" Target="https://www.tutlane.com/tutorial/android/android-textview-with-examples" TargetMode="External"/><Relationship Id="rId1" Type="http://schemas.openxmlformats.org/officeDocument/2006/relationships/slideLayout" Target="../slideLayouts/slideLayout2.xml"/><Relationship Id="rId6" Type="http://schemas.openxmlformats.org/officeDocument/2006/relationships/hyperlink" Target="https://www.tutlane.com/tutorial/android/android-imagebutton-with-examples" TargetMode="External"/><Relationship Id="rId5" Type="http://schemas.openxmlformats.org/officeDocument/2006/relationships/hyperlink" Target="https://www.tutlane.com/tutorial/android/android-button-with-examples" TargetMode="External"/><Relationship Id="rId10" Type="http://schemas.openxmlformats.org/officeDocument/2006/relationships/hyperlink" Target="https://www.tutlane.com/tutorial/android/android-radiogroup-with-examples" TargetMode="External"/><Relationship Id="rId4" Type="http://schemas.openxmlformats.org/officeDocument/2006/relationships/hyperlink" Target="https://www.tutlane.com/tutorial/android/android-autocompletetextview-with-examples" TargetMode="External"/><Relationship Id="rId9" Type="http://schemas.openxmlformats.org/officeDocument/2006/relationships/hyperlink" Target="https://www.tutlane.com/tutorial/android/android-radiobutton-with-examples" TargetMode="External"/></Relationships>
</file>

<file path=ppt/slides/_rels/slide10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hyperlink" Target="https://www.tutlane.com/tutorial/android/android-checkbox-with-examples" TargetMode="External"/><Relationship Id="rId2" Type="http://schemas.openxmlformats.org/officeDocument/2006/relationships/hyperlink" Target="https://www.tutlane.com/tutorial/android/android-radiobutton-with-examples" TargetMode="Externa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hyperlink" Target="https://developer.android.com/reference/android/app/Activity" TargetMode="Externa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hyperlink" Target="https://developer.android.com/reference/android/view/View" TargetMode="Externa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22A725B-073B-8A2B-D6BD-B5637D2D6616}"/>
              </a:ext>
            </a:extLst>
          </p:cNvPr>
          <p:cNvSpPr>
            <a:spLocks noGrp="1"/>
          </p:cNvSpPr>
          <p:nvPr>
            <p:ph type="ctrTitle"/>
          </p:nvPr>
        </p:nvSpPr>
        <p:spPr>
          <a:xfrm>
            <a:off x="1563154" y="1118769"/>
            <a:ext cx="9144000" cy="2387600"/>
          </a:xfrm>
        </p:spPr>
        <p:txBody>
          <a:bodyPr/>
          <a:lstStyle/>
          <a:p>
            <a:r>
              <a:rPr lang="en-US" dirty="0"/>
              <a:t>Mobile application Developments</a:t>
            </a:r>
            <a:endParaRPr lang="en-IN" dirty="0"/>
          </a:p>
        </p:txBody>
      </p:sp>
      <p:sp>
        <p:nvSpPr>
          <p:cNvPr id="3" name="Subtitle 2">
            <a:extLst>
              <a:ext uri="{FF2B5EF4-FFF2-40B4-BE49-F238E27FC236}">
                <a16:creationId xmlns="" xmlns:a16="http://schemas.microsoft.com/office/drawing/2014/main" id="{84CF5AC4-9974-09F2-3CE9-34203C7F15B9}"/>
              </a:ext>
            </a:extLst>
          </p:cNvPr>
          <p:cNvSpPr>
            <a:spLocks noGrp="1"/>
          </p:cNvSpPr>
          <p:nvPr>
            <p:ph type="subTitle" idx="1"/>
          </p:nvPr>
        </p:nvSpPr>
        <p:spPr/>
        <p:txBody>
          <a:bodyPr/>
          <a:lstStyle/>
          <a:p>
            <a:r>
              <a:rPr lang="en-US" dirty="0"/>
              <a:t>Anuj Kumar</a:t>
            </a:r>
            <a:endParaRPr lang="en-IN" dirty="0"/>
          </a:p>
        </p:txBody>
      </p:sp>
    </p:spTree>
    <p:extLst>
      <p:ext uri="{BB962C8B-B14F-4D97-AF65-F5344CB8AC3E}">
        <p14:creationId xmlns="" xmlns:p14="http://schemas.microsoft.com/office/powerpoint/2010/main" val="2580590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A07C1444-6F83-41EF-BCB9-C98E45882F37}"/>
              </a:ext>
            </a:extLst>
          </p:cNvPr>
          <p:cNvPicPr>
            <a:picLocks noChangeAspect="1"/>
          </p:cNvPicPr>
          <p:nvPr/>
        </p:nvPicPr>
        <p:blipFill>
          <a:blip r:embed="rId2"/>
          <a:stretch>
            <a:fillRect/>
          </a:stretch>
        </p:blipFill>
        <p:spPr>
          <a:xfrm>
            <a:off x="795169" y="1260989"/>
            <a:ext cx="10840199" cy="4615692"/>
          </a:xfrm>
          <a:prstGeom prst="rect">
            <a:avLst/>
          </a:prstGeom>
        </p:spPr>
      </p:pic>
    </p:spTree>
    <p:extLst>
      <p:ext uri="{BB962C8B-B14F-4D97-AF65-F5344CB8AC3E}">
        <p14:creationId xmlns="" xmlns:p14="http://schemas.microsoft.com/office/powerpoint/2010/main" val="7159525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78DF571C-127C-2D51-756F-B132230CA477}"/>
              </a:ext>
            </a:extLst>
          </p:cNvPr>
          <p:cNvPicPr>
            <a:picLocks noChangeAspect="1"/>
          </p:cNvPicPr>
          <p:nvPr/>
        </p:nvPicPr>
        <p:blipFill>
          <a:blip r:embed="rId2"/>
          <a:stretch>
            <a:fillRect/>
          </a:stretch>
        </p:blipFill>
        <p:spPr>
          <a:xfrm>
            <a:off x="1005840" y="946439"/>
            <a:ext cx="10104119" cy="5661852"/>
          </a:xfrm>
          <a:prstGeom prst="rect">
            <a:avLst/>
          </a:prstGeom>
        </p:spPr>
      </p:pic>
    </p:spTree>
    <p:extLst>
      <p:ext uri="{BB962C8B-B14F-4D97-AF65-F5344CB8AC3E}">
        <p14:creationId xmlns="" xmlns:p14="http://schemas.microsoft.com/office/powerpoint/2010/main" val="3704437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904BFB1E-287D-1C5D-ADB9-7B781275AFDE}"/>
              </a:ext>
            </a:extLst>
          </p:cNvPr>
          <p:cNvPicPr>
            <a:picLocks noChangeAspect="1"/>
          </p:cNvPicPr>
          <p:nvPr/>
        </p:nvPicPr>
        <p:blipFill>
          <a:blip r:embed="rId2"/>
          <a:stretch>
            <a:fillRect/>
          </a:stretch>
        </p:blipFill>
        <p:spPr>
          <a:xfrm>
            <a:off x="548639" y="150161"/>
            <a:ext cx="10737669" cy="5357686"/>
          </a:xfrm>
          <a:prstGeom prst="rect">
            <a:avLst/>
          </a:prstGeom>
        </p:spPr>
      </p:pic>
    </p:spTree>
    <p:extLst>
      <p:ext uri="{BB962C8B-B14F-4D97-AF65-F5344CB8AC3E}">
        <p14:creationId xmlns="" xmlns:p14="http://schemas.microsoft.com/office/powerpoint/2010/main" val="32387801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174CD93-380B-D23A-9925-30846945E45F}"/>
              </a:ext>
            </a:extLst>
          </p:cNvPr>
          <p:cNvSpPr txBox="1"/>
          <p:nvPr/>
        </p:nvSpPr>
        <p:spPr>
          <a:xfrm>
            <a:off x="695865" y="483079"/>
            <a:ext cx="10639244" cy="4662815"/>
          </a:xfrm>
          <a:prstGeom prst="rect">
            <a:avLst/>
          </a:prstGeom>
          <a:noFill/>
        </p:spPr>
        <p:txBody>
          <a:bodyPr wrap="square">
            <a:spAutoFit/>
          </a:bodyPr>
          <a:lstStyle/>
          <a:p>
            <a:r>
              <a:rPr lang="en-US" b="1" i="0" dirty="0">
                <a:solidFill>
                  <a:srgbClr val="273239"/>
                </a:solidFill>
                <a:effectLst/>
                <a:highlight>
                  <a:srgbClr val="FFFFFF"/>
                </a:highlight>
                <a:latin typeface="Nunito" pitchFamily="2" charset="0"/>
              </a:rPr>
              <a:t>History:</a:t>
            </a:r>
          </a:p>
          <a:p>
            <a:endParaRPr lang="en-US" b="1" dirty="0">
              <a:solidFill>
                <a:srgbClr val="273239"/>
              </a:solidFill>
              <a:highlight>
                <a:srgbClr val="FFFFFF"/>
              </a:highlight>
              <a:latin typeface="Nunito" pitchFamily="2" charset="0"/>
            </a:endParaRPr>
          </a:p>
          <a:p>
            <a:pPr algn="just">
              <a:lnSpc>
                <a:spcPct val="150000"/>
              </a:lnSpc>
            </a:pPr>
            <a:r>
              <a:rPr lang="en-US" b="1" i="0" dirty="0">
                <a:solidFill>
                  <a:srgbClr val="273239"/>
                </a:solidFill>
                <a:effectLst/>
                <a:highlight>
                  <a:srgbClr val="FFFFFF"/>
                </a:highlight>
                <a:latin typeface="Nunito" pitchFamily="2" charset="0"/>
              </a:rPr>
              <a:t>Andy Rubin, Rich Miner, Nick Sears, and Chris</a:t>
            </a:r>
            <a:r>
              <a:rPr lang="en-US" b="0" i="0" dirty="0">
                <a:solidFill>
                  <a:srgbClr val="273239"/>
                </a:solidFill>
                <a:effectLst/>
                <a:highlight>
                  <a:srgbClr val="FFFFFF"/>
                </a:highlight>
                <a:latin typeface="Nunito" pitchFamily="2" charset="0"/>
              </a:rPr>
              <a:t> </a:t>
            </a:r>
            <a:r>
              <a:rPr lang="en-US" b="1" i="0" dirty="0">
                <a:solidFill>
                  <a:srgbClr val="273239"/>
                </a:solidFill>
                <a:effectLst/>
                <a:highlight>
                  <a:srgbClr val="FFFFFF"/>
                </a:highlight>
                <a:latin typeface="Nunito" pitchFamily="2" charset="0"/>
              </a:rPr>
              <a:t>White</a:t>
            </a:r>
            <a:r>
              <a:rPr lang="en-US" b="0" i="0" dirty="0">
                <a:solidFill>
                  <a:srgbClr val="273239"/>
                </a:solidFill>
                <a:effectLst/>
                <a:highlight>
                  <a:srgbClr val="FFFFFF"/>
                </a:highlight>
                <a:latin typeface="Nunito" pitchFamily="2" charset="0"/>
              </a:rPr>
              <a:t> co-founded a start-up </a:t>
            </a:r>
            <a:r>
              <a:rPr lang="en-US" b="1" i="1" dirty="0">
                <a:solidFill>
                  <a:srgbClr val="273239"/>
                </a:solidFill>
                <a:effectLst/>
                <a:highlight>
                  <a:srgbClr val="FFFFFF"/>
                </a:highlight>
                <a:latin typeface="Nunito" pitchFamily="2" charset="0"/>
              </a:rPr>
              <a:t>Android Inc.</a:t>
            </a:r>
            <a:r>
              <a:rPr lang="en-US" b="0" i="0" dirty="0">
                <a:solidFill>
                  <a:srgbClr val="273239"/>
                </a:solidFill>
                <a:effectLst/>
                <a:highlight>
                  <a:srgbClr val="FFFFFF"/>
                </a:highlight>
                <a:latin typeface="Nunito" pitchFamily="2" charset="0"/>
              </a:rPr>
              <a:t> in </a:t>
            </a:r>
            <a:r>
              <a:rPr lang="en-US" b="1" i="0" dirty="0">
                <a:solidFill>
                  <a:srgbClr val="273239"/>
                </a:solidFill>
                <a:effectLst/>
                <a:highlight>
                  <a:srgbClr val="FFFFFF"/>
                </a:highlight>
                <a:latin typeface="Nunito" pitchFamily="2" charset="0"/>
              </a:rPr>
              <a:t>Palo Alto, California</a:t>
            </a:r>
            <a:r>
              <a:rPr lang="en-US" b="0" i="0" dirty="0">
                <a:solidFill>
                  <a:srgbClr val="273239"/>
                </a:solidFill>
                <a:effectLst/>
                <a:highlight>
                  <a:srgbClr val="FFFFFF"/>
                </a:highlight>
                <a:latin typeface="Nunito" pitchFamily="2" charset="0"/>
              </a:rPr>
              <a:t>. However, the company was later faced with the insufficiency of funds which brought Google into the picture. Google could sense the potential the product carried within and sealed a deal worth $50 Million to acquire Android in 2005. All the four Co-founders soon moved to the </a:t>
            </a:r>
            <a:r>
              <a:rPr lang="en-US" b="1" i="0" dirty="0">
                <a:solidFill>
                  <a:srgbClr val="273239"/>
                </a:solidFill>
                <a:effectLst/>
                <a:highlight>
                  <a:srgbClr val="FFFFFF"/>
                </a:highlight>
                <a:latin typeface="Nunito" pitchFamily="2" charset="0"/>
              </a:rPr>
              <a:t>Googleplex</a:t>
            </a:r>
            <a:r>
              <a:rPr lang="en-US" b="0" i="0" dirty="0">
                <a:solidFill>
                  <a:srgbClr val="273239"/>
                </a:solidFill>
                <a:effectLst/>
                <a:highlight>
                  <a:srgbClr val="FFFFFF"/>
                </a:highlight>
                <a:latin typeface="Nunito" pitchFamily="2" charset="0"/>
              </a:rPr>
              <a:t> to continue to develop the OS further under their new owners. The first public Android Beta Version 1.0 was finally published on</a:t>
            </a:r>
            <a:r>
              <a:rPr lang="en-US" b="1" i="0" dirty="0">
                <a:solidFill>
                  <a:srgbClr val="273239"/>
                </a:solidFill>
                <a:effectLst/>
                <a:highlight>
                  <a:srgbClr val="FFFFFF"/>
                </a:highlight>
                <a:latin typeface="Nunito" pitchFamily="2" charset="0"/>
              </a:rPr>
              <a:t> 5th November 2007</a:t>
            </a:r>
            <a:r>
              <a:rPr lang="en-US" b="0" i="0" dirty="0">
                <a:solidFill>
                  <a:srgbClr val="273239"/>
                </a:solidFill>
                <a:effectLst/>
                <a:highlight>
                  <a:srgbClr val="FFFFFF"/>
                </a:highlight>
                <a:latin typeface="Nunito" pitchFamily="2" charset="0"/>
              </a:rPr>
              <a:t>. </a:t>
            </a:r>
          </a:p>
          <a:p>
            <a:pPr algn="just">
              <a:lnSpc>
                <a:spcPct val="150000"/>
              </a:lnSpc>
            </a:pPr>
            <a:endParaRPr lang="en-US" dirty="0">
              <a:solidFill>
                <a:srgbClr val="273239"/>
              </a:solidFill>
              <a:highlight>
                <a:srgbClr val="FFFFFF"/>
              </a:highlight>
              <a:latin typeface="Nunito" pitchFamily="2" charset="0"/>
            </a:endParaRPr>
          </a:p>
          <a:p>
            <a:pPr algn="just">
              <a:lnSpc>
                <a:spcPct val="150000"/>
              </a:lnSpc>
            </a:pPr>
            <a:endParaRPr lang="en-US" dirty="0">
              <a:solidFill>
                <a:srgbClr val="273239"/>
              </a:solidFill>
              <a:highlight>
                <a:srgbClr val="FFFFFF"/>
              </a:highlight>
              <a:latin typeface="Nunito" pitchFamily="2" charset="0"/>
            </a:endParaRPr>
          </a:p>
          <a:p>
            <a:pPr algn="just">
              <a:lnSpc>
                <a:spcPct val="150000"/>
              </a:lnSpc>
            </a:pPr>
            <a:endParaRPr lang="en-US" dirty="0">
              <a:solidFill>
                <a:srgbClr val="273239"/>
              </a:solidFill>
              <a:highlight>
                <a:srgbClr val="FFFFFF"/>
              </a:highlight>
              <a:latin typeface="Nunito" pitchFamily="2" charset="0"/>
            </a:endParaRPr>
          </a:p>
          <a:p>
            <a:pPr algn="just"/>
            <a:endParaRPr lang="en-IN" dirty="0"/>
          </a:p>
        </p:txBody>
      </p:sp>
      <p:sp>
        <p:nvSpPr>
          <p:cNvPr id="2" name="TextBox 1">
            <a:extLst>
              <a:ext uri="{FF2B5EF4-FFF2-40B4-BE49-F238E27FC236}">
                <a16:creationId xmlns="" xmlns:a16="http://schemas.microsoft.com/office/drawing/2014/main" id="{8DE5581C-3CAA-9BF6-2199-7DD0CF0AFC76}"/>
              </a:ext>
            </a:extLst>
          </p:cNvPr>
          <p:cNvSpPr txBox="1"/>
          <p:nvPr/>
        </p:nvSpPr>
        <p:spPr>
          <a:xfrm>
            <a:off x="617565" y="3677888"/>
            <a:ext cx="10426461" cy="2403863"/>
          </a:xfrm>
          <a:prstGeom prst="rect">
            <a:avLst/>
          </a:prstGeom>
          <a:noFill/>
        </p:spPr>
        <p:txBody>
          <a:bodyPr wrap="square">
            <a:spAutoFit/>
          </a:bodyPr>
          <a:lstStyle/>
          <a:p>
            <a:pPr algn="just"/>
            <a:endParaRPr lang="en-US" b="1" dirty="0">
              <a:solidFill>
                <a:srgbClr val="273239"/>
              </a:solidFill>
              <a:highlight>
                <a:srgbClr val="FFFFFF"/>
              </a:highlight>
              <a:latin typeface="Nunito" pitchFamily="2" charset="0"/>
            </a:endParaRPr>
          </a:p>
          <a:p>
            <a:pPr algn="just">
              <a:lnSpc>
                <a:spcPct val="150000"/>
              </a:lnSpc>
            </a:pPr>
            <a:r>
              <a:rPr lang="en-US" b="1" dirty="0">
                <a:solidFill>
                  <a:srgbClr val="273239"/>
                </a:solidFill>
                <a:highlight>
                  <a:srgbClr val="FFFFFF"/>
                </a:highlight>
                <a:latin typeface="Nunito" pitchFamily="2" charset="0"/>
              </a:rPr>
              <a:t>Open Handset Alliance (OHA)</a:t>
            </a:r>
            <a:r>
              <a:rPr lang="en-US" dirty="0">
                <a:solidFill>
                  <a:srgbClr val="273239"/>
                </a:solidFill>
                <a:highlight>
                  <a:srgbClr val="FFFFFF"/>
                </a:highlight>
                <a:latin typeface="Nunito" pitchFamily="2" charset="0"/>
              </a:rPr>
              <a:t>:</a:t>
            </a:r>
            <a:endParaRPr lang="en-US" b="1" dirty="0">
              <a:solidFill>
                <a:srgbClr val="273239"/>
              </a:solidFill>
              <a:highlight>
                <a:srgbClr val="FFFFFF"/>
              </a:highlight>
              <a:latin typeface="Nunito" pitchFamily="2" charset="0"/>
            </a:endParaRPr>
          </a:p>
          <a:p>
            <a:pPr algn="just">
              <a:lnSpc>
                <a:spcPct val="150000"/>
              </a:lnSpc>
            </a:pPr>
            <a:r>
              <a:rPr lang="en-US" dirty="0">
                <a:solidFill>
                  <a:srgbClr val="273239"/>
                </a:solidFill>
                <a:highlight>
                  <a:srgbClr val="FFFFFF"/>
                </a:highlight>
                <a:latin typeface="Nunito" pitchFamily="2" charset="0"/>
              </a:rPr>
              <a:t>It's a consortium of 84 companies such as google, </a:t>
            </a:r>
            <a:r>
              <a:rPr lang="en-US" dirty="0" err="1">
                <a:solidFill>
                  <a:srgbClr val="273239"/>
                </a:solidFill>
                <a:highlight>
                  <a:srgbClr val="FFFFFF"/>
                </a:highlight>
                <a:latin typeface="Nunito" pitchFamily="2" charset="0"/>
              </a:rPr>
              <a:t>samsung</a:t>
            </a:r>
            <a:r>
              <a:rPr lang="en-US" dirty="0">
                <a:solidFill>
                  <a:srgbClr val="273239"/>
                </a:solidFill>
                <a:highlight>
                  <a:srgbClr val="FFFFFF"/>
                </a:highlight>
                <a:latin typeface="Nunito" pitchFamily="2" charset="0"/>
              </a:rPr>
              <a:t>, AKM, </a:t>
            </a:r>
            <a:r>
              <a:rPr lang="en-US" dirty="0" err="1">
                <a:solidFill>
                  <a:srgbClr val="273239"/>
                </a:solidFill>
                <a:highlight>
                  <a:srgbClr val="FFFFFF"/>
                </a:highlight>
                <a:latin typeface="Nunito" pitchFamily="2" charset="0"/>
              </a:rPr>
              <a:t>synaptics</a:t>
            </a:r>
            <a:r>
              <a:rPr lang="en-US" dirty="0">
                <a:solidFill>
                  <a:srgbClr val="273239"/>
                </a:solidFill>
                <a:highlight>
                  <a:srgbClr val="FFFFFF"/>
                </a:highlight>
                <a:latin typeface="Nunito" pitchFamily="2" charset="0"/>
              </a:rPr>
              <a:t>, KDDI, Garmin, </a:t>
            </a:r>
            <a:r>
              <a:rPr lang="en-US" dirty="0" err="1">
                <a:solidFill>
                  <a:srgbClr val="273239"/>
                </a:solidFill>
                <a:highlight>
                  <a:srgbClr val="FFFFFF"/>
                </a:highlight>
                <a:latin typeface="Nunito" pitchFamily="2" charset="0"/>
              </a:rPr>
              <a:t>Teleca</a:t>
            </a:r>
            <a:r>
              <a:rPr lang="en-US" dirty="0">
                <a:solidFill>
                  <a:srgbClr val="273239"/>
                </a:solidFill>
                <a:highlight>
                  <a:srgbClr val="FFFFFF"/>
                </a:highlight>
                <a:latin typeface="Nunito" pitchFamily="2" charset="0"/>
              </a:rPr>
              <a:t>, </a:t>
            </a:r>
            <a:r>
              <a:rPr lang="en-US" dirty="0" err="1">
                <a:solidFill>
                  <a:srgbClr val="273239"/>
                </a:solidFill>
                <a:highlight>
                  <a:srgbClr val="FFFFFF"/>
                </a:highlight>
                <a:latin typeface="Nunito" pitchFamily="2" charset="0"/>
              </a:rPr>
              <a:t>Ebay</a:t>
            </a:r>
            <a:r>
              <a:rPr lang="en-US" dirty="0">
                <a:solidFill>
                  <a:srgbClr val="273239"/>
                </a:solidFill>
                <a:highlight>
                  <a:srgbClr val="FFFFFF"/>
                </a:highlight>
                <a:latin typeface="Nunito" pitchFamily="2" charset="0"/>
              </a:rPr>
              <a:t>, Intel etc.</a:t>
            </a:r>
          </a:p>
          <a:p>
            <a:pPr algn="just">
              <a:lnSpc>
                <a:spcPct val="150000"/>
              </a:lnSpc>
            </a:pPr>
            <a:r>
              <a:rPr lang="en-US" b="0" i="0" dirty="0">
                <a:solidFill>
                  <a:srgbClr val="333333"/>
                </a:solidFill>
                <a:effectLst/>
                <a:highlight>
                  <a:srgbClr val="FFFFFF"/>
                </a:highlight>
                <a:latin typeface="inter-regular"/>
              </a:rPr>
              <a:t>It was established on 5th November, 2007, led by Google. It is committed to advance open standards, provide services and deploy handsets using the Android </a:t>
            </a:r>
            <a:r>
              <a:rPr lang="en-US" b="0" i="0" dirty="0" err="1">
                <a:solidFill>
                  <a:srgbClr val="333333"/>
                </a:solidFill>
                <a:effectLst/>
                <a:highlight>
                  <a:srgbClr val="FFFFFF"/>
                </a:highlight>
                <a:latin typeface="inter-regular"/>
              </a:rPr>
              <a:t>Plateform</a:t>
            </a:r>
            <a:r>
              <a:rPr lang="en-US" b="0" i="0" dirty="0">
                <a:solidFill>
                  <a:srgbClr val="333333"/>
                </a:solidFill>
                <a:effectLst/>
                <a:highlight>
                  <a:srgbClr val="FFFFFF"/>
                </a:highlight>
                <a:latin typeface="inter-regular"/>
              </a:rPr>
              <a:t>.</a:t>
            </a:r>
          </a:p>
        </p:txBody>
      </p:sp>
    </p:spTree>
    <p:extLst>
      <p:ext uri="{BB962C8B-B14F-4D97-AF65-F5344CB8AC3E}">
        <p14:creationId xmlns="" xmlns:p14="http://schemas.microsoft.com/office/powerpoint/2010/main" val="5178171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Down Arrow 7">
            <a:extLst>
              <a:ext uri="{FF2B5EF4-FFF2-40B4-BE49-F238E27FC236}">
                <a16:creationId xmlns="" xmlns:a16="http://schemas.microsoft.com/office/drawing/2014/main" id="{D4771268-CB57-404A-9271-370EB28F609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BF0B3FA-4465-F55F-197A-C0AF1916DB60}"/>
              </a:ext>
            </a:extLst>
          </p:cNvPr>
          <p:cNvSpPr>
            <a:spLocks noGrp="1"/>
          </p:cNvSpPr>
          <p:nvPr>
            <p:ph type="title"/>
          </p:nvPr>
        </p:nvSpPr>
        <p:spPr>
          <a:xfrm>
            <a:off x="1028700" y="1967266"/>
            <a:ext cx="2628900" cy="2547257"/>
          </a:xfrm>
          <a:noFill/>
        </p:spPr>
        <p:txBody>
          <a:bodyPr anchor="ctr">
            <a:normAutofit/>
          </a:bodyPr>
          <a:lstStyle/>
          <a:p>
            <a:pPr algn="ctr"/>
            <a:r>
              <a:rPr lang="en-US" sz="3600">
                <a:solidFill>
                  <a:srgbClr val="FFFFFF"/>
                </a:solidFill>
              </a:rPr>
              <a:t>Feature of Android </a:t>
            </a:r>
            <a:endParaRPr lang="en-IN" sz="3600">
              <a:solidFill>
                <a:srgbClr val="FFFFFF"/>
              </a:solidFill>
            </a:endParaRPr>
          </a:p>
        </p:txBody>
      </p:sp>
      <p:pic>
        <p:nvPicPr>
          <p:cNvPr id="1026" name="Picture 2" descr="Lightbox">
            <a:extLst>
              <a:ext uri="{FF2B5EF4-FFF2-40B4-BE49-F238E27FC236}">
                <a16:creationId xmlns="" xmlns:a16="http://schemas.microsoft.com/office/drawing/2014/main" id="{A3CB75B9-4077-B65A-2B9C-16DEA3F1E2A1}"/>
              </a:ext>
            </a:extLst>
          </p:cNvPr>
          <p:cNvPicPr>
            <a:picLocks noChangeAspect="1" noChangeArrowheads="1"/>
          </p:cNvPicPr>
          <p:nvPr/>
        </p:nvPicPr>
        <p:blipFill>
          <a:blip r:embed="rId2">
            <a:extLst>
              <a:ext uri="{28A0092B-C50C-407E-A947-70E740481C1C}">
                <a14:useLocalDpi xmlns="" xmlns:a14="http://schemas.microsoft.com/office/drawing/2010/main" val="0"/>
              </a:ext>
            </a:extLst>
          </a:blip>
          <a:stretch>
            <a:fillRect/>
          </a:stretch>
        </p:blipFill>
        <p:spPr bwMode="auto">
          <a:xfrm>
            <a:off x="4777316" y="1342770"/>
            <a:ext cx="6780700" cy="417013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42281124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297D2D6F-635A-397D-9C1C-BD3351A4B9BA}"/>
              </a:ext>
            </a:extLst>
          </p:cNvPr>
          <p:cNvSpPr txBox="1"/>
          <p:nvPr/>
        </p:nvSpPr>
        <p:spPr>
          <a:xfrm>
            <a:off x="181744" y="151985"/>
            <a:ext cx="11307890" cy="6186309"/>
          </a:xfrm>
          <a:prstGeom prst="rect">
            <a:avLst/>
          </a:prstGeom>
          <a:noFill/>
        </p:spPr>
        <p:txBody>
          <a:bodyPr wrap="square">
            <a:spAutoFit/>
          </a:bodyPr>
          <a:lstStyle/>
          <a:p>
            <a:pPr marL="285750" indent="-285750" algn="just" fontAlgn="base">
              <a:lnSpc>
                <a:spcPct val="200000"/>
              </a:lnSpc>
              <a:spcAft>
                <a:spcPts val="1800"/>
              </a:spcAft>
              <a:buFont typeface="Wingdings" panose="05000000000000000000" pitchFamily="2" charset="2"/>
              <a:buChar char="v"/>
            </a:pPr>
            <a:r>
              <a:rPr lang="en-US" b="0" i="0" dirty="0">
                <a:solidFill>
                  <a:srgbClr val="273239"/>
                </a:solidFill>
                <a:effectLst/>
                <a:latin typeface="Times New Roman" panose="02020603050405020304" pitchFamily="18" charset="0"/>
                <a:cs typeface="Times New Roman" panose="02020603050405020304" pitchFamily="18" charset="0"/>
              </a:rPr>
              <a:t>Android is an Open Source Project so we can customize the OS based on our requirements.</a:t>
            </a:r>
          </a:p>
          <a:p>
            <a:pPr marL="285750" indent="-285750" algn="just" fontAlgn="base">
              <a:lnSpc>
                <a:spcPct val="200000"/>
              </a:lnSpc>
              <a:spcAft>
                <a:spcPts val="1800"/>
              </a:spcAft>
              <a:buFont typeface="Wingdings" panose="05000000000000000000" pitchFamily="2" charset="2"/>
              <a:buChar char="v"/>
            </a:pPr>
            <a:r>
              <a:rPr lang="en-US" b="0" i="0" dirty="0">
                <a:solidFill>
                  <a:srgbClr val="273239"/>
                </a:solidFill>
                <a:effectLst/>
                <a:latin typeface="Times New Roman" panose="02020603050405020304" pitchFamily="18" charset="0"/>
                <a:cs typeface="Times New Roman" panose="02020603050405020304" pitchFamily="18" charset="0"/>
              </a:rPr>
              <a:t>Android supports different types of connectivity for GSM, CDMA, Wi-Fi, Bluetooth, etc. for telephonic conversation or data transfer.</a:t>
            </a:r>
          </a:p>
          <a:p>
            <a:pPr marL="285750" indent="-285750" algn="just" fontAlgn="base">
              <a:lnSpc>
                <a:spcPct val="200000"/>
              </a:lnSpc>
              <a:spcAft>
                <a:spcPts val="1800"/>
              </a:spcAft>
              <a:buFont typeface="Wingdings" panose="05000000000000000000" pitchFamily="2" charset="2"/>
              <a:buChar char="v"/>
            </a:pPr>
            <a:r>
              <a:rPr lang="en-US" b="0" i="0" dirty="0">
                <a:solidFill>
                  <a:srgbClr val="273239"/>
                </a:solidFill>
                <a:effectLst/>
                <a:latin typeface="Times New Roman" panose="02020603050405020304" pitchFamily="18" charset="0"/>
                <a:cs typeface="Times New Roman" panose="02020603050405020304" pitchFamily="18" charset="0"/>
              </a:rPr>
              <a:t>Using </a:t>
            </a:r>
            <a:r>
              <a:rPr lang="en-US" b="0" i="0" dirty="0" err="1">
                <a:solidFill>
                  <a:srgbClr val="273239"/>
                </a:solidFill>
                <a:effectLst/>
                <a:latin typeface="Times New Roman" panose="02020603050405020304" pitchFamily="18" charset="0"/>
                <a:cs typeface="Times New Roman" panose="02020603050405020304" pitchFamily="18" charset="0"/>
              </a:rPr>
              <a:t>wifi</a:t>
            </a:r>
            <a:r>
              <a:rPr lang="en-US" b="0" i="0" dirty="0">
                <a:solidFill>
                  <a:srgbClr val="273239"/>
                </a:solidFill>
                <a:effectLst/>
                <a:latin typeface="Times New Roman" panose="02020603050405020304" pitchFamily="18" charset="0"/>
                <a:cs typeface="Times New Roman" panose="02020603050405020304" pitchFamily="18" charset="0"/>
              </a:rPr>
              <a:t> technology we can pair with other devices while playing games or using other applications.</a:t>
            </a:r>
          </a:p>
          <a:p>
            <a:pPr marL="285750" indent="-285750" algn="just" fontAlgn="base">
              <a:lnSpc>
                <a:spcPct val="200000"/>
              </a:lnSpc>
              <a:spcAft>
                <a:spcPts val="1800"/>
              </a:spcAft>
              <a:buFont typeface="Wingdings" panose="05000000000000000000" pitchFamily="2" charset="2"/>
              <a:buChar char="v"/>
            </a:pPr>
            <a:r>
              <a:rPr lang="en-US" b="0" i="0" dirty="0">
                <a:solidFill>
                  <a:srgbClr val="273239"/>
                </a:solidFill>
                <a:effectLst/>
                <a:latin typeface="Times New Roman" panose="02020603050405020304" pitchFamily="18" charset="0"/>
                <a:cs typeface="Times New Roman" panose="02020603050405020304" pitchFamily="18" charset="0"/>
              </a:rPr>
              <a:t>It contains multiple APIs to support location-tracking services such as GPS.</a:t>
            </a:r>
          </a:p>
          <a:p>
            <a:pPr marL="285750" indent="-285750" algn="just" fontAlgn="base">
              <a:lnSpc>
                <a:spcPct val="200000"/>
              </a:lnSpc>
              <a:spcAft>
                <a:spcPts val="1800"/>
              </a:spcAft>
              <a:buFont typeface="Wingdings" panose="05000000000000000000" pitchFamily="2" charset="2"/>
              <a:buChar char="v"/>
            </a:pPr>
            <a:r>
              <a:rPr lang="en-US" b="0" i="0" dirty="0">
                <a:solidFill>
                  <a:srgbClr val="273239"/>
                </a:solidFill>
                <a:effectLst/>
                <a:latin typeface="Times New Roman" panose="02020603050405020304" pitchFamily="18" charset="0"/>
                <a:cs typeface="Times New Roman" panose="02020603050405020304" pitchFamily="18" charset="0"/>
              </a:rPr>
              <a:t>We can manage all data storage-related activities by using the file manager.</a:t>
            </a:r>
          </a:p>
          <a:p>
            <a:pPr marL="285750" indent="-285750" algn="just" fontAlgn="base">
              <a:lnSpc>
                <a:spcPct val="200000"/>
              </a:lnSpc>
              <a:spcAft>
                <a:spcPts val="1800"/>
              </a:spcAft>
              <a:buFont typeface="Wingdings" panose="05000000000000000000" pitchFamily="2" charset="2"/>
              <a:buChar char="v"/>
            </a:pPr>
            <a:r>
              <a:rPr lang="en-US" b="0" i="0" dirty="0">
                <a:solidFill>
                  <a:srgbClr val="273239"/>
                </a:solidFill>
                <a:effectLst/>
                <a:latin typeface="Times New Roman" panose="02020603050405020304" pitchFamily="18" charset="0"/>
                <a:cs typeface="Times New Roman" panose="02020603050405020304" pitchFamily="18" charset="0"/>
              </a:rPr>
              <a:t>It contains a wide range of media supports like AVI, MKV, FLV, MPEG4, etc. to play or record a variety of audio/video.</a:t>
            </a:r>
          </a:p>
          <a:p>
            <a:pPr algn="l" fontAlgn="base">
              <a:spcAft>
                <a:spcPts val="1800"/>
              </a:spcAft>
              <a:buFont typeface="Arial" panose="020B0604020202020204" pitchFamily="34" charset="0"/>
              <a:buChar char="•"/>
            </a:pPr>
            <a:endParaRPr lang="en-US" b="0" i="0" dirty="0">
              <a:solidFill>
                <a:srgbClr val="273239"/>
              </a:solidFill>
              <a:effectLst/>
              <a:latin typeface="Nunito" pitchFamily="2" charset="0"/>
            </a:endParaRPr>
          </a:p>
        </p:txBody>
      </p:sp>
    </p:spTree>
    <p:extLst>
      <p:ext uri="{BB962C8B-B14F-4D97-AF65-F5344CB8AC3E}">
        <p14:creationId xmlns="" xmlns:p14="http://schemas.microsoft.com/office/powerpoint/2010/main" val="39309413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C4E45342-4300-5951-059C-4FC85F30F418}"/>
              </a:ext>
            </a:extLst>
          </p:cNvPr>
          <p:cNvSpPr txBox="1"/>
          <p:nvPr/>
        </p:nvSpPr>
        <p:spPr>
          <a:xfrm>
            <a:off x="499796" y="454361"/>
            <a:ext cx="11222698" cy="5051639"/>
          </a:xfrm>
          <a:prstGeom prst="rect">
            <a:avLst/>
          </a:prstGeom>
          <a:noFill/>
        </p:spPr>
        <p:txBody>
          <a:bodyPr wrap="square">
            <a:spAutoFit/>
          </a:bodyPr>
          <a:lstStyle/>
          <a:p>
            <a:pPr marL="285750" indent="-285750" algn="just" fontAlgn="base">
              <a:lnSpc>
                <a:spcPct val="250000"/>
              </a:lnSpc>
              <a:spcAft>
                <a:spcPts val="1800"/>
              </a:spcAft>
              <a:buFont typeface="Wingdings" panose="05000000000000000000" pitchFamily="2" charset="2"/>
              <a:buChar char="v"/>
            </a:pPr>
            <a:r>
              <a:rPr lang="en-US" b="0" i="0" dirty="0">
                <a:solidFill>
                  <a:srgbClr val="273239"/>
                </a:solidFill>
                <a:effectLst/>
                <a:latin typeface="Times New Roman" panose="02020603050405020304" pitchFamily="18" charset="0"/>
                <a:cs typeface="Times New Roman" panose="02020603050405020304" pitchFamily="18" charset="0"/>
              </a:rPr>
              <a:t>It also supports different image formats like JPEG, PNG, GIF, BMP, MP3, etc.</a:t>
            </a:r>
          </a:p>
          <a:p>
            <a:pPr marL="285750" indent="-285750" algn="just" fontAlgn="base">
              <a:lnSpc>
                <a:spcPct val="250000"/>
              </a:lnSpc>
              <a:spcAft>
                <a:spcPts val="1800"/>
              </a:spcAft>
              <a:buFont typeface="Wingdings" panose="05000000000000000000" pitchFamily="2" charset="2"/>
              <a:buChar char="v"/>
            </a:pPr>
            <a:r>
              <a:rPr lang="en-US" b="0" i="0" dirty="0">
                <a:solidFill>
                  <a:srgbClr val="273239"/>
                </a:solidFill>
                <a:effectLst/>
                <a:latin typeface="Times New Roman" panose="02020603050405020304" pitchFamily="18" charset="0"/>
                <a:cs typeface="Times New Roman" panose="02020603050405020304" pitchFamily="18" charset="0"/>
              </a:rPr>
              <a:t>It supports multimedia hardware control to perform playback or recording using a camera and microphone.</a:t>
            </a:r>
          </a:p>
          <a:p>
            <a:pPr marL="285750" indent="-285750" algn="just" fontAlgn="base">
              <a:lnSpc>
                <a:spcPct val="250000"/>
              </a:lnSpc>
              <a:spcAft>
                <a:spcPts val="1800"/>
              </a:spcAft>
              <a:buFont typeface="Wingdings" panose="05000000000000000000" pitchFamily="2" charset="2"/>
              <a:buChar char="v"/>
            </a:pPr>
            <a:r>
              <a:rPr lang="en-US" b="0" i="0" dirty="0">
                <a:solidFill>
                  <a:srgbClr val="273239"/>
                </a:solidFill>
                <a:effectLst/>
                <a:latin typeface="Times New Roman" panose="02020603050405020304" pitchFamily="18" charset="0"/>
                <a:cs typeface="Times New Roman" panose="02020603050405020304" pitchFamily="18" charset="0"/>
              </a:rPr>
              <a:t>Android has an integrated open-source WebKit layout-based web browser to support User Interfaces like HTML5, and CSS3.</a:t>
            </a:r>
          </a:p>
          <a:p>
            <a:pPr marL="285750" indent="-285750" algn="just" fontAlgn="base">
              <a:lnSpc>
                <a:spcPct val="250000"/>
              </a:lnSpc>
              <a:spcAft>
                <a:spcPts val="1800"/>
              </a:spcAft>
              <a:buFont typeface="Wingdings" panose="05000000000000000000" pitchFamily="2" charset="2"/>
              <a:buChar char="v"/>
            </a:pPr>
            <a:r>
              <a:rPr lang="en-US" b="0" i="0" dirty="0">
                <a:solidFill>
                  <a:srgbClr val="273239"/>
                </a:solidFill>
                <a:effectLst/>
                <a:latin typeface="Times New Roman" panose="02020603050405020304" pitchFamily="18" charset="0"/>
                <a:cs typeface="Times New Roman" panose="02020603050405020304" pitchFamily="18" charset="0"/>
              </a:rPr>
              <a:t>Android supports multi-tasking means we can run multiple applications at a time and can switch between them.</a:t>
            </a:r>
          </a:p>
          <a:p>
            <a:pPr marL="285750" indent="-285750" algn="just" fontAlgn="base">
              <a:lnSpc>
                <a:spcPct val="250000"/>
              </a:lnSpc>
              <a:spcAft>
                <a:spcPts val="1800"/>
              </a:spcAft>
              <a:buFont typeface="Wingdings" panose="05000000000000000000" pitchFamily="2" charset="2"/>
              <a:buChar char="v"/>
            </a:pPr>
            <a:r>
              <a:rPr lang="en-US" b="0" i="0" dirty="0">
                <a:solidFill>
                  <a:srgbClr val="273239"/>
                </a:solidFill>
                <a:effectLst/>
                <a:latin typeface="Times New Roman" panose="02020603050405020304" pitchFamily="18" charset="0"/>
                <a:cs typeface="Times New Roman" panose="02020603050405020304" pitchFamily="18" charset="0"/>
              </a:rPr>
              <a:t>It provides support for virtual reality or 2D/3D Graphics.</a:t>
            </a:r>
          </a:p>
        </p:txBody>
      </p:sp>
    </p:spTree>
    <p:extLst>
      <p:ext uri="{BB962C8B-B14F-4D97-AF65-F5344CB8AC3E}">
        <p14:creationId xmlns="" xmlns:p14="http://schemas.microsoft.com/office/powerpoint/2010/main" val="16820733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93EA8C-398F-2D2A-7320-87C72F5F6873}"/>
              </a:ext>
            </a:extLst>
          </p:cNvPr>
          <p:cNvSpPr>
            <a:spLocks noGrp="1"/>
          </p:cNvSpPr>
          <p:nvPr>
            <p:ph type="title"/>
          </p:nvPr>
        </p:nvSpPr>
        <p:spPr/>
        <p:txBody>
          <a:bodyPr/>
          <a:lstStyle/>
          <a:p>
            <a:r>
              <a:rPr lang="en-US" dirty="0"/>
              <a:t>Android Version</a:t>
            </a:r>
            <a:endParaRPr lang="en-IN" dirty="0"/>
          </a:p>
        </p:txBody>
      </p:sp>
      <p:sp>
        <p:nvSpPr>
          <p:cNvPr id="4" name="TextBox 3">
            <a:extLst>
              <a:ext uri="{FF2B5EF4-FFF2-40B4-BE49-F238E27FC236}">
                <a16:creationId xmlns="" xmlns:a16="http://schemas.microsoft.com/office/drawing/2014/main" id="{2644384D-79BC-C4E7-FBB0-1B05EB9B2000}"/>
              </a:ext>
            </a:extLst>
          </p:cNvPr>
          <p:cNvSpPr txBox="1"/>
          <p:nvPr/>
        </p:nvSpPr>
        <p:spPr>
          <a:xfrm>
            <a:off x="766732" y="2232045"/>
            <a:ext cx="9944810" cy="1200329"/>
          </a:xfrm>
          <a:prstGeom prst="rect">
            <a:avLst/>
          </a:prstGeom>
          <a:noFill/>
        </p:spPr>
        <p:txBody>
          <a:bodyPr wrap="square">
            <a:spAutoFit/>
          </a:bodyPr>
          <a:lstStyle/>
          <a:p>
            <a:pPr marL="285750" indent="-285750">
              <a:buFont typeface="Wingdings" panose="05000000000000000000" pitchFamily="2" charset="2"/>
              <a:buChar char="q"/>
            </a:pPr>
            <a:r>
              <a:rPr lang="en-US" b="0" i="0" dirty="0">
                <a:solidFill>
                  <a:srgbClr val="273239"/>
                </a:solidFill>
                <a:effectLst/>
                <a:latin typeface="Times New Roman" panose="02020603050405020304" pitchFamily="18" charset="0"/>
                <a:cs typeface="Times New Roman" panose="02020603050405020304" pitchFamily="18" charset="0"/>
              </a:rPr>
              <a:t>Google first publicly announced Android in November 2007 but was released on 23 SEPTEMBER 2008 to be exact. </a:t>
            </a:r>
          </a:p>
          <a:p>
            <a:pPr marL="285750" indent="-285750">
              <a:buFont typeface="Wingdings" panose="05000000000000000000" pitchFamily="2" charset="2"/>
              <a:buChar char="q"/>
            </a:pPr>
            <a:endParaRPr lang="en-US" dirty="0">
              <a:solidFill>
                <a:srgbClr val="273239"/>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b="0" i="0" dirty="0">
                <a:solidFill>
                  <a:srgbClr val="273239"/>
                </a:solidFill>
                <a:effectLst/>
                <a:latin typeface="Times New Roman" panose="02020603050405020304" pitchFamily="18" charset="0"/>
                <a:cs typeface="Times New Roman" panose="02020603050405020304" pitchFamily="18" charset="0"/>
              </a:rPr>
              <a:t>The first device to bring Android into the market was the HTC Dream with the version Android 1.0.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9396944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2" name="Picture 4" descr="Lightbox">
            <a:extLst>
              <a:ext uri="{FF2B5EF4-FFF2-40B4-BE49-F238E27FC236}">
                <a16:creationId xmlns="" xmlns:a16="http://schemas.microsoft.com/office/drawing/2014/main" id="{C0D4575B-4FFC-E794-80DF-10F6BB43E73E}"/>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647371" y="248926"/>
            <a:ext cx="9318172" cy="5794687"/>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5726150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 xmlns:a16="http://schemas.microsoft.com/office/drawing/2014/main" id="{31115ADE-4C15-3763-936B-72B8A06D5EA8}"/>
              </a:ext>
            </a:extLst>
          </p:cNvPr>
          <p:cNvGraphicFramePr>
            <a:graphicFrameLocks noGrp="1"/>
          </p:cNvGraphicFramePr>
          <p:nvPr>
            <p:extLst>
              <p:ext uri="{D42A27DB-BD31-4B8C-83A1-F6EECF244321}">
                <p14:modId xmlns="" xmlns:p14="http://schemas.microsoft.com/office/powerpoint/2010/main" val="326636203"/>
              </p:ext>
            </p:extLst>
          </p:nvPr>
        </p:nvGraphicFramePr>
        <p:xfrm>
          <a:off x="551543" y="312057"/>
          <a:ext cx="10326915" cy="6364514"/>
        </p:xfrm>
        <a:graphic>
          <a:graphicData uri="http://schemas.openxmlformats.org/drawingml/2006/table">
            <a:tbl>
              <a:tblPr firstRow="1" bandRow="1">
                <a:solidFill>
                  <a:schemeClr val="bg1"/>
                </a:solidFill>
              </a:tblPr>
              <a:tblGrid>
                <a:gridCol w="2757929">
                  <a:extLst>
                    <a:ext uri="{9D8B030D-6E8A-4147-A177-3AD203B41FA5}">
                      <a16:colId xmlns="" xmlns:a16="http://schemas.microsoft.com/office/drawing/2014/main" val="3838289187"/>
                    </a:ext>
                  </a:extLst>
                </a:gridCol>
                <a:gridCol w="2655632">
                  <a:extLst>
                    <a:ext uri="{9D8B030D-6E8A-4147-A177-3AD203B41FA5}">
                      <a16:colId xmlns="" xmlns:a16="http://schemas.microsoft.com/office/drawing/2014/main" val="3918523088"/>
                    </a:ext>
                  </a:extLst>
                </a:gridCol>
                <a:gridCol w="2214620">
                  <a:extLst>
                    <a:ext uri="{9D8B030D-6E8A-4147-A177-3AD203B41FA5}">
                      <a16:colId xmlns="" xmlns:a16="http://schemas.microsoft.com/office/drawing/2014/main" val="3377956013"/>
                    </a:ext>
                  </a:extLst>
                </a:gridCol>
                <a:gridCol w="2698734">
                  <a:extLst>
                    <a:ext uri="{9D8B030D-6E8A-4147-A177-3AD203B41FA5}">
                      <a16:colId xmlns="" xmlns:a16="http://schemas.microsoft.com/office/drawing/2014/main" val="3723277652"/>
                    </a:ext>
                  </a:extLst>
                </a:gridCol>
              </a:tblGrid>
              <a:tr h="276718">
                <a:tc>
                  <a:txBody>
                    <a:bodyPr/>
                    <a:lstStyle/>
                    <a:p>
                      <a:pPr algn="ctr" rtl="0" fontAlgn="base">
                        <a:spcAft>
                          <a:spcPts val="750"/>
                        </a:spcAft>
                        <a:buNone/>
                      </a:pPr>
                      <a:r>
                        <a:rPr lang="en-IN" sz="800" b="0" cap="none" spc="0">
                          <a:solidFill>
                            <a:schemeClr val="bg1"/>
                          </a:solidFill>
                          <a:effectLst/>
                        </a:rPr>
                        <a:t>Code Name</a:t>
                      </a:r>
                    </a:p>
                  </a:txBody>
                  <a:tcPr marL="66525" marR="12482" marT="51173" marB="51173"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algn="ctr" rtl="0" fontAlgn="base">
                        <a:spcAft>
                          <a:spcPts val="750"/>
                        </a:spcAft>
                        <a:buNone/>
                      </a:pPr>
                      <a:r>
                        <a:rPr lang="en-IN" sz="800" b="0" cap="none" spc="0">
                          <a:solidFill>
                            <a:schemeClr val="bg1"/>
                          </a:solidFill>
                          <a:effectLst/>
                        </a:rPr>
                        <a:t>Version</a:t>
                      </a:r>
                    </a:p>
                  </a:txBody>
                  <a:tcPr marL="66525" marR="15602" marT="51173" marB="51173"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lgn="ctr" rtl="0" fontAlgn="base">
                        <a:spcAft>
                          <a:spcPts val="750"/>
                        </a:spcAft>
                        <a:buNone/>
                      </a:pPr>
                      <a:r>
                        <a:rPr lang="en-IN" sz="800" b="0" cap="none" spc="0">
                          <a:solidFill>
                            <a:schemeClr val="bg1"/>
                          </a:solidFill>
                          <a:effectLst/>
                        </a:rPr>
                        <a:t>API level</a:t>
                      </a:r>
                    </a:p>
                  </a:txBody>
                  <a:tcPr marL="66525" marR="15602" marT="51173" marB="51173"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lgn="ctr" rtl="0" fontAlgn="base">
                        <a:spcAft>
                          <a:spcPts val="750"/>
                        </a:spcAft>
                        <a:buNone/>
                      </a:pPr>
                      <a:r>
                        <a:rPr lang="en-IN" sz="800" b="0" cap="none" spc="0">
                          <a:solidFill>
                            <a:schemeClr val="bg1"/>
                          </a:solidFill>
                          <a:effectLst/>
                        </a:rPr>
                        <a:t>Release date</a:t>
                      </a:r>
                    </a:p>
                  </a:txBody>
                  <a:tcPr marL="66525" marR="15602" marT="51173" marB="51173"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 xmlns:a16="http://schemas.microsoft.com/office/drawing/2014/main" val="1776246568"/>
                  </a:ext>
                </a:extLst>
              </a:tr>
              <a:tr h="276718">
                <a:tc>
                  <a:txBody>
                    <a:bodyPr/>
                    <a:lstStyle/>
                    <a:p>
                      <a:pPr algn="ctr" fontAlgn="base">
                        <a:spcAft>
                          <a:spcPts val="750"/>
                        </a:spcAft>
                        <a:buNone/>
                      </a:pPr>
                      <a:r>
                        <a:rPr lang="en-IN" sz="800" b="0" cap="none" spc="0">
                          <a:solidFill>
                            <a:schemeClr val="tx1"/>
                          </a:solidFill>
                          <a:effectLst/>
                        </a:rPr>
                        <a:t>-</a:t>
                      </a:r>
                    </a:p>
                  </a:txBody>
                  <a:tcPr marL="66525" marR="15602" marT="51173" marB="51173"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Android 1.0</a:t>
                      </a:r>
                    </a:p>
                  </a:txBody>
                  <a:tcPr marL="66525" marR="15602" marT="51173" marB="51173"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1</a:t>
                      </a:r>
                    </a:p>
                  </a:txBody>
                  <a:tcPr marL="66525" marR="15602" marT="51173" marB="51173"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September 23, 2008</a:t>
                      </a:r>
                    </a:p>
                  </a:txBody>
                  <a:tcPr marL="66525" marR="15602" marT="51173" marB="51173"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 xmlns:a16="http://schemas.microsoft.com/office/drawing/2014/main" val="20809453"/>
                  </a:ext>
                </a:extLst>
              </a:tr>
              <a:tr h="276718">
                <a:tc>
                  <a:txBody>
                    <a:bodyPr/>
                    <a:lstStyle/>
                    <a:p>
                      <a:pPr algn="ctr" fontAlgn="base">
                        <a:spcAft>
                          <a:spcPts val="750"/>
                        </a:spcAft>
                        <a:buNone/>
                      </a:pPr>
                      <a:r>
                        <a:rPr lang="en-IN" sz="800" b="0" cap="none" spc="0">
                          <a:solidFill>
                            <a:schemeClr val="tx1"/>
                          </a:solidFill>
                          <a:effectLst/>
                        </a:rPr>
                        <a:t>-</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Android 1.1</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2</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February 9, 2009</a:t>
                      </a:r>
                    </a:p>
                  </a:txBody>
                  <a:tcPr marL="66525" marR="15602" marT="51173" marB="51173"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 xmlns:a16="http://schemas.microsoft.com/office/drawing/2014/main" val="3275939826"/>
                  </a:ext>
                </a:extLst>
              </a:tr>
              <a:tr h="276718">
                <a:tc>
                  <a:txBody>
                    <a:bodyPr/>
                    <a:lstStyle/>
                    <a:p>
                      <a:pPr algn="ctr" fontAlgn="ctr">
                        <a:buNone/>
                      </a:pPr>
                      <a:r>
                        <a:rPr lang="en-IN" sz="800" b="0" cap="none" spc="0">
                          <a:solidFill>
                            <a:schemeClr val="tx1"/>
                          </a:solidFill>
                          <a:effectLst/>
                        </a:rPr>
                        <a:t>Cupcake</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Android 1.5</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3</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April 30, 2009</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 xmlns:a16="http://schemas.microsoft.com/office/drawing/2014/main" val="3086311396"/>
                  </a:ext>
                </a:extLst>
              </a:tr>
              <a:tr h="276718">
                <a:tc>
                  <a:txBody>
                    <a:bodyPr/>
                    <a:lstStyle/>
                    <a:p>
                      <a:pPr algn="ctr" fontAlgn="ctr">
                        <a:buNone/>
                      </a:pPr>
                      <a:r>
                        <a:rPr lang="en-IN" sz="800" b="0" cap="none" spc="0">
                          <a:solidFill>
                            <a:schemeClr val="tx1"/>
                          </a:solidFill>
                          <a:effectLst/>
                        </a:rPr>
                        <a:t>Donut</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Android 1.6</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4</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September 15, 2009</a:t>
                      </a:r>
                    </a:p>
                  </a:txBody>
                  <a:tcPr marL="66525" marR="15602" marT="51173" marB="51173"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 xmlns:a16="http://schemas.microsoft.com/office/drawing/2014/main" val="2748195281"/>
                  </a:ext>
                </a:extLst>
              </a:tr>
              <a:tr h="276718">
                <a:tc>
                  <a:txBody>
                    <a:bodyPr/>
                    <a:lstStyle/>
                    <a:p>
                      <a:pPr algn="ctr" fontAlgn="ctr">
                        <a:buNone/>
                      </a:pPr>
                      <a:r>
                        <a:rPr lang="en-IN" sz="800" b="0" cap="none" spc="0">
                          <a:solidFill>
                            <a:schemeClr val="tx1"/>
                          </a:solidFill>
                          <a:effectLst/>
                        </a:rPr>
                        <a:t>Eclair</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Android 2.0 - 2.1</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5-7</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October 26, 2009</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 xmlns:a16="http://schemas.microsoft.com/office/drawing/2014/main" val="1001957648"/>
                  </a:ext>
                </a:extLst>
              </a:tr>
              <a:tr h="276718">
                <a:tc>
                  <a:txBody>
                    <a:bodyPr/>
                    <a:lstStyle/>
                    <a:p>
                      <a:pPr algn="ctr" fontAlgn="ctr">
                        <a:buNone/>
                      </a:pPr>
                      <a:r>
                        <a:rPr lang="en-IN" sz="800" b="0" cap="none" spc="0">
                          <a:solidFill>
                            <a:schemeClr val="tx1"/>
                          </a:solidFill>
                          <a:effectLst/>
                        </a:rPr>
                        <a:t>Froyo</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Android 2.2 - 2.2.3</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8</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May 20, 2010</a:t>
                      </a:r>
                    </a:p>
                  </a:txBody>
                  <a:tcPr marL="66525" marR="15602" marT="51173" marB="51173"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 xmlns:a16="http://schemas.microsoft.com/office/drawing/2014/main" val="3610456485"/>
                  </a:ext>
                </a:extLst>
              </a:tr>
              <a:tr h="276718">
                <a:tc>
                  <a:txBody>
                    <a:bodyPr/>
                    <a:lstStyle/>
                    <a:p>
                      <a:pPr algn="ctr" fontAlgn="ctr">
                        <a:buNone/>
                      </a:pPr>
                      <a:r>
                        <a:rPr lang="en-IN" sz="800" b="0" cap="none" spc="0">
                          <a:solidFill>
                            <a:schemeClr val="tx1"/>
                          </a:solidFill>
                          <a:effectLst/>
                        </a:rPr>
                        <a:t>Gingerbread</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Android 2.3 - 2.3.4</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9-10</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December 6, 2010</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 xmlns:a16="http://schemas.microsoft.com/office/drawing/2014/main" val="2545673047"/>
                  </a:ext>
                </a:extLst>
              </a:tr>
              <a:tr h="276718">
                <a:tc>
                  <a:txBody>
                    <a:bodyPr/>
                    <a:lstStyle/>
                    <a:p>
                      <a:pPr algn="ctr" fontAlgn="ctr">
                        <a:buNone/>
                      </a:pPr>
                      <a:r>
                        <a:rPr lang="en-IN" sz="800" b="0" cap="none" spc="0">
                          <a:solidFill>
                            <a:schemeClr val="tx1"/>
                          </a:solidFill>
                          <a:effectLst/>
                        </a:rPr>
                        <a:t>Honeycomb</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fr-FR" sz="800" b="0" cap="none" spc="0">
                          <a:solidFill>
                            <a:schemeClr val="tx1"/>
                          </a:solidFill>
                          <a:effectLst/>
                        </a:rPr>
                        <a:t>Android 3.0.x - 3.2.x</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11 - 13</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February 22, 2011</a:t>
                      </a:r>
                    </a:p>
                  </a:txBody>
                  <a:tcPr marL="66525" marR="15602" marT="51173" marB="51173"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 xmlns:a16="http://schemas.microsoft.com/office/drawing/2014/main" val="1569883291"/>
                  </a:ext>
                </a:extLst>
              </a:tr>
              <a:tr h="276718">
                <a:tc>
                  <a:txBody>
                    <a:bodyPr/>
                    <a:lstStyle/>
                    <a:p>
                      <a:pPr algn="ctr" fontAlgn="ctr">
                        <a:buNone/>
                      </a:pPr>
                      <a:r>
                        <a:rPr lang="en-IN" sz="800" b="0" cap="none" spc="0">
                          <a:solidFill>
                            <a:schemeClr val="tx1"/>
                          </a:solidFill>
                          <a:effectLst/>
                        </a:rPr>
                        <a:t>Ice Cream Sandwich</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Android 4.0 - 4.0.4</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14 - 15</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October 18, 2011</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 xmlns:a16="http://schemas.microsoft.com/office/drawing/2014/main" val="3471502827"/>
                  </a:ext>
                </a:extLst>
              </a:tr>
              <a:tr h="276718">
                <a:tc>
                  <a:txBody>
                    <a:bodyPr/>
                    <a:lstStyle/>
                    <a:p>
                      <a:pPr algn="ctr" fontAlgn="ctr">
                        <a:buNone/>
                      </a:pPr>
                      <a:r>
                        <a:rPr lang="en-IN" sz="800" b="0" cap="none" spc="0">
                          <a:solidFill>
                            <a:schemeClr val="tx1"/>
                          </a:solidFill>
                          <a:effectLst/>
                        </a:rPr>
                        <a:t>Jelly Bean</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Android 4.1 - 4.1.2</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16 - 18</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July 9, 2012</a:t>
                      </a:r>
                    </a:p>
                  </a:txBody>
                  <a:tcPr marL="66525" marR="15602" marT="51173" marB="51173"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 xmlns:a16="http://schemas.microsoft.com/office/drawing/2014/main" val="3943020608"/>
                  </a:ext>
                </a:extLst>
              </a:tr>
              <a:tr h="276718">
                <a:tc>
                  <a:txBody>
                    <a:bodyPr/>
                    <a:lstStyle/>
                    <a:p>
                      <a:pPr algn="ctr" fontAlgn="ctr">
                        <a:buNone/>
                      </a:pPr>
                      <a:r>
                        <a:rPr lang="en-IN" sz="800" b="0" cap="none" spc="0">
                          <a:solidFill>
                            <a:schemeClr val="tx1"/>
                          </a:solidFill>
                          <a:effectLst/>
                        </a:rPr>
                        <a:t>Kitkat</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Android 4.4 - 4.4.4</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19</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July 9, 2012</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 xmlns:a16="http://schemas.microsoft.com/office/drawing/2014/main" val="3243993836"/>
                  </a:ext>
                </a:extLst>
              </a:tr>
              <a:tr h="276718">
                <a:tc>
                  <a:txBody>
                    <a:bodyPr/>
                    <a:lstStyle/>
                    <a:p>
                      <a:pPr algn="ctr" fontAlgn="ctr">
                        <a:buNone/>
                      </a:pPr>
                      <a:r>
                        <a:rPr lang="en-IN" sz="800" b="0" cap="none" spc="0">
                          <a:solidFill>
                            <a:schemeClr val="tx1"/>
                          </a:solidFill>
                          <a:effectLst/>
                        </a:rPr>
                        <a:t>Lollipop</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Android 5.0 - 5.1</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21 - 22</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October 17, 2014</a:t>
                      </a:r>
                    </a:p>
                  </a:txBody>
                  <a:tcPr marL="66525" marR="15602" marT="51173" marB="51173"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 xmlns:a16="http://schemas.microsoft.com/office/drawing/2014/main" val="3626398858"/>
                  </a:ext>
                </a:extLst>
              </a:tr>
              <a:tr h="276718">
                <a:tc>
                  <a:txBody>
                    <a:bodyPr/>
                    <a:lstStyle/>
                    <a:p>
                      <a:pPr algn="ctr" fontAlgn="ctr">
                        <a:buNone/>
                      </a:pPr>
                      <a:r>
                        <a:rPr lang="en-IN" sz="800" b="0" cap="none" spc="0">
                          <a:solidFill>
                            <a:schemeClr val="tx1"/>
                          </a:solidFill>
                          <a:effectLst/>
                        </a:rPr>
                        <a:t>Marshmallow</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Android 6.0 - 6.0.1</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23</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October 5, 2015</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 xmlns:a16="http://schemas.microsoft.com/office/drawing/2014/main" val="3534623811"/>
                  </a:ext>
                </a:extLst>
              </a:tr>
              <a:tr h="276718">
                <a:tc>
                  <a:txBody>
                    <a:bodyPr/>
                    <a:lstStyle/>
                    <a:p>
                      <a:pPr algn="ctr" fontAlgn="ctr">
                        <a:buNone/>
                      </a:pPr>
                      <a:r>
                        <a:rPr lang="en-IN" sz="800" b="0" cap="none" spc="0">
                          <a:solidFill>
                            <a:schemeClr val="tx1"/>
                          </a:solidFill>
                          <a:effectLst/>
                        </a:rPr>
                        <a:t>Nougat</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Android 7.0 - 7.1</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24 - 25</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August 22, 2016</a:t>
                      </a:r>
                    </a:p>
                  </a:txBody>
                  <a:tcPr marL="66525" marR="15602" marT="51173" marB="51173"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 xmlns:a16="http://schemas.microsoft.com/office/drawing/2014/main" val="4036087650"/>
                  </a:ext>
                </a:extLst>
              </a:tr>
              <a:tr h="276718">
                <a:tc>
                  <a:txBody>
                    <a:bodyPr/>
                    <a:lstStyle/>
                    <a:p>
                      <a:pPr algn="ctr" fontAlgn="ctr">
                        <a:buNone/>
                      </a:pPr>
                      <a:r>
                        <a:rPr lang="en-IN" sz="800" b="0" cap="none" spc="0">
                          <a:solidFill>
                            <a:schemeClr val="tx1"/>
                          </a:solidFill>
                          <a:effectLst/>
                        </a:rPr>
                        <a:t>Oreo</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Android 8.0</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26</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August 21, 2017</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 xmlns:a16="http://schemas.microsoft.com/office/drawing/2014/main" val="2006315880"/>
                  </a:ext>
                </a:extLst>
              </a:tr>
              <a:tr h="276718">
                <a:tc>
                  <a:txBody>
                    <a:bodyPr/>
                    <a:lstStyle/>
                    <a:p>
                      <a:pPr algn="ctr" fontAlgn="ctr">
                        <a:buNone/>
                      </a:pPr>
                      <a:r>
                        <a:rPr lang="en-IN" sz="800" b="0" cap="none" spc="0">
                          <a:solidFill>
                            <a:schemeClr val="tx1"/>
                          </a:solidFill>
                          <a:effectLst/>
                        </a:rPr>
                        <a:t>Pie</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Android 9.0</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27</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August 6, 2018</a:t>
                      </a:r>
                    </a:p>
                  </a:txBody>
                  <a:tcPr marL="66525" marR="15602" marT="51173" marB="51173"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 xmlns:a16="http://schemas.microsoft.com/office/drawing/2014/main" val="2916159540"/>
                  </a:ext>
                </a:extLst>
              </a:tr>
              <a:tr h="276718">
                <a:tc>
                  <a:txBody>
                    <a:bodyPr/>
                    <a:lstStyle/>
                    <a:p>
                      <a:pPr algn="ctr" fontAlgn="ctr">
                        <a:buNone/>
                      </a:pPr>
                      <a:r>
                        <a:rPr lang="en-IN" sz="800" b="0" cap="none" spc="0" dirty="0">
                          <a:solidFill>
                            <a:schemeClr val="tx1"/>
                          </a:solidFill>
                          <a:effectLst/>
                        </a:rPr>
                        <a:t>Android Q</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Android 10.0</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29</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September 3, 2019</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 xmlns:a16="http://schemas.microsoft.com/office/drawing/2014/main" val="1231429410"/>
                  </a:ext>
                </a:extLst>
              </a:tr>
              <a:tr h="276718">
                <a:tc>
                  <a:txBody>
                    <a:bodyPr/>
                    <a:lstStyle/>
                    <a:p>
                      <a:pPr algn="ctr" fontAlgn="ctr">
                        <a:buNone/>
                      </a:pPr>
                      <a:r>
                        <a:rPr lang="en-IN" sz="800" b="0" cap="none" spc="0" dirty="0">
                          <a:solidFill>
                            <a:schemeClr val="tx1"/>
                          </a:solidFill>
                          <a:effectLst/>
                        </a:rPr>
                        <a:t>Android 11</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Android 11.0</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30</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September 8, 2020</a:t>
                      </a:r>
                    </a:p>
                  </a:txBody>
                  <a:tcPr marL="66525" marR="15602" marT="51173" marB="51173"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 xmlns:a16="http://schemas.microsoft.com/office/drawing/2014/main" val="1028358395"/>
                  </a:ext>
                </a:extLst>
              </a:tr>
              <a:tr h="276718">
                <a:tc>
                  <a:txBody>
                    <a:bodyPr/>
                    <a:lstStyle/>
                    <a:p>
                      <a:pPr algn="ctr" fontAlgn="ctr">
                        <a:buNone/>
                      </a:pPr>
                      <a:r>
                        <a:rPr lang="en-IN" sz="800" b="0" cap="none" spc="0">
                          <a:solidFill>
                            <a:schemeClr val="tx1"/>
                          </a:solidFill>
                          <a:effectLst/>
                        </a:rPr>
                        <a:t>Snow Cone</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Android 12.0 - 12.1</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31-32</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October 4, 2021</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 xmlns:a16="http://schemas.microsoft.com/office/drawing/2014/main" val="2899088532"/>
                  </a:ext>
                </a:extLst>
              </a:tr>
              <a:tr h="276718">
                <a:tc>
                  <a:txBody>
                    <a:bodyPr/>
                    <a:lstStyle/>
                    <a:p>
                      <a:pPr algn="ctr" fontAlgn="ctr">
                        <a:buNone/>
                      </a:pPr>
                      <a:r>
                        <a:rPr lang="en-IN" sz="800" b="0" cap="none" spc="0">
                          <a:solidFill>
                            <a:schemeClr val="tx1"/>
                          </a:solidFill>
                          <a:effectLst/>
                        </a:rPr>
                        <a:t>Tiramisu</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Android 13</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33</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ctr">
                        <a:buNone/>
                      </a:pPr>
                      <a:r>
                        <a:rPr lang="en-IN" sz="800" b="0" cap="none" spc="0">
                          <a:solidFill>
                            <a:schemeClr val="tx1"/>
                          </a:solidFill>
                          <a:effectLst/>
                        </a:rPr>
                        <a:t>August 15, 2022</a:t>
                      </a:r>
                    </a:p>
                  </a:txBody>
                  <a:tcPr marL="66525" marR="15602" marT="51173" marB="51173"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 xmlns:a16="http://schemas.microsoft.com/office/drawing/2014/main" val="2408221339"/>
                  </a:ext>
                </a:extLst>
              </a:tr>
              <a:tr h="276718">
                <a:tc>
                  <a:txBody>
                    <a:bodyPr/>
                    <a:lstStyle/>
                    <a:p>
                      <a:pPr algn="ctr" fontAlgn="ctr">
                        <a:buNone/>
                      </a:pPr>
                      <a:r>
                        <a:rPr lang="en-IN" sz="800" b="0" cap="none" spc="0">
                          <a:solidFill>
                            <a:schemeClr val="tx1"/>
                          </a:solidFill>
                          <a:effectLst/>
                        </a:rPr>
                        <a:t>Upside Down Cake</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dirty="0">
                          <a:solidFill>
                            <a:schemeClr val="tx1"/>
                          </a:solidFill>
                          <a:effectLst/>
                        </a:rPr>
                        <a:t>Android 14</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dirty="0">
                          <a:solidFill>
                            <a:schemeClr val="tx1"/>
                          </a:solidFill>
                          <a:effectLst/>
                        </a:rPr>
                        <a:t>34</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ctr" fontAlgn="ctr">
                        <a:buNone/>
                      </a:pPr>
                      <a:r>
                        <a:rPr lang="en-IN" sz="800" b="0" cap="none" spc="0">
                          <a:solidFill>
                            <a:schemeClr val="tx1"/>
                          </a:solidFill>
                          <a:effectLst/>
                        </a:rPr>
                        <a:t>October 4, 2023</a:t>
                      </a:r>
                    </a:p>
                  </a:txBody>
                  <a:tcPr marL="66525" marR="15602" marT="51173" marB="51173"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 xmlns:a16="http://schemas.microsoft.com/office/drawing/2014/main" val="2170148502"/>
                  </a:ext>
                </a:extLst>
              </a:tr>
              <a:tr h="276718">
                <a:tc>
                  <a:txBody>
                    <a:bodyPr/>
                    <a:lstStyle/>
                    <a:p>
                      <a:pPr algn="ctr" rtl="0" fontAlgn="base">
                        <a:spcAft>
                          <a:spcPts val="750"/>
                        </a:spcAft>
                        <a:buNone/>
                      </a:pPr>
                      <a:r>
                        <a:rPr lang="en-IN" sz="800" b="0" cap="none" spc="0">
                          <a:solidFill>
                            <a:schemeClr val="tx1"/>
                          </a:solidFill>
                          <a:effectLst/>
                        </a:rPr>
                        <a:t>Vanilla Ice Cream</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rtl="0" fontAlgn="base">
                        <a:spcAft>
                          <a:spcPts val="750"/>
                        </a:spcAft>
                        <a:buNone/>
                      </a:pPr>
                      <a:r>
                        <a:rPr lang="en-IN" sz="800" b="0" cap="none" spc="0" dirty="0">
                          <a:solidFill>
                            <a:schemeClr val="tx1"/>
                          </a:solidFill>
                          <a:effectLst/>
                        </a:rPr>
                        <a:t>Android 15</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fontAlgn="base">
                        <a:spcAft>
                          <a:spcPts val="750"/>
                        </a:spcAft>
                        <a:buNone/>
                      </a:pPr>
                      <a:r>
                        <a:rPr lang="en-IN" sz="800" b="0" cap="none" spc="0">
                          <a:solidFill>
                            <a:schemeClr val="tx1"/>
                          </a:solidFill>
                          <a:effectLst/>
                        </a:rPr>
                        <a:t>35</a:t>
                      </a:r>
                    </a:p>
                  </a:txBody>
                  <a:tcPr marL="66525" marR="15602" marT="51173" marB="51173"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rtl="0" fontAlgn="base">
                        <a:spcAft>
                          <a:spcPts val="750"/>
                        </a:spcAft>
                        <a:buNone/>
                      </a:pPr>
                      <a:r>
                        <a:rPr lang="en-IN" sz="800" b="0" cap="none" spc="0" dirty="0">
                          <a:solidFill>
                            <a:schemeClr val="tx1"/>
                          </a:solidFill>
                          <a:effectLst/>
                        </a:rPr>
                        <a:t>May 15, 2024</a:t>
                      </a:r>
                    </a:p>
                  </a:txBody>
                  <a:tcPr marL="66525" marR="15602" marT="51173" marB="51173"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 xmlns:a16="http://schemas.microsoft.com/office/drawing/2014/main" val="1585150299"/>
                  </a:ext>
                </a:extLst>
              </a:tr>
            </a:tbl>
          </a:graphicData>
        </a:graphic>
      </p:graphicFrame>
    </p:spTree>
    <p:extLst>
      <p:ext uri="{BB962C8B-B14F-4D97-AF65-F5344CB8AC3E}">
        <p14:creationId xmlns="" xmlns:p14="http://schemas.microsoft.com/office/powerpoint/2010/main" val="30972692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82FFD51-6B21-AE0C-E990-73AC1128FECC}"/>
              </a:ext>
            </a:extLst>
          </p:cNvPr>
          <p:cNvSpPr>
            <a:spLocks noGrp="1"/>
          </p:cNvSpPr>
          <p:nvPr>
            <p:ph type="title"/>
          </p:nvPr>
        </p:nvSpPr>
        <p:spPr/>
        <p:txBody>
          <a:bodyPr>
            <a:normAutofit/>
          </a:bodyPr>
          <a:lstStyle/>
          <a:p>
            <a:r>
              <a:rPr lang="en-US" sz="2000" b="1" dirty="0">
                <a:latin typeface="Times New Roman" panose="02020603050405020304" pitchFamily="18" charset="0"/>
                <a:cs typeface="Times New Roman" panose="02020603050405020304" pitchFamily="18" charset="0"/>
              </a:rPr>
              <a:t>Programming Languages used in Developing Android Applications</a:t>
            </a:r>
            <a:br>
              <a:rPr lang="en-US" sz="2000" b="1"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 xmlns:a16="http://schemas.microsoft.com/office/drawing/2014/main" id="{31DE4704-8B4D-ABC6-64FB-65DDC8C850C5}"/>
              </a:ext>
            </a:extLst>
          </p:cNvPr>
          <p:cNvSpPr txBox="1"/>
          <p:nvPr/>
        </p:nvSpPr>
        <p:spPr>
          <a:xfrm>
            <a:off x="613386" y="1942390"/>
            <a:ext cx="10836492" cy="2685607"/>
          </a:xfrm>
          <a:prstGeom prst="rect">
            <a:avLst/>
          </a:prstGeom>
          <a:noFill/>
        </p:spPr>
        <p:txBody>
          <a:bodyPr wrap="square">
            <a:spAutoFit/>
          </a:bodyPr>
          <a:lstStyle/>
          <a:p>
            <a:pPr algn="l" fontAlgn="base">
              <a:spcAft>
                <a:spcPts val="1800"/>
              </a:spcAft>
              <a:buFont typeface="+mj-lt"/>
              <a:buAutoNum type="arabicPeriod"/>
            </a:pPr>
            <a:r>
              <a:rPr lang="en-US" b="1" i="0" dirty="0">
                <a:solidFill>
                  <a:srgbClr val="273239"/>
                </a:solidFill>
                <a:effectLst/>
                <a:latin typeface="Nunito" pitchFamily="2" charset="0"/>
              </a:rPr>
              <a:t>Java</a:t>
            </a:r>
            <a:endParaRPr lang="en-US" b="0" i="0" dirty="0">
              <a:solidFill>
                <a:srgbClr val="273239"/>
              </a:solidFill>
              <a:effectLst/>
              <a:latin typeface="Nunito" pitchFamily="2" charset="0"/>
            </a:endParaRPr>
          </a:p>
          <a:p>
            <a:pPr algn="l" fontAlgn="base">
              <a:spcAft>
                <a:spcPts val="1800"/>
              </a:spcAft>
              <a:buFont typeface="+mj-lt"/>
              <a:buAutoNum type="arabicPeriod" startAt="2"/>
            </a:pPr>
            <a:r>
              <a:rPr lang="en-US" b="1" i="0" dirty="0">
                <a:solidFill>
                  <a:srgbClr val="273239"/>
                </a:solidFill>
                <a:effectLst/>
                <a:latin typeface="Nunito" pitchFamily="2" charset="0"/>
              </a:rPr>
              <a:t>Kotlin</a:t>
            </a:r>
            <a:endParaRPr lang="en-US" b="0" i="0" dirty="0">
              <a:solidFill>
                <a:srgbClr val="273239"/>
              </a:solidFill>
              <a:effectLst/>
              <a:latin typeface="Nunito" pitchFamily="2" charset="0"/>
            </a:endParaRPr>
          </a:p>
          <a:p>
            <a:pPr algn="just" rtl="0" fontAlgn="base">
              <a:lnSpc>
                <a:spcPct val="200000"/>
              </a:lnSpc>
              <a:spcAft>
                <a:spcPts val="750"/>
              </a:spcAft>
              <a:buNone/>
            </a:pPr>
            <a:r>
              <a:rPr lang="en-US" b="0" i="0" dirty="0">
                <a:solidFill>
                  <a:srgbClr val="273239"/>
                </a:solidFill>
                <a:effectLst/>
                <a:latin typeface="Times New Roman" panose="02020603050405020304" pitchFamily="18" charset="0"/>
                <a:cs typeface="Times New Roman" panose="02020603050405020304" pitchFamily="18" charset="0"/>
              </a:rPr>
              <a:t>Developing the Android Application using Kotlin is preferred by Google, as Kotlin is made an official language for Android Development, which is developed and maintained by JetBrains. Previously before Java is considered the official language for Android Development. Kotlin is made official for Android Development in Google I/O 2017.</a:t>
            </a:r>
          </a:p>
        </p:txBody>
      </p:sp>
    </p:spTree>
    <p:extLst>
      <p:ext uri="{BB962C8B-B14F-4D97-AF65-F5344CB8AC3E}">
        <p14:creationId xmlns="" xmlns:p14="http://schemas.microsoft.com/office/powerpoint/2010/main" val="40813418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A93FD3-1B03-1AC1-C430-8F18431F7388}"/>
              </a:ext>
            </a:extLst>
          </p:cNvPr>
          <p:cNvSpPr>
            <a:spLocks noGrp="1"/>
          </p:cNvSpPr>
          <p:nvPr>
            <p:ph type="title"/>
          </p:nvPr>
        </p:nvSpPr>
        <p:spPr>
          <a:xfrm>
            <a:off x="414604" y="365125"/>
            <a:ext cx="10939196" cy="708301"/>
          </a:xfrm>
        </p:spPr>
        <p:txBody>
          <a:bodyPr>
            <a:normAutofit fontScale="90000"/>
          </a:bodyPr>
          <a:lstStyle/>
          <a:p>
            <a:r>
              <a:rPr lang="en-US" sz="2000" b="1" dirty="0">
                <a:solidFill>
                  <a:srgbClr val="273239"/>
                </a:solidFill>
                <a:latin typeface="Times New Roman" panose="02020603050405020304" pitchFamily="18" charset="0"/>
                <a:cs typeface="Times New Roman" panose="02020603050405020304" pitchFamily="18" charset="0"/>
              </a:rPr>
              <a:t>Advantages  and Disadvantage of Android Development</a:t>
            </a:r>
            <a:r>
              <a:rPr lang="en-US" b="1" dirty="0">
                <a:solidFill>
                  <a:srgbClr val="273239"/>
                </a:solidFill>
                <a:latin typeface="Nunito" pitchFamily="2" charset="0"/>
              </a:rPr>
              <a:t/>
            </a:r>
            <a:br>
              <a:rPr lang="en-US" b="1" dirty="0">
                <a:solidFill>
                  <a:srgbClr val="273239"/>
                </a:solidFill>
                <a:latin typeface="Nunito" pitchFamily="2" charset="0"/>
              </a:rPr>
            </a:br>
            <a:endParaRPr lang="en-IN" dirty="0"/>
          </a:p>
        </p:txBody>
      </p:sp>
      <p:sp>
        <p:nvSpPr>
          <p:cNvPr id="4" name="TextBox 3">
            <a:extLst>
              <a:ext uri="{FF2B5EF4-FFF2-40B4-BE49-F238E27FC236}">
                <a16:creationId xmlns="" xmlns:a16="http://schemas.microsoft.com/office/drawing/2014/main" id="{2DA82BFA-D009-58C7-A809-AF3819765265}"/>
              </a:ext>
            </a:extLst>
          </p:cNvPr>
          <p:cNvSpPr txBox="1"/>
          <p:nvPr/>
        </p:nvSpPr>
        <p:spPr>
          <a:xfrm>
            <a:off x="151925" y="1806082"/>
            <a:ext cx="5898163" cy="4062651"/>
          </a:xfrm>
          <a:prstGeom prst="rect">
            <a:avLst/>
          </a:prstGeom>
          <a:noFill/>
        </p:spPr>
        <p:txBody>
          <a:bodyPr wrap="square">
            <a:spAutoFit/>
          </a:bodyPr>
          <a:lstStyle/>
          <a:p>
            <a:pPr algn="just" fontAlgn="base">
              <a:spcAft>
                <a:spcPts val="1800"/>
              </a:spcAft>
            </a:pPr>
            <a:r>
              <a:rPr lang="en-US" b="1" i="0" dirty="0">
                <a:solidFill>
                  <a:srgbClr val="273239"/>
                </a:solidFill>
                <a:effectLst/>
                <a:latin typeface="Times New Roman" panose="02020603050405020304" pitchFamily="18" charset="0"/>
                <a:cs typeface="Times New Roman" panose="02020603050405020304" pitchFamily="18" charset="0"/>
              </a:rPr>
              <a:t>Advantage</a:t>
            </a:r>
          </a:p>
          <a:p>
            <a:pPr marL="285750" indent="-285750" algn="just" fontAlgn="base">
              <a:spcAft>
                <a:spcPts val="1800"/>
              </a:spcAft>
              <a:buFont typeface="Wingdings" panose="05000000000000000000" pitchFamily="2" charset="2"/>
              <a:buChar char="§"/>
            </a:pPr>
            <a:r>
              <a:rPr lang="en-US" b="0" i="0" dirty="0">
                <a:solidFill>
                  <a:srgbClr val="273239"/>
                </a:solidFill>
                <a:effectLst/>
                <a:latin typeface="Times New Roman" panose="02020603050405020304" pitchFamily="18" charset="0"/>
                <a:cs typeface="Times New Roman" panose="02020603050405020304" pitchFamily="18" charset="0"/>
              </a:rPr>
              <a:t>The Android is an open-source Operating system and hence possesses a vast community for support.</a:t>
            </a:r>
          </a:p>
          <a:p>
            <a:pPr marL="285750" indent="-285750" algn="just" fontAlgn="base">
              <a:spcAft>
                <a:spcPts val="1800"/>
              </a:spcAft>
              <a:buFont typeface="Wingdings" panose="05000000000000000000" pitchFamily="2" charset="2"/>
              <a:buChar char="§"/>
            </a:pPr>
            <a:r>
              <a:rPr lang="en-US" b="0" i="0" dirty="0">
                <a:solidFill>
                  <a:srgbClr val="273239"/>
                </a:solidFill>
                <a:effectLst/>
                <a:latin typeface="Times New Roman" panose="02020603050405020304" pitchFamily="18" charset="0"/>
                <a:cs typeface="Times New Roman" panose="02020603050405020304" pitchFamily="18" charset="0"/>
              </a:rPr>
              <a:t>The design of the Android Application has guidelines from Google, which becomes easier for developers to produce more intuitive user applications.</a:t>
            </a:r>
          </a:p>
          <a:p>
            <a:pPr marL="285750" indent="-285750" algn="just" fontAlgn="base">
              <a:spcAft>
                <a:spcPts val="1800"/>
              </a:spcAft>
              <a:buFont typeface="Wingdings" panose="05000000000000000000" pitchFamily="2" charset="2"/>
              <a:buChar char="§"/>
            </a:pPr>
            <a:r>
              <a:rPr lang="en-US" b="0" i="0" dirty="0">
                <a:solidFill>
                  <a:srgbClr val="273239"/>
                </a:solidFill>
                <a:effectLst/>
                <a:latin typeface="Times New Roman" panose="02020603050405020304" pitchFamily="18" charset="0"/>
                <a:cs typeface="Times New Roman" panose="02020603050405020304" pitchFamily="18" charset="0"/>
              </a:rPr>
              <a:t>Fragmentation gives more power to Android Applications. This means the application can run two activities on a single screen.</a:t>
            </a:r>
          </a:p>
          <a:p>
            <a:pPr marL="285750" indent="-285750" algn="just" fontAlgn="base">
              <a:spcAft>
                <a:spcPts val="1800"/>
              </a:spcAft>
              <a:buFont typeface="Wingdings" panose="05000000000000000000" pitchFamily="2" charset="2"/>
              <a:buChar char="§"/>
            </a:pPr>
            <a:r>
              <a:rPr lang="en-US" b="0" i="0" dirty="0">
                <a:solidFill>
                  <a:srgbClr val="273239"/>
                </a:solidFill>
                <a:effectLst/>
                <a:latin typeface="Times New Roman" panose="02020603050405020304" pitchFamily="18" charset="0"/>
                <a:cs typeface="Times New Roman" panose="02020603050405020304" pitchFamily="18" charset="0"/>
              </a:rPr>
              <a:t>Releasing the Android application in the Google play store is easier when it is compared to other platforms.</a:t>
            </a:r>
          </a:p>
        </p:txBody>
      </p:sp>
      <p:sp>
        <p:nvSpPr>
          <p:cNvPr id="6" name="TextBox 5">
            <a:extLst>
              <a:ext uri="{FF2B5EF4-FFF2-40B4-BE49-F238E27FC236}">
                <a16:creationId xmlns="" xmlns:a16="http://schemas.microsoft.com/office/drawing/2014/main" id="{B7BCD92D-6110-1023-2F83-A0BE83F07B74}"/>
              </a:ext>
            </a:extLst>
          </p:cNvPr>
          <p:cNvSpPr txBox="1"/>
          <p:nvPr/>
        </p:nvSpPr>
        <p:spPr>
          <a:xfrm>
            <a:off x="6050088" y="1739134"/>
            <a:ext cx="6096946" cy="4903330"/>
          </a:xfrm>
          <a:prstGeom prst="rect">
            <a:avLst/>
          </a:prstGeom>
          <a:noFill/>
        </p:spPr>
        <p:txBody>
          <a:bodyPr wrap="square">
            <a:spAutoFit/>
          </a:bodyPr>
          <a:lstStyle/>
          <a:p>
            <a:pPr algn="just" fontAlgn="base">
              <a:lnSpc>
                <a:spcPct val="150000"/>
              </a:lnSpc>
              <a:spcAft>
                <a:spcPts val="1800"/>
              </a:spcAft>
            </a:pPr>
            <a:r>
              <a:rPr lang="en-US" b="1" i="0" dirty="0">
                <a:solidFill>
                  <a:srgbClr val="273239"/>
                </a:solidFill>
                <a:effectLst/>
                <a:latin typeface="Times New Roman" panose="02020603050405020304" pitchFamily="18" charset="0"/>
                <a:cs typeface="Times New Roman" panose="02020603050405020304" pitchFamily="18" charset="0"/>
              </a:rPr>
              <a:t>Disadvantage</a:t>
            </a:r>
          </a:p>
          <a:p>
            <a:pPr marL="285750" indent="-285750" algn="just" fontAlgn="base">
              <a:lnSpc>
                <a:spcPct val="150000"/>
              </a:lnSpc>
              <a:spcAft>
                <a:spcPts val="1800"/>
              </a:spcAft>
              <a:buFont typeface="Wingdings" panose="05000000000000000000" pitchFamily="2" charset="2"/>
              <a:buChar char="§"/>
            </a:pPr>
            <a:r>
              <a:rPr lang="en-US" b="0" i="0" dirty="0">
                <a:solidFill>
                  <a:srgbClr val="273239"/>
                </a:solidFill>
                <a:effectLst/>
                <a:latin typeface="Times New Roman" panose="02020603050405020304" pitchFamily="18" charset="0"/>
                <a:cs typeface="Times New Roman" panose="02020603050405020304" pitchFamily="18" charset="0"/>
              </a:rPr>
              <a:t>Fragmentation provides a very intuitive approach to user experience but it has some drawbacks, where the development team needs time to adjust to the various screen sizes of mobile smartphones. </a:t>
            </a:r>
          </a:p>
          <a:p>
            <a:pPr marL="285750" indent="-285750" algn="just" fontAlgn="base">
              <a:lnSpc>
                <a:spcPct val="150000"/>
              </a:lnSpc>
              <a:spcAft>
                <a:spcPts val="1800"/>
              </a:spcAft>
              <a:buFont typeface="Wingdings" panose="05000000000000000000" pitchFamily="2" charset="2"/>
              <a:buChar char="§"/>
            </a:pPr>
            <a:r>
              <a:rPr lang="en-US" b="0" i="0" dirty="0">
                <a:solidFill>
                  <a:srgbClr val="273239"/>
                </a:solidFill>
                <a:effectLst/>
                <a:latin typeface="Times New Roman" panose="02020603050405020304" pitchFamily="18" charset="0"/>
                <a:cs typeface="Times New Roman" panose="02020603050405020304" pitchFamily="18" charset="0"/>
              </a:rPr>
              <a:t>The Android devices might vary broadly. So the testing of the application becomes more difficult.</a:t>
            </a:r>
          </a:p>
          <a:p>
            <a:pPr marL="285750" indent="-285750" algn="just" fontAlgn="base">
              <a:lnSpc>
                <a:spcPct val="150000"/>
              </a:lnSpc>
              <a:spcAft>
                <a:spcPts val="1800"/>
              </a:spcAft>
              <a:buFont typeface="Wingdings" panose="05000000000000000000" pitchFamily="2" charset="2"/>
              <a:buChar char="§"/>
            </a:pPr>
            <a:r>
              <a:rPr lang="en-US" b="0" i="0" dirty="0">
                <a:solidFill>
                  <a:srgbClr val="273239"/>
                </a:solidFill>
                <a:effectLst/>
                <a:latin typeface="Times New Roman" panose="02020603050405020304" pitchFamily="18" charset="0"/>
                <a:cs typeface="Times New Roman" panose="02020603050405020304" pitchFamily="18" charset="0"/>
              </a:rPr>
              <a:t>As the development and testing consume more time, the cost of the application may increase, depending on the application's complexity and features</a:t>
            </a:r>
            <a:r>
              <a:rPr lang="en-US" b="0" i="0" dirty="0">
                <a:solidFill>
                  <a:srgbClr val="273239"/>
                </a:solidFill>
                <a:effectLst/>
                <a:latin typeface="Nunito" pitchFamily="2" charset="0"/>
              </a:rPr>
              <a:t>.</a:t>
            </a:r>
          </a:p>
        </p:txBody>
      </p:sp>
    </p:spTree>
    <p:extLst>
      <p:ext uri="{BB962C8B-B14F-4D97-AF65-F5344CB8AC3E}">
        <p14:creationId xmlns="" xmlns:p14="http://schemas.microsoft.com/office/powerpoint/2010/main" val="24864206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D73A864-0DA6-E17C-2FD7-999F5B574D85}"/>
              </a:ext>
            </a:extLst>
          </p:cNvPr>
          <p:cNvSpPr txBox="1"/>
          <p:nvPr/>
        </p:nvSpPr>
        <p:spPr>
          <a:xfrm>
            <a:off x="792394" y="670658"/>
            <a:ext cx="10391025" cy="5909310"/>
          </a:xfrm>
          <a:prstGeom prst="rect">
            <a:avLst/>
          </a:prstGeom>
          <a:noFill/>
        </p:spPr>
        <p:txBody>
          <a:bodyPr wrap="square">
            <a:spAutoFit/>
          </a:bodyPr>
          <a:lstStyle/>
          <a:p>
            <a:pPr algn="just"/>
            <a:r>
              <a:rPr lang="en-IN" b="1" dirty="0"/>
              <a:t>Android Architecture:</a:t>
            </a:r>
          </a:p>
          <a:p>
            <a:pPr algn="just"/>
            <a:endParaRPr lang="en-IN" b="1" dirty="0"/>
          </a:p>
          <a:p>
            <a:pPr algn="just"/>
            <a:r>
              <a:rPr lang="en-US" b="1" i="0" dirty="0">
                <a:solidFill>
                  <a:srgbClr val="333333"/>
                </a:solidFill>
                <a:effectLst/>
                <a:highlight>
                  <a:srgbClr val="FFFFFF"/>
                </a:highlight>
                <a:latin typeface="inter-bold"/>
              </a:rPr>
              <a:t>------android architecture</a:t>
            </a:r>
            <a:r>
              <a:rPr lang="en-US" b="0" i="0" dirty="0">
                <a:solidFill>
                  <a:srgbClr val="333333"/>
                </a:solidFill>
                <a:effectLst/>
                <a:highlight>
                  <a:srgbClr val="FFFFFF"/>
                </a:highlight>
                <a:latin typeface="inter-regular"/>
              </a:rPr>
              <a:t> or </a:t>
            </a:r>
            <a:r>
              <a:rPr lang="en-US" b="1" i="0" dirty="0">
                <a:solidFill>
                  <a:srgbClr val="333333"/>
                </a:solidFill>
                <a:effectLst/>
                <a:highlight>
                  <a:srgbClr val="FFFFFF"/>
                </a:highlight>
                <a:latin typeface="inter-bold"/>
              </a:rPr>
              <a:t>Android software stack</a:t>
            </a:r>
            <a:r>
              <a:rPr lang="en-US" b="0" i="0" dirty="0">
                <a:solidFill>
                  <a:srgbClr val="333333"/>
                </a:solidFill>
                <a:effectLst/>
                <a:highlight>
                  <a:srgbClr val="FFFFFF"/>
                </a:highlight>
                <a:latin typeface="inter-regular"/>
              </a:rPr>
              <a:t> is categorized into five parts:</a:t>
            </a:r>
          </a:p>
          <a:p>
            <a:pPr algn="just"/>
            <a:endParaRPr lang="en-US" dirty="0">
              <a:solidFill>
                <a:srgbClr val="333333"/>
              </a:solidFill>
              <a:highlight>
                <a:srgbClr val="FFFFFF"/>
              </a:highlight>
              <a:latin typeface="inter-regular"/>
            </a:endParaRPr>
          </a:p>
          <a:p>
            <a:pPr algn="just">
              <a:buFont typeface="+mj-lt"/>
              <a:buAutoNum type="arabicPeriod"/>
            </a:pPr>
            <a:r>
              <a:rPr lang="en-IN" b="0" i="0" dirty="0" err="1">
                <a:solidFill>
                  <a:srgbClr val="000000"/>
                </a:solidFill>
                <a:effectLst/>
                <a:highlight>
                  <a:srgbClr val="FFFFFF"/>
                </a:highlight>
                <a:latin typeface="inter-regular"/>
              </a:rPr>
              <a:t>linux</a:t>
            </a:r>
            <a:r>
              <a:rPr lang="en-IN" b="0" i="0" dirty="0">
                <a:solidFill>
                  <a:srgbClr val="000000"/>
                </a:solidFill>
                <a:effectLst/>
                <a:highlight>
                  <a:srgbClr val="FFFFFF"/>
                </a:highlight>
                <a:latin typeface="inter-regular"/>
              </a:rPr>
              <a:t> kernel</a:t>
            </a:r>
          </a:p>
          <a:p>
            <a:pPr algn="just">
              <a:buFont typeface="+mj-lt"/>
              <a:buAutoNum type="arabicPeriod"/>
            </a:pPr>
            <a:r>
              <a:rPr lang="en-IN" b="0" i="0" dirty="0">
                <a:solidFill>
                  <a:srgbClr val="000000"/>
                </a:solidFill>
                <a:effectLst/>
                <a:highlight>
                  <a:srgbClr val="FFFFFF"/>
                </a:highlight>
                <a:latin typeface="inter-regular"/>
              </a:rPr>
              <a:t>native libraries (middleware),</a:t>
            </a:r>
          </a:p>
          <a:p>
            <a:pPr algn="just">
              <a:buFont typeface="+mj-lt"/>
              <a:buAutoNum type="arabicPeriod"/>
            </a:pPr>
            <a:r>
              <a:rPr lang="en-IN" b="0" i="0" dirty="0">
                <a:solidFill>
                  <a:srgbClr val="000000"/>
                </a:solidFill>
                <a:effectLst/>
                <a:highlight>
                  <a:srgbClr val="FFFFFF"/>
                </a:highlight>
                <a:latin typeface="inter-regular"/>
              </a:rPr>
              <a:t>Android Runtime</a:t>
            </a:r>
          </a:p>
          <a:p>
            <a:pPr algn="just">
              <a:buFont typeface="+mj-lt"/>
              <a:buAutoNum type="arabicPeriod"/>
            </a:pPr>
            <a:r>
              <a:rPr lang="en-IN" b="0" i="0" dirty="0">
                <a:solidFill>
                  <a:srgbClr val="000000"/>
                </a:solidFill>
                <a:effectLst/>
                <a:highlight>
                  <a:srgbClr val="FFFFFF"/>
                </a:highlight>
                <a:latin typeface="inter-regular"/>
              </a:rPr>
              <a:t>Application Framework</a:t>
            </a:r>
          </a:p>
          <a:p>
            <a:pPr algn="just">
              <a:buFont typeface="+mj-lt"/>
              <a:buAutoNum type="arabicPeriod"/>
            </a:pPr>
            <a:r>
              <a:rPr lang="en-IN" b="0" i="0" dirty="0">
                <a:solidFill>
                  <a:srgbClr val="000000"/>
                </a:solidFill>
                <a:effectLst/>
                <a:highlight>
                  <a:srgbClr val="FFFFFF"/>
                </a:highlight>
                <a:latin typeface="inter-regular"/>
              </a:rPr>
              <a:t>Applications</a:t>
            </a:r>
          </a:p>
          <a:p>
            <a:pPr algn="just"/>
            <a:endParaRPr lang="en-IN" dirty="0">
              <a:solidFill>
                <a:srgbClr val="000000"/>
              </a:solidFill>
              <a:highlight>
                <a:srgbClr val="FFFFFF"/>
              </a:highlight>
              <a:latin typeface="inter-regular"/>
            </a:endParaRPr>
          </a:p>
          <a:p>
            <a:pPr algn="just"/>
            <a:endParaRPr lang="en-IN" b="0" i="0" dirty="0">
              <a:solidFill>
                <a:srgbClr val="000000"/>
              </a:solidFill>
              <a:effectLst/>
              <a:highlight>
                <a:srgbClr val="FFFFFF"/>
              </a:highlight>
              <a:latin typeface="inter-regular"/>
            </a:endParaRPr>
          </a:p>
          <a:p>
            <a:pPr algn="just"/>
            <a:r>
              <a:rPr lang="en-US" b="0" i="0" dirty="0">
                <a:solidFill>
                  <a:srgbClr val="610B38"/>
                </a:solidFill>
                <a:effectLst/>
                <a:highlight>
                  <a:srgbClr val="FFFFFF"/>
                </a:highlight>
                <a:latin typeface="erdana"/>
              </a:rPr>
              <a:t>1</a:t>
            </a:r>
            <a:r>
              <a:rPr lang="en-US" dirty="0"/>
              <a:t>. Linux kernel</a:t>
            </a:r>
          </a:p>
          <a:p>
            <a:pPr algn="just"/>
            <a:r>
              <a:rPr lang="en-US" b="0" i="0" dirty="0">
                <a:solidFill>
                  <a:srgbClr val="333333"/>
                </a:solidFill>
                <a:effectLst/>
                <a:highlight>
                  <a:srgbClr val="FFFFFF"/>
                </a:highlight>
                <a:latin typeface="inter-regular"/>
              </a:rPr>
              <a:t>It is the heart of android architecture that exists at the root of android architecture. </a:t>
            </a:r>
            <a:r>
              <a:rPr lang="en-US" b="1" i="0" dirty="0">
                <a:solidFill>
                  <a:srgbClr val="333333"/>
                </a:solidFill>
                <a:effectLst/>
                <a:highlight>
                  <a:srgbClr val="FFFFFF"/>
                </a:highlight>
                <a:latin typeface="inter-bold"/>
              </a:rPr>
              <a:t>Linux kernel</a:t>
            </a:r>
            <a:r>
              <a:rPr lang="en-US" b="0" i="0" dirty="0">
                <a:solidFill>
                  <a:srgbClr val="333333"/>
                </a:solidFill>
                <a:effectLst/>
                <a:highlight>
                  <a:srgbClr val="FFFFFF"/>
                </a:highlight>
                <a:latin typeface="inter-regular"/>
              </a:rPr>
              <a:t> is responsible for device drivers, power management, memory management, device management and resource access.</a:t>
            </a:r>
          </a:p>
          <a:p>
            <a:pPr algn="just"/>
            <a:endParaRPr lang="en-IN" b="0" i="0" dirty="0">
              <a:solidFill>
                <a:srgbClr val="000000"/>
              </a:solidFill>
              <a:effectLst/>
              <a:highlight>
                <a:srgbClr val="FFFFFF"/>
              </a:highlight>
              <a:latin typeface="inter-regular"/>
            </a:endParaRPr>
          </a:p>
          <a:p>
            <a:pPr algn="just"/>
            <a:r>
              <a:rPr lang="en-US" b="0" i="0" dirty="0">
                <a:solidFill>
                  <a:srgbClr val="610B38"/>
                </a:solidFill>
                <a:effectLst/>
                <a:highlight>
                  <a:srgbClr val="FFFFFF"/>
                </a:highlight>
                <a:latin typeface="erdana"/>
              </a:rPr>
              <a:t>2. </a:t>
            </a:r>
            <a:r>
              <a:rPr lang="en-US" dirty="0"/>
              <a:t>Native Libraries</a:t>
            </a:r>
          </a:p>
          <a:p>
            <a:pPr algn="just"/>
            <a:r>
              <a:rPr lang="en-US" b="0" i="0" dirty="0">
                <a:solidFill>
                  <a:srgbClr val="333333"/>
                </a:solidFill>
                <a:effectLst/>
                <a:highlight>
                  <a:srgbClr val="FFFFFF"/>
                </a:highlight>
                <a:latin typeface="inter-regular"/>
              </a:rPr>
              <a:t>On the top of </a:t>
            </a:r>
            <a:r>
              <a:rPr lang="en-US" b="0" i="0" dirty="0" err="1">
                <a:solidFill>
                  <a:srgbClr val="333333"/>
                </a:solidFill>
                <a:effectLst/>
                <a:highlight>
                  <a:srgbClr val="FFFFFF"/>
                </a:highlight>
                <a:latin typeface="inter-regular"/>
              </a:rPr>
              <a:t>linux</a:t>
            </a:r>
            <a:r>
              <a:rPr lang="en-US" b="0" i="0" dirty="0">
                <a:solidFill>
                  <a:srgbClr val="333333"/>
                </a:solidFill>
                <a:effectLst/>
                <a:highlight>
                  <a:srgbClr val="FFFFFF"/>
                </a:highlight>
                <a:latin typeface="inter-regular"/>
              </a:rPr>
              <a:t> kernel, there are </a:t>
            </a:r>
            <a:r>
              <a:rPr lang="en-US" b="1" i="0" dirty="0">
                <a:solidFill>
                  <a:srgbClr val="333333"/>
                </a:solidFill>
                <a:effectLst/>
                <a:highlight>
                  <a:srgbClr val="FFFFFF"/>
                </a:highlight>
                <a:latin typeface="inter-bold"/>
              </a:rPr>
              <a:t>Native libraries</a:t>
            </a:r>
            <a:r>
              <a:rPr lang="en-US" b="0" i="0" dirty="0">
                <a:solidFill>
                  <a:srgbClr val="333333"/>
                </a:solidFill>
                <a:effectLst/>
                <a:highlight>
                  <a:srgbClr val="FFFFFF"/>
                </a:highlight>
                <a:latin typeface="inter-regular"/>
              </a:rPr>
              <a:t> such as WebKit, OpenGL, </a:t>
            </a:r>
            <a:r>
              <a:rPr lang="en-US" b="0" i="0" dirty="0" err="1">
                <a:solidFill>
                  <a:srgbClr val="333333"/>
                </a:solidFill>
                <a:effectLst/>
                <a:highlight>
                  <a:srgbClr val="FFFFFF"/>
                </a:highlight>
                <a:latin typeface="inter-regular"/>
              </a:rPr>
              <a:t>FreeType</a:t>
            </a:r>
            <a:r>
              <a:rPr lang="en-US" b="0" i="0" dirty="0">
                <a:solidFill>
                  <a:srgbClr val="333333"/>
                </a:solidFill>
                <a:effectLst/>
                <a:highlight>
                  <a:srgbClr val="FFFFFF"/>
                </a:highlight>
                <a:latin typeface="inter-regular"/>
              </a:rPr>
              <a:t>, SQLite, Media, C runtime library (</a:t>
            </a:r>
            <a:r>
              <a:rPr lang="en-US" b="0" i="0" dirty="0" err="1">
                <a:solidFill>
                  <a:srgbClr val="333333"/>
                </a:solidFill>
                <a:effectLst/>
                <a:highlight>
                  <a:srgbClr val="FFFFFF"/>
                </a:highlight>
                <a:latin typeface="inter-regular"/>
              </a:rPr>
              <a:t>libc</a:t>
            </a:r>
            <a:r>
              <a:rPr lang="en-US" b="0" i="0" dirty="0">
                <a:solidFill>
                  <a:srgbClr val="333333"/>
                </a:solidFill>
                <a:effectLst/>
                <a:highlight>
                  <a:srgbClr val="FFFFFF"/>
                </a:highlight>
                <a:latin typeface="inter-regular"/>
              </a:rPr>
              <a:t>) etc.</a:t>
            </a:r>
          </a:p>
          <a:p>
            <a:pPr algn="just"/>
            <a:endParaRPr lang="en-IN" b="0" i="0" dirty="0">
              <a:solidFill>
                <a:srgbClr val="000000"/>
              </a:solidFill>
              <a:effectLst/>
              <a:highlight>
                <a:srgbClr val="FFFFFF"/>
              </a:highlight>
              <a:latin typeface="inter-regular"/>
            </a:endParaRPr>
          </a:p>
          <a:p>
            <a:pPr algn="just"/>
            <a:endParaRPr lang="en-IN" b="0" i="0" dirty="0">
              <a:solidFill>
                <a:srgbClr val="610B38"/>
              </a:solidFill>
              <a:effectLst/>
              <a:highlight>
                <a:srgbClr val="FFFFFF"/>
              </a:highlight>
              <a:latin typeface="erdana"/>
            </a:endParaRPr>
          </a:p>
        </p:txBody>
      </p:sp>
    </p:spTree>
    <p:extLst>
      <p:ext uri="{BB962C8B-B14F-4D97-AF65-F5344CB8AC3E}">
        <p14:creationId xmlns="" xmlns:p14="http://schemas.microsoft.com/office/powerpoint/2010/main" val="151693657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5E63F5E4-95AF-18E6-D3B6-18AFE900FF13}"/>
              </a:ext>
            </a:extLst>
          </p:cNvPr>
          <p:cNvPicPr>
            <a:picLocks noChangeAspect="1"/>
          </p:cNvPicPr>
          <p:nvPr/>
        </p:nvPicPr>
        <p:blipFill>
          <a:blip r:embed="rId2"/>
          <a:stretch>
            <a:fillRect/>
          </a:stretch>
        </p:blipFill>
        <p:spPr>
          <a:xfrm>
            <a:off x="1458930" y="452040"/>
            <a:ext cx="9498457" cy="5546743"/>
          </a:xfrm>
          <a:prstGeom prst="rect">
            <a:avLst/>
          </a:prstGeom>
        </p:spPr>
      </p:pic>
    </p:spTree>
    <p:extLst>
      <p:ext uri="{BB962C8B-B14F-4D97-AF65-F5344CB8AC3E}">
        <p14:creationId xmlns="" xmlns:p14="http://schemas.microsoft.com/office/powerpoint/2010/main" val="14872846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408B44F6-D632-E54A-235D-8739AB9B2337}"/>
              </a:ext>
            </a:extLst>
          </p:cNvPr>
          <p:cNvSpPr txBox="1"/>
          <p:nvPr/>
        </p:nvSpPr>
        <p:spPr>
          <a:xfrm>
            <a:off x="701899" y="776125"/>
            <a:ext cx="10837571" cy="4370427"/>
          </a:xfrm>
          <a:prstGeom prst="rect">
            <a:avLst/>
          </a:prstGeom>
          <a:noFill/>
        </p:spPr>
        <p:txBody>
          <a:bodyPr wrap="square">
            <a:spAutoFit/>
          </a:bodyPr>
          <a:lstStyle/>
          <a:p>
            <a:pPr algn="just"/>
            <a:r>
              <a:rPr lang="en-US" sz="2000" b="1" i="0" dirty="0" err="1">
                <a:solidFill>
                  <a:srgbClr val="333333"/>
                </a:solidFill>
                <a:effectLst/>
                <a:highlight>
                  <a:srgbClr val="FFFFFF"/>
                </a:highlight>
                <a:latin typeface="inter-regular"/>
              </a:rPr>
              <a:t>WebKit</a:t>
            </a:r>
            <a:r>
              <a:rPr lang="en-US" sz="2000" b="1" i="0" dirty="0">
                <a:solidFill>
                  <a:srgbClr val="333333"/>
                </a:solidFill>
                <a:effectLst/>
                <a:highlight>
                  <a:srgbClr val="FFFFFF"/>
                </a:highlight>
                <a:latin typeface="inter-regular"/>
              </a:rPr>
              <a:t> library- </a:t>
            </a:r>
            <a:r>
              <a:rPr lang="en-US" sz="2000" b="0" i="0" dirty="0">
                <a:solidFill>
                  <a:srgbClr val="333333"/>
                </a:solidFill>
                <a:effectLst/>
                <a:highlight>
                  <a:srgbClr val="FFFFFF"/>
                </a:highlight>
                <a:latin typeface="inter-regular"/>
              </a:rPr>
              <a:t>is responsible for browser support.</a:t>
            </a:r>
          </a:p>
          <a:p>
            <a:pPr algn="just"/>
            <a:endParaRPr lang="en-US" sz="2000" b="0" i="0" dirty="0">
              <a:solidFill>
                <a:srgbClr val="333333"/>
              </a:solidFill>
              <a:effectLst/>
              <a:highlight>
                <a:srgbClr val="FFFFFF"/>
              </a:highlight>
              <a:latin typeface="inter-regular"/>
            </a:endParaRPr>
          </a:p>
          <a:p>
            <a:pPr algn="just"/>
            <a:r>
              <a:rPr lang="en-US" sz="2000" b="0" i="0" dirty="0">
                <a:solidFill>
                  <a:srgbClr val="333333"/>
                </a:solidFill>
                <a:effectLst/>
                <a:highlight>
                  <a:srgbClr val="FFFFFF"/>
                </a:highlight>
                <a:latin typeface="inter-regular"/>
              </a:rPr>
              <a:t> </a:t>
            </a:r>
            <a:r>
              <a:rPr lang="en-US" sz="2000" b="1" i="0" dirty="0">
                <a:solidFill>
                  <a:srgbClr val="333333"/>
                </a:solidFill>
                <a:effectLst/>
                <a:highlight>
                  <a:srgbClr val="FFFFFF"/>
                </a:highlight>
                <a:latin typeface="inter-regular"/>
              </a:rPr>
              <a:t>SQLite</a:t>
            </a:r>
            <a:r>
              <a:rPr lang="en-US" sz="2000" b="0" i="0" dirty="0">
                <a:solidFill>
                  <a:srgbClr val="333333"/>
                </a:solidFill>
                <a:effectLst/>
                <a:highlight>
                  <a:srgbClr val="FFFFFF"/>
                </a:highlight>
                <a:latin typeface="inter-regular"/>
              </a:rPr>
              <a:t> -is for database</a:t>
            </a:r>
          </a:p>
          <a:p>
            <a:pPr algn="just"/>
            <a:endParaRPr lang="en-US" sz="2000" b="0" i="0" dirty="0">
              <a:solidFill>
                <a:srgbClr val="333333"/>
              </a:solidFill>
              <a:effectLst/>
              <a:highlight>
                <a:srgbClr val="FFFFFF"/>
              </a:highlight>
              <a:latin typeface="inter-regular"/>
            </a:endParaRPr>
          </a:p>
          <a:p>
            <a:pPr algn="just"/>
            <a:r>
              <a:rPr lang="en-US" sz="2000" b="0" i="0" dirty="0">
                <a:solidFill>
                  <a:srgbClr val="333333"/>
                </a:solidFill>
                <a:effectLst/>
                <a:highlight>
                  <a:srgbClr val="FFFFFF"/>
                </a:highlight>
                <a:latin typeface="inter-regular"/>
              </a:rPr>
              <a:t> </a:t>
            </a:r>
            <a:r>
              <a:rPr lang="en-US" sz="2000" b="1" i="0" dirty="0" err="1">
                <a:solidFill>
                  <a:srgbClr val="333333"/>
                </a:solidFill>
                <a:effectLst/>
                <a:highlight>
                  <a:srgbClr val="FFFFFF"/>
                </a:highlight>
                <a:latin typeface="inter-regular"/>
              </a:rPr>
              <a:t>FreeType</a:t>
            </a:r>
            <a:r>
              <a:rPr lang="en-US" sz="2000" dirty="0">
                <a:solidFill>
                  <a:srgbClr val="333333"/>
                </a:solidFill>
                <a:highlight>
                  <a:srgbClr val="FFFFFF"/>
                </a:highlight>
                <a:latin typeface="inter-regular"/>
              </a:rPr>
              <a:t>-</a:t>
            </a:r>
            <a:r>
              <a:rPr lang="en-US" sz="2000" b="0" i="0" dirty="0">
                <a:solidFill>
                  <a:srgbClr val="333333"/>
                </a:solidFill>
                <a:effectLst/>
                <a:highlight>
                  <a:srgbClr val="FFFFFF"/>
                </a:highlight>
                <a:latin typeface="inter-regular"/>
              </a:rPr>
              <a:t>for font support.</a:t>
            </a:r>
          </a:p>
          <a:p>
            <a:pPr algn="just"/>
            <a:endParaRPr lang="en-US" sz="2000" b="0" i="0" dirty="0">
              <a:solidFill>
                <a:srgbClr val="333333"/>
              </a:solidFill>
              <a:effectLst/>
              <a:highlight>
                <a:srgbClr val="FFFFFF"/>
              </a:highlight>
              <a:latin typeface="inter-regular"/>
            </a:endParaRPr>
          </a:p>
          <a:p>
            <a:pPr algn="just"/>
            <a:r>
              <a:rPr lang="en-US" sz="2000" b="0" i="0" dirty="0">
                <a:solidFill>
                  <a:srgbClr val="333333"/>
                </a:solidFill>
                <a:effectLst/>
                <a:highlight>
                  <a:srgbClr val="FFFFFF"/>
                </a:highlight>
                <a:latin typeface="inter-regular"/>
              </a:rPr>
              <a:t> </a:t>
            </a:r>
            <a:r>
              <a:rPr lang="en-US" sz="2000" b="1" i="0" dirty="0">
                <a:solidFill>
                  <a:srgbClr val="333333"/>
                </a:solidFill>
                <a:effectLst/>
                <a:highlight>
                  <a:srgbClr val="FFFFFF"/>
                </a:highlight>
                <a:latin typeface="inter-regular"/>
              </a:rPr>
              <a:t>Media framework- </a:t>
            </a:r>
            <a:r>
              <a:rPr lang="en-US" sz="2000" b="0" i="0" dirty="0">
                <a:solidFill>
                  <a:srgbClr val="333333"/>
                </a:solidFill>
                <a:effectLst/>
                <a:highlight>
                  <a:srgbClr val="FFFFFF"/>
                </a:highlight>
                <a:latin typeface="inter-regular"/>
              </a:rPr>
              <a:t>for playing and recording audio and video formats.</a:t>
            </a:r>
          </a:p>
          <a:p>
            <a:pPr algn="just"/>
            <a:endParaRPr lang="en-US" sz="2000" b="0" i="0" dirty="0">
              <a:solidFill>
                <a:srgbClr val="333333"/>
              </a:solidFill>
              <a:effectLst/>
              <a:highlight>
                <a:srgbClr val="FFFFFF"/>
              </a:highlight>
              <a:latin typeface="inter-regular"/>
            </a:endParaRPr>
          </a:p>
          <a:p>
            <a:pPr algn="just"/>
            <a:r>
              <a:rPr lang="en-US" sz="2000" b="1" dirty="0">
                <a:solidFill>
                  <a:srgbClr val="333333"/>
                </a:solidFill>
                <a:highlight>
                  <a:srgbClr val="FFFFFF"/>
                </a:highlight>
                <a:latin typeface="inter-regular"/>
              </a:rPr>
              <a:t>Surface manager</a:t>
            </a:r>
            <a:r>
              <a:rPr lang="en-US" sz="2000" dirty="0">
                <a:solidFill>
                  <a:srgbClr val="333333"/>
                </a:solidFill>
                <a:highlight>
                  <a:srgbClr val="FFFFFF"/>
                </a:highlight>
                <a:latin typeface="inter-regular"/>
              </a:rPr>
              <a:t>-Composing window on screen.</a:t>
            </a:r>
          </a:p>
          <a:p>
            <a:pPr algn="just"/>
            <a:endParaRPr lang="en-US" sz="2000" dirty="0">
              <a:solidFill>
                <a:srgbClr val="333333"/>
              </a:solidFill>
              <a:highlight>
                <a:srgbClr val="FFFFFF"/>
              </a:highlight>
              <a:latin typeface="inter-regular"/>
            </a:endParaRPr>
          </a:p>
          <a:p>
            <a:pPr algn="just"/>
            <a:r>
              <a:rPr lang="en-US" sz="2000" b="1" dirty="0">
                <a:solidFill>
                  <a:srgbClr val="333333"/>
                </a:solidFill>
                <a:highlight>
                  <a:srgbClr val="FFFFFF"/>
                </a:highlight>
                <a:latin typeface="inter-regular"/>
              </a:rPr>
              <a:t>SGL(scalable graphic library)- </a:t>
            </a:r>
            <a:r>
              <a:rPr lang="en-US" sz="2000" dirty="0">
                <a:solidFill>
                  <a:srgbClr val="333333"/>
                </a:solidFill>
                <a:highlight>
                  <a:srgbClr val="FFFFFF"/>
                </a:highlight>
                <a:latin typeface="inter-regular"/>
              </a:rPr>
              <a:t>2D graphics.</a:t>
            </a:r>
          </a:p>
          <a:p>
            <a:pPr algn="just"/>
            <a:endParaRPr lang="en-US" sz="2000" dirty="0">
              <a:solidFill>
                <a:srgbClr val="333333"/>
              </a:solidFill>
              <a:highlight>
                <a:srgbClr val="FFFFFF"/>
              </a:highlight>
              <a:latin typeface="inter-regular"/>
            </a:endParaRPr>
          </a:p>
          <a:p>
            <a:pPr algn="just"/>
            <a:r>
              <a:rPr lang="en-US" sz="2000" b="1" dirty="0">
                <a:solidFill>
                  <a:srgbClr val="333333"/>
                </a:solidFill>
                <a:highlight>
                  <a:srgbClr val="FFFFFF"/>
                </a:highlight>
                <a:latin typeface="inter-regular"/>
              </a:rPr>
              <a:t>Open GL/ES- </a:t>
            </a:r>
            <a:r>
              <a:rPr lang="en-US" sz="2000" dirty="0">
                <a:solidFill>
                  <a:srgbClr val="333333"/>
                </a:solidFill>
                <a:highlight>
                  <a:srgbClr val="FFFFFF"/>
                </a:highlight>
                <a:latin typeface="inter-regular"/>
              </a:rPr>
              <a:t>3D graphics library.</a:t>
            </a:r>
          </a:p>
          <a:p>
            <a:endParaRPr lang="en-IN" dirty="0"/>
          </a:p>
        </p:txBody>
      </p:sp>
    </p:spTree>
    <p:extLst>
      <p:ext uri="{BB962C8B-B14F-4D97-AF65-F5344CB8AC3E}">
        <p14:creationId xmlns="" xmlns:p14="http://schemas.microsoft.com/office/powerpoint/2010/main" val="31117807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31C4497-5C28-49BF-7A80-5FB9AAB117F0}"/>
              </a:ext>
            </a:extLst>
          </p:cNvPr>
          <p:cNvSpPr txBox="1"/>
          <p:nvPr/>
        </p:nvSpPr>
        <p:spPr>
          <a:xfrm>
            <a:off x="566704" y="665871"/>
            <a:ext cx="9777739" cy="5216813"/>
          </a:xfrm>
          <a:prstGeom prst="rect">
            <a:avLst/>
          </a:prstGeom>
          <a:noFill/>
        </p:spPr>
        <p:txBody>
          <a:bodyPr wrap="square">
            <a:spAutoFit/>
          </a:bodyPr>
          <a:lstStyle/>
          <a:p>
            <a:pPr algn="just">
              <a:lnSpc>
                <a:spcPct val="150000"/>
              </a:lnSpc>
            </a:pPr>
            <a:r>
              <a:rPr lang="en-IN" b="1" dirty="0"/>
              <a:t>Android Runtime</a:t>
            </a:r>
            <a:r>
              <a:rPr lang="en-IN" b="0" i="0" dirty="0">
                <a:solidFill>
                  <a:srgbClr val="610B38"/>
                </a:solidFill>
                <a:effectLst/>
                <a:highlight>
                  <a:srgbClr val="FFFFFF"/>
                </a:highlight>
                <a:latin typeface="erdana"/>
              </a:rPr>
              <a:t>:</a:t>
            </a:r>
            <a:r>
              <a:rPr lang="en-US" b="0" i="0" dirty="0">
                <a:solidFill>
                  <a:srgbClr val="333333"/>
                </a:solidFill>
                <a:effectLst/>
                <a:highlight>
                  <a:srgbClr val="FFFFFF"/>
                </a:highlight>
                <a:latin typeface="inter-regular"/>
              </a:rPr>
              <a:t>In android runtime, there are core libraries and DVM (Dalvik Virtual Machine) which is responsible to run android application. DVM is like JVM but it is optimized for mobile devices. It consumes less memory and provides fast performance</a:t>
            </a:r>
          </a:p>
          <a:p>
            <a:pPr algn="just">
              <a:lnSpc>
                <a:spcPct val="150000"/>
              </a:lnSpc>
            </a:pPr>
            <a:endParaRPr lang="en-US" dirty="0">
              <a:solidFill>
                <a:srgbClr val="333333"/>
              </a:solidFill>
              <a:highlight>
                <a:srgbClr val="FFFFFF"/>
              </a:highlight>
              <a:latin typeface="inter-regular"/>
            </a:endParaRPr>
          </a:p>
          <a:p>
            <a:pPr algn="just">
              <a:lnSpc>
                <a:spcPct val="150000"/>
              </a:lnSpc>
            </a:pPr>
            <a:r>
              <a:rPr lang="en-IN" b="1" dirty="0"/>
              <a:t>Android Framework:</a:t>
            </a:r>
            <a:r>
              <a:rPr lang="en-US" b="0" i="0" dirty="0">
                <a:solidFill>
                  <a:srgbClr val="333333"/>
                </a:solidFill>
                <a:effectLst/>
                <a:highlight>
                  <a:srgbClr val="FFFFFF"/>
                </a:highlight>
                <a:latin typeface="inter-regular"/>
              </a:rPr>
              <a:t>Android framework includes </a:t>
            </a:r>
            <a:r>
              <a:rPr lang="en-US" b="1" i="0" dirty="0">
                <a:solidFill>
                  <a:srgbClr val="333333"/>
                </a:solidFill>
                <a:effectLst/>
                <a:highlight>
                  <a:srgbClr val="FFFFFF"/>
                </a:highlight>
                <a:latin typeface="inter-bold"/>
              </a:rPr>
              <a:t>Android API's</a:t>
            </a:r>
            <a:r>
              <a:rPr lang="en-US" b="0" i="0" dirty="0">
                <a:solidFill>
                  <a:srgbClr val="333333"/>
                </a:solidFill>
                <a:effectLst/>
                <a:highlight>
                  <a:srgbClr val="FFFFFF"/>
                </a:highlight>
                <a:latin typeface="inter-regular"/>
              </a:rPr>
              <a:t> such as UI (User Interface), telephony, resources, locations, Content Providers (data) and package managers. It provides a lot of classes and interfaces for android application development.</a:t>
            </a:r>
          </a:p>
          <a:p>
            <a:pPr algn="just">
              <a:lnSpc>
                <a:spcPct val="150000"/>
              </a:lnSpc>
            </a:pPr>
            <a:endParaRPr lang="en-US" dirty="0">
              <a:solidFill>
                <a:srgbClr val="333333"/>
              </a:solidFill>
              <a:highlight>
                <a:srgbClr val="FFFFFF"/>
              </a:highlight>
              <a:latin typeface="inter-regular"/>
            </a:endParaRPr>
          </a:p>
          <a:p>
            <a:pPr algn="just">
              <a:lnSpc>
                <a:spcPct val="150000"/>
              </a:lnSpc>
            </a:pPr>
            <a:r>
              <a:rPr lang="en-US" b="1" dirty="0"/>
              <a:t>Applications:</a:t>
            </a:r>
          </a:p>
          <a:p>
            <a:pPr algn="just">
              <a:lnSpc>
                <a:spcPct val="150000"/>
              </a:lnSpc>
            </a:pPr>
            <a:r>
              <a:rPr lang="en-US" b="0" i="0" dirty="0">
                <a:solidFill>
                  <a:srgbClr val="333333"/>
                </a:solidFill>
                <a:effectLst/>
                <a:highlight>
                  <a:srgbClr val="FFFFFF"/>
                </a:highlight>
                <a:latin typeface="inter-regular"/>
              </a:rPr>
              <a:t>All applications such as home, contact, settings, games, browsers are using android framework that uses android runtime and libraries. Android runtime and native libraries are using </a:t>
            </a:r>
            <a:r>
              <a:rPr lang="en-US" b="0" i="0" dirty="0" err="1">
                <a:solidFill>
                  <a:srgbClr val="333333"/>
                </a:solidFill>
                <a:effectLst/>
                <a:highlight>
                  <a:srgbClr val="FFFFFF"/>
                </a:highlight>
                <a:latin typeface="inter-regular"/>
              </a:rPr>
              <a:t>linux</a:t>
            </a:r>
            <a:r>
              <a:rPr lang="en-US" b="0" i="0" dirty="0">
                <a:solidFill>
                  <a:srgbClr val="333333"/>
                </a:solidFill>
                <a:effectLst/>
                <a:highlight>
                  <a:srgbClr val="FFFFFF"/>
                </a:highlight>
                <a:latin typeface="inter-regular"/>
              </a:rPr>
              <a:t> </a:t>
            </a:r>
            <a:r>
              <a:rPr lang="en-US" b="0" i="0" dirty="0" err="1">
                <a:solidFill>
                  <a:srgbClr val="333333"/>
                </a:solidFill>
                <a:effectLst/>
                <a:highlight>
                  <a:srgbClr val="FFFFFF"/>
                </a:highlight>
                <a:latin typeface="inter-regular"/>
              </a:rPr>
              <a:t>kernal</a:t>
            </a:r>
            <a:r>
              <a:rPr lang="en-US" b="0" i="0" dirty="0">
                <a:solidFill>
                  <a:srgbClr val="333333"/>
                </a:solidFill>
                <a:effectLst/>
                <a:highlight>
                  <a:srgbClr val="FFFFFF"/>
                </a:highlight>
                <a:latin typeface="inter-regular"/>
              </a:rPr>
              <a:t>.</a:t>
            </a:r>
          </a:p>
          <a:p>
            <a:pPr algn="just"/>
            <a:endParaRPr lang="en-IN" b="0" i="0" dirty="0">
              <a:solidFill>
                <a:srgbClr val="610B38"/>
              </a:solidFill>
              <a:effectLst/>
              <a:highlight>
                <a:srgbClr val="FFFFFF"/>
              </a:highlight>
              <a:latin typeface="erdana"/>
            </a:endParaRPr>
          </a:p>
          <a:p>
            <a:pPr algn="just"/>
            <a:endParaRPr lang="en-IN" b="0" i="0" dirty="0">
              <a:solidFill>
                <a:srgbClr val="610B38"/>
              </a:solidFill>
              <a:effectLst/>
              <a:highlight>
                <a:srgbClr val="FFFFFF"/>
              </a:highlight>
              <a:latin typeface="erdana"/>
            </a:endParaRPr>
          </a:p>
        </p:txBody>
      </p:sp>
    </p:spTree>
    <p:extLst>
      <p:ext uri="{BB962C8B-B14F-4D97-AF65-F5344CB8AC3E}">
        <p14:creationId xmlns="" xmlns:p14="http://schemas.microsoft.com/office/powerpoint/2010/main" val="18760124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0D304FEE-21CD-0664-7E38-B5DB884AD30A}"/>
              </a:ext>
            </a:extLst>
          </p:cNvPr>
          <p:cNvSpPr txBox="1"/>
          <p:nvPr/>
        </p:nvSpPr>
        <p:spPr>
          <a:xfrm>
            <a:off x="67318" y="207071"/>
            <a:ext cx="12054189" cy="3139321"/>
          </a:xfrm>
          <a:prstGeom prst="rect">
            <a:avLst/>
          </a:prstGeom>
          <a:noFill/>
        </p:spPr>
        <p:txBody>
          <a:bodyPr wrap="square">
            <a:spAutoFit/>
          </a:bodyPr>
          <a:lstStyle/>
          <a:p>
            <a:pPr algn="just"/>
            <a:r>
              <a:rPr lang="en-US" b="1" i="0" dirty="0">
                <a:effectLst/>
                <a:highlight>
                  <a:srgbClr val="FFFFFF"/>
                </a:highlight>
                <a:latin typeface="erdana"/>
              </a:rPr>
              <a:t>Component Of </a:t>
            </a:r>
            <a:r>
              <a:rPr lang="en-US" b="1" i="0" dirty="0" smtClean="0">
                <a:effectLst/>
                <a:highlight>
                  <a:srgbClr val="FFFFFF"/>
                </a:highlight>
                <a:latin typeface="erdana"/>
              </a:rPr>
              <a:t>Android: </a:t>
            </a:r>
            <a:r>
              <a:rPr lang="en-US" dirty="0" smtClean="0"/>
              <a:t>There are four main Android app components: activities , services , content providers , and broadcast receivers .</a:t>
            </a:r>
          </a:p>
          <a:p>
            <a:pPr algn="just"/>
            <a:r>
              <a:rPr lang="en-US" dirty="0" smtClean="0"/>
              <a:t> Whenever you create or use any of them, you must include elements in the project manifest.</a:t>
            </a:r>
            <a:endParaRPr lang="en-US" dirty="0">
              <a:highlight>
                <a:srgbClr val="FFFFFF"/>
              </a:highlight>
              <a:latin typeface="erdana"/>
            </a:endParaRPr>
          </a:p>
          <a:p>
            <a:pPr algn="just"/>
            <a:endParaRPr lang="en-US" b="0" i="0" dirty="0">
              <a:effectLst/>
              <a:highlight>
                <a:srgbClr val="FFFFFF"/>
              </a:highlight>
              <a:latin typeface="erdana"/>
            </a:endParaRPr>
          </a:p>
          <a:p>
            <a:pPr marL="285750" indent="-285750" algn="just">
              <a:buFont typeface="Arial" panose="020B0604020202020204" pitchFamily="34" charset="0"/>
              <a:buChar char="•"/>
            </a:pPr>
            <a:r>
              <a:rPr lang="en-IN" b="0" i="0" dirty="0">
                <a:solidFill>
                  <a:srgbClr val="333333"/>
                </a:solidFill>
                <a:effectLst/>
                <a:highlight>
                  <a:srgbClr val="FFFFFF"/>
                </a:highlight>
                <a:latin typeface="inter-regular"/>
              </a:rPr>
              <a:t>Activities</a:t>
            </a:r>
          </a:p>
          <a:p>
            <a:pPr marL="285750" indent="-285750" algn="just">
              <a:buFont typeface="Arial" panose="020B0604020202020204" pitchFamily="34" charset="0"/>
              <a:buChar char="•"/>
            </a:pPr>
            <a:r>
              <a:rPr lang="en-IN" b="0" i="0" dirty="0">
                <a:solidFill>
                  <a:srgbClr val="333333"/>
                </a:solidFill>
                <a:effectLst/>
                <a:highlight>
                  <a:srgbClr val="FFFFFF"/>
                </a:highlight>
                <a:latin typeface="inter-regular"/>
              </a:rPr>
              <a:t>services</a:t>
            </a:r>
          </a:p>
          <a:p>
            <a:pPr marL="285750" indent="-285750" algn="just">
              <a:buFont typeface="Arial" panose="020B0604020202020204" pitchFamily="34" charset="0"/>
              <a:buChar char="•"/>
            </a:pPr>
            <a:r>
              <a:rPr lang="en-IN" b="0" i="0" dirty="0">
                <a:solidFill>
                  <a:srgbClr val="333333"/>
                </a:solidFill>
                <a:effectLst/>
                <a:highlight>
                  <a:srgbClr val="FFFFFF"/>
                </a:highlight>
                <a:latin typeface="inter-regular"/>
              </a:rPr>
              <a:t>content providers</a:t>
            </a:r>
          </a:p>
          <a:p>
            <a:pPr marL="285750" indent="-285750" algn="just">
              <a:buFont typeface="Arial" panose="020B0604020202020204" pitchFamily="34" charset="0"/>
              <a:buChar char="•"/>
            </a:pPr>
            <a:r>
              <a:rPr lang="en-IN" b="0" i="0" dirty="0">
                <a:solidFill>
                  <a:srgbClr val="333333"/>
                </a:solidFill>
                <a:effectLst/>
                <a:highlight>
                  <a:srgbClr val="FFFFFF"/>
                </a:highlight>
                <a:latin typeface="inter-regular"/>
              </a:rPr>
              <a:t>Broadcast </a:t>
            </a:r>
            <a:r>
              <a:rPr lang="en-IN" b="0" i="0" dirty="0" smtClean="0">
                <a:solidFill>
                  <a:srgbClr val="333333"/>
                </a:solidFill>
                <a:effectLst/>
                <a:highlight>
                  <a:srgbClr val="FFFFFF"/>
                </a:highlight>
                <a:latin typeface="inter-regular"/>
              </a:rPr>
              <a:t>receivers</a:t>
            </a:r>
          </a:p>
          <a:p>
            <a:pPr marL="285750" indent="-285750" algn="just"/>
            <a:endParaRPr lang="en-IN" b="0" i="0" dirty="0">
              <a:solidFill>
                <a:srgbClr val="333333"/>
              </a:solidFill>
              <a:effectLst/>
              <a:highlight>
                <a:srgbClr val="FFFFFF"/>
              </a:highlight>
              <a:latin typeface="inter-regular"/>
            </a:endParaRPr>
          </a:p>
          <a:p>
            <a:pPr algn="just"/>
            <a:endParaRPr lang="en-US" b="0" i="0" dirty="0">
              <a:solidFill>
                <a:srgbClr val="610B38"/>
              </a:solidFill>
              <a:effectLst/>
              <a:highlight>
                <a:srgbClr val="FFFFFF"/>
              </a:highlight>
              <a:latin typeface="erdana"/>
            </a:endParaRPr>
          </a:p>
          <a:p>
            <a:pPr algn="just"/>
            <a:endParaRPr lang="en-US" b="0" i="0" dirty="0">
              <a:solidFill>
                <a:srgbClr val="FFFFFF"/>
              </a:solidFill>
              <a:effectLst/>
              <a:highlight>
                <a:srgbClr val="FFFFFF"/>
              </a:highlight>
              <a:latin typeface="inter-regular"/>
            </a:endParaRPr>
          </a:p>
        </p:txBody>
      </p:sp>
      <p:pic>
        <p:nvPicPr>
          <p:cNvPr id="4" name="Picture 3">
            <a:extLst>
              <a:ext uri="{FF2B5EF4-FFF2-40B4-BE49-F238E27FC236}">
                <a16:creationId xmlns="" xmlns:a16="http://schemas.microsoft.com/office/drawing/2014/main" id="{531A0130-E7FD-F9D6-B990-CF7B7269990D}"/>
              </a:ext>
            </a:extLst>
          </p:cNvPr>
          <p:cNvPicPr>
            <a:picLocks noChangeAspect="1"/>
          </p:cNvPicPr>
          <p:nvPr/>
        </p:nvPicPr>
        <p:blipFill>
          <a:blip r:embed="rId2"/>
          <a:stretch>
            <a:fillRect/>
          </a:stretch>
        </p:blipFill>
        <p:spPr>
          <a:xfrm>
            <a:off x="3259303" y="2080107"/>
            <a:ext cx="5815611" cy="3627495"/>
          </a:xfrm>
          <a:prstGeom prst="rect">
            <a:avLst/>
          </a:prstGeom>
        </p:spPr>
      </p:pic>
    </p:spTree>
    <p:extLst>
      <p:ext uri="{BB962C8B-B14F-4D97-AF65-F5344CB8AC3E}">
        <p14:creationId xmlns="" xmlns:p14="http://schemas.microsoft.com/office/powerpoint/2010/main" val="167115451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4155" y="543595"/>
            <a:ext cx="11225241" cy="4939814"/>
          </a:xfrm>
          <a:prstGeom prst="rect">
            <a:avLst/>
          </a:prstGeom>
        </p:spPr>
        <p:txBody>
          <a:bodyPr wrap="square">
            <a:spAutoFit/>
          </a:bodyPr>
          <a:lstStyle/>
          <a:p>
            <a:r>
              <a:rPr lang="en-US" b="1" dirty="0" smtClean="0"/>
              <a:t>Activities</a:t>
            </a:r>
          </a:p>
          <a:p>
            <a:pPr>
              <a:lnSpc>
                <a:spcPct val="150000"/>
              </a:lnSpc>
              <a:buFont typeface="Arial" pitchFamily="34" charset="0"/>
              <a:buChar char="•"/>
            </a:pPr>
            <a:r>
              <a:rPr lang="en-US" dirty="0" smtClean="0">
                <a:latin typeface="Times New Roman" pitchFamily="18" charset="0"/>
                <a:cs typeface="Times New Roman" pitchFamily="18" charset="0"/>
              </a:rPr>
              <a:t>Activities  represent a single screen in an Android application.</a:t>
            </a:r>
          </a:p>
          <a:p>
            <a:pPr>
              <a:lnSpc>
                <a:spcPct val="150000"/>
              </a:lnSpc>
              <a:buFont typeface="Arial" pitchFamily="34" charset="0"/>
              <a:buChar char="•"/>
            </a:pPr>
            <a:r>
              <a:rPr lang="en-US" dirty="0" smtClean="0">
                <a:latin typeface="Times New Roman" pitchFamily="18" charset="0"/>
                <a:cs typeface="Times New Roman" pitchFamily="18" charset="0"/>
              </a:rPr>
              <a:t>They are responsible for interacting with the user and can contain UI elements.</a:t>
            </a:r>
          </a:p>
          <a:p>
            <a:pPr>
              <a:lnSpc>
                <a:spcPct val="150000"/>
              </a:lnSpc>
              <a:buFont typeface="Arial" pitchFamily="34" charset="0"/>
              <a:buChar char="•"/>
            </a:pPr>
            <a:r>
              <a:rPr lang="en-US" dirty="0" smtClean="0">
                <a:latin typeface="Times New Roman" pitchFamily="18" charset="0"/>
                <a:cs typeface="Times New Roman" pitchFamily="18" charset="0"/>
              </a:rPr>
              <a:t>Each activity has a lifecycle that defines its state transitions (e.g., </a:t>
            </a:r>
            <a:r>
              <a:rPr lang="en-US" dirty="0" err="1" smtClean="0">
                <a:latin typeface="Times New Roman" pitchFamily="18" charset="0"/>
                <a:cs typeface="Times New Roman" pitchFamily="18" charset="0"/>
              </a:rPr>
              <a:t>onCreate</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onStart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onResume</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onPause</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onStop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onDestroy</a:t>
            </a:r>
            <a:r>
              <a:rPr lang="en-US" dirty="0" smtClean="0">
                <a:latin typeface="Times New Roman" pitchFamily="18" charset="0"/>
                <a:cs typeface="Times New Roman" pitchFamily="18" charset="0"/>
              </a:rPr>
              <a:t>).</a:t>
            </a:r>
          </a:p>
          <a:p>
            <a:pPr>
              <a:lnSpc>
                <a:spcPct val="150000"/>
              </a:lnSpc>
            </a:pPr>
            <a:r>
              <a:rPr lang="en-US" b="1" i="1" dirty="0" smtClean="0">
                <a:latin typeface="Times New Roman" pitchFamily="18" charset="0"/>
                <a:cs typeface="Times New Roman" pitchFamily="18" charset="0"/>
              </a:rPr>
              <a:t>public class </a:t>
            </a:r>
            <a:r>
              <a:rPr lang="en-US" b="1" i="1" dirty="0" err="1" smtClean="0">
                <a:latin typeface="Times New Roman" pitchFamily="18" charset="0"/>
                <a:cs typeface="Times New Roman" pitchFamily="18" charset="0"/>
              </a:rPr>
              <a:t>MainActivity</a:t>
            </a:r>
            <a:r>
              <a:rPr lang="en-US" b="1" i="1" dirty="0" smtClean="0">
                <a:latin typeface="Times New Roman" pitchFamily="18" charset="0"/>
                <a:cs typeface="Times New Roman" pitchFamily="18" charset="0"/>
              </a:rPr>
              <a:t> extends </a:t>
            </a:r>
            <a:r>
              <a:rPr lang="en-US" b="1" i="1" dirty="0" err="1" smtClean="0">
                <a:latin typeface="Times New Roman" pitchFamily="18" charset="0"/>
                <a:cs typeface="Times New Roman" pitchFamily="18" charset="0"/>
              </a:rPr>
              <a:t>AppCompatActivity</a:t>
            </a:r>
            <a:r>
              <a:rPr lang="en-US" b="1" i="1" dirty="0" smtClean="0">
                <a:latin typeface="Times New Roman" pitchFamily="18" charset="0"/>
                <a:cs typeface="Times New Roman" pitchFamily="18" charset="0"/>
              </a:rPr>
              <a:t> {</a:t>
            </a:r>
            <a:br>
              <a:rPr lang="en-US" b="1" i="1" dirty="0" smtClean="0">
                <a:latin typeface="Times New Roman" pitchFamily="18" charset="0"/>
                <a:cs typeface="Times New Roman" pitchFamily="18" charset="0"/>
              </a:rPr>
            </a:br>
            <a:r>
              <a:rPr lang="en-US" b="1" i="1" u="sng" dirty="0" smtClean="0">
                <a:latin typeface="Times New Roman" pitchFamily="18" charset="0"/>
                <a:cs typeface="Times New Roman" pitchFamily="18" charset="0"/>
                <a:hlinkClick r:id="rId2"/>
              </a:rPr>
              <a:t>@Override</a:t>
            </a:r>
            <a:r>
              <a:rPr lang="en-US" b="1" i="1" dirty="0" smtClean="0">
                <a:latin typeface="Times New Roman" pitchFamily="18" charset="0"/>
                <a:cs typeface="Times New Roman" pitchFamily="18" charset="0"/>
              </a:rPr>
              <a:t/>
            </a:r>
            <a:br>
              <a:rPr lang="en-US" b="1" i="1" dirty="0" smtClean="0">
                <a:latin typeface="Times New Roman" pitchFamily="18" charset="0"/>
                <a:cs typeface="Times New Roman" pitchFamily="18" charset="0"/>
              </a:rPr>
            </a:br>
            <a:r>
              <a:rPr lang="en-US" b="1" i="1" dirty="0" smtClean="0">
                <a:latin typeface="Times New Roman" pitchFamily="18" charset="0"/>
                <a:cs typeface="Times New Roman" pitchFamily="18" charset="0"/>
              </a:rPr>
              <a:t>protected void </a:t>
            </a:r>
            <a:r>
              <a:rPr lang="en-US" b="1" i="1" dirty="0" err="1" smtClean="0">
                <a:latin typeface="Times New Roman" pitchFamily="18" charset="0"/>
                <a:cs typeface="Times New Roman" pitchFamily="18" charset="0"/>
              </a:rPr>
              <a:t>onCreate</a:t>
            </a:r>
            <a:r>
              <a:rPr lang="en-US" b="1" i="1" dirty="0" smtClean="0">
                <a:latin typeface="Times New Roman" pitchFamily="18" charset="0"/>
                <a:cs typeface="Times New Roman" pitchFamily="18" charset="0"/>
              </a:rPr>
              <a:t>(Bundle </a:t>
            </a:r>
            <a:r>
              <a:rPr lang="en-US" b="1" i="1" dirty="0" err="1" smtClean="0">
                <a:latin typeface="Times New Roman" pitchFamily="18" charset="0"/>
                <a:cs typeface="Times New Roman" pitchFamily="18" charset="0"/>
              </a:rPr>
              <a:t>savedInstanceState</a:t>
            </a:r>
            <a:r>
              <a:rPr lang="en-US" b="1" i="1" dirty="0" smtClean="0">
                <a:latin typeface="Times New Roman" pitchFamily="18" charset="0"/>
                <a:cs typeface="Times New Roman" pitchFamily="18" charset="0"/>
              </a:rPr>
              <a:t>) {</a:t>
            </a:r>
            <a:br>
              <a:rPr lang="en-US" b="1" i="1" dirty="0" smtClean="0">
                <a:latin typeface="Times New Roman" pitchFamily="18" charset="0"/>
                <a:cs typeface="Times New Roman" pitchFamily="18" charset="0"/>
              </a:rPr>
            </a:br>
            <a:r>
              <a:rPr lang="en-US" b="1" i="1" dirty="0" err="1" smtClean="0">
                <a:latin typeface="Times New Roman" pitchFamily="18" charset="0"/>
                <a:cs typeface="Times New Roman" pitchFamily="18" charset="0"/>
              </a:rPr>
              <a:t>super.onCreate</a:t>
            </a:r>
            <a:r>
              <a:rPr lang="en-US" b="1" i="1" dirty="0" smtClean="0">
                <a:latin typeface="Times New Roman" pitchFamily="18" charset="0"/>
                <a:cs typeface="Times New Roman" pitchFamily="18" charset="0"/>
              </a:rPr>
              <a:t>(</a:t>
            </a:r>
            <a:r>
              <a:rPr lang="en-US" b="1" i="1" dirty="0" err="1" smtClean="0">
                <a:latin typeface="Times New Roman" pitchFamily="18" charset="0"/>
                <a:cs typeface="Times New Roman" pitchFamily="18" charset="0"/>
              </a:rPr>
              <a:t>savedInstanceState</a:t>
            </a:r>
            <a:r>
              <a:rPr lang="en-US" b="1" i="1" dirty="0" smtClean="0">
                <a:latin typeface="Times New Roman" pitchFamily="18" charset="0"/>
                <a:cs typeface="Times New Roman" pitchFamily="18" charset="0"/>
              </a:rPr>
              <a:t>);</a:t>
            </a:r>
            <a:br>
              <a:rPr lang="en-US" b="1" i="1" dirty="0" smtClean="0">
                <a:latin typeface="Times New Roman" pitchFamily="18" charset="0"/>
                <a:cs typeface="Times New Roman" pitchFamily="18" charset="0"/>
              </a:rPr>
            </a:br>
            <a:r>
              <a:rPr lang="en-US" b="1" i="1" dirty="0" err="1" smtClean="0">
                <a:latin typeface="Times New Roman" pitchFamily="18" charset="0"/>
                <a:cs typeface="Times New Roman" pitchFamily="18" charset="0"/>
              </a:rPr>
              <a:t>setContentView</a:t>
            </a:r>
            <a:r>
              <a:rPr lang="en-US" b="1" i="1" dirty="0" smtClean="0">
                <a:latin typeface="Times New Roman" pitchFamily="18" charset="0"/>
                <a:cs typeface="Times New Roman" pitchFamily="18" charset="0"/>
              </a:rPr>
              <a:t>(</a:t>
            </a:r>
            <a:r>
              <a:rPr lang="en-US" b="1" i="1" dirty="0" err="1" smtClean="0">
                <a:latin typeface="Times New Roman" pitchFamily="18" charset="0"/>
                <a:cs typeface="Times New Roman" pitchFamily="18" charset="0"/>
              </a:rPr>
              <a:t>R.layout.activity_main</a:t>
            </a:r>
            <a:r>
              <a:rPr lang="en-US" b="1" i="1" dirty="0" smtClean="0">
                <a:latin typeface="Times New Roman" pitchFamily="18" charset="0"/>
                <a:cs typeface="Times New Roman" pitchFamily="18" charset="0"/>
              </a:rPr>
              <a:t>);</a:t>
            </a:r>
            <a:br>
              <a:rPr lang="en-US" b="1" i="1" dirty="0" smtClean="0">
                <a:latin typeface="Times New Roman" pitchFamily="18" charset="0"/>
                <a:cs typeface="Times New Roman" pitchFamily="18" charset="0"/>
              </a:rPr>
            </a:br>
            <a:r>
              <a:rPr lang="en-US" b="1" i="1" dirty="0" smtClean="0">
                <a:latin typeface="Times New Roman" pitchFamily="18" charset="0"/>
                <a:cs typeface="Times New Roman" pitchFamily="18" charset="0"/>
              </a:rPr>
              <a:t>// Your initialization code here</a:t>
            </a:r>
            <a:br>
              <a:rPr lang="en-US" b="1" i="1" dirty="0" smtClean="0">
                <a:latin typeface="Times New Roman" pitchFamily="18" charset="0"/>
                <a:cs typeface="Times New Roman" pitchFamily="18" charset="0"/>
              </a:rPr>
            </a:br>
            <a:r>
              <a:rPr lang="en-US" b="1" i="1" dirty="0" smtClean="0">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142" y="375600"/>
            <a:ext cx="9686283" cy="4524315"/>
          </a:xfrm>
          <a:prstGeom prst="rect">
            <a:avLst/>
          </a:prstGeom>
        </p:spPr>
        <p:txBody>
          <a:bodyPr wrap="square">
            <a:spAutoFit/>
          </a:bodyPr>
          <a:lstStyle/>
          <a:p>
            <a:r>
              <a:rPr lang="en-US" b="1" dirty="0" smtClean="0"/>
              <a:t>Services:</a:t>
            </a:r>
          </a:p>
          <a:p>
            <a:pPr>
              <a:buFont typeface="Arial" pitchFamily="34" charset="0"/>
              <a:buChar char="•"/>
            </a:pPr>
            <a:r>
              <a:rPr lang="en-US" dirty="0" smtClean="0">
                <a:latin typeface="Times New Roman" pitchFamily="18" charset="0"/>
                <a:cs typeface="Times New Roman" pitchFamily="18" charset="0"/>
              </a:rPr>
              <a:t>Services are used for long-running background tasks that don’t require a UI.</a:t>
            </a:r>
          </a:p>
          <a:p>
            <a:pPr>
              <a:buFont typeface="Arial" pitchFamily="34" charset="0"/>
              <a:buChar char="•"/>
            </a:pPr>
            <a:r>
              <a:rPr lang="en-US" dirty="0" smtClean="0">
                <a:latin typeface="Times New Roman" pitchFamily="18" charset="0"/>
                <a:cs typeface="Times New Roman" pitchFamily="18" charset="0"/>
              </a:rPr>
              <a:t>They run independently of the UI and can continue running even if the user switches to another app.</a:t>
            </a:r>
          </a:p>
          <a:p>
            <a:pPr>
              <a:buFont typeface="Arial" pitchFamily="34" charset="0"/>
              <a:buChar char="•"/>
            </a:pPr>
            <a:r>
              <a:rPr lang="en-US" dirty="0" smtClean="0">
                <a:latin typeface="Times New Roman" pitchFamily="18" charset="0"/>
                <a:cs typeface="Times New Roman" pitchFamily="18" charset="0"/>
              </a:rPr>
              <a:t>They have a lifecycle similar to activities (e.g., </a:t>
            </a:r>
            <a:r>
              <a:rPr lang="en-US" dirty="0" err="1" smtClean="0">
                <a:latin typeface="Times New Roman" pitchFamily="18" charset="0"/>
                <a:cs typeface="Times New Roman" pitchFamily="18" charset="0"/>
              </a:rPr>
              <a:t>onCreate</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onStartCommand</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onDestroy</a:t>
            </a:r>
            <a:r>
              <a:rPr lang="en-US" dirty="0" smtClean="0">
                <a:latin typeface="Times New Roman" pitchFamily="18" charset="0"/>
                <a:cs typeface="Times New Roman" pitchFamily="18" charset="0"/>
              </a:rPr>
              <a:t>).</a:t>
            </a:r>
          </a:p>
          <a:p>
            <a:pPr>
              <a:buFont typeface="Arial" pitchFamily="34" charset="0"/>
              <a:buChar char="•"/>
            </a:pPr>
            <a:endParaRPr lang="en-US" dirty="0" smtClean="0">
              <a:latin typeface="Times New Roman" pitchFamily="18" charset="0"/>
              <a:cs typeface="Times New Roman" pitchFamily="18" charset="0"/>
            </a:endParaRPr>
          </a:p>
          <a:p>
            <a:r>
              <a:rPr lang="en-US" i="1" dirty="0" smtClean="0"/>
              <a:t>public class </a:t>
            </a:r>
            <a:r>
              <a:rPr lang="en-US" i="1" dirty="0" err="1" smtClean="0"/>
              <a:t>MyService</a:t>
            </a:r>
            <a:r>
              <a:rPr lang="en-US" i="1" dirty="0" smtClean="0"/>
              <a:t> extends Service {</a:t>
            </a:r>
            <a:r>
              <a:rPr lang="en-US" dirty="0" smtClean="0"/>
              <a:t/>
            </a:r>
            <a:br>
              <a:rPr lang="en-US" dirty="0" smtClean="0"/>
            </a:br>
            <a:r>
              <a:rPr lang="en-US" i="1" u="sng" dirty="0" smtClean="0">
                <a:hlinkClick r:id="rId2"/>
              </a:rPr>
              <a:t>@Override</a:t>
            </a:r>
            <a:r>
              <a:rPr lang="en-US" dirty="0" smtClean="0"/>
              <a:t/>
            </a:r>
            <a:br>
              <a:rPr lang="en-US" dirty="0" smtClean="0"/>
            </a:br>
            <a:r>
              <a:rPr lang="en-US" i="1" dirty="0" smtClean="0"/>
              <a:t>public </a:t>
            </a:r>
            <a:r>
              <a:rPr lang="en-US" i="1" dirty="0" err="1" smtClean="0"/>
              <a:t>int</a:t>
            </a:r>
            <a:r>
              <a:rPr lang="en-US" i="1" dirty="0" smtClean="0"/>
              <a:t> </a:t>
            </a:r>
            <a:r>
              <a:rPr lang="en-US" i="1" dirty="0" err="1" smtClean="0"/>
              <a:t>onStartCommand</a:t>
            </a:r>
            <a:r>
              <a:rPr lang="en-US" i="1" dirty="0" smtClean="0"/>
              <a:t>(Intent </a:t>
            </a:r>
            <a:r>
              <a:rPr lang="en-US" i="1" dirty="0" err="1" smtClean="0"/>
              <a:t>intent</a:t>
            </a:r>
            <a:r>
              <a:rPr lang="en-US" i="1" dirty="0" smtClean="0"/>
              <a:t>, </a:t>
            </a:r>
            <a:r>
              <a:rPr lang="en-US" i="1" dirty="0" err="1" smtClean="0"/>
              <a:t>int</a:t>
            </a:r>
            <a:r>
              <a:rPr lang="en-US" i="1" dirty="0" smtClean="0"/>
              <a:t> flags, </a:t>
            </a:r>
            <a:r>
              <a:rPr lang="en-US" i="1" dirty="0" err="1" smtClean="0"/>
              <a:t>int</a:t>
            </a:r>
            <a:r>
              <a:rPr lang="en-US" i="1" dirty="0" smtClean="0"/>
              <a:t> </a:t>
            </a:r>
            <a:r>
              <a:rPr lang="en-US" i="1" dirty="0" err="1" smtClean="0"/>
              <a:t>startId</a:t>
            </a:r>
            <a:r>
              <a:rPr lang="en-US" i="1" dirty="0" smtClean="0"/>
              <a:t>) {</a:t>
            </a:r>
            <a:r>
              <a:rPr lang="en-US" dirty="0" smtClean="0"/>
              <a:t/>
            </a:r>
            <a:br>
              <a:rPr lang="en-US" dirty="0" smtClean="0"/>
            </a:br>
            <a:r>
              <a:rPr lang="en-US" i="1" dirty="0" smtClean="0"/>
              <a:t>// Perform your background task here</a:t>
            </a:r>
            <a:r>
              <a:rPr lang="en-US" dirty="0" smtClean="0"/>
              <a:t/>
            </a:r>
            <a:br>
              <a:rPr lang="en-US" dirty="0" smtClean="0"/>
            </a:br>
            <a:r>
              <a:rPr lang="en-US" i="1" dirty="0" smtClean="0"/>
              <a:t>return START_STICKY; // Example of a sticky service</a:t>
            </a:r>
            <a:r>
              <a:rPr lang="en-US" dirty="0" smtClean="0"/>
              <a:t/>
            </a:r>
            <a:br>
              <a:rPr lang="en-US" dirty="0" smtClean="0"/>
            </a:br>
            <a:r>
              <a:rPr lang="en-US" i="1" dirty="0" smtClean="0"/>
              <a:t>} </a:t>
            </a:r>
            <a:r>
              <a:rPr lang="en-US" i="1" u="sng" dirty="0" smtClean="0">
                <a:hlinkClick r:id="rId2"/>
              </a:rPr>
              <a:t>@Override</a:t>
            </a:r>
            <a:r>
              <a:rPr lang="en-US" dirty="0" smtClean="0"/>
              <a:t/>
            </a:r>
            <a:br>
              <a:rPr lang="en-US" dirty="0" smtClean="0"/>
            </a:br>
            <a:r>
              <a:rPr lang="en-US" i="1" dirty="0" smtClean="0"/>
              <a:t>public </a:t>
            </a:r>
            <a:r>
              <a:rPr lang="en-US" i="1" dirty="0" err="1" smtClean="0"/>
              <a:t>IBinder</a:t>
            </a:r>
            <a:r>
              <a:rPr lang="en-US" i="1" dirty="0" smtClean="0"/>
              <a:t> </a:t>
            </a:r>
            <a:r>
              <a:rPr lang="en-US" i="1" dirty="0" err="1" smtClean="0"/>
              <a:t>onBind</a:t>
            </a:r>
            <a:r>
              <a:rPr lang="en-US" i="1" dirty="0" smtClean="0"/>
              <a:t>(Intent </a:t>
            </a:r>
            <a:r>
              <a:rPr lang="en-US" i="1" dirty="0" err="1" smtClean="0"/>
              <a:t>intent</a:t>
            </a:r>
            <a:r>
              <a:rPr lang="en-US" i="1" dirty="0" smtClean="0"/>
              <a:t>) {</a:t>
            </a:r>
            <a:r>
              <a:rPr lang="en-US" dirty="0" smtClean="0"/>
              <a:t/>
            </a:r>
            <a:br>
              <a:rPr lang="en-US" dirty="0" smtClean="0"/>
            </a:br>
            <a:r>
              <a:rPr lang="en-US" i="1" dirty="0" smtClean="0"/>
              <a:t>return null;</a:t>
            </a:r>
            <a:r>
              <a:rPr lang="en-US" dirty="0" smtClean="0"/>
              <a:t/>
            </a:r>
            <a:br>
              <a:rPr lang="en-US" dirty="0" smtClean="0"/>
            </a:br>
            <a:r>
              <a:rPr lang="en-US" i="1" dirty="0" smtClean="0"/>
              <a:t>}</a:t>
            </a:r>
            <a:r>
              <a:rPr lang="en-US" dirty="0" smtClean="0"/>
              <a:t/>
            </a:r>
            <a:br>
              <a:rPr lang="en-US" dirty="0" smtClean="0"/>
            </a:br>
            <a:r>
              <a:rPr lang="en-US" i="1" dirty="0" smtClean="0"/>
              <a:t>}</a:t>
            </a:r>
            <a:endParaRPr lang="en-US" dirty="0" smtClean="0">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1709" y="95368"/>
            <a:ext cx="12034925" cy="6186309"/>
          </a:xfrm>
          <a:prstGeom prst="rect">
            <a:avLst/>
          </a:prstGeom>
        </p:spPr>
        <p:txBody>
          <a:bodyPr wrap="square">
            <a:spAutoFit/>
          </a:bodyPr>
          <a:lstStyle/>
          <a:p>
            <a:pPr algn="just">
              <a:lnSpc>
                <a:spcPct val="200000"/>
              </a:lnSpc>
            </a:pPr>
            <a:r>
              <a:rPr lang="en-US" b="1" dirty="0" smtClean="0">
                <a:latin typeface="Times New Roman" pitchFamily="18" charset="0"/>
                <a:cs typeface="Times New Roman" pitchFamily="18" charset="0"/>
              </a:rPr>
              <a:t>Broadcast Receivers:(Responding To System-wide Announcements)</a:t>
            </a:r>
          </a:p>
          <a:p>
            <a:pPr algn="just">
              <a:lnSpc>
                <a:spcPct val="200000"/>
              </a:lnSpc>
            </a:pPr>
            <a:r>
              <a:rPr lang="en-US" dirty="0" smtClean="0">
                <a:latin typeface="Times New Roman" pitchFamily="18" charset="0"/>
                <a:cs typeface="Times New Roman" pitchFamily="18" charset="0"/>
              </a:rPr>
              <a:t>Broadcast receivers respond to system-wide broadcast announcements known as Intents. They act as gateways into your app through which these signals flow, serving functions such as alerting you when your device’s battery is low or indicating Wi-Fi connectivity status.</a:t>
            </a:r>
          </a:p>
          <a:p>
            <a:pPr algn="just">
              <a:lnSpc>
                <a:spcPct val="200000"/>
              </a:lnSpc>
            </a:pPr>
            <a:r>
              <a:rPr lang="en-US" dirty="0" smtClean="0">
                <a:latin typeface="Times New Roman" pitchFamily="18" charset="0"/>
                <a:cs typeface="Times New Roman" pitchFamily="18" charset="0"/>
              </a:rPr>
              <a:t>Broadcast receivers respond to system-wide events or custom broadcasts sent within the application.</a:t>
            </a:r>
          </a:p>
          <a:p>
            <a:pPr algn="just">
              <a:lnSpc>
                <a:spcPct val="200000"/>
              </a:lnSpc>
            </a:pPr>
            <a:r>
              <a:rPr lang="en-US" dirty="0" smtClean="0">
                <a:latin typeface="Times New Roman" pitchFamily="18" charset="0"/>
                <a:cs typeface="Times New Roman" pitchFamily="18" charset="0"/>
              </a:rPr>
              <a:t>They are used to perform actions based on received broadcasts.</a:t>
            </a:r>
          </a:p>
          <a:p>
            <a:pPr algn="just">
              <a:lnSpc>
                <a:spcPct val="200000"/>
              </a:lnSpc>
            </a:pPr>
            <a:r>
              <a:rPr lang="en-US" dirty="0" smtClean="0">
                <a:latin typeface="Times New Roman" pitchFamily="18" charset="0"/>
                <a:cs typeface="Times New Roman" pitchFamily="18" charset="0"/>
              </a:rPr>
              <a:t>They don’t have a UI and are typically short-lived.</a:t>
            </a:r>
          </a:p>
          <a:p>
            <a:pPr>
              <a:lnSpc>
                <a:spcPct val="200000"/>
              </a:lnSpc>
            </a:pPr>
            <a:r>
              <a:rPr lang="en-US" i="1" dirty="0" smtClean="0"/>
              <a:t>public class </a:t>
            </a:r>
            <a:r>
              <a:rPr lang="en-US" i="1" dirty="0" err="1" smtClean="0"/>
              <a:t>MyReceiver</a:t>
            </a:r>
            <a:r>
              <a:rPr lang="en-US" i="1" dirty="0" smtClean="0"/>
              <a:t> extends </a:t>
            </a:r>
            <a:r>
              <a:rPr lang="en-US" i="1" dirty="0" err="1" smtClean="0"/>
              <a:t>BroadcastReceiver</a:t>
            </a:r>
            <a:r>
              <a:rPr lang="en-US" i="1" dirty="0" smtClean="0"/>
              <a:t> {</a:t>
            </a:r>
            <a:r>
              <a:rPr lang="en-US" dirty="0" smtClean="0"/>
              <a:t/>
            </a:r>
            <a:br>
              <a:rPr lang="en-US" dirty="0" smtClean="0"/>
            </a:br>
            <a:r>
              <a:rPr lang="en-US" i="1" u="sng" dirty="0" smtClean="0">
                <a:hlinkClick r:id="rId2"/>
              </a:rPr>
              <a:t>@Override</a:t>
            </a:r>
            <a:r>
              <a:rPr lang="en-US" dirty="0" smtClean="0"/>
              <a:t/>
            </a:r>
            <a:br>
              <a:rPr lang="en-US" dirty="0" smtClean="0"/>
            </a:br>
            <a:r>
              <a:rPr lang="en-US" i="1" dirty="0" smtClean="0"/>
              <a:t>public void </a:t>
            </a:r>
            <a:r>
              <a:rPr lang="en-US" i="1" dirty="0" err="1" smtClean="0"/>
              <a:t>onReceive</a:t>
            </a:r>
            <a:r>
              <a:rPr lang="en-US" i="1" dirty="0" smtClean="0"/>
              <a:t>(Context </a:t>
            </a:r>
            <a:r>
              <a:rPr lang="en-US" i="1" dirty="0" err="1" smtClean="0"/>
              <a:t>context</a:t>
            </a:r>
            <a:r>
              <a:rPr lang="en-US" i="1" dirty="0" smtClean="0"/>
              <a:t>, Intent </a:t>
            </a:r>
            <a:r>
              <a:rPr lang="en-US" i="1" dirty="0" err="1" smtClean="0"/>
              <a:t>intent</a:t>
            </a:r>
            <a:r>
              <a:rPr lang="en-US" i="1" dirty="0" smtClean="0"/>
              <a:t>) {</a:t>
            </a:r>
            <a:r>
              <a:rPr lang="en-US" dirty="0" smtClean="0"/>
              <a:t/>
            </a:r>
            <a:br>
              <a:rPr lang="en-US" dirty="0" smtClean="0"/>
            </a:br>
            <a:r>
              <a:rPr lang="en-US" i="1" dirty="0" smtClean="0"/>
              <a:t>// Handle the received broadcast here }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4151" y="600250"/>
            <a:ext cx="10877433" cy="3970318"/>
          </a:xfrm>
          <a:prstGeom prst="rect">
            <a:avLst/>
          </a:prstGeom>
        </p:spPr>
        <p:txBody>
          <a:bodyPr wrap="square">
            <a:spAutoFit/>
          </a:bodyPr>
          <a:lstStyle/>
          <a:p>
            <a:pPr algn="just">
              <a:lnSpc>
                <a:spcPct val="200000"/>
              </a:lnSpc>
            </a:pPr>
            <a:r>
              <a:rPr lang="en-US" b="1" dirty="0" smtClean="0">
                <a:latin typeface="Times New Roman" pitchFamily="18" charset="0"/>
                <a:cs typeface="Times New Roman" pitchFamily="18" charset="0"/>
              </a:rPr>
              <a:t>Content Providers: ( Data Management Specialists)</a:t>
            </a:r>
          </a:p>
          <a:p>
            <a:pPr algn="just">
              <a:lnSpc>
                <a:spcPct val="200000"/>
              </a:lnSpc>
            </a:pPr>
            <a:r>
              <a:rPr lang="en-US" dirty="0" smtClean="0">
                <a:latin typeface="Times New Roman" pitchFamily="18" charset="0"/>
                <a:cs typeface="Times New Roman" pitchFamily="18" charset="0"/>
              </a:rPr>
              <a:t>A </a:t>
            </a:r>
            <a:r>
              <a:rPr lang="en-US" u="sng" dirty="0" smtClean="0">
                <a:latin typeface="Times New Roman" pitchFamily="18" charset="0"/>
                <a:cs typeface="Times New Roman" pitchFamily="18" charset="0"/>
                <a:hlinkClick r:id="rId2"/>
              </a:rPr>
              <a:t>content provider</a:t>
            </a:r>
            <a:r>
              <a:rPr lang="en-US" dirty="0" smtClean="0">
                <a:latin typeface="Times New Roman" pitchFamily="18" charset="0"/>
                <a:cs typeface="Times New Roman" pitchFamily="18" charset="0"/>
              </a:rPr>
              <a:t> manages access to structured sets of application data. This component allows applications to query data (including images and audio files) stored privately within their own sandboxed environment or shared across multiple applications.</a:t>
            </a:r>
          </a:p>
          <a:p>
            <a:pPr algn="just">
              <a:lnSpc>
                <a:spcPct val="200000"/>
              </a:lnSpc>
              <a:buFont typeface="Arial" pitchFamily="34" charset="0"/>
              <a:buChar char="•"/>
            </a:pPr>
            <a:r>
              <a:rPr lang="en-US" dirty="0" smtClean="0">
                <a:latin typeface="Times New Roman" pitchFamily="18" charset="0"/>
                <a:cs typeface="Times New Roman" pitchFamily="18" charset="0"/>
              </a:rPr>
              <a:t>Content providers manage shared sets of application data.</a:t>
            </a:r>
          </a:p>
          <a:p>
            <a:pPr algn="just">
              <a:lnSpc>
                <a:spcPct val="200000"/>
              </a:lnSpc>
              <a:buFont typeface="Arial" pitchFamily="34" charset="0"/>
              <a:buChar char="•"/>
            </a:pPr>
            <a:r>
              <a:rPr lang="en-US" dirty="0" smtClean="0">
                <a:latin typeface="Times New Roman" pitchFamily="18" charset="0"/>
                <a:cs typeface="Times New Roman" pitchFamily="18" charset="0"/>
              </a:rPr>
              <a:t>They are used to store and retrieve data from a central repository, such as a database.</a:t>
            </a:r>
          </a:p>
          <a:p>
            <a:pPr algn="just">
              <a:lnSpc>
                <a:spcPct val="200000"/>
              </a:lnSpc>
              <a:buFont typeface="Arial" pitchFamily="34" charset="0"/>
              <a:buChar char="•"/>
            </a:pPr>
            <a:r>
              <a:rPr lang="en-US" dirty="0" smtClean="0">
                <a:latin typeface="Times New Roman" pitchFamily="18" charset="0"/>
                <a:cs typeface="Times New Roman" pitchFamily="18" charset="0"/>
              </a:rPr>
              <a:t>They provide a standardized way of accessing data that can be shared across different applications</a:t>
            </a:r>
            <a:r>
              <a:rPr lang="en-US" dirty="0" smtClean="0"/>
              <a:t>.</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4881" y="824643"/>
            <a:ext cx="10933531" cy="5078313"/>
          </a:xfrm>
          <a:prstGeom prst="rect">
            <a:avLst/>
          </a:prstGeom>
        </p:spPr>
        <p:txBody>
          <a:bodyPr wrap="square">
            <a:spAutoFit/>
          </a:bodyPr>
          <a:lstStyle/>
          <a:p>
            <a:endParaRPr lang="en-US" i="1" dirty="0" smtClean="0">
              <a:latin typeface="Times New Roman" pitchFamily="18" charset="0"/>
              <a:cs typeface="Times New Roman" pitchFamily="18" charset="0"/>
            </a:endParaRPr>
          </a:p>
          <a:p>
            <a:endParaRPr lang="en-US" i="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Content Providers:</a:t>
            </a:r>
            <a:endParaRPr lang="en-US" i="1" dirty="0" smtClean="0">
              <a:latin typeface="Times New Roman" pitchFamily="18" charset="0"/>
              <a:cs typeface="Times New Roman" pitchFamily="18" charset="0"/>
            </a:endParaRPr>
          </a:p>
          <a:p>
            <a:r>
              <a:rPr lang="en-US" i="1" dirty="0" smtClean="0">
                <a:latin typeface="Times New Roman" pitchFamily="18" charset="0"/>
                <a:cs typeface="Times New Roman" pitchFamily="18" charset="0"/>
              </a:rPr>
              <a:t>public class </a:t>
            </a:r>
            <a:r>
              <a:rPr lang="en-US" i="1" dirty="0" err="1" smtClean="0">
                <a:latin typeface="Times New Roman" pitchFamily="18" charset="0"/>
                <a:cs typeface="Times New Roman" pitchFamily="18" charset="0"/>
              </a:rPr>
              <a:t>MyContentProvider</a:t>
            </a:r>
            <a:r>
              <a:rPr lang="en-US" i="1" dirty="0" smtClean="0">
                <a:latin typeface="Times New Roman" pitchFamily="18" charset="0"/>
                <a:cs typeface="Times New Roman" pitchFamily="18" charset="0"/>
              </a:rPr>
              <a:t> extends </a:t>
            </a:r>
            <a:r>
              <a:rPr lang="en-US" i="1" dirty="0" err="1" smtClean="0">
                <a:latin typeface="Times New Roman" pitchFamily="18" charset="0"/>
                <a:cs typeface="Times New Roman" pitchFamily="18" charset="0"/>
              </a:rPr>
              <a:t>ContentProvider</a:t>
            </a:r>
            <a:r>
              <a:rPr lang="en-US" i="1" dirty="0" smtClean="0">
                <a:latin typeface="Times New Roman" pitchFamily="18" charset="0"/>
                <a:cs typeface="Times New Roman" pitchFamily="18" charset="0"/>
              </a:rPr>
              <a:t> </a:t>
            </a:r>
          </a:p>
          <a:p>
            <a:r>
              <a:rPr lang="en-US" i="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i="1" u="sng" dirty="0" smtClean="0">
                <a:latin typeface="Times New Roman" pitchFamily="18" charset="0"/>
                <a:cs typeface="Times New Roman" pitchFamily="18" charset="0"/>
                <a:hlinkClick r:id="rId2"/>
              </a:rPr>
              <a:t>@Override</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i="1" dirty="0" smtClean="0">
                <a:latin typeface="Times New Roman" pitchFamily="18" charset="0"/>
                <a:cs typeface="Times New Roman" pitchFamily="18" charset="0"/>
              </a:rPr>
              <a:t>public </a:t>
            </a:r>
            <a:r>
              <a:rPr lang="en-US" i="1" dirty="0" err="1" smtClean="0">
                <a:latin typeface="Times New Roman" pitchFamily="18" charset="0"/>
                <a:cs typeface="Times New Roman" pitchFamily="18" charset="0"/>
              </a:rPr>
              <a:t>boolean</a:t>
            </a:r>
            <a:r>
              <a:rPr lang="en-US" i="1" dirty="0" smtClean="0">
                <a:latin typeface="Times New Roman" pitchFamily="18" charset="0"/>
                <a:cs typeface="Times New Roman" pitchFamily="18" charset="0"/>
              </a:rPr>
              <a:t> </a:t>
            </a:r>
            <a:r>
              <a:rPr lang="en-US" i="1" dirty="0" err="1" smtClean="0">
                <a:latin typeface="Times New Roman" pitchFamily="18" charset="0"/>
                <a:cs typeface="Times New Roman" pitchFamily="18" charset="0"/>
              </a:rPr>
              <a:t>onCreate</a:t>
            </a:r>
            <a:r>
              <a:rPr lang="en-US" i="1" dirty="0" smtClean="0">
                <a:latin typeface="Times New Roman" pitchFamily="18" charset="0"/>
                <a:cs typeface="Times New Roman" pitchFamily="18" charset="0"/>
              </a:rPr>
              <a:t>()</a:t>
            </a:r>
          </a:p>
          <a:p>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t>
            </a:r>
            <a:r>
              <a:rPr lang="en-US" b="1" i="1" dirty="0" smtClean="0">
                <a:latin typeface="Times New Roman" pitchFamily="18" charset="0"/>
                <a:cs typeface="Times New Roman" pitchFamily="18" charset="0"/>
              </a:rPr>
              <a:t>// Initialize your content provider here</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i="1" dirty="0" smtClean="0">
                <a:latin typeface="Times New Roman" pitchFamily="18" charset="0"/>
                <a:cs typeface="Times New Roman" pitchFamily="18" charset="0"/>
              </a:rPr>
              <a:t>return true;</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i="1" dirty="0" smtClean="0">
                <a:latin typeface="Times New Roman" pitchFamily="18" charset="0"/>
                <a:cs typeface="Times New Roman" pitchFamily="18" charset="0"/>
              </a:rPr>
              <a:t>}</a:t>
            </a:r>
            <a:r>
              <a:rPr lang="en-US" i="1" u="sng" dirty="0" smtClean="0">
                <a:latin typeface="Times New Roman" pitchFamily="18" charset="0"/>
                <a:cs typeface="Times New Roman" pitchFamily="18" charset="0"/>
                <a:hlinkClick r:id="rId2"/>
              </a:rPr>
              <a:t>@Override</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i="1" dirty="0" smtClean="0">
                <a:latin typeface="Times New Roman" pitchFamily="18" charset="0"/>
                <a:cs typeface="Times New Roman" pitchFamily="18" charset="0"/>
              </a:rPr>
              <a:t>public Cursor query(Uri </a:t>
            </a:r>
            <a:r>
              <a:rPr lang="en-US" i="1" dirty="0" err="1" smtClean="0">
                <a:latin typeface="Times New Roman" pitchFamily="18" charset="0"/>
                <a:cs typeface="Times New Roman" pitchFamily="18" charset="0"/>
              </a:rPr>
              <a:t>uri</a:t>
            </a:r>
            <a:r>
              <a:rPr lang="en-US" i="1" dirty="0" smtClean="0">
                <a:latin typeface="Times New Roman" pitchFamily="18" charset="0"/>
                <a:cs typeface="Times New Roman" pitchFamily="18" charset="0"/>
              </a:rPr>
              <a:t>, String[] projection, String selection, String[] </a:t>
            </a:r>
            <a:r>
              <a:rPr lang="en-US" i="1" dirty="0" err="1" smtClean="0">
                <a:latin typeface="Times New Roman" pitchFamily="18" charset="0"/>
                <a:cs typeface="Times New Roman" pitchFamily="18" charset="0"/>
              </a:rPr>
              <a:t>selectionArgs</a:t>
            </a:r>
            <a:r>
              <a:rPr lang="en-US" i="1" dirty="0" smtClean="0">
                <a:latin typeface="Times New Roman" pitchFamily="18" charset="0"/>
                <a:cs typeface="Times New Roman" pitchFamily="18" charset="0"/>
              </a:rPr>
              <a:t>, String </a:t>
            </a:r>
            <a:r>
              <a:rPr lang="en-US" i="1" dirty="0" err="1" smtClean="0">
                <a:latin typeface="Times New Roman" pitchFamily="18" charset="0"/>
                <a:cs typeface="Times New Roman" pitchFamily="18" charset="0"/>
              </a:rPr>
              <a:t>sortOrder</a:t>
            </a:r>
            <a:r>
              <a:rPr lang="en-US" i="1" dirty="0" smtClean="0">
                <a:latin typeface="Times New Roman" pitchFamily="18" charset="0"/>
                <a:cs typeface="Times New Roman" pitchFamily="18" charset="0"/>
              </a:rPr>
              <a:t>)</a:t>
            </a:r>
          </a:p>
          <a:p>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t>
            </a:r>
            <a:r>
              <a:rPr lang="en-US" b="1" i="1" dirty="0" smtClean="0">
                <a:latin typeface="Times New Roman" pitchFamily="18" charset="0"/>
                <a:cs typeface="Times New Roman" pitchFamily="18" charset="0"/>
              </a:rPr>
              <a:t>// Perform a query on the underlying data source</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i="1" dirty="0" smtClean="0">
                <a:latin typeface="Times New Roman" pitchFamily="18" charset="0"/>
                <a:cs typeface="Times New Roman" pitchFamily="18" charset="0"/>
              </a:rPr>
              <a:t>return null;</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b="1" i="1" dirty="0" smtClean="0">
                <a:latin typeface="Times New Roman" pitchFamily="18" charset="0"/>
                <a:cs typeface="Times New Roman" pitchFamily="18" charset="0"/>
              </a:rPr>
              <a:t>}// Other </a:t>
            </a:r>
            <a:r>
              <a:rPr lang="en-US" b="1" i="1" dirty="0" err="1" smtClean="0">
                <a:latin typeface="Times New Roman" pitchFamily="18" charset="0"/>
                <a:cs typeface="Times New Roman" pitchFamily="18" charset="0"/>
              </a:rPr>
              <a:t>ContentProvider</a:t>
            </a:r>
            <a:r>
              <a:rPr lang="en-US" b="1" i="1" dirty="0" smtClean="0">
                <a:latin typeface="Times New Roman" pitchFamily="18" charset="0"/>
                <a:cs typeface="Times New Roman" pitchFamily="18" charset="0"/>
              </a:rPr>
              <a:t> methods (insert, update, delete) omitted for brevity</a:t>
            </a:r>
          </a:p>
          <a:p>
            <a:endParaRPr lang="en-US" i="1" dirty="0" smtClean="0">
              <a:latin typeface="Times New Roman" pitchFamily="18" charset="0"/>
              <a:cs typeface="Times New Roman" pitchFamily="18" charset="0"/>
            </a:endParaRPr>
          </a:p>
          <a:p>
            <a:r>
              <a:rPr lang="en-US" i="1"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BEAD03B-4013-27DB-3DAB-982895F1C09C}"/>
              </a:ext>
            </a:extLst>
          </p:cNvPr>
          <p:cNvSpPr>
            <a:spLocks noChangeArrowheads="1"/>
          </p:cNvSpPr>
          <p:nvPr/>
        </p:nvSpPr>
        <p:spPr bwMode="auto">
          <a:xfrm>
            <a:off x="486545" y="840038"/>
            <a:ext cx="11008770" cy="56323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r>
              <a:rPr lang="en-US" sz="2400" b="1" dirty="0" smtClean="0"/>
              <a:t>Activity  and Its Life Cycle:</a:t>
            </a:r>
            <a:endParaRPr lang="en-US" sz="2400" b="1" dirty="0"/>
          </a:p>
          <a:p>
            <a:pPr algn="just"/>
            <a:endParaRPr lang="en-US" dirty="0"/>
          </a:p>
          <a:p>
            <a:pPr algn="just">
              <a:lnSpc>
                <a:spcPct val="200000"/>
              </a:lnSpc>
            </a:pPr>
            <a:r>
              <a:rPr lang="en-US" dirty="0"/>
              <a:t>Activities are said to be the presentation layer of our applications. The UI of our application is built around one or more extensions of the Activity class. </a:t>
            </a:r>
          </a:p>
          <a:p>
            <a:pPr algn="just">
              <a:lnSpc>
                <a:spcPct val="200000"/>
              </a:lnSpc>
            </a:pPr>
            <a:endParaRPr lang="en-US" dirty="0"/>
          </a:p>
          <a:p>
            <a:pPr algn="just">
              <a:lnSpc>
                <a:spcPct val="200000"/>
              </a:lnSpc>
            </a:pPr>
            <a:r>
              <a:rPr lang="en-US" dirty="0"/>
              <a:t>An activity is the entry point for interacting with the user. Every activity contains the layout, which has a user interface to interact with the user. An activity is implemented as a subclass of class Activity. </a:t>
            </a:r>
          </a:p>
          <a:p>
            <a:pPr algn="just">
              <a:lnSpc>
                <a:spcPct val="200000"/>
              </a:lnSpc>
            </a:pPr>
            <a:r>
              <a:rPr lang="en-US" dirty="0"/>
              <a:t>Layout for a particular activity is set with the help of </a:t>
            </a:r>
            <a:r>
              <a:rPr lang="en-US" b="1" dirty="0" err="1"/>
              <a:t>setContentView</a:t>
            </a:r>
            <a:r>
              <a:rPr lang="en-US" b="1" dirty="0"/>
              <a:t>()</a:t>
            </a:r>
            <a:r>
              <a:rPr lang="en-US" dirty="0"/>
              <a:t>.</a:t>
            </a:r>
            <a:r>
              <a:rPr lang="en-US" b="1" dirty="0"/>
              <a:t> </a:t>
            </a:r>
            <a:r>
              <a:rPr lang="en-US" b="1" dirty="0" err="1"/>
              <a:t>setContentView</a:t>
            </a:r>
            <a:r>
              <a:rPr lang="en-US" b="1" dirty="0"/>
              <a:t>()</a:t>
            </a:r>
            <a:r>
              <a:rPr lang="en-US" dirty="0"/>
              <a:t> is a function that takes </a:t>
            </a:r>
            <a:r>
              <a:rPr lang="en-US" b="1" dirty="0"/>
              <a:t>View</a:t>
            </a:r>
            <a:r>
              <a:rPr lang="en-US" dirty="0"/>
              <a:t> as a parameter. The view parameter basically contains the layout file for that activity.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public class </a:t>
            </a:r>
            <a:r>
              <a:rPr lang="en-US" altLang="en-US" b="1" dirty="0" err="1"/>
              <a:t>MainActivity</a:t>
            </a:r>
            <a:r>
              <a:rPr lang="en-US" altLang="en-US" b="1" dirty="0"/>
              <a:t> extends Activity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a:t>
            </a:r>
          </a:p>
        </p:txBody>
      </p:sp>
    </p:spTree>
    <p:extLst>
      <p:ext uri="{BB962C8B-B14F-4D97-AF65-F5344CB8AC3E}">
        <p14:creationId xmlns="" xmlns:p14="http://schemas.microsoft.com/office/powerpoint/2010/main" val="20876181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7078" y="369876"/>
            <a:ext cx="10535234" cy="5859553"/>
          </a:xfrm>
          <a:prstGeom prst="rect">
            <a:avLst/>
          </a:prstGeom>
        </p:spPr>
        <p:txBody>
          <a:bodyPr wrap="square">
            <a:spAutoFit/>
          </a:bodyPr>
          <a:lstStyle/>
          <a:p>
            <a:pPr algn="just">
              <a:lnSpc>
                <a:spcPct val="150000"/>
              </a:lnSpc>
            </a:pPr>
            <a:r>
              <a:rPr lang="en-US" dirty="0" smtClean="0">
                <a:latin typeface="Times New Roman" pitchFamily="18" charset="0"/>
                <a:cs typeface="Times New Roman" pitchFamily="18" charset="0"/>
              </a:rPr>
              <a:t>Activity class is one of the very important parts of the </a:t>
            </a:r>
            <a:r>
              <a:rPr lang="en-US" b="1" u="sng" dirty="0" smtClean="0">
                <a:latin typeface="Times New Roman" pitchFamily="18" charset="0"/>
                <a:cs typeface="Times New Roman" pitchFamily="18" charset="0"/>
                <a:hlinkClick r:id="rId2"/>
              </a:rPr>
              <a:t>Android Component</a:t>
            </a:r>
            <a:r>
              <a:rPr lang="en-US" dirty="0" smtClean="0">
                <a:latin typeface="Times New Roman" pitchFamily="18" charset="0"/>
                <a:cs typeface="Times New Roman" pitchFamily="18" charset="0"/>
              </a:rPr>
              <a:t>. Any app, don't matter how small it is (in terms of code and scalability), has at least one Activity class. </a:t>
            </a:r>
          </a:p>
          <a:p>
            <a:pPr algn="just">
              <a:lnSpc>
                <a:spcPct val="150000"/>
              </a:lnSpc>
            </a:pPr>
            <a:endParaRPr lang="en-US" dirty="0" smtClean="0">
              <a:latin typeface="Times New Roman" pitchFamily="18" charset="0"/>
              <a:cs typeface="Times New Roman" pitchFamily="18" charset="0"/>
            </a:endParaRPr>
          </a:p>
          <a:p>
            <a:pPr algn="just">
              <a:lnSpc>
                <a:spcPct val="150000"/>
              </a:lnSpc>
            </a:pPr>
            <a:r>
              <a:rPr lang="en-US" dirty="0" smtClean="0">
                <a:latin typeface="Times New Roman" pitchFamily="18" charset="0"/>
                <a:cs typeface="Times New Roman" pitchFamily="18" charset="0"/>
              </a:rPr>
              <a:t>Unlike most programming languages, in which the </a:t>
            </a:r>
            <a:r>
              <a:rPr lang="en-US" b="1" dirty="0" smtClean="0">
                <a:latin typeface="Times New Roman" pitchFamily="18" charset="0"/>
                <a:cs typeface="Times New Roman" pitchFamily="18" charset="0"/>
              </a:rPr>
              <a:t>main()</a:t>
            </a:r>
            <a:r>
              <a:rPr lang="en-US" dirty="0" smtClean="0">
                <a:latin typeface="Times New Roman" pitchFamily="18" charset="0"/>
                <a:cs typeface="Times New Roman" pitchFamily="18" charset="0"/>
              </a:rPr>
              <a:t> method is the entry point for that program or application to start its execution, the android operating system initiates the code in an Activity instance by invoking specific callback methods that correspond to specific stages of its</a:t>
            </a:r>
            <a:r>
              <a:rPr lang="en-US" u="sng" dirty="0" smtClean="0">
                <a:latin typeface="Times New Roman" pitchFamily="18" charset="0"/>
                <a:cs typeface="Times New Roman" pitchFamily="18" charset="0"/>
                <a:hlinkClick r:id="rId3"/>
              </a:rPr>
              <a:t> </a:t>
            </a:r>
            <a:r>
              <a:rPr lang="en-US" b="1" u="sng" dirty="0" smtClean="0">
                <a:latin typeface="Times New Roman" pitchFamily="18" charset="0"/>
                <a:cs typeface="Times New Roman" pitchFamily="18" charset="0"/>
                <a:hlinkClick r:id="rId3"/>
              </a:rPr>
              <a:t>Lifecycle</a:t>
            </a:r>
            <a:r>
              <a:rPr lang="en-US" u="sng" dirty="0" smtClean="0">
                <a:latin typeface="Times New Roman" pitchFamily="18" charset="0"/>
                <a:cs typeface="Times New Roman" pitchFamily="18" charset="0"/>
                <a:hlinkClick r:id="rId3"/>
              </a:rPr>
              <a:t>.</a:t>
            </a:r>
            <a:r>
              <a:rPr lang="en-US" dirty="0" smtClean="0">
                <a:latin typeface="Times New Roman" pitchFamily="18" charset="0"/>
                <a:cs typeface="Times New Roman" pitchFamily="18" charset="0"/>
              </a:rPr>
              <a:t> So it can be said that An activity is the entry point for interacting with the user.</a:t>
            </a:r>
          </a:p>
          <a:p>
            <a:pPr algn="just">
              <a:lnSpc>
                <a:spcPct val="150000"/>
              </a:lnSpc>
            </a:pPr>
            <a:endParaRPr lang="en-US" dirty="0" smtClean="0">
              <a:latin typeface="Times New Roman" pitchFamily="18" charset="0"/>
              <a:cs typeface="Times New Roman" pitchFamily="18" charset="0"/>
            </a:endParaRPr>
          </a:p>
          <a:p>
            <a:pPr algn="just">
              <a:lnSpc>
                <a:spcPct val="150000"/>
              </a:lnSpc>
            </a:pPr>
            <a:r>
              <a:rPr lang="en-US" dirty="0" smtClean="0">
                <a:latin typeface="Times New Roman" pitchFamily="18" charset="0"/>
                <a:cs typeface="Times New Roman" pitchFamily="18" charset="0"/>
              </a:rPr>
              <a:t> Every activity contains the layout, which has a user interface to interact with the user. As we know that every activity contains a layout associated with it, so it can be said that the activity class is the gateway, through which a user can interact programmatically with the UI. </a:t>
            </a:r>
          </a:p>
          <a:p>
            <a:pPr algn="just">
              <a:lnSpc>
                <a:spcPct val="150000"/>
              </a:lnSpc>
            </a:pPr>
            <a:endParaRPr lang="en-US" dirty="0" smtClean="0">
              <a:latin typeface="Times New Roman" pitchFamily="18" charset="0"/>
              <a:cs typeface="Times New Roman" pitchFamily="18" charset="0"/>
            </a:endParaRPr>
          </a:p>
          <a:p>
            <a:pPr algn="just">
              <a:lnSpc>
                <a:spcPct val="150000"/>
              </a:lnSpc>
            </a:pPr>
            <a:r>
              <a:rPr lang="en-US" dirty="0" smtClean="0">
                <a:latin typeface="Times New Roman" pitchFamily="18" charset="0"/>
                <a:cs typeface="Times New Roman" pitchFamily="18" charset="0"/>
              </a:rPr>
              <a:t>Layout for a particular activity is set with the help of </a:t>
            </a:r>
            <a:r>
              <a:rPr lang="en-US" b="1" dirty="0" err="1" smtClean="0">
                <a:latin typeface="Times New Roman" pitchFamily="18" charset="0"/>
                <a:cs typeface="Times New Roman" pitchFamily="18" charset="0"/>
              </a:rPr>
              <a:t>setContentView</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setContentView</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is a function that takes </a:t>
            </a:r>
            <a:r>
              <a:rPr lang="en-US" b="1" dirty="0" smtClean="0">
                <a:latin typeface="Times New Roman" pitchFamily="18" charset="0"/>
                <a:cs typeface="Times New Roman" pitchFamily="18" charset="0"/>
              </a:rPr>
              <a:t>View</a:t>
            </a:r>
            <a:r>
              <a:rPr lang="en-US" dirty="0" smtClean="0">
                <a:latin typeface="Times New Roman" pitchFamily="18" charset="0"/>
                <a:cs typeface="Times New Roman" pitchFamily="18" charset="0"/>
              </a:rPr>
              <a:t> as a parameter. The view parameter basically contains the layout file for that activity</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5617" y="639519"/>
            <a:ext cx="10007912" cy="5909310"/>
          </a:xfrm>
          <a:prstGeom prst="rect">
            <a:avLst/>
          </a:prstGeom>
        </p:spPr>
        <p:txBody>
          <a:bodyPr wrap="square">
            <a:spAutoFit/>
          </a:bodyPr>
          <a:lstStyle/>
          <a:p>
            <a:pPr algn="just"/>
            <a:r>
              <a:rPr lang="en-US" dirty="0" smtClean="0">
                <a:latin typeface="Times New Roman" pitchFamily="18" charset="0"/>
                <a:cs typeface="Times New Roman" pitchFamily="18" charset="0"/>
              </a:rPr>
              <a:t>There are two methods almost all subclasses of Activity will implement:</a:t>
            </a:r>
          </a:p>
          <a:p>
            <a:pPr algn="just" fontAlgn="base"/>
            <a:r>
              <a:rPr lang="en-US" b="1" dirty="0" err="1" smtClean="0">
                <a:latin typeface="Times New Roman" pitchFamily="18" charset="0"/>
                <a:cs typeface="Times New Roman" pitchFamily="18" charset="0"/>
              </a:rPr>
              <a:t>onCreate</a:t>
            </a:r>
            <a:r>
              <a:rPr lang="en-US" b="1"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algn="just" fontAlgn="base"/>
            <a:r>
              <a:rPr lang="en-US" b="1" dirty="0" err="1" smtClean="0">
                <a:latin typeface="Times New Roman" pitchFamily="18" charset="0"/>
                <a:cs typeface="Times New Roman" pitchFamily="18" charset="0"/>
              </a:rPr>
              <a:t>onPause</a:t>
            </a:r>
            <a:r>
              <a:rPr lang="en-US" b="1"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marL="342900" indent="-342900" algn="just" fontAlgn="base">
              <a:buAutoNum type="arabicPeriod"/>
            </a:pPr>
            <a:r>
              <a:rPr lang="en-US" b="1" dirty="0" err="1" smtClean="0">
                <a:latin typeface="Times New Roman" pitchFamily="18" charset="0"/>
                <a:cs typeface="Times New Roman" pitchFamily="18" charset="0"/>
              </a:rPr>
              <a:t>onCreate</a:t>
            </a:r>
            <a:r>
              <a:rPr lang="en-US" b="1" dirty="0" smtClean="0">
                <a:latin typeface="Times New Roman" pitchFamily="18" charset="0"/>
                <a:cs typeface="Times New Roman" pitchFamily="18" charset="0"/>
              </a:rPr>
              <a:t>() Method</a:t>
            </a:r>
          </a:p>
          <a:p>
            <a:pPr marL="342900" indent="-342900" algn="just" fontAlgn="base">
              <a:buAutoNum type="arabicPeriod"/>
            </a:pPr>
            <a:endParaRPr lang="en-US" b="1" dirty="0" smtClean="0">
              <a:latin typeface="Times New Roman" pitchFamily="18" charset="0"/>
              <a:cs typeface="Times New Roman" pitchFamily="18" charset="0"/>
            </a:endParaRPr>
          </a:p>
          <a:p>
            <a:pPr marL="342900" indent="-342900" algn="just" fontAlgn="base">
              <a:buAutoNum type="arabicPeriod"/>
            </a:pPr>
            <a:endParaRPr lang="en-US" b="1" dirty="0" smtClean="0">
              <a:latin typeface="Times New Roman" pitchFamily="18" charset="0"/>
              <a:cs typeface="Times New Roman" pitchFamily="18" charset="0"/>
            </a:endParaRPr>
          </a:p>
          <a:p>
            <a:pPr marL="342900" indent="-342900" algn="just" fontAlgn="base"/>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onCreate</a:t>
            </a:r>
            <a:r>
              <a:rPr lang="en-US" b="1" dirty="0" smtClean="0">
                <a:latin typeface="Times New Roman" pitchFamily="18" charset="0"/>
                <a:cs typeface="Times New Roman" pitchFamily="18" charset="0"/>
              </a:rPr>
              <a:t>(Bundle) method</a:t>
            </a:r>
            <a:r>
              <a:rPr lang="en-US" dirty="0" smtClean="0">
                <a:latin typeface="Times New Roman" pitchFamily="18" charset="0"/>
                <a:cs typeface="Times New Roman" pitchFamily="18" charset="0"/>
              </a:rPr>
              <a:t> is the place, where the user initializes the activity. This method is called when the activity is starting. This is the method that is used to initialize most of the things in the android app. </a:t>
            </a:r>
            <a:r>
              <a:rPr lang="en-US" b="1" dirty="0" err="1" smtClean="0">
                <a:latin typeface="Times New Roman" pitchFamily="18" charset="0"/>
                <a:cs typeface="Times New Roman" pitchFamily="18" charset="0"/>
              </a:rPr>
              <a:t>onCreate</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method takes </a:t>
            </a:r>
            <a:r>
              <a:rPr lang="en-US" b="1" dirty="0" err="1" smtClean="0">
                <a:latin typeface="Times New Roman" pitchFamily="18" charset="0"/>
                <a:cs typeface="Times New Roman" pitchFamily="18" charset="0"/>
              </a:rPr>
              <a:t>savedInstanceState</a:t>
            </a:r>
            <a:r>
              <a:rPr lang="en-US" dirty="0" smtClean="0">
                <a:latin typeface="Times New Roman" pitchFamily="18" charset="0"/>
                <a:cs typeface="Times New Roman" pitchFamily="18" charset="0"/>
              </a:rPr>
              <a:t> as the parameter, which the object of type Bundle, </a:t>
            </a:r>
            <a:r>
              <a:rPr lang="en-US" dirty="0" err="1" smtClean="0">
                <a:latin typeface="Times New Roman" pitchFamily="18" charset="0"/>
                <a:cs typeface="Times New Roman" pitchFamily="18" charset="0"/>
              </a:rPr>
              <a:t>i.e</a:t>
            </a:r>
            <a:r>
              <a:rPr lang="en-US" dirty="0" smtClean="0">
                <a:latin typeface="Times New Roman" pitchFamily="18" charset="0"/>
                <a:cs typeface="Times New Roman" pitchFamily="18" charset="0"/>
              </a:rPr>
              <a:t> Bundle Object which contains the previously saved data of the activity. If the activity is newly created then the bundle won't be saving any data of the activity and would contain the null value.</a:t>
            </a:r>
          </a:p>
          <a:p>
            <a:pPr marL="342900" indent="-342900" algn="just" fontAlgn="base"/>
            <a:endParaRPr lang="en-US" dirty="0" smtClean="0">
              <a:latin typeface="Times New Roman" pitchFamily="18" charset="0"/>
              <a:cs typeface="Times New Roman" pitchFamily="18" charset="0"/>
            </a:endParaRPr>
          </a:p>
          <a:p>
            <a:pPr marL="342900" indent="-342900" algn="just" fontAlgn="base"/>
            <a:r>
              <a:rPr lang="en-US" b="1" dirty="0" smtClean="0"/>
              <a:t>	</a:t>
            </a:r>
            <a:r>
              <a:rPr lang="en-US" b="1" dirty="0" err="1" smtClean="0">
                <a:latin typeface="Times New Roman" pitchFamily="18" charset="0"/>
                <a:cs typeface="Times New Roman" pitchFamily="18" charset="0"/>
              </a:rPr>
              <a:t>onCreate</a:t>
            </a:r>
            <a:r>
              <a:rPr lang="en-US" b="1" dirty="0" smtClean="0">
                <a:latin typeface="Times New Roman" pitchFamily="18" charset="0"/>
                <a:cs typeface="Times New Roman" pitchFamily="18" charset="0"/>
              </a:rPr>
              <a:t>() method</a:t>
            </a:r>
            <a:r>
              <a:rPr lang="en-US" dirty="0" smtClean="0">
                <a:latin typeface="Times New Roman" pitchFamily="18" charset="0"/>
                <a:cs typeface="Times New Roman" pitchFamily="18" charset="0"/>
              </a:rPr>
              <a:t> calls the </a:t>
            </a:r>
            <a:r>
              <a:rPr lang="en-US" b="1" dirty="0" err="1" smtClean="0">
                <a:latin typeface="Times New Roman" pitchFamily="18" charset="0"/>
                <a:cs typeface="Times New Roman" pitchFamily="18" charset="0"/>
              </a:rPr>
              <a:t>setContentView</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method to set the view corresponding to the activity. By default in any android application, </a:t>
            </a:r>
            <a:r>
              <a:rPr lang="en-US" dirty="0" err="1" smtClean="0">
                <a:latin typeface="Times New Roman" pitchFamily="18" charset="0"/>
                <a:cs typeface="Times New Roman" pitchFamily="18" charset="0"/>
              </a:rPr>
              <a:t>setContentView</a:t>
            </a:r>
            <a:r>
              <a:rPr lang="en-US" dirty="0" smtClean="0">
                <a:latin typeface="Times New Roman" pitchFamily="18" charset="0"/>
                <a:cs typeface="Times New Roman" pitchFamily="18" charset="0"/>
              </a:rPr>
              <a:t> point to activity_main.xml file, which is the layout file corresponding to </a:t>
            </a:r>
            <a:r>
              <a:rPr lang="en-US" dirty="0" err="1" smtClean="0">
                <a:latin typeface="Times New Roman" pitchFamily="18" charset="0"/>
                <a:cs typeface="Times New Roman" pitchFamily="18" charset="0"/>
              </a:rPr>
              <a:t>MainActivity</a:t>
            </a:r>
            <a:r>
              <a:rPr lang="en-US" dirty="0" smtClean="0">
                <a:latin typeface="Times New Roman" pitchFamily="18" charset="0"/>
                <a:cs typeface="Times New Roman" pitchFamily="18" charset="0"/>
              </a:rPr>
              <a:t>. The </a:t>
            </a:r>
            <a:r>
              <a:rPr lang="en-US" dirty="0" err="1" smtClean="0">
                <a:latin typeface="Times New Roman" pitchFamily="18" charset="0"/>
                <a:cs typeface="Times New Roman" pitchFamily="18" charset="0"/>
              </a:rPr>
              <a:t>onCreate</a:t>
            </a:r>
            <a:r>
              <a:rPr lang="en-US" dirty="0" smtClean="0">
                <a:latin typeface="Times New Roman" pitchFamily="18" charset="0"/>
                <a:cs typeface="Times New Roman" pitchFamily="18" charset="0"/>
              </a:rPr>
              <a:t> method uses the </a:t>
            </a:r>
            <a:r>
              <a:rPr lang="en-US" b="1" dirty="0" err="1" smtClean="0">
                <a:latin typeface="Times New Roman" pitchFamily="18" charset="0"/>
                <a:cs typeface="Times New Roman" pitchFamily="18" charset="0"/>
              </a:rPr>
              <a:t>findViewById</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method so that the user can interact programmatically with the widgets in android and then customize them according to need.</a:t>
            </a:r>
          </a:p>
          <a:p>
            <a:pPr marL="342900" indent="-342900" algn="just" fontAlgn="base"/>
            <a:endParaRPr lang="en-US" dirty="0" smtClean="0">
              <a:latin typeface="Times New Roman" pitchFamily="18" charset="0"/>
              <a:cs typeface="Times New Roman" pitchFamily="18" charset="0"/>
            </a:endParaRPr>
          </a:p>
          <a:p>
            <a:pPr marL="342900" indent="-342900" fontAlgn="base"/>
            <a:endParaRPr lang="en-US" b="1" dirty="0" smtClean="0"/>
          </a:p>
          <a:p>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5D0CC02-B79E-48EE-6F84-3703A05F5645}"/>
              </a:ext>
            </a:extLst>
          </p:cNvPr>
          <p:cNvSpPr txBox="1"/>
          <p:nvPr/>
        </p:nvSpPr>
        <p:spPr>
          <a:xfrm>
            <a:off x="619067" y="539554"/>
            <a:ext cx="11572934" cy="590931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import </a:t>
            </a:r>
            <a:r>
              <a:rPr lang="en-IN" b="1" dirty="0" err="1">
                <a:latin typeface="Times New Roman" panose="02020603050405020304" pitchFamily="18" charset="0"/>
                <a:cs typeface="Times New Roman" panose="02020603050405020304" pitchFamily="18" charset="0"/>
              </a:rPr>
              <a:t>androidx.appcompat.app.AppCompatActivity</a:t>
            </a:r>
            <a:r>
              <a:rPr lang="en-IN" b="1" dirty="0">
                <a:latin typeface="Times New Roman" panose="02020603050405020304" pitchFamily="18" charset="0"/>
                <a:cs typeface="Times New Roman" panose="02020603050405020304" pitchFamily="18" charset="0"/>
              </a:rPr>
              <a:t>;</a:t>
            </a:r>
          </a:p>
          <a:p>
            <a:r>
              <a:rPr lang="en-IN" b="1" dirty="0">
                <a:latin typeface="Times New Roman" panose="02020603050405020304" pitchFamily="18" charset="0"/>
                <a:cs typeface="Times New Roman" panose="02020603050405020304" pitchFamily="18" charset="0"/>
              </a:rPr>
              <a:t>import </a:t>
            </a:r>
            <a:r>
              <a:rPr lang="en-IN" b="1" dirty="0" err="1">
                <a:latin typeface="Times New Roman" panose="02020603050405020304" pitchFamily="18" charset="0"/>
                <a:cs typeface="Times New Roman" panose="02020603050405020304" pitchFamily="18" charset="0"/>
              </a:rPr>
              <a:t>android.os.Bundle</a:t>
            </a:r>
            <a:r>
              <a:rPr lang="en-IN" b="1"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public class </a:t>
            </a:r>
            <a:r>
              <a:rPr lang="en-IN" dirty="0" err="1">
                <a:latin typeface="Times New Roman" panose="02020603050405020304" pitchFamily="18" charset="0"/>
                <a:cs typeface="Times New Roman" panose="02020603050405020304" pitchFamily="18" charset="0"/>
              </a:rPr>
              <a:t>MainActivity</a:t>
            </a:r>
            <a:r>
              <a:rPr lang="en-IN" dirty="0">
                <a:latin typeface="Times New Roman" panose="02020603050405020304" pitchFamily="18" charset="0"/>
                <a:cs typeface="Times New Roman" panose="02020603050405020304" pitchFamily="18" charset="0"/>
              </a:rPr>
              <a:t> extends </a:t>
            </a:r>
            <a:r>
              <a:rPr lang="en-IN" dirty="0" err="1">
                <a:latin typeface="Times New Roman" panose="02020603050405020304" pitchFamily="18" charset="0"/>
                <a:cs typeface="Times New Roman" panose="02020603050405020304" pitchFamily="18" charset="0"/>
              </a:rPr>
              <a:t>AppCompatActivity</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@Override</a:t>
            </a:r>
          </a:p>
          <a:p>
            <a:r>
              <a:rPr lang="en-IN" dirty="0">
                <a:latin typeface="Times New Roman" panose="02020603050405020304" pitchFamily="18" charset="0"/>
                <a:cs typeface="Times New Roman" panose="02020603050405020304" pitchFamily="18" charset="0"/>
              </a:rPr>
              <a:t>    protected void </a:t>
            </a:r>
            <a:r>
              <a:rPr lang="en-IN" dirty="0" err="1">
                <a:latin typeface="Times New Roman" panose="02020603050405020304" pitchFamily="18" charset="0"/>
                <a:cs typeface="Times New Roman" panose="02020603050405020304" pitchFamily="18" charset="0"/>
              </a:rPr>
              <a:t>onCreate</a:t>
            </a:r>
            <a:r>
              <a:rPr lang="en-IN" dirty="0">
                <a:latin typeface="Times New Roman" panose="02020603050405020304" pitchFamily="18" charset="0"/>
                <a:cs typeface="Times New Roman" panose="02020603050405020304" pitchFamily="18" charset="0"/>
              </a:rPr>
              <a:t>(Bundle </a:t>
            </a:r>
            <a:r>
              <a:rPr lang="en-IN" dirty="0" err="1">
                <a:latin typeface="Times New Roman" panose="02020603050405020304" pitchFamily="18" charset="0"/>
                <a:cs typeface="Times New Roman" panose="02020603050405020304" pitchFamily="18" charset="0"/>
              </a:rPr>
              <a:t>savedInstanceState</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super.onCreate</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savedInstanceState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setContentView</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R.layout.activity_main</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protected void </a:t>
            </a:r>
            <a:r>
              <a:rPr lang="en-IN" b="1" dirty="0" err="1">
                <a:latin typeface="Times New Roman" panose="02020603050405020304" pitchFamily="18" charset="0"/>
                <a:cs typeface="Times New Roman" panose="02020603050405020304" pitchFamily="18" charset="0"/>
              </a:rPr>
              <a:t>onCreate</a:t>
            </a:r>
            <a:r>
              <a:rPr lang="en-IN" b="1" dirty="0">
                <a:latin typeface="Times New Roman" panose="02020603050405020304" pitchFamily="18" charset="0"/>
                <a:cs typeface="Times New Roman" panose="02020603050405020304" pitchFamily="18" charset="0"/>
              </a:rPr>
              <a:t>(Bundle </a:t>
            </a:r>
            <a:r>
              <a:rPr lang="en-IN" b="1" dirty="0" err="1">
                <a:latin typeface="Times New Roman" panose="02020603050405020304" pitchFamily="18" charset="0"/>
                <a:cs typeface="Times New Roman" panose="02020603050405020304" pitchFamily="18" charset="0"/>
              </a:rPr>
              <a:t>savedInstanceState</a:t>
            </a:r>
            <a:r>
              <a:rPr lang="en-IN" b="1" dirty="0">
                <a:latin typeface="Times New Roman" panose="02020603050405020304" pitchFamily="18" charset="0"/>
                <a:cs typeface="Times New Roman" panose="02020603050405020304" pitchFamily="18" charset="0"/>
              </a:rPr>
              <a:t>) method:</a:t>
            </a:r>
          </a:p>
          <a:p>
            <a:pPr marL="342900" indent="-342900" algn="just">
              <a:buAutoNum type="arabicPeriod"/>
            </a:pPr>
            <a:r>
              <a:rPr lang="en-US" dirty="0">
                <a:latin typeface="Times New Roman" panose="02020603050405020304" pitchFamily="18" charset="0"/>
                <a:cs typeface="Times New Roman" panose="02020603050405020304" pitchFamily="18" charset="0"/>
              </a:rPr>
              <a:t>This method is called when the activity is starting. This is the method that is used to initialize most of the things in the android app. </a:t>
            </a:r>
          </a:p>
          <a:p>
            <a:pPr marL="342900" indent="-342900" algn="just">
              <a:buAutoNum type="arabicPeriod"/>
            </a:pPr>
            <a:r>
              <a:rPr lang="en-US" b="1" dirty="0" err="1">
                <a:latin typeface="Times New Roman" panose="02020603050405020304" pitchFamily="18" charset="0"/>
                <a:cs typeface="Times New Roman" panose="02020603050405020304" pitchFamily="18" charset="0"/>
              </a:rPr>
              <a:t>onCreate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method takes </a:t>
            </a:r>
            <a:r>
              <a:rPr lang="en-US" b="1" dirty="0" err="1">
                <a:latin typeface="Times New Roman" panose="02020603050405020304" pitchFamily="18" charset="0"/>
                <a:cs typeface="Times New Roman" panose="02020603050405020304" pitchFamily="18" charset="0"/>
              </a:rPr>
              <a:t>savedInstanceState</a:t>
            </a:r>
            <a:r>
              <a:rPr lang="en-US" dirty="0">
                <a:latin typeface="Times New Roman" panose="02020603050405020304" pitchFamily="18" charset="0"/>
                <a:cs typeface="Times New Roman" panose="02020603050405020304" pitchFamily="18" charset="0"/>
              </a:rPr>
              <a:t> as the parameter, which the object of type Bundle.</a:t>
            </a:r>
          </a:p>
          <a:p>
            <a:pPr marL="342900" indent="-342900" algn="just">
              <a:buAutoNum type="arabicPeriod"/>
            </a:pPr>
            <a:r>
              <a:rPr lang="en-US" dirty="0">
                <a:latin typeface="Times New Roman" panose="02020603050405020304" pitchFamily="18" charset="0"/>
                <a:cs typeface="Times New Roman" panose="02020603050405020304" pitchFamily="18" charset="0"/>
              </a:rPr>
              <a:t>Bundle Object  contains the previously saved data of the activity. </a:t>
            </a:r>
          </a:p>
          <a:p>
            <a:pPr marL="342900" indent="-342900" algn="just">
              <a:buAutoNum type="arabicPeriod"/>
            </a:pPr>
            <a:r>
              <a:rPr lang="en-US" dirty="0">
                <a:latin typeface="Times New Roman" panose="02020603050405020304" pitchFamily="18" charset="0"/>
                <a:cs typeface="Times New Roman" panose="02020603050405020304" pitchFamily="18" charset="0"/>
              </a:rPr>
              <a:t>If the activity is newly created then the bundle won't be saving any data of the activity and would contain the null value.</a:t>
            </a:r>
            <a:endParaRPr lang="en-IN"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64909510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51D962A7-485A-C9F7-5789-A14AF8535A67}"/>
              </a:ext>
            </a:extLst>
          </p:cNvPr>
          <p:cNvSpPr txBox="1"/>
          <p:nvPr/>
        </p:nvSpPr>
        <p:spPr>
          <a:xfrm>
            <a:off x="846245" y="187423"/>
            <a:ext cx="10705864" cy="6700360"/>
          </a:xfrm>
          <a:prstGeom prst="rect">
            <a:avLst/>
          </a:prstGeom>
          <a:noFill/>
        </p:spPr>
        <p:txBody>
          <a:bodyPr wrap="square">
            <a:spAutoFit/>
          </a:bodyPr>
          <a:lstStyle/>
          <a:p>
            <a:pPr algn="just">
              <a:lnSpc>
                <a:spcPct val="150000"/>
              </a:lnSpc>
            </a:pPr>
            <a:r>
              <a:rPr lang="en-US" b="1" i="0" dirty="0" err="1">
                <a:solidFill>
                  <a:srgbClr val="273239"/>
                </a:solidFill>
                <a:effectLst/>
                <a:latin typeface="Nunito" pitchFamily="2" charset="0"/>
              </a:rPr>
              <a:t>onCreate</a:t>
            </a:r>
            <a:r>
              <a:rPr lang="en-US" b="1" i="0" dirty="0">
                <a:solidFill>
                  <a:srgbClr val="273239"/>
                </a:solidFill>
                <a:effectLst/>
                <a:latin typeface="Nunito" pitchFamily="2" charset="0"/>
              </a:rPr>
              <a:t>() method:  </a:t>
            </a:r>
          </a:p>
          <a:p>
            <a:pPr marL="342900" indent="-342900" algn="just">
              <a:lnSpc>
                <a:spcPct val="150000"/>
              </a:lnSpc>
              <a:buAutoNum type="arabicPeriod"/>
            </a:pPr>
            <a:r>
              <a:rPr lang="en-US" b="1" i="0" dirty="0">
                <a:solidFill>
                  <a:srgbClr val="273239"/>
                </a:solidFill>
                <a:effectLst/>
                <a:latin typeface="Nunito" pitchFamily="2" charset="0"/>
              </a:rPr>
              <a:t>It </a:t>
            </a:r>
            <a:r>
              <a:rPr lang="en-US" b="0" i="0" dirty="0">
                <a:solidFill>
                  <a:srgbClr val="273239"/>
                </a:solidFill>
                <a:effectLst/>
                <a:latin typeface="Nunito" pitchFamily="2" charset="0"/>
              </a:rPr>
              <a:t> calls the </a:t>
            </a:r>
            <a:r>
              <a:rPr lang="en-US" b="1" i="0" dirty="0" err="1">
                <a:solidFill>
                  <a:srgbClr val="273239"/>
                </a:solidFill>
                <a:effectLst/>
                <a:latin typeface="Nunito" pitchFamily="2" charset="0"/>
              </a:rPr>
              <a:t>setContentView</a:t>
            </a:r>
            <a:r>
              <a:rPr lang="en-US" b="1" i="0" dirty="0">
                <a:solidFill>
                  <a:srgbClr val="273239"/>
                </a:solidFill>
                <a:effectLst/>
                <a:latin typeface="Nunito" pitchFamily="2" charset="0"/>
              </a:rPr>
              <a:t>()</a:t>
            </a:r>
            <a:r>
              <a:rPr lang="en-US" b="0" i="0" dirty="0">
                <a:solidFill>
                  <a:srgbClr val="273239"/>
                </a:solidFill>
                <a:effectLst/>
                <a:latin typeface="Nunito" pitchFamily="2" charset="0"/>
              </a:rPr>
              <a:t> method to set the view corresponding to the activity. </a:t>
            </a:r>
          </a:p>
          <a:p>
            <a:pPr marL="342900" indent="-342900" algn="just">
              <a:lnSpc>
                <a:spcPct val="150000"/>
              </a:lnSpc>
              <a:buAutoNum type="arabicPeriod"/>
            </a:pPr>
            <a:r>
              <a:rPr lang="en-US" dirty="0"/>
              <a:t>By default in any android application, </a:t>
            </a:r>
            <a:r>
              <a:rPr lang="en-US" dirty="0" err="1"/>
              <a:t>setContentView</a:t>
            </a:r>
            <a:r>
              <a:rPr lang="en-US" dirty="0"/>
              <a:t> point to activity_main.xml file, which is the layout file corresponding to </a:t>
            </a:r>
            <a:r>
              <a:rPr lang="en-US" dirty="0" err="1"/>
              <a:t>MainActivity</a:t>
            </a:r>
            <a:r>
              <a:rPr lang="en-US" dirty="0"/>
              <a:t>.</a:t>
            </a:r>
          </a:p>
          <a:p>
            <a:pPr marL="342900" indent="-342900" algn="just">
              <a:lnSpc>
                <a:spcPct val="150000"/>
              </a:lnSpc>
              <a:buAutoNum type="arabicPeriod"/>
            </a:pPr>
            <a:r>
              <a:rPr lang="en-US" dirty="0"/>
              <a:t>The </a:t>
            </a:r>
            <a:r>
              <a:rPr lang="en-US" dirty="0" err="1"/>
              <a:t>onCreate</a:t>
            </a:r>
            <a:r>
              <a:rPr lang="en-US" dirty="0"/>
              <a:t> method uses the </a:t>
            </a:r>
            <a:r>
              <a:rPr lang="en-US" b="1" dirty="0" err="1"/>
              <a:t>findViewById</a:t>
            </a:r>
            <a:r>
              <a:rPr lang="en-US" b="1" dirty="0"/>
              <a:t>()</a:t>
            </a:r>
            <a:r>
              <a:rPr lang="en-US" dirty="0"/>
              <a:t> method so that the user can interact programmatically with the widgets in android and then customize them according to need.</a:t>
            </a:r>
          </a:p>
          <a:p>
            <a:pPr marL="342900" indent="-342900" algn="just">
              <a:lnSpc>
                <a:spcPct val="150000"/>
              </a:lnSpc>
              <a:buAutoNum type="arabicPeriod"/>
            </a:pPr>
            <a:endParaRPr lang="en-US" dirty="0"/>
          </a:p>
          <a:p>
            <a:pPr>
              <a:lnSpc>
                <a:spcPct val="150000"/>
              </a:lnSpc>
            </a:pPr>
            <a:r>
              <a:rPr lang="en-US" b="1" dirty="0"/>
              <a:t>Bundle Class: </a:t>
            </a:r>
            <a:endParaRPr lang="en-US" dirty="0"/>
          </a:p>
          <a:p>
            <a:pPr>
              <a:lnSpc>
                <a:spcPct val="150000"/>
              </a:lnSpc>
            </a:pPr>
            <a:r>
              <a:rPr lang="en-US" dirty="0"/>
              <a:t>If the activity is being re-initialized or restarted after previously being closed, then this Bundle contains the data it most recently supplied in </a:t>
            </a:r>
            <a:r>
              <a:rPr lang="en-US" b="1" dirty="0" err="1"/>
              <a:t>onSaveInstanceState</a:t>
            </a:r>
            <a:r>
              <a:rPr lang="en-US" b="1" dirty="0"/>
              <a:t>(Bundle</a:t>
            </a:r>
            <a:r>
              <a:rPr lang="en-US" dirty="0"/>
              <a:t>). </a:t>
            </a:r>
          </a:p>
          <a:p>
            <a:pPr>
              <a:lnSpc>
                <a:spcPct val="150000"/>
              </a:lnSpc>
            </a:pPr>
            <a:r>
              <a:rPr lang="en-US" b="1" dirty="0" err="1"/>
              <a:t>onSaveInstanceState</a:t>
            </a:r>
            <a:r>
              <a:rPr lang="en-US" b="1" dirty="0"/>
              <a:t>()</a:t>
            </a:r>
            <a:r>
              <a:rPr lang="en-US" dirty="0"/>
              <a:t> method is the method that is called to save the data just before our activity is killed.</a:t>
            </a:r>
          </a:p>
          <a:p>
            <a:pPr>
              <a:lnSpc>
                <a:spcPct val="150000"/>
              </a:lnSpc>
            </a:pPr>
            <a:r>
              <a:rPr lang="en-IN" b="1" dirty="0" err="1"/>
              <a:t>onPause</a:t>
            </a:r>
            <a:r>
              <a:rPr lang="en-IN" b="1" dirty="0"/>
              <a:t>() Method: </a:t>
            </a:r>
            <a:r>
              <a:rPr lang="en-IN" dirty="0"/>
              <a:t>To stop the activity </a:t>
            </a:r>
            <a:r>
              <a:rPr lang="en-IN" b="1" dirty="0"/>
              <a:t>– protected void </a:t>
            </a:r>
            <a:r>
              <a:rPr lang="en-IN" b="1" dirty="0" err="1"/>
              <a:t>onPause</a:t>
            </a:r>
            <a:r>
              <a:rPr lang="en-IN" b="1" dirty="0"/>
              <a:t>()</a:t>
            </a:r>
          </a:p>
          <a:p>
            <a:pPr>
              <a:lnSpc>
                <a:spcPct val="150000"/>
              </a:lnSpc>
            </a:pPr>
            <a:r>
              <a:rPr lang="en-IN" b="1" dirty="0"/>
              <a:t>					{    </a:t>
            </a:r>
          </a:p>
          <a:p>
            <a:pPr>
              <a:lnSpc>
                <a:spcPct val="150000"/>
              </a:lnSpc>
            </a:pPr>
            <a:r>
              <a:rPr lang="en-IN" b="1" dirty="0"/>
              <a:t>						</a:t>
            </a:r>
            <a:r>
              <a:rPr lang="en-IN" b="1" dirty="0" err="1"/>
              <a:t>super.pause</a:t>
            </a:r>
            <a:r>
              <a:rPr lang="en-IN" b="1" dirty="0"/>
              <a:t>();</a:t>
            </a:r>
          </a:p>
          <a:p>
            <a:pPr>
              <a:lnSpc>
                <a:spcPct val="150000"/>
              </a:lnSpc>
            </a:pPr>
            <a:r>
              <a:rPr lang="en-IN" b="1" dirty="0"/>
              <a:t>						}</a:t>
            </a:r>
            <a:endParaRPr lang="en-IN" dirty="0"/>
          </a:p>
        </p:txBody>
      </p:sp>
    </p:spTree>
    <p:extLst>
      <p:ext uri="{BB962C8B-B14F-4D97-AF65-F5344CB8AC3E}">
        <p14:creationId xmlns="" xmlns:p14="http://schemas.microsoft.com/office/powerpoint/2010/main" val="340377349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70370B11-7447-38B4-7604-312F282E1917}"/>
              </a:ext>
            </a:extLst>
          </p:cNvPr>
          <p:cNvSpPr txBox="1"/>
          <p:nvPr/>
        </p:nvSpPr>
        <p:spPr>
          <a:xfrm>
            <a:off x="595063" y="374847"/>
            <a:ext cx="11219722" cy="5509200"/>
          </a:xfrm>
          <a:prstGeom prst="rect">
            <a:avLst/>
          </a:prstGeom>
          <a:noFill/>
        </p:spPr>
        <p:txBody>
          <a:bodyPr wrap="square">
            <a:spAutoFit/>
          </a:bodyPr>
          <a:lstStyle/>
          <a:p>
            <a:pPr algn="l" fontAlgn="base">
              <a:spcBef>
                <a:spcPts val="1800"/>
              </a:spcBef>
              <a:spcAft>
                <a:spcPts val="1800"/>
              </a:spcAft>
            </a:pPr>
            <a:r>
              <a:rPr lang="en-US" b="1" i="0" dirty="0">
                <a:solidFill>
                  <a:srgbClr val="273239"/>
                </a:solidFill>
                <a:effectLst/>
                <a:latin typeface="Nunito" pitchFamily="2" charset="0"/>
              </a:rPr>
              <a:t>Declaring Activity in Manifest File:</a:t>
            </a:r>
          </a:p>
          <a:p>
            <a:pPr algn="just" fontAlgn="base">
              <a:spcBef>
                <a:spcPts val="1800"/>
              </a:spcBef>
              <a:spcAft>
                <a:spcPts val="1800"/>
              </a:spcAft>
            </a:pPr>
            <a:r>
              <a:rPr lang="en-US" sz="1600" b="1" dirty="0">
                <a:latin typeface="Times New Roman" panose="02020603050405020304" pitchFamily="18" charset="0"/>
                <a:cs typeface="Times New Roman" panose="02020603050405020304" pitchFamily="18" charset="0"/>
              </a:rPr>
              <a:t>To declare your activity, open your manifest file and add an </a:t>
            </a:r>
            <a:r>
              <a:rPr lang="en-US" sz="1600" b="1" dirty="0">
                <a:latin typeface="Times New Roman" panose="02020603050405020304" pitchFamily="18" charset="0"/>
                <a:cs typeface="Times New Roman" panose="02020603050405020304" pitchFamily="18" charset="0"/>
                <a:hlinkClick r:id="rId2"/>
              </a:rPr>
              <a:t>&lt;activity&gt;</a:t>
            </a:r>
            <a:r>
              <a:rPr lang="en-US" sz="1600" b="1" dirty="0">
                <a:latin typeface="Times New Roman" panose="02020603050405020304" pitchFamily="18" charset="0"/>
                <a:cs typeface="Times New Roman" panose="02020603050405020304" pitchFamily="18" charset="0"/>
              </a:rPr>
              <a:t> element as a child of the </a:t>
            </a:r>
            <a:r>
              <a:rPr lang="en-US" sz="1600" b="1" dirty="0">
                <a:latin typeface="Times New Roman" panose="02020603050405020304" pitchFamily="18" charset="0"/>
                <a:cs typeface="Times New Roman" panose="02020603050405020304" pitchFamily="18" charset="0"/>
                <a:hlinkClick r:id="rId3"/>
              </a:rPr>
              <a:t>&lt;</a:t>
            </a:r>
            <a:r>
              <a:rPr lang="en-US" sz="1600" b="1" dirty="0">
                <a:latin typeface="Times New Roman" panose="02020603050405020304" pitchFamily="18" charset="0"/>
                <a:cs typeface="Times New Roman" panose="02020603050405020304" pitchFamily="18" charset="0"/>
                <a:hlinkClick r:id="rId3">
                  <a:extLst>
                    <a:ext uri="{A12FA001-AC4F-418D-AE19-62706E023703}">
                      <ahyp:hlinkClr xmlns="" xmlns:ahyp="http://schemas.microsoft.com/office/drawing/2018/hyperlinkcolor" val="tx"/>
                    </a:ext>
                  </a:extLst>
                </a:hlinkClick>
              </a:rPr>
              <a:t>application</a:t>
            </a:r>
            <a:r>
              <a:rPr lang="en-US" sz="1600" b="1" dirty="0">
                <a:latin typeface="Times New Roman" panose="02020603050405020304" pitchFamily="18" charset="0"/>
                <a:cs typeface="Times New Roman" panose="02020603050405020304" pitchFamily="18" charset="0"/>
                <a:hlinkClick r:id="rId3"/>
              </a:rPr>
              <a:t>&gt;</a:t>
            </a:r>
            <a:r>
              <a:rPr lang="en-US" sz="1600" b="1" dirty="0">
                <a:latin typeface="Times New Roman" panose="02020603050405020304" pitchFamily="18" charset="0"/>
                <a:cs typeface="Times New Roman" panose="02020603050405020304" pitchFamily="18" charset="0"/>
              </a:rPr>
              <a:t> element.</a:t>
            </a:r>
          </a:p>
          <a:p>
            <a:pPr algn="just" fontAlgn="base">
              <a:spcBef>
                <a:spcPts val="1800"/>
              </a:spcBef>
              <a:spcAft>
                <a:spcPts val="1800"/>
              </a:spcAft>
            </a:pPr>
            <a:r>
              <a:rPr lang="en-US" i="0" dirty="0">
                <a:solidFill>
                  <a:srgbClr val="273239"/>
                </a:solidFill>
                <a:effectLst/>
                <a:latin typeface="Times New Roman" panose="02020603050405020304" pitchFamily="18" charset="0"/>
                <a:cs typeface="Times New Roman" panose="02020603050405020304" pitchFamily="18" charset="0"/>
              </a:rPr>
              <a:t>&lt;</a:t>
            </a:r>
            <a:r>
              <a:rPr lang="en-US" i="0" dirty="0" err="1">
                <a:solidFill>
                  <a:srgbClr val="273239"/>
                </a:solidFill>
                <a:effectLst/>
                <a:latin typeface="Times New Roman" panose="02020603050405020304" pitchFamily="18" charset="0"/>
                <a:cs typeface="Times New Roman" panose="02020603050405020304" pitchFamily="18" charset="0"/>
              </a:rPr>
              <a:t>manifeast</a:t>
            </a:r>
            <a:r>
              <a:rPr lang="en-US" i="0" dirty="0">
                <a:solidFill>
                  <a:srgbClr val="273239"/>
                </a:solidFill>
                <a:effectLst/>
                <a:latin typeface="Times New Roman" panose="02020603050405020304" pitchFamily="18" charset="0"/>
                <a:cs typeface="Times New Roman" panose="02020603050405020304" pitchFamily="18" charset="0"/>
              </a:rPr>
              <a:t>………..&gt;</a:t>
            </a:r>
          </a:p>
          <a:p>
            <a:pPr algn="just" fontAlgn="base">
              <a:spcBef>
                <a:spcPts val="1800"/>
              </a:spcBef>
              <a:spcAft>
                <a:spcPts val="1800"/>
              </a:spcAft>
            </a:pPr>
            <a:r>
              <a:rPr lang="en-US" i="0" dirty="0">
                <a:solidFill>
                  <a:srgbClr val="273239"/>
                </a:solidFill>
                <a:effectLst/>
                <a:latin typeface="Times New Roman" panose="02020603050405020304" pitchFamily="18" charset="0"/>
                <a:cs typeface="Times New Roman" panose="02020603050405020304" pitchFamily="18" charset="0"/>
              </a:rPr>
              <a:t>&lt;application…….&gt;</a:t>
            </a:r>
          </a:p>
          <a:p>
            <a:pPr algn="just" fontAlgn="base">
              <a:spcBef>
                <a:spcPts val="1800"/>
              </a:spcBef>
              <a:spcAft>
                <a:spcPts val="1800"/>
              </a:spcAft>
            </a:pPr>
            <a:r>
              <a:rPr lang="en-US" dirty="0">
                <a:solidFill>
                  <a:srgbClr val="273239"/>
                </a:solidFill>
                <a:latin typeface="Times New Roman" panose="02020603050405020304" pitchFamily="18" charset="0"/>
                <a:cs typeface="Times New Roman" panose="02020603050405020304" pitchFamily="18" charset="0"/>
              </a:rPr>
              <a:t>&lt;activity </a:t>
            </a:r>
            <a:r>
              <a:rPr lang="en-US" dirty="0" err="1">
                <a:solidFill>
                  <a:srgbClr val="273239"/>
                </a:solidFill>
                <a:latin typeface="Times New Roman" panose="02020603050405020304" pitchFamily="18" charset="0"/>
                <a:cs typeface="Times New Roman" panose="02020603050405020304" pitchFamily="18" charset="0"/>
              </a:rPr>
              <a:t>android:name</a:t>
            </a:r>
            <a:r>
              <a:rPr lang="en-US" dirty="0">
                <a:solidFill>
                  <a:srgbClr val="273239"/>
                </a:solidFill>
                <a:latin typeface="Times New Roman" panose="02020603050405020304" pitchFamily="18" charset="0"/>
                <a:cs typeface="Times New Roman" panose="02020603050405020304" pitchFamily="18" charset="0"/>
              </a:rPr>
              <a:t>=“.</a:t>
            </a:r>
            <a:r>
              <a:rPr lang="en-US" dirty="0" err="1">
                <a:solidFill>
                  <a:srgbClr val="273239"/>
                </a:solidFill>
                <a:latin typeface="Times New Roman" panose="02020603050405020304" pitchFamily="18" charset="0"/>
                <a:cs typeface="Times New Roman" panose="02020603050405020304" pitchFamily="18" charset="0"/>
              </a:rPr>
              <a:t>ExampleActivity</a:t>
            </a:r>
            <a:r>
              <a:rPr lang="en-US" dirty="0">
                <a:solidFill>
                  <a:srgbClr val="273239"/>
                </a:solidFill>
                <a:latin typeface="Times New Roman" panose="02020603050405020304" pitchFamily="18" charset="0"/>
                <a:cs typeface="Times New Roman" panose="02020603050405020304" pitchFamily="18" charset="0"/>
              </a:rPr>
              <a:t>/&gt;</a:t>
            </a:r>
          </a:p>
          <a:p>
            <a:pPr algn="just" fontAlgn="base">
              <a:spcBef>
                <a:spcPts val="1800"/>
              </a:spcBef>
              <a:spcAft>
                <a:spcPts val="1800"/>
              </a:spcAft>
            </a:pPr>
            <a:r>
              <a:rPr lang="en-US" i="0" dirty="0">
                <a:solidFill>
                  <a:srgbClr val="273239"/>
                </a:solidFill>
                <a:effectLst/>
                <a:latin typeface="Times New Roman" panose="02020603050405020304" pitchFamily="18" charset="0"/>
                <a:cs typeface="Times New Roman" panose="02020603050405020304" pitchFamily="18" charset="0"/>
              </a:rPr>
              <a:t>&lt;/application&gt;</a:t>
            </a:r>
          </a:p>
          <a:p>
            <a:pPr algn="just" fontAlgn="base">
              <a:spcBef>
                <a:spcPts val="1800"/>
              </a:spcBef>
              <a:spcAft>
                <a:spcPts val="1800"/>
              </a:spcAft>
            </a:pPr>
            <a:r>
              <a:rPr lang="en-US" dirty="0">
                <a:solidFill>
                  <a:srgbClr val="273239"/>
                </a:solidFill>
                <a:latin typeface="Times New Roman" panose="02020603050405020304" pitchFamily="18" charset="0"/>
                <a:cs typeface="Times New Roman" panose="02020603050405020304" pitchFamily="18" charset="0"/>
              </a:rPr>
              <a:t>-----------</a:t>
            </a:r>
            <a:endParaRPr lang="en-US" i="0" dirty="0">
              <a:solidFill>
                <a:srgbClr val="273239"/>
              </a:solidFill>
              <a:effectLst/>
              <a:latin typeface="Times New Roman" panose="02020603050405020304" pitchFamily="18" charset="0"/>
              <a:cs typeface="Times New Roman" panose="02020603050405020304" pitchFamily="18" charset="0"/>
            </a:endParaRPr>
          </a:p>
          <a:p>
            <a:pPr algn="just" fontAlgn="base">
              <a:spcBef>
                <a:spcPts val="1800"/>
              </a:spcBef>
              <a:spcAft>
                <a:spcPts val="1800"/>
              </a:spcAft>
            </a:pPr>
            <a:r>
              <a:rPr lang="en-US" dirty="0">
                <a:solidFill>
                  <a:srgbClr val="273239"/>
                </a:solidFill>
                <a:latin typeface="Times New Roman" panose="02020603050405020304" pitchFamily="18" charset="0"/>
                <a:cs typeface="Times New Roman" panose="02020603050405020304" pitchFamily="18" charset="0"/>
              </a:rPr>
              <a:t>&lt;/</a:t>
            </a:r>
            <a:r>
              <a:rPr lang="en-US" dirty="0" err="1">
                <a:solidFill>
                  <a:srgbClr val="273239"/>
                </a:solidFill>
                <a:latin typeface="Times New Roman" panose="02020603050405020304" pitchFamily="18" charset="0"/>
                <a:cs typeface="Times New Roman" panose="02020603050405020304" pitchFamily="18" charset="0"/>
              </a:rPr>
              <a:t>manifiest</a:t>
            </a:r>
            <a:r>
              <a:rPr lang="en-US" dirty="0">
                <a:solidFill>
                  <a:srgbClr val="273239"/>
                </a:solidFill>
                <a:latin typeface="Times New Roman" panose="02020603050405020304" pitchFamily="18" charset="0"/>
                <a:cs typeface="Times New Roman" panose="02020603050405020304" pitchFamily="18" charset="0"/>
              </a:rPr>
              <a:t>&gt;</a:t>
            </a:r>
            <a:endParaRPr lang="en-US" i="0" dirty="0">
              <a:solidFill>
                <a:srgbClr val="273239"/>
              </a:solidFill>
              <a:effectLst/>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 xmlns:a16="http://schemas.microsoft.com/office/drawing/2014/main" id="{804CE8F5-44FA-AEFB-BFA6-E4B2A4A533AA}"/>
              </a:ext>
            </a:extLst>
          </p:cNvPr>
          <p:cNvSpPr>
            <a:spLocks noChangeArrowheads="1"/>
          </p:cNvSpPr>
          <p:nvPr/>
        </p:nvSpPr>
        <p:spPr bwMode="auto">
          <a:xfrm>
            <a:off x="556591" y="543542"/>
            <a:ext cx="76944" cy="1538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7474F"/>
                </a:solidFill>
                <a:effectLst/>
                <a:latin typeface="Roboto Mono" panose="00000009000000000000" pitchFamily="49" charset="0"/>
              </a:rPr>
              <a:t>&lt;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 xmlns:a16="http://schemas.microsoft.com/office/drawing/2014/main" id="{8CAA97D7-5F1F-78EB-A6E2-6D4CC8681EF5}"/>
              </a:ext>
            </a:extLst>
          </p:cNvPr>
          <p:cNvSpPr txBox="1"/>
          <p:nvPr/>
        </p:nvSpPr>
        <p:spPr>
          <a:xfrm>
            <a:off x="5717839" y="2828835"/>
            <a:ext cx="6096946" cy="1713674"/>
          </a:xfrm>
          <a:prstGeom prst="rect">
            <a:avLst/>
          </a:prstGeom>
          <a:noFill/>
        </p:spPr>
        <p:txBody>
          <a:bodyPr wrap="square">
            <a:spAutoFit/>
          </a:bodyPr>
          <a:lstStyle/>
          <a:p>
            <a:pPr algn="just">
              <a:lnSpc>
                <a:spcPct val="150000"/>
              </a:lnSpc>
            </a:pPr>
            <a:r>
              <a:rPr lang="en-US" b="0" i="0" dirty="0">
                <a:solidFill>
                  <a:srgbClr val="202124"/>
                </a:solidFill>
                <a:effectLst/>
                <a:latin typeface="Google Sans Text"/>
              </a:rPr>
              <a:t>The only required attribute for this element is </a:t>
            </a:r>
            <a:r>
              <a:rPr lang="en-US" b="0" i="0" dirty="0" err="1">
                <a:solidFill>
                  <a:srgbClr val="174EA6"/>
                </a:solidFill>
                <a:effectLst/>
                <a:latin typeface="Google Sans Text"/>
                <a:hlinkClick r:id="rId2"/>
              </a:rPr>
              <a:t>android:name</a:t>
            </a:r>
            <a:r>
              <a:rPr lang="en-US" b="0" i="0" dirty="0">
                <a:solidFill>
                  <a:srgbClr val="202124"/>
                </a:solidFill>
                <a:effectLst/>
                <a:latin typeface="Google Sans Text"/>
              </a:rPr>
              <a:t>, which specifies the class name of the activity. You can also add attributes that define activity characteristics such as label, icon, or UI theme.</a:t>
            </a:r>
            <a:endParaRPr lang="en-IN" dirty="0"/>
          </a:p>
        </p:txBody>
      </p:sp>
    </p:spTree>
    <p:extLst>
      <p:ext uri="{BB962C8B-B14F-4D97-AF65-F5344CB8AC3E}">
        <p14:creationId xmlns="" xmlns:p14="http://schemas.microsoft.com/office/powerpoint/2010/main" val="24000822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FBDFBDA3-4A24-151B-7CBF-2DAFEC87495E}"/>
              </a:ext>
            </a:extLst>
          </p:cNvPr>
          <p:cNvSpPr txBox="1"/>
          <p:nvPr/>
        </p:nvSpPr>
        <p:spPr>
          <a:xfrm>
            <a:off x="761054" y="255578"/>
            <a:ext cx="9198902" cy="5909310"/>
          </a:xfrm>
          <a:prstGeom prst="rect">
            <a:avLst/>
          </a:prstGeom>
          <a:noFill/>
        </p:spPr>
        <p:txBody>
          <a:bodyPr wrap="square">
            <a:spAutoFit/>
          </a:bodyPr>
          <a:lstStyle/>
          <a:p>
            <a:r>
              <a:rPr lang="en-IN" sz="1400" dirty="0">
                <a:latin typeface="Times New Roman" panose="02020603050405020304" pitchFamily="18" charset="0"/>
                <a:cs typeface="Times New Roman" panose="02020603050405020304" pitchFamily="18" charset="0"/>
              </a:rPr>
              <a:t>&lt;?xml version="1.0" encoding="utf-8"?&gt;</a:t>
            </a:r>
          </a:p>
          <a:p>
            <a:r>
              <a:rPr lang="en-IN" sz="1400" dirty="0">
                <a:latin typeface="Times New Roman" panose="02020603050405020304" pitchFamily="18" charset="0"/>
                <a:cs typeface="Times New Roman" panose="02020603050405020304" pitchFamily="18" charset="0"/>
              </a:rPr>
              <a:t>&lt;manifest </a:t>
            </a:r>
            <a:r>
              <a:rPr lang="en-IN" sz="1400" dirty="0" err="1">
                <a:latin typeface="Times New Roman" panose="02020603050405020304" pitchFamily="18" charset="0"/>
                <a:cs typeface="Times New Roman" panose="02020603050405020304" pitchFamily="18" charset="0"/>
              </a:rPr>
              <a:t>xmlns:android</a:t>
            </a:r>
            <a:r>
              <a:rPr lang="en-IN" sz="1400" dirty="0">
                <a:latin typeface="Times New Roman" panose="02020603050405020304" pitchFamily="18" charset="0"/>
                <a:cs typeface="Times New Roman" panose="02020603050405020304" pitchFamily="18" charset="0"/>
              </a:rPr>
              <a:t>="http://schemas.android.com/</a:t>
            </a:r>
            <a:r>
              <a:rPr lang="en-IN" sz="1400" dirty="0" err="1">
                <a:latin typeface="Times New Roman" panose="02020603050405020304" pitchFamily="18" charset="0"/>
                <a:cs typeface="Times New Roman" panose="02020603050405020304" pitchFamily="18" charset="0"/>
              </a:rPr>
              <a:t>apk</a:t>
            </a:r>
            <a:r>
              <a:rPr lang="en-IN" sz="1400" dirty="0">
                <a:latin typeface="Times New Roman" panose="02020603050405020304" pitchFamily="18" charset="0"/>
                <a:cs typeface="Times New Roman" panose="02020603050405020304" pitchFamily="18" charset="0"/>
              </a:rPr>
              <a:t>/res/android"</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xmlns:tools</a:t>
            </a:r>
            <a:r>
              <a:rPr lang="en-IN" sz="1400" dirty="0">
                <a:latin typeface="Times New Roman" panose="02020603050405020304" pitchFamily="18" charset="0"/>
                <a:cs typeface="Times New Roman" panose="02020603050405020304" pitchFamily="18" charset="0"/>
              </a:rPr>
              <a:t>="http://schemas.android.com/tools"</a:t>
            </a:r>
          </a:p>
          <a:p>
            <a:r>
              <a:rPr lang="en-IN" sz="1400" dirty="0">
                <a:latin typeface="Times New Roman" panose="02020603050405020304" pitchFamily="18" charset="0"/>
                <a:cs typeface="Times New Roman" panose="02020603050405020304" pitchFamily="18" charset="0"/>
              </a:rPr>
              <a:t>    package="</a:t>
            </a:r>
            <a:r>
              <a:rPr lang="en-IN" sz="1400" dirty="0" err="1">
                <a:latin typeface="Times New Roman" panose="02020603050405020304" pitchFamily="18" charset="0"/>
                <a:cs typeface="Times New Roman" panose="02020603050405020304" pitchFamily="18" charset="0"/>
              </a:rPr>
              <a:t>com.gfg.exampleactivity</a:t>
            </a:r>
            <a:r>
              <a:rPr lang="en-IN" sz="1400" dirty="0">
                <a:latin typeface="Times New Roman" panose="02020603050405020304" pitchFamily="18" charset="0"/>
                <a:cs typeface="Times New Roman" panose="02020603050405020304" pitchFamily="18" charset="0"/>
              </a:rPr>
              <a:t>"&gt;</a:t>
            </a:r>
          </a:p>
          <a:p>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    &lt;application</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android:allowBackup</a:t>
            </a:r>
            <a:r>
              <a:rPr lang="en-IN" sz="1400" dirty="0">
                <a:latin typeface="Times New Roman" panose="02020603050405020304" pitchFamily="18" charset="0"/>
                <a:cs typeface="Times New Roman" panose="02020603050405020304" pitchFamily="18" charset="0"/>
              </a:rPr>
              <a:t>="true"</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android:dataExtractionRules</a:t>
            </a:r>
            <a:r>
              <a:rPr lang="en-IN" sz="1400" dirty="0">
                <a:latin typeface="Times New Roman" panose="02020603050405020304" pitchFamily="18" charset="0"/>
                <a:cs typeface="Times New Roman" panose="02020603050405020304" pitchFamily="18" charset="0"/>
              </a:rPr>
              <a:t>="@xml/</a:t>
            </a:r>
            <a:r>
              <a:rPr lang="en-IN" sz="1400" dirty="0" err="1">
                <a:latin typeface="Times New Roman" panose="02020603050405020304" pitchFamily="18" charset="0"/>
                <a:cs typeface="Times New Roman" panose="02020603050405020304" pitchFamily="18" charset="0"/>
              </a:rPr>
              <a:t>data_extraction_rules</a:t>
            </a:r>
            <a:r>
              <a:rPr lang="en-IN" sz="1400" dirty="0">
                <a:latin typeface="Times New Roman" panose="02020603050405020304" pitchFamily="18" charset="0"/>
                <a:cs typeface="Times New Roman" panose="02020603050405020304" pitchFamily="18" charset="0"/>
              </a:rPr>
              <a:t>"</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android:fullBackupContent</a:t>
            </a:r>
            <a:r>
              <a:rPr lang="en-IN" sz="1400" dirty="0">
                <a:latin typeface="Times New Roman" panose="02020603050405020304" pitchFamily="18" charset="0"/>
                <a:cs typeface="Times New Roman" panose="02020603050405020304" pitchFamily="18" charset="0"/>
              </a:rPr>
              <a:t>="@xml/</a:t>
            </a:r>
            <a:r>
              <a:rPr lang="en-IN" sz="1400" dirty="0" err="1">
                <a:latin typeface="Times New Roman" panose="02020603050405020304" pitchFamily="18" charset="0"/>
                <a:cs typeface="Times New Roman" panose="02020603050405020304" pitchFamily="18" charset="0"/>
              </a:rPr>
              <a:t>backup_rules</a:t>
            </a:r>
            <a:r>
              <a:rPr lang="en-IN" sz="1400" dirty="0">
                <a:latin typeface="Times New Roman" panose="02020603050405020304" pitchFamily="18" charset="0"/>
                <a:cs typeface="Times New Roman" panose="02020603050405020304" pitchFamily="18" charset="0"/>
              </a:rPr>
              <a:t>"</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android:icon</a:t>
            </a:r>
            <a:r>
              <a:rPr lang="en-IN" sz="1400" dirty="0">
                <a:latin typeface="Times New Roman" panose="02020603050405020304" pitchFamily="18" charset="0"/>
                <a:cs typeface="Times New Roman" panose="02020603050405020304" pitchFamily="18" charset="0"/>
              </a:rPr>
              <a:t>="@mipmap/</a:t>
            </a:r>
            <a:r>
              <a:rPr lang="en-IN" sz="1400" dirty="0" err="1">
                <a:latin typeface="Times New Roman" panose="02020603050405020304" pitchFamily="18" charset="0"/>
                <a:cs typeface="Times New Roman" panose="02020603050405020304" pitchFamily="18" charset="0"/>
              </a:rPr>
              <a:t>ic_launcher</a:t>
            </a:r>
            <a:r>
              <a:rPr lang="en-IN" sz="1400" dirty="0">
                <a:latin typeface="Times New Roman" panose="02020603050405020304" pitchFamily="18" charset="0"/>
                <a:cs typeface="Times New Roman" panose="02020603050405020304" pitchFamily="18" charset="0"/>
              </a:rPr>
              <a:t>"</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android:label</a:t>
            </a:r>
            <a:r>
              <a:rPr lang="en-IN" sz="1400" dirty="0">
                <a:latin typeface="Times New Roman" panose="02020603050405020304" pitchFamily="18" charset="0"/>
                <a:cs typeface="Times New Roman" panose="02020603050405020304" pitchFamily="18" charset="0"/>
              </a:rPr>
              <a:t>="@string/</a:t>
            </a:r>
            <a:r>
              <a:rPr lang="en-IN" sz="1400" dirty="0" err="1">
                <a:latin typeface="Times New Roman" panose="02020603050405020304" pitchFamily="18" charset="0"/>
                <a:cs typeface="Times New Roman" panose="02020603050405020304" pitchFamily="18" charset="0"/>
              </a:rPr>
              <a:t>app_name</a:t>
            </a:r>
            <a:r>
              <a:rPr lang="en-IN" sz="1400" dirty="0">
                <a:latin typeface="Times New Roman" panose="02020603050405020304" pitchFamily="18" charset="0"/>
                <a:cs typeface="Times New Roman" panose="02020603050405020304" pitchFamily="18" charset="0"/>
              </a:rPr>
              <a:t>"</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android:roundIcon</a:t>
            </a:r>
            <a:r>
              <a:rPr lang="en-IN" sz="1400" dirty="0">
                <a:latin typeface="Times New Roman" panose="02020603050405020304" pitchFamily="18" charset="0"/>
                <a:cs typeface="Times New Roman" panose="02020603050405020304" pitchFamily="18" charset="0"/>
              </a:rPr>
              <a:t>="@mipmap/</a:t>
            </a:r>
            <a:r>
              <a:rPr lang="en-IN" sz="1400" dirty="0" err="1">
                <a:latin typeface="Times New Roman" panose="02020603050405020304" pitchFamily="18" charset="0"/>
                <a:cs typeface="Times New Roman" panose="02020603050405020304" pitchFamily="18" charset="0"/>
              </a:rPr>
              <a:t>ic_launcher_round</a:t>
            </a:r>
            <a:r>
              <a:rPr lang="en-IN" sz="1400" dirty="0">
                <a:latin typeface="Times New Roman" panose="02020603050405020304" pitchFamily="18" charset="0"/>
                <a:cs typeface="Times New Roman" panose="02020603050405020304" pitchFamily="18" charset="0"/>
              </a:rPr>
              <a:t>"</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android:supportsRtl</a:t>
            </a:r>
            <a:r>
              <a:rPr lang="en-IN" sz="1400" dirty="0">
                <a:latin typeface="Times New Roman" panose="02020603050405020304" pitchFamily="18" charset="0"/>
                <a:cs typeface="Times New Roman" panose="02020603050405020304" pitchFamily="18" charset="0"/>
              </a:rPr>
              <a:t>="true"</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android:theme</a:t>
            </a:r>
            <a:r>
              <a:rPr lang="en-IN" sz="1400" dirty="0">
                <a:latin typeface="Times New Roman" panose="02020603050405020304" pitchFamily="18" charset="0"/>
                <a:cs typeface="Times New Roman" panose="02020603050405020304" pitchFamily="18" charset="0"/>
              </a:rPr>
              <a:t>="@style/</a:t>
            </a:r>
            <a:r>
              <a:rPr lang="en-IN" sz="1400" dirty="0" err="1">
                <a:latin typeface="Times New Roman" panose="02020603050405020304" pitchFamily="18" charset="0"/>
                <a:cs typeface="Times New Roman" panose="02020603050405020304" pitchFamily="18" charset="0"/>
              </a:rPr>
              <a:t>Theme.ExampleActivity</a:t>
            </a:r>
            <a:r>
              <a:rPr lang="en-IN" sz="1400" dirty="0">
                <a:latin typeface="Times New Roman" panose="02020603050405020304" pitchFamily="18" charset="0"/>
                <a:cs typeface="Times New Roman" panose="02020603050405020304" pitchFamily="18" charset="0"/>
              </a:rPr>
              <a:t>"</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tools:targetApi</a:t>
            </a:r>
            <a:r>
              <a:rPr lang="en-IN" sz="1400" dirty="0">
                <a:latin typeface="Times New Roman" panose="02020603050405020304" pitchFamily="18" charset="0"/>
                <a:cs typeface="Times New Roman" panose="02020603050405020304" pitchFamily="18" charset="0"/>
              </a:rPr>
              <a:t>="31"&gt;</a:t>
            </a:r>
          </a:p>
          <a:p>
            <a:r>
              <a:rPr lang="en-IN" sz="1400" dirty="0">
                <a:latin typeface="Times New Roman" panose="02020603050405020304" pitchFamily="18" charset="0"/>
                <a:cs typeface="Times New Roman" panose="02020603050405020304" pitchFamily="18" charset="0"/>
              </a:rPr>
              <a:t>        &lt;activity</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android:name</a:t>
            </a:r>
            <a:r>
              <a:rPr lang="en-IN" sz="1400" dirty="0">
                <a:latin typeface="Times New Roman" panose="02020603050405020304" pitchFamily="18" charset="0"/>
                <a:cs typeface="Times New Roman" panose="02020603050405020304" pitchFamily="18" charset="0"/>
              </a:rPr>
              <a:t>=".</a:t>
            </a:r>
            <a:r>
              <a:rPr lang="en-IN" sz="1400" dirty="0" err="1">
                <a:latin typeface="Times New Roman" panose="02020603050405020304" pitchFamily="18" charset="0"/>
                <a:cs typeface="Times New Roman" panose="02020603050405020304" pitchFamily="18" charset="0"/>
              </a:rPr>
              <a:t>MainActivity</a:t>
            </a:r>
            <a:r>
              <a:rPr lang="en-IN" sz="1400" dirty="0">
                <a:latin typeface="Times New Roman" panose="02020603050405020304" pitchFamily="18" charset="0"/>
                <a:cs typeface="Times New Roman" panose="02020603050405020304" pitchFamily="18" charset="0"/>
              </a:rPr>
              <a:t>"</a:t>
            </a:r>
          </a:p>
          <a:p>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android:exported</a:t>
            </a:r>
            <a:r>
              <a:rPr lang="en-IN" sz="1400" dirty="0">
                <a:latin typeface="Times New Roman" panose="02020603050405020304" pitchFamily="18" charset="0"/>
                <a:cs typeface="Times New Roman" panose="02020603050405020304" pitchFamily="18" charset="0"/>
              </a:rPr>
              <a:t>="true"&gt;</a:t>
            </a:r>
          </a:p>
          <a:p>
            <a:r>
              <a:rPr lang="en-IN" sz="1400" dirty="0">
                <a:latin typeface="Times New Roman" panose="02020603050405020304" pitchFamily="18" charset="0"/>
                <a:cs typeface="Times New Roman" panose="02020603050405020304" pitchFamily="18" charset="0"/>
              </a:rPr>
              <a:t>            &lt;intent-filter&gt;</a:t>
            </a:r>
          </a:p>
          <a:p>
            <a:r>
              <a:rPr lang="en-IN" sz="1400" dirty="0">
                <a:latin typeface="Times New Roman" panose="02020603050405020304" pitchFamily="18" charset="0"/>
                <a:cs typeface="Times New Roman" panose="02020603050405020304" pitchFamily="18" charset="0"/>
              </a:rPr>
              <a:t>                &lt;action </a:t>
            </a:r>
            <a:r>
              <a:rPr lang="en-IN" sz="1400" dirty="0" err="1">
                <a:latin typeface="Times New Roman" panose="02020603050405020304" pitchFamily="18" charset="0"/>
                <a:cs typeface="Times New Roman" panose="02020603050405020304" pitchFamily="18" charset="0"/>
              </a:rPr>
              <a:t>android:name</a:t>
            </a:r>
            <a:r>
              <a:rPr lang="en-IN" sz="1400" dirty="0">
                <a:latin typeface="Times New Roman" panose="02020603050405020304" pitchFamily="18" charset="0"/>
                <a:cs typeface="Times New Roman" panose="02020603050405020304" pitchFamily="18" charset="0"/>
              </a:rPr>
              <a:t>="</a:t>
            </a:r>
            <a:r>
              <a:rPr lang="en-IN" sz="1400" dirty="0" err="1">
                <a:latin typeface="Times New Roman" panose="02020603050405020304" pitchFamily="18" charset="0"/>
                <a:cs typeface="Times New Roman" panose="02020603050405020304" pitchFamily="18" charset="0"/>
              </a:rPr>
              <a:t>android.intent.action.MAIN</a:t>
            </a:r>
            <a:r>
              <a:rPr lang="en-IN" sz="1400" dirty="0">
                <a:latin typeface="Times New Roman" panose="02020603050405020304" pitchFamily="18" charset="0"/>
                <a:cs typeface="Times New Roman" panose="02020603050405020304" pitchFamily="18" charset="0"/>
              </a:rPr>
              <a:t>" /&gt;</a:t>
            </a:r>
          </a:p>
          <a:p>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                &lt;category </a:t>
            </a:r>
            <a:r>
              <a:rPr lang="en-IN" sz="1400" dirty="0" err="1">
                <a:latin typeface="Times New Roman" panose="02020603050405020304" pitchFamily="18" charset="0"/>
                <a:cs typeface="Times New Roman" panose="02020603050405020304" pitchFamily="18" charset="0"/>
              </a:rPr>
              <a:t>android:name</a:t>
            </a:r>
            <a:r>
              <a:rPr lang="en-IN" sz="1400" dirty="0">
                <a:latin typeface="Times New Roman" panose="02020603050405020304" pitchFamily="18" charset="0"/>
                <a:cs typeface="Times New Roman" panose="02020603050405020304" pitchFamily="18" charset="0"/>
              </a:rPr>
              <a:t>="</a:t>
            </a:r>
            <a:r>
              <a:rPr lang="en-IN" sz="1400" dirty="0" err="1">
                <a:latin typeface="Times New Roman" panose="02020603050405020304" pitchFamily="18" charset="0"/>
                <a:cs typeface="Times New Roman" panose="02020603050405020304" pitchFamily="18" charset="0"/>
              </a:rPr>
              <a:t>android.intent.category.LAUNCHER</a:t>
            </a:r>
            <a:r>
              <a:rPr lang="en-IN" sz="1400" dirty="0">
                <a:latin typeface="Times New Roman" panose="02020603050405020304" pitchFamily="18" charset="0"/>
                <a:cs typeface="Times New Roman" panose="02020603050405020304" pitchFamily="18" charset="0"/>
              </a:rPr>
              <a:t>" /&gt;</a:t>
            </a:r>
          </a:p>
          <a:p>
            <a:r>
              <a:rPr lang="en-IN" sz="1400" dirty="0">
                <a:latin typeface="Times New Roman" panose="02020603050405020304" pitchFamily="18" charset="0"/>
                <a:cs typeface="Times New Roman" panose="02020603050405020304" pitchFamily="18" charset="0"/>
              </a:rPr>
              <a:t>            &lt;/intent-filter&gt;</a:t>
            </a:r>
          </a:p>
          <a:p>
            <a:r>
              <a:rPr lang="en-IN" sz="1400" dirty="0">
                <a:latin typeface="Times New Roman" panose="02020603050405020304" pitchFamily="18" charset="0"/>
                <a:cs typeface="Times New Roman" panose="02020603050405020304" pitchFamily="18" charset="0"/>
              </a:rPr>
              <a:t>        &lt;/activity&gt;</a:t>
            </a:r>
          </a:p>
          <a:p>
            <a:r>
              <a:rPr lang="en-IN" sz="1400" dirty="0">
                <a:latin typeface="Times New Roman" panose="02020603050405020304" pitchFamily="18" charset="0"/>
                <a:cs typeface="Times New Roman" panose="02020603050405020304" pitchFamily="18" charset="0"/>
              </a:rPr>
              <a:t>    &lt;/application&gt;</a:t>
            </a:r>
          </a:p>
          <a:p>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&lt;/manifest&gt;</a:t>
            </a:r>
          </a:p>
        </p:txBody>
      </p:sp>
    </p:spTree>
    <p:extLst>
      <p:ext uri="{BB962C8B-B14F-4D97-AF65-F5344CB8AC3E}">
        <p14:creationId xmlns="" xmlns:p14="http://schemas.microsoft.com/office/powerpoint/2010/main" val="278165906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2E0BAAE3-6FF3-0D7A-0C91-FFD302FB0F2B}"/>
              </a:ext>
            </a:extLst>
          </p:cNvPr>
          <p:cNvPicPr>
            <a:picLocks noChangeAspect="1"/>
          </p:cNvPicPr>
          <p:nvPr/>
        </p:nvPicPr>
        <p:blipFill>
          <a:blip r:embed="rId2"/>
          <a:stretch>
            <a:fillRect/>
          </a:stretch>
        </p:blipFill>
        <p:spPr>
          <a:xfrm>
            <a:off x="999308" y="267789"/>
            <a:ext cx="9836331" cy="6191794"/>
          </a:xfrm>
          <a:prstGeom prst="rect">
            <a:avLst/>
          </a:prstGeom>
        </p:spPr>
      </p:pic>
    </p:spTree>
    <p:extLst>
      <p:ext uri="{BB962C8B-B14F-4D97-AF65-F5344CB8AC3E}">
        <p14:creationId xmlns="" xmlns:p14="http://schemas.microsoft.com/office/powerpoint/2010/main" val="20165080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D38DEFDC-35AC-B5F9-ADF4-CCBE07C65136}"/>
              </a:ext>
            </a:extLst>
          </p:cNvPr>
          <p:cNvSpPr>
            <a:spLocks noChangeArrowheads="1"/>
          </p:cNvSpPr>
          <p:nvPr/>
        </p:nvSpPr>
        <p:spPr bwMode="auto">
          <a:xfrm>
            <a:off x="247105" y="572178"/>
            <a:ext cx="11697789" cy="5262979"/>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202124"/>
                </a:solidFill>
                <a:effectLst/>
                <a:latin typeface="Arial" panose="020B0604020202020204" pitchFamily="34" charset="0"/>
              </a:rPr>
              <a:t>Activity-lifecycle concepts: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02124"/>
                </a:solidFill>
                <a:effectLst/>
                <a:latin typeface="Google Sans Text"/>
              </a:rPr>
              <a:t>To navigate transitions between stages of the activity lifecycle, the </a:t>
            </a:r>
            <a:r>
              <a:rPr kumimoji="0" lang="en-US" altLang="en-US" sz="2800" b="0" i="0" u="none" strike="noStrike" cap="none" normalizeH="0" baseline="0" dirty="0">
                <a:ln>
                  <a:noFill/>
                </a:ln>
                <a:solidFill>
                  <a:srgbClr val="202124"/>
                </a:solidFill>
                <a:effectLst/>
                <a:latin typeface="var(--devsite-code-font-family)"/>
              </a:rPr>
              <a:t>Activity</a:t>
            </a:r>
            <a:r>
              <a:rPr kumimoji="0" lang="en-US" altLang="en-US" sz="2800" b="0" i="0" u="none" strike="noStrike" cap="none" normalizeH="0" baseline="0" dirty="0">
                <a:ln>
                  <a:noFill/>
                </a:ln>
                <a:solidFill>
                  <a:srgbClr val="202124"/>
                </a:solidFill>
                <a:effectLst/>
                <a:latin typeface="Google Sans Text"/>
              </a:rPr>
              <a:t> class provides a core set of six callbacks: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err="1">
                <a:ln>
                  <a:noFill/>
                </a:ln>
                <a:solidFill>
                  <a:srgbClr val="202124"/>
                </a:solidFill>
                <a:effectLst/>
                <a:latin typeface="var(--devsite-code-font-family)"/>
                <a:hlinkClick r:id="rId2"/>
              </a:rPr>
              <a:t>onCreate</a:t>
            </a:r>
            <a:r>
              <a:rPr kumimoji="0" lang="en-US" altLang="en-US" sz="2800" b="0" i="0" u="none" strike="noStrike" cap="none" normalizeH="0" baseline="0" dirty="0">
                <a:ln>
                  <a:noFill/>
                </a:ln>
                <a:solidFill>
                  <a:srgbClr val="202124"/>
                </a:solidFill>
                <a:effectLst/>
                <a:latin typeface="var(--devsite-code-font-family)"/>
                <a:hlinkClick r:id="rId2"/>
              </a:rPr>
              <a:t>()</a:t>
            </a:r>
            <a:endParaRPr kumimoji="0" lang="en-US" altLang="en-US" sz="2800" b="0" i="0" u="none" strike="noStrike" cap="none" normalizeH="0" baseline="0" dirty="0">
              <a:ln>
                <a:noFill/>
              </a:ln>
              <a:solidFill>
                <a:srgbClr val="202124"/>
              </a:solidFill>
              <a:effectLst/>
              <a:latin typeface="Google Sans Text"/>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rgbClr val="202124"/>
                </a:solidFill>
                <a:effectLst/>
                <a:latin typeface="Google Sans Text"/>
              </a:rPr>
              <a:t> </a:t>
            </a:r>
            <a:r>
              <a:rPr kumimoji="0" lang="en-US" altLang="en-US" sz="2800" b="0" i="0" u="none" strike="noStrike" cap="none" normalizeH="0" baseline="0" dirty="0" err="1">
                <a:ln>
                  <a:noFill/>
                </a:ln>
                <a:solidFill>
                  <a:srgbClr val="202124"/>
                </a:solidFill>
                <a:effectLst/>
                <a:latin typeface="var(--devsite-code-font-family)"/>
                <a:hlinkClick r:id="rId2"/>
              </a:rPr>
              <a:t>onStart</a:t>
            </a:r>
            <a:r>
              <a:rPr kumimoji="0" lang="en-US" altLang="en-US" sz="2800" b="0" i="0" u="none" strike="noStrike" cap="none" normalizeH="0" baseline="0" dirty="0">
                <a:ln>
                  <a:noFill/>
                </a:ln>
                <a:solidFill>
                  <a:srgbClr val="202124"/>
                </a:solidFill>
                <a:effectLst/>
                <a:latin typeface="var(--devsite-code-font-family)"/>
                <a:hlinkClick r:id="rId2"/>
              </a:rPr>
              <a:t>()</a:t>
            </a:r>
            <a:endParaRPr kumimoji="0" lang="en-US" altLang="en-US" sz="2800" b="0" i="0" u="none" strike="noStrike" cap="none" normalizeH="0" baseline="0" dirty="0">
              <a:ln>
                <a:noFill/>
              </a:ln>
              <a:solidFill>
                <a:srgbClr val="202124"/>
              </a:solidFill>
              <a:effectLst/>
              <a:latin typeface="Google Sans Text"/>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err="1">
                <a:ln>
                  <a:noFill/>
                </a:ln>
                <a:solidFill>
                  <a:srgbClr val="202124"/>
                </a:solidFill>
                <a:effectLst/>
                <a:latin typeface="var(--devsite-code-font-family)"/>
                <a:hlinkClick r:id="rId2"/>
              </a:rPr>
              <a:t>onResume</a:t>
            </a:r>
            <a:r>
              <a:rPr kumimoji="0" lang="en-US" altLang="en-US" sz="2800" b="0" i="0" u="none" strike="noStrike" cap="none" normalizeH="0" baseline="0" dirty="0">
                <a:ln>
                  <a:noFill/>
                </a:ln>
                <a:solidFill>
                  <a:srgbClr val="202124"/>
                </a:solidFill>
                <a:effectLst/>
                <a:latin typeface="var(--devsite-code-font-family)"/>
                <a:hlinkClick r:id="rId2"/>
              </a:rPr>
              <a:t>()</a:t>
            </a:r>
            <a:endParaRPr kumimoji="0" lang="en-US" altLang="en-US" sz="2800" b="0" i="0" u="none" strike="noStrike" cap="none" normalizeH="0" baseline="0" dirty="0">
              <a:ln>
                <a:noFill/>
              </a:ln>
              <a:solidFill>
                <a:srgbClr val="202124"/>
              </a:solidFill>
              <a:effectLst/>
              <a:latin typeface="Google Sans Text"/>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err="1">
                <a:ln>
                  <a:noFill/>
                </a:ln>
                <a:solidFill>
                  <a:srgbClr val="202124"/>
                </a:solidFill>
                <a:effectLst/>
                <a:latin typeface="var(--devsite-code-font-family)"/>
                <a:hlinkClick r:id="rId2"/>
              </a:rPr>
              <a:t>onPause</a:t>
            </a:r>
            <a:r>
              <a:rPr kumimoji="0" lang="en-US" altLang="en-US" sz="2800" b="0" i="0" u="none" strike="noStrike" cap="none" normalizeH="0" baseline="0" dirty="0">
                <a:ln>
                  <a:noFill/>
                </a:ln>
                <a:solidFill>
                  <a:srgbClr val="202124"/>
                </a:solidFill>
                <a:effectLst/>
                <a:latin typeface="var(--devsite-code-font-family)"/>
                <a:hlinkClick r:id="rId2"/>
              </a:rPr>
              <a:t>()</a:t>
            </a:r>
            <a:r>
              <a:rPr kumimoji="0" lang="en-US" altLang="en-US" sz="2800" b="0" i="0" u="none" strike="noStrike" cap="none" normalizeH="0" baseline="0" dirty="0">
                <a:ln>
                  <a:noFill/>
                </a:ln>
                <a:solidFill>
                  <a:srgbClr val="202124"/>
                </a:solidFill>
                <a:effectLst/>
                <a:latin typeface="Google Sans Text"/>
              </a:rPr>
              <a:t>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err="1">
                <a:ln>
                  <a:noFill/>
                </a:ln>
                <a:solidFill>
                  <a:srgbClr val="202124"/>
                </a:solidFill>
                <a:effectLst/>
                <a:latin typeface="var(--devsite-code-font-family)"/>
                <a:hlinkClick r:id="rId2"/>
              </a:rPr>
              <a:t>onStop</a:t>
            </a:r>
            <a:r>
              <a:rPr kumimoji="0" lang="en-US" altLang="en-US" sz="2800" b="0" i="0" u="none" strike="noStrike" cap="none" normalizeH="0" baseline="0" dirty="0">
                <a:ln>
                  <a:noFill/>
                </a:ln>
                <a:solidFill>
                  <a:srgbClr val="202124"/>
                </a:solidFill>
                <a:effectLst/>
                <a:latin typeface="var(--devsite-code-font-family)"/>
                <a:hlinkClick r:id="rId2"/>
              </a:rPr>
              <a:t>()</a:t>
            </a:r>
            <a:r>
              <a:rPr kumimoji="0" lang="en-US" altLang="en-US" sz="2800" b="0" i="0" u="none" strike="noStrike" cap="none" normalizeH="0" baseline="0" dirty="0">
                <a:ln>
                  <a:noFill/>
                </a:ln>
                <a:solidFill>
                  <a:srgbClr val="202124"/>
                </a:solidFill>
                <a:effectLst/>
                <a:latin typeface="Google Sans Text"/>
              </a:rPr>
              <a:t>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rgbClr val="202124"/>
                </a:solidFill>
                <a:effectLst/>
                <a:latin typeface="Google Sans Text"/>
              </a:rPr>
              <a:t> </a:t>
            </a:r>
            <a:r>
              <a:rPr kumimoji="0" lang="en-US" altLang="en-US" sz="2800" b="0" i="0" u="none" strike="noStrike" cap="none" normalizeH="0" baseline="0" dirty="0" err="1">
                <a:ln>
                  <a:noFill/>
                </a:ln>
                <a:solidFill>
                  <a:srgbClr val="202124"/>
                </a:solidFill>
                <a:effectLst/>
                <a:latin typeface="var(--devsite-code-font-family)"/>
                <a:hlinkClick r:id="rId2"/>
              </a:rPr>
              <a:t>onDestroy</a:t>
            </a:r>
            <a:r>
              <a:rPr kumimoji="0" lang="en-US" altLang="en-US" sz="2800" b="0" i="0" u="none" strike="noStrike" cap="none" normalizeH="0" baseline="0" dirty="0">
                <a:ln>
                  <a:noFill/>
                </a:ln>
                <a:solidFill>
                  <a:srgbClr val="202124"/>
                </a:solidFill>
                <a:effectLst/>
                <a:latin typeface="var(--devsite-code-font-family)"/>
                <a:hlinkClick r:id="rId2"/>
              </a:rPr>
              <a:t>()</a:t>
            </a:r>
            <a:r>
              <a:rPr kumimoji="0" lang="en-US" altLang="en-US" sz="2800" b="0" i="0" u="none" strike="noStrike" cap="none" normalizeH="0" baseline="0" dirty="0">
                <a:ln>
                  <a:noFill/>
                </a:ln>
                <a:solidFill>
                  <a:srgbClr val="202124"/>
                </a:solidFill>
                <a:effectLst/>
                <a:latin typeface="Google Sans Tex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dirty="0">
              <a:solidFill>
                <a:srgbClr val="202124"/>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rgbClr val="202124"/>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02124"/>
                </a:solidFill>
                <a:effectLst/>
                <a:latin typeface="Google Sans Text"/>
              </a:rPr>
              <a:t>The system invokes each of these callbacks as the activity enters a new state.</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405869096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1222" y="217295"/>
            <a:ext cx="11522562" cy="5355312"/>
          </a:xfrm>
          <a:prstGeom prst="rect">
            <a:avLst/>
          </a:prstGeom>
        </p:spPr>
        <p:txBody>
          <a:bodyPr wrap="square">
            <a:spAutoFit/>
          </a:bodyPr>
          <a:lstStyle/>
          <a:p>
            <a:pPr algn="just"/>
            <a:r>
              <a:rPr lang="en-US" b="1" dirty="0" smtClean="0">
                <a:latin typeface="Times New Roman" pitchFamily="18" charset="0"/>
                <a:cs typeface="Times New Roman" pitchFamily="18" charset="0"/>
              </a:rPr>
              <a:t>1. </a:t>
            </a:r>
            <a:r>
              <a:rPr lang="en-US" b="1" dirty="0" err="1" smtClean="0">
                <a:latin typeface="Times New Roman" pitchFamily="18" charset="0"/>
                <a:cs typeface="Times New Roman" pitchFamily="18" charset="0"/>
              </a:rPr>
              <a:t>onCreate</a:t>
            </a:r>
            <a:r>
              <a:rPr lang="en-US" b="1"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This method is called when the activity is first created. It is responsible for initializing the activity’s UI, such as inflating the layout and finding the views.</a:t>
            </a:r>
          </a:p>
          <a:p>
            <a:pPr algn="just"/>
            <a:r>
              <a:rPr lang="en-US" b="1" dirty="0" smtClean="0">
                <a:latin typeface="Times New Roman" pitchFamily="18" charset="0"/>
                <a:cs typeface="Times New Roman" pitchFamily="18" charset="0"/>
              </a:rPr>
              <a:t>2. </a:t>
            </a:r>
            <a:r>
              <a:rPr lang="en-US" b="1" dirty="0" err="1" smtClean="0">
                <a:latin typeface="Times New Roman" pitchFamily="18" charset="0"/>
                <a:cs typeface="Times New Roman" pitchFamily="18" charset="0"/>
              </a:rPr>
              <a:t>onStart</a:t>
            </a:r>
            <a:r>
              <a:rPr lang="en-US" b="1"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This method is called when the activity becomes visible to the user. It is a good place to start animations and other visual changes.</a:t>
            </a:r>
          </a:p>
          <a:p>
            <a:pPr algn="just"/>
            <a:r>
              <a:rPr lang="en-US" b="1" dirty="0" smtClean="0">
                <a:latin typeface="Times New Roman" pitchFamily="18" charset="0"/>
                <a:cs typeface="Times New Roman" pitchFamily="18" charset="0"/>
              </a:rPr>
              <a:t>3. </a:t>
            </a:r>
            <a:r>
              <a:rPr lang="en-US" b="1" dirty="0" err="1" smtClean="0">
                <a:latin typeface="Times New Roman" pitchFamily="18" charset="0"/>
                <a:cs typeface="Times New Roman" pitchFamily="18" charset="0"/>
              </a:rPr>
              <a:t>onResume</a:t>
            </a:r>
            <a:r>
              <a:rPr lang="en-US" b="1"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This method is called when the activity becomes the foreground activity. It is the state in which the user can interact with the activity. This is where you should register any listeners or start any services that need to be running while the activity is in the foreground.</a:t>
            </a:r>
          </a:p>
          <a:p>
            <a:pPr algn="just"/>
            <a:r>
              <a:rPr lang="en-US" b="1" dirty="0" smtClean="0">
                <a:latin typeface="Times New Roman" pitchFamily="18" charset="0"/>
                <a:cs typeface="Times New Roman" pitchFamily="18" charset="0"/>
              </a:rPr>
              <a:t>4. </a:t>
            </a:r>
            <a:r>
              <a:rPr lang="en-US" b="1" dirty="0" err="1" smtClean="0">
                <a:latin typeface="Times New Roman" pitchFamily="18" charset="0"/>
                <a:cs typeface="Times New Roman" pitchFamily="18" charset="0"/>
              </a:rPr>
              <a:t>onPause</a:t>
            </a:r>
            <a:r>
              <a:rPr lang="en-US" b="1"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This method is called when the activity is no longer the foreground activity. It is a good place to unregister listeners, save any data that needs to be saved, and stop any services that don’t need to be running in the background.</a:t>
            </a:r>
          </a:p>
          <a:p>
            <a:pPr algn="just"/>
            <a:r>
              <a:rPr lang="en-US" dirty="0" smtClean="0">
                <a:latin typeface="Times New Roman" pitchFamily="18" charset="0"/>
                <a:cs typeface="Times New Roman" pitchFamily="18" charset="0"/>
              </a:rPr>
              <a:t>5. </a:t>
            </a:r>
            <a:r>
              <a:rPr lang="en-US" b="1" dirty="0" err="1" smtClean="0">
                <a:latin typeface="Times New Roman" pitchFamily="18" charset="0"/>
                <a:cs typeface="Times New Roman" pitchFamily="18" charset="0"/>
              </a:rPr>
              <a:t>onStop</a:t>
            </a:r>
            <a:r>
              <a:rPr lang="en-US"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This method is called when the activity is no longer visible to the user. It is a good place to stop animations and other visual changes.</a:t>
            </a:r>
          </a:p>
          <a:p>
            <a:pPr algn="just"/>
            <a:r>
              <a:rPr lang="en-US" b="1" dirty="0" smtClean="0">
                <a:latin typeface="Times New Roman" pitchFamily="18" charset="0"/>
                <a:cs typeface="Times New Roman" pitchFamily="18" charset="0"/>
              </a:rPr>
              <a:t>6. </a:t>
            </a:r>
            <a:r>
              <a:rPr lang="en-US" b="1" dirty="0" err="1" smtClean="0">
                <a:latin typeface="Times New Roman" pitchFamily="18" charset="0"/>
                <a:cs typeface="Times New Roman" pitchFamily="18" charset="0"/>
              </a:rPr>
              <a:t>onDestroy</a:t>
            </a:r>
            <a:r>
              <a:rPr lang="en-US" b="1"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This method is called when the activity is about to be destroyed. It is a good place to release any resources and clean up any remaining data.</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2906" y="127712"/>
            <a:ext cx="5342587" cy="6966010"/>
          </a:xfrm>
          <a:prstGeom prst="rect">
            <a:avLst/>
          </a:prstGeom>
        </p:spPr>
        <p:txBody>
          <a:bodyPr wrap="square">
            <a:spAutoFit/>
          </a:bodyPr>
          <a:lstStyle/>
          <a:p>
            <a:pPr>
              <a:lnSpc>
                <a:spcPct val="150000"/>
              </a:lnSpc>
            </a:pPr>
            <a:r>
              <a:rPr lang="en-US" sz="1200" dirty="0" smtClean="0">
                <a:latin typeface="Times New Roman" pitchFamily="18" charset="0"/>
                <a:cs typeface="Times New Roman" pitchFamily="18" charset="0"/>
              </a:rPr>
              <a:t>public class </a:t>
            </a:r>
            <a:r>
              <a:rPr lang="en-US" sz="1200" dirty="0" err="1" smtClean="0">
                <a:latin typeface="Times New Roman" pitchFamily="18" charset="0"/>
                <a:cs typeface="Times New Roman" pitchFamily="18" charset="0"/>
              </a:rPr>
              <a:t>MainActivity</a:t>
            </a:r>
            <a:r>
              <a:rPr lang="en-US" sz="1200" dirty="0" smtClean="0">
                <a:latin typeface="Times New Roman" pitchFamily="18" charset="0"/>
                <a:cs typeface="Times New Roman" pitchFamily="18" charset="0"/>
              </a:rPr>
              <a:t> extends </a:t>
            </a:r>
            <a:r>
              <a:rPr lang="en-US" sz="1200" dirty="0" err="1" smtClean="0">
                <a:latin typeface="Times New Roman" pitchFamily="18" charset="0"/>
                <a:cs typeface="Times New Roman" pitchFamily="18" charset="0"/>
              </a:rPr>
              <a:t>AppCompatActivity</a:t>
            </a:r>
            <a:endParaRPr lang="en-US" sz="1200" dirty="0" smtClean="0">
              <a:latin typeface="Times New Roman" pitchFamily="18" charset="0"/>
              <a:cs typeface="Times New Roman" pitchFamily="18" charset="0"/>
            </a:endParaRPr>
          </a:p>
          <a:p>
            <a:pPr>
              <a:lnSpc>
                <a:spcPct val="150000"/>
              </a:lnSpc>
            </a:pPr>
            <a:r>
              <a:rPr lang="en-US" sz="1200" dirty="0" smtClean="0">
                <a:latin typeface="Times New Roman" pitchFamily="18" charset="0"/>
                <a:cs typeface="Times New Roman" pitchFamily="18" charset="0"/>
              </a:rPr>
              <a:t>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@Override</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protected void </a:t>
            </a:r>
            <a:r>
              <a:rPr lang="en-US" sz="1200" dirty="0" err="1" smtClean="0">
                <a:latin typeface="Times New Roman" pitchFamily="18" charset="0"/>
                <a:cs typeface="Times New Roman" pitchFamily="18" charset="0"/>
              </a:rPr>
              <a:t>onCreate</a:t>
            </a:r>
            <a:r>
              <a:rPr lang="en-US" sz="1200" dirty="0" smtClean="0">
                <a:latin typeface="Times New Roman" pitchFamily="18" charset="0"/>
                <a:cs typeface="Times New Roman" pitchFamily="18" charset="0"/>
              </a:rPr>
              <a:t>(Bundle  </a:t>
            </a:r>
            <a:r>
              <a:rPr lang="en-US" sz="1200" dirty="0" err="1" smtClean="0">
                <a:latin typeface="Times New Roman" pitchFamily="18" charset="0"/>
                <a:cs typeface="Times New Roman" pitchFamily="18" charset="0"/>
              </a:rPr>
              <a:t>savedInstanceState</a:t>
            </a:r>
            <a:r>
              <a:rPr lang="en-US" sz="1200" dirty="0" smtClean="0">
                <a:latin typeface="Times New Roman" pitchFamily="18" charset="0"/>
                <a:cs typeface="Times New Roman" pitchFamily="18" charset="0"/>
              </a:rPr>
              <a:t>) </a:t>
            </a:r>
          </a:p>
          <a:p>
            <a:pPr>
              <a:lnSpc>
                <a:spcPct val="150000"/>
              </a:lnSpc>
            </a:pPr>
            <a:r>
              <a:rPr lang="en-US" sz="1200" dirty="0" smtClean="0">
                <a:latin typeface="Times New Roman" pitchFamily="18" charset="0"/>
                <a:cs typeface="Times New Roman" pitchFamily="18" charset="0"/>
              </a:rPr>
              <a:t>{</a:t>
            </a:r>
            <a:br>
              <a:rPr lang="en-US" sz="1200" dirty="0" smtClean="0">
                <a:latin typeface="Times New Roman" pitchFamily="18" charset="0"/>
                <a:cs typeface="Times New Roman" pitchFamily="18" charset="0"/>
              </a:rPr>
            </a:br>
            <a:r>
              <a:rPr lang="en-US" sz="1200" dirty="0" err="1" smtClean="0">
                <a:latin typeface="Times New Roman" pitchFamily="18" charset="0"/>
                <a:cs typeface="Times New Roman" pitchFamily="18" charset="0"/>
              </a:rPr>
              <a:t>super.onCreate</a:t>
            </a:r>
            <a:r>
              <a:rPr lang="en-US" sz="1200" dirty="0" smtClean="0">
                <a:latin typeface="Times New Roman" pitchFamily="18" charset="0"/>
                <a:cs typeface="Times New Roman" pitchFamily="18" charset="0"/>
              </a:rPr>
              <a:t>(</a:t>
            </a:r>
            <a:r>
              <a:rPr lang="en-US" sz="1200" dirty="0" err="1" smtClean="0">
                <a:latin typeface="Times New Roman" pitchFamily="18" charset="0"/>
                <a:cs typeface="Times New Roman" pitchFamily="18" charset="0"/>
              </a:rPr>
              <a:t>savedInstanceState</a:t>
            </a:r>
            <a:r>
              <a:rPr lang="en-US" sz="1200" dirty="0" smtClean="0">
                <a:latin typeface="Times New Roman" pitchFamily="18" charset="0"/>
                <a:cs typeface="Times New Roman" pitchFamily="18" charset="0"/>
              </a:rPr>
              <a:t>);</a:t>
            </a:r>
            <a:br>
              <a:rPr lang="en-US" sz="1200" dirty="0" smtClean="0">
                <a:latin typeface="Times New Roman" pitchFamily="18" charset="0"/>
                <a:cs typeface="Times New Roman" pitchFamily="18" charset="0"/>
              </a:rPr>
            </a:br>
            <a:r>
              <a:rPr lang="en-US" sz="1200" dirty="0" err="1" smtClean="0">
                <a:latin typeface="Times New Roman" pitchFamily="18" charset="0"/>
                <a:cs typeface="Times New Roman" pitchFamily="18" charset="0"/>
              </a:rPr>
              <a:t>setContentView</a:t>
            </a:r>
            <a:r>
              <a:rPr lang="en-US" sz="1200" dirty="0" smtClean="0">
                <a:latin typeface="Times New Roman" pitchFamily="18" charset="0"/>
                <a:cs typeface="Times New Roman" pitchFamily="18" charset="0"/>
              </a:rPr>
              <a:t>(</a:t>
            </a:r>
            <a:r>
              <a:rPr lang="en-US" sz="1200" dirty="0" err="1" smtClean="0">
                <a:latin typeface="Times New Roman" pitchFamily="18" charset="0"/>
                <a:cs typeface="Times New Roman" pitchFamily="18" charset="0"/>
              </a:rPr>
              <a:t>R.layout.activity_main</a:t>
            </a:r>
            <a:r>
              <a:rPr lang="en-US" sz="1200" dirty="0" smtClean="0">
                <a:latin typeface="Times New Roman" pitchFamily="18" charset="0"/>
                <a:cs typeface="Times New Roman" pitchFamily="18" charset="0"/>
              </a:rPr>
              <a:t>);</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 Initialize UI components and load data</a:t>
            </a:r>
            <a:br>
              <a:rPr lang="en-US" sz="1200" dirty="0" smtClean="0">
                <a:latin typeface="Times New Roman" pitchFamily="18" charset="0"/>
                <a:cs typeface="Times New Roman" pitchFamily="18" charset="0"/>
              </a:rPr>
            </a:br>
            <a:r>
              <a:rPr lang="en-US" sz="1200" dirty="0" err="1" smtClean="0">
                <a:latin typeface="Times New Roman" pitchFamily="18" charset="0"/>
                <a:cs typeface="Times New Roman" pitchFamily="18" charset="0"/>
              </a:rPr>
              <a:t>Log.d</a:t>
            </a:r>
            <a:r>
              <a:rPr lang="en-US" sz="1200" dirty="0" smtClean="0">
                <a:latin typeface="Times New Roman" pitchFamily="18" charset="0"/>
                <a:cs typeface="Times New Roman" pitchFamily="18" charset="0"/>
              </a:rPr>
              <a:t>("Lifecycle", "</a:t>
            </a:r>
            <a:r>
              <a:rPr lang="en-US" sz="1200" dirty="0" err="1" smtClean="0">
                <a:latin typeface="Times New Roman" pitchFamily="18" charset="0"/>
                <a:cs typeface="Times New Roman" pitchFamily="18" charset="0"/>
              </a:rPr>
              <a:t>onCreate</a:t>
            </a:r>
            <a:r>
              <a:rPr lang="en-US" sz="1200" dirty="0" smtClean="0">
                <a:latin typeface="Times New Roman" pitchFamily="18" charset="0"/>
                <a:cs typeface="Times New Roman" pitchFamily="18" charset="0"/>
              </a:rPr>
              <a:t>");</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@Override</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protected void </a:t>
            </a:r>
            <a:r>
              <a:rPr lang="en-US" sz="1200" dirty="0" err="1" smtClean="0">
                <a:latin typeface="Times New Roman" pitchFamily="18" charset="0"/>
                <a:cs typeface="Times New Roman" pitchFamily="18" charset="0"/>
              </a:rPr>
              <a:t>onStart</a:t>
            </a:r>
            <a:r>
              <a:rPr lang="en-US" sz="1200" dirty="0" smtClean="0">
                <a:latin typeface="Times New Roman" pitchFamily="18" charset="0"/>
                <a:cs typeface="Times New Roman" pitchFamily="18" charset="0"/>
              </a:rPr>
              <a:t>() {</a:t>
            </a:r>
            <a:br>
              <a:rPr lang="en-US" sz="1200" dirty="0" smtClean="0">
                <a:latin typeface="Times New Roman" pitchFamily="18" charset="0"/>
                <a:cs typeface="Times New Roman" pitchFamily="18" charset="0"/>
              </a:rPr>
            </a:br>
            <a:r>
              <a:rPr lang="en-US" sz="1200" dirty="0" err="1" smtClean="0">
                <a:latin typeface="Times New Roman" pitchFamily="18" charset="0"/>
                <a:cs typeface="Times New Roman" pitchFamily="18" charset="0"/>
              </a:rPr>
              <a:t>super.onStart</a:t>
            </a:r>
            <a:r>
              <a:rPr lang="en-US" sz="1200" dirty="0" smtClean="0">
                <a:latin typeface="Times New Roman" pitchFamily="18" charset="0"/>
                <a:cs typeface="Times New Roman" pitchFamily="18" charset="0"/>
              </a:rPr>
              <a:t>();</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 Start animations or visual effects</a:t>
            </a:r>
            <a:br>
              <a:rPr lang="en-US" sz="1200" dirty="0" smtClean="0">
                <a:latin typeface="Times New Roman" pitchFamily="18" charset="0"/>
                <a:cs typeface="Times New Roman" pitchFamily="18" charset="0"/>
              </a:rPr>
            </a:br>
            <a:r>
              <a:rPr lang="en-US" sz="1200" dirty="0" err="1" smtClean="0">
                <a:latin typeface="Times New Roman" pitchFamily="18" charset="0"/>
                <a:cs typeface="Times New Roman" pitchFamily="18" charset="0"/>
              </a:rPr>
              <a:t>Log.d</a:t>
            </a:r>
            <a:r>
              <a:rPr lang="en-US" sz="1200" dirty="0" smtClean="0">
                <a:latin typeface="Times New Roman" pitchFamily="18" charset="0"/>
                <a:cs typeface="Times New Roman" pitchFamily="18" charset="0"/>
              </a:rPr>
              <a:t>("Lifecycle", "</a:t>
            </a:r>
            <a:r>
              <a:rPr lang="en-US" sz="1200" dirty="0" err="1" smtClean="0">
                <a:latin typeface="Times New Roman" pitchFamily="18" charset="0"/>
                <a:cs typeface="Times New Roman" pitchFamily="18" charset="0"/>
              </a:rPr>
              <a:t>onStart</a:t>
            </a:r>
            <a:r>
              <a:rPr lang="en-US" sz="1200" dirty="0" smtClean="0">
                <a:latin typeface="Times New Roman" pitchFamily="18" charset="0"/>
                <a:cs typeface="Times New Roman" pitchFamily="18" charset="0"/>
              </a:rPr>
              <a:t>");</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a:t>
            </a:r>
          </a:p>
          <a:p>
            <a:pPr>
              <a:lnSpc>
                <a:spcPct val="150000"/>
              </a:lnSpc>
            </a:pPr>
            <a:r>
              <a:rPr lang="en-US" sz="1200" dirty="0" smtClean="0">
                <a:latin typeface="Times New Roman" pitchFamily="18" charset="0"/>
                <a:cs typeface="Times New Roman" pitchFamily="18" charset="0"/>
              </a:rPr>
              <a:t>@Override</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protected void </a:t>
            </a:r>
            <a:r>
              <a:rPr lang="en-US" sz="1200" dirty="0" err="1" smtClean="0">
                <a:latin typeface="Times New Roman" pitchFamily="18" charset="0"/>
                <a:cs typeface="Times New Roman" pitchFamily="18" charset="0"/>
              </a:rPr>
              <a:t>onResume</a:t>
            </a:r>
            <a:r>
              <a:rPr lang="en-US" sz="1200" dirty="0" smtClean="0">
                <a:latin typeface="Times New Roman" pitchFamily="18" charset="0"/>
                <a:cs typeface="Times New Roman" pitchFamily="18" charset="0"/>
              </a:rPr>
              <a:t>() {</a:t>
            </a:r>
            <a:br>
              <a:rPr lang="en-US" sz="1200" dirty="0" smtClean="0">
                <a:latin typeface="Times New Roman" pitchFamily="18" charset="0"/>
                <a:cs typeface="Times New Roman" pitchFamily="18" charset="0"/>
              </a:rPr>
            </a:br>
            <a:r>
              <a:rPr lang="en-US" sz="1200" dirty="0" err="1" smtClean="0">
                <a:latin typeface="Times New Roman" pitchFamily="18" charset="0"/>
                <a:cs typeface="Times New Roman" pitchFamily="18" charset="0"/>
              </a:rPr>
              <a:t>super.onResume</a:t>
            </a:r>
            <a:r>
              <a:rPr lang="en-US" sz="1200" dirty="0" smtClean="0">
                <a:latin typeface="Times New Roman" pitchFamily="18" charset="0"/>
                <a:cs typeface="Times New Roman" pitchFamily="18" charset="0"/>
              </a:rPr>
              <a:t>();</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 Start playing media</a:t>
            </a:r>
            <a:br>
              <a:rPr lang="en-US" sz="1200" dirty="0" smtClean="0">
                <a:latin typeface="Times New Roman" pitchFamily="18" charset="0"/>
                <a:cs typeface="Times New Roman" pitchFamily="18" charset="0"/>
              </a:rPr>
            </a:br>
            <a:r>
              <a:rPr lang="en-US" sz="1200" dirty="0" err="1" smtClean="0">
                <a:latin typeface="Times New Roman" pitchFamily="18" charset="0"/>
                <a:cs typeface="Times New Roman" pitchFamily="18" charset="0"/>
              </a:rPr>
              <a:t>Log.d</a:t>
            </a:r>
            <a:r>
              <a:rPr lang="en-US" sz="1200" dirty="0" smtClean="0">
                <a:latin typeface="Times New Roman" pitchFamily="18" charset="0"/>
                <a:cs typeface="Times New Roman" pitchFamily="18" charset="0"/>
              </a:rPr>
              <a:t>("Lifecycle", "</a:t>
            </a:r>
            <a:r>
              <a:rPr lang="en-US" sz="1200" dirty="0" err="1" smtClean="0">
                <a:latin typeface="Times New Roman" pitchFamily="18" charset="0"/>
                <a:cs typeface="Times New Roman" pitchFamily="18" charset="0"/>
              </a:rPr>
              <a:t>onResume</a:t>
            </a:r>
            <a:r>
              <a:rPr lang="en-US" sz="1200" dirty="0" smtClean="0">
                <a:latin typeface="Times New Roman" pitchFamily="18" charset="0"/>
                <a:cs typeface="Times New Roman" pitchFamily="18" charset="0"/>
              </a:rPr>
              <a:t>");</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t/>
            </a:r>
            <a:br>
              <a:rPr lang="en-US" dirty="0" smtClean="0"/>
            </a:br>
            <a:endParaRPr lang="en-US" dirty="0"/>
          </a:p>
        </p:txBody>
      </p:sp>
      <p:sp>
        <p:nvSpPr>
          <p:cNvPr id="3" name="Rectangle 2"/>
          <p:cNvSpPr/>
          <p:nvPr/>
        </p:nvSpPr>
        <p:spPr>
          <a:xfrm>
            <a:off x="6476120" y="0"/>
            <a:ext cx="4612590" cy="7243008"/>
          </a:xfrm>
          <a:prstGeom prst="rect">
            <a:avLst/>
          </a:prstGeom>
        </p:spPr>
        <p:txBody>
          <a:bodyPr wrap="square">
            <a:spAutoFit/>
          </a:bodyPr>
          <a:lstStyle/>
          <a:p>
            <a:pPr>
              <a:lnSpc>
                <a:spcPct val="150000"/>
              </a:lnSpc>
            </a:pPr>
            <a:r>
              <a:rPr lang="en-US" sz="1200" dirty="0" smtClean="0">
                <a:latin typeface="Times New Roman" pitchFamily="18" charset="0"/>
                <a:cs typeface="Times New Roman" pitchFamily="18" charset="0"/>
              </a:rPr>
              <a:t>@Override</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protected void </a:t>
            </a:r>
            <a:r>
              <a:rPr lang="en-US" sz="1200" dirty="0" err="1" smtClean="0">
                <a:latin typeface="Times New Roman" pitchFamily="18" charset="0"/>
                <a:cs typeface="Times New Roman" pitchFamily="18" charset="0"/>
              </a:rPr>
              <a:t>onPause</a:t>
            </a:r>
            <a:r>
              <a:rPr lang="en-US" sz="1200" dirty="0" smtClean="0">
                <a:latin typeface="Times New Roman" pitchFamily="18" charset="0"/>
                <a:cs typeface="Times New Roman" pitchFamily="18" charset="0"/>
              </a:rPr>
              <a:t>() {</a:t>
            </a:r>
            <a:br>
              <a:rPr lang="en-US" sz="1200" dirty="0" smtClean="0">
                <a:latin typeface="Times New Roman" pitchFamily="18" charset="0"/>
                <a:cs typeface="Times New Roman" pitchFamily="18" charset="0"/>
              </a:rPr>
            </a:br>
            <a:r>
              <a:rPr lang="en-US" sz="1200" dirty="0" err="1" smtClean="0">
                <a:latin typeface="Times New Roman" pitchFamily="18" charset="0"/>
                <a:cs typeface="Times New Roman" pitchFamily="18" charset="0"/>
              </a:rPr>
              <a:t>super.onPause</a:t>
            </a:r>
            <a:r>
              <a:rPr lang="en-US" sz="1200" dirty="0" smtClean="0">
                <a:latin typeface="Times New Roman" pitchFamily="18" charset="0"/>
                <a:cs typeface="Times New Roman" pitchFamily="18" charset="0"/>
              </a:rPr>
              <a:t>();</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 Save data, stop background processes</a:t>
            </a:r>
            <a:br>
              <a:rPr lang="en-US" sz="1200" dirty="0" smtClean="0">
                <a:latin typeface="Times New Roman" pitchFamily="18" charset="0"/>
                <a:cs typeface="Times New Roman" pitchFamily="18" charset="0"/>
              </a:rPr>
            </a:br>
            <a:r>
              <a:rPr lang="en-US" sz="1200" dirty="0" err="1" smtClean="0">
                <a:latin typeface="Times New Roman" pitchFamily="18" charset="0"/>
                <a:cs typeface="Times New Roman" pitchFamily="18" charset="0"/>
              </a:rPr>
              <a:t>Log.d</a:t>
            </a:r>
            <a:r>
              <a:rPr lang="en-US" sz="1200" dirty="0" smtClean="0">
                <a:latin typeface="Times New Roman" pitchFamily="18" charset="0"/>
                <a:cs typeface="Times New Roman" pitchFamily="18" charset="0"/>
              </a:rPr>
              <a:t>("Lifecycle", "</a:t>
            </a:r>
            <a:r>
              <a:rPr lang="en-US" sz="1200" dirty="0" err="1" smtClean="0">
                <a:latin typeface="Times New Roman" pitchFamily="18" charset="0"/>
                <a:cs typeface="Times New Roman" pitchFamily="18" charset="0"/>
              </a:rPr>
              <a:t>onPause</a:t>
            </a:r>
            <a:r>
              <a:rPr lang="en-US" sz="1200" dirty="0" smtClean="0">
                <a:latin typeface="Times New Roman" pitchFamily="18" charset="0"/>
                <a:cs typeface="Times New Roman" pitchFamily="18" charset="0"/>
              </a:rPr>
              <a:t>");}</a:t>
            </a:r>
          </a:p>
          <a:p>
            <a:pPr>
              <a:lnSpc>
                <a:spcPct val="150000"/>
              </a:lnSpc>
            </a:pPr>
            <a:r>
              <a:rPr lang="en-US" sz="1200" dirty="0" smtClean="0">
                <a:latin typeface="Times New Roman" pitchFamily="18" charset="0"/>
                <a:cs typeface="Times New Roman" pitchFamily="18" charset="0"/>
              </a:rPr>
              <a:t>@Override</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protected void </a:t>
            </a:r>
            <a:r>
              <a:rPr lang="en-US" sz="1200" dirty="0" err="1" smtClean="0">
                <a:latin typeface="Times New Roman" pitchFamily="18" charset="0"/>
                <a:cs typeface="Times New Roman" pitchFamily="18" charset="0"/>
              </a:rPr>
              <a:t>onStop</a:t>
            </a:r>
            <a:r>
              <a:rPr lang="en-US" sz="1200" dirty="0" smtClean="0">
                <a:latin typeface="Times New Roman" pitchFamily="18" charset="0"/>
                <a:cs typeface="Times New Roman" pitchFamily="18" charset="0"/>
              </a:rPr>
              <a:t>() {</a:t>
            </a:r>
            <a:br>
              <a:rPr lang="en-US" sz="1200" dirty="0" smtClean="0">
                <a:latin typeface="Times New Roman" pitchFamily="18" charset="0"/>
                <a:cs typeface="Times New Roman" pitchFamily="18" charset="0"/>
              </a:rPr>
            </a:br>
            <a:r>
              <a:rPr lang="en-US" sz="1200" dirty="0" err="1" smtClean="0">
                <a:latin typeface="Times New Roman" pitchFamily="18" charset="0"/>
                <a:cs typeface="Times New Roman" pitchFamily="18" charset="0"/>
              </a:rPr>
              <a:t>super.onStop</a:t>
            </a:r>
            <a:r>
              <a:rPr lang="en-US" sz="1200" dirty="0" smtClean="0">
                <a:latin typeface="Times New Roman" pitchFamily="18" charset="0"/>
                <a:cs typeface="Times New Roman" pitchFamily="18" charset="0"/>
              </a:rPr>
              <a:t>();</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 Release resources</a:t>
            </a:r>
            <a:br>
              <a:rPr lang="en-US" sz="1200" dirty="0" smtClean="0">
                <a:latin typeface="Times New Roman" pitchFamily="18" charset="0"/>
                <a:cs typeface="Times New Roman" pitchFamily="18" charset="0"/>
              </a:rPr>
            </a:br>
            <a:r>
              <a:rPr lang="en-US" sz="1200" dirty="0" err="1" smtClean="0">
                <a:latin typeface="Times New Roman" pitchFamily="18" charset="0"/>
                <a:cs typeface="Times New Roman" pitchFamily="18" charset="0"/>
              </a:rPr>
              <a:t>Log.d</a:t>
            </a:r>
            <a:r>
              <a:rPr lang="en-US" sz="1200" dirty="0" smtClean="0">
                <a:latin typeface="Times New Roman" pitchFamily="18" charset="0"/>
                <a:cs typeface="Times New Roman" pitchFamily="18" charset="0"/>
              </a:rPr>
              <a:t>("Lifecycle", "</a:t>
            </a:r>
            <a:r>
              <a:rPr lang="en-US" sz="1200" dirty="0" err="1" smtClean="0">
                <a:latin typeface="Times New Roman" pitchFamily="18" charset="0"/>
                <a:cs typeface="Times New Roman" pitchFamily="18" charset="0"/>
              </a:rPr>
              <a:t>onStop</a:t>
            </a:r>
            <a:r>
              <a:rPr lang="en-US" sz="1200" dirty="0" smtClean="0">
                <a:latin typeface="Times New Roman" pitchFamily="18" charset="0"/>
                <a:cs typeface="Times New Roman" pitchFamily="18" charset="0"/>
              </a:rPr>
              <a:t>");}</a:t>
            </a:r>
            <a:br>
              <a:rPr lang="en-US" sz="1200" dirty="0" smtClean="0">
                <a:latin typeface="Times New Roman" pitchFamily="18" charset="0"/>
                <a:cs typeface="Times New Roman" pitchFamily="18" charset="0"/>
              </a:rPr>
            </a:br>
            <a:r>
              <a:rPr lang="en-US" sz="1200" b="1" dirty="0" smtClean="0">
                <a:latin typeface="Times New Roman" pitchFamily="18" charset="0"/>
                <a:cs typeface="Times New Roman" pitchFamily="18" charset="0"/>
              </a:rPr>
              <a:t>@Override</a:t>
            </a: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protected void </a:t>
            </a:r>
            <a:r>
              <a:rPr lang="en-US" sz="1200" dirty="0" err="1" smtClean="0">
                <a:latin typeface="Times New Roman" pitchFamily="18" charset="0"/>
                <a:cs typeface="Times New Roman" pitchFamily="18" charset="0"/>
              </a:rPr>
              <a:t>onRestart</a:t>
            </a:r>
            <a:r>
              <a:rPr lang="en-US" sz="1200" dirty="0" smtClean="0">
                <a:latin typeface="Times New Roman" pitchFamily="18" charset="0"/>
                <a:cs typeface="Times New Roman" pitchFamily="18" charset="0"/>
              </a:rPr>
              <a:t>() {</a:t>
            </a:r>
            <a:br>
              <a:rPr lang="en-US" sz="1200" dirty="0" smtClean="0">
                <a:latin typeface="Times New Roman" pitchFamily="18" charset="0"/>
                <a:cs typeface="Times New Roman" pitchFamily="18" charset="0"/>
              </a:rPr>
            </a:br>
            <a:r>
              <a:rPr lang="en-US" sz="1200" dirty="0" err="1" smtClean="0">
                <a:latin typeface="Times New Roman" pitchFamily="18" charset="0"/>
                <a:cs typeface="Times New Roman" pitchFamily="18" charset="0"/>
              </a:rPr>
              <a:t>super.onRestart</a:t>
            </a:r>
            <a:r>
              <a:rPr lang="en-US" sz="1200" dirty="0" smtClean="0">
                <a:latin typeface="Times New Roman" pitchFamily="18" charset="0"/>
                <a:cs typeface="Times New Roman" pitchFamily="18" charset="0"/>
              </a:rPr>
              <a:t>();</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 Restore state</a:t>
            </a:r>
            <a:br>
              <a:rPr lang="en-US" sz="1200" dirty="0" smtClean="0">
                <a:latin typeface="Times New Roman" pitchFamily="18" charset="0"/>
                <a:cs typeface="Times New Roman" pitchFamily="18" charset="0"/>
              </a:rPr>
            </a:br>
            <a:r>
              <a:rPr lang="en-US" sz="1200" dirty="0" err="1" smtClean="0">
                <a:latin typeface="Times New Roman" pitchFamily="18" charset="0"/>
                <a:cs typeface="Times New Roman" pitchFamily="18" charset="0"/>
              </a:rPr>
              <a:t>Log.d</a:t>
            </a:r>
            <a:r>
              <a:rPr lang="en-US" sz="1200" dirty="0" smtClean="0">
                <a:latin typeface="Times New Roman" pitchFamily="18" charset="0"/>
                <a:cs typeface="Times New Roman" pitchFamily="18" charset="0"/>
              </a:rPr>
              <a:t>("Lifecycle", "</a:t>
            </a:r>
            <a:r>
              <a:rPr lang="en-US" sz="1200" dirty="0" err="1" smtClean="0">
                <a:latin typeface="Times New Roman" pitchFamily="18" charset="0"/>
                <a:cs typeface="Times New Roman" pitchFamily="18" charset="0"/>
              </a:rPr>
              <a:t>onRestart</a:t>
            </a:r>
            <a:r>
              <a:rPr lang="en-US" sz="1200" dirty="0" smtClean="0">
                <a:latin typeface="Times New Roman" pitchFamily="18" charset="0"/>
                <a:cs typeface="Times New Roman" pitchFamily="18" charset="0"/>
              </a:rPr>
              <a:t>");</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@Override</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protected void </a:t>
            </a:r>
            <a:r>
              <a:rPr lang="en-US" sz="1200" dirty="0" err="1" smtClean="0">
                <a:latin typeface="Times New Roman" pitchFamily="18" charset="0"/>
                <a:cs typeface="Times New Roman" pitchFamily="18" charset="0"/>
              </a:rPr>
              <a:t>onDestroy</a:t>
            </a:r>
            <a:r>
              <a:rPr lang="en-US" sz="1200" dirty="0" smtClean="0">
                <a:latin typeface="Times New Roman" pitchFamily="18" charset="0"/>
                <a:cs typeface="Times New Roman" pitchFamily="18" charset="0"/>
              </a:rPr>
              <a:t>() {</a:t>
            </a:r>
            <a:br>
              <a:rPr lang="en-US" sz="1200" dirty="0" smtClean="0">
                <a:latin typeface="Times New Roman" pitchFamily="18" charset="0"/>
                <a:cs typeface="Times New Roman" pitchFamily="18" charset="0"/>
              </a:rPr>
            </a:br>
            <a:r>
              <a:rPr lang="en-US" sz="1200" dirty="0" err="1" smtClean="0">
                <a:latin typeface="Times New Roman" pitchFamily="18" charset="0"/>
                <a:cs typeface="Times New Roman" pitchFamily="18" charset="0"/>
              </a:rPr>
              <a:t>super.onDestroy</a:t>
            </a:r>
            <a:r>
              <a:rPr lang="en-US" sz="1200" dirty="0" smtClean="0">
                <a:latin typeface="Times New Roman" pitchFamily="18" charset="0"/>
                <a:cs typeface="Times New Roman" pitchFamily="18" charset="0"/>
              </a:rPr>
              <a:t>();</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 Release all resources</a:t>
            </a:r>
            <a:br>
              <a:rPr lang="en-US" sz="1200" dirty="0" smtClean="0">
                <a:latin typeface="Times New Roman" pitchFamily="18" charset="0"/>
                <a:cs typeface="Times New Roman" pitchFamily="18" charset="0"/>
              </a:rPr>
            </a:br>
            <a:r>
              <a:rPr lang="en-US" sz="1200" dirty="0" err="1" smtClean="0">
                <a:latin typeface="Times New Roman" pitchFamily="18" charset="0"/>
                <a:cs typeface="Times New Roman" pitchFamily="18" charset="0"/>
              </a:rPr>
              <a:t>Log.d</a:t>
            </a:r>
            <a:r>
              <a:rPr lang="en-US" sz="1200" dirty="0" smtClean="0">
                <a:latin typeface="Times New Roman" pitchFamily="18" charset="0"/>
                <a:cs typeface="Times New Roman" pitchFamily="18" charset="0"/>
              </a:rPr>
              <a:t>("Lifecycle", "</a:t>
            </a:r>
            <a:r>
              <a:rPr lang="en-US" sz="1200" dirty="0" err="1" smtClean="0">
                <a:latin typeface="Times New Roman" pitchFamily="18" charset="0"/>
                <a:cs typeface="Times New Roman" pitchFamily="18" charset="0"/>
              </a:rPr>
              <a:t>onDestroy</a:t>
            </a:r>
            <a:r>
              <a:rPr lang="en-US" sz="1200" dirty="0" smtClean="0">
                <a:latin typeface="Times New Roman" pitchFamily="18" charset="0"/>
                <a:cs typeface="Times New Roman" pitchFamily="18" charset="0"/>
              </a:rPr>
              <a:t>");</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a:t>
            </a:r>
          </a:p>
          <a:p>
            <a:pPr>
              <a:lnSpc>
                <a:spcPct val="150000"/>
              </a:lnSpc>
            </a:pPr>
            <a:r>
              <a:rPr lang="en-US" sz="1200" dirty="0" smtClean="0">
                <a:latin typeface="Times New Roman" pitchFamily="18" charset="0"/>
                <a:cs typeface="Times New Roman" pitchFamily="18" charset="0"/>
              </a:rPr>
              <a:t/>
            </a:r>
            <a:br>
              <a:rPr lang="en-US" sz="1200" dirty="0" smtClean="0">
                <a:latin typeface="Times New Roman" pitchFamily="18" charset="0"/>
                <a:cs typeface="Times New Roman" pitchFamily="18" charset="0"/>
              </a:rPr>
            </a:b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95FE432F-C2FA-6A17-6167-6465FD372571}"/>
              </a:ext>
            </a:extLst>
          </p:cNvPr>
          <p:cNvSpPr txBox="1"/>
          <p:nvPr/>
        </p:nvSpPr>
        <p:spPr>
          <a:xfrm>
            <a:off x="414604" y="602028"/>
            <a:ext cx="10643389" cy="280076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42424"/>
                </a:solidFill>
                <a:effectLst/>
                <a:latin typeface="source-serif-pro"/>
              </a:rPr>
              <a:t>2. Services:</a:t>
            </a:r>
            <a:endParaRPr kumimoji="0" lang="en-US" altLang="en-US" sz="1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42424"/>
                </a:solidFill>
                <a:effectLst/>
                <a:latin typeface="source-serif-pro"/>
              </a:rPr>
              <a:t>A service is simply processing in background while app is running. It is a component that works in the background to perform operations.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42424"/>
                </a:solidFill>
                <a:effectLst/>
                <a:latin typeface="source-serif-pro"/>
              </a:rPr>
              <a:t> For instance, service can play music in the background while user is dealing with other apps or can get data from network without any user interaction.</a:t>
            </a:r>
            <a:endParaRPr lang="en-US" altLang="en-US" sz="1400" dirty="0">
              <a:solidFill>
                <a:srgbClr val="242424"/>
              </a:solidFill>
              <a:latin typeface="source-serif-pr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242424"/>
              </a:solidFill>
              <a:effectLst/>
              <a:latin typeface="source-serif-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42424"/>
                </a:solidFill>
                <a:effectLst/>
                <a:latin typeface="source-serif-pro"/>
              </a:rPr>
              <a:t> service is implemented as a subclass of Service class.</a:t>
            </a:r>
            <a:endParaRPr kumimoji="0" lang="en-US" altLang="en-US" sz="1800" b="0" i="0" u="none" strike="noStrike" cap="none" normalizeH="0" baseline="0" dirty="0">
              <a:ln>
                <a:noFill/>
              </a:ln>
              <a:solidFill>
                <a:srgbClr val="242424"/>
              </a:solidFill>
              <a:effectLst/>
              <a:latin typeface="source-code-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42424"/>
                </a:solidFill>
                <a:effectLst/>
                <a:latin typeface="source-code-pro"/>
              </a:rPr>
              <a:t>	public class </a:t>
            </a:r>
            <a:r>
              <a:rPr kumimoji="0" lang="en-US" altLang="en-US" sz="1800" b="0" i="0" u="none" strike="noStrike" cap="none" normalizeH="0" baseline="0" dirty="0" err="1">
                <a:ln>
                  <a:noFill/>
                </a:ln>
                <a:solidFill>
                  <a:srgbClr val="242424"/>
                </a:solidFill>
                <a:effectLst/>
                <a:latin typeface="source-code-pro"/>
              </a:rPr>
              <a:t>MyService</a:t>
            </a:r>
            <a:r>
              <a:rPr kumimoji="0" lang="en-US" altLang="en-US" sz="1800" b="0" i="0" u="none" strike="noStrike" cap="none" normalizeH="0" baseline="0" dirty="0">
                <a:ln>
                  <a:noFill/>
                </a:ln>
                <a:solidFill>
                  <a:srgbClr val="242424"/>
                </a:solidFill>
                <a:effectLst/>
                <a:latin typeface="source-code-pro"/>
              </a:rPr>
              <a:t> extends Service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solidFill>
                  <a:srgbClr val="242424"/>
                </a:solidFill>
                <a:latin typeface="source-code-pro"/>
              </a:rPr>
              <a:t>	</a:t>
            </a:r>
            <a:r>
              <a:rPr kumimoji="0" lang="en-US" altLang="en-US" sz="1800" b="0" i="0" u="none" strike="noStrike" cap="none" normalizeH="0" baseline="0" dirty="0">
                <a:ln>
                  <a:noFill/>
                </a:ln>
                <a:solidFill>
                  <a:srgbClr val="242424"/>
                </a:solidFill>
                <a:effectLst/>
                <a:latin typeface="source-code-pro"/>
              </a:rPr>
              <a:t> {</a:t>
            </a:r>
            <a:br>
              <a:rPr kumimoji="0" lang="en-US" altLang="en-US" sz="1800" b="0" i="0" u="none" strike="noStrike" cap="none" normalizeH="0" baseline="0" dirty="0">
                <a:ln>
                  <a:noFill/>
                </a:ln>
                <a:solidFill>
                  <a:srgbClr val="242424"/>
                </a:solidFill>
                <a:effectLst/>
                <a:latin typeface="source-code-pro"/>
              </a:rPr>
            </a:br>
            <a:r>
              <a:rPr kumimoji="0" lang="en-US" altLang="en-US" sz="1800" b="0" i="0" u="none" strike="noStrike" cap="none" normalizeH="0" baseline="0" dirty="0">
                <a:ln>
                  <a:noFill/>
                </a:ln>
                <a:solidFill>
                  <a:srgbClr val="242424"/>
                </a:solidFill>
                <a:effectLst/>
                <a:latin typeface="source-code-pro"/>
              </a:rPr>
              <a:t>	}</a:t>
            </a: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 xmlns:p14="http://schemas.microsoft.com/office/powerpoint/2010/main" val="284114659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7A0E2E30-3358-CAB4-D7F1-A91ABF476028}"/>
              </a:ext>
            </a:extLst>
          </p:cNvPr>
          <p:cNvSpPr txBox="1"/>
          <p:nvPr/>
        </p:nvSpPr>
        <p:spPr>
          <a:xfrm>
            <a:off x="459120" y="910309"/>
            <a:ext cx="11082297" cy="369332"/>
          </a:xfrm>
          <a:prstGeom prst="rect">
            <a:avLst/>
          </a:prstGeom>
          <a:noFill/>
        </p:spPr>
        <p:txBody>
          <a:bodyPr wrap="square">
            <a:spAutoFit/>
          </a:bodyPr>
          <a:lstStyle/>
          <a:p>
            <a:r>
              <a:rPr lang="en-IN" dirty="0"/>
              <a:t> </a:t>
            </a:r>
            <a:endParaRPr lang="en-IN" b="1" dirty="0"/>
          </a:p>
        </p:txBody>
      </p:sp>
      <p:sp>
        <p:nvSpPr>
          <p:cNvPr id="4" name="TextBox 3">
            <a:extLst>
              <a:ext uri="{FF2B5EF4-FFF2-40B4-BE49-F238E27FC236}">
                <a16:creationId xmlns="" xmlns:a16="http://schemas.microsoft.com/office/drawing/2014/main" id="{3DFB7CF6-2169-4010-E7D3-FC45571BDB86}"/>
              </a:ext>
            </a:extLst>
          </p:cNvPr>
          <p:cNvSpPr txBox="1"/>
          <p:nvPr/>
        </p:nvSpPr>
        <p:spPr>
          <a:xfrm>
            <a:off x="222069" y="587829"/>
            <a:ext cx="11580222" cy="3508653"/>
          </a:xfrm>
          <a:prstGeom prst="rect">
            <a:avLst/>
          </a:prstGeom>
          <a:noFill/>
        </p:spPr>
        <p:txBody>
          <a:bodyPr wrap="square">
            <a:spAutoFit/>
          </a:bodyPr>
          <a:lstStyle/>
          <a:p>
            <a:pPr algn="l"/>
            <a:r>
              <a:rPr lang="en-US" b="1" i="0" dirty="0">
                <a:solidFill>
                  <a:srgbClr val="242424"/>
                </a:solidFill>
                <a:effectLst/>
                <a:highlight>
                  <a:srgbClr val="FFFFFF"/>
                </a:highlight>
                <a:latin typeface="source-serif-pro"/>
              </a:rPr>
              <a:t>3.Content providers</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Content Provider component is providing data from one application to others on request. These requests are handled by the “</a:t>
            </a:r>
            <a:r>
              <a:rPr lang="en-US" b="1" i="0" dirty="0" err="1">
                <a:solidFill>
                  <a:srgbClr val="242424"/>
                </a:solidFill>
                <a:effectLst/>
                <a:highlight>
                  <a:srgbClr val="FFFFFF"/>
                </a:highlight>
                <a:latin typeface="source-serif-pro"/>
              </a:rPr>
              <a:t>ContentResolver</a:t>
            </a:r>
            <a:r>
              <a:rPr lang="en-US" b="1" i="0" dirty="0">
                <a:solidFill>
                  <a:srgbClr val="242424"/>
                </a:solidFill>
                <a:effectLst/>
                <a:highlight>
                  <a:srgbClr val="FFFFFF"/>
                </a:highlight>
                <a:latin typeface="source-serif-pro"/>
              </a:rPr>
              <a:t>” </a:t>
            </a:r>
            <a:r>
              <a:rPr lang="en-US" b="0" i="0" dirty="0">
                <a:solidFill>
                  <a:srgbClr val="242424"/>
                </a:solidFill>
                <a:effectLst/>
                <a:highlight>
                  <a:srgbClr val="FFFFFF"/>
                </a:highlight>
                <a:latin typeface="source-serif-pro"/>
              </a:rPr>
              <a:t>class methods. Data might be stored in the system, databases or somewhere else.</a:t>
            </a:r>
          </a:p>
          <a:p>
            <a:pPr algn="l"/>
            <a:endParaRPr lang="en-US" dirty="0">
              <a:solidFill>
                <a:srgbClr val="242424"/>
              </a:solidFill>
              <a:highlight>
                <a:srgbClr val="FFFFFF"/>
              </a:highlight>
              <a:latin typeface="source-serif-pro"/>
            </a:endParaRPr>
          </a:p>
          <a:p>
            <a:pPr algn="l"/>
            <a:r>
              <a:rPr lang="en-US" b="1" i="0" dirty="0">
                <a:solidFill>
                  <a:srgbClr val="242424"/>
                </a:solidFill>
                <a:effectLst/>
                <a:highlight>
                  <a:srgbClr val="FFFFFF"/>
                </a:highlight>
                <a:latin typeface="source-serif-pro"/>
              </a:rPr>
              <a:t>A content provider is implemented as a subclass of </a:t>
            </a:r>
            <a:r>
              <a:rPr lang="en-US" b="1" i="0" dirty="0" err="1">
                <a:solidFill>
                  <a:srgbClr val="242424"/>
                </a:solidFill>
                <a:effectLst/>
                <a:highlight>
                  <a:srgbClr val="FFFFFF"/>
                </a:highlight>
                <a:latin typeface="source-serif-pro"/>
              </a:rPr>
              <a:t>ContentProvider</a:t>
            </a:r>
            <a:r>
              <a:rPr lang="en-US" b="1" i="0" dirty="0">
                <a:solidFill>
                  <a:srgbClr val="242424"/>
                </a:solidFill>
                <a:effectLst/>
                <a:highlight>
                  <a:srgbClr val="FFFFFF"/>
                </a:highlight>
                <a:latin typeface="source-serif-pro"/>
              </a:rPr>
              <a:t>.</a:t>
            </a:r>
          </a:p>
          <a:p>
            <a:pPr algn="l"/>
            <a:endParaRPr lang="en-US" b="0" i="0" dirty="0">
              <a:solidFill>
                <a:srgbClr val="242424"/>
              </a:solidFill>
              <a:effectLst/>
              <a:highlight>
                <a:srgbClr val="F2F2F2"/>
              </a:highlight>
              <a:latin typeface="source-code-pro"/>
            </a:endParaRPr>
          </a:p>
          <a:p>
            <a:pPr algn="l"/>
            <a:endParaRPr lang="en-US" dirty="0">
              <a:solidFill>
                <a:srgbClr val="242424"/>
              </a:solidFill>
              <a:highlight>
                <a:srgbClr val="F2F2F2"/>
              </a:highlight>
              <a:latin typeface="source-code-pro"/>
            </a:endParaRPr>
          </a:p>
          <a:p>
            <a:pPr algn="l"/>
            <a:r>
              <a:rPr lang="en-US" sz="2400" b="0" i="0" dirty="0">
                <a:solidFill>
                  <a:srgbClr val="242424"/>
                </a:solidFill>
                <a:effectLst/>
                <a:highlight>
                  <a:srgbClr val="F2F2F2"/>
                </a:highlight>
                <a:latin typeface="source-code-pro"/>
              </a:rPr>
              <a:t>public class </a:t>
            </a:r>
            <a:r>
              <a:rPr lang="en-US" sz="2400" b="0" i="0" dirty="0" err="1">
                <a:solidFill>
                  <a:srgbClr val="242424"/>
                </a:solidFill>
                <a:effectLst/>
                <a:highlight>
                  <a:srgbClr val="F2F2F2"/>
                </a:highlight>
                <a:latin typeface="source-code-pro"/>
              </a:rPr>
              <a:t>MyContentProvider</a:t>
            </a:r>
            <a:r>
              <a:rPr lang="en-US" sz="2400" b="0" i="0" dirty="0">
                <a:solidFill>
                  <a:srgbClr val="242424"/>
                </a:solidFill>
                <a:effectLst/>
                <a:highlight>
                  <a:srgbClr val="F2F2F2"/>
                </a:highlight>
                <a:latin typeface="source-code-pro"/>
              </a:rPr>
              <a:t> extends </a:t>
            </a:r>
            <a:r>
              <a:rPr lang="en-US" sz="2400" b="0" i="0" dirty="0" err="1">
                <a:solidFill>
                  <a:srgbClr val="242424"/>
                </a:solidFill>
                <a:effectLst/>
                <a:highlight>
                  <a:srgbClr val="F2F2F2"/>
                </a:highlight>
                <a:latin typeface="source-code-pro"/>
              </a:rPr>
              <a:t>ContentProvider</a:t>
            </a:r>
            <a:endParaRPr lang="en-US" sz="2400" b="0" i="0" dirty="0">
              <a:solidFill>
                <a:srgbClr val="242424"/>
              </a:solidFill>
              <a:effectLst/>
              <a:highlight>
                <a:srgbClr val="F2F2F2"/>
              </a:highlight>
              <a:latin typeface="source-code-pro"/>
            </a:endParaRPr>
          </a:p>
          <a:p>
            <a:pPr algn="l"/>
            <a:r>
              <a:rPr lang="en-US" sz="2400" b="0" i="0" dirty="0">
                <a:solidFill>
                  <a:srgbClr val="242424"/>
                </a:solidFill>
                <a:effectLst/>
                <a:highlight>
                  <a:srgbClr val="F2F2F2"/>
                </a:highlight>
                <a:latin typeface="source-code-pro"/>
              </a:rPr>
              <a:t> {</a:t>
            </a:r>
            <a:r>
              <a:rPr lang="en-US" sz="2400" dirty="0"/>
              <a:t/>
            </a:r>
            <a:br>
              <a:rPr lang="en-US" sz="2400" dirty="0"/>
            </a:br>
            <a:r>
              <a:rPr lang="en-US" sz="2400" b="0" i="0" dirty="0">
                <a:solidFill>
                  <a:srgbClr val="242424"/>
                </a:solidFill>
                <a:effectLst/>
                <a:highlight>
                  <a:srgbClr val="F2F2F2"/>
                </a:highlight>
                <a:latin typeface="source-code-pro"/>
              </a:rPr>
              <a:t>public void </a:t>
            </a:r>
            <a:r>
              <a:rPr lang="en-US" sz="2400" b="0" i="0" dirty="0" err="1">
                <a:solidFill>
                  <a:srgbClr val="242424"/>
                </a:solidFill>
                <a:effectLst/>
                <a:highlight>
                  <a:srgbClr val="F2F2F2"/>
                </a:highlight>
                <a:latin typeface="source-code-pro"/>
              </a:rPr>
              <a:t>onCreate</a:t>
            </a:r>
            <a:r>
              <a:rPr lang="en-US" sz="2400" b="0" i="0" dirty="0">
                <a:solidFill>
                  <a:srgbClr val="242424"/>
                </a:solidFill>
                <a:effectLst/>
                <a:highlight>
                  <a:srgbClr val="F2F2F2"/>
                </a:highlight>
                <a:latin typeface="source-code-pro"/>
              </a:rPr>
              <a:t>(){}</a:t>
            </a:r>
            <a:r>
              <a:rPr lang="en-US" sz="2400" dirty="0"/>
              <a:t/>
            </a:r>
            <a:br>
              <a:rPr lang="en-US" sz="2400" dirty="0"/>
            </a:br>
            <a:r>
              <a:rPr lang="en-US" sz="2400" b="0" i="0" dirty="0">
                <a:solidFill>
                  <a:srgbClr val="242424"/>
                </a:solidFill>
                <a:effectLst/>
                <a:highlight>
                  <a:srgbClr val="F2F2F2"/>
                </a:highlight>
                <a:latin typeface="source-code-pro"/>
              </a:rPr>
              <a:t>}</a:t>
            </a:r>
            <a:endParaRPr lang="en-US" sz="2400" b="0" i="0" dirty="0">
              <a:solidFill>
                <a:srgbClr val="242424"/>
              </a:solidFill>
              <a:effectLst/>
              <a:highlight>
                <a:srgbClr val="FFFFFF"/>
              </a:highlight>
              <a:latin typeface="source-serif-pro"/>
            </a:endParaRPr>
          </a:p>
        </p:txBody>
      </p:sp>
    </p:spTree>
    <p:extLst>
      <p:ext uri="{BB962C8B-B14F-4D97-AF65-F5344CB8AC3E}">
        <p14:creationId xmlns="" xmlns:p14="http://schemas.microsoft.com/office/powerpoint/2010/main" val="328588343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3E055E21-9EFA-9C54-B4D2-C63DA793C515}"/>
              </a:ext>
            </a:extLst>
          </p:cNvPr>
          <p:cNvSpPr>
            <a:spLocks noChangeArrowheads="1"/>
          </p:cNvSpPr>
          <p:nvPr/>
        </p:nvSpPr>
        <p:spPr bwMode="auto">
          <a:xfrm>
            <a:off x="202475" y="-41186"/>
            <a:ext cx="11671662" cy="5816977"/>
          </a:xfrm>
          <a:prstGeom prst="rect">
            <a:avLst/>
          </a:prstGeom>
          <a:solidFill>
            <a:srgbClr val="F2F2F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rgbClr val="242424"/>
              </a:solidFill>
              <a:effectLst/>
              <a:latin typeface="source-serif-pro"/>
            </a:endParaRPr>
          </a:p>
          <a:p>
            <a:pPr lvl="0"/>
            <a:r>
              <a:rPr lang="en-IN" b="1" dirty="0"/>
              <a:t>4.Broadcast receivers:</a:t>
            </a:r>
            <a:endParaRPr lang="en-US" altLang="en-US" sz="1500" dirty="0">
              <a:solidFill>
                <a:srgbClr val="242424"/>
              </a:solidFill>
              <a:latin typeface="source-serif-pro"/>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42424"/>
                </a:solidFill>
                <a:effectLst/>
                <a:latin typeface="source-serif-pro"/>
              </a:rPr>
              <a:t>Broadcast Receivers answer to broadcast messages from another applications or system. For example, to deliver other apps know that some data downloaded to the device and available for use. Even though broadcast receivers do not show user interface, they might create status bar notification to user for events.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42424"/>
                </a:solidFill>
                <a:effectLst/>
                <a:latin typeface="source-serif-pro"/>
              </a:rPr>
              <a:t>A broadcast receiver is implemented as a subclass of </a:t>
            </a:r>
            <a:r>
              <a:rPr kumimoji="0" lang="en-US" altLang="en-US" sz="2000" b="1" i="0" u="none" strike="noStrike" cap="none" normalizeH="0" baseline="0" dirty="0" err="1">
                <a:ln>
                  <a:noFill/>
                </a:ln>
                <a:solidFill>
                  <a:srgbClr val="242424"/>
                </a:solidFill>
                <a:effectLst/>
                <a:latin typeface="source-serif-pro"/>
              </a:rPr>
              <a:t>BroadcastReceiver</a:t>
            </a:r>
            <a:r>
              <a:rPr kumimoji="0" lang="en-US" altLang="en-US" sz="2000" b="1" i="0" u="none" strike="noStrike" cap="none" normalizeH="0" baseline="0" dirty="0">
                <a:ln>
                  <a:noFill/>
                </a:ln>
                <a:solidFill>
                  <a:srgbClr val="242424"/>
                </a:solidFill>
                <a:effectLst/>
                <a:latin typeface="source-serif-pro"/>
              </a:rPr>
              <a:t>.</a:t>
            </a:r>
            <a:r>
              <a:rPr kumimoji="0" lang="en-US" altLang="en-US" sz="2000" b="0" i="0" u="none" strike="noStrike" cap="none" normalizeH="0" baseline="0" dirty="0">
                <a:ln>
                  <a:noFill/>
                </a:ln>
                <a:solidFill>
                  <a:srgbClr val="242424"/>
                </a:solidFill>
                <a:effectLst/>
                <a:latin typeface="source-serif-pro"/>
              </a:rPr>
              <a:t> Each broadcast is delivered as an </a:t>
            </a:r>
            <a:r>
              <a:rPr kumimoji="0" lang="en-US" altLang="en-US" sz="2000" b="0" i="0" u="sng" strike="noStrike" cap="none" normalizeH="0" baseline="0" dirty="0">
                <a:ln>
                  <a:noFill/>
                </a:ln>
                <a:solidFill>
                  <a:srgbClr val="242424"/>
                </a:solidFill>
                <a:effectLst/>
                <a:latin typeface="source-code-pro"/>
                <a:hlinkClick r:id="rId2"/>
              </a:rPr>
              <a:t>Intent</a:t>
            </a:r>
            <a:r>
              <a:rPr kumimoji="0" lang="en-US" altLang="en-US" sz="2000" b="0" i="0" u="none" strike="noStrike" cap="none" normalizeH="0" baseline="0" dirty="0">
                <a:ln>
                  <a:noFill/>
                </a:ln>
                <a:solidFill>
                  <a:srgbClr val="242424"/>
                </a:solidFill>
                <a:effectLst/>
                <a:latin typeface="source-serif-pro"/>
              </a:rPr>
              <a:t> object.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500" dirty="0">
              <a:solidFill>
                <a:srgbClr val="242424"/>
              </a:solidFill>
              <a:latin typeface="source-serif-pr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rgbClr val="242424"/>
              </a:solidFill>
              <a:effectLst/>
              <a:latin typeface="source-serif-pro"/>
            </a:endParaRPr>
          </a:p>
          <a:p>
            <a:pPr lvl="0"/>
            <a:r>
              <a:rPr lang="en-US" dirty="0"/>
              <a:t>public class </a:t>
            </a:r>
            <a:r>
              <a:rPr lang="en-US" dirty="0" err="1"/>
              <a:t>MyReceiver</a:t>
            </a:r>
            <a:r>
              <a:rPr lang="en-US" dirty="0"/>
              <a:t> extends </a:t>
            </a:r>
            <a:r>
              <a:rPr lang="en-US" dirty="0" err="1"/>
              <a:t>BroadcastReceiver</a:t>
            </a:r>
            <a:endParaRPr lang="en-US" dirty="0"/>
          </a:p>
          <a:p>
            <a:pPr lvl="0"/>
            <a:r>
              <a:rPr lang="en-US" dirty="0"/>
              <a:t> {</a:t>
            </a:r>
            <a:r>
              <a:rPr lang="en-US" sz="1600" dirty="0"/>
              <a:t/>
            </a:r>
            <a:br>
              <a:rPr lang="en-US" sz="1600" dirty="0"/>
            </a:br>
            <a:r>
              <a:rPr lang="en-US" dirty="0"/>
              <a:t>public void </a:t>
            </a:r>
            <a:r>
              <a:rPr lang="en-US" dirty="0" err="1"/>
              <a:t>onReceive</a:t>
            </a:r>
            <a:r>
              <a:rPr lang="en-US" dirty="0"/>
              <a:t>(</a:t>
            </a:r>
            <a:r>
              <a:rPr lang="en-US" dirty="0" err="1"/>
              <a:t>context,intent</a:t>
            </a:r>
            <a:r>
              <a:rPr lang="en-US" dirty="0"/>
              <a:t>)</a:t>
            </a:r>
          </a:p>
          <a:p>
            <a:pPr lvl="0"/>
            <a:endParaRPr lang="en-US" dirty="0"/>
          </a:p>
          <a:p>
            <a:pPr lvl="0"/>
            <a:r>
              <a:rPr lang="en-US" dirty="0"/>
              <a:t>{</a:t>
            </a:r>
          </a:p>
          <a:p>
            <a:pPr lvl="0"/>
            <a:r>
              <a:rPr lang="en-US" dirty="0"/>
              <a:t>}</a:t>
            </a:r>
            <a:r>
              <a:rPr lang="en-US" sz="1600" dirty="0"/>
              <a:t/>
            </a:r>
            <a:br>
              <a:rPr lang="en-US" sz="1600" dirty="0"/>
            </a:br>
            <a:r>
              <a:rPr lang="en-US" dirty="0"/>
              <a:t>}</a:t>
            </a:r>
            <a:endParaRPr lang="en-US" altLang="en-US" sz="1500" dirty="0">
              <a:solidFill>
                <a:srgbClr val="242424"/>
              </a:solidFill>
              <a:latin typeface="source-serif-pr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rgbClr val="242424"/>
              </a:solidFill>
              <a:effectLst/>
              <a:latin typeface="source-serif-pro"/>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500" dirty="0">
              <a:solidFill>
                <a:srgbClr val="242424"/>
              </a:solidFill>
              <a:latin typeface="source-serif-pr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rgbClr val="242424"/>
              </a:solidFill>
              <a:effectLst/>
              <a:latin typeface="source-serif-pr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7352431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FF65EB3-6A5D-5C1A-34BE-B53F1DA5D316}"/>
              </a:ext>
            </a:extLst>
          </p:cNvPr>
          <p:cNvSpPr txBox="1"/>
          <p:nvPr/>
        </p:nvSpPr>
        <p:spPr>
          <a:xfrm>
            <a:off x="799381" y="375096"/>
            <a:ext cx="10898037" cy="5453159"/>
          </a:xfrm>
          <a:prstGeom prst="rect">
            <a:avLst/>
          </a:prstGeom>
          <a:noFill/>
        </p:spPr>
        <p:txBody>
          <a:bodyPr wrap="square">
            <a:spAutoFit/>
          </a:bodyPr>
          <a:lstStyle/>
          <a:p>
            <a:endParaRPr lang="en-US" b="1" i="0" dirty="0">
              <a:solidFill>
                <a:srgbClr val="333333"/>
              </a:solidFill>
              <a:effectLst/>
              <a:highlight>
                <a:srgbClr val="FFFFFF"/>
              </a:highlight>
              <a:latin typeface="inter-bold"/>
            </a:endParaRPr>
          </a:p>
          <a:p>
            <a:r>
              <a:rPr lang="en-US" b="1" i="0" dirty="0">
                <a:solidFill>
                  <a:srgbClr val="333333"/>
                </a:solidFill>
                <a:effectLst/>
                <a:highlight>
                  <a:srgbClr val="FFFFFF"/>
                </a:highlight>
                <a:latin typeface="inter-bold"/>
              </a:rPr>
              <a:t>AndroidManifest.xml:</a:t>
            </a:r>
          </a:p>
          <a:p>
            <a:endParaRPr lang="en-US" b="1" dirty="0">
              <a:solidFill>
                <a:srgbClr val="333333"/>
              </a:solidFill>
              <a:highlight>
                <a:srgbClr val="FFFFFF"/>
              </a:highlight>
              <a:latin typeface="inter-bold"/>
            </a:endParaRPr>
          </a:p>
          <a:p>
            <a:pPr algn="just">
              <a:lnSpc>
                <a:spcPct val="150000"/>
              </a:lnSpc>
            </a:pPr>
            <a:r>
              <a:rPr lang="en-US" b="1" i="0" dirty="0">
                <a:solidFill>
                  <a:srgbClr val="333333"/>
                </a:solidFill>
                <a:effectLst/>
                <a:highlight>
                  <a:srgbClr val="FFFFFF"/>
                </a:highlight>
                <a:latin typeface="inter-bold"/>
              </a:rPr>
              <a:t> </a:t>
            </a:r>
            <a:r>
              <a:rPr lang="en-US" b="0" i="0" dirty="0">
                <a:solidFill>
                  <a:srgbClr val="333333"/>
                </a:solidFill>
                <a:effectLst/>
                <a:highlight>
                  <a:srgbClr val="FFFFFF"/>
                </a:highlight>
                <a:latin typeface="inter-regular"/>
              </a:rPr>
              <a:t>The </a:t>
            </a:r>
            <a:r>
              <a:rPr lang="en-US" b="1" i="0" dirty="0">
                <a:solidFill>
                  <a:srgbClr val="333333"/>
                </a:solidFill>
                <a:effectLst/>
                <a:highlight>
                  <a:srgbClr val="FFFFFF"/>
                </a:highlight>
                <a:latin typeface="inter-bold"/>
              </a:rPr>
              <a:t>AndroidManifest.xml file</a:t>
            </a:r>
            <a:r>
              <a:rPr lang="en-US" b="0" i="0" dirty="0">
                <a:solidFill>
                  <a:srgbClr val="333333"/>
                </a:solidFill>
                <a:effectLst/>
                <a:highlight>
                  <a:srgbClr val="FFFFFF"/>
                </a:highlight>
                <a:latin typeface="inter-regular"/>
              </a:rPr>
              <a:t> </a:t>
            </a:r>
            <a:r>
              <a:rPr lang="en-US" b="0" i="1" dirty="0">
                <a:solidFill>
                  <a:srgbClr val="333333"/>
                </a:solidFill>
                <a:effectLst/>
                <a:highlight>
                  <a:srgbClr val="FFFFFF"/>
                </a:highlight>
                <a:latin typeface="inter-regular"/>
              </a:rPr>
              <a:t>contains information of your package</a:t>
            </a:r>
            <a:r>
              <a:rPr lang="en-US" b="0" i="0" dirty="0">
                <a:solidFill>
                  <a:srgbClr val="333333"/>
                </a:solidFill>
                <a:effectLst/>
                <a:highlight>
                  <a:srgbClr val="FFFFFF"/>
                </a:highlight>
                <a:latin typeface="inter-regular"/>
              </a:rPr>
              <a:t>, including components of the application such as activities, services, broadcast receivers, content providers etc.</a:t>
            </a:r>
          </a:p>
          <a:p>
            <a:pPr algn="just">
              <a:lnSpc>
                <a:spcPct val="150000"/>
              </a:lnSpc>
            </a:pPr>
            <a:endParaRPr lang="en-US" dirty="0">
              <a:solidFill>
                <a:srgbClr val="333333"/>
              </a:solidFill>
              <a:highlight>
                <a:srgbClr val="FFFFFF"/>
              </a:highlight>
              <a:latin typeface="inter-regular"/>
            </a:endParaRPr>
          </a:p>
          <a:p>
            <a:pPr algn="just">
              <a:lnSpc>
                <a:spcPct val="150000"/>
              </a:lnSpc>
            </a:pPr>
            <a:r>
              <a:rPr lang="en-US" b="0" i="0" dirty="0">
                <a:solidFill>
                  <a:srgbClr val="333333"/>
                </a:solidFill>
                <a:effectLst/>
                <a:highlight>
                  <a:srgbClr val="FFFFFF"/>
                </a:highlight>
                <a:latin typeface="inter-regular"/>
              </a:rPr>
              <a:t>It performs some other tasks also:</a:t>
            </a:r>
          </a:p>
          <a:p>
            <a:pPr algn="just">
              <a:lnSpc>
                <a:spcPct val="150000"/>
              </a:lnSpc>
            </a:pPr>
            <a:endParaRPr lang="en-US" dirty="0">
              <a:solidFill>
                <a:srgbClr val="333333"/>
              </a:solidFill>
              <a:highlight>
                <a:srgbClr val="FFFFFF"/>
              </a:highlight>
              <a:latin typeface="inter-regular"/>
            </a:endParaRPr>
          </a:p>
          <a:p>
            <a:pPr algn="just">
              <a:lnSpc>
                <a:spcPct val="150000"/>
              </a:lnSpc>
              <a:buFont typeface="Arial" panose="020B0604020202020204" pitchFamily="34" charset="0"/>
              <a:buChar char="•"/>
            </a:pPr>
            <a:r>
              <a:rPr lang="en-US" b="0" i="0" dirty="0">
                <a:solidFill>
                  <a:srgbClr val="000000"/>
                </a:solidFill>
                <a:effectLst/>
                <a:highlight>
                  <a:srgbClr val="FFFFFF"/>
                </a:highlight>
                <a:latin typeface="inter-regular"/>
              </a:rPr>
              <a:t>It is </a:t>
            </a:r>
            <a:r>
              <a:rPr lang="en-US" b="1" i="0" dirty="0">
                <a:solidFill>
                  <a:srgbClr val="000000"/>
                </a:solidFill>
                <a:effectLst/>
                <a:highlight>
                  <a:srgbClr val="FFFFFF"/>
                </a:highlight>
                <a:latin typeface="inter-bold"/>
              </a:rPr>
              <a:t>responsible to protect the application</a:t>
            </a:r>
            <a:r>
              <a:rPr lang="en-US" b="0" i="0" dirty="0">
                <a:solidFill>
                  <a:srgbClr val="000000"/>
                </a:solidFill>
                <a:effectLst/>
                <a:highlight>
                  <a:srgbClr val="FFFFFF"/>
                </a:highlight>
                <a:latin typeface="inter-regular"/>
              </a:rPr>
              <a:t> to access any protected parts by providing the permissions.</a:t>
            </a:r>
          </a:p>
          <a:p>
            <a:pPr algn="just">
              <a:lnSpc>
                <a:spcPct val="150000"/>
              </a:lnSpc>
              <a:buFont typeface="Arial" panose="020B0604020202020204" pitchFamily="34" charset="0"/>
              <a:buChar char="•"/>
            </a:pPr>
            <a:r>
              <a:rPr lang="en-US" b="0" i="0" dirty="0">
                <a:solidFill>
                  <a:srgbClr val="000000"/>
                </a:solidFill>
                <a:effectLst/>
                <a:highlight>
                  <a:srgbClr val="FFFFFF"/>
                </a:highlight>
                <a:latin typeface="inter-regular"/>
              </a:rPr>
              <a:t>It also </a:t>
            </a:r>
            <a:r>
              <a:rPr lang="en-US" b="1" i="0" dirty="0">
                <a:solidFill>
                  <a:srgbClr val="000000"/>
                </a:solidFill>
                <a:effectLst/>
                <a:highlight>
                  <a:srgbClr val="FFFFFF"/>
                </a:highlight>
                <a:latin typeface="inter-bold"/>
              </a:rPr>
              <a:t>declares the android </a:t>
            </a:r>
            <a:r>
              <a:rPr lang="en-US" b="1" i="0" dirty="0" err="1">
                <a:solidFill>
                  <a:srgbClr val="000000"/>
                </a:solidFill>
                <a:effectLst/>
                <a:highlight>
                  <a:srgbClr val="FFFFFF"/>
                </a:highlight>
                <a:latin typeface="inter-bold"/>
              </a:rPr>
              <a:t>api</a:t>
            </a:r>
            <a:r>
              <a:rPr lang="en-US" b="0" i="0" dirty="0">
                <a:solidFill>
                  <a:srgbClr val="000000"/>
                </a:solidFill>
                <a:effectLst/>
                <a:highlight>
                  <a:srgbClr val="FFFFFF"/>
                </a:highlight>
                <a:latin typeface="inter-regular"/>
              </a:rPr>
              <a:t> that the application is going to use.</a:t>
            </a:r>
          </a:p>
          <a:p>
            <a:pPr algn="just">
              <a:lnSpc>
                <a:spcPct val="150000"/>
              </a:lnSpc>
              <a:buFont typeface="Arial" panose="020B0604020202020204" pitchFamily="34" charset="0"/>
              <a:buChar char="•"/>
            </a:pPr>
            <a:r>
              <a:rPr lang="en-US" b="0" i="0" dirty="0">
                <a:solidFill>
                  <a:srgbClr val="000000"/>
                </a:solidFill>
                <a:effectLst/>
                <a:highlight>
                  <a:srgbClr val="FFFFFF"/>
                </a:highlight>
                <a:latin typeface="inter-regular"/>
              </a:rPr>
              <a:t>It </a:t>
            </a:r>
            <a:r>
              <a:rPr lang="en-US" b="1" i="0" dirty="0">
                <a:solidFill>
                  <a:srgbClr val="000000"/>
                </a:solidFill>
                <a:effectLst/>
                <a:highlight>
                  <a:srgbClr val="FFFFFF"/>
                </a:highlight>
                <a:latin typeface="inter-bold"/>
              </a:rPr>
              <a:t>lists the instrumentation classes</a:t>
            </a:r>
            <a:r>
              <a:rPr lang="en-US" b="0" i="0" dirty="0">
                <a:solidFill>
                  <a:srgbClr val="000000"/>
                </a:solidFill>
                <a:effectLst/>
                <a:highlight>
                  <a:srgbClr val="FFFFFF"/>
                </a:highlight>
                <a:latin typeface="inter-regular"/>
              </a:rPr>
              <a:t>. The instrumentation classes provides profiling and other information. These information are removed just before the application is published etc.</a:t>
            </a:r>
          </a:p>
          <a:p>
            <a:pPr algn="just">
              <a:lnSpc>
                <a:spcPct val="150000"/>
              </a:lnSpc>
            </a:pPr>
            <a:endParaRPr lang="en-IN" dirty="0"/>
          </a:p>
          <a:p>
            <a:pPr algn="just">
              <a:lnSpc>
                <a:spcPct val="150000"/>
              </a:lnSpc>
            </a:pPr>
            <a:r>
              <a:rPr lang="en-US" b="0" i="0" dirty="0">
                <a:solidFill>
                  <a:srgbClr val="333333"/>
                </a:solidFill>
                <a:effectLst/>
                <a:highlight>
                  <a:srgbClr val="FFFFFF"/>
                </a:highlight>
                <a:latin typeface="inter-regular"/>
              </a:rPr>
              <a:t>This is the required xml file for all the android application and located inside the root directory.</a:t>
            </a:r>
            <a:endParaRPr lang="en-IN" dirty="0"/>
          </a:p>
        </p:txBody>
      </p:sp>
    </p:spTree>
    <p:extLst>
      <p:ext uri="{BB962C8B-B14F-4D97-AF65-F5344CB8AC3E}">
        <p14:creationId xmlns="" xmlns:p14="http://schemas.microsoft.com/office/powerpoint/2010/main" val="356588633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98DC364-C264-022E-6421-0DB1052104D4}"/>
              </a:ext>
            </a:extLst>
          </p:cNvPr>
          <p:cNvSpPr txBox="1"/>
          <p:nvPr/>
        </p:nvSpPr>
        <p:spPr>
          <a:xfrm>
            <a:off x="241539" y="0"/>
            <a:ext cx="10370478" cy="6740307"/>
          </a:xfrm>
          <a:prstGeom prst="rect">
            <a:avLst/>
          </a:prstGeom>
          <a:noFill/>
        </p:spPr>
        <p:txBody>
          <a:bodyPr wrap="square">
            <a:spAutoFit/>
          </a:bodyPr>
          <a:lstStyle/>
          <a:p>
            <a:pPr algn="just"/>
            <a:r>
              <a:rPr lang="en-IN" b="1" i="0" smtClean="0">
                <a:solidFill>
                  <a:srgbClr val="006699"/>
                </a:solidFill>
                <a:effectLst/>
                <a:latin typeface="inter-regular"/>
              </a:rPr>
              <a:t>&lt;manifest</a:t>
            </a:r>
            <a:r>
              <a:rPr lang="en-IN" b="0" i="0" dirty="0">
                <a:solidFill>
                  <a:srgbClr val="000000"/>
                </a:solidFill>
                <a:effectLst/>
                <a:latin typeface="inter-regular"/>
              </a:rPr>
              <a:t> </a:t>
            </a:r>
            <a:r>
              <a:rPr lang="en-IN" b="0" i="0" dirty="0" err="1">
                <a:solidFill>
                  <a:srgbClr val="FF0000"/>
                </a:solidFill>
                <a:effectLst/>
                <a:latin typeface="inter-regular"/>
              </a:rPr>
              <a:t>xmlns:android</a:t>
            </a:r>
            <a:r>
              <a:rPr lang="en-IN" b="0" i="0" dirty="0">
                <a:solidFill>
                  <a:srgbClr val="000000"/>
                </a:solidFill>
                <a:effectLst/>
                <a:latin typeface="inter-regular"/>
              </a:rPr>
              <a:t>=</a:t>
            </a:r>
            <a:r>
              <a:rPr lang="en-IN" b="0" i="0" dirty="0">
                <a:solidFill>
                  <a:srgbClr val="0000FF"/>
                </a:solidFill>
                <a:effectLst/>
                <a:latin typeface="inter-regular"/>
              </a:rPr>
              <a:t>"http://schemas.android.com/apk/res/android"</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FF0000"/>
                </a:solidFill>
                <a:effectLst/>
                <a:latin typeface="inter-regular"/>
              </a:rPr>
              <a:t>package</a:t>
            </a:r>
            <a:r>
              <a:rPr lang="en-IN" b="0" i="0" dirty="0">
                <a:solidFill>
                  <a:srgbClr val="000000"/>
                </a:solidFill>
                <a:effectLst/>
                <a:latin typeface="inter-regular"/>
              </a:rPr>
              <a:t>=</a:t>
            </a:r>
            <a:r>
              <a:rPr lang="en-IN" b="0" i="0" dirty="0">
                <a:solidFill>
                  <a:srgbClr val="0000FF"/>
                </a:solidFill>
                <a:effectLst/>
                <a:latin typeface="inter-regular"/>
              </a:rPr>
              <a:t>"</a:t>
            </a:r>
            <a:r>
              <a:rPr lang="en-IN" b="0" i="0" dirty="0" err="1">
                <a:solidFill>
                  <a:srgbClr val="0000FF"/>
                </a:solidFill>
                <a:effectLst/>
                <a:latin typeface="inter-regular"/>
              </a:rPr>
              <a:t>com.MyApplication.hello</a:t>
            </a:r>
            <a:r>
              <a:rPr lang="en-IN" b="0" i="0" dirty="0">
                <a:solidFill>
                  <a:srgbClr val="0000FF"/>
                </a:solidFill>
                <a:effectLst/>
                <a:latin typeface="inter-regular"/>
              </a:rPr>
              <a: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FF0000"/>
                </a:solidFill>
                <a:effectLst/>
                <a:latin typeface="inter-regular"/>
              </a:rPr>
              <a:t>android:versionCode</a:t>
            </a:r>
            <a:r>
              <a:rPr lang="en-IN" b="0" i="0" dirty="0">
                <a:solidFill>
                  <a:srgbClr val="000000"/>
                </a:solidFill>
                <a:effectLst/>
                <a:latin typeface="inter-regular"/>
              </a:rPr>
              <a:t>=</a:t>
            </a:r>
            <a:r>
              <a:rPr lang="en-IN" b="0" i="0" dirty="0">
                <a:solidFill>
                  <a:srgbClr val="0000FF"/>
                </a:solidFill>
                <a:effectLst/>
                <a:latin typeface="inter-regular"/>
              </a:rPr>
              <a:t>"1"</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FF0000"/>
                </a:solidFill>
                <a:effectLst/>
                <a:latin typeface="inter-regular"/>
              </a:rPr>
              <a:t>android:versionName</a:t>
            </a:r>
            <a:r>
              <a:rPr lang="en-IN" b="0" i="0" dirty="0">
                <a:solidFill>
                  <a:srgbClr val="000000"/>
                </a:solidFill>
                <a:effectLst/>
                <a:latin typeface="inter-regular"/>
              </a:rPr>
              <a:t>=</a:t>
            </a:r>
            <a:r>
              <a:rPr lang="en-IN" b="0" i="0" dirty="0">
                <a:solidFill>
                  <a:srgbClr val="0000FF"/>
                </a:solidFill>
                <a:effectLst/>
                <a:latin typeface="inter-regular"/>
              </a:rPr>
              <a:t>"1.0"</a:t>
            </a:r>
            <a:r>
              <a:rPr lang="en-IN" b="0" i="0" dirty="0">
                <a:solidFill>
                  <a:srgbClr val="000000"/>
                </a:solidFill>
                <a:effectLst/>
                <a:latin typeface="inter-regular"/>
              </a:rPr>
              <a:t> </a:t>
            </a:r>
            <a:r>
              <a:rPr lang="en-IN" b="1" i="0" dirty="0">
                <a:solidFill>
                  <a:srgbClr val="006699"/>
                </a:solidFill>
                <a:effectLst/>
                <a:latin typeface="inter-regular"/>
              </a:rPr>
              <a:t>&gt;</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&lt;uses-</a:t>
            </a:r>
            <a:r>
              <a:rPr lang="en-IN" b="1" i="0" dirty="0" err="1">
                <a:solidFill>
                  <a:srgbClr val="006699"/>
                </a:solidFill>
                <a:effectLst/>
                <a:latin typeface="inter-regular"/>
              </a:rPr>
              <a:t>sdk</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FF0000"/>
                </a:solidFill>
                <a:effectLst/>
                <a:latin typeface="inter-regular"/>
              </a:rPr>
              <a:t>android:minSdkVersion</a:t>
            </a:r>
            <a:r>
              <a:rPr lang="en-IN" b="0" i="0" dirty="0">
                <a:solidFill>
                  <a:srgbClr val="000000"/>
                </a:solidFill>
                <a:effectLst/>
                <a:latin typeface="inter-regular"/>
              </a:rPr>
              <a:t>=</a:t>
            </a:r>
            <a:r>
              <a:rPr lang="en-IN" b="0" i="0" dirty="0">
                <a:solidFill>
                  <a:srgbClr val="0000FF"/>
                </a:solidFill>
                <a:effectLst/>
                <a:latin typeface="inter-regular"/>
              </a:rPr>
              <a:t>"8"</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FF0000"/>
                </a:solidFill>
                <a:effectLst/>
                <a:latin typeface="inter-regular"/>
              </a:rPr>
              <a:t>android:targetSdkVersion</a:t>
            </a:r>
            <a:r>
              <a:rPr lang="en-IN" b="0" i="0" dirty="0">
                <a:solidFill>
                  <a:srgbClr val="000000"/>
                </a:solidFill>
                <a:effectLst/>
                <a:latin typeface="inter-regular"/>
              </a:rPr>
              <a:t>=</a:t>
            </a:r>
            <a:r>
              <a:rPr lang="en-IN" b="0" i="0" dirty="0">
                <a:solidFill>
                  <a:srgbClr val="0000FF"/>
                </a:solidFill>
                <a:effectLst/>
                <a:latin typeface="inter-regular"/>
              </a:rPr>
              <a:t>"15"</a:t>
            </a:r>
            <a:r>
              <a:rPr lang="en-IN" b="0" i="0" dirty="0">
                <a:solidFill>
                  <a:srgbClr val="000000"/>
                </a:solidFill>
                <a:effectLst/>
                <a:latin typeface="inter-regular"/>
              </a:rPr>
              <a:t> </a:t>
            </a:r>
            <a:r>
              <a:rPr lang="en-IN" b="1" i="0" dirty="0">
                <a:solidFill>
                  <a:srgbClr val="006699"/>
                </a:solidFill>
                <a:effectLst/>
                <a:latin typeface="inter-regular"/>
              </a:rPr>
              <a:t>/&gt;</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&lt;application</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FF0000"/>
                </a:solidFill>
                <a:effectLst/>
                <a:latin typeface="inter-regular"/>
              </a:rPr>
              <a:t>android:icon</a:t>
            </a:r>
            <a:r>
              <a:rPr lang="en-IN" b="0" i="0" dirty="0">
                <a:solidFill>
                  <a:srgbClr val="000000"/>
                </a:solidFill>
                <a:effectLst/>
                <a:latin typeface="inter-regular"/>
              </a:rPr>
              <a:t>=</a:t>
            </a:r>
            <a:r>
              <a:rPr lang="en-IN" b="0" i="0" dirty="0">
                <a:solidFill>
                  <a:srgbClr val="0000FF"/>
                </a:solidFill>
                <a:effectLst/>
                <a:latin typeface="inter-regular"/>
              </a:rPr>
              <a:t>"@drawable/</a:t>
            </a:r>
            <a:r>
              <a:rPr lang="en-IN" b="0" i="0" dirty="0" err="1">
                <a:solidFill>
                  <a:srgbClr val="0000FF"/>
                </a:solidFill>
                <a:effectLst/>
                <a:latin typeface="inter-regular"/>
              </a:rPr>
              <a:t>ic_launcher</a:t>
            </a:r>
            <a:r>
              <a:rPr lang="en-IN" b="0" i="0" dirty="0">
                <a:solidFill>
                  <a:srgbClr val="0000FF"/>
                </a:solidFill>
                <a:effectLst/>
                <a:latin typeface="inter-regular"/>
              </a:rPr>
              <a: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FF0000"/>
                </a:solidFill>
                <a:effectLst/>
                <a:latin typeface="inter-regular"/>
              </a:rPr>
              <a:t>android:label</a:t>
            </a:r>
            <a:r>
              <a:rPr lang="en-IN" b="0" i="0" dirty="0">
                <a:solidFill>
                  <a:srgbClr val="000000"/>
                </a:solidFill>
                <a:effectLst/>
                <a:latin typeface="inter-regular"/>
              </a:rPr>
              <a:t>=</a:t>
            </a:r>
            <a:r>
              <a:rPr lang="en-IN" b="0" i="0" dirty="0">
                <a:solidFill>
                  <a:srgbClr val="0000FF"/>
                </a:solidFill>
                <a:effectLst/>
                <a:latin typeface="inter-regular"/>
              </a:rPr>
              <a:t>"@string/</a:t>
            </a:r>
            <a:r>
              <a:rPr lang="en-IN" b="0" i="0" dirty="0" err="1">
                <a:solidFill>
                  <a:srgbClr val="0000FF"/>
                </a:solidFill>
                <a:effectLst/>
                <a:latin typeface="inter-regular"/>
              </a:rPr>
              <a:t>app_name</a:t>
            </a:r>
            <a:r>
              <a:rPr lang="en-IN" b="0" i="0" dirty="0">
                <a:solidFill>
                  <a:srgbClr val="0000FF"/>
                </a:solidFill>
                <a:effectLst/>
                <a:latin typeface="inter-regular"/>
              </a:rPr>
              <a: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FF0000"/>
                </a:solidFill>
                <a:effectLst/>
                <a:latin typeface="inter-regular"/>
              </a:rPr>
              <a:t>android:theme</a:t>
            </a:r>
            <a:r>
              <a:rPr lang="en-IN" b="0" i="0" dirty="0">
                <a:solidFill>
                  <a:srgbClr val="000000"/>
                </a:solidFill>
                <a:effectLst/>
                <a:latin typeface="inter-regular"/>
              </a:rPr>
              <a:t>=</a:t>
            </a:r>
            <a:r>
              <a:rPr lang="en-IN" b="0" i="0" dirty="0">
                <a:solidFill>
                  <a:srgbClr val="0000FF"/>
                </a:solidFill>
                <a:effectLst/>
                <a:latin typeface="inter-regular"/>
              </a:rPr>
              <a:t>"@style/</a:t>
            </a:r>
            <a:r>
              <a:rPr lang="en-IN" b="0" i="0" dirty="0" err="1">
                <a:solidFill>
                  <a:srgbClr val="0000FF"/>
                </a:solidFill>
                <a:effectLst/>
                <a:latin typeface="inter-regular"/>
              </a:rPr>
              <a:t>AppTheme</a:t>
            </a:r>
            <a:r>
              <a:rPr lang="en-IN" b="0" i="0" dirty="0">
                <a:solidFill>
                  <a:srgbClr val="0000FF"/>
                </a:solidFill>
                <a:effectLst/>
                <a:latin typeface="inter-regular"/>
              </a:rPr>
              <a:t>"</a:t>
            </a:r>
            <a:r>
              <a:rPr lang="en-IN" b="0" i="0" dirty="0">
                <a:solidFill>
                  <a:srgbClr val="000000"/>
                </a:solidFill>
                <a:effectLst/>
                <a:latin typeface="inter-regular"/>
              </a:rPr>
              <a:t> </a:t>
            </a:r>
            <a:r>
              <a:rPr lang="en-IN" b="1" i="0" dirty="0">
                <a:solidFill>
                  <a:srgbClr val="006699"/>
                </a:solidFill>
                <a:effectLst/>
                <a:latin typeface="inter-regular"/>
              </a:rPr>
              <a:t>&gt;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&lt;activity</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FF0000"/>
                </a:solidFill>
                <a:effectLst/>
                <a:latin typeface="inter-regular"/>
              </a:rPr>
              <a:t>android:name</a:t>
            </a:r>
            <a:r>
              <a:rPr lang="en-IN" b="0" i="0" dirty="0">
                <a:solidFill>
                  <a:srgbClr val="000000"/>
                </a:solidFill>
                <a:effectLst/>
                <a:latin typeface="inter-regular"/>
              </a:rPr>
              <a:t>=</a:t>
            </a:r>
            <a:r>
              <a:rPr lang="en-IN" b="0" i="0" dirty="0">
                <a:solidFill>
                  <a:srgbClr val="0000FF"/>
                </a:solidFill>
                <a:effectLst/>
                <a:latin typeface="inter-regular"/>
              </a:rPr>
              <a:t>".</a:t>
            </a:r>
            <a:r>
              <a:rPr lang="en-IN" b="0" i="0" dirty="0" err="1">
                <a:solidFill>
                  <a:srgbClr val="0000FF"/>
                </a:solidFill>
                <a:effectLst/>
                <a:latin typeface="inter-regular"/>
              </a:rPr>
              <a:t>MainActivity</a:t>
            </a:r>
            <a:r>
              <a:rPr lang="en-IN" b="0" i="0" dirty="0">
                <a:solidFill>
                  <a:srgbClr val="0000FF"/>
                </a:solidFill>
                <a:effectLst/>
                <a:latin typeface="inter-regular"/>
              </a:rPr>
              <a: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FF0000"/>
                </a:solidFill>
                <a:effectLst/>
                <a:latin typeface="inter-regular"/>
              </a:rPr>
              <a:t>android:label</a:t>
            </a:r>
            <a:r>
              <a:rPr lang="en-IN" b="0" i="0" dirty="0">
                <a:solidFill>
                  <a:srgbClr val="000000"/>
                </a:solidFill>
                <a:effectLst/>
                <a:latin typeface="inter-regular"/>
              </a:rPr>
              <a:t>=</a:t>
            </a:r>
            <a:r>
              <a:rPr lang="en-IN" b="0" i="0" dirty="0">
                <a:solidFill>
                  <a:srgbClr val="0000FF"/>
                </a:solidFill>
                <a:effectLst/>
                <a:latin typeface="inter-regular"/>
              </a:rPr>
              <a:t>"@string/</a:t>
            </a:r>
            <a:r>
              <a:rPr lang="en-IN" b="0" i="0" dirty="0" err="1">
                <a:solidFill>
                  <a:srgbClr val="0000FF"/>
                </a:solidFill>
                <a:effectLst/>
                <a:latin typeface="inter-regular"/>
              </a:rPr>
              <a:t>title_activity_main</a:t>
            </a:r>
            <a:r>
              <a:rPr lang="en-IN" b="0" i="0" dirty="0">
                <a:solidFill>
                  <a:srgbClr val="0000FF"/>
                </a:solidFill>
                <a:effectLst/>
                <a:latin typeface="inter-regular"/>
              </a:rPr>
              <a:t>"</a:t>
            </a:r>
            <a:r>
              <a:rPr lang="en-IN" b="0" i="0" dirty="0">
                <a:solidFill>
                  <a:srgbClr val="000000"/>
                </a:solidFill>
                <a:effectLst/>
                <a:latin typeface="inter-regular"/>
              </a:rPr>
              <a:t> </a:t>
            </a:r>
            <a:r>
              <a:rPr lang="en-IN" b="1" i="0" dirty="0">
                <a:solidFill>
                  <a:srgbClr val="006699"/>
                </a:solidFill>
                <a:effectLst/>
                <a:latin typeface="inter-regular"/>
              </a:rPr>
              <a:t>&gt;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&lt;intent-filter&gt;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&lt;action</a:t>
            </a:r>
            <a:r>
              <a:rPr lang="en-IN" b="0" i="0" dirty="0">
                <a:solidFill>
                  <a:srgbClr val="000000"/>
                </a:solidFill>
                <a:effectLst/>
                <a:latin typeface="inter-regular"/>
              </a:rPr>
              <a:t> </a:t>
            </a:r>
            <a:r>
              <a:rPr lang="en-IN" b="0" i="0" dirty="0" err="1">
                <a:solidFill>
                  <a:srgbClr val="FF0000"/>
                </a:solidFill>
                <a:effectLst/>
                <a:latin typeface="inter-regular"/>
              </a:rPr>
              <a:t>android:name</a:t>
            </a:r>
            <a:r>
              <a:rPr lang="en-IN" b="0" i="0" dirty="0">
                <a:solidFill>
                  <a:srgbClr val="000000"/>
                </a:solidFill>
                <a:effectLst/>
                <a:latin typeface="inter-regular"/>
              </a:rPr>
              <a:t>=</a:t>
            </a:r>
            <a:r>
              <a:rPr lang="en-IN" b="0" i="0" dirty="0">
                <a:solidFill>
                  <a:srgbClr val="0000FF"/>
                </a:solidFill>
                <a:effectLst/>
                <a:latin typeface="inter-regular"/>
              </a:rPr>
              <a:t>"</a:t>
            </a:r>
            <a:r>
              <a:rPr lang="en-IN" b="0" i="0" dirty="0" err="1">
                <a:solidFill>
                  <a:srgbClr val="0000FF"/>
                </a:solidFill>
                <a:effectLst/>
                <a:latin typeface="inter-regular"/>
              </a:rPr>
              <a:t>android.intent.action.MAIN</a:t>
            </a:r>
            <a:r>
              <a:rPr lang="en-IN" b="0" i="0" dirty="0">
                <a:solidFill>
                  <a:srgbClr val="0000FF"/>
                </a:solidFill>
                <a:effectLst/>
                <a:latin typeface="inter-regular"/>
              </a:rPr>
              <a:t>"</a:t>
            </a:r>
            <a:r>
              <a:rPr lang="en-IN" b="0" i="0" dirty="0">
                <a:solidFill>
                  <a:srgbClr val="000000"/>
                </a:solidFill>
                <a:effectLst/>
                <a:latin typeface="inter-regular"/>
              </a:rPr>
              <a:t> </a:t>
            </a:r>
            <a:r>
              <a:rPr lang="en-IN" b="1" i="0" dirty="0">
                <a:solidFill>
                  <a:srgbClr val="006699"/>
                </a:solidFill>
                <a:effectLst/>
                <a:latin typeface="inter-regular"/>
              </a:rPr>
              <a:t>/&gt;</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&lt;category</a:t>
            </a:r>
            <a:r>
              <a:rPr lang="en-IN" b="0" i="0" dirty="0">
                <a:solidFill>
                  <a:srgbClr val="000000"/>
                </a:solidFill>
                <a:effectLst/>
                <a:latin typeface="inter-regular"/>
              </a:rPr>
              <a:t> </a:t>
            </a:r>
            <a:r>
              <a:rPr lang="en-IN" b="0" i="0" dirty="0" err="1">
                <a:solidFill>
                  <a:srgbClr val="FF0000"/>
                </a:solidFill>
                <a:effectLst/>
                <a:latin typeface="inter-regular"/>
              </a:rPr>
              <a:t>android:name</a:t>
            </a:r>
            <a:r>
              <a:rPr lang="en-IN" b="0" i="0" dirty="0">
                <a:solidFill>
                  <a:srgbClr val="000000"/>
                </a:solidFill>
                <a:effectLst/>
                <a:latin typeface="inter-regular"/>
              </a:rPr>
              <a:t>=</a:t>
            </a:r>
            <a:r>
              <a:rPr lang="en-IN" b="0" i="0" dirty="0">
                <a:solidFill>
                  <a:srgbClr val="0000FF"/>
                </a:solidFill>
                <a:effectLst/>
                <a:latin typeface="inter-regular"/>
              </a:rPr>
              <a:t>"</a:t>
            </a:r>
            <a:r>
              <a:rPr lang="en-IN" b="0" i="0" dirty="0" err="1">
                <a:solidFill>
                  <a:srgbClr val="0000FF"/>
                </a:solidFill>
                <a:effectLst/>
                <a:latin typeface="inter-regular"/>
              </a:rPr>
              <a:t>android.intent.category.LAUNCHER</a:t>
            </a:r>
            <a:r>
              <a:rPr lang="en-IN" b="0" i="0" dirty="0">
                <a:solidFill>
                  <a:srgbClr val="0000FF"/>
                </a:solidFill>
                <a:effectLst/>
                <a:latin typeface="inter-regular"/>
              </a:rPr>
              <a:t>"</a:t>
            </a:r>
            <a:r>
              <a:rPr lang="en-IN" b="0" i="0" dirty="0">
                <a:solidFill>
                  <a:srgbClr val="000000"/>
                </a:solidFill>
                <a:effectLst/>
                <a:latin typeface="inter-regular"/>
              </a:rPr>
              <a:t> </a:t>
            </a:r>
            <a:r>
              <a:rPr lang="en-IN" b="1" i="0" dirty="0">
                <a:solidFill>
                  <a:srgbClr val="006699"/>
                </a:solidFill>
                <a:effectLst/>
                <a:latin typeface="inter-regular"/>
              </a:rPr>
              <a:t>/&gt;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&lt;/intent-filter&gt;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&lt;/activity&gt;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&lt;/application&gt;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&lt;/manifest&gt;</a:t>
            </a:r>
            <a:r>
              <a:rPr lang="en-IN" b="0" i="0" dirty="0">
                <a:solidFill>
                  <a:srgbClr val="000000"/>
                </a:solidFill>
                <a:effectLst/>
                <a:latin typeface="inter-regular"/>
              </a:rPr>
              <a:t>  </a:t>
            </a:r>
          </a:p>
        </p:txBody>
      </p:sp>
    </p:spTree>
    <p:extLst>
      <p:ext uri="{BB962C8B-B14F-4D97-AF65-F5344CB8AC3E}">
        <p14:creationId xmlns="" xmlns:p14="http://schemas.microsoft.com/office/powerpoint/2010/main" val="286112843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B8273FEE-625A-C749-7514-3D0E27B9002F}"/>
              </a:ext>
            </a:extLst>
          </p:cNvPr>
          <p:cNvSpPr>
            <a:spLocks noChangeArrowheads="1"/>
          </p:cNvSpPr>
          <p:nvPr/>
        </p:nvSpPr>
        <p:spPr bwMode="auto">
          <a:xfrm>
            <a:off x="363487" y="610288"/>
            <a:ext cx="11075031" cy="599080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lang="en-US" altLang="en-US" sz="2000" b="1" dirty="0">
                <a:solidFill>
                  <a:srgbClr val="333333"/>
                </a:solidFill>
                <a:latin typeface="inter-regular"/>
              </a:rPr>
              <a:t>Elements of the AndroidManifest.xml file</a:t>
            </a:r>
          </a:p>
          <a:p>
            <a:pPr marL="0" marR="0" lvl="0" indent="0" algn="just" defTabSz="914400" rtl="0" eaLnBrk="0" fontAlgn="base" latinLnBrk="0" hangingPunct="0">
              <a:lnSpc>
                <a:spcPct val="150000"/>
              </a:lnSpc>
              <a:spcBef>
                <a:spcPct val="0"/>
              </a:spcBef>
              <a:spcAft>
                <a:spcPct val="0"/>
              </a:spcAft>
              <a:buClrTx/>
              <a:buSzTx/>
              <a:buFontTx/>
              <a:buNone/>
              <a:tabLst/>
            </a:pPr>
            <a:r>
              <a:rPr lang="en-US" altLang="en-US" sz="2000" dirty="0">
                <a:solidFill>
                  <a:srgbClr val="333333"/>
                </a:solidFill>
                <a:latin typeface="inter-regular"/>
              </a:rPr>
              <a:t>The elements used in the above xml file are described below.</a:t>
            </a:r>
          </a:p>
          <a:p>
            <a:pPr marL="0" marR="0" lvl="0" indent="0" algn="just" defTabSz="914400" rtl="0" eaLnBrk="0" fontAlgn="base" latinLnBrk="0" hangingPunct="0">
              <a:lnSpc>
                <a:spcPct val="150000"/>
              </a:lnSpc>
              <a:spcBef>
                <a:spcPct val="0"/>
              </a:spcBef>
              <a:spcAft>
                <a:spcPct val="0"/>
              </a:spcAft>
              <a:buClrTx/>
              <a:buSzTx/>
              <a:buFontTx/>
              <a:buNone/>
              <a:tabLst/>
            </a:pPr>
            <a:r>
              <a:rPr lang="en-US" altLang="en-US" sz="2000" b="1" dirty="0">
                <a:solidFill>
                  <a:srgbClr val="333333"/>
                </a:solidFill>
                <a:latin typeface="inter-regular"/>
              </a:rPr>
              <a:t>&lt;manifest&gt;</a:t>
            </a:r>
          </a:p>
          <a:p>
            <a:pPr marL="0" marR="0" lvl="0" indent="0" algn="just" defTabSz="914400" rtl="0" eaLnBrk="0" fontAlgn="base" latinLnBrk="0" hangingPunct="0">
              <a:lnSpc>
                <a:spcPct val="150000"/>
              </a:lnSpc>
              <a:spcBef>
                <a:spcPct val="0"/>
              </a:spcBef>
              <a:spcAft>
                <a:spcPct val="0"/>
              </a:spcAft>
              <a:buClrTx/>
              <a:buSzTx/>
              <a:buFontTx/>
              <a:buNone/>
              <a:tabLst/>
            </a:pPr>
            <a:r>
              <a:rPr lang="en-US" altLang="en-US" sz="2000" dirty="0">
                <a:solidFill>
                  <a:srgbClr val="333333"/>
                </a:solidFill>
                <a:latin typeface="inter-regular"/>
              </a:rPr>
              <a:t>manifest is the root element of the AndroidManifest.xml file. It has package attribute that describes the package name of the activity class.</a:t>
            </a:r>
          </a:p>
          <a:p>
            <a:pPr marL="0" marR="0" lvl="0" indent="0" algn="just" defTabSz="914400" rtl="0" eaLnBrk="0" fontAlgn="base" latinLnBrk="0" hangingPunct="0">
              <a:lnSpc>
                <a:spcPct val="150000"/>
              </a:lnSpc>
              <a:spcBef>
                <a:spcPct val="0"/>
              </a:spcBef>
              <a:spcAft>
                <a:spcPct val="0"/>
              </a:spcAft>
              <a:buClrTx/>
              <a:buSzTx/>
              <a:buFontTx/>
              <a:buNone/>
              <a:tabLst/>
            </a:pPr>
            <a:r>
              <a:rPr lang="en-US" altLang="en-US" sz="2000" b="1" dirty="0">
                <a:solidFill>
                  <a:srgbClr val="333333"/>
                </a:solidFill>
                <a:latin typeface="inter-regular"/>
              </a:rPr>
              <a:t>&lt;application&gt;</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inter-bold"/>
              </a:rPr>
              <a:t>application</a:t>
            </a:r>
            <a:r>
              <a:rPr kumimoji="0" lang="en-US" altLang="en-US" sz="2000" b="0" i="0" u="none" strike="noStrike" cap="none" normalizeH="0" baseline="0" dirty="0">
                <a:ln>
                  <a:noFill/>
                </a:ln>
                <a:solidFill>
                  <a:srgbClr val="333333"/>
                </a:solidFill>
                <a:effectLst/>
                <a:latin typeface="inter-regular"/>
              </a:rPr>
              <a:t> is the sub element of the manifest. It includes the namespace declaration. This element contains several sub elements that declares the application component such as activity etc.</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inter-regular"/>
              </a:rPr>
              <a:t>The commonly used attributes are of this element are </a:t>
            </a:r>
            <a:r>
              <a:rPr kumimoji="0" lang="en-US" altLang="en-US" sz="2000" b="1" i="0" u="none" strike="noStrike" cap="none" normalizeH="0" baseline="0" dirty="0">
                <a:ln>
                  <a:noFill/>
                </a:ln>
                <a:solidFill>
                  <a:srgbClr val="333333"/>
                </a:solidFill>
                <a:effectLst/>
                <a:latin typeface="inter-bold"/>
              </a:rPr>
              <a:t>icon</a:t>
            </a:r>
            <a:r>
              <a:rPr kumimoji="0" lang="en-US" altLang="en-US" sz="2000" b="0" i="0" u="none" strike="noStrike" cap="none" normalizeH="0" baseline="0" dirty="0">
                <a:ln>
                  <a:noFill/>
                </a:ln>
                <a:solidFill>
                  <a:srgbClr val="333333"/>
                </a:solidFill>
                <a:effectLst/>
                <a:latin typeface="inter-regular"/>
              </a:rPr>
              <a:t>, </a:t>
            </a:r>
            <a:r>
              <a:rPr kumimoji="0" lang="en-US" altLang="en-US" sz="2000" b="1" i="0" u="none" strike="noStrike" cap="none" normalizeH="0" baseline="0" dirty="0">
                <a:ln>
                  <a:noFill/>
                </a:ln>
                <a:solidFill>
                  <a:srgbClr val="333333"/>
                </a:solidFill>
                <a:effectLst/>
                <a:latin typeface="inter-bold"/>
              </a:rPr>
              <a:t>label</a:t>
            </a:r>
            <a:r>
              <a:rPr kumimoji="0" lang="en-US" altLang="en-US" sz="2000" b="0" i="0" u="none" strike="noStrike" cap="none" normalizeH="0" baseline="0" dirty="0">
                <a:ln>
                  <a:noFill/>
                </a:ln>
                <a:solidFill>
                  <a:srgbClr val="333333"/>
                </a:solidFill>
                <a:effectLst/>
                <a:latin typeface="inter-regular"/>
              </a:rPr>
              <a:t>, </a:t>
            </a:r>
            <a:r>
              <a:rPr kumimoji="0" lang="en-US" altLang="en-US" sz="2000" b="1" i="0" u="none" strike="noStrike" cap="none" normalizeH="0" baseline="0" dirty="0">
                <a:ln>
                  <a:noFill/>
                </a:ln>
                <a:solidFill>
                  <a:srgbClr val="333333"/>
                </a:solidFill>
                <a:effectLst/>
                <a:latin typeface="inter-bold"/>
              </a:rPr>
              <a:t>theme</a:t>
            </a:r>
            <a:r>
              <a:rPr kumimoji="0" lang="en-US" altLang="en-US" sz="2000" b="0" i="0" u="none" strike="noStrike" cap="none" normalizeH="0" baseline="0" dirty="0">
                <a:ln>
                  <a:noFill/>
                </a:ln>
                <a:solidFill>
                  <a:srgbClr val="333333"/>
                </a:solidFill>
                <a:effectLst/>
                <a:latin typeface="inter-regular"/>
              </a:rPr>
              <a:t> etc.</a:t>
            </a: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err="1">
                <a:ln>
                  <a:noFill/>
                </a:ln>
                <a:solidFill>
                  <a:srgbClr val="333333"/>
                </a:solidFill>
                <a:effectLst/>
                <a:latin typeface="inter-bold"/>
              </a:rPr>
              <a:t>android:icon</a:t>
            </a:r>
            <a:r>
              <a:rPr kumimoji="0" lang="en-US" altLang="en-US" sz="2000" b="0" i="0" u="none" strike="noStrike" cap="none" normalizeH="0" baseline="0" dirty="0">
                <a:ln>
                  <a:noFill/>
                </a:ln>
                <a:solidFill>
                  <a:srgbClr val="333333"/>
                </a:solidFill>
                <a:effectLst/>
                <a:latin typeface="inter-regular"/>
              </a:rPr>
              <a:t> represents the icon for all the android application components.</a:t>
            </a: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err="1">
                <a:ln>
                  <a:noFill/>
                </a:ln>
                <a:solidFill>
                  <a:srgbClr val="333333"/>
                </a:solidFill>
                <a:effectLst/>
                <a:latin typeface="inter-bold"/>
              </a:rPr>
              <a:t>android:label</a:t>
            </a:r>
            <a:r>
              <a:rPr kumimoji="0" lang="en-US" altLang="en-US" sz="2000" b="0" i="0" u="none" strike="noStrike" cap="none" normalizeH="0" baseline="0" dirty="0">
                <a:ln>
                  <a:noFill/>
                </a:ln>
                <a:solidFill>
                  <a:srgbClr val="333333"/>
                </a:solidFill>
                <a:effectLst/>
                <a:latin typeface="inter-regular"/>
              </a:rPr>
              <a:t> works as the default label for all the application components.</a:t>
            </a:r>
          </a:p>
          <a:p>
            <a:pPr lvl="0" algn="just">
              <a:lnSpc>
                <a:spcPct val="150000"/>
              </a:lnSpc>
            </a:pPr>
            <a:r>
              <a:rPr lang="en-US" b="1" dirty="0" err="1"/>
              <a:t>android:theme</a:t>
            </a:r>
            <a:r>
              <a:rPr lang="en-US" dirty="0"/>
              <a:t> represents a common theme for all the android activities.</a:t>
            </a:r>
            <a:endParaRPr kumimoji="0" lang="en-US" altLang="en-US" sz="2000" b="0" i="0" u="none" strike="noStrike" cap="none" normalizeH="0" baseline="0" dirty="0">
              <a:ln>
                <a:noFill/>
              </a:ln>
              <a:solidFill>
                <a:srgbClr val="333333"/>
              </a:solidFill>
              <a:effectLst/>
              <a:latin typeface="inter-regular"/>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 xmlns:p14="http://schemas.microsoft.com/office/powerpoint/2010/main" val="325874773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FDBE41C3-4CC2-7562-5346-CF10AB36E228}"/>
              </a:ext>
            </a:extLst>
          </p:cNvPr>
          <p:cNvSpPr>
            <a:spLocks noChangeArrowheads="1"/>
          </p:cNvSpPr>
          <p:nvPr/>
        </p:nvSpPr>
        <p:spPr bwMode="auto">
          <a:xfrm>
            <a:off x="331558" y="-13460"/>
            <a:ext cx="9927009" cy="5582619"/>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rgbClr val="610B4B"/>
                </a:solidFill>
                <a:effectLst/>
                <a:latin typeface="erdana"/>
              </a:rPr>
              <a:t>&lt;activity&gt;</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inter-bold"/>
              </a:rPr>
              <a:t>activity</a:t>
            </a:r>
            <a:r>
              <a:rPr kumimoji="0" lang="en-US" altLang="en-US" sz="2000" b="0" i="0" u="none" strike="noStrike" cap="none" normalizeH="0" baseline="0" dirty="0">
                <a:ln>
                  <a:noFill/>
                </a:ln>
                <a:solidFill>
                  <a:srgbClr val="333333"/>
                </a:solidFill>
                <a:effectLst/>
                <a:latin typeface="inter-regular"/>
              </a:rPr>
              <a:t> is the sub element of application and represents an activity that must be defined in the AndroidManifest.xml file. It has many attributes such as label, name, theme, launch Mode etc.</a:t>
            </a: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err="1">
                <a:ln>
                  <a:noFill/>
                </a:ln>
                <a:solidFill>
                  <a:srgbClr val="333333"/>
                </a:solidFill>
                <a:effectLst/>
                <a:latin typeface="inter-bold"/>
              </a:rPr>
              <a:t>android:label</a:t>
            </a:r>
            <a:r>
              <a:rPr kumimoji="0" lang="en-US" altLang="en-US" sz="2000" b="0" i="0" u="none" strike="noStrike" cap="none" normalizeH="0" baseline="0" dirty="0">
                <a:ln>
                  <a:noFill/>
                </a:ln>
                <a:solidFill>
                  <a:srgbClr val="333333"/>
                </a:solidFill>
                <a:effectLst/>
                <a:latin typeface="inter-regular"/>
              </a:rPr>
              <a:t> represents a label i.e. displayed on the screen.</a:t>
            </a: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err="1">
                <a:ln>
                  <a:noFill/>
                </a:ln>
                <a:solidFill>
                  <a:srgbClr val="333333"/>
                </a:solidFill>
                <a:effectLst/>
                <a:latin typeface="inter-bold"/>
              </a:rPr>
              <a:t>android:name</a:t>
            </a:r>
            <a:r>
              <a:rPr kumimoji="0" lang="en-US" altLang="en-US" sz="2000" b="0" i="0" u="none" strike="noStrike" cap="none" normalizeH="0" baseline="0" dirty="0">
                <a:ln>
                  <a:noFill/>
                </a:ln>
                <a:solidFill>
                  <a:srgbClr val="333333"/>
                </a:solidFill>
                <a:effectLst/>
                <a:latin typeface="inter-regular"/>
              </a:rPr>
              <a:t> represents a name for the activity class. It is required attribute.</a:t>
            </a:r>
            <a:endParaRPr kumimoji="0" lang="en-US" altLang="en-US" sz="2000" b="0" i="0" u="none" strike="noStrike" cap="none" normalizeH="0" baseline="0" dirty="0">
              <a:ln>
                <a:noFill/>
              </a:ln>
              <a:solidFill>
                <a:srgbClr val="610B4B"/>
              </a:solidFill>
              <a:effectLst/>
              <a:latin typeface="erdana"/>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rgbClr val="610B4B"/>
                </a:solidFill>
                <a:effectLst/>
                <a:latin typeface="erdana"/>
              </a:rPr>
              <a:t>&lt;intent-filter&gt;</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inter-bold"/>
              </a:rPr>
              <a:t>intent-filter</a:t>
            </a:r>
            <a:r>
              <a:rPr kumimoji="0" lang="en-US" altLang="en-US" sz="2000" b="0" i="0" u="none" strike="noStrike" cap="none" normalizeH="0" baseline="0" dirty="0">
                <a:ln>
                  <a:noFill/>
                </a:ln>
                <a:solidFill>
                  <a:srgbClr val="333333"/>
                </a:solidFill>
                <a:effectLst/>
                <a:latin typeface="inter-regular"/>
              </a:rPr>
              <a:t> is the sub-element of activity that describes the type of intent to which activity, service or broadcast receiver can respond to.</a:t>
            </a:r>
            <a:endParaRPr kumimoji="0" lang="en-US" altLang="en-US" sz="2000" b="0" i="0" u="none" strike="noStrike" cap="none" normalizeH="0" baseline="0" dirty="0">
              <a:ln>
                <a:noFill/>
              </a:ln>
              <a:solidFill>
                <a:srgbClr val="610B4B"/>
              </a:solidFill>
              <a:effectLst/>
              <a:latin typeface="erdana"/>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rgbClr val="610B4B"/>
                </a:solidFill>
                <a:effectLst/>
                <a:latin typeface="erdana"/>
              </a:rPr>
              <a:t>&lt;action&gt;</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inter-regular"/>
              </a:rPr>
              <a:t>It adds an action for the intent-filter. The intent-filter must have at least one action element.</a:t>
            </a:r>
            <a:endParaRPr kumimoji="0" lang="en-US" altLang="en-US" sz="2000" b="0" i="0" u="none" strike="noStrike" cap="none" normalizeH="0" baseline="0" dirty="0">
              <a:ln>
                <a:noFill/>
              </a:ln>
              <a:solidFill>
                <a:srgbClr val="610B4B"/>
              </a:solidFill>
              <a:effectLst/>
              <a:latin typeface="erdana"/>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rgbClr val="610B4B"/>
                </a:solidFill>
                <a:effectLst/>
                <a:latin typeface="erdana"/>
              </a:rPr>
              <a:t>&lt;category&gt;</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inter-regular"/>
              </a:rPr>
              <a:t>It adds a category name to an intent-filter.</a:t>
            </a: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 xmlns:p14="http://schemas.microsoft.com/office/powerpoint/2010/main" val="42209454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4EF48F8E-FD83-B1D1-8CE7-AFA2936D0356}"/>
              </a:ext>
            </a:extLst>
          </p:cNvPr>
          <p:cNvSpPr txBox="1"/>
          <p:nvPr/>
        </p:nvSpPr>
        <p:spPr>
          <a:xfrm>
            <a:off x="685799" y="672737"/>
            <a:ext cx="10711543" cy="2585323"/>
          </a:xfrm>
          <a:prstGeom prst="rect">
            <a:avLst/>
          </a:prstGeom>
          <a:noFill/>
        </p:spPr>
        <p:txBody>
          <a:bodyPr wrap="square">
            <a:spAutoFit/>
          </a:bodyPr>
          <a:lstStyle/>
          <a:p>
            <a:pPr algn="l"/>
            <a:r>
              <a:rPr lang="en-US" b="1" i="0" dirty="0">
                <a:solidFill>
                  <a:srgbClr val="242424"/>
                </a:solidFill>
                <a:effectLst/>
                <a:highlight>
                  <a:srgbClr val="FFFFFF"/>
                </a:highlight>
                <a:latin typeface="source-serif-pro"/>
              </a:rPr>
              <a:t>Fragments:</a:t>
            </a:r>
            <a:endParaRPr lang="en-US" b="0" i="0" dirty="0">
              <a:solidFill>
                <a:srgbClr val="242424"/>
              </a:solidFill>
              <a:effectLst/>
              <a:highlight>
                <a:srgbClr val="FFFFFF"/>
              </a:highlight>
              <a:latin typeface="source-serif-pro"/>
            </a:endParaRPr>
          </a:p>
          <a:p>
            <a:pPr marL="285750" indent="-285750" algn="l">
              <a:buFont typeface="Arial" panose="020B0604020202020204" pitchFamily="34" charset="0"/>
              <a:buChar char="•"/>
            </a:pPr>
            <a:r>
              <a:rPr lang="en-US" b="0" i="0" dirty="0">
                <a:solidFill>
                  <a:srgbClr val="242424"/>
                </a:solidFill>
                <a:effectLst/>
                <a:highlight>
                  <a:srgbClr val="FFFFFF"/>
                </a:highlight>
                <a:latin typeface="source-serif-pro"/>
              </a:rPr>
              <a:t>Represents a portion of user interface in an Activity.</a:t>
            </a:r>
            <a:r>
              <a:rPr lang="en-US" b="0" i="0" dirty="0">
                <a:solidFill>
                  <a:srgbClr val="273239"/>
                </a:solidFill>
                <a:effectLst/>
                <a:highlight>
                  <a:srgbClr val="FFFFFF"/>
                </a:highlight>
                <a:latin typeface="Nunito" pitchFamily="2" charset="0"/>
              </a:rPr>
              <a:t> A fragment encapsulates functionality so that it is easier to reuse within activities and layouts.</a:t>
            </a:r>
            <a:endParaRPr lang="en-US" b="0" i="0" dirty="0">
              <a:solidFill>
                <a:srgbClr val="242424"/>
              </a:solidFill>
              <a:effectLst/>
              <a:highlight>
                <a:srgbClr val="FFFFFF"/>
              </a:highlight>
              <a:latin typeface="source-serif-pro"/>
            </a:endParaRPr>
          </a:p>
          <a:p>
            <a:pPr marL="285750" indent="-285750" algn="l">
              <a:buFont typeface="Arial" panose="020B0604020202020204" pitchFamily="34" charset="0"/>
              <a:buChar char="•"/>
            </a:pPr>
            <a:r>
              <a:rPr lang="en-US" b="0" i="0" dirty="0">
                <a:solidFill>
                  <a:srgbClr val="273239"/>
                </a:solidFill>
                <a:effectLst/>
                <a:highlight>
                  <a:srgbClr val="FFFFFF"/>
                </a:highlight>
                <a:latin typeface="Nunito" pitchFamily="2" charset="0"/>
              </a:rPr>
              <a:t>Fragments simplify the reuse of components in different layouts and their logic</a:t>
            </a:r>
            <a:r>
              <a:rPr lang="en-US" dirty="0">
                <a:solidFill>
                  <a:srgbClr val="242424"/>
                </a:solidFill>
                <a:highlight>
                  <a:srgbClr val="FFFFFF"/>
                </a:highlight>
                <a:latin typeface="source-serif-pro"/>
              </a:rPr>
              <a:t>.</a:t>
            </a:r>
          </a:p>
          <a:p>
            <a:pPr marL="285750" indent="-285750" algn="l">
              <a:buFont typeface="Arial" panose="020B0604020202020204" pitchFamily="34" charset="0"/>
              <a:buChar char="•"/>
            </a:pPr>
            <a:r>
              <a:rPr lang="en-US" b="0" i="0" dirty="0">
                <a:solidFill>
                  <a:srgbClr val="273239"/>
                </a:solidFill>
                <a:effectLst/>
                <a:highlight>
                  <a:srgbClr val="FFFFFF"/>
                </a:highlight>
                <a:latin typeface="Nunito" pitchFamily="2" charset="0"/>
              </a:rPr>
              <a:t>You can also use fragments also to support different layouts for landscape and portrait orientation on a smartphone</a:t>
            </a:r>
            <a:endParaRPr lang="en-US" b="0" i="0" dirty="0">
              <a:solidFill>
                <a:srgbClr val="242424"/>
              </a:solidFill>
              <a:effectLst/>
              <a:highlight>
                <a:srgbClr val="FFFFFF"/>
              </a:highlight>
              <a:latin typeface="source-serif-pro"/>
            </a:endParaRPr>
          </a:p>
          <a:p>
            <a:pPr algn="l"/>
            <a:endParaRPr lang="en-US" dirty="0">
              <a:solidFill>
                <a:srgbClr val="242424"/>
              </a:solidFill>
              <a:highlight>
                <a:srgbClr val="FFFFFF"/>
              </a:highlight>
              <a:latin typeface="source-serif-pro"/>
            </a:endParaRPr>
          </a:p>
          <a:p>
            <a:pPr algn="l"/>
            <a:endParaRPr lang="en-US" b="0" i="0" dirty="0">
              <a:solidFill>
                <a:srgbClr val="242424"/>
              </a:solidFill>
              <a:effectLst/>
              <a:highlight>
                <a:srgbClr val="FFFFFF"/>
              </a:highlight>
              <a:latin typeface="source-serif-pro"/>
            </a:endParaRPr>
          </a:p>
          <a:p>
            <a:pPr algn="l"/>
            <a:endParaRPr lang="en-US" b="0" i="0" dirty="0">
              <a:solidFill>
                <a:srgbClr val="242424"/>
              </a:solidFill>
              <a:effectLst/>
              <a:highlight>
                <a:srgbClr val="FFFFFF"/>
              </a:highlight>
              <a:latin typeface="source-serif-pro"/>
            </a:endParaRPr>
          </a:p>
        </p:txBody>
      </p:sp>
      <p:pic>
        <p:nvPicPr>
          <p:cNvPr id="5" name="Picture 4">
            <a:extLst>
              <a:ext uri="{FF2B5EF4-FFF2-40B4-BE49-F238E27FC236}">
                <a16:creationId xmlns="" xmlns:a16="http://schemas.microsoft.com/office/drawing/2014/main" id="{D839C22A-EF1A-FA49-E197-2A15671E63EF}"/>
              </a:ext>
            </a:extLst>
          </p:cNvPr>
          <p:cNvPicPr>
            <a:picLocks noChangeAspect="1"/>
          </p:cNvPicPr>
          <p:nvPr/>
        </p:nvPicPr>
        <p:blipFill>
          <a:blip r:embed="rId2"/>
          <a:stretch>
            <a:fillRect/>
          </a:stretch>
        </p:blipFill>
        <p:spPr>
          <a:xfrm>
            <a:off x="1286690" y="2714474"/>
            <a:ext cx="8216537" cy="3604064"/>
          </a:xfrm>
          <a:prstGeom prst="rect">
            <a:avLst/>
          </a:prstGeom>
        </p:spPr>
      </p:pic>
    </p:spTree>
    <p:extLst>
      <p:ext uri="{BB962C8B-B14F-4D97-AF65-F5344CB8AC3E}">
        <p14:creationId xmlns="" xmlns:p14="http://schemas.microsoft.com/office/powerpoint/2010/main" val="223996556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5DE6811-56CB-6FA0-67CF-74D6D2700515}"/>
              </a:ext>
            </a:extLst>
          </p:cNvPr>
          <p:cNvSpPr txBox="1"/>
          <p:nvPr/>
        </p:nvSpPr>
        <p:spPr>
          <a:xfrm>
            <a:off x="545232" y="556591"/>
            <a:ext cx="11285173" cy="5355312"/>
          </a:xfrm>
          <a:prstGeom prst="rect">
            <a:avLst/>
          </a:prstGeom>
          <a:noFill/>
        </p:spPr>
        <p:txBody>
          <a:bodyPr wrap="square">
            <a:spAutoFit/>
          </a:bodyPr>
          <a:lstStyle/>
          <a:p>
            <a:pPr algn="just" fontAlgn="base"/>
            <a:r>
              <a:rPr lang="en-IN" b="1" i="0" dirty="0">
                <a:solidFill>
                  <a:srgbClr val="273239"/>
                </a:solidFill>
                <a:effectLst/>
                <a:latin typeface="Source Sans 3"/>
              </a:rPr>
              <a:t>Toast Message:  </a:t>
            </a:r>
            <a:r>
              <a:rPr lang="en-IN" i="0" dirty="0">
                <a:solidFill>
                  <a:srgbClr val="273239"/>
                </a:solidFill>
                <a:effectLst/>
                <a:latin typeface="Source Sans 3"/>
              </a:rPr>
              <a:t>It is used to display information for  short period of time. A toast contain message to be displayed quickly and disappear after some time.</a:t>
            </a:r>
            <a:endParaRPr lang="en-IN" dirty="0">
              <a:solidFill>
                <a:srgbClr val="273239"/>
              </a:solidFill>
              <a:latin typeface="Source Sans 3"/>
            </a:endParaRPr>
          </a:p>
          <a:p>
            <a:pPr algn="just" fontAlgn="base"/>
            <a:r>
              <a:rPr lang="en-IN" dirty="0">
                <a:solidFill>
                  <a:srgbClr val="273239"/>
                </a:solidFill>
                <a:latin typeface="Source Sans 3"/>
              </a:rPr>
              <a:t>                           </a:t>
            </a:r>
          </a:p>
          <a:p>
            <a:pPr algn="just" fontAlgn="base"/>
            <a:r>
              <a:rPr lang="en-US" dirty="0">
                <a:solidFill>
                  <a:srgbClr val="273239"/>
                </a:solidFill>
                <a:latin typeface="Source Sans 3"/>
              </a:rPr>
              <a:t>A </a:t>
            </a:r>
            <a:r>
              <a:rPr lang="en-US" dirty="0">
                <a:solidFill>
                  <a:srgbClr val="273239"/>
                </a:solidFill>
                <a:latin typeface="Source Sans 3"/>
                <a:hlinkClick r:id="rId2">
                  <a:extLst>
                    <a:ext uri="{A12FA001-AC4F-418D-AE19-62706E023703}">
                      <ahyp:hlinkClr xmlns="" xmlns:ahyp="http://schemas.microsoft.com/office/drawing/2018/hyperlinkcolor" val="tx"/>
                    </a:ext>
                  </a:extLst>
                </a:hlinkClick>
              </a:rPr>
              <a:t>Toast</a:t>
            </a:r>
            <a:r>
              <a:rPr lang="en-US" dirty="0">
                <a:solidFill>
                  <a:srgbClr val="273239"/>
                </a:solidFill>
                <a:latin typeface="Source Sans 3"/>
              </a:rPr>
              <a:t> is a feedback message. It takes a very little space for displaying while the overall activity is interactive and visible to the user. It disappears after a few seconds. It disappears automatically. If the user wants a permanently visible message, a </a:t>
            </a:r>
            <a:r>
              <a:rPr lang="en-US" dirty="0">
                <a:solidFill>
                  <a:srgbClr val="273239"/>
                </a:solidFill>
                <a:latin typeface="Source Sans 3"/>
                <a:hlinkClick r:id="rId3">
                  <a:extLst>
                    <a:ext uri="{A12FA001-AC4F-418D-AE19-62706E023703}">
                      <ahyp:hlinkClr xmlns="" xmlns:ahyp="http://schemas.microsoft.com/office/drawing/2018/hyperlinkcolor" val="tx"/>
                    </a:ext>
                  </a:extLst>
                </a:hlinkClick>
              </a:rPr>
              <a:t>Notification</a:t>
            </a:r>
            <a:r>
              <a:rPr lang="en-US" dirty="0">
                <a:solidFill>
                  <a:srgbClr val="273239"/>
                </a:solidFill>
                <a:latin typeface="Source Sans 3"/>
              </a:rPr>
              <a:t> can be used. Another type of Toast is custom Toast, in which images can be used instead of a simple message.</a:t>
            </a:r>
            <a:endParaRPr lang="en-IN" dirty="0">
              <a:solidFill>
                <a:srgbClr val="273239"/>
              </a:solidFill>
              <a:latin typeface="Source Sans 3"/>
            </a:endParaRPr>
          </a:p>
          <a:p>
            <a:pPr algn="l" fontAlgn="base"/>
            <a:endParaRPr lang="en-IN" b="1" i="0" dirty="0">
              <a:solidFill>
                <a:srgbClr val="273239"/>
              </a:solidFill>
              <a:effectLst/>
              <a:latin typeface="Source Sans 3"/>
            </a:endParaRPr>
          </a:p>
          <a:p>
            <a:pPr algn="l" fontAlgn="base"/>
            <a:endParaRPr lang="en-IN" b="1" dirty="0">
              <a:solidFill>
                <a:srgbClr val="273239"/>
              </a:solidFill>
              <a:latin typeface="Source Sans 3"/>
            </a:endParaRPr>
          </a:p>
          <a:p>
            <a:pPr algn="l" fontAlgn="base"/>
            <a:endParaRPr lang="en-IN" b="1" i="0" dirty="0">
              <a:solidFill>
                <a:srgbClr val="273239"/>
              </a:solidFill>
              <a:effectLst/>
              <a:latin typeface="Source Sans 3"/>
            </a:endParaRPr>
          </a:p>
          <a:p>
            <a:pPr algn="l" fontAlgn="base"/>
            <a:r>
              <a:rPr lang="en-IN" b="1" dirty="0">
                <a:solidFill>
                  <a:srgbClr val="273239"/>
                </a:solidFill>
                <a:latin typeface="Source Sans 3"/>
              </a:rPr>
              <a:t>The  </a:t>
            </a:r>
            <a:r>
              <a:rPr lang="en-IN" b="1" u="sng" dirty="0" err="1">
                <a:solidFill>
                  <a:srgbClr val="273239"/>
                </a:solidFill>
                <a:latin typeface="Source Sans 3"/>
              </a:rPr>
              <a:t>android.widget.Toast</a:t>
            </a:r>
            <a:r>
              <a:rPr lang="en-IN" b="1" u="sng" dirty="0">
                <a:solidFill>
                  <a:srgbClr val="273239"/>
                </a:solidFill>
                <a:latin typeface="Source Sans 3"/>
              </a:rPr>
              <a:t> </a:t>
            </a:r>
            <a:r>
              <a:rPr lang="en-IN" b="1" dirty="0">
                <a:solidFill>
                  <a:srgbClr val="273239"/>
                </a:solidFill>
                <a:latin typeface="Source Sans 3"/>
              </a:rPr>
              <a:t>class is the subclass of </a:t>
            </a:r>
            <a:r>
              <a:rPr lang="en-IN" b="1" u="sng" dirty="0" err="1">
                <a:solidFill>
                  <a:srgbClr val="273239"/>
                </a:solidFill>
                <a:latin typeface="Source Sans 3"/>
              </a:rPr>
              <a:t>java.lang.Oject</a:t>
            </a:r>
            <a:r>
              <a:rPr lang="en-IN" b="1" u="sng" dirty="0">
                <a:solidFill>
                  <a:srgbClr val="273239"/>
                </a:solidFill>
                <a:latin typeface="Source Sans 3"/>
              </a:rPr>
              <a:t> </a:t>
            </a:r>
            <a:r>
              <a:rPr lang="en-IN" b="1" dirty="0">
                <a:solidFill>
                  <a:srgbClr val="273239"/>
                </a:solidFill>
                <a:latin typeface="Source Sans 3"/>
              </a:rPr>
              <a:t>class.</a:t>
            </a:r>
          </a:p>
          <a:p>
            <a:pPr algn="l" fontAlgn="base"/>
            <a:endParaRPr lang="en-US" b="0" i="0" dirty="0">
              <a:solidFill>
                <a:srgbClr val="273239"/>
              </a:solidFill>
              <a:effectLst/>
              <a:latin typeface="Nunito" pitchFamily="2" charset="0"/>
            </a:endParaRPr>
          </a:p>
          <a:p>
            <a:pPr algn="l" fontAlgn="base"/>
            <a:r>
              <a:rPr lang="en-US" b="0" i="0" dirty="0">
                <a:solidFill>
                  <a:srgbClr val="273239"/>
                </a:solidFill>
                <a:effectLst/>
                <a:latin typeface="Nunito" pitchFamily="2" charset="0"/>
              </a:rPr>
              <a:t>Toast class provides a simple popup message that is displayed on the current activity UI screen (e.g. Main Activity).</a:t>
            </a:r>
            <a:endParaRPr lang="en-IN" b="1" dirty="0">
              <a:solidFill>
                <a:srgbClr val="273239"/>
              </a:solidFill>
              <a:latin typeface="Source Sans 3"/>
            </a:endParaRPr>
          </a:p>
          <a:p>
            <a:pPr algn="l" fontAlgn="base"/>
            <a:endParaRPr lang="en-IN" b="1" i="0" dirty="0">
              <a:solidFill>
                <a:srgbClr val="273239"/>
              </a:solidFill>
              <a:effectLst/>
              <a:latin typeface="Source Sans 3"/>
            </a:endParaRPr>
          </a:p>
          <a:p>
            <a:pPr algn="l" fontAlgn="base"/>
            <a:endParaRPr lang="en-IN" b="1" dirty="0">
              <a:solidFill>
                <a:srgbClr val="273239"/>
              </a:solidFill>
              <a:latin typeface="Source Sans 3"/>
            </a:endParaRPr>
          </a:p>
          <a:p>
            <a:pPr algn="l" fontAlgn="base"/>
            <a:r>
              <a:rPr lang="en-IN" b="1" i="0" dirty="0">
                <a:solidFill>
                  <a:srgbClr val="273239"/>
                </a:solidFill>
                <a:effectLst/>
                <a:latin typeface="Source Sans 3"/>
              </a:rPr>
              <a:t>There are two classes:</a:t>
            </a:r>
          </a:p>
          <a:p>
            <a:pPr algn="l" fontAlgn="base"/>
            <a:endParaRPr lang="en-IN" b="1" i="0" dirty="0">
              <a:solidFill>
                <a:srgbClr val="273239"/>
              </a:solidFill>
              <a:effectLst/>
              <a:latin typeface="Source Sans 3"/>
            </a:endParaRPr>
          </a:p>
          <a:p>
            <a:pPr algn="l" fontAlgn="base"/>
            <a:endParaRPr lang="en-IN" b="1" i="0" dirty="0">
              <a:solidFill>
                <a:srgbClr val="273239"/>
              </a:solidFill>
              <a:effectLst/>
              <a:latin typeface="Source Sans 3"/>
            </a:endParaRPr>
          </a:p>
        </p:txBody>
      </p:sp>
      <p:graphicFrame>
        <p:nvGraphicFramePr>
          <p:cNvPr id="4" name="Table 3">
            <a:extLst>
              <a:ext uri="{FF2B5EF4-FFF2-40B4-BE49-F238E27FC236}">
                <a16:creationId xmlns="" xmlns:a16="http://schemas.microsoft.com/office/drawing/2014/main" id="{80C36273-A648-358B-961E-945463C4C176}"/>
              </a:ext>
            </a:extLst>
          </p:cNvPr>
          <p:cNvGraphicFramePr>
            <a:graphicFrameLocks noGrp="1"/>
          </p:cNvGraphicFramePr>
          <p:nvPr>
            <p:extLst>
              <p:ext uri="{D42A27DB-BD31-4B8C-83A1-F6EECF244321}">
                <p14:modId xmlns="" xmlns:p14="http://schemas.microsoft.com/office/powerpoint/2010/main" val="3427905145"/>
              </p:ext>
            </p:extLst>
          </p:nvPr>
        </p:nvGraphicFramePr>
        <p:xfrm>
          <a:off x="315685" y="5588053"/>
          <a:ext cx="10515600" cy="647700"/>
        </p:xfrm>
        <a:graphic>
          <a:graphicData uri="http://schemas.openxmlformats.org/drawingml/2006/table">
            <a:tbl>
              <a:tblPr/>
              <a:tblGrid>
                <a:gridCol w="5257800">
                  <a:extLst>
                    <a:ext uri="{9D8B030D-6E8A-4147-A177-3AD203B41FA5}">
                      <a16:colId xmlns="" xmlns:a16="http://schemas.microsoft.com/office/drawing/2014/main" val="3307954780"/>
                    </a:ext>
                  </a:extLst>
                </a:gridCol>
                <a:gridCol w="5257800">
                  <a:extLst>
                    <a:ext uri="{9D8B030D-6E8A-4147-A177-3AD203B41FA5}">
                      <a16:colId xmlns="" xmlns:a16="http://schemas.microsoft.com/office/drawing/2014/main" val="3387703374"/>
                    </a:ext>
                  </a:extLst>
                </a:gridCol>
              </a:tblGrid>
              <a:tr h="0">
                <a:tc>
                  <a:txBody>
                    <a:bodyPr/>
                    <a:lstStyle/>
                    <a:p>
                      <a:pPr algn="ctr" fontAlgn="ctr"/>
                      <a:r>
                        <a:rPr lang="en-US" sz="1250" b="1" dirty="0">
                          <a:effectLst/>
                        </a:rPr>
                        <a:t>public static final int LENGTH_LONG</a:t>
                      </a:r>
                    </a:p>
                  </a:txBody>
                  <a:tcPr marL="47625" marR="47625" marT="66675" marB="666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50" b="1" dirty="0">
                          <a:effectLst/>
                        </a:rPr>
                        <a:t>Displays view  for  the  along  duration of time</a:t>
                      </a:r>
                    </a:p>
                  </a:txBody>
                  <a:tcPr marL="47625" marR="47625" marT="66675" marB="666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335811816"/>
                  </a:ext>
                </a:extLst>
              </a:tr>
              <a:tr h="0">
                <a:tc>
                  <a:txBody>
                    <a:bodyPr/>
                    <a:lstStyle/>
                    <a:p>
                      <a:pPr algn="ctr" fontAlgn="ctr"/>
                      <a:r>
                        <a:rPr lang="en-US" sz="1250" b="1" dirty="0">
                          <a:effectLst/>
                        </a:rPr>
                        <a:t>public static final int LENGTH_SHORT</a:t>
                      </a:r>
                    </a:p>
                  </a:txBody>
                  <a:tcPr marL="47625" marR="47625" marT="66675" marB="666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250" b="1" dirty="0">
                          <a:effectLst/>
                        </a:rPr>
                        <a:t>Displays for a short  duration of time</a:t>
                      </a:r>
                    </a:p>
                  </a:txBody>
                  <a:tcPr marL="47625" marR="47625" marT="66675" marB="666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745315833"/>
                  </a:ext>
                </a:extLst>
              </a:tr>
            </a:tbl>
          </a:graphicData>
        </a:graphic>
      </p:graphicFrame>
    </p:spTree>
    <p:extLst>
      <p:ext uri="{BB962C8B-B14F-4D97-AF65-F5344CB8AC3E}">
        <p14:creationId xmlns="" xmlns:p14="http://schemas.microsoft.com/office/powerpoint/2010/main" val="165473746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8E752194-2295-0CFA-0130-1BA8615732BC}"/>
              </a:ext>
            </a:extLst>
          </p:cNvPr>
          <p:cNvSpPr txBox="1"/>
          <p:nvPr/>
        </p:nvSpPr>
        <p:spPr>
          <a:xfrm>
            <a:off x="573630" y="738335"/>
            <a:ext cx="11131826" cy="5909310"/>
          </a:xfrm>
          <a:prstGeom prst="rect">
            <a:avLst/>
          </a:prstGeom>
          <a:noFill/>
        </p:spPr>
        <p:txBody>
          <a:bodyPr wrap="square">
            <a:spAutoFit/>
          </a:bodyPr>
          <a:lstStyle/>
          <a:p>
            <a:r>
              <a:rPr lang="en-IN" b="1" i="0" dirty="0">
                <a:solidFill>
                  <a:srgbClr val="273239"/>
                </a:solidFill>
                <a:effectLst/>
                <a:latin typeface="Nunito" pitchFamily="2" charset="0"/>
              </a:rPr>
              <a:t>Methods of Toast:</a:t>
            </a:r>
          </a:p>
          <a:p>
            <a:endParaRPr lang="en-IN" b="1" dirty="0">
              <a:solidFill>
                <a:srgbClr val="273239"/>
              </a:solidFill>
              <a:latin typeface="Nunito" pitchFamily="2" charset="0"/>
            </a:endParaRPr>
          </a:p>
          <a:p>
            <a:r>
              <a:rPr lang="en-IN" b="0" i="0" dirty="0">
                <a:solidFill>
                  <a:srgbClr val="273239"/>
                </a:solidFill>
                <a:effectLst/>
                <a:latin typeface="Nunito" pitchFamily="2" charset="0"/>
              </a:rPr>
              <a:t>1- </a:t>
            </a:r>
            <a:r>
              <a:rPr lang="en-IN" b="1" i="0" dirty="0">
                <a:solidFill>
                  <a:srgbClr val="273239"/>
                </a:solidFill>
                <a:effectLst/>
                <a:latin typeface="Nunito" pitchFamily="2" charset="0"/>
              </a:rPr>
              <a:t>public static Toast </a:t>
            </a:r>
            <a:r>
              <a:rPr lang="en-IN" b="1" i="0" dirty="0" err="1">
                <a:solidFill>
                  <a:srgbClr val="273239"/>
                </a:solidFill>
                <a:effectLst/>
                <a:latin typeface="Nunito" pitchFamily="2" charset="0"/>
              </a:rPr>
              <a:t>makeText</a:t>
            </a:r>
            <a:r>
              <a:rPr lang="en-IN" b="1" i="0" dirty="0">
                <a:solidFill>
                  <a:srgbClr val="273239"/>
                </a:solidFill>
                <a:effectLst/>
                <a:latin typeface="Nunito" pitchFamily="2" charset="0"/>
              </a:rPr>
              <a:t>(Context </a:t>
            </a:r>
            <a:r>
              <a:rPr lang="en-IN" b="1" i="0" dirty="0" err="1">
                <a:solidFill>
                  <a:srgbClr val="273239"/>
                </a:solidFill>
                <a:effectLst/>
                <a:latin typeface="Nunito" pitchFamily="2" charset="0"/>
              </a:rPr>
              <a:t>context</a:t>
            </a:r>
            <a:r>
              <a:rPr lang="en-IN" b="1" i="0" dirty="0">
                <a:solidFill>
                  <a:srgbClr val="273239"/>
                </a:solidFill>
                <a:effectLst/>
                <a:latin typeface="Nunito" pitchFamily="2" charset="0"/>
              </a:rPr>
              <a:t>, </a:t>
            </a:r>
            <a:r>
              <a:rPr lang="en-IN" b="1" i="0" dirty="0" err="1">
                <a:solidFill>
                  <a:srgbClr val="273239"/>
                </a:solidFill>
                <a:effectLst/>
                <a:latin typeface="Nunito" pitchFamily="2" charset="0"/>
              </a:rPr>
              <a:t>CharSequence</a:t>
            </a:r>
            <a:r>
              <a:rPr lang="en-IN" b="1" i="0" dirty="0">
                <a:solidFill>
                  <a:srgbClr val="273239"/>
                </a:solidFill>
                <a:effectLst/>
                <a:latin typeface="Nunito" pitchFamily="2" charset="0"/>
              </a:rPr>
              <a:t> text, int duration)</a:t>
            </a:r>
          </a:p>
          <a:p>
            <a:endParaRPr lang="en-IN" dirty="0">
              <a:solidFill>
                <a:srgbClr val="273239"/>
              </a:solidFill>
              <a:latin typeface="Nunito" pitchFamily="2" charset="0"/>
            </a:endParaRPr>
          </a:p>
          <a:p>
            <a:r>
              <a:rPr lang="en-IN" dirty="0">
                <a:solidFill>
                  <a:srgbClr val="273239"/>
                </a:solidFill>
                <a:latin typeface="Nunito" pitchFamily="2" charset="0"/>
              </a:rPr>
              <a:t>-</a:t>
            </a:r>
            <a:r>
              <a:rPr lang="en-US" b="0" i="0" dirty="0">
                <a:solidFill>
                  <a:srgbClr val="273239"/>
                </a:solidFill>
                <a:effectLst/>
                <a:latin typeface="Nunito" pitchFamily="2" charset="0"/>
              </a:rPr>
              <a:t>makes the toast message consist of text and time duration</a:t>
            </a:r>
          </a:p>
          <a:p>
            <a:endParaRPr lang="en-US" b="0" i="0" dirty="0">
              <a:solidFill>
                <a:srgbClr val="273239"/>
              </a:solidFill>
              <a:effectLst/>
              <a:latin typeface="Nunito" pitchFamily="2" charset="0"/>
            </a:endParaRPr>
          </a:p>
          <a:p>
            <a:r>
              <a:rPr lang="en-US" dirty="0">
                <a:solidFill>
                  <a:srgbClr val="273239"/>
                </a:solidFill>
                <a:latin typeface="Nunito" pitchFamily="2" charset="0"/>
              </a:rPr>
              <a:t>	Use </a:t>
            </a:r>
            <a:r>
              <a:rPr lang="en-US" dirty="0" err="1">
                <a:solidFill>
                  <a:srgbClr val="273239"/>
                </a:solidFill>
                <a:latin typeface="Nunito" pitchFamily="2" charset="0"/>
              </a:rPr>
              <a:t>makeText</a:t>
            </a:r>
            <a:r>
              <a:rPr lang="en-US" dirty="0">
                <a:solidFill>
                  <a:srgbClr val="273239"/>
                </a:solidFill>
                <a:latin typeface="Nunito" pitchFamily="2" charset="0"/>
              </a:rPr>
              <a:t>() Method , which take the following parameters</a:t>
            </a:r>
          </a:p>
          <a:p>
            <a:r>
              <a:rPr lang="en-US" b="0" i="0" dirty="0">
                <a:solidFill>
                  <a:srgbClr val="273239"/>
                </a:solidFill>
                <a:effectLst/>
                <a:latin typeface="Nunito" pitchFamily="2" charset="0"/>
              </a:rPr>
              <a:t>     		</a:t>
            </a:r>
          </a:p>
          <a:p>
            <a:r>
              <a:rPr lang="en-US" dirty="0">
                <a:solidFill>
                  <a:srgbClr val="273239"/>
                </a:solidFill>
                <a:latin typeface="Nunito" pitchFamily="2" charset="0"/>
              </a:rPr>
              <a:t>		1-The activity </a:t>
            </a:r>
            <a:r>
              <a:rPr lang="en-US" b="1" dirty="0">
                <a:solidFill>
                  <a:srgbClr val="273239"/>
                </a:solidFill>
                <a:latin typeface="Nunito" pitchFamily="2" charset="0"/>
              </a:rPr>
              <a:t>Context: </a:t>
            </a:r>
            <a:r>
              <a:rPr lang="en-US" b="1" i="0" dirty="0">
                <a:solidFill>
                  <a:srgbClr val="273239"/>
                </a:solidFill>
                <a:effectLst/>
                <a:latin typeface="Nunito" pitchFamily="2" charset="0"/>
              </a:rPr>
              <a:t>context:</a:t>
            </a:r>
            <a:r>
              <a:rPr lang="en-US" b="0" i="0" dirty="0">
                <a:solidFill>
                  <a:srgbClr val="273239"/>
                </a:solidFill>
                <a:effectLst/>
                <a:latin typeface="Nunito" pitchFamily="2" charset="0"/>
              </a:rPr>
              <a:t> A first parameter is a Context object which is obtained 		by calling </a:t>
            </a:r>
            <a:r>
              <a:rPr lang="en-US" b="1" i="0" dirty="0" err="1">
                <a:solidFill>
                  <a:srgbClr val="273239"/>
                </a:solidFill>
                <a:effectLst/>
                <a:latin typeface="Nunito" pitchFamily="2" charset="0"/>
              </a:rPr>
              <a:t>getApplicationContext</a:t>
            </a:r>
            <a:r>
              <a:rPr lang="en-US" b="1" i="0" dirty="0">
                <a:solidFill>
                  <a:srgbClr val="273239"/>
                </a:solidFill>
                <a:effectLst/>
                <a:latin typeface="Nunito" pitchFamily="2" charset="0"/>
              </a:rPr>
              <a:t>().</a:t>
            </a:r>
            <a:endParaRPr lang="en-US" b="1" dirty="0">
              <a:solidFill>
                <a:srgbClr val="273239"/>
              </a:solidFill>
              <a:latin typeface="Nunito" pitchFamily="2" charset="0"/>
            </a:endParaRPr>
          </a:p>
          <a:p>
            <a:r>
              <a:rPr lang="en-US" b="1" i="0" dirty="0">
                <a:solidFill>
                  <a:srgbClr val="273239"/>
                </a:solidFill>
                <a:effectLst/>
                <a:latin typeface="Nunito" pitchFamily="2" charset="0"/>
              </a:rPr>
              <a:t>		2-</a:t>
            </a:r>
            <a:r>
              <a:rPr lang="en-US" b="0" i="0" dirty="0">
                <a:solidFill>
                  <a:srgbClr val="202124"/>
                </a:solidFill>
                <a:effectLst/>
                <a:latin typeface="Google Sans Text"/>
              </a:rPr>
              <a:t>The text that should appear to the user.</a:t>
            </a:r>
          </a:p>
          <a:p>
            <a:r>
              <a:rPr lang="en-US" dirty="0">
                <a:solidFill>
                  <a:srgbClr val="202124"/>
                </a:solidFill>
                <a:latin typeface="Google Sans Text"/>
              </a:rPr>
              <a:t>		3-T</a:t>
            </a:r>
            <a:r>
              <a:rPr lang="en-US" b="0" i="0" dirty="0">
                <a:solidFill>
                  <a:srgbClr val="202124"/>
                </a:solidFill>
                <a:effectLst/>
                <a:latin typeface="Google Sans Text"/>
              </a:rPr>
              <a:t>he duration that the toast should remain on the screen.</a:t>
            </a:r>
          </a:p>
          <a:p>
            <a:r>
              <a:rPr lang="en-US" dirty="0">
                <a:solidFill>
                  <a:srgbClr val="202124"/>
                </a:solidFill>
                <a:latin typeface="Google Sans Text"/>
              </a:rPr>
              <a:t>   </a:t>
            </a:r>
            <a:endParaRPr lang="en-US" b="0" i="0" dirty="0">
              <a:solidFill>
                <a:srgbClr val="202124"/>
              </a:solidFill>
              <a:effectLst/>
              <a:latin typeface="Google Sans Text"/>
            </a:endParaRPr>
          </a:p>
          <a:p>
            <a:r>
              <a:rPr lang="en-US" b="1" i="0" dirty="0">
                <a:solidFill>
                  <a:srgbClr val="273239"/>
                </a:solidFill>
                <a:effectLst/>
                <a:latin typeface="Nunito" pitchFamily="2" charset="0"/>
              </a:rPr>
              <a:t>			-</a:t>
            </a:r>
            <a:r>
              <a:rPr lang="en-US" b="1" dirty="0">
                <a:solidFill>
                  <a:srgbClr val="273239"/>
                </a:solidFill>
                <a:latin typeface="Nunito" pitchFamily="2" charset="0"/>
              </a:rPr>
              <a:t>This method </a:t>
            </a:r>
            <a:r>
              <a:rPr lang="en-US" b="1" i="0" dirty="0">
                <a:solidFill>
                  <a:srgbClr val="273239"/>
                </a:solidFill>
                <a:effectLst/>
                <a:latin typeface="Nunito" pitchFamily="2" charset="0"/>
              </a:rPr>
              <a:t>return a properly initialized  Toast Object</a:t>
            </a:r>
            <a:endParaRPr lang="en-US" dirty="0">
              <a:solidFill>
                <a:srgbClr val="273239"/>
              </a:solidFill>
              <a:latin typeface="Nunito" pitchFamily="2" charset="0"/>
            </a:endParaRPr>
          </a:p>
          <a:p>
            <a:r>
              <a:rPr lang="en-US" dirty="0">
                <a:solidFill>
                  <a:srgbClr val="273239"/>
                </a:solidFill>
                <a:latin typeface="Nunito" pitchFamily="2" charset="0"/>
              </a:rPr>
              <a:t>2-</a:t>
            </a:r>
            <a:r>
              <a:rPr lang="en-IN" b="1" i="0" dirty="0">
                <a:solidFill>
                  <a:srgbClr val="273239"/>
                </a:solidFill>
                <a:effectLst/>
                <a:latin typeface="Nunito" pitchFamily="2" charset="0"/>
              </a:rPr>
              <a:t>public void show()</a:t>
            </a:r>
          </a:p>
          <a:p>
            <a:endParaRPr lang="en-IN" b="1" i="0" dirty="0">
              <a:solidFill>
                <a:srgbClr val="273239"/>
              </a:solidFill>
              <a:effectLst/>
              <a:latin typeface="Nunito" pitchFamily="2" charset="0"/>
            </a:endParaRPr>
          </a:p>
          <a:p>
            <a:r>
              <a:rPr lang="en-IN" b="1" dirty="0">
                <a:solidFill>
                  <a:srgbClr val="273239"/>
                </a:solidFill>
                <a:latin typeface="Nunito" pitchFamily="2" charset="0"/>
              </a:rPr>
              <a:t>-</a:t>
            </a:r>
            <a:r>
              <a:rPr lang="en-IN" b="0" i="0" dirty="0">
                <a:solidFill>
                  <a:srgbClr val="273239"/>
                </a:solidFill>
                <a:effectLst/>
                <a:latin typeface="Nunito" pitchFamily="2" charset="0"/>
              </a:rPr>
              <a:t>displays a toast message</a:t>
            </a:r>
            <a:endParaRPr lang="en-IN" b="1" dirty="0">
              <a:solidFill>
                <a:srgbClr val="273239"/>
              </a:solidFill>
              <a:latin typeface="Nunito" pitchFamily="2" charset="0"/>
            </a:endParaRPr>
          </a:p>
          <a:p>
            <a:endParaRPr lang="en-IN" b="1" dirty="0">
              <a:solidFill>
                <a:srgbClr val="273239"/>
              </a:solidFill>
              <a:latin typeface="Nunito" pitchFamily="2" charset="0"/>
            </a:endParaRPr>
          </a:p>
          <a:p>
            <a:r>
              <a:rPr lang="en-US" b="1" i="0" dirty="0">
                <a:solidFill>
                  <a:srgbClr val="273239"/>
                </a:solidFill>
                <a:effectLst/>
                <a:latin typeface="Nunito" pitchFamily="2" charset="0"/>
              </a:rPr>
              <a:t>3-public void </a:t>
            </a:r>
            <a:r>
              <a:rPr lang="en-US" b="1" i="0" dirty="0" err="1">
                <a:solidFill>
                  <a:srgbClr val="273239"/>
                </a:solidFill>
                <a:effectLst/>
                <a:latin typeface="Nunito" pitchFamily="2" charset="0"/>
              </a:rPr>
              <a:t>setMargin</a:t>
            </a:r>
            <a:r>
              <a:rPr lang="en-US" b="1" i="0" dirty="0">
                <a:solidFill>
                  <a:srgbClr val="273239"/>
                </a:solidFill>
                <a:effectLst/>
                <a:latin typeface="Nunito" pitchFamily="2" charset="0"/>
              </a:rPr>
              <a:t> (float </a:t>
            </a:r>
            <a:r>
              <a:rPr lang="en-US" b="1" i="0" dirty="0" err="1">
                <a:solidFill>
                  <a:srgbClr val="273239"/>
                </a:solidFill>
                <a:effectLst/>
                <a:latin typeface="Nunito" pitchFamily="2" charset="0"/>
              </a:rPr>
              <a:t>horizontalMargin</a:t>
            </a:r>
            <a:r>
              <a:rPr lang="en-US" b="1" i="0" dirty="0">
                <a:solidFill>
                  <a:srgbClr val="273239"/>
                </a:solidFill>
                <a:effectLst/>
                <a:latin typeface="Nunito" pitchFamily="2" charset="0"/>
              </a:rPr>
              <a:t>, float </a:t>
            </a:r>
            <a:r>
              <a:rPr lang="en-US" b="1" i="0" dirty="0" err="1">
                <a:solidFill>
                  <a:srgbClr val="273239"/>
                </a:solidFill>
                <a:effectLst/>
                <a:latin typeface="Nunito" pitchFamily="2" charset="0"/>
              </a:rPr>
              <a:t>verticalMargin</a:t>
            </a:r>
            <a:r>
              <a:rPr lang="en-US" b="1" i="0" dirty="0">
                <a:solidFill>
                  <a:srgbClr val="273239"/>
                </a:solidFill>
                <a:effectLst/>
                <a:latin typeface="Nunito" pitchFamily="2" charset="0"/>
              </a:rPr>
              <a:t>)</a:t>
            </a:r>
          </a:p>
          <a:p>
            <a:endParaRPr lang="en-US" b="1" dirty="0">
              <a:solidFill>
                <a:srgbClr val="273239"/>
              </a:solidFill>
              <a:latin typeface="Nunito" pitchFamily="2" charset="0"/>
            </a:endParaRPr>
          </a:p>
          <a:p>
            <a:r>
              <a:rPr lang="en-US" b="0" i="0" dirty="0">
                <a:solidFill>
                  <a:srgbClr val="273239"/>
                </a:solidFill>
                <a:effectLst/>
                <a:latin typeface="Nunito" pitchFamily="2" charset="0"/>
              </a:rPr>
              <a:t>-changes the horizontal and vertical differences</a:t>
            </a:r>
            <a:endParaRPr lang="en-IN" b="1" dirty="0"/>
          </a:p>
        </p:txBody>
      </p:sp>
    </p:spTree>
    <p:extLst>
      <p:ext uri="{BB962C8B-B14F-4D97-AF65-F5344CB8AC3E}">
        <p14:creationId xmlns="" xmlns:p14="http://schemas.microsoft.com/office/powerpoint/2010/main" val="428123477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EC0CB6D0-AA81-6E97-A2E0-A8C1B93EBCC1}"/>
              </a:ext>
            </a:extLst>
          </p:cNvPr>
          <p:cNvSpPr>
            <a:spLocks noChangeArrowheads="1"/>
          </p:cNvSpPr>
          <p:nvPr/>
        </p:nvSpPr>
        <p:spPr bwMode="auto">
          <a:xfrm>
            <a:off x="658822" y="328362"/>
            <a:ext cx="11001198" cy="3424002"/>
          </a:xfrm>
          <a:prstGeom prst="rect">
            <a:avLst/>
          </a:prstGeom>
          <a:solidFill>
            <a:srgbClr val="E0E0E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3808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latin typeface="Consolas" panose="020B0609020204030204" pitchFamily="49" charset="0"/>
              </a:rPr>
              <a:t>Toast.makeText</a:t>
            </a:r>
            <a:r>
              <a:rPr kumimoji="0" lang="en-US" altLang="en-US" sz="2000" b="0" i="0" u="none" strike="noStrike" cap="none" normalizeH="0" baseline="0" dirty="0">
                <a:ln>
                  <a:noFill/>
                </a:ln>
                <a:solidFill>
                  <a:schemeClr val="tx1"/>
                </a:solidFill>
                <a:effectLst/>
                <a:latin typeface="Consolas" panose="020B0609020204030204" pitchFamily="49" charset="0"/>
              </a:rPr>
              <a:t>(</a:t>
            </a:r>
            <a:r>
              <a:rPr kumimoji="0" lang="en-US" altLang="en-US" sz="2000" b="0" i="0" u="none" strike="noStrike" cap="none" normalizeH="0" baseline="0" dirty="0" err="1">
                <a:ln>
                  <a:noFill/>
                </a:ln>
                <a:solidFill>
                  <a:schemeClr val="tx1"/>
                </a:solidFill>
                <a:effectLst/>
                <a:latin typeface="Consolas" panose="020B0609020204030204" pitchFamily="49" charset="0"/>
              </a:rPr>
              <a:t>getApplicationContext</a:t>
            </a:r>
            <a:r>
              <a:rPr kumimoji="0" lang="en-US" altLang="en-US" sz="2000" b="0" i="0" u="none" strike="noStrike" cap="none" normalizeH="0" baseline="0" dirty="0">
                <a:ln>
                  <a:noFill/>
                </a:ln>
                <a:solidFill>
                  <a:schemeClr val="tx1"/>
                </a:solidFill>
                <a:effectLst/>
                <a:latin typeface="Consolas" panose="020B0609020204030204" pitchFamily="49" charset="0"/>
              </a:rPr>
              <a:t>(), "This a toast message", </a:t>
            </a:r>
            <a:r>
              <a:rPr kumimoji="0" lang="en-US" altLang="en-US" sz="2000" b="0" i="0" u="none" strike="noStrike" cap="none" normalizeH="0" baseline="0" dirty="0" err="1">
                <a:ln>
                  <a:noFill/>
                </a:ln>
                <a:solidFill>
                  <a:schemeClr val="tx1"/>
                </a:solidFill>
                <a:effectLst/>
                <a:latin typeface="Consolas" panose="020B0609020204030204" pitchFamily="49" charset="0"/>
              </a:rPr>
              <a:t>Toast.LENGTH_LONG</a:t>
            </a:r>
            <a:r>
              <a:rPr kumimoji="0" lang="en-US" altLang="en-US" sz="2000" b="0" i="0" u="none" strike="noStrike" cap="none" normalizeH="0" baseline="0" dirty="0">
                <a:ln>
                  <a:noFill/>
                </a:ln>
                <a:solidFill>
                  <a:schemeClr val="tx1"/>
                </a:solidFill>
                <a:effectLst/>
                <a:latin typeface="Consolas" panose="020B0609020204030204" pitchFamily="49" charset="0"/>
              </a:rPr>
              <a:t>).show();</a:t>
            </a:r>
            <a:r>
              <a:rPr kumimoji="0" lang="en-US" altLang="en-US" sz="20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OR</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pP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Consolas" panose="020B0609020204030204" pitchFamily="49" charset="0"/>
              </a:rPr>
              <a:t>Toast toast= </a:t>
            </a:r>
            <a:r>
              <a:rPr kumimoji="0" lang="en-US" altLang="en-US" sz="2000" b="0" i="0" u="none" strike="noStrike" cap="none" normalizeH="0" baseline="0" dirty="0" err="1">
                <a:ln>
                  <a:noFill/>
                </a:ln>
                <a:solidFill>
                  <a:schemeClr val="tx1"/>
                </a:solidFill>
                <a:effectLst/>
                <a:latin typeface="Consolas" panose="020B0609020204030204" pitchFamily="49" charset="0"/>
              </a:rPr>
              <a:t>toast.makeText</a:t>
            </a:r>
            <a:r>
              <a:rPr kumimoji="0" lang="en-US" altLang="en-US" sz="2000" b="0" i="0" u="none" strike="noStrike" cap="none" normalizeH="0" baseline="0" dirty="0">
                <a:ln>
                  <a:noFill/>
                </a:ln>
                <a:solidFill>
                  <a:schemeClr val="tx1"/>
                </a:solidFill>
                <a:effectLst/>
                <a:latin typeface="Consolas" panose="020B0609020204030204" pitchFamily="49" charset="0"/>
              </a:rPr>
              <a:t>(</a:t>
            </a:r>
            <a:r>
              <a:rPr kumimoji="0" lang="en-US" altLang="en-US" sz="2000" b="0" i="0" u="none" strike="noStrike" cap="none" normalizeH="0" baseline="0" dirty="0" err="1">
                <a:ln>
                  <a:noFill/>
                </a:ln>
                <a:solidFill>
                  <a:schemeClr val="tx1"/>
                </a:solidFill>
                <a:effectLst/>
                <a:latin typeface="Consolas" panose="020B0609020204030204" pitchFamily="49" charset="0"/>
              </a:rPr>
              <a:t>getApplicationContext</a:t>
            </a:r>
            <a:r>
              <a:rPr kumimoji="0" lang="en-US" altLang="en-US" sz="2000" b="0" i="0" u="none" strike="noStrike" cap="none" normalizeH="0" baseline="0" dirty="0">
                <a:ln>
                  <a:noFill/>
                </a:ln>
                <a:solidFill>
                  <a:schemeClr val="tx1"/>
                </a:solidFill>
                <a:effectLst/>
                <a:latin typeface="Consolas" panose="020B0609020204030204" pitchFamily="49" charset="0"/>
              </a:rPr>
              <a:t>(), "This a toast message", </a:t>
            </a:r>
            <a:r>
              <a:rPr kumimoji="0" lang="en-US" altLang="en-US" sz="2000" b="0" i="0" u="none" strike="noStrike" cap="none" normalizeH="0" baseline="0" dirty="0" err="1">
                <a:ln>
                  <a:noFill/>
                </a:ln>
                <a:solidFill>
                  <a:schemeClr val="tx1"/>
                </a:solidFill>
                <a:effectLst/>
                <a:latin typeface="Consolas" panose="020B0609020204030204" pitchFamily="49" charset="0"/>
              </a:rPr>
              <a:t>Toast.LENGTH_</a:t>
            </a:r>
            <a:r>
              <a:rPr lang="en-US" altLang="en-US" sz="2000" dirty="0" err="1">
                <a:latin typeface="Consolas" panose="020B0609020204030204" pitchFamily="49" charset="0"/>
              </a:rPr>
              <a:t>SHORT</a:t>
            </a:r>
            <a:r>
              <a:rPr kumimoji="0" lang="en-US" altLang="en-US" sz="2000" b="0" i="0" u="none" strike="noStrike" cap="none" normalizeH="0" baseline="0" dirty="0">
                <a:ln>
                  <a:noFill/>
                </a:ln>
                <a:solidFill>
                  <a:schemeClr val="tx1"/>
                </a:solidFill>
                <a:effectLst/>
                <a:latin typeface="Consolas" panose="020B0609020204030204" pitchFamily="49" charset="0"/>
              </a:rPr>
              <a:t>);</a:t>
            </a:r>
          </a:p>
          <a:p>
            <a:pPr eaLnBrk="0" fontAlgn="base" hangingPunct="0">
              <a:spcBef>
                <a:spcPct val="0"/>
              </a:spcBef>
              <a:spcAft>
                <a:spcPct val="0"/>
              </a:spcAft>
            </a:pPr>
            <a:r>
              <a:rPr lang="en-US" altLang="en-US" sz="2000" dirty="0" err="1">
                <a:latin typeface="Consolas" panose="020B0609020204030204" pitchFamily="49" charset="0"/>
              </a:rPr>
              <a:t>Toast.setMargin</a:t>
            </a:r>
            <a:r>
              <a:rPr lang="en-US" altLang="en-US" sz="2000" dirty="0">
                <a:latin typeface="Consolas" panose="020B0609020204030204" pitchFamily="49" charset="0"/>
              </a:rPr>
              <a:t>(50,50);</a:t>
            </a:r>
          </a:p>
          <a:p>
            <a:pPr eaLnBrk="0" fontAlgn="base" hangingPunct="0">
              <a:spcBef>
                <a:spcPct val="0"/>
              </a:spcBef>
              <a:spcAft>
                <a:spcPct val="0"/>
              </a:spcAft>
            </a:pPr>
            <a:r>
              <a:rPr kumimoji="0" lang="en-US" altLang="en-US" sz="2000" b="0" i="0" u="none" strike="noStrike" cap="none" normalizeH="0" baseline="0" dirty="0" err="1">
                <a:ln>
                  <a:noFill/>
                </a:ln>
                <a:solidFill>
                  <a:schemeClr val="tx1"/>
                </a:solidFill>
                <a:effectLst/>
                <a:latin typeface="Consolas" panose="020B0609020204030204" pitchFamily="49" charset="0"/>
              </a:rPr>
              <a:t>Toast.show</a:t>
            </a:r>
            <a:r>
              <a:rPr kumimoji="0" lang="en-US" altLang="en-US" sz="2000" b="0" i="0" u="none" strike="noStrike" cap="none" normalizeH="0" baseline="0" dirty="0">
                <a:ln>
                  <a:noFill/>
                </a:ln>
                <a:solidFill>
                  <a:schemeClr val="tx1"/>
                </a:solidFill>
                <a:effectLst/>
                <a:latin typeface="Consolas" panose="020B0609020204030204" pitchFamily="49" charset="0"/>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23771311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2">
            <a:extLst>
              <a:ext uri="{FF2B5EF4-FFF2-40B4-BE49-F238E27FC236}">
                <a16:creationId xmlns="" xmlns:a16="http://schemas.microsoft.com/office/drawing/2014/main" id="{22852F23-FE5D-A591-7135-11B1015A642C}"/>
              </a:ext>
            </a:extLst>
          </p:cNvPr>
          <p:cNvSpPr>
            <a:spLocks noChangeArrowheads="1"/>
          </p:cNvSpPr>
          <p:nvPr/>
        </p:nvSpPr>
        <p:spPr bwMode="auto">
          <a:xfrm>
            <a:off x="1329004" y="412790"/>
            <a:ext cx="10634321" cy="603242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6699"/>
                </a:solidFill>
                <a:effectLst/>
                <a:latin typeface="Consolas" panose="020B0609020204030204" pitchFamily="49" charset="0"/>
              </a:rPr>
              <a:t>import</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android.support.v7.app.AppCompatActivity;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6699"/>
                </a:solidFill>
                <a:effectLst/>
                <a:latin typeface="Consolas" panose="020B0609020204030204" pitchFamily="49" charset="0"/>
              </a:rPr>
              <a:t>import</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android.os.Bundle</a:t>
            </a:r>
            <a:r>
              <a:rPr kumimoji="0" lang="en-US" altLang="en-US" sz="1400" b="0" i="0" u="none" strike="noStrike" cap="none" normalizeH="0" baseline="0" dirty="0">
                <a:ln>
                  <a:noFill/>
                </a:ln>
                <a:solidFill>
                  <a:srgbClr val="000000"/>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6699"/>
                </a:solidFill>
                <a:effectLst/>
                <a:latin typeface="Consolas" panose="020B0609020204030204" pitchFamily="49" charset="0"/>
              </a:rPr>
              <a:t>import</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android.view.View</a:t>
            </a:r>
            <a:r>
              <a:rPr kumimoji="0" lang="en-US" altLang="en-US" sz="1400" b="0" i="0" u="none" strike="noStrike" cap="none" normalizeH="0" baseline="0" dirty="0">
                <a:ln>
                  <a:noFill/>
                </a:ln>
                <a:solidFill>
                  <a:srgbClr val="000000"/>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6699"/>
                </a:solidFill>
                <a:effectLst/>
                <a:latin typeface="Consolas" panose="020B0609020204030204" pitchFamily="49" charset="0"/>
              </a:rPr>
              <a:t>import</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android.widget.Button</a:t>
            </a:r>
            <a:r>
              <a:rPr kumimoji="0" lang="en-US" altLang="en-US" sz="1400" b="0" i="0" u="none" strike="noStrike" cap="none" normalizeH="0" baseline="0" dirty="0">
                <a:ln>
                  <a:noFill/>
                </a:ln>
                <a:solidFill>
                  <a:srgbClr val="000000"/>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6699"/>
                </a:solidFill>
                <a:effectLst/>
                <a:latin typeface="Consolas" panose="020B0609020204030204" pitchFamily="49" charset="0"/>
              </a:rPr>
              <a:t>import</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android.widget.Toast</a:t>
            </a:r>
            <a:r>
              <a:rPr kumimoji="0" lang="en-US" altLang="en-US" sz="1400" b="0" i="0" u="none" strike="noStrike" cap="none" normalizeH="0" baseline="0" dirty="0">
                <a:ln>
                  <a:noFill/>
                </a:ln>
                <a:solidFill>
                  <a:srgbClr val="000000"/>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6699"/>
                </a:solidFill>
                <a:effectLst/>
                <a:latin typeface="Consolas" panose="020B0609020204030204" pitchFamily="49" charset="0"/>
              </a:rPr>
              <a:t>public</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rPr>
              <a:t>class</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MainActivity</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rPr>
              <a:t>extends</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AppCompatActivity</a:t>
            </a:r>
            <a:r>
              <a:rPr kumimoji="0" lang="en-US" altLang="en-US" sz="1400" b="0" i="0" u="none" strike="noStrike" cap="none" normalizeH="0" baseline="0" dirty="0">
                <a:ln>
                  <a:noFill/>
                </a:ln>
                <a:solidFill>
                  <a:srgbClr val="000000"/>
                </a:solidFill>
                <a:effectLst/>
                <a:latin typeface="Consolas" panose="020B0609020204030204" pitchFamily="49" charset="0"/>
              </a:rPr>
              <a:t> {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8200"/>
                </a:solidFill>
                <a:effectLst/>
                <a:latin typeface="Consolas" panose="020B0609020204030204" pitchFamily="49" charset="0"/>
              </a:rPr>
              <a:t>// Defining the object for button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Button </a:t>
            </a:r>
            <a:r>
              <a:rPr kumimoji="0" lang="en-US" altLang="en-US" sz="1400" b="0" i="0" u="none" strike="noStrike" cap="none" normalizeH="0" baseline="0" dirty="0" err="1">
                <a:ln>
                  <a:noFill/>
                </a:ln>
                <a:solidFill>
                  <a:srgbClr val="000000"/>
                </a:solidFill>
                <a:effectLst/>
                <a:latin typeface="Consolas" panose="020B0609020204030204" pitchFamily="49" charset="0"/>
              </a:rPr>
              <a:t>btn</a:t>
            </a:r>
            <a:r>
              <a:rPr kumimoji="0" lang="en-US" altLang="en-US" sz="1400" b="0" i="0" u="none" strike="noStrike" cap="none" normalizeH="0" baseline="0" dirty="0">
                <a:ln>
                  <a:noFill/>
                </a:ln>
                <a:solidFill>
                  <a:srgbClr val="000000"/>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808080"/>
                </a:solidFill>
                <a:effectLst/>
                <a:latin typeface="Consolas" panose="020B0609020204030204" pitchFamily="49" charset="0"/>
              </a:rPr>
              <a:t>@Override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rPr>
              <a:t>protected</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rPr>
              <a:t>void</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onCreate</a:t>
            </a:r>
            <a:r>
              <a:rPr kumimoji="0" lang="en-US" altLang="en-US" sz="1400" b="0" i="0" u="none" strike="noStrike" cap="none" normalizeH="0" baseline="0" dirty="0">
                <a:ln>
                  <a:noFill/>
                </a:ln>
                <a:solidFill>
                  <a:srgbClr val="000000"/>
                </a:solidFill>
                <a:effectLst/>
                <a:latin typeface="Consolas" panose="020B0609020204030204" pitchFamily="49" charset="0"/>
              </a:rPr>
              <a:t>(Bundle </a:t>
            </a:r>
            <a:r>
              <a:rPr kumimoji="0" lang="en-US" altLang="en-US" sz="1400" b="0" i="0" u="none" strike="noStrike" cap="none" normalizeH="0" baseline="0" dirty="0" err="1">
                <a:ln>
                  <a:noFill/>
                </a:ln>
                <a:solidFill>
                  <a:srgbClr val="000000"/>
                </a:solidFill>
                <a:effectLst/>
                <a:latin typeface="Consolas" panose="020B0609020204030204" pitchFamily="49" charset="0"/>
              </a:rPr>
              <a:t>savedInstanceState</a:t>
            </a:r>
            <a:r>
              <a:rPr kumimoji="0" lang="en-US" altLang="en-US" sz="1400" b="0" i="0" u="none" strike="noStrike" cap="none" normalizeH="0" baseline="0" dirty="0">
                <a:ln>
                  <a:noFill/>
                </a:ln>
                <a:solidFill>
                  <a:srgbClr val="000000"/>
                </a:solidFill>
                <a:effectLst/>
                <a:latin typeface="Consolas" panose="020B0609020204030204" pitchFamily="49" charset="0"/>
              </a:rPr>
              <a:t>) {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1" i="0" u="none" strike="noStrike" cap="none" normalizeH="0" baseline="0" dirty="0" err="1">
                <a:ln>
                  <a:noFill/>
                </a:ln>
                <a:solidFill>
                  <a:srgbClr val="006699"/>
                </a:solidFill>
                <a:effectLst/>
                <a:latin typeface="Consolas" panose="020B0609020204030204" pitchFamily="49" charset="0"/>
              </a:rPr>
              <a:t>super</a:t>
            </a:r>
            <a:r>
              <a:rPr kumimoji="0" lang="en-US" altLang="en-US" sz="1400" b="0" i="0" u="none" strike="noStrike" cap="none" normalizeH="0" baseline="0" dirty="0" err="1">
                <a:ln>
                  <a:noFill/>
                </a:ln>
                <a:solidFill>
                  <a:srgbClr val="000000"/>
                </a:solidFill>
                <a:effectLst/>
                <a:latin typeface="Consolas" panose="020B0609020204030204" pitchFamily="49" charset="0"/>
              </a:rPr>
              <a:t>.onCreate</a:t>
            </a:r>
            <a:r>
              <a:rPr kumimoji="0" lang="en-US" altLang="en-US" sz="1400" b="0" i="0" u="none" strike="noStrike" cap="none" normalizeH="0" baseline="0" dirty="0">
                <a:ln>
                  <a:noFill/>
                </a:ln>
                <a:solidFill>
                  <a:srgbClr val="000000"/>
                </a:solidFill>
                <a:effectLst/>
                <a:latin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rPr>
              <a:t>savedInstanceState</a:t>
            </a:r>
            <a:r>
              <a:rPr kumimoji="0" lang="en-US" altLang="en-US" sz="1400" b="0" i="0" u="none" strike="noStrike" cap="none" normalizeH="0" baseline="0" dirty="0">
                <a:ln>
                  <a:noFill/>
                </a:ln>
                <a:solidFill>
                  <a:srgbClr val="000000"/>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setContentView</a:t>
            </a:r>
            <a:r>
              <a:rPr kumimoji="0" lang="en-US" altLang="en-US" sz="1400" b="0" i="0" u="none" strike="noStrike" cap="none" normalizeH="0" baseline="0" dirty="0">
                <a:ln>
                  <a:noFill/>
                </a:ln>
                <a:solidFill>
                  <a:srgbClr val="000000"/>
                </a:solidFill>
                <a:effectLst/>
                <a:latin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rPr>
              <a:t>R.layout.activity_main</a:t>
            </a:r>
            <a:r>
              <a:rPr kumimoji="0" lang="en-US" altLang="en-US" sz="1400" b="0" i="0" u="none" strike="noStrike" cap="none" normalizeH="0" baseline="0" dirty="0">
                <a:ln>
                  <a:noFill/>
                </a:ln>
                <a:solidFill>
                  <a:srgbClr val="000000"/>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8200"/>
                </a:solidFill>
                <a:effectLst/>
                <a:latin typeface="Consolas" panose="020B0609020204030204" pitchFamily="49" charset="0"/>
              </a:rPr>
              <a:t>// Bind the components to their respective objects by assigning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8200"/>
                </a:solidFill>
                <a:effectLst/>
                <a:latin typeface="Consolas" panose="020B0609020204030204" pitchFamily="49" charset="0"/>
              </a:rPr>
              <a:t>// their IDs with the help of </a:t>
            </a:r>
            <a:r>
              <a:rPr kumimoji="0" lang="en-US" altLang="en-US" sz="1400" b="0" i="0" u="none" strike="noStrike" cap="none" normalizeH="0" baseline="0" dirty="0" err="1">
                <a:ln>
                  <a:noFill/>
                </a:ln>
                <a:solidFill>
                  <a:srgbClr val="008200"/>
                </a:solidFill>
                <a:effectLst/>
                <a:latin typeface="Consolas" panose="020B0609020204030204" pitchFamily="49" charset="0"/>
              </a:rPr>
              <a:t>findViewById</a:t>
            </a:r>
            <a:r>
              <a:rPr kumimoji="0" lang="en-US" altLang="en-US" sz="1400" b="0" i="0" u="none" strike="noStrike" cap="none" normalizeH="0" baseline="0" dirty="0">
                <a:ln>
                  <a:noFill/>
                </a:ln>
                <a:solidFill>
                  <a:srgbClr val="008200"/>
                </a:solidFill>
                <a:effectLst/>
                <a:latin typeface="Consolas" panose="020B0609020204030204" pitchFamily="49" charset="0"/>
              </a:rPr>
              <a:t>() method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Button </a:t>
            </a:r>
            <a:r>
              <a:rPr kumimoji="0" lang="en-US" altLang="en-US" sz="1400" b="0" i="0" u="none" strike="noStrike" cap="none" normalizeH="0" baseline="0" dirty="0" err="1">
                <a:ln>
                  <a:noFill/>
                </a:ln>
                <a:solidFill>
                  <a:srgbClr val="000000"/>
                </a:solidFill>
                <a:effectLst/>
                <a:latin typeface="Consolas" panose="020B0609020204030204" pitchFamily="49" charset="0"/>
              </a:rPr>
              <a:t>btn</a:t>
            </a:r>
            <a:r>
              <a:rPr kumimoji="0" lang="en-US" altLang="en-US" sz="1400" b="0" i="0" u="none" strike="noStrike" cap="none" normalizeH="0" baseline="0" dirty="0">
                <a:ln>
                  <a:noFill/>
                </a:ln>
                <a:solidFill>
                  <a:srgbClr val="000000"/>
                </a:solidFill>
                <a:effectLst/>
                <a:latin typeface="Consolas" panose="020B0609020204030204" pitchFamily="49" charset="0"/>
              </a:rPr>
              <a:t> = (Button)</a:t>
            </a:r>
            <a:r>
              <a:rPr kumimoji="0" lang="en-US" altLang="en-US" sz="1400" b="0" i="0" u="none" strike="noStrike" cap="none" normalizeH="0" baseline="0" dirty="0" err="1">
                <a:ln>
                  <a:noFill/>
                </a:ln>
                <a:solidFill>
                  <a:srgbClr val="000000"/>
                </a:solidFill>
                <a:effectLst/>
                <a:latin typeface="Consolas" panose="020B0609020204030204" pitchFamily="49" charset="0"/>
              </a:rPr>
              <a:t>findViewById</a:t>
            </a:r>
            <a:r>
              <a:rPr kumimoji="0" lang="en-US" altLang="en-US" sz="1400" b="0" i="0" u="none" strike="noStrike" cap="none" normalizeH="0" baseline="0" dirty="0">
                <a:ln>
                  <a:noFill/>
                </a:ln>
                <a:solidFill>
                  <a:srgbClr val="000000"/>
                </a:solidFill>
                <a:effectLst/>
                <a:latin typeface="Consolas" panose="020B0609020204030204" pitchFamily="49" charset="0"/>
              </a:rPr>
              <a:t>(R.id.Button01);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btn.setOnClickListener</a:t>
            </a:r>
            <a:r>
              <a:rPr kumimoji="0" lang="en-US" altLang="en-US" sz="1400" b="0" i="0" u="none" strike="noStrike" cap="none" normalizeH="0" baseline="0" dirty="0">
                <a:ln>
                  <a:noFill/>
                </a:ln>
                <a:solidFill>
                  <a:srgbClr val="000000"/>
                </a:solidFill>
                <a:effectLst/>
                <a:latin typeface="Consolas" panose="020B0609020204030204" pitchFamily="49" charset="0"/>
              </a:rPr>
              <a:t>(</a:t>
            </a:r>
            <a:r>
              <a:rPr kumimoji="0" lang="en-US" altLang="en-US" sz="1400" b="1" i="0" u="none" strike="noStrike" cap="none" normalizeH="0" baseline="0" dirty="0">
                <a:ln>
                  <a:noFill/>
                </a:ln>
                <a:solidFill>
                  <a:srgbClr val="006699"/>
                </a:solidFill>
                <a:effectLst/>
                <a:latin typeface="Consolas" panose="020B0609020204030204" pitchFamily="49" charset="0"/>
              </a:rPr>
              <a:t>new</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View.OnClickListener</a:t>
            </a:r>
            <a:r>
              <a:rPr kumimoji="0" lang="en-US" altLang="en-US" sz="1400" b="0" i="0" u="none" strike="noStrike" cap="none" normalizeH="0" baseline="0" dirty="0">
                <a:ln>
                  <a:noFill/>
                </a:ln>
                <a:solidFill>
                  <a:srgbClr val="000000"/>
                </a:solidFill>
                <a:effectLst/>
                <a:latin typeface="Consolas" panose="020B0609020204030204" pitchFamily="49" charset="0"/>
              </a:rPr>
              <a:t>() {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808080"/>
                </a:solidFill>
                <a:effectLst/>
                <a:latin typeface="Consolas" panose="020B0609020204030204" pitchFamily="49" charset="0"/>
              </a:rPr>
              <a:t>@Override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rPr>
              <a:t>public</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rPr>
              <a:t>void</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onClick</a:t>
            </a:r>
            <a:r>
              <a:rPr kumimoji="0" lang="en-US" altLang="en-US" sz="1400" b="0" i="0" u="none" strike="noStrike" cap="none" normalizeH="0" baseline="0" dirty="0">
                <a:ln>
                  <a:noFill/>
                </a:ln>
                <a:solidFill>
                  <a:srgbClr val="000000"/>
                </a:solidFill>
                <a:effectLst/>
                <a:latin typeface="Consolas" panose="020B0609020204030204" pitchFamily="49" charset="0"/>
              </a:rPr>
              <a:t>(View v) {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8200"/>
                </a:solidFill>
                <a:effectLst/>
                <a:latin typeface="Consolas" panose="020B0609020204030204" pitchFamily="49" charset="0"/>
              </a:rPr>
              <a:t>// Displaying simple Toast message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Toast.makeText</a:t>
            </a:r>
            <a:r>
              <a:rPr kumimoji="0" lang="en-US" altLang="en-US" sz="1400" b="0" i="0" u="none" strike="noStrike" cap="none" normalizeH="0" baseline="0" dirty="0">
                <a:ln>
                  <a:noFill/>
                </a:ln>
                <a:solidFill>
                  <a:srgbClr val="000000"/>
                </a:solidFill>
                <a:effectLst/>
                <a:latin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rPr>
              <a:t>getApplicationContext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0000FF"/>
                </a:solidFill>
                <a:effectLst/>
                <a:latin typeface="Consolas" panose="020B0609020204030204" pitchFamily="49" charset="0"/>
              </a:rPr>
              <a:t>"This a toast message"</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Toast.LENGTH_LONG</a:t>
            </a:r>
            <a:r>
              <a:rPr kumimoji="0" lang="en-US" altLang="en-US" sz="1400" b="0" i="0" u="none" strike="noStrike" cap="none" normalizeH="0" baseline="0" dirty="0">
                <a:ln>
                  <a:noFill/>
                </a:ln>
                <a:solidFill>
                  <a:srgbClr val="000000"/>
                </a:solidFill>
                <a:effectLst/>
                <a:latin typeface="Consolas" panose="020B0609020204030204" pitchFamily="49" charset="0"/>
              </a:rPr>
              <a:t>).show();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rPr>
              <a:t>}</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292695467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E8BFB2-9FC1-8284-83E8-EB7781219FEB}"/>
              </a:ext>
            </a:extLst>
          </p:cNvPr>
          <p:cNvSpPr txBox="1"/>
          <p:nvPr/>
        </p:nvSpPr>
        <p:spPr>
          <a:xfrm>
            <a:off x="1003852" y="1678211"/>
            <a:ext cx="11314990" cy="2585323"/>
          </a:xfrm>
          <a:prstGeom prst="rect">
            <a:avLst/>
          </a:prstGeom>
          <a:noFill/>
        </p:spPr>
        <p:txBody>
          <a:bodyPr wrap="square">
            <a:spAutoFit/>
          </a:bodyPr>
          <a:lstStyle/>
          <a:p>
            <a:pPr algn="l" fontAlgn="base"/>
            <a:r>
              <a:rPr lang="en-US" b="1" i="0" dirty="0">
                <a:solidFill>
                  <a:srgbClr val="273239"/>
                </a:solidFill>
                <a:effectLst/>
                <a:latin typeface="Nunito" pitchFamily="2" charset="0"/>
              </a:rPr>
              <a:t>Change the position of a Toast Message:</a:t>
            </a:r>
          </a:p>
          <a:p>
            <a:pPr algn="l" fontAlgn="base"/>
            <a:r>
              <a:rPr lang="en-US" b="0" i="0" dirty="0">
                <a:solidFill>
                  <a:srgbClr val="273239"/>
                </a:solidFill>
                <a:effectLst/>
                <a:latin typeface="Nunito" pitchFamily="2" charset="0"/>
              </a:rPr>
              <a:t>If there is a need to set the position of a Toast message, then </a:t>
            </a:r>
            <a:r>
              <a:rPr lang="en-US" b="1" i="0" dirty="0" err="1">
                <a:solidFill>
                  <a:srgbClr val="273239"/>
                </a:solidFill>
                <a:effectLst/>
                <a:latin typeface="Nunito" pitchFamily="2" charset="0"/>
              </a:rPr>
              <a:t>setGravity</a:t>
            </a:r>
            <a:r>
              <a:rPr lang="en-US" b="1" i="0" dirty="0">
                <a:solidFill>
                  <a:srgbClr val="273239"/>
                </a:solidFill>
                <a:effectLst/>
                <a:latin typeface="Nunito" pitchFamily="2" charset="0"/>
              </a:rPr>
              <a:t>()</a:t>
            </a:r>
            <a:r>
              <a:rPr lang="en-US" b="0" i="0" dirty="0">
                <a:solidFill>
                  <a:srgbClr val="273239"/>
                </a:solidFill>
                <a:effectLst/>
                <a:latin typeface="Nunito" pitchFamily="2" charset="0"/>
              </a:rPr>
              <a:t> method can be used</a:t>
            </a:r>
          </a:p>
          <a:p>
            <a:pPr algn="l" fontAlgn="base"/>
            <a:endParaRPr lang="en-US" dirty="0">
              <a:solidFill>
                <a:srgbClr val="273239"/>
              </a:solidFill>
              <a:latin typeface="Nunito" pitchFamily="2" charset="0"/>
            </a:endParaRPr>
          </a:p>
          <a:p>
            <a:pPr algn="l" fontAlgn="base"/>
            <a:r>
              <a:rPr lang="en-US" b="1" i="0" dirty="0">
                <a:solidFill>
                  <a:srgbClr val="273239"/>
                </a:solidFill>
                <a:effectLst/>
                <a:latin typeface="Nunito" pitchFamily="2" charset="0"/>
              </a:rPr>
              <a:t>Parameters:</a:t>
            </a:r>
            <a:r>
              <a:rPr lang="en-US" b="0" i="0" dirty="0">
                <a:solidFill>
                  <a:srgbClr val="273239"/>
                </a:solidFill>
                <a:effectLst/>
                <a:latin typeface="Nunito" pitchFamily="2" charset="0"/>
              </a:rPr>
              <a:t> This method accepts three parameters:</a:t>
            </a:r>
          </a:p>
          <a:p>
            <a:pPr algn="l" fontAlgn="base"/>
            <a:r>
              <a:rPr lang="en-US" b="1" i="0" dirty="0">
                <a:solidFill>
                  <a:srgbClr val="273239"/>
                </a:solidFill>
                <a:effectLst/>
                <a:latin typeface="Nunito" pitchFamily="2" charset="0"/>
              </a:rPr>
              <a:t>gravity:</a:t>
            </a:r>
            <a:r>
              <a:rPr lang="en-US" b="0" i="0" dirty="0">
                <a:solidFill>
                  <a:srgbClr val="273239"/>
                </a:solidFill>
                <a:effectLst/>
                <a:latin typeface="Nunito" pitchFamily="2" charset="0"/>
              </a:rPr>
              <a:t> This sets the position of the Toast message. The following constants can be used to specify the position of a Toast:</a:t>
            </a:r>
          </a:p>
          <a:p>
            <a:pPr algn="l" fontAlgn="base"/>
            <a:endParaRPr lang="en-US" dirty="0">
              <a:solidFill>
                <a:srgbClr val="273239"/>
              </a:solidFill>
              <a:latin typeface="Nunito" pitchFamily="2" charset="0"/>
            </a:endParaRPr>
          </a:p>
          <a:p>
            <a:pPr algn="l" fontAlgn="base"/>
            <a:endParaRPr lang="en-US" b="0" i="0" dirty="0">
              <a:solidFill>
                <a:srgbClr val="273239"/>
              </a:solidFill>
              <a:effectLst/>
              <a:latin typeface="Nunito" pitchFamily="2" charset="0"/>
            </a:endParaRPr>
          </a:p>
          <a:p>
            <a:pPr algn="l" fontAlgn="base"/>
            <a:endParaRPr lang="en-US" b="1" i="0" dirty="0">
              <a:solidFill>
                <a:srgbClr val="273239"/>
              </a:solidFill>
              <a:effectLst/>
              <a:latin typeface="Nunito" pitchFamily="2" charset="0"/>
            </a:endParaRPr>
          </a:p>
        </p:txBody>
      </p:sp>
      <p:sp>
        <p:nvSpPr>
          <p:cNvPr id="4" name="Rectangle 1">
            <a:extLst>
              <a:ext uri="{FF2B5EF4-FFF2-40B4-BE49-F238E27FC236}">
                <a16:creationId xmlns="" xmlns:a16="http://schemas.microsoft.com/office/drawing/2014/main" id="{0EE8D0DE-E9D3-A8BE-110C-EC23F21D88B8}"/>
              </a:ext>
            </a:extLst>
          </p:cNvPr>
          <p:cNvSpPr>
            <a:spLocks noChangeArrowheads="1"/>
          </p:cNvSpPr>
          <p:nvPr/>
        </p:nvSpPr>
        <p:spPr bwMode="auto">
          <a:xfrm>
            <a:off x="1186329" y="3639258"/>
            <a:ext cx="6769533" cy="1331122"/>
          </a:xfrm>
          <a:prstGeom prst="rect">
            <a:avLst/>
          </a:prstGeom>
          <a:solidFill>
            <a:srgbClr val="E0E0E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3808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nsolas" panose="020B0609020204030204" pitchFamily="49" charset="0"/>
              </a:rPr>
              <a:t>1.TOP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nsolas" panose="020B0609020204030204" pitchFamily="49" charset="0"/>
              </a:rPr>
              <a:t>2.BOTTOM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nsolas" panose="020B0609020204030204" pitchFamily="49" charset="0"/>
              </a:rPr>
              <a:t> 3.LEFT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nsolas" panose="020B0609020204030204" pitchFamily="49" charset="0"/>
              </a:rPr>
              <a:t>4.RIGHT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nsolas" panose="020B0609020204030204" pitchFamily="49" charset="0"/>
              </a:rPr>
              <a:t>5.CENTER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nsolas" panose="020B0609020204030204" pitchFamily="49" charset="0"/>
              </a:rPr>
              <a:t> 6.CENTER_HORIZONTAL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nsolas" panose="020B0609020204030204" pitchFamily="49" charset="0"/>
              </a:rPr>
              <a:t> 7.CENTER_VERTICAL</a:t>
            </a:r>
            <a:r>
              <a:rPr kumimoji="0" lang="en-US" altLang="en-US" sz="5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305451277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B1B1B2BE-FF5E-BC6E-ABEC-90A6B1E84734}"/>
              </a:ext>
            </a:extLst>
          </p:cNvPr>
          <p:cNvSpPr txBox="1"/>
          <p:nvPr/>
        </p:nvSpPr>
        <p:spPr>
          <a:xfrm>
            <a:off x="1152938" y="800810"/>
            <a:ext cx="10387811" cy="2862322"/>
          </a:xfrm>
          <a:prstGeom prst="rect">
            <a:avLst/>
          </a:prstGeom>
          <a:noFill/>
        </p:spPr>
        <p:txBody>
          <a:bodyPr wrap="square">
            <a:spAutoFit/>
          </a:bodyPr>
          <a:lstStyle/>
          <a:p>
            <a:pPr algn="l" fontAlgn="base">
              <a:buFont typeface="Arial" panose="020B0604020202020204" pitchFamily="34" charset="0"/>
              <a:buChar char="•"/>
            </a:pPr>
            <a:r>
              <a:rPr lang="en-US" b="0" i="0" dirty="0">
                <a:solidFill>
                  <a:srgbClr val="273239"/>
                </a:solidFill>
                <a:effectLst/>
                <a:latin typeface="Nunito" pitchFamily="2" charset="0"/>
              </a:rPr>
              <a:t>Every constant specifies the position in the X and Y axis, except the </a:t>
            </a:r>
            <a:r>
              <a:rPr lang="en-US" b="1" i="0" dirty="0">
                <a:solidFill>
                  <a:srgbClr val="273239"/>
                </a:solidFill>
                <a:effectLst/>
                <a:latin typeface="Nunito" pitchFamily="2" charset="0"/>
              </a:rPr>
              <a:t>CENTER</a:t>
            </a:r>
            <a:r>
              <a:rPr lang="en-US" b="0" i="0" dirty="0">
                <a:solidFill>
                  <a:srgbClr val="273239"/>
                </a:solidFill>
                <a:effectLst/>
                <a:latin typeface="Nunito" pitchFamily="2" charset="0"/>
              </a:rPr>
              <a:t> constant which sets the position centered for both horizontal and vertical directions.</a:t>
            </a:r>
          </a:p>
          <a:p>
            <a:pPr algn="l" fontAlgn="base">
              <a:buFont typeface="Arial" panose="020B0604020202020204" pitchFamily="34" charset="0"/>
              <a:buChar char="•"/>
            </a:pPr>
            <a:r>
              <a:rPr lang="en-US" b="1" i="0" dirty="0" err="1">
                <a:solidFill>
                  <a:srgbClr val="273239"/>
                </a:solidFill>
                <a:effectLst/>
                <a:latin typeface="Nunito" pitchFamily="2" charset="0"/>
              </a:rPr>
              <a:t>xOffset</a:t>
            </a:r>
            <a:r>
              <a:rPr lang="en-US" b="1" i="0" dirty="0">
                <a:solidFill>
                  <a:srgbClr val="273239"/>
                </a:solidFill>
                <a:effectLst/>
                <a:latin typeface="Nunito" pitchFamily="2" charset="0"/>
              </a:rPr>
              <a:t>:</a:t>
            </a:r>
            <a:r>
              <a:rPr lang="en-US" b="0" i="0" dirty="0">
                <a:solidFill>
                  <a:srgbClr val="273239"/>
                </a:solidFill>
                <a:effectLst/>
                <a:latin typeface="Nunito" pitchFamily="2" charset="0"/>
              </a:rPr>
              <a:t> This is the offset value that tells how much to shift the Toast message horizontally on the x-axis.</a:t>
            </a:r>
          </a:p>
          <a:p>
            <a:pPr algn="l" fontAlgn="base">
              <a:buFont typeface="Arial" panose="020B0604020202020204" pitchFamily="34" charset="0"/>
              <a:buChar char="•"/>
            </a:pPr>
            <a:r>
              <a:rPr lang="en-US" b="1" i="0" dirty="0" err="1">
                <a:solidFill>
                  <a:srgbClr val="273239"/>
                </a:solidFill>
                <a:effectLst/>
                <a:latin typeface="Nunito" pitchFamily="2" charset="0"/>
              </a:rPr>
              <a:t>yOffset</a:t>
            </a:r>
            <a:r>
              <a:rPr lang="en-US" b="1" i="0" dirty="0">
                <a:solidFill>
                  <a:srgbClr val="273239"/>
                </a:solidFill>
                <a:effectLst/>
                <a:latin typeface="Nunito" pitchFamily="2" charset="0"/>
              </a:rPr>
              <a:t>:</a:t>
            </a:r>
            <a:r>
              <a:rPr lang="en-US" b="0" i="0" dirty="0">
                <a:solidFill>
                  <a:srgbClr val="273239"/>
                </a:solidFill>
                <a:effectLst/>
                <a:latin typeface="Nunito" pitchFamily="2" charset="0"/>
              </a:rPr>
              <a:t> This is the offset value that tells how much to shift the Toast message vertically on the y-axis.</a:t>
            </a:r>
          </a:p>
          <a:p>
            <a:pPr algn="l" fontAlgn="base">
              <a:buFont typeface="Arial" panose="020B0604020202020204" pitchFamily="34" charset="0"/>
              <a:buChar char="•"/>
            </a:pPr>
            <a:endParaRPr lang="en-US" dirty="0">
              <a:solidFill>
                <a:srgbClr val="273239"/>
              </a:solidFill>
              <a:latin typeface="Nunito" pitchFamily="2" charset="0"/>
            </a:endParaRPr>
          </a:p>
          <a:p>
            <a:pPr algn="l" fontAlgn="base">
              <a:buFont typeface="Arial" panose="020B0604020202020204" pitchFamily="34" charset="0"/>
              <a:buChar char="•"/>
            </a:pPr>
            <a:endParaRPr lang="en-US" b="0" i="0" dirty="0">
              <a:solidFill>
                <a:srgbClr val="273239"/>
              </a:solidFill>
              <a:effectLst/>
              <a:latin typeface="Nunito" pitchFamily="2" charset="0"/>
            </a:endParaRPr>
          </a:p>
          <a:p>
            <a:pPr algn="l" fontAlgn="base">
              <a:buFont typeface="Arial" panose="020B0604020202020204" pitchFamily="34" charset="0"/>
              <a:buChar char="•"/>
            </a:pPr>
            <a:endParaRPr lang="en-US" dirty="0">
              <a:solidFill>
                <a:srgbClr val="273239"/>
              </a:solidFill>
              <a:latin typeface="Nunito" pitchFamily="2" charset="0"/>
            </a:endParaRPr>
          </a:p>
          <a:p>
            <a:pPr algn="l" fontAlgn="base">
              <a:buFont typeface="Arial" panose="020B0604020202020204" pitchFamily="34" charset="0"/>
              <a:buChar char="•"/>
            </a:pPr>
            <a:endParaRPr lang="en-US" b="0" i="0" dirty="0">
              <a:solidFill>
                <a:srgbClr val="273239"/>
              </a:solidFill>
              <a:effectLst/>
              <a:latin typeface="Nunito" pitchFamily="2" charset="0"/>
            </a:endParaRPr>
          </a:p>
        </p:txBody>
      </p:sp>
      <p:sp>
        <p:nvSpPr>
          <p:cNvPr id="4" name="Rectangle 1">
            <a:extLst>
              <a:ext uri="{FF2B5EF4-FFF2-40B4-BE49-F238E27FC236}">
                <a16:creationId xmlns="" xmlns:a16="http://schemas.microsoft.com/office/drawing/2014/main" id="{7318B58E-25E1-F8A4-37BE-D5788C30CDAA}"/>
              </a:ext>
            </a:extLst>
          </p:cNvPr>
          <p:cNvSpPr>
            <a:spLocks noChangeArrowheads="1"/>
          </p:cNvSpPr>
          <p:nvPr/>
        </p:nvSpPr>
        <p:spPr bwMode="auto">
          <a:xfrm>
            <a:off x="757146" y="3737351"/>
            <a:ext cx="10387811" cy="2192896"/>
          </a:xfrm>
          <a:prstGeom prst="rect">
            <a:avLst/>
          </a:prstGeom>
          <a:solidFill>
            <a:srgbClr val="E0E0E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3808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onsolas" panose="020B0609020204030204" pitchFamily="49" charset="0"/>
              </a:rPr>
              <a:t>Toast t = </a:t>
            </a:r>
            <a:r>
              <a:rPr kumimoji="0" lang="en-US" altLang="en-US" sz="2800" b="0" i="0" u="none" strike="noStrike" cap="none" normalizeH="0" baseline="0" dirty="0" err="1">
                <a:ln>
                  <a:noFill/>
                </a:ln>
                <a:solidFill>
                  <a:schemeClr val="tx1"/>
                </a:solidFill>
                <a:effectLst/>
                <a:latin typeface="Consolas" panose="020B0609020204030204" pitchFamily="49" charset="0"/>
              </a:rPr>
              <a:t>Toast.makeText</a:t>
            </a:r>
            <a:r>
              <a:rPr kumimoji="0" lang="en-US" altLang="en-US" sz="2800" b="0" i="0" u="none" strike="noStrike" cap="none" normalizeH="0" baseline="0" dirty="0">
                <a:ln>
                  <a:noFill/>
                </a:ln>
                <a:solidFill>
                  <a:schemeClr val="tx1"/>
                </a:solidFill>
                <a:effectLst/>
                <a:latin typeface="Consolas" panose="020B0609020204030204" pitchFamily="49" charset="0"/>
              </a:rPr>
              <a:t>(</a:t>
            </a:r>
            <a:r>
              <a:rPr kumimoji="0" lang="en-US" altLang="en-US" sz="2800" b="0" i="0" u="none" strike="noStrike" cap="none" normalizeH="0" baseline="0" dirty="0" err="1">
                <a:ln>
                  <a:noFill/>
                </a:ln>
                <a:solidFill>
                  <a:schemeClr val="tx1"/>
                </a:solidFill>
                <a:effectLst/>
                <a:latin typeface="Consolas" panose="020B0609020204030204" pitchFamily="49" charset="0"/>
              </a:rPr>
              <a:t>getApplicationContext</a:t>
            </a:r>
            <a:r>
              <a:rPr kumimoji="0" lang="en-US" altLang="en-US" sz="2800" b="0" i="0" u="none" strike="noStrike" cap="none" normalizeH="0" baseline="0" dirty="0">
                <a:ln>
                  <a:noFill/>
                </a:ln>
                <a:solidFill>
                  <a:schemeClr val="tx1"/>
                </a:solidFill>
                <a:effectLst/>
                <a:latin typeface="Consolas" panose="020B0609020204030204" pitchFamily="49" charset="0"/>
              </a:rPr>
              <a:t>(), "This a positioned toast message", </a:t>
            </a:r>
            <a:r>
              <a:rPr kumimoji="0" lang="en-US" altLang="en-US" sz="2800" b="0" i="0" u="none" strike="noStrike" cap="none" normalizeH="0" baseline="0" dirty="0" err="1">
                <a:ln>
                  <a:noFill/>
                </a:ln>
                <a:solidFill>
                  <a:schemeClr val="tx1"/>
                </a:solidFill>
                <a:effectLst/>
                <a:latin typeface="Consolas" panose="020B0609020204030204" pitchFamily="49" charset="0"/>
              </a:rPr>
              <a:t>Toast.LENGTH_LONG</a:t>
            </a:r>
            <a:r>
              <a:rPr kumimoji="0" lang="en-US" altLang="en-US" sz="2800" b="0" i="0" u="none" strike="noStrike" cap="none" normalizeH="0" baseline="0" dirty="0">
                <a:ln>
                  <a:noFill/>
                </a:ln>
                <a:solidFill>
                  <a:schemeClr val="tx1"/>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err="1">
                <a:ln>
                  <a:noFill/>
                </a:ln>
                <a:solidFill>
                  <a:schemeClr val="tx1"/>
                </a:solidFill>
                <a:effectLst/>
                <a:latin typeface="Consolas" panose="020B0609020204030204" pitchFamily="49" charset="0"/>
              </a:rPr>
              <a:t>t.setGravity</a:t>
            </a:r>
            <a:r>
              <a:rPr kumimoji="0" lang="en-US" altLang="en-US" sz="2800" b="0" i="0" u="none" strike="noStrike" cap="none" normalizeH="0" baseline="0" dirty="0">
                <a:ln>
                  <a:noFill/>
                </a:ln>
                <a:solidFill>
                  <a:schemeClr val="tx1"/>
                </a:solidFill>
                <a:effectLst/>
                <a:latin typeface="Consolas" panose="020B0609020204030204" pitchFamily="49" charset="0"/>
              </a:rPr>
              <a:t>(</a:t>
            </a:r>
            <a:r>
              <a:rPr kumimoji="0" lang="en-US" altLang="en-US" sz="2800" b="0" i="0" u="none" strike="noStrike" cap="none" normalizeH="0" baseline="0" dirty="0" err="1">
                <a:ln>
                  <a:noFill/>
                </a:ln>
                <a:solidFill>
                  <a:schemeClr val="tx1"/>
                </a:solidFill>
                <a:effectLst/>
                <a:latin typeface="Consolas" panose="020B0609020204030204" pitchFamily="49" charset="0"/>
              </a:rPr>
              <a:t>Gravity.BOTTOM</a:t>
            </a:r>
            <a:r>
              <a:rPr kumimoji="0" lang="en-US" altLang="en-US" sz="2800" b="0" i="0" u="none" strike="noStrike" cap="none" normalizeH="0" baseline="0" dirty="0">
                <a:ln>
                  <a:noFill/>
                </a:ln>
                <a:solidFill>
                  <a:schemeClr val="tx1"/>
                </a:solidFill>
                <a:effectLst/>
                <a:latin typeface="Consolas" panose="020B0609020204030204" pitchFamily="49" charset="0"/>
              </a:rPr>
              <a:t> | </a:t>
            </a:r>
            <a:r>
              <a:rPr kumimoji="0" lang="en-US" altLang="en-US" sz="2800" b="0" i="0" u="none" strike="noStrike" cap="none" normalizeH="0" baseline="0" dirty="0" err="1">
                <a:ln>
                  <a:noFill/>
                </a:ln>
                <a:solidFill>
                  <a:schemeClr val="tx1"/>
                </a:solidFill>
                <a:effectLst/>
                <a:latin typeface="Consolas" panose="020B0609020204030204" pitchFamily="49" charset="0"/>
              </a:rPr>
              <a:t>Gravity.RIGHT</a:t>
            </a:r>
            <a:r>
              <a:rPr kumimoji="0" lang="en-US" altLang="en-US" sz="2800" b="0" i="0" u="none" strike="noStrike" cap="none" normalizeH="0" baseline="0" dirty="0">
                <a:ln>
                  <a:noFill/>
                </a:ln>
                <a:solidFill>
                  <a:schemeClr val="tx1"/>
                </a:solidFill>
                <a:effectLst/>
                <a:latin typeface="Consolas" panose="020B0609020204030204" pitchFamily="49" charset="0"/>
              </a:rPr>
              <a:t>, 0, 0); </a:t>
            </a:r>
            <a:r>
              <a:rPr kumimoji="0" lang="en-US" altLang="en-US" sz="2800" b="0" i="0" u="none" strike="noStrike" cap="none" normalizeH="0" baseline="0" dirty="0" err="1">
                <a:ln>
                  <a:noFill/>
                </a:ln>
                <a:solidFill>
                  <a:schemeClr val="tx1"/>
                </a:solidFill>
                <a:effectLst/>
                <a:latin typeface="Consolas" panose="020B0609020204030204" pitchFamily="49" charset="0"/>
              </a:rPr>
              <a:t>t.show</a:t>
            </a:r>
            <a:r>
              <a:rPr kumimoji="0" lang="en-US" altLang="en-US" sz="2800" b="0" i="0" u="none" strike="noStrike" cap="none" normalizeH="0" baseline="0" dirty="0">
                <a:ln>
                  <a:noFill/>
                </a:ln>
                <a:solidFill>
                  <a:schemeClr val="tx1"/>
                </a:solidFill>
                <a:effectLst/>
                <a:latin typeface="Consolas" panose="020B0609020204030204" pitchFamily="49" charset="0"/>
              </a:rPr>
              <a:t>();</a:t>
            </a:r>
            <a:r>
              <a:rPr kumimoji="0" lang="en-US" altLang="en-US" sz="280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334154369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7328" y="365126"/>
            <a:ext cx="10366472" cy="812936"/>
          </a:xfrm>
        </p:spPr>
        <p:txBody>
          <a:bodyPr/>
          <a:lstStyle/>
          <a:p>
            <a:r>
              <a:rPr lang="en-US" dirty="0" smtClean="0"/>
              <a:t>Intent in Android</a:t>
            </a:r>
            <a:endParaRPr lang="en-US" dirty="0"/>
          </a:p>
        </p:txBody>
      </p:sp>
      <p:sp>
        <p:nvSpPr>
          <p:cNvPr id="3" name="Content Placeholder 2"/>
          <p:cNvSpPr>
            <a:spLocks noGrp="1"/>
          </p:cNvSpPr>
          <p:nvPr>
            <p:ph idx="1"/>
          </p:nvPr>
        </p:nvSpPr>
        <p:spPr/>
        <p:txBody>
          <a:bodyPr>
            <a:normAutofit/>
          </a:bodyPr>
          <a:lstStyle/>
          <a:p>
            <a:pPr algn="just">
              <a:buNone/>
            </a:pPr>
            <a:r>
              <a:rPr lang="en-US" sz="1600" b="1" dirty="0" smtClean="0">
                <a:latin typeface="Times New Roman" pitchFamily="18" charset="0"/>
                <a:cs typeface="Times New Roman" pitchFamily="18" charset="0"/>
              </a:rPr>
              <a:t>The intent </a:t>
            </a:r>
            <a:r>
              <a:rPr lang="en-US" sz="1600" dirty="0" smtClean="0">
                <a:latin typeface="Times New Roman" pitchFamily="18" charset="0"/>
                <a:cs typeface="Times New Roman" pitchFamily="18" charset="0"/>
              </a:rPr>
              <a:t>is a messaging object which passes between components like services, content providers, activities, etc.</a:t>
            </a:r>
          </a:p>
          <a:p>
            <a:pPr algn="just">
              <a:buNone/>
            </a:pPr>
            <a:r>
              <a:rPr lang="en-US" sz="1600" dirty="0" smtClean="0">
                <a:latin typeface="Times New Roman" pitchFamily="18" charset="0"/>
                <a:cs typeface="Times New Roman" pitchFamily="18" charset="0"/>
              </a:rPr>
              <a:t>Normally </a:t>
            </a:r>
            <a:r>
              <a:rPr lang="en-US" sz="1600" b="1" dirty="0" err="1" smtClean="0">
                <a:latin typeface="Times New Roman" pitchFamily="18" charset="0"/>
                <a:cs typeface="Times New Roman" pitchFamily="18" charset="0"/>
              </a:rPr>
              <a:t>startActivity</a:t>
            </a:r>
            <a:r>
              <a:rPr lang="en-US" sz="1600" b="1"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method is used for invoking any activity</a:t>
            </a:r>
            <a:endParaRPr lang="en-US" sz="1600" b="1" dirty="0" smtClean="0">
              <a:latin typeface="Times New Roman" pitchFamily="18" charset="0"/>
              <a:cs typeface="Times New Roman" pitchFamily="18" charset="0"/>
            </a:endParaRPr>
          </a:p>
          <a:p>
            <a:pPr algn="just">
              <a:buNone/>
            </a:pPr>
            <a:r>
              <a:rPr lang="en-US" sz="1600" b="1" dirty="0" smtClean="0">
                <a:latin typeface="Times New Roman" pitchFamily="18" charset="0"/>
                <a:cs typeface="Times New Roman" pitchFamily="18" charset="0"/>
              </a:rPr>
              <a:t>Intents </a:t>
            </a:r>
            <a:r>
              <a:rPr lang="en-US" sz="1600" dirty="0" smtClean="0">
                <a:latin typeface="Times New Roman" pitchFamily="18" charset="0"/>
                <a:cs typeface="Times New Roman" pitchFamily="18" charset="0"/>
              </a:rPr>
              <a:t>are used for navigating among various activities within the same application, but note, is not limited to one single application, i.e., they can be utilized from moving from one application to another as well.</a:t>
            </a:r>
          </a:p>
          <a:p>
            <a:pPr algn="just">
              <a:buNone/>
            </a:pPr>
            <a:r>
              <a:rPr lang="en-US" sz="1600" b="1" dirty="0" smtClean="0">
                <a:latin typeface="Times New Roman" pitchFamily="18" charset="0"/>
                <a:cs typeface="Times New Roman" pitchFamily="18" charset="0"/>
              </a:rPr>
              <a:t>Function of Intent:</a:t>
            </a:r>
          </a:p>
          <a:p>
            <a:pPr fontAlgn="base"/>
            <a:r>
              <a:rPr lang="en-US" sz="1600" dirty="0" smtClean="0"/>
              <a:t>Start service</a:t>
            </a:r>
          </a:p>
          <a:p>
            <a:pPr fontAlgn="base"/>
            <a:r>
              <a:rPr lang="en-US" sz="1600" dirty="0" smtClean="0"/>
              <a:t>Launch Activity</a:t>
            </a:r>
          </a:p>
          <a:p>
            <a:pPr fontAlgn="base"/>
            <a:r>
              <a:rPr lang="en-US" sz="1600" dirty="0" smtClean="0"/>
              <a:t>Display web page</a:t>
            </a:r>
          </a:p>
          <a:p>
            <a:pPr fontAlgn="base"/>
            <a:r>
              <a:rPr lang="en-US" sz="1600" dirty="0" smtClean="0"/>
              <a:t>Display contact list</a:t>
            </a:r>
          </a:p>
          <a:p>
            <a:pPr fontAlgn="base"/>
            <a:r>
              <a:rPr lang="en-US" sz="1600" dirty="0" smtClean="0"/>
              <a:t>Message broadcasting</a:t>
            </a:r>
          </a:p>
          <a:p>
            <a:pPr algn="just">
              <a:buNone/>
            </a:pPr>
            <a:endParaRPr lang="en-US" sz="1600" dirty="0" smtClean="0">
              <a:latin typeface="Times New Roman" pitchFamily="18" charset="0"/>
              <a:cs typeface="Times New Roman" pitchFamily="18" charset="0"/>
            </a:endParaRPr>
          </a:p>
          <a:p>
            <a:pPr algn="just">
              <a:buNone/>
            </a:pPr>
            <a:endParaRPr lang="en-US" sz="1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Some Important Method </a:t>
            </a:r>
            <a:br>
              <a:rPr lang="en-US" b="1" dirty="0" smtClean="0">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normAutofit/>
          </a:bodyPr>
          <a:lstStyle/>
          <a:p>
            <a:pPr algn="just" fontAlgn="base">
              <a:buNone/>
            </a:pPr>
            <a:r>
              <a:rPr lang="en-US" sz="2200" b="1" dirty="0" smtClean="0">
                <a:latin typeface="Times New Roman" pitchFamily="18" charset="0"/>
                <a:cs typeface="Times New Roman" pitchFamily="18" charset="0"/>
              </a:rPr>
              <a:t>Applications of Intents:</a:t>
            </a:r>
          </a:p>
          <a:p>
            <a:pPr algn="just" fontAlgn="base"/>
            <a:r>
              <a:rPr lang="en-US" sz="2200" dirty="0" smtClean="0">
                <a:latin typeface="Times New Roman" pitchFamily="18" charset="0"/>
                <a:cs typeface="Times New Roman" pitchFamily="18" charset="0"/>
              </a:rPr>
              <a:t>Sending the User to Another App</a:t>
            </a:r>
          </a:p>
          <a:p>
            <a:pPr algn="just" fontAlgn="base"/>
            <a:r>
              <a:rPr lang="en-US" sz="2200" dirty="0" smtClean="0">
                <a:latin typeface="Times New Roman" pitchFamily="18" charset="0"/>
                <a:cs typeface="Times New Roman" pitchFamily="18" charset="0"/>
              </a:rPr>
              <a:t>Getting a Result from an Activity</a:t>
            </a:r>
          </a:p>
          <a:p>
            <a:pPr algn="just" fontAlgn="base"/>
            <a:r>
              <a:rPr lang="en-US" sz="2200" dirty="0" smtClean="0">
                <a:latin typeface="Times New Roman" pitchFamily="18" charset="0"/>
                <a:cs typeface="Times New Roman" pitchFamily="18" charset="0"/>
              </a:rPr>
              <a:t>Allowing Other Apps to Start Your Activity</a:t>
            </a:r>
          </a:p>
          <a:p>
            <a:pPr algn="just" fontAlgn="base">
              <a:buNone/>
            </a:pPr>
            <a:r>
              <a:rPr lang="en-US" sz="2200" b="1" dirty="0" smtClean="0">
                <a:latin typeface="Times New Roman" pitchFamily="18" charset="0"/>
                <a:cs typeface="Times New Roman" pitchFamily="18" charset="0"/>
              </a:rPr>
              <a:t>Some Important Method of Intent and their Description</a:t>
            </a:r>
          </a:p>
          <a:p>
            <a:pPr algn="just" fontAlgn="base">
              <a:buNone/>
            </a:pPr>
            <a:r>
              <a:rPr lang="en-US" sz="2200" b="1" dirty="0" err="1" smtClean="0">
                <a:latin typeface="Times New Roman" pitchFamily="18" charset="0"/>
                <a:cs typeface="Times New Roman" pitchFamily="18" charset="0"/>
              </a:rPr>
              <a:t>Context.startActivity</a:t>
            </a:r>
            <a:r>
              <a:rPr lang="en-US" sz="2200" b="1" dirty="0" smtClean="0">
                <a:latin typeface="Times New Roman" pitchFamily="18" charset="0"/>
                <a:cs typeface="Times New Roman" pitchFamily="18" charset="0"/>
              </a:rPr>
              <a:t>()-</a:t>
            </a:r>
            <a:r>
              <a:rPr lang="en-US" sz="2200" dirty="0" smtClean="0">
                <a:latin typeface="Times New Roman" pitchFamily="18" charset="0"/>
                <a:cs typeface="Times New Roman" pitchFamily="18" charset="0"/>
              </a:rPr>
              <a:t>This is to launch a new activity or get an existing activity to be action.</a:t>
            </a:r>
          </a:p>
          <a:p>
            <a:pPr algn="just" fontAlgn="base">
              <a:buNone/>
            </a:pPr>
            <a:r>
              <a:rPr lang="en-US" sz="2200" b="1" dirty="0" err="1" smtClean="0">
                <a:latin typeface="Times New Roman" pitchFamily="18" charset="0"/>
                <a:cs typeface="Times New Roman" pitchFamily="18" charset="0"/>
              </a:rPr>
              <a:t>Context.startService</a:t>
            </a:r>
            <a:r>
              <a:rPr lang="en-US" sz="2200" b="1" dirty="0" smtClean="0">
                <a:latin typeface="Times New Roman" pitchFamily="18" charset="0"/>
                <a:cs typeface="Times New Roman" pitchFamily="18" charset="0"/>
              </a:rPr>
              <a:t>():-</a:t>
            </a:r>
            <a:r>
              <a:rPr lang="en-US" sz="2200" dirty="0" smtClean="0">
                <a:latin typeface="Times New Roman" pitchFamily="18" charset="0"/>
                <a:cs typeface="Times New Roman" pitchFamily="18" charset="0"/>
              </a:rPr>
              <a:t>This is to start a new service or deliver instructions for an existing service.</a:t>
            </a:r>
          </a:p>
          <a:p>
            <a:pPr algn="just" fontAlgn="base">
              <a:buNone/>
            </a:pPr>
            <a:r>
              <a:rPr lang="en-US" sz="2200" b="1" dirty="0" err="1" smtClean="0">
                <a:latin typeface="Times New Roman" pitchFamily="18" charset="0"/>
                <a:cs typeface="Times New Roman" pitchFamily="18" charset="0"/>
              </a:rPr>
              <a:t>Context.sendBroadcast</a:t>
            </a:r>
            <a:r>
              <a:rPr lang="en-US" sz="2200" b="1" dirty="0" smtClean="0">
                <a:latin typeface="Times New Roman" pitchFamily="18" charset="0"/>
                <a:cs typeface="Times New Roman" pitchFamily="18" charset="0"/>
              </a:rPr>
              <a:t>():</a:t>
            </a:r>
            <a:r>
              <a:rPr lang="en-US" sz="2200" dirty="0" smtClean="0">
                <a:latin typeface="Times New Roman" pitchFamily="18" charset="0"/>
                <a:cs typeface="Times New Roman" pitchFamily="18" charset="0"/>
              </a:rPr>
              <a:t>This is to deliver the message to broadcast receivers.</a:t>
            </a:r>
            <a:br>
              <a:rPr lang="en-US" sz="2200" dirty="0" smtClean="0">
                <a:latin typeface="Times New Roman" pitchFamily="18" charset="0"/>
                <a:cs typeface="Times New Roman" pitchFamily="18" charset="0"/>
              </a:rPr>
            </a:br>
            <a:endParaRPr lang="en-US" sz="2200" dirty="0" smtClean="0">
              <a:latin typeface="Times New Roman" pitchFamily="18" charset="0"/>
              <a:cs typeface="Times New Roman" pitchFamily="18" charset="0"/>
            </a:endParaRPr>
          </a:p>
          <a:p>
            <a:pPr>
              <a:buNone/>
            </a:pPr>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 of </a:t>
            </a:r>
            <a:r>
              <a:rPr lang="en-US" b="1" dirty="0" smtClean="0"/>
              <a:t>I</a:t>
            </a:r>
            <a:r>
              <a:rPr lang="en-US" dirty="0" smtClean="0"/>
              <a:t>ntent</a:t>
            </a:r>
            <a:endParaRPr lang="en-US" dirty="0"/>
          </a:p>
        </p:txBody>
      </p:sp>
      <p:sp>
        <p:nvSpPr>
          <p:cNvPr id="3" name="Content Placeholder 2"/>
          <p:cNvSpPr>
            <a:spLocks noGrp="1"/>
          </p:cNvSpPr>
          <p:nvPr>
            <p:ph idx="1"/>
          </p:nvPr>
        </p:nvSpPr>
        <p:spPr/>
        <p:txBody>
          <a:bodyPr/>
          <a:lstStyle/>
          <a:p>
            <a:pPr fontAlgn="base">
              <a:buNone/>
            </a:pPr>
            <a:endParaRPr lang="en-US" b="1" dirty="0" smtClean="0"/>
          </a:p>
          <a:p>
            <a:pPr fontAlgn="base">
              <a:lnSpc>
                <a:spcPct val="150000"/>
              </a:lnSpc>
              <a:buNone/>
            </a:pPr>
            <a:r>
              <a:rPr lang="en-US" sz="2000" b="1" dirty="0" smtClean="0">
                <a:latin typeface="Times New Roman" pitchFamily="18" charset="0"/>
                <a:cs typeface="Times New Roman" pitchFamily="18" charset="0"/>
              </a:rPr>
              <a:t>There are two types of intents in android</a:t>
            </a:r>
          </a:p>
          <a:p>
            <a:pPr fontAlgn="base">
              <a:lnSpc>
                <a:spcPct val="150000"/>
              </a:lnSpc>
            </a:pPr>
            <a:r>
              <a:rPr lang="en-US" sz="2000" dirty="0" smtClean="0">
                <a:latin typeface="Times New Roman" pitchFamily="18" charset="0"/>
                <a:cs typeface="Times New Roman" pitchFamily="18" charset="0"/>
              </a:rPr>
              <a:t>Implicit</a:t>
            </a:r>
          </a:p>
          <a:p>
            <a:pPr fontAlgn="base">
              <a:lnSpc>
                <a:spcPct val="150000"/>
              </a:lnSpc>
            </a:pPr>
            <a:r>
              <a:rPr lang="en-US" sz="2000" dirty="0" smtClean="0">
                <a:latin typeface="Times New Roman" pitchFamily="18" charset="0"/>
                <a:cs typeface="Times New Roman" pitchFamily="18" charset="0"/>
              </a:rPr>
              <a:t>Explicit</a:t>
            </a:r>
          </a:p>
          <a:p>
            <a:pPr fontAlgn="base">
              <a:lnSpc>
                <a:spcPct val="150000"/>
              </a:lnSpc>
              <a:buNone/>
            </a:pPr>
            <a:r>
              <a:rPr lang="en-US" sz="2000" b="1" dirty="0" smtClean="0">
                <a:latin typeface="Times New Roman" pitchFamily="18" charset="0"/>
                <a:cs typeface="Times New Roman" pitchFamily="18" charset="0"/>
              </a:rPr>
              <a:t>Implicit Intent: </a:t>
            </a:r>
            <a:r>
              <a:rPr lang="en-US" sz="2000" dirty="0" smtClean="0">
                <a:latin typeface="Times New Roman" pitchFamily="18" charset="0"/>
                <a:cs typeface="Times New Roman" pitchFamily="18" charset="0"/>
              </a:rPr>
              <a:t>Implicit Intent</a:t>
            </a:r>
            <a:r>
              <a:rPr lang="en-US" sz="2000" u="sng"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doesn't specify the component. In such a case, intent provides information on available components provided by the system that is to be invoked.</a:t>
            </a:r>
          </a:p>
          <a:p>
            <a:pPr fontAlgn="base">
              <a:lnSpc>
                <a:spcPct val="150000"/>
              </a:lnSpc>
              <a:buNone/>
            </a:pPr>
            <a:r>
              <a:rPr lang="en-US" sz="2000" dirty="0" smtClean="0"/>
              <a:t>For example, you may write the following code to view the webpage.</a:t>
            </a:r>
            <a:r>
              <a:rPr lang="en-US" sz="2000" dirty="0" smtClean="0">
                <a:latin typeface="Times New Roman" pitchFamily="18" charset="0"/>
                <a:cs typeface="Times New Roman" pitchFamily="18" charset="0"/>
              </a:rPr>
              <a:t> </a:t>
            </a:r>
          </a:p>
          <a:p>
            <a:pPr fontAlgn="base">
              <a:lnSpc>
                <a:spcPct val="150000"/>
              </a:lnSpc>
              <a:buNone/>
            </a:pPr>
            <a:endParaRPr lang="en-US" sz="2000" dirty="0" smtClean="0">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Example: </a:t>
            </a:r>
            <a:r>
              <a:rPr lang="en-US" sz="2400" dirty="0" smtClean="0">
                <a:latin typeface="Times New Roman" pitchFamily="18" charset="0"/>
                <a:cs typeface="Times New Roman" pitchFamily="18" charset="0"/>
              </a:rPr>
              <a:t>you may write the following code to view the webpage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825625"/>
            <a:ext cx="6235778" cy="4351338"/>
          </a:xfrm>
        </p:spPr>
        <p:txBody>
          <a:bodyPr>
            <a:normAutofit/>
          </a:bodyPr>
          <a:lstStyle/>
          <a:p>
            <a:pPr>
              <a:lnSpc>
                <a:spcPct val="150000"/>
              </a:lnSpc>
              <a:buNone/>
            </a:pPr>
            <a:r>
              <a:rPr lang="fr-FR" dirty="0" smtClean="0">
                <a:latin typeface="Times New Roman" pitchFamily="18" charset="0"/>
                <a:cs typeface="Times New Roman" pitchFamily="18" charset="0"/>
              </a:rPr>
              <a:t>	</a:t>
            </a:r>
            <a:r>
              <a:rPr lang="fr-FR" sz="2000" dirty="0" err="1" smtClean="0">
                <a:latin typeface="Times New Roman" pitchFamily="18" charset="0"/>
                <a:cs typeface="Times New Roman" pitchFamily="18" charset="0"/>
              </a:rPr>
              <a:t>Intent</a:t>
            </a:r>
            <a:r>
              <a:rPr lang="fr-FR" sz="2000" dirty="0" smtClean="0">
                <a:latin typeface="Times New Roman" pitchFamily="18" charset="0"/>
                <a:cs typeface="Times New Roman" pitchFamily="18" charset="0"/>
              </a:rPr>
              <a:t> </a:t>
            </a:r>
            <a:r>
              <a:rPr lang="fr-FR" sz="2000" dirty="0" err="1" smtClean="0">
                <a:latin typeface="Times New Roman" pitchFamily="18" charset="0"/>
                <a:cs typeface="Times New Roman" pitchFamily="18" charset="0"/>
              </a:rPr>
              <a:t>intent</a:t>
            </a:r>
            <a:r>
              <a:rPr lang="fr-FR" sz="2000" dirty="0" smtClean="0">
                <a:latin typeface="Times New Roman" pitchFamily="18" charset="0"/>
                <a:cs typeface="Times New Roman" pitchFamily="18" charset="0"/>
              </a:rPr>
              <a:t>=new </a:t>
            </a:r>
            <a:r>
              <a:rPr lang="fr-FR" sz="2000" dirty="0" err="1" smtClean="0">
                <a:latin typeface="Times New Roman" pitchFamily="18" charset="0"/>
                <a:cs typeface="Times New Roman" pitchFamily="18" charset="0"/>
              </a:rPr>
              <a:t>Intent</a:t>
            </a:r>
            <a:r>
              <a:rPr lang="fr-FR" sz="2000" dirty="0" smtClean="0">
                <a:latin typeface="Times New Roman" pitchFamily="18" charset="0"/>
                <a:cs typeface="Times New Roman" pitchFamily="18" charset="0"/>
              </a:rPr>
              <a:t>(</a:t>
            </a:r>
            <a:r>
              <a:rPr lang="fr-FR" sz="2000" dirty="0" err="1" smtClean="0">
                <a:latin typeface="Times New Roman" pitchFamily="18" charset="0"/>
                <a:cs typeface="Times New Roman" pitchFamily="18" charset="0"/>
              </a:rPr>
              <a:t>Intent.ACTION_VIEW</a:t>
            </a:r>
            <a:r>
              <a:rPr lang="fr-FR" sz="2000" dirty="0" smtClean="0">
                <a:latin typeface="Times New Roman" pitchFamily="18" charset="0"/>
                <a:cs typeface="Times New Roman" pitchFamily="18" charset="0"/>
              </a:rPr>
              <a:t>);</a:t>
            </a:r>
            <a:br>
              <a:rPr lang="fr-FR" sz="2000" dirty="0" smtClean="0">
                <a:latin typeface="Times New Roman" pitchFamily="18" charset="0"/>
                <a:cs typeface="Times New Roman" pitchFamily="18" charset="0"/>
              </a:rPr>
            </a:br>
            <a:r>
              <a:rPr lang="fr-FR" sz="2000" dirty="0" err="1" smtClean="0">
                <a:latin typeface="Times New Roman" pitchFamily="18" charset="0"/>
                <a:cs typeface="Times New Roman" pitchFamily="18" charset="0"/>
              </a:rPr>
              <a:t>intent.setData</a:t>
            </a:r>
            <a:r>
              <a:rPr lang="fr-FR" sz="2000" dirty="0" smtClean="0">
                <a:latin typeface="Times New Roman" pitchFamily="18" charset="0"/>
                <a:cs typeface="Times New Roman" pitchFamily="18" charset="0"/>
              </a:rPr>
              <a:t>(</a:t>
            </a:r>
            <a:r>
              <a:rPr lang="fr-FR" sz="2000" dirty="0" err="1" smtClean="0">
                <a:latin typeface="Times New Roman" pitchFamily="18" charset="0"/>
                <a:cs typeface="Times New Roman" pitchFamily="18" charset="0"/>
              </a:rPr>
              <a:t>Uri.parse</a:t>
            </a:r>
            <a:r>
              <a:rPr lang="fr-FR" sz="2000" dirty="0" smtClean="0">
                <a:latin typeface="Times New Roman" pitchFamily="18" charset="0"/>
                <a:cs typeface="Times New Roman" pitchFamily="18" charset="0"/>
              </a:rPr>
              <a:t>("https://www.google.com/"));</a:t>
            </a:r>
            <a:br>
              <a:rPr lang="fr-FR" sz="2000" dirty="0" smtClean="0">
                <a:latin typeface="Times New Roman" pitchFamily="18" charset="0"/>
                <a:cs typeface="Times New Roman" pitchFamily="18" charset="0"/>
              </a:rPr>
            </a:br>
            <a:r>
              <a:rPr lang="fr-FR" sz="2000" dirty="0" err="1" smtClean="0">
                <a:latin typeface="Times New Roman" pitchFamily="18" charset="0"/>
                <a:cs typeface="Times New Roman" pitchFamily="18" charset="0"/>
              </a:rPr>
              <a:t>startActivity</a:t>
            </a:r>
            <a:r>
              <a:rPr lang="fr-FR" sz="2000" dirty="0" smtClean="0">
                <a:latin typeface="Times New Roman" pitchFamily="18" charset="0"/>
                <a:cs typeface="Times New Roman" pitchFamily="18" charset="0"/>
              </a:rPr>
              <a:t>(</a:t>
            </a:r>
            <a:r>
              <a:rPr lang="fr-FR" sz="2000" dirty="0" err="1" smtClean="0">
                <a:latin typeface="Times New Roman" pitchFamily="18" charset="0"/>
                <a:cs typeface="Times New Roman" pitchFamily="18" charset="0"/>
              </a:rPr>
              <a:t>intent</a:t>
            </a:r>
            <a:r>
              <a:rPr lang="fr-FR" sz="2000" dirty="0" smtClean="0">
                <a:latin typeface="Times New Roman" pitchFamily="18" charset="0"/>
                <a:cs typeface="Times New Roman" pitchFamily="18" charset="0"/>
              </a:rPr>
              <a:t>);</a:t>
            </a:r>
          </a:p>
          <a:p>
            <a:r>
              <a:rPr lang="en-US" sz="2000" b="1" dirty="0" smtClean="0">
                <a:latin typeface="Times New Roman" pitchFamily="18" charset="0"/>
                <a:cs typeface="Times New Roman" pitchFamily="18" charset="0"/>
              </a:rPr>
              <a:t>Dial a Number:</a:t>
            </a:r>
          </a:p>
          <a:p>
            <a:pPr>
              <a:buNone/>
            </a:pPr>
            <a:r>
              <a:rPr lang="en-US" sz="2000" dirty="0" smtClean="0">
                <a:latin typeface="Times New Roman" pitchFamily="18" charset="0"/>
                <a:cs typeface="Times New Roman" pitchFamily="18" charset="0"/>
              </a:rPr>
              <a:t> Intent(</a:t>
            </a:r>
            <a:r>
              <a:rPr lang="en-US" sz="2000" dirty="0" err="1" smtClean="0">
                <a:latin typeface="Times New Roman" pitchFamily="18" charset="0"/>
                <a:cs typeface="Times New Roman" pitchFamily="18" charset="0"/>
              </a:rPr>
              <a:t>Intent.ACTION_DIAL</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Uri.parse</a:t>
            </a:r>
            <a:r>
              <a:rPr lang="en-US" sz="2000" dirty="0" smtClean="0">
                <a:latin typeface="Times New Roman" pitchFamily="18" charset="0"/>
                <a:cs typeface="Times New Roman" pitchFamily="18" charset="0"/>
              </a:rPr>
              <a:t>("tel:5551234")).</a:t>
            </a:r>
          </a:p>
          <a:p>
            <a:r>
              <a:rPr lang="en-US" sz="2000" b="1" dirty="0" err="1" smtClean="0">
                <a:latin typeface="Times New Roman" pitchFamily="18" charset="0"/>
                <a:cs typeface="Times New Roman" pitchFamily="18" charset="0"/>
              </a:rPr>
              <a:t>SendEmail</a:t>
            </a:r>
            <a:r>
              <a:rPr lang="en-US" sz="2000" b="1"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p>
          <a:p>
            <a:pPr>
              <a:buNone/>
            </a:pPr>
            <a:r>
              <a:rPr lang="en-US" sz="2000" dirty="0" smtClean="0">
                <a:latin typeface="Times New Roman" pitchFamily="18" charset="0"/>
                <a:cs typeface="Times New Roman" pitchFamily="18" charset="0"/>
              </a:rPr>
              <a:t>	Intent </a:t>
            </a:r>
            <a:r>
              <a:rPr lang="en-US" sz="2000" dirty="0" err="1" smtClean="0">
                <a:latin typeface="Times New Roman" pitchFamily="18" charset="0"/>
                <a:cs typeface="Times New Roman" pitchFamily="18" charset="0"/>
              </a:rPr>
              <a:t>intent</a:t>
            </a:r>
            <a:r>
              <a:rPr lang="en-US" sz="2000" dirty="0" smtClean="0">
                <a:latin typeface="Times New Roman" pitchFamily="18" charset="0"/>
                <a:cs typeface="Times New Roman" pitchFamily="18" charset="0"/>
              </a:rPr>
              <a:t>=new Intent(</a:t>
            </a:r>
            <a:r>
              <a:rPr lang="en-US" sz="2000" dirty="0" err="1" smtClean="0">
                <a:latin typeface="Times New Roman" pitchFamily="18" charset="0"/>
                <a:cs typeface="Times New Roman" pitchFamily="18" charset="0"/>
              </a:rPr>
              <a:t>Intent.ACTION_SENDTO</a:t>
            </a:r>
            <a:r>
              <a:rPr lang="en-US" sz="2000" dirty="0" smtClean="0">
                <a:latin typeface="Times New Roman" pitchFamily="18" charset="0"/>
                <a:cs typeface="Times New Roman" pitchFamily="18" charset="0"/>
              </a:rPr>
              <a:t>) </a:t>
            </a:r>
          </a:p>
          <a:p>
            <a:pPr>
              <a:buNone/>
            </a:pPr>
            <a:r>
              <a:rPr lang="en-US" sz="2000" dirty="0" smtClean="0">
                <a:latin typeface="Times New Roman" pitchFamily="18" charset="0"/>
                <a:cs typeface="Times New Roman" pitchFamily="18" charset="0"/>
              </a:rPr>
              <a:t>	intent. </a:t>
            </a:r>
            <a:r>
              <a:rPr lang="en-US" sz="2000" dirty="0" err="1" smtClean="0">
                <a:latin typeface="Times New Roman" pitchFamily="18" charset="0"/>
                <a:cs typeface="Times New Roman" pitchFamily="18" charset="0"/>
              </a:rPr>
              <a:t>setData</a:t>
            </a:r>
            <a:r>
              <a:rPr lang="en-US" sz="2000" dirty="0" smtClean="0">
                <a:latin typeface="Times New Roman" pitchFamily="18" charset="0"/>
                <a:cs typeface="Times New Roman" pitchFamily="18" charset="0"/>
              </a:rPr>
              <a:t>(</a:t>
            </a:r>
            <a:r>
              <a:rPr lang="en-US" sz="2000" dirty="0" err="1" smtClean="0">
                <a:latin typeface="Times New Roman" pitchFamily="18" charset="0"/>
                <a:cs typeface="Times New Roman" pitchFamily="18" charset="0"/>
              </a:rPr>
              <a:t>Uri.parse</a:t>
            </a:r>
            <a:r>
              <a:rPr lang="en-US" sz="2000" dirty="0" smtClean="0">
                <a:latin typeface="Times New Roman" pitchFamily="18" charset="0"/>
                <a:cs typeface="Times New Roman" pitchFamily="18" charset="0"/>
              </a:rPr>
              <a:t>("mailto:..."))</a:t>
            </a:r>
          </a:p>
          <a:p>
            <a:pPr>
              <a:lnSpc>
                <a:spcPct val="150000"/>
              </a:lnSpc>
              <a:buNone/>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4155" y="365126"/>
            <a:ext cx="10579645" cy="689520"/>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482444" y="1346356"/>
            <a:ext cx="10871356" cy="4830607"/>
          </a:xfrm>
        </p:spPr>
        <p:txBody>
          <a:bodyPr>
            <a:normAutofit fontScale="85000" lnSpcReduction="20000"/>
          </a:bodyPr>
          <a:lstStyle/>
          <a:p>
            <a:pPr>
              <a:buNone/>
            </a:pPr>
            <a:r>
              <a:rPr lang="en-US" sz="1400" b="1" dirty="0" smtClean="0">
                <a:latin typeface="Times New Roman" pitchFamily="18" charset="0"/>
                <a:cs typeface="Times New Roman" pitchFamily="18" charset="0"/>
              </a:rPr>
              <a:t>public</a:t>
            </a:r>
            <a:r>
              <a:rPr lang="en-US" sz="1400" dirty="0" smtClean="0">
                <a:latin typeface="Times New Roman" pitchFamily="18" charset="0"/>
                <a:cs typeface="Times New Roman" pitchFamily="18" charset="0"/>
              </a:rPr>
              <a:t> </a:t>
            </a:r>
            <a:r>
              <a:rPr lang="en-US" sz="1400" b="1" dirty="0" smtClean="0">
                <a:latin typeface="Times New Roman" pitchFamily="18" charset="0"/>
                <a:cs typeface="Times New Roman" pitchFamily="18" charset="0"/>
              </a:rPr>
              <a:t>class</a:t>
            </a:r>
            <a:r>
              <a:rPr lang="en-US" sz="1400" dirty="0" smtClean="0">
                <a:latin typeface="Times New Roman" pitchFamily="18" charset="0"/>
                <a:cs typeface="Times New Roman" pitchFamily="18" charset="0"/>
              </a:rPr>
              <a:t> </a:t>
            </a:r>
            <a:r>
              <a:rPr lang="en-US" sz="1400" b="1" dirty="0" err="1" smtClean="0">
                <a:latin typeface="Times New Roman" pitchFamily="18" charset="0"/>
                <a:cs typeface="Times New Roman" pitchFamily="18" charset="0"/>
              </a:rPr>
              <a:t>MainActivity</a:t>
            </a:r>
            <a:r>
              <a:rPr lang="en-US" sz="1400" dirty="0" smtClean="0">
                <a:latin typeface="Times New Roman" pitchFamily="18" charset="0"/>
                <a:cs typeface="Times New Roman" pitchFamily="18" charset="0"/>
              </a:rPr>
              <a:t> </a:t>
            </a:r>
            <a:r>
              <a:rPr lang="en-US" sz="1400" b="1" dirty="0" smtClean="0">
                <a:latin typeface="Times New Roman" pitchFamily="18" charset="0"/>
                <a:cs typeface="Times New Roman" pitchFamily="18" charset="0"/>
              </a:rPr>
              <a:t>extends</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AppCompatActivity</a:t>
            </a:r>
            <a:endParaRPr lang="en-US" sz="1400" dirty="0" smtClean="0">
              <a:latin typeface="Times New Roman" pitchFamily="18" charset="0"/>
              <a:cs typeface="Times New Roman" pitchFamily="18" charset="0"/>
            </a:endParaRPr>
          </a:p>
          <a:p>
            <a:pPr>
              <a:buNone/>
            </a:pPr>
            <a:r>
              <a:rPr lang="en-US" sz="1400" dirty="0" smtClean="0">
                <a:latin typeface="Times New Roman" pitchFamily="18" charset="0"/>
                <a:cs typeface="Times New Roman" pitchFamily="18" charset="0"/>
              </a:rPr>
              <a:t> { </a:t>
            </a:r>
          </a:p>
          <a:p>
            <a:pPr>
              <a:buNone/>
            </a:pPr>
            <a:r>
              <a:rPr lang="en-US" sz="1400" dirty="0" smtClean="0">
                <a:latin typeface="Times New Roman" pitchFamily="18" charset="0"/>
                <a:cs typeface="Times New Roman" pitchFamily="18" charset="0"/>
              </a:rPr>
              <a:t>@Override</a:t>
            </a:r>
          </a:p>
          <a:p>
            <a:pPr>
              <a:buNone/>
            </a:pPr>
            <a:r>
              <a:rPr lang="en-US" sz="1400" dirty="0" smtClean="0">
                <a:latin typeface="Times New Roman" pitchFamily="18" charset="0"/>
                <a:cs typeface="Times New Roman" pitchFamily="18" charset="0"/>
              </a:rPr>
              <a:t> </a:t>
            </a:r>
            <a:r>
              <a:rPr lang="en-US" sz="1400" b="1" dirty="0" smtClean="0">
                <a:latin typeface="Times New Roman" pitchFamily="18" charset="0"/>
                <a:cs typeface="Times New Roman" pitchFamily="18" charset="0"/>
              </a:rPr>
              <a:t>protected</a:t>
            </a:r>
            <a:r>
              <a:rPr lang="en-US" sz="1400" dirty="0" smtClean="0">
                <a:latin typeface="Times New Roman" pitchFamily="18" charset="0"/>
                <a:cs typeface="Times New Roman" pitchFamily="18" charset="0"/>
              </a:rPr>
              <a:t> void </a:t>
            </a:r>
            <a:r>
              <a:rPr lang="en-US" sz="1400" dirty="0" err="1" smtClean="0">
                <a:latin typeface="Times New Roman" pitchFamily="18" charset="0"/>
                <a:cs typeface="Times New Roman" pitchFamily="18" charset="0"/>
              </a:rPr>
              <a:t>onCreate</a:t>
            </a:r>
            <a:r>
              <a:rPr lang="en-US" sz="1400" dirty="0" smtClean="0">
                <a:latin typeface="Times New Roman" pitchFamily="18" charset="0"/>
                <a:cs typeface="Times New Roman" pitchFamily="18" charset="0"/>
              </a:rPr>
              <a:t>(Bundle </a:t>
            </a:r>
            <a:r>
              <a:rPr lang="en-US" sz="1400" dirty="0" err="1" smtClean="0">
                <a:latin typeface="Times New Roman" pitchFamily="18" charset="0"/>
                <a:cs typeface="Times New Roman" pitchFamily="18" charset="0"/>
              </a:rPr>
              <a:t>savedInstanceState</a:t>
            </a:r>
            <a:r>
              <a:rPr lang="en-US" sz="1400" dirty="0" smtClean="0">
                <a:latin typeface="Times New Roman" pitchFamily="18" charset="0"/>
                <a:cs typeface="Times New Roman" pitchFamily="18" charset="0"/>
              </a:rPr>
              <a:t>) </a:t>
            </a:r>
          </a:p>
          <a:p>
            <a:pPr>
              <a:buNone/>
            </a:pPr>
            <a:r>
              <a:rPr lang="en-US" sz="1400" dirty="0" smtClean="0">
                <a:latin typeface="Times New Roman" pitchFamily="18" charset="0"/>
                <a:cs typeface="Times New Roman" pitchFamily="18" charset="0"/>
              </a:rPr>
              <a:t>{ </a:t>
            </a:r>
          </a:p>
          <a:p>
            <a:pPr>
              <a:buNone/>
            </a:pPr>
            <a:r>
              <a:rPr lang="en-US" sz="1400" dirty="0" err="1" smtClean="0">
                <a:latin typeface="Times New Roman" pitchFamily="18" charset="0"/>
                <a:cs typeface="Times New Roman" pitchFamily="18" charset="0"/>
              </a:rPr>
              <a:t>EditText</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editText</a:t>
            </a:r>
            <a:r>
              <a:rPr lang="en-US" sz="1400" dirty="0" smtClean="0">
                <a:latin typeface="Times New Roman" pitchFamily="18" charset="0"/>
                <a:cs typeface="Times New Roman" pitchFamily="18" charset="0"/>
              </a:rPr>
              <a:t>; </a:t>
            </a:r>
          </a:p>
          <a:p>
            <a:pPr>
              <a:buNone/>
            </a:pPr>
            <a:r>
              <a:rPr lang="en-US" sz="1400" dirty="0" smtClean="0">
                <a:latin typeface="Times New Roman" pitchFamily="18" charset="0"/>
                <a:cs typeface="Times New Roman" pitchFamily="18" charset="0"/>
              </a:rPr>
              <a:t>Button </a:t>
            </a:r>
            <a:r>
              <a:rPr lang="en-US" sz="1400" dirty="0" err="1" smtClean="0">
                <a:latin typeface="Times New Roman" pitchFamily="18" charset="0"/>
                <a:cs typeface="Times New Roman" pitchFamily="18" charset="0"/>
              </a:rPr>
              <a:t>button</a:t>
            </a:r>
            <a:r>
              <a:rPr lang="en-US" sz="1400" dirty="0" smtClean="0">
                <a:latin typeface="Times New Roman" pitchFamily="18" charset="0"/>
                <a:cs typeface="Times New Roman" pitchFamily="18" charset="0"/>
              </a:rPr>
              <a:t>; </a:t>
            </a:r>
          </a:p>
          <a:p>
            <a:pPr>
              <a:buNone/>
            </a:pPr>
            <a:r>
              <a:rPr lang="en-US" sz="1400" b="1" dirty="0" err="1" smtClean="0">
                <a:latin typeface="Times New Roman" pitchFamily="18" charset="0"/>
                <a:cs typeface="Times New Roman" pitchFamily="18" charset="0"/>
              </a:rPr>
              <a:t>super</a:t>
            </a:r>
            <a:r>
              <a:rPr lang="en-US" sz="1400" dirty="0" err="1" smtClean="0">
                <a:latin typeface="Times New Roman" pitchFamily="18" charset="0"/>
                <a:cs typeface="Times New Roman" pitchFamily="18" charset="0"/>
              </a:rPr>
              <a:t>.onCreate</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savedInstanceState</a:t>
            </a:r>
            <a:r>
              <a:rPr lang="en-US" sz="1400" dirty="0" smtClean="0">
                <a:latin typeface="Times New Roman" pitchFamily="18" charset="0"/>
                <a:cs typeface="Times New Roman" pitchFamily="18" charset="0"/>
              </a:rPr>
              <a:t>); </a:t>
            </a:r>
          </a:p>
          <a:p>
            <a:pPr>
              <a:buNone/>
            </a:pPr>
            <a:r>
              <a:rPr lang="en-US" sz="1400" dirty="0" err="1" smtClean="0">
                <a:latin typeface="Times New Roman" pitchFamily="18" charset="0"/>
                <a:cs typeface="Times New Roman" pitchFamily="18" charset="0"/>
              </a:rPr>
              <a:t>setContentView</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R.layout.activity_main</a:t>
            </a:r>
            <a:r>
              <a:rPr lang="en-US" sz="1400" dirty="0" smtClean="0">
                <a:latin typeface="Times New Roman" pitchFamily="18" charset="0"/>
                <a:cs typeface="Times New Roman" pitchFamily="18" charset="0"/>
              </a:rPr>
              <a:t>);</a:t>
            </a:r>
          </a:p>
          <a:p>
            <a:pPr>
              <a:buNone/>
            </a:pPr>
            <a:r>
              <a:rPr lang="en-US" sz="1400" dirty="0" smtClean="0">
                <a:latin typeface="Times New Roman" pitchFamily="18" charset="0"/>
                <a:cs typeface="Times New Roman" pitchFamily="18" charset="0"/>
              </a:rPr>
              <a:t> button = </a:t>
            </a:r>
            <a:r>
              <a:rPr lang="en-US" sz="1400" dirty="0" err="1" smtClean="0">
                <a:latin typeface="Times New Roman" pitchFamily="18" charset="0"/>
                <a:cs typeface="Times New Roman" pitchFamily="18" charset="0"/>
              </a:rPr>
              <a:t>findViewById</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R.id.btn</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editText</a:t>
            </a:r>
            <a:r>
              <a:rPr lang="en-US" sz="1400" dirty="0" smtClean="0">
                <a:latin typeface="Times New Roman" pitchFamily="18" charset="0"/>
                <a:cs typeface="Times New Roman" pitchFamily="18" charset="0"/>
              </a:rPr>
              <a:t> = (</a:t>
            </a:r>
            <a:r>
              <a:rPr lang="en-US" sz="1400" dirty="0" err="1" smtClean="0">
                <a:latin typeface="Times New Roman" pitchFamily="18" charset="0"/>
                <a:cs typeface="Times New Roman" pitchFamily="18" charset="0"/>
              </a:rPr>
              <a:t>EditText</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findViewById</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R.id.editText</a:t>
            </a:r>
            <a:r>
              <a:rPr lang="en-US" sz="1400" dirty="0" smtClean="0">
                <a:latin typeface="Times New Roman" pitchFamily="18" charset="0"/>
                <a:cs typeface="Times New Roman" pitchFamily="18" charset="0"/>
              </a:rPr>
              <a:t>); </a:t>
            </a:r>
          </a:p>
          <a:p>
            <a:pPr>
              <a:buNone/>
            </a:pPr>
            <a:r>
              <a:rPr lang="en-US" sz="1400" dirty="0" err="1" smtClean="0">
                <a:latin typeface="Times New Roman" pitchFamily="18" charset="0"/>
                <a:cs typeface="Times New Roman" pitchFamily="18" charset="0"/>
              </a:rPr>
              <a:t>button.setOnClickListener</a:t>
            </a:r>
            <a:r>
              <a:rPr lang="en-US" sz="1400" dirty="0" smtClean="0">
                <a:latin typeface="Times New Roman" pitchFamily="18" charset="0"/>
                <a:cs typeface="Times New Roman" pitchFamily="18" charset="0"/>
              </a:rPr>
              <a:t>(</a:t>
            </a:r>
            <a:r>
              <a:rPr lang="en-US" sz="1400" b="1" dirty="0" smtClean="0">
                <a:latin typeface="Times New Roman" pitchFamily="18" charset="0"/>
                <a:cs typeface="Times New Roman" pitchFamily="18" charset="0"/>
              </a:rPr>
              <a:t>new</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View.OnClickListener</a:t>
            </a:r>
            <a:r>
              <a:rPr lang="en-US" sz="1400" dirty="0" smtClean="0">
                <a:latin typeface="Times New Roman" pitchFamily="18" charset="0"/>
                <a:cs typeface="Times New Roman" pitchFamily="18" charset="0"/>
              </a:rPr>
              <a:t>() { </a:t>
            </a:r>
          </a:p>
          <a:p>
            <a:pPr>
              <a:buNone/>
            </a:pPr>
            <a:r>
              <a:rPr lang="en-US" sz="1400" dirty="0" smtClean="0">
                <a:latin typeface="Times New Roman" pitchFamily="18" charset="0"/>
                <a:cs typeface="Times New Roman" pitchFamily="18" charset="0"/>
              </a:rPr>
              <a:t>@Override</a:t>
            </a:r>
          </a:p>
          <a:p>
            <a:pPr>
              <a:buNone/>
            </a:pPr>
            <a:r>
              <a:rPr lang="en-US" sz="1400" dirty="0" smtClean="0">
                <a:latin typeface="Times New Roman" pitchFamily="18" charset="0"/>
                <a:cs typeface="Times New Roman" pitchFamily="18" charset="0"/>
              </a:rPr>
              <a:t> </a:t>
            </a:r>
            <a:r>
              <a:rPr lang="en-US" sz="1400" b="1" dirty="0" smtClean="0">
                <a:latin typeface="Times New Roman" pitchFamily="18" charset="0"/>
                <a:cs typeface="Times New Roman" pitchFamily="18" charset="0"/>
              </a:rPr>
              <a:t>public</a:t>
            </a:r>
            <a:r>
              <a:rPr lang="en-US" sz="1400" dirty="0" smtClean="0">
                <a:latin typeface="Times New Roman" pitchFamily="18" charset="0"/>
                <a:cs typeface="Times New Roman" pitchFamily="18" charset="0"/>
              </a:rPr>
              <a:t> void </a:t>
            </a:r>
            <a:r>
              <a:rPr lang="en-US" sz="1400" dirty="0" err="1" smtClean="0">
                <a:latin typeface="Times New Roman" pitchFamily="18" charset="0"/>
                <a:cs typeface="Times New Roman" pitchFamily="18" charset="0"/>
              </a:rPr>
              <a:t>onClick</a:t>
            </a:r>
            <a:r>
              <a:rPr lang="en-US" sz="1400" dirty="0" smtClean="0">
                <a:latin typeface="Times New Roman" pitchFamily="18" charset="0"/>
                <a:cs typeface="Times New Roman" pitchFamily="18" charset="0"/>
              </a:rPr>
              <a:t>(View </a:t>
            </a:r>
            <a:r>
              <a:rPr lang="en-US" sz="1400" dirty="0" err="1" smtClean="0">
                <a:latin typeface="Times New Roman" pitchFamily="18" charset="0"/>
                <a:cs typeface="Times New Roman" pitchFamily="18" charset="0"/>
              </a:rPr>
              <a:t>view</a:t>
            </a:r>
            <a:r>
              <a:rPr lang="en-US" sz="1400" dirty="0" smtClean="0">
                <a:latin typeface="Times New Roman" pitchFamily="18" charset="0"/>
                <a:cs typeface="Times New Roman" pitchFamily="18" charset="0"/>
              </a:rPr>
              <a:t>) </a:t>
            </a:r>
          </a:p>
          <a:p>
            <a:pPr>
              <a:buNone/>
            </a:pPr>
            <a:r>
              <a:rPr lang="en-US" sz="1400" dirty="0" smtClean="0">
                <a:latin typeface="Times New Roman" pitchFamily="18" charset="0"/>
                <a:cs typeface="Times New Roman" pitchFamily="18" charset="0"/>
              </a:rPr>
              <a:t>{ </a:t>
            </a:r>
          </a:p>
          <a:p>
            <a:pPr>
              <a:buNone/>
            </a:pPr>
            <a:r>
              <a:rPr lang="en-US" sz="1400" dirty="0" smtClean="0">
                <a:latin typeface="Times New Roman" pitchFamily="18" charset="0"/>
                <a:cs typeface="Times New Roman" pitchFamily="18" charset="0"/>
              </a:rPr>
              <a:t>String </a:t>
            </a:r>
            <a:r>
              <a:rPr lang="en-US" sz="1400" dirty="0" err="1" smtClean="0">
                <a:latin typeface="Times New Roman" pitchFamily="18" charset="0"/>
                <a:cs typeface="Times New Roman" pitchFamily="18" charset="0"/>
              </a:rPr>
              <a:t>url</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editText.getText</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toString</a:t>
            </a:r>
            <a:r>
              <a:rPr lang="en-US" sz="1400" dirty="0" smtClean="0">
                <a:latin typeface="Times New Roman" pitchFamily="18" charset="0"/>
                <a:cs typeface="Times New Roman" pitchFamily="18" charset="0"/>
              </a:rPr>
              <a:t>();</a:t>
            </a:r>
          </a:p>
          <a:p>
            <a:pPr>
              <a:buNone/>
            </a:pPr>
            <a:r>
              <a:rPr lang="en-US" sz="1400" dirty="0" smtClean="0">
                <a:latin typeface="Times New Roman" pitchFamily="18" charset="0"/>
                <a:cs typeface="Times New Roman" pitchFamily="18" charset="0"/>
              </a:rPr>
              <a:t> Intent </a:t>
            </a:r>
            <a:r>
              <a:rPr lang="en-US" sz="1400" dirty="0" err="1" smtClean="0">
                <a:latin typeface="Times New Roman" pitchFamily="18" charset="0"/>
                <a:cs typeface="Times New Roman" pitchFamily="18" charset="0"/>
              </a:rPr>
              <a:t>intent</a:t>
            </a:r>
            <a:r>
              <a:rPr lang="en-US" sz="1400" dirty="0" smtClean="0">
                <a:latin typeface="Times New Roman" pitchFamily="18" charset="0"/>
                <a:cs typeface="Times New Roman" pitchFamily="18" charset="0"/>
              </a:rPr>
              <a:t> = </a:t>
            </a:r>
            <a:r>
              <a:rPr lang="en-US" sz="1400" b="1" dirty="0" smtClean="0">
                <a:latin typeface="Times New Roman" pitchFamily="18" charset="0"/>
                <a:cs typeface="Times New Roman" pitchFamily="18" charset="0"/>
              </a:rPr>
              <a:t>new</a:t>
            </a:r>
            <a:r>
              <a:rPr lang="en-US" sz="1400" dirty="0" smtClean="0">
                <a:latin typeface="Times New Roman" pitchFamily="18" charset="0"/>
                <a:cs typeface="Times New Roman" pitchFamily="18" charset="0"/>
              </a:rPr>
              <a:t> Intent(</a:t>
            </a:r>
            <a:r>
              <a:rPr lang="en-US" sz="1400" dirty="0" err="1" smtClean="0">
                <a:latin typeface="Times New Roman" pitchFamily="18" charset="0"/>
                <a:cs typeface="Times New Roman" pitchFamily="18" charset="0"/>
              </a:rPr>
              <a:t>Intent.ACTION_VIEW</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Uri.parse</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url</a:t>
            </a:r>
            <a:r>
              <a:rPr lang="en-US" sz="1400" dirty="0" smtClean="0">
                <a:latin typeface="Times New Roman" pitchFamily="18" charset="0"/>
                <a:cs typeface="Times New Roman" pitchFamily="18" charset="0"/>
              </a:rPr>
              <a:t>)); </a:t>
            </a:r>
          </a:p>
          <a:p>
            <a:pPr>
              <a:buNone/>
            </a:pPr>
            <a:r>
              <a:rPr lang="en-US" sz="1400" dirty="0" err="1" smtClean="0">
                <a:latin typeface="Times New Roman" pitchFamily="18" charset="0"/>
                <a:cs typeface="Times New Roman" pitchFamily="18" charset="0"/>
              </a:rPr>
              <a:t>startActivity</a:t>
            </a:r>
            <a:r>
              <a:rPr lang="en-US" sz="1400" dirty="0" smtClean="0">
                <a:latin typeface="Times New Roman" pitchFamily="18" charset="0"/>
                <a:cs typeface="Times New Roman" pitchFamily="18" charset="0"/>
              </a:rPr>
              <a:t>(intent); </a:t>
            </a:r>
          </a:p>
          <a:p>
            <a:pPr>
              <a:buNone/>
            </a:pPr>
            <a:r>
              <a:rPr lang="en-US" sz="1400" dirty="0" smtClean="0">
                <a:latin typeface="Times New Roman" pitchFamily="18" charset="0"/>
                <a:cs typeface="Times New Roman" pitchFamily="18" charset="0"/>
              </a:rPr>
              <a:t>} });</a:t>
            </a:r>
          </a:p>
          <a:p>
            <a:pPr>
              <a:buNone/>
            </a:pPr>
            <a:r>
              <a:rPr lang="en-US" sz="1400" dirty="0" smtClean="0">
                <a:latin typeface="Times New Roman" pitchFamily="18" charset="0"/>
                <a:cs typeface="Times New Roman" pitchFamily="18" charset="0"/>
              </a:rPr>
              <a:t> } }</a:t>
            </a:r>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4293CDA-A006-E933-B254-B320AB31B493}"/>
              </a:ext>
            </a:extLst>
          </p:cNvPr>
          <p:cNvSpPr>
            <a:spLocks noGrp="1"/>
          </p:cNvSpPr>
          <p:nvPr>
            <p:ph type="title"/>
          </p:nvPr>
        </p:nvSpPr>
        <p:spPr/>
        <p:txBody>
          <a:bodyPr/>
          <a:lstStyle/>
          <a:p>
            <a:r>
              <a:rPr lang="en-IN" b="1" i="0" dirty="0">
                <a:solidFill>
                  <a:srgbClr val="000000"/>
                </a:solidFill>
                <a:effectLst/>
                <a:latin typeface="Google Sans"/>
              </a:rPr>
              <a:t>Layouts in views</a:t>
            </a:r>
            <a:endParaRPr lang="en-IN" dirty="0"/>
          </a:p>
        </p:txBody>
      </p:sp>
      <p:sp>
        <p:nvSpPr>
          <p:cNvPr id="3" name="Content Placeholder 2">
            <a:extLst>
              <a:ext uri="{FF2B5EF4-FFF2-40B4-BE49-F238E27FC236}">
                <a16:creationId xmlns="" xmlns:a16="http://schemas.microsoft.com/office/drawing/2014/main" id="{51AA10C2-A9D3-6942-801E-E6EC0D87C3D9}"/>
              </a:ext>
            </a:extLst>
          </p:cNvPr>
          <p:cNvSpPr>
            <a:spLocks noGrp="1"/>
          </p:cNvSpPr>
          <p:nvPr>
            <p:ph idx="1"/>
          </p:nvPr>
        </p:nvSpPr>
        <p:spPr>
          <a:xfrm>
            <a:off x="838199" y="1595940"/>
            <a:ext cx="10736627" cy="4581023"/>
          </a:xfrm>
        </p:spPr>
        <p:txBody>
          <a:bodyPr>
            <a:normAutofit/>
          </a:bodyPr>
          <a:lstStyle/>
          <a:p>
            <a:pPr algn="just">
              <a:lnSpc>
                <a:spcPct val="150000"/>
              </a:lnSpc>
              <a:buFont typeface="Wingdings" panose="05000000000000000000" pitchFamily="2" charset="2"/>
              <a:buChar char="v"/>
            </a:pPr>
            <a:r>
              <a:rPr lang="en-US" sz="2000" b="0" i="0" dirty="0">
                <a:solidFill>
                  <a:srgbClr val="273239"/>
                </a:solidFill>
                <a:effectLst/>
                <a:latin typeface="Times New Roman" panose="02020603050405020304" pitchFamily="18" charset="0"/>
                <a:cs typeface="Times New Roman" panose="02020603050405020304" pitchFamily="18" charset="0"/>
              </a:rPr>
              <a:t>Android </a:t>
            </a:r>
            <a:r>
              <a:rPr lang="en-US" sz="2000" b="1" i="0" dirty="0">
                <a:solidFill>
                  <a:srgbClr val="273239"/>
                </a:solidFill>
                <a:effectLst/>
                <a:latin typeface="Times New Roman" panose="02020603050405020304" pitchFamily="18" charset="0"/>
                <a:cs typeface="Times New Roman" panose="02020603050405020304" pitchFamily="18" charset="0"/>
              </a:rPr>
              <a:t>Layout</a:t>
            </a:r>
            <a:r>
              <a:rPr lang="en-US" sz="2000" b="0" i="0" dirty="0">
                <a:solidFill>
                  <a:srgbClr val="273239"/>
                </a:solidFill>
                <a:effectLst/>
                <a:latin typeface="Times New Roman" panose="02020603050405020304" pitchFamily="18" charset="0"/>
                <a:cs typeface="Times New Roman" panose="02020603050405020304" pitchFamily="18" charset="0"/>
              </a:rPr>
              <a:t> is used to define the user interface that holds the UI controls or widgets that will appear on the screen of an android application or activity screen. </a:t>
            </a:r>
          </a:p>
          <a:p>
            <a:pPr algn="just">
              <a:lnSpc>
                <a:spcPct val="150000"/>
              </a:lnSpc>
              <a:buFont typeface="Wingdings" panose="05000000000000000000" pitchFamily="2" charset="2"/>
              <a:buChar char="v"/>
            </a:pPr>
            <a:r>
              <a:rPr lang="en-US" sz="2000" b="0" i="0" dirty="0">
                <a:solidFill>
                  <a:srgbClr val="273239"/>
                </a:solidFill>
                <a:effectLst/>
                <a:latin typeface="Times New Roman" panose="02020603050405020304" pitchFamily="18" charset="0"/>
                <a:cs typeface="Times New Roman" panose="02020603050405020304" pitchFamily="18" charset="0"/>
              </a:rPr>
              <a:t>Generally, every application is a combination of View and </a:t>
            </a:r>
            <a:r>
              <a:rPr lang="en-US" sz="2000" b="0" i="0" dirty="0" err="1">
                <a:solidFill>
                  <a:srgbClr val="273239"/>
                </a:solidFill>
                <a:effectLst/>
                <a:latin typeface="Times New Roman" panose="02020603050405020304" pitchFamily="18" charset="0"/>
                <a:cs typeface="Times New Roman" panose="02020603050405020304" pitchFamily="18" charset="0"/>
              </a:rPr>
              <a:t>ViewGroup</a:t>
            </a:r>
            <a:r>
              <a:rPr lang="en-US" sz="2000" b="0" i="0" dirty="0">
                <a:solidFill>
                  <a:srgbClr val="273239"/>
                </a:solidFill>
                <a:effectLst/>
                <a:latin typeface="Times New Roman" panose="02020603050405020304" pitchFamily="18" charset="0"/>
                <a:cs typeface="Times New Roman" panose="02020603050405020304" pitchFamily="18" charset="0"/>
              </a:rPr>
              <a:t>. </a:t>
            </a:r>
          </a:p>
          <a:p>
            <a:pPr algn="just">
              <a:lnSpc>
                <a:spcPct val="150000"/>
              </a:lnSpc>
              <a:buFont typeface="Wingdings" panose="05000000000000000000" pitchFamily="2" charset="2"/>
              <a:buChar char="v"/>
            </a:pPr>
            <a:r>
              <a:rPr lang="en-US" sz="2000" dirty="0">
                <a:solidFill>
                  <a:srgbClr val="273239"/>
                </a:solidFill>
                <a:latin typeface="Times New Roman" panose="02020603050405020304" pitchFamily="18" charset="0"/>
                <a:cs typeface="Times New Roman" panose="02020603050405020304" pitchFamily="18" charset="0"/>
              </a:rPr>
              <a:t>The </a:t>
            </a:r>
            <a:r>
              <a:rPr lang="en-US" sz="2000" b="0" i="0" dirty="0">
                <a:solidFill>
                  <a:srgbClr val="273239"/>
                </a:solidFill>
                <a:effectLst/>
                <a:latin typeface="Times New Roman" panose="02020603050405020304" pitchFamily="18" charset="0"/>
                <a:cs typeface="Times New Roman" panose="02020603050405020304" pitchFamily="18" charset="0"/>
              </a:rPr>
              <a:t>android application contains a large number of activities and we can say each activity is one page of the application. So, each activity contains multiple user interface components and those components are the instances of the </a:t>
            </a:r>
            <a:r>
              <a:rPr lang="en-US" sz="2000" b="1" i="0" dirty="0">
                <a:solidFill>
                  <a:srgbClr val="273239"/>
                </a:solidFill>
                <a:effectLst/>
                <a:latin typeface="Times New Roman" panose="02020603050405020304" pitchFamily="18" charset="0"/>
                <a:cs typeface="Times New Roman" panose="02020603050405020304" pitchFamily="18" charset="0"/>
              </a:rPr>
              <a:t>View</a:t>
            </a:r>
            <a:r>
              <a:rPr lang="en-US" sz="2000" b="0" i="0" dirty="0">
                <a:solidFill>
                  <a:srgbClr val="273239"/>
                </a:solidFill>
                <a:effectLst/>
                <a:latin typeface="Times New Roman" panose="02020603050405020304" pitchFamily="18" charset="0"/>
                <a:cs typeface="Times New Roman" panose="02020603050405020304" pitchFamily="18" charset="0"/>
              </a:rPr>
              <a:t> and </a:t>
            </a:r>
            <a:r>
              <a:rPr lang="en-US" sz="2000" b="1" i="0" dirty="0" err="1">
                <a:solidFill>
                  <a:srgbClr val="273239"/>
                </a:solidFill>
                <a:effectLst/>
                <a:latin typeface="Times New Roman" panose="02020603050405020304" pitchFamily="18" charset="0"/>
                <a:cs typeface="Times New Roman" panose="02020603050405020304" pitchFamily="18" charset="0"/>
              </a:rPr>
              <a:t>ViewGroup</a:t>
            </a:r>
            <a:r>
              <a:rPr lang="en-US" sz="2000" b="1" i="0" dirty="0">
                <a:solidFill>
                  <a:srgbClr val="273239"/>
                </a:solidFill>
                <a:effectLst/>
                <a:latin typeface="Times New Roman" panose="02020603050405020304" pitchFamily="18" charset="0"/>
                <a:cs typeface="Times New Roman" panose="02020603050405020304" pitchFamily="18" charset="0"/>
              </a:rPr>
              <a:t>. </a:t>
            </a:r>
          </a:p>
          <a:p>
            <a:pPr algn="just">
              <a:lnSpc>
                <a:spcPct val="150000"/>
              </a:lnSpc>
              <a:buFont typeface="Wingdings" panose="05000000000000000000" pitchFamily="2" charset="2"/>
              <a:buChar char="v"/>
            </a:pPr>
            <a:r>
              <a:rPr lang="en-US" sz="2000" b="0" i="0" dirty="0">
                <a:solidFill>
                  <a:srgbClr val="273239"/>
                </a:solidFill>
                <a:effectLst/>
                <a:latin typeface="Times New Roman" panose="02020603050405020304" pitchFamily="18" charset="0"/>
                <a:cs typeface="Times New Roman" panose="02020603050405020304" pitchFamily="18" charset="0"/>
              </a:rPr>
              <a:t>All the elements in a layout are built using a hierarchy of </a:t>
            </a:r>
            <a:r>
              <a:rPr lang="en-US" sz="2000" b="1" i="0" dirty="0">
                <a:solidFill>
                  <a:srgbClr val="273239"/>
                </a:solidFill>
                <a:effectLst/>
                <a:latin typeface="Times New Roman" panose="02020603050405020304" pitchFamily="18" charset="0"/>
                <a:cs typeface="Times New Roman" panose="02020603050405020304" pitchFamily="18" charset="0"/>
              </a:rPr>
              <a:t>View </a:t>
            </a:r>
            <a:r>
              <a:rPr lang="en-US" sz="2000" b="0" i="0" dirty="0">
                <a:solidFill>
                  <a:srgbClr val="273239"/>
                </a:solidFill>
                <a:effectLst/>
                <a:latin typeface="Times New Roman" panose="02020603050405020304" pitchFamily="18" charset="0"/>
                <a:cs typeface="Times New Roman" panose="02020603050405020304" pitchFamily="18" charset="0"/>
              </a:rPr>
              <a:t>and </a:t>
            </a:r>
            <a:r>
              <a:rPr lang="en-US" sz="2000" b="1" i="0" dirty="0" err="1">
                <a:solidFill>
                  <a:srgbClr val="273239"/>
                </a:solidFill>
                <a:effectLst/>
                <a:latin typeface="Times New Roman" panose="02020603050405020304" pitchFamily="18" charset="0"/>
                <a:cs typeface="Times New Roman" panose="02020603050405020304" pitchFamily="18" charset="0"/>
              </a:rPr>
              <a:t>ViewGroup</a:t>
            </a:r>
            <a:r>
              <a:rPr lang="en-US" sz="2000" b="1" i="0" dirty="0">
                <a:solidFill>
                  <a:srgbClr val="273239"/>
                </a:solidFill>
                <a:effectLst/>
                <a:latin typeface="Times New Roman" panose="02020603050405020304" pitchFamily="18" charset="0"/>
                <a:cs typeface="Times New Roman" panose="02020603050405020304" pitchFamily="18" charset="0"/>
              </a:rPr>
              <a:t> </a:t>
            </a:r>
            <a:r>
              <a:rPr lang="en-US" sz="2000" b="0" i="0" dirty="0">
                <a:solidFill>
                  <a:srgbClr val="273239"/>
                </a:solidFill>
                <a:effectLst/>
                <a:latin typeface="Times New Roman" panose="02020603050405020304" pitchFamily="18" charset="0"/>
                <a:cs typeface="Times New Roman" panose="02020603050405020304" pitchFamily="18" charset="0"/>
              </a:rPr>
              <a:t>objects.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68515873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Explicit Intent</a:t>
            </a:r>
            <a:br>
              <a:rPr lang="en-US" b="1" dirty="0" smtClean="0"/>
            </a:br>
            <a:endParaRPr lang="en-US" dirty="0"/>
          </a:p>
        </p:txBody>
      </p:sp>
      <p:sp>
        <p:nvSpPr>
          <p:cNvPr id="3" name="Content Placeholder 2"/>
          <p:cNvSpPr>
            <a:spLocks noGrp="1"/>
          </p:cNvSpPr>
          <p:nvPr>
            <p:ph idx="1"/>
          </p:nvPr>
        </p:nvSpPr>
        <p:spPr/>
        <p:txBody>
          <a:bodyPr/>
          <a:lstStyle/>
          <a:p>
            <a:pPr fontAlgn="base"/>
            <a:r>
              <a:rPr lang="en-US" dirty="0" smtClean="0">
                <a:latin typeface="Times New Roman" pitchFamily="18" charset="0"/>
                <a:cs typeface="Times New Roman" pitchFamily="18" charset="0"/>
              </a:rPr>
              <a:t>Explicit Intent specifies the component. In such a case, intent provides the external class to be invoked.</a:t>
            </a:r>
          </a:p>
          <a:p>
            <a:pPr fontAlgn="base"/>
            <a:endParaRPr lang="en-US" dirty="0" smtClean="0">
              <a:latin typeface="Times New Roman" pitchFamily="18" charset="0"/>
              <a:cs typeface="Times New Roman" pitchFamily="18" charset="0"/>
            </a:endParaRPr>
          </a:p>
          <a:p>
            <a:pPr fontAlgn="base">
              <a:buNone/>
            </a:pPr>
            <a:r>
              <a:rPr lang="en-US" dirty="0" smtClean="0">
                <a:latin typeface="Times New Roman" pitchFamily="18" charset="0"/>
                <a:cs typeface="Times New Roman" pitchFamily="18" charset="0"/>
              </a:rPr>
              <a:t>Intent </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 = new Intent(</a:t>
            </a:r>
            <a:r>
              <a:rPr lang="en-US" dirty="0" err="1" smtClean="0">
                <a:latin typeface="Times New Roman" pitchFamily="18" charset="0"/>
                <a:cs typeface="Times New Roman" pitchFamily="18" charset="0"/>
              </a:rPr>
              <a:t>getApplicationContext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ActivityTwo.class</a:t>
            </a:r>
            <a:r>
              <a:rPr lang="en-US" dirty="0" smtClean="0">
                <a:latin typeface="Times New Roman" pitchFamily="18" charset="0"/>
                <a:cs typeface="Times New Roman" pitchFamily="18" charset="0"/>
              </a:rPr>
              <a:t>);</a:t>
            </a:r>
          </a:p>
          <a:p>
            <a:pPr fontAlgn="base">
              <a:buNone/>
            </a:pPr>
            <a:r>
              <a:rPr lang="en-US" dirty="0" err="1" smtClean="0">
                <a:latin typeface="Times New Roman" pitchFamily="18" charset="0"/>
                <a:cs typeface="Times New Roman" pitchFamily="18" charset="0"/>
              </a:rPr>
              <a:t>startActivity</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 </a:t>
            </a:r>
          </a:p>
          <a:p>
            <a:pPr>
              <a:buNone/>
            </a:pPr>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latin typeface="Times New Roman" pitchFamily="18" charset="0"/>
                <a:cs typeface="Times New Roman" pitchFamily="18" charset="0"/>
              </a:rPr>
              <a:t>public</a:t>
            </a: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class</a:t>
            </a:r>
            <a:r>
              <a:rPr lang="en-US"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MainActivity</a:t>
            </a: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extends</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AppCompatActivity</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@Override </a:t>
            </a:r>
          </a:p>
          <a:p>
            <a:pPr>
              <a:buNone/>
            </a:pPr>
            <a:r>
              <a:rPr lang="en-US" b="1" dirty="0" smtClean="0">
                <a:latin typeface="Times New Roman" pitchFamily="18" charset="0"/>
                <a:cs typeface="Times New Roman" pitchFamily="18" charset="0"/>
              </a:rPr>
              <a:t>protected</a:t>
            </a:r>
            <a:r>
              <a:rPr lang="en-US" dirty="0" smtClean="0">
                <a:latin typeface="Times New Roman" pitchFamily="18" charset="0"/>
                <a:cs typeface="Times New Roman" pitchFamily="18" charset="0"/>
              </a:rPr>
              <a:t> void </a:t>
            </a:r>
            <a:r>
              <a:rPr lang="en-US" dirty="0" err="1" smtClean="0">
                <a:latin typeface="Times New Roman" pitchFamily="18" charset="0"/>
                <a:cs typeface="Times New Roman" pitchFamily="18" charset="0"/>
              </a:rPr>
              <a:t>onCreate</a:t>
            </a:r>
            <a:r>
              <a:rPr lang="en-US" dirty="0" smtClean="0">
                <a:latin typeface="Times New Roman" pitchFamily="18" charset="0"/>
                <a:cs typeface="Times New Roman" pitchFamily="18" charset="0"/>
              </a:rPr>
              <a:t>(Bundle </a:t>
            </a:r>
            <a:r>
              <a:rPr lang="en-US" dirty="0" err="1" smtClean="0">
                <a:latin typeface="Times New Roman" pitchFamily="18" charset="0"/>
                <a:cs typeface="Times New Roman" pitchFamily="18" charset="0"/>
              </a:rPr>
              <a:t>savedInstanceState</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a:t>
            </a:r>
          </a:p>
          <a:p>
            <a:pPr>
              <a:buNone/>
            </a:pPr>
            <a:r>
              <a:rPr lang="en-US" b="1" dirty="0" err="1" smtClean="0">
                <a:latin typeface="Times New Roman" pitchFamily="18" charset="0"/>
                <a:cs typeface="Times New Roman" pitchFamily="18" charset="0"/>
              </a:rPr>
              <a:t>super</a:t>
            </a:r>
            <a:r>
              <a:rPr lang="en-US" dirty="0" err="1" smtClean="0">
                <a:latin typeface="Times New Roman" pitchFamily="18" charset="0"/>
                <a:cs typeface="Times New Roman" pitchFamily="18" charset="0"/>
              </a:rPr>
              <a:t>.onCreate</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savedInstanceState</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setContentView</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R.layout.activity_main</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public</a:t>
            </a:r>
            <a:r>
              <a:rPr lang="en-US" dirty="0" smtClean="0">
                <a:latin typeface="Times New Roman" pitchFamily="18" charset="0"/>
                <a:cs typeface="Times New Roman" pitchFamily="18" charset="0"/>
              </a:rPr>
              <a:t> void </a:t>
            </a:r>
            <a:r>
              <a:rPr lang="en-US" dirty="0" err="1" smtClean="0">
                <a:latin typeface="Times New Roman" pitchFamily="18" charset="0"/>
                <a:cs typeface="Times New Roman" pitchFamily="18" charset="0"/>
              </a:rPr>
              <a:t>newsScreen</a:t>
            </a:r>
            <a:r>
              <a:rPr lang="en-US" dirty="0" smtClean="0">
                <a:latin typeface="Times New Roman" pitchFamily="18" charset="0"/>
                <a:cs typeface="Times New Roman" pitchFamily="18" charset="0"/>
              </a:rPr>
              <a:t>(View </a:t>
            </a:r>
            <a:r>
              <a:rPr lang="en-US" dirty="0" err="1" smtClean="0">
                <a:latin typeface="Times New Roman" pitchFamily="18" charset="0"/>
                <a:cs typeface="Times New Roman" pitchFamily="18" charset="0"/>
              </a:rPr>
              <a:t>view</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Intent </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 = </a:t>
            </a:r>
            <a:r>
              <a:rPr lang="en-US" b="1" dirty="0" smtClean="0">
                <a:latin typeface="Times New Roman" pitchFamily="18" charset="0"/>
                <a:cs typeface="Times New Roman" pitchFamily="18" charset="0"/>
              </a:rPr>
              <a:t>new</a:t>
            </a:r>
            <a:r>
              <a:rPr lang="en-US" dirty="0" smtClean="0">
                <a:latin typeface="Times New Roman" pitchFamily="18" charset="0"/>
                <a:cs typeface="Times New Roman" pitchFamily="18" charset="0"/>
              </a:rPr>
              <a:t> Intent(</a:t>
            </a:r>
            <a:r>
              <a:rPr lang="en-US" dirty="0" err="1" smtClean="0">
                <a:latin typeface="Times New Roman" pitchFamily="18" charset="0"/>
                <a:cs typeface="Times New Roman" pitchFamily="18" charset="0"/>
              </a:rPr>
              <a:t>getApplicationContext</a:t>
            </a:r>
            <a:r>
              <a:rPr lang="en-US" dirty="0" smtClean="0">
                <a:latin typeface="Times New Roman" pitchFamily="18" charset="0"/>
                <a:cs typeface="Times New Roman" pitchFamily="18" charset="0"/>
              </a:rPr>
              <a:t>(), MainActivity2.class); </a:t>
            </a:r>
          </a:p>
          <a:p>
            <a:pPr>
              <a:buNone/>
            </a:pPr>
            <a:r>
              <a:rPr lang="en-US" dirty="0" err="1" smtClean="0">
                <a:latin typeface="Times New Roman" pitchFamily="18" charset="0"/>
                <a:cs typeface="Times New Roman" pitchFamily="18" charset="0"/>
              </a:rPr>
              <a:t>startActivity</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a:t>
            </a:r>
            <a:br>
              <a:rPr lang="en-US" dirty="0" smtClean="0"/>
            </a:br>
            <a:endParaRPr lang="en-US" dirty="0"/>
          </a:p>
        </p:txBody>
      </p:sp>
      <p:sp>
        <p:nvSpPr>
          <p:cNvPr id="3" name="Content Placeholder 2"/>
          <p:cNvSpPr>
            <a:spLocks noGrp="1"/>
          </p:cNvSpPr>
          <p:nvPr>
            <p:ph idx="1"/>
          </p:nvPr>
        </p:nvSpPr>
        <p:spPr/>
        <p:txBody>
          <a:bodyPr/>
          <a:lstStyle/>
          <a:p>
            <a:pPr>
              <a:buNone/>
            </a:pPr>
            <a:r>
              <a:rPr lang="en-US" dirty="0" err="1" smtClean="0"/>
              <a:t>putExtra</a:t>
            </a:r>
            <a:r>
              <a:rPr lang="en-US" dirty="0" smtClean="0"/>
              <a:t>(), </a:t>
            </a:r>
            <a:r>
              <a:rPr lang="en-US" dirty="0" err="1" smtClean="0"/>
              <a:t>getContent</a:t>
            </a:r>
            <a:r>
              <a:rPr lang="en-US" dirty="0" smtClean="0"/>
              <a:t>()</a:t>
            </a:r>
          </a:p>
          <a:p>
            <a:pPr>
              <a:buNone/>
            </a:pPr>
            <a:r>
              <a:rPr lang="en-US" dirty="0" smtClean="0"/>
              <a:t>and </a:t>
            </a:r>
            <a:r>
              <a:rPr lang="en-US" dirty="0" err="1" smtClean="0"/>
              <a:t>getStringExtra</a:t>
            </a:r>
            <a:r>
              <a:rPr lang="en-US" dirty="0" smtClean="0"/>
              <a:t>()</a:t>
            </a:r>
          </a:p>
          <a:p>
            <a:pPr>
              <a:buNone/>
            </a:pP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1C6823AC-4FEC-78CA-4710-8E08465087AC}"/>
              </a:ext>
            </a:extLst>
          </p:cNvPr>
          <p:cNvSpPr>
            <a:spLocks noGrp="1"/>
          </p:cNvSpPr>
          <p:nvPr>
            <p:ph type="title"/>
          </p:nvPr>
        </p:nvSpPr>
        <p:spPr/>
        <p:txBody>
          <a:bodyPr/>
          <a:lstStyle/>
          <a:p>
            <a:r>
              <a:rPr lang="en-IN" b="1" i="0" dirty="0">
                <a:solidFill>
                  <a:srgbClr val="000000"/>
                </a:solidFill>
                <a:effectLst/>
                <a:latin typeface="Google Sans"/>
              </a:rPr>
              <a:t>Layouts in views</a:t>
            </a:r>
            <a:endParaRPr lang="en-IN" dirty="0"/>
          </a:p>
        </p:txBody>
      </p:sp>
      <p:sp>
        <p:nvSpPr>
          <p:cNvPr id="6" name="Rectangle 1">
            <a:extLst>
              <a:ext uri="{FF2B5EF4-FFF2-40B4-BE49-F238E27FC236}">
                <a16:creationId xmlns="" xmlns:a16="http://schemas.microsoft.com/office/drawing/2014/main" id="{C5087F11-7D3F-F04C-400C-55F2E6330421}"/>
              </a:ext>
            </a:extLst>
          </p:cNvPr>
          <p:cNvSpPr>
            <a:spLocks noGrp="1" noChangeArrowheads="1"/>
          </p:cNvSpPr>
          <p:nvPr>
            <p:ph idx="1"/>
          </p:nvPr>
        </p:nvSpPr>
        <p:spPr bwMode="auto">
          <a:xfrm>
            <a:off x="940410" y="2151460"/>
            <a:ext cx="9697299" cy="3076291"/>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A layout defines the structure for a user interface in your app, such as in an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activity</a:t>
            </a: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All elements in the layout are built using a hierarchy of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View</a:t>
            </a: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and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hlinkClick r:id="rId4"/>
              </a:rPr>
              <a:t>ViewGroup</a:t>
            </a: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objects. </a:t>
            </a: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A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View</a:t>
            </a: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usually draws something the user can see and interact with. </a:t>
            </a: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A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ViewGroup</a:t>
            </a: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is an invisible container that defines the layout structure for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View</a:t>
            </a: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and other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ViewGroup</a:t>
            </a: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objects.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 xmlns:p14="http://schemas.microsoft.com/office/powerpoint/2010/main" val="121863612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42F5E2-35E4-1331-D1E7-D1F82951CDAB}"/>
              </a:ext>
            </a:extLst>
          </p:cNvPr>
          <p:cNvSpPr>
            <a:spLocks noGrp="1"/>
          </p:cNvSpPr>
          <p:nvPr>
            <p:ph type="title"/>
          </p:nvPr>
        </p:nvSpPr>
        <p:spPr/>
        <p:txBody>
          <a:bodyPr/>
          <a:lstStyle/>
          <a:p>
            <a:r>
              <a:rPr lang="en-US" dirty="0"/>
              <a:t>Layout  View</a:t>
            </a:r>
            <a:endParaRPr lang="en-IN" dirty="0"/>
          </a:p>
        </p:txBody>
      </p:sp>
      <p:pic>
        <p:nvPicPr>
          <p:cNvPr id="2050" name="Picture 2">
            <a:extLst>
              <a:ext uri="{FF2B5EF4-FFF2-40B4-BE49-F238E27FC236}">
                <a16:creationId xmlns="" xmlns:a16="http://schemas.microsoft.com/office/drawing/2014/main" id="{55899A2A-BB9B-4F03-E537-3CE21DD996CE}"/>
              </a:ext>
            </a:extLst>
          </p:cNvPr>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1128222" y="1825625"/>
            <a:ext cx="9935555" cy="435133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4485136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0D170D-4025-7E04-D194-7BE8BEF40C66}"/>
              </a:ext>
            </a:extLst>
          </p:cNvPr>
          <p:cNvSpPr>
            <a:spLocks noGrp="1"/>
          </p:cNvSpPr>
          <p:nvPr>
            <p:ph type="title"/>
          </p:nvPr>
        </p:nvSpPr>
        <p:spPr/>
        <p:txBody>
          <a:bodyPr/>
          <a:lstStyle/>
          <a:p>
            <a:r>
              <a:rPr lang="en-US" dirty="0"/>
              <a:t>View</a:t>
            </a:r>
            <a:endParaRPr lang="en-IN" dirty="0"/>
          </a:p>
        </p:txBody>
      </p:sp>
      <p:sp>
        <p:nvSpPr>
          <p:cNvPr id="4" name="Rectangle 1">
            <a:extLst>
              <a:ext uri="{FF2B5EF4-FFF2-40B4-BE49-F238E27FC236}">
                <a16:creationId xmlns="" xmlns:a16="http://schemas.microsoft.com/office/drawing/2014/main" id="{877BE995-EFBA-D484-4FFE-06622394B91A}"/>
              </a:ext>
            </a:extLst>
          </p:cNvPr>
          <p:cNvSpPr>
            <a:spLocks noGrp="1" noChangeArrowheads="1"/>
          </p:cNvSpPr>
          <p:nvPr>
            <p:ph idx="1"/>
          </p:nvPr>
        </p:nvSpPr>
        <p:spPr bwMode="auto">
          <a:xfrm>
            <a:off x="683149" y="1533807"/>
            <a:ext cx="10800806" cy="360098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fontAlgn="base">
              <a:lnSpc>
                <a:spcPct val="200000"/>
              </a:lnSpc>
            </a:pPr>
            <a:r>
              <a:rPr lang="en-US" sz="2000" b="0" i="0" dirty="0">
                <a:solidFill>
                  <a:srgbClr val="273239"/>
                </a:solidFill>
                <a:effectLst/>
                <a:latin typeface="Times New Roman" panose="02020603050405020304" pitchFamily="18" charset="0"/>
                <a:cs typeface="Times New Roman" panose="02020603050405020304" pitchFamily="18" charset="0"/>
              </a:rPr>
              <a:t>A </a:t>
            </a:r>
            <a:r>
              <a:rPr lang="en-US" sz="2000" b="1" i="0" dirty="0">
                <a:solidFill>
                  <a:srgbClr val="273239"/>
                </a:solidFill>
                <a:effectLst/>
                <a:latin typeface="Times New Roman" panose="02020603050405020304" pitchFamily="18" charset="0"/>
                <a:cs typeface="Times New Roman" panose="02020603050405020304" pitchFamily="18" charset="0"/>
              </a:rPr>
              <a:t>View</a:t>
            </a:r>
            <a:r>
              <a:rPr lang="en-US" sz="2000" b="0" i="0" dirty="0">
                <a:solidFill>
                  <a:srgbClr val="273239"/>
                </a:solidFill>
                <a:effectLst/>
                <a:latin typeface="Times New Roman" panose="02020603050405020304" pitchFamily="18" charset="0"/>
                <a:cs typeface="Times New Roman" panose="02020603050405020304" pitchFamily="18" charset="0"/>
              </a:rPr>
              <a:t> is defined as the user interface which is used to create interactive UI components such as </a:t>
            </a:r>
            <a:r>
              <a:rPr lang="en-US" sz="2000" b="0" i="0" u="sng" dirty="0" err="1">
                <a:solidFill>
                  <a:srgbClr val="273239"/>
                </a:solidFill>
                <a:effectLst/>
                <a:latin typeface="Times New Roman" panose="02020603050405020304" pitchFamily="18" charset="0"/>
                <a:cs typeface="Times New Roman" panose="02020603050405020304" pitchFamily="18" charset="0"/>
                <a:hlinkClick r:id="rId2"/>
              </a:rPr>
              <a:t>TextView</a:t>
            </a:r>
            <a:r>
              <a:rPr lang="en-US" sz="2000" b="0" i="0" dirty="0">
                <a:solidFill>
                  <a:srgbClr val="273239"/>
                </a:solidFill>
                <a:effectLst/>
                <a:latin typeface="Times New Roman" panose="02020603050405020304" pitchFamily="18" charset="0"/>
                <a:cs typeface="Times New Roman" panose="02020603050405020304" pitchFamily="18" charset="0"/>
              </a:rPr>
              <a:t>, </a:t>
            </a:r>
            <a:r>
              <a:rPr lang="en-US" sz="2000" b="0" i="0" u="sng" dirty="0" err="1">
                <a:solidFill>
                  <a:srgbClr val="273239"/>
                </a:solidFill>
                <a:effectLst/>
                <a:latin typeface="Times New Roman" panose="02020603050405020304" pitchFamily="18" charset="0"/>
                <a:cs typeface="Times New Roman" panose="02020603050405020304" pitchFamily="18" charset="0"/>
                <a:hlinkClick r:id="rId3"/>
              </a:rPr>
              <a:t>ImageView</a:t>
            </a:r>
            <a:r>
              <a:rPr lang="en-US" sz="2000" b="0" i="0" dirty="0">
                <a:solidFill>
                  <a:srgbClr val="273239"/>
                </a:solidFill>
                <a:effectLst/>
                <a:latin typeface="Times New Roman" panose="02020603050405020304" pitchFamily="18" charset="0"/>
                <a:cs typeface="Times New Roman" panose="02020603050405020304" pitchFamily="18" charset="0"/>
              </a:rPr>
              <a:t>, </a:t>
            </a:r>
            <a:r>
              <a:rPr lang="en-US" sz="2000" b="0" i="0" u="sng" dirty="0" err="1">
                <a:solidFill>
                  <a:srgbClr val="273239"/>
                </a:solidFill>
                <a:effectLst/>
                <a:latin typeface="Times New Roman" panose="02020603050405020304" pitchFamily="18" charset="0"/>
                <a:cs typeface="Times New Roman" panose="02020603050405020304" pitchFamily="18" charset="0"/>
                <a:hlinkClick r:id="rId4"/>
              </a:rPr>
              <a:t>EditText</a:t>
            </a:r>
            <a:r>
              <a:rPr lang="en-US" sz="2000" b="0" i="0" dirty="0">
                <a:solidFill>
                  <a:srgbClr val="273239"/>
                </a:solidFill>
                <a:effectLst/>
                <a:latin typeface="Times New Roman" panose="02020603050405020304" pitchFamily="18" charset="0"/>
                <a:cs typeface="Times New Roman" panose="02020603050405020304" pitchFamily="18" charset="0"/>
              </a:rPr>
              <a:t>, </a:t>
            </a:r>
            <a:r>
              <a:rPr lang="en-US" sz="2000" b="0" i="0" u="sng" dirty="0" err="1">
                <a:solidFill>
                  <a:srgbClr val="273239"/>
                </a:solidFill>
                <a:effectLst/>
                <a:latin typeface="Times New Roman" panose="02020603050405020304" pitchFamily="18" charset="0"/>
                <a:cs typeface="Times New Roman" panose="02020603050405020304" pitchFamily="18" charset="0"/>
                <a:hlinkClick r:id="rId5"/>
              </a:rPr>
              <a:t>RadioButton</a:t>
            </a:r>
            <a:r>
              <a:rPr lang="en-US" sz="2000" b="0" i="0" dirty="0">
                <a:solidFill>
                  <a:srgbClr val="273239"/>
                </a:solidFill>
                <a:effectLst/>
                <a:latin typeface="Times New Roman" panose="02020603050405020304" pitchFamily="18" charset="0"/>
                <a:cs typeface="Times New Roman" panose="02020603050405020304" pitchFamily="18" charset="0"/>
              </a:rPr>
              <a:t>, etc., and is responsible for event handling and drawing. </a:t>
            </a:r>
          </a:p>
          <a:p>
            <a:pPr marR="0" lvl="0" algn="just"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View</a:t>
            </a: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objects are often called </a:t>
            </a:r>
            <a:r>
              <a:rPr kumimoji="0" lang="en-US" altLang="en-US" sz="2000" b="0" i="1"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widgets</a:t>
            </a: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and can be one of many subclasses, such as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6"/>
              </a:rPr>
              <a:t>Button</a:t>
            </a: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or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hlinkClick r:id="rId7"/>
              </a:rPr>
              <a:t>TextView</a:t>
            </a: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rgbClr val="202124"/>
              </a:solidFill>
              <a:effectLst/>
              <a:latin typeface="Google Sans Text"/>
            </a:endParaRPr>
          </a:p>
        </p:txBody>
      </p:sp>
    </p:spTree>
    <p:extLst>
      <p:ext uri="{BB962C8B-B14F-4D97-AF65-F5344CB8AC3E}">
        <p14:creationId xmlns="" xmlns:p14="http://schemas.microsoft.com/office/powerpoint/2010/main" val="2320171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D08FFFB-F525-7F30-9D31-04A24ED4641C}"/>
              </a:ext>
            </a:extLst>
          </p:cNvPr>
          <p:cNvSpPr>
            <a:spLocks noGrp="1"/>
          </p:cNvSpPr>
          <p:nvPr>
            <p:ph type="title"/>
          </p:nvPr>
        </p:nvSpPr>
        <p:spPr/>
        <p:txBody>
          <a:bodyPr/>
          <a:lstStyle/>
          <a:p>
            <a:r>
              <a:rPr kumimoji="0" lang="en-US" altLang="en-US" b="0" i="0" u="none" strike="noStrike" cap="none" normalizeH="0" baseline="0" dirty="0">
                <a:ln>
                  <a:noFill/>
                </a:ln>
                <a:solidFill>
                  <a:schemeClr val="tx1"/>
                </a:solidFill>
                <a:effectLst/>
                <a:latin typeface="Arial Unicode MS"/>
              </a:rPr>
              <a:t>View Group</a:t>
            </a:r>
            <a:endParaRPr lang="en-IN" dirty="0"/>
          </a:p>
        </p:txBody>
      </p:sp>
      <p:sp>
        <p:nvSpPr>
          <p:cNvPr id="3" name="Content Placeholder 2">
            <a:extLst>
              <a:ext uri="{FF2B5EF4-FFF2-40B4-BE49-F238E27FC236}">
                <a16:creationId xmlns="" xmlns:a16="http://schemas.microsoft.com/office/drawing/2014/main" id="{A5BB7A53-6F39-2E50-6E79-DDF33C2BB2E1}"/>
              </a:ext>
            </a:extLst>
          </p:cNvPr>
          <p:cNvSpPr>
            <a:spLocks noGrp="1"/>
          </p:cNvSpPr>
          <p:nvPr>
            <p:ph idx="1"/>
          </p:nvPr>
        </p:nvSpPr>
        <p:spPr/>
        <p:txBody>
          <a:bodyPr>
            <a:normAutofit fontScale="92500"/>
          </a:bodyPr>
          <a:lstStyle/>
          <a:p>
            <a:pPr algn="just">
              <a:lnSpc>
                <a:spcPct val="150000"/>
              </a:lnSpc>
            </a:pPr>
            <a:r>
              <a:rPr lang="en-US" b="0" i="0" dirty="0">
                <a:solidFill>
                  <a:srgbClr val="273239"/>
                </a:solidFill>
                <a:effectLst/>
                <a:latin typeface="Times New Roman" pitchFamily="18" charset="0"/>
                <a:cs typeface="Times New Roman" pitchFamily="18" charset="0"/>
              </a:rPr>
              <a:t>A </a:t>
            </a:r>
            <a:r>
              <a:rPr lang="en-US" b="1" i="0" dirty="0" err="1">
                <a:solidFill>
                  <a:srgbClr val="273239"/>
                </a:solidFill>
                <a:effectLst/>
                <a:latin typeface="Times New Roman" pitchFamily="18" charset="0"/>
                <a:cs typeface="Times New Roman" pitchFamily="18" charset="0"/>
              </a:rPr>
              <a:t>ViewGroup</a:t>
            </a:r>
            <a:r>
              <a:rPr lang="en-US" b="0" i="0" dirty="0">
                <a:solidFill>
                  <a:srgbClr val="273239"/>
                </a:solidFill>
                <a:effectLst/>
                <a:latin typeface="Times New Roman" pitchFamily="18" charset="0"/>
                <a:cs typeface="Times New Roman" pitchFamily="18" charset="0"/>
              </a:rPr>
              <a:t> act as a base class for layouts and layouts parameters that hold other Views or View Groups and to define the layout properties.</a:t>
            </a:r>
          </a:p>
          <a:p>
            <a:pPr marL="0" indent="0" algn="just">
              <a:lnSpc>
                <a:spcPct val="150000"/>
              </a:lnSpc>
              <a:buNone/>
            </a:pPr>
            <a:endParaRPr kumimoji="0" lang="en-US" altLang="en-US" b="0" i="0" u="none" strike="noStrike" cap="none" normalizeH="0" baseline="0" dirty="0">
              <a:ln>
                <a:noFill/>
              </a:ln>
              <a:solidFill>
                <a:srgbClr val="202124"/>
              </a:solidFill>
              <a:effectLst/>
              <a:latin typeface="Times New Roman" pitchFamily="18" charset="0"/>
              <a:cs typeface="Times New Roman" pitchFamily="18" charset="0"/>
            </a:endParaRPr>
          </a:p>
          <a:p>
            <a:pPr algn="just">
              <a:lnSpc>
                <a:spcPct val="150000"/>
              </a:lnSpc>
            </a:pPr>
            <a:r>
              <a:rPr kumimoji="0" lang="en-US" altLang="en-US" b="0" i="0" u="none" strike="noStrike" cap="none" normalizeH="0" baseline="0" dirty="0">
                <a:ln>
                  <a:noFill/>
                </a:ln>
                <a:solidFill>
                  <a:srgbClr val="202124"/>
                </a:solidFill>
                <a:effectLst/>
                <a:latin typeface="Times New Roman" pitchFamily="18" charset="0"/>
                <a:cs typeface="Times New Roman" pitchFamily="18" charset="0"/>
              </a:rPr>
              <a:t>The </a:t>
            </a:r>
            <a:r>
              <a:rPr kumimoji="0" lang="en-US" altLang="en-US" b="0" i="0" u="none" strike="noStrike" cap="none" normalizeH="0" baseline="0" dirty="0" err="1">
                <a:ln>
                  <a:noFill/>
                </a:ln>
                <a:solidFill>
                  <a:schemeClr val="tx1"/>
                </a:solidFill>
                <a:effectLst/>
                <a:latin typeface="Times New Roman" pitchFamily="18" charset="0"/>
                <a:cs typeface="Times New Roman" pitchFamily="18" charset="0"/>
              </a:rPr>
              <a:t>ViewGroup</a:t>
            </a:r>
            <a:r>
              <a:rPr kumimoji="0" lang="en-US" altLang="en-US" b="0" i="0" u="none" strike="noStrike" cap="none" normalizeH="0" baseline="0" dirty="0">
                <a:ln>
                  <a:noFill/>
                </a:ln>
                <a:solidFill>
                  <a:srgbClr val="202124"/>
                </a:solidFill>
                <a:effectLst/>
                <a:latin typeface="Times New Roman" pitchFamily="18" charset="0"/>
                <a:cs typeface="Times New Roman" pitchFamily="18" charset="0"/>
              </a:rPr>
              <a:t> objects are usually called </a:t>
            </a:r>
            <a:r>
              <a:rPr kumimoji="0" lang="en-US" altLang="en-US" b="1" i="1" u="none" strike="noStrike" cap="none" normalizeH="0" baseline="0" dirty="0">
                <a:ln>
                  <a:noFill/>
                </a:ln>
                <a:solidFill>
                  <a:srgbClr val="202124"/>
                </a:solidFill>
                <a:effectLst/>
                <a:latin typeface="Times New Roman" pitchFamily="18" charset="0"/>
                <a:cs typeface="Times New Roman" pitchFamily="18" charset="0"/>
              </a:rPr>
              <a:t>layouts</a:t>
            </a:r>
            <a:r>
              <a:rPr kumimoji="0" lang="en-US" altLang="en-US" b="1" i="0" u="none" strike="noStrike" cap="none" normalizeH="0" baseline="0" dirty="0">
                <a:ln>
                  <a:noFill/>
                </a:ln>
                <a:solidFill>
                  <a:srgbClr val="202124"/>
                </a:solidFill>
                <a:effectLst/>
                <a:latin typeface="Times New Roman" pitchFamily="18" charset="0"/>
                <a:cs typeface="Times New Roman" pitchFamily="18" charset="0"/>
              </a:rPr>
              <a:t> </a:t>
            </a:r>
            <a:r>
              <a:rPr kumimoji="0" lang="en-US" altLang="en-US" b="0" i="0" u="none" strike="noStrike" cap="none" normalizeH="0" baseline="0" dirty="0">
                <a:ln>
                  <a:noFill/>
                </a:ln>
                <a:solidFill>
                  <a:srgbClr val="202124"/>
                </a:solidFill>
                <a:effectLst/>
                <a:latin typeface="Times New Roman" pitchFamily="18" charset="0"/>
                <a:cs typeface="Times New Roman" pitchFamily="18" charset="0"/>
              </a:rPr>
              <a:t>and can be one of many types that provide a different layout structure, such as </a:t>
            </a:r>
            <a:r>
              <a:rPr kumimoji="0" lang="en-US" altLang="en-US" b="0" i="0" u="none" strike="noStrike" cap="none" normalizeH="0" baseline="0" dirty="0" err="1">
                <a:ln>
                  <a:noFill/>
                </a:ln>
                <a:solidFill>
                  <a:schemeClr val="tx1"/>
                </a:solidFill>
                <a:effectLst/>
                <a:latin typeface="Times New Roman" pitchFamily="18" charset="0"/>
                <a:cs typeface="Times New Roman" pitchFamily="18" charset="0"/>
                <a:hlinkClick r:id="rId2"/>
              </a:rPr>
              <a:t>LinearLayout</a:t>
            </a:r>
            <a:r>
              <a:rPr kumimoji="0" lang="en-US" altLang="en-US" b="0" i="0" u="none" strike="noStrike" cap="none" normalizeH="0" baseline="0" dirty="0">
                <a:ln>
                  <a:noFill/>
                </a:ln>
                <a:solidFill>
                  <a:srgbClr val="202124"/>
                </a:solidFill>
                <a:effectLst/>
                <a:latin typeface="Times New Roman" pitchFamily="18" charset="0"/>
                <a:cs typeface="Times New Roman" pitchFamily="18" charset="0"/>
              </a:rPr>
              <a:t> or </a:t>
            </a:r>
            <a:r>
              <a:rPr kumimoji="0" lang="en-US" altLang="en-US" b="0" i="0" u="none" strike="noStrike" cap="none" normalizeH="0" baseline="0" dirty="0" err="1">
                <a:ln>
                  <a:noFill/>
                </a:ln>
                <a:solidFill>
                  <a:schemeClr val="tx1"/>
                </a:solidFill>
                <a:effectLst/>
                <a:latin typeface="Times New Roman" pitchFamily="18" charset="0"/>
                <a:cs typeface="Times New Roman" pitchFamily="18" charset="0"/>
                <a:hlinkClick r:id="rId3"/>
              </a:rPr>
              <a:t>ConstraintLayout</a:t>
            </a:r>
            <a:r>
              <a:rPr kumimoji="0" lang="en-US" altLang="en-US" b="0" i="0" u="none" strike="noStrike" cap="none" normalizeH="0" baseline="0" dirty="0">
                <a:ln>
                  <a:noFill/>
                </a:ln>
                <a:solidFill>
                  <a:srgbClr val="202124"/>
                </a:solidFill>
                <a:effectLst/>
                <a:latin typeface="Times New Roman" pitchFamily="18" charset="0"/>
                <a:cs typeface="Times New Roman" pitchFamily="18" charset="0"/>
              </a:rPr>
              <a:t>.</a:t>
            </a:r>
            <a:r>
              <a:rPr kumimoji="0" lang="en-US" altLang="en-US" b="0" i="0" u="none" strike="noStrike" cap="none" normalizeH="0" baseline="0" dirty="0">
                <a:ln>
                  <a:noFill/>
                </a:ln>
                <a:solidFill>
                  <a:schemeClr val="tx1"/>
                </a:solidFill>
                <a:effectLst/>
                <a:latin typeface="Times New Roman" pitchFamily="18" charset="0"/>
                <a:cs typeface="Times New Roman" pitchFamily="18" charset="0"/>
              </a:rPr>
              <a:t> </a:t>
            </a:r>
          </a:p>
          <a:p>
            <a:pPr marL="0" indent="0">
              <a:buNone/>
            </a:pPr>
            <a:endParaRPr lang="en-IN" dirty="0"/>
          </a:p>
        </p:txBody>
      </p:sp>
    </p:spTree>
    <p:extLst>
      <p:ext uri="{BB962C8B-B14F-4D97-AF65-F5344CB8AC3E}">
        <p14:creationId xmlns="" xmlns:p14="http://schemas.microsoft.com/office/powerpoint/2010/main" val="25796681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2D249B-2533-059B-773C-7065384112FE}"/>
              </a:ext>
            </a:extLst>
          </p:cNvPr>
          <p:cNvSpPr>
            <a:spLocks noGrp="1"/>
          </p:cNvSpPr>
          <p:nvPr>
            <p:ph type="title"/>
          </p:nvPr>
        </p:nvSpPr>
        <p:spPr/>
        <p:txBody>
          <a:bodyPr>
            <a:normAutofit fontScale="90000"/>
          </a:bodyPr>
          <a:lstStyle/>
          <a:p>
            <a:r>
              <a:rPr lang="en-US" b="0" i="0" dirty="0">
                <a:solidFill>
                  <a:srgbClr val="273239"/>
                </a:solidFill>
                <a:effectLst/>
                <a:latin typeface="Nunito" pitchFamily="2" charset="0"/>
              </a:rPr>
              <a:t>The Android framework will allow us to use UI elements or widgets in two ways:  </a:t>
            </a:r>
            <a:br>
              <a:rPr lang="en-US" b="0" i="0" dirty="0">
                <a:solidFill>
                  <a:srgbClr val="273239"/>
                </a:solidFill>
                <a:effectLst/>
                <a:latin typeface="Nunito" pitchFamily="2" charset="0"/>
              </a:rPr>
            </a:br>
            <a:endParaRPr lang="en-IN" dirty="0"/>
          </a:p>
        </p:txBody>
      </p:sp>
      <p:sp>
        <p:nvSpPr>
          <p:cNvPr id="3" name="Content Placeholder 2">
            <a:extLst>
              <a:ext uri="{FF2B5EF4-FFF2-40B4-BE49-F238E27FC236}">
                <a16:creationId xmlns="" xmlns:a16="http://schemas.microsoft.com/office/drawing/2014/main" id="{8F329B65-C4D8-83A5-FE2A-A0F4874595C4}"/>
              </a:ext>
            </a:extLst>
          </p:cNvPr>
          <p:cNvSpPr>
            <a:spLocks noGrp="1"/>
          </p:cNvSpPr>
          <p:nvPr>
            <p:ph idx="1"/>
          </p:nvPr>
        </p:nvSpPr>
        <p:spPr/>
        <p:txBody>
          <a:bodyPr/>
          <a:lstStyle/>
          <a:p>
            <a:pPr algn="l" fontAlgn="base">
              <a:buFont typeface="Arial" panose="020B0604020202020204" pitchFamily="34" charset="0"/>
              <a:buChar char="•"/>
            </a:pPr>
            <a:r>
              <a:rPr lang="en-US" b="0" i="0" dirty="0">
                <a:solidFill>
                  <a:srgbClr val="273239"/>
                </a:solidFill>
                <a:effectLst/>
                <a:latin typeface="Nunito" pitchFamily="2" charset="0"/>
              </a:rPr>
              <a:t>Use UI elements in the XML file</a:t>
            </a:r>
          </a:p>
          <a:p>
            <a:pPr algn="l" fontAlgn="base">
              <a:buFont typeface="Arial" panose="020B0604020202020204" pitchFamily="34" charset="0"/>
              <a:buChar char="•"/>
            </a:pPr>
            <a:r>
              <a:rPr lang="en-US" b="0" i="0" dirty="0">
                <a:solidFill>
                  <a:srgbClr val="273239"/>
                </a:solidFill>
                <a:effectLst/>
                <a:latin typeface="Nunito" pitchFamily="2" charset="0"/>
              </a:rPr>
              <a:t>Create elements in the java file dynamically</a:t>
            </a:r>
          </a:p>
          <a:p>
            <a:endParaRPr lang="en-IN" dirty="0"/>
          </a:p>
        </p:txBody>
      </p:sp>
      <p:sp>
        <p:nvSpPr>
          <p:cNvPr id="4" name="Rectangle 1">
            <a:extLst>
              <a:ext uri="{FF2B5EF4-FFF2-40B4-BE49-F238E27FC236}">
                <a16:creationId xmlns="" xmlns:a16="http://schemas.microsoft.com/office/drawing/2014/main" id="{E2ADCCEF-31A5-0D26-00DD-C6A1B1637A3B}"/>
              </a:ext>
            </a:extLst>
          </p:cNvPr>
          <p:cNvSpPr>
            <a:spLocks noChangeArrowheads="1"/>
          </p:cNvSpPr>
          <p:nvPr/>
        </p:nvSpPr>
        <p:spPr bwMode="auto">
          <a:xfrm>
            <a:off x="912033" y="3015924"/>
            <a:ext cx="9569652" cy="249299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202124"/>
                </a:solidFill>
                <a:effectLst/>
                <a:latin typeface="Times New Roman" pitchFamily="18" charset="0"/>
                <a:cs typeface="Times New Roman" pitchFamily="18" charset="0"/>
              </a:rPr>
              <a:t>Declare UI elements in XML.</a:t>
            </a:r>
            <a:r>
              <a:rPr kumimoji="0" lang="en-US" altLang="en-US" b="0" i="0" u="none" strike="noStrike" cap="none" normalizeH="0" baseline="0" dirty="0">
                <a:ln>
                  <a:noFill/>
                </a:ln>
                <a:solidFill>
                  <a:srgbClr val="202124"/>
                </a:solidFill>
                <a:effectLst/>
                <a:latin typeface="Times New Roman" pitchFamily="18" charset="0"/>
                <a:cs typeface="Times New Roman" pitchFamily="18" charset="0"/>
              </a:rPr>
              <a:t> Android provides a straightforward XML vocabulary that corresponds to the View classes and subclasses,</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202124"/>
                </a:solidFill>
                <a:effectLst/>
                <a:latin typeface="Times New Roman" pitchFamily="18" charset="0"/>
                <a:cs typeface="Times New Roman" pitchFamily="18" charset="0"/>
              </a:rPr>
              <a:t> such as those for widgets and layouts. You can also use Android Studio's </a:t>
            </a:r>
            <a:r>
              <a:rPr kumimoji="0" lang="en-US" altLang="en-US" b="0" i="0" u="none" strike="noStrike" cap="none" normalizeH="0" baseline="0" dirty="0">
                <a:ln>
                  <a:noFill/>
                </a:ln>
                <a:solidFill>
                  <a:srgbClr val="202124"/>
                </a:solidFill>
                <a:effectLst/>
                <a:latin typeface="Times New Roman" pitchFamily="18" charset="0"/>
                <a:cs typeface="Times New Roman" pitchFamily="18" charset="0"/>
                <a:hlinkClick r:id="rId2"/>
              </a:rPr>
              <a:t>Layout Editor</a:t>
            </a:r>
            <a:r>
              <a:rPr kumimoji="0" lang="en-US" altLang="en-US" b="0" i="0" u="none" strike="noStrike" cap="none" normalizeH="0" baseline="0" dirty="0">
                <a:ln>
                  <a:noFill/>
                </a:ln>
                <a:solidFill>
                  <a:srgbClr val="202124"/>
                </a:solidFill>
                <a:effectLst/>
                <a:latin typeface="Times New Roman" pitchFamily="18" charset="0"/>
                <a:cs typeface="Times New Roman" pitchFamily="18" charset="0"/>
              </a:rPr>
              <a:t> to build your XML layout using a drag-and-drop interface.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rgbClr val="202124"/>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202124"/>
                </a:solidFill>
                <a:effectLst/>
                <a:latin typeface="Times New Roman" pitchFamily="18" charset="0"/>
                <a:cs typeface="Times New Roman" pitchFamily="18" charset="0"/>
              </a:rPr>
              <a:t>Instantiate layout elements at runtime.</a:t>
            </a:r>
            <a:r>
              <a:rPr kumimoji="0" lang="en-US" altLang="en-US" b="0" i="0" u="none" strike="noStrike" cap="none" normalizeH="0" baseline="0" dirty="0">
                <a:ln>
                  <a:noFill/>
                </a:ln>
                <a:solidFill>
                  <a:srgbClr val="202124"/>
                </a:solidFill>
                <a:effectLst/>
                <a:latin typeface="Times New Roman" pitchFamily="18" charset="0"/>
                <a:cs typeface="Times New Roman" pitchFamily="18" charset="0"/>
              </a:rPr>
              <a:t> Your app can create View and </a:t>
            </a:r>
            <a:r>
              <a:rPr kumimoji="0" lang="en-US" altLang="en-US" b="0" i="0" u="none" strike="noStrike" cap="none" normalizeH="0" baseline="0" dirty="0" err="1">
                <a:ln>
                  <a:noFill/>
                </a:ln>
                <a:solidFill>
                  <a:srgbClr val="202124"/>
                </a:solidFill>
                <a:effectLst/>
                <a:latin typeface="Times New Roman" pitchFamily="18" charset="0"/>
                <a:cs typeface="Times New Roman" pitchFamily="18" charset="0"/>
              </a:rPr>
              <a:t>ViewGroup</a:t>
            </a:r>
            <a:r>
              <a:rPr kumimoji="0" lang="en-US" altLang="en-US" b="0" i="0" u="none" strike="noStrike" cap="none" normalizeH="0" baseline="0" dirty="0">
                <a:ln>
                  <a:noFill/>
                </a:ln>
                <a:solidFill>
                  <a:srgbClr val="202124"/>
                </a:solidFill>
                <a:effectLst/>
                <a:latin typeface="Times New Roman" pitchFamily="18" charset="0"/>
                <a:cs typeface="Times New Roman" pitchFamily="18" charset="0"/>
              </a:rPr>
              <a:t> objects and manipulate their properties programmatically.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13988840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476378-2CE7-13C6-F22D-E68CE512340B}"/>
              </a:ext>
            </a:extLst>
          </p:cNvPr>
          <p:cNvSpPr>
            <a:spLocks noGrp="1"/>
          </p:cNvSpPr>
          <p:nvPr>
            <p:ph type="title"/>
          </p:nvPr>
        </p:nvSpPr>
        <p:spPr/>
        <p:txBody>
          <a:bodyPr/>
          <a:lstStyle/>
          <a:p>
            <a:r>
              <a:rPr lang="en-US" dirty="0"/>
              <a:t>Layout </a:t>
            </a:r>
            <a:endParaRPr lang="en-IN" dirty="0"/>
          </a:p>
        </p:txBody>
      </p:sp>
      <p:sp>
        <p:nvSpPr>
          <p:cNvPr id="4" name="Rectangle 1">
            <a:extLst>
              <a:ext uri="{FF2B5EF4-FFF2-40B4-BE49-F238E27FC236}">
                <a16:creationId xmlns="" xmlns:a16="http://schemas.microsoft.com/office/drawing/2014/main" id="{A5674AEB-3092-0660-33B5-188399B15058}"/>
              </a:ext>
            </a:extLst>
          </p:cNvPr>
          <p:cNvSpPr>
            <a:spLocks noGrp="1" noChangeArrowheads="1"/>
          </p:cNvSpPr>
          <p:nvPr>
            <p:ph idx="1"/>
          </p:nvPr>
        </p:nvSpPr>
        <p:spPr bwMode="auto">
          <a:xfrm>
            <a:off x="373711" y="1473850"/>
            <a:ext cx="10917141" cy="36269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250000"/>
              </a:lnSpc>
              <a:spcBef>
                <a:spcPct val="0"/>
              </a:spcBef>
              <a:spcAft>
                <a:spcPct val="0"/>
              </a:spcAft>
              <a:buClrTx/>
              <a:buSzTx/>
              <a:buFontTx/>
              <a:buNone/>
              <a:tabLst/>
            </a:pPr>
            <a:r>
              <a:rPr kumimoji="0" lang="en-US" altLang="en-US" sz="24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Each layout file must contain exactly one root element, which must be a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View</a:t>
            </a:r>
            <a:r>
              <a:rPr kumimoji="0" lang="en-US" altLang="en-US" sz="24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or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ViewGroup</a:t>
            </a:r>
            <a:r>
              <a:rPr kumimoji="0" lang="en-US" altLang="en-US" sz="24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object. </a:t>
            </a:r>
          </a:p>
          <a:p>
            <a:pPr marL="0" marR="0" lvl="0" indent="0" algn="just" defTabSz="914400" rtl="0" eaLnBrk="0" fontAlgn="base" latinLnBrk="0" hangingPunct="0">
              <a:lnSpc>
                <a:spcPct val="250000"/>
              </a:lnSpc>
              <a:spcBef>
                <a:spcPct val="0"/>
              </a:spcBef>
              <a:spcAft>
                <a:spcPct val="0"/>
              </a:spcAft>
              <a:buClrTx/>
              <a:buSzTx/>
              <a:buFontTx/>
              <a:buNone/>
              <a:tabLst/>
            </a:pPr>
            <a:r>
              <a:rPr kumimoji="0" lang="en-US" altLang="en-US" sz="24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After you define the root element, you can add additional layout objects or widgets as child elements to gradually build a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View</a:t>
            </a:r>
            <a:r>
              <a:rPr kumimoji="0" lang="en-US" altLang="en-US" sz="24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hierarchy that defines your layout.</a:t>
            </a:r>
            <a:r>
              <a:rPr kumimoji="0" lang="en-US" altLang="en-US" sz="5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3931515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 xmlns:a16="http://schemas.microsoft.com/office/drawing/2014/main" id="{E292FFD1-53FA-DF27-BA75-824EDF08DE17}"/>
              </a:ext>
            </a:extLst>
          </p:cNvPr>
          <p:cNvSpPr>
            <a:spLocks noGrp="1" noChangeArrowheads="1"/>
          </p:cNvSpPr>
          <p:nvPr>
            <p:ph type="title"/>
          </p:nvPr>
        </p:nvSpPr>
        <p:spPr bwMode="auto">
          <a:xfrm>
            <a:off x="838200" y="597019"/>
            <a:ext cx="4707314" cy="861774"/>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202124"/>
                </a:solidFill>
                <a:effectLst/>
                <a:latin typeface="Arial" panose="020B0604020202020204" pitchFamily="34" charset="0"/>
              </a:rPr>
              <a:t>Load the XML resource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 xmlns:a16="http://schemas.microsoft.com/office/drawing/2014/main" id="{7124506F-4EBC-66C5-6BB9-EB3D6228BBD0}"/>
              </a:ext>
            </a:extLst>
          </p:cNvPr>
          <p:cNvSpPr>
            <a:spLocks noGrp="1" noChangeArrowheads="1"/>
          </p:cNvSpPr>
          <p:nvPr>
            <p:ph idx="1"/>
          </p:nvPr>
        </p:nvSpPr>
        <p:spPr bwMode="auto">
          <a:xfrm>
            <a:off x="556591" y="1248969"/>
            <a:ext cx="11306755" cy="54476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When you compile your app, each XML layout file is compiled into a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View</a:t>
            </a: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resource. Load the layout resource in your app's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hlinkClick r:id="rId2"/>
              </a:rPr>
              <a:t>Activity.onCreate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a:t>
            </a: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callback implementation. Do so by calling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hlinkClick r:id="rId2"/>
              </a:rPr>
              <a:t>setContentView</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a:t>
            </a:r>
            <a:r>
              <a:rPr kumimoji="0" lang="en-US" altLang="en-US" sz="2000" b="0"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 passing it the reference to your layout resource in the form: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R.layout.</a:t>
            </a:r>
            <a:r>
              <a:rPr kumimoji="0" lang="en-US" altLang="en-US" sz="2000" b="1"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layout_file_name</a:t>
            </a:r>
            <a:r>
              <a:rPr kumimoji="0" lang="en-US" altLang="en-US" sz="2000" b="1" i="0" u="none" strike="noStrike" cap="none" normalizeH="0" baseline="0" dirty="0">
                <a:ln>
                  <a:noFill/>
                </a:ln>
                <a:solidFill>
                  <a:srgbClr val="202124"/>
                </a:solidFill>
                <a:effectLst/>
                <a:latin typeface="Times New Roman" panose="02020603050405020304" pitchFamily="18" charset="0"/>
                <a:cs typeface="Times New Roman" panose="02020603050405020304" pitchFamily="18" charset="0"/>
              </a:rPr>
              <a:t>.</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50000"/>
              </a:lnSpc>
              <a:spcBef>
                <a:spcPct val="0"/>
              </a:spcBef>
              <a:spcAft>
                <a:spcPct val="0"/>
              </a:spcAft>
              <a:buClrTx/>
              <a:buSzTx/>
              <a:buFontTx/>
              <a:buNone/>
              <a:tabLst/>
            </a:pP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a:lnSpc>
                <a:spcPct val="150000"/>
              </a:lnSpc>
              <a:buNone/>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public void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onCreate</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(Bundle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savedInstanceState</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indent="0" algn="just">
              <a:lnSpc>
                <a:spcPct val="150000"/>
              </a:lnSpc>
              <a:buNone/>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p>
          <a:p>
            <a:pPr marL="0" indent="0" algn="just">
              <a:lnSpc>
                <a:spcPct val="150000"/>
              </a:lnSpc>
              <a:buNone/>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super.onCreate</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savedInstanceState</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indent="0" algn="just">
              <a:lnSpc>
                <a:spcPct val="150000"/>
              </a:lnSpc>
              <a:buNone/>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setContentView</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R.layout.main_layout</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indent="0" algn="just">
              <a:lnSpc>
                <a:spcPct val="150000"/>
              </a:lnSpc>
              <a:buNone/>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5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26498182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42952F9-67F5-1F80-613C-35A1BF7EE372}"/>
              </a:ext>
            </a:extLst>
          </p:cNvPr>
          <p:cNvSpPr>
            <a:spLocks noGrp="1"/>
          </p:cNvSpPr>
          <p:nvPr>
            <p:ph type="title"/>
          </p:nvPr>
        </p:nvSpPr>
        <p:spPr/>
        <p:txBody>
          <a:bodyPr/>
          <a:lstStyle/>
          <a:p>
            <a:r>
              <a:rPr lang="en-IN" b="1" i="0" dirty="0">
                <a:solidFill>
                  <a:srgbClr val="273239"/>
                </a:solidFill>
                <a:effectLst/>
                <a:latin typeface="Nunito" pitchFamily="2" charset="0"/>
              </a:rPr>
              <a:t>Types of Android Layout</a:t>
            </a:r>
            <a:br>
              <a:rPr lang="en-IN" b="1" i="0" dirty="0">
                <a:solidFill>
                  <a:srgbClr val="273239"/>
                </a:solidFill>
                <a:effectLst/>
                <a:latin typeface="Nunito" pitchFamily="2" charset="0"/>
              </a:rPr>
            </a:br>
            <a:endParaRPr lang="en-IN" dirty="0"/>
          </a:p>
        </p:txBody>
      </p:sp>
      <p:sp>
        <p:nvSpPr>
          <p:cNvPr id="3" name="Content Placeholder 2">
            <a:extLst>
              <a:ext uri="{FF2B5EF4-FFF2-40B4-BE49-F238E27FC236}">
                <a16:creationId xmlns="" xmlns:a16="http://schemas.microsoft.com/office/drawing/2014/main" id="{C6232085-E231-B1C7-C5F4-AA9F3C2B1FF5}"/>
              </a:ext>
            </a:extLst>
          </p:cNvPr>
          <p:cNvSpPr>
            <a:spLocks noGrp="1"/>
          </p:cNvSpPr>
          <p:nvPr>
            <p:ph idx="1"/>
          </p:nvPr>
        </p:nvSpPr>
        <p:spPr>
          <a:xfrm>
            <a:off x="628153" y="1256306"/>
            <a:ext cx="10725647" cy="4920657"/>
          </a:xfrm>
        </p:spPr>
        <p:txBody>
          <a:bodyPr>
            <a:normAutofit fontScale="92500"/>
          </a:bodyPr>
          <a:lstStyle/>
          <a:p>
            <a:pPr algn="just" fontAlgn="base">
              <a:lnSpc>
                <a:spcPct val="200000"/>
              </a:lnSpc>
              <a:buFont typeface="Arial" panose="020B0604020202020204" pitchFamily="34" charset="0"/>
              <a:buChar char="•"/>
            </a:pPr>
            <a:r>
              <a:rPr lang="en-US" sz="1800" b="1" i="0" dirty="0">
                <a:solidFill>
                  <a:srgbClr val="273239"/>
                </a:solidFill>
                <a:effectLst/>
                <a:latin typeface="Times New Roman" pitchFamily="18" charset="0"/>
                <a:cs typeface="Times New Roman" pitchFamily="18" charset="0"/>
              </a:rPr>
              <a:t>Android Linear Layout: </a:t>
            </a:r>
            <a:r>
              <a:rPr lang="en-US" sz="1800" dirty="0" err="1">
                <a:latin typeface="Times New Roman" pitchFamily="18" charset="0"/>
                <a:cs typeface="Times New Roman" pitchFamily="18" charset="0"/>
              </a:rPr>
              <a:t>LinearLayout</a:t>
            </a:r>
            <a:r>
              <a:rPr lang="en-US" sz="1800" dirty="0">
                <a:latin typeface="Times New Roman" pitchFamily="18" charset="0"/>
                <a:cs typeface="Times New Roman" pitchFamily="18" charset="0"/>
              </a:rPr>
              <a:t> is a </a:t>
            </a:r>
            <a:r>
              <a:rPr lang="en-US" sz="1800" dirty="0" err="1">
                <a:latin typeface="Times New Roman" pitchFamily="18" charset="0"/>
                <a:cs typeface="Times New Roman" pitchFamily="18" charset="0"/>
              </a:rPr>
              <a:t>ViewGroup</a:t>
            </a:r>
            <a:r>
              <a:rPr lang="en-US" sz="1800" dirty="0">
                <a:latin typeface="Times New Roman" pitchFamily="18" charset="0"/>
                <a:cs typeface="Times New Roman" pitchFamily="18" charset="0"/>
              </a:rPr>
              <a:t> subclass, used to provide child View elements one by one either in a particular direction either horizontally or vertically based on the orientation property.</a:t>
            </a:r>
          </a:p>
          <a:p>
            <a:pPr algn="just">
              <a:lnSpc>
                <a:spcPct val="200000"/>
              </a:lnSpc>
              <a:buFont typeface="Arial" panose="020B0604020202020204" pitchFamily="34" charset="0"/>
              <a:buChar char="•"/>
            </a:pPr>
            <a:r>
              <a:rPr lang="en-US" sz="1800" dirty="0">
                <a:latin typeface="Times New Roman" pitchFamily="18" charset="0"/>
                <a:cs typeface="Times New Roman" pitchFamily="18" charset="0"/>
              </a:rPr>
              <a:t>Arranges its children in a </a:t>
            </a:r>
            <a:r>
              <a:rPr lang="en-US" sz="1800" b="1" dirty="0">
                <a:latin typeface="Times New Roman" pitchFamily="18" charset="0"/>
                <a:cs typeface="Times New Roman" pitchFamily="18" charset="0"/>
              </a:rPr>
              <a:t>single direction</a:t>
            </a:r>
            <a:r>
              <a:rPr lang="en-US" sz="1800" dirty="0">
                <a:latin typeface="Times New Roman" pitchFamily="18" charset="0"/>
                <a:cs typeface="Times New Roman" pitchFamily="18" charset="0"/>
              </a:rPr>
              <a:t>, either </a:t>
            </a:r>
            <a:r>
              <a:rPr lang="en-US" sz="1800" b="1" dirty="0">
                <a:latin typeface="Times New Roman" pitchFamily="18" charset="0"/>
                <a:cs typeface="Times New Roman" pitchFamily="18" charset="0"/>
              </a:rPr>
              <a:t>horizontally</a:t>
            </a:r>
            <a:r>
              <a:rPr lang="en-US" sz="1800" dirty="0">
                <a:latin typeface="Times New Roman" pitchFamily="18" charset="0"/>
                <a:cs typeface="Times New Roman" pitchFamily="18" charset="0"/>
              </a:rPr>
              <a:t> or </a:t>
            </a:r>
            <a:r>
              <a:rPr lang="en-US" sz="1800" b="1" dirty="0">
                <a:latin typeface="Times New Roman" pitchFamily="18" charset="0"/>
                <a:cs typeface="Times New Roman" pitchFamily="18" charset="0"/>
              </a:rPr>
              <a:t>vertically</a:t>
            </a:r>
            <a:r>
              <a:rPr lang="en-US" sz="1800" dirty="0">
                <a:latin typeface="Times New Roman" pitchFamily="18" charset="0"/>
                <a:cs typeface="Times New Roman" pitchFamily="18" charset="0"/>
              </a:rPr>
              <a:t>.</a:t>
            </a:r>
          </a:p>
          <a:p>
            <a:pPr algn="just">
              <a:lnSpc>
                <a:spcPct val="200000"/>
              </a:lnSpc>
              <a:buFont typeface="Arial" panose="020B0604020202020204" pitchFamily="34" charset="0"/>
              <a:buChar char="•"/>
            </a:pPr>
            <a:r>
              <a:rPr lang="en-US" sz="1800" dirty="0">
                <a:latin typeface="Times New Roman" pitchFamily="18" charset="0"/>
                <a:cs typeface="Times New Roman" pitchFamily="18" charset="0"/>
              </a:rPr>
              <a:t>Children are placed one after the other, and they can occupy either the width or height of the layout depending on the orientation.</a:t>
            </a:r>
          </a:p>
          <a:p>
            <a:pPr algn="just">
              <a:lnSpc>
                <a:spcPct val="200000"/>
              </a:lnSpc>
              <a:buFont typeface="Arial" panose="020B0604020202020204" pitchFamily="34" charset="0"/>
              <a:buChar char="•"/>
            </a:pPr>
            <a:r>
              <a:rPr lang="en-US" sz="1800" dirty="0">
                <a:latin typeface="Times New Roman" pitchFamily="18" charset="0"/>
                <a:cs typeface="Times New Roman" pitchFamily="18" charset="0"/>
              </a:rPr>
              <a:t>It supports </a:t>
            </a:r>
            <a:r>
              <a:rPr lang="en-US" sz="1800" b="1" dirty="0">
                <a:latin typeface="Times New Roman" pitchFamily="18" charset="0"/>
                <a:cs typeface="Times New Roman" pitchFamily="18" charset="0"/>
              </a:rPr>
              <a:t>weight</a:t>
            </a:r>
            <a:r>
              <a:rPr lang="en-US" sz="1800" dirty="0">
                <a:latin typeface="Times New Roman" pitchFamily="18" charset="0"/>
                <a:cs typeface="Times New Roman" pitchFamily="18" charset="0"/>
              </a:rPr>
              <a:t> attribute, which helps distribute the remaining space among children based on their assigned weight.</a:t>
            </a:r>
          </a:p>
          <a:p>
            <a:pPr algn="just">
              <a:lnSpc>
                <a:spcPct val="200000"/>
              </a:lnSpc>
              <a:buFont typeface="Arial" panose="020B0604020202020204" pitchFamily="34" charset="0"/>
              <a:buChar char="•"/>
            </a:pPr>
            <a:r>
              <a:rPr lang="en-US" sz="1800" dirty="0">
                <a:latin typeface="Times New Roman" pitchFamily="18" charset="0"/>
                <a:cs typeface="Times New Roman" pitchFamily="18" charset="0"/>
              </a:rPr>
              <a:t>Commonly used when a straightforward, ordered arrangement of views is needed.</a:t>
            </a:r>
          </a:p>
          <a:p>
            <a:pPr algn="just">
              <a:lnSpc>
                <a:spcPct val="200000"/>
              </a:lnSpc>
            </a:pPr>
            <a:r>
              <a:rPr lang="en-US" sz="1800" dirty="0">
                <a:latin typeface="Times New Roman" pitchFamily="18" charset="0"/>
                <a:cs typeface="Times New Roman" pitchFamily="18" charset="0"/>
              </a:rPr>
              <a:t>Simple forms, buttons aligned in a row or column.</a:t>
            </a:r>
          </a:p>
          <a:p>
            <a:pPr algn="just" fontAlgn="base">
              <a:buFont typeface="Arial" panose="020B0604020202020204" pitchFamily="34" charset="0"/>
              <a:buChar char="•"/>
            </a:pPr>
            <a:endParaRPr lang="en-US" sz="1800" b="0" i="0" dirty="0">
              <a:solidFill>
                <a:srgbClr val="273239"/>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endParaRPr lang="en-US" sz="1800" b="0" i="0" dirty="0">
              <a:solidFill>
                <a:srgbClr val="273239"/>
              </a:solidFill>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 xmlns:p14="http://schemas.microsoft.com/office/powerpoint/2010/main" val="160024256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7458374-6044-9A4B-CD67-B53D847C546C}"/>
              </a:ext>
            </a:extLst>
          </p:cNvPr>
          <p:cNvSpPr>
            <a:spLocks noGrp="1"/>
          </p:cNvSpPr>
          <p:nvPr>
            <p:ph type="title" idx="4294967295"/>
          </p:nvPr>
        </p:nvSpPr>
        <p:spPr>
          <a:xfrm>
            <a:off x="335090" y="365125"/>
            <a:ext cx="10180509" cy="617429"/>
          </a:xfrm>
        </p:spPr>
        <p:txBody>
          <a:bodyPr>
            <a:normAutofit fontScale="90000"/>
          </a:bodyPr>
          <a:lstStyle/>
          <a:p>
            <a:r>
              <a:rPr lang="en-IN" b="1" i="0" dirty="0">
                <a:solidFill>
                  <a:srgbClr val="202124"/>
                </a:solidFill>
                <a:effectLst/>
              </a:rPr>
              <a:t/>
            </a:r>
            <a:br>
              <a:rPr lang="en-IN" b="1" i="0" dirty="0">
                <a:solidFill>
                  <a:srgbClr val="202124"/>
                </a:solidFill>
                <a:effectLst/>
              </a:rPr>
            </a:br>
            <a:r>
              <a:rPr lang="en-IN" b="1" i="0" dirty="0">
                <a:solidFill>
                  <a:srgbClr val="202124"/>
                </a:solidFill>
                <a:effectLst/>
              </a:rPr>
              <a:t>Write the XML</a:t>
            </a:r>
            <a:br>
              <a:rPr lang="en-IN" b="1" i="0" dirty="0">
                <a:solidFill>
                  <a:srgbClr val="202124"/>
                </a:solidFill>
                <a:effectLst/>
              </a:rPr>
            </a:br>
            <a:endParaRPr lang="en-IN" dirty="0"/>
          </a:p>
        </p:txBody>
      </p:sp>
      <p:sp>
        <p:nvSpPr>
          <p:cNvPr id="3" name="Rectangle 2">
            <a:extLst>
              <a:ext uri="{FF2B5EF4-FFF2-40B4-BE49-F238E27FC236}">
                <a16:creationId xmlns="" xmlns:a16="http://schemas.microsoft.com/office/drawing/2014/main" id="{9700AA1F-7702-E892-67B2-C99B74569B54}"/>
              </a:ext>
            </a:extLst>
          </p:cNvPr>
          <p:cNvSpPr>
            <a:spLocks noChangeArrowheads="1"/>
          </p:cNvSpPr>
          <p:nvPr/>
        </p:nvSpPr>
        <p:spPr bwMode="auto">
          <a:xfrm>
            <a:off x="1110816" y="982554"/>
            <a:ext cx="8911140" cy="523220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onsolas" panose="020B0609020204030204" pitchFamily="49" charset="0"/>
              </a:rPr>
              <a:t>&lt;?</a:t>
            </a:r>
            <a:r>
              <a:rPr kumimoji="0" lang="en-US" altLang="en-US" sz="1100" b="1" i="0" u="none" strike="noStrike" cap="none" normalizeH="0" baseline="0" dirty="0">
                <a:ln>
                  <a:noFill/>
                </a:ln>
                <a:solidFill>
                  <a:srgbClr val="006699"/>
                </a:solidFill>
                <a:effectLst/>
                <a:latin typeface="Consolas" panose="020B0609020204030204" pitchFamily="49" charset="0"/>
              </a:rPr>
              <a:t>xml</a:t>
            </a:r>
            <a:r>
              <a:rPr kumimoji="0" lang="en-US" altLang="en-US" sz="5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808080"/>
                </a:solidFill>
                <a:effectLst/>
                <a:latin typeface="Consolas" panose="020B0609020204030204" pitchFamily="49" charset="0"/>
              </a:rPr>
              <a:t>version</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"1.0"</a:t>
            </a:r>
            <a:r>
              <a:rPr kumimoji="0" lang="en-US" altLang="en-US" sz="5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808080"/>
                </a:solidFill>
                <a:effectLst/>
                <a:latin typeface="Consolas" panose="020B0609020204030204" pitchFamily="49" charset="0"/>
              </a:rPr>
              <a:t>encoding</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"utf-8"</a:t>
            </a:r>
            <a:r>
              <a:rPr kumimoji="0" lang="en-US" altLang="en-US" sz="1100" b="0" i="0" u="none" strike="noStrike" cap="none" normalizeH="0" baseline="0" dirty="0">
                <a:ln>
                  <a:noFill/>
                </a:ln>
                <a:solidFill>
                  <a:srgbClr val="000000"/>
                </a:solidFill>
                <a:effectLst/>
                <a:latin typeface="Consolas" panose="020B0609020204030204" pitchFamily="49" charset="0"/>
              </a:rPr>
              <a:t>?&gt;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onsolas" panose="020B0609020204030204" pitchFamily="49" charset="0"/>
              </a:rPr>
              <a:t>&lt;</a:t>
            </a:r>
            <a:r>
              <a:rPr kumimoji="0" lang="en-US" altLang="en-US" sz="1100" b="1" i="0" u="none" strike="noStrike" cap="none" normalizeH="0" baseline="0" dirty="0" err="1">
                <a:ln>
                  <a:noFill/>
                </a:ln>
                <a:solidFill>
                  <a:srgbClr val="006699"/>
                </a:solidFill>
                <a:effectLst/>
                <a:latin typeface="Consolas" panose="020B0609020204030204" pitchFamily="49" charset="0"/>
              </a:rPr>
              <a:t>LinearLayout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xmlns:android</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a:t>
            </a:r>
            <a:r>
              <a:rPr kumimoji="0" lang="en-US" altLang="en-US" sz="1100" b="0" i="0" u="sng" strike="noStrike" cap="none" normalizeH="0" baseline="0" dirty="0">
                <a:ln>
                  <a:noFill/>
                </a:ln>
                <a:solidFill>
                  <a:srgbClr val="0000FF"/>
                </a:solidFill>
                <a:effectLst/>
                <a:latin typeface="Consolas" panose="020B0609020204030204" pitchFamily="49" charset="0"/>
                <a:hlinkClick r:id="rId2" invalidUrl="http:"/>
              </a:rPr>
              <a:t>http://</a:t>
            </a:r>
            <a:r>
              <a:rPr kumimoji="0" lang="en-US" altLang="en-US" sz="1100" b="0" i="0" u="none" strike="noStrike" cap="none" normalizeH="0" baseline="0" dirty="0">
                <a:ln>
                  <a:noFill/>
                </a:ln>
                <a:solidFill>
                  <a:srgbClr val="0000FF"/>
                </a:solidFill>
                <a:effectLst/>
                <a:latin typeface="Consolas" panose="020B0609020204030204" pitchFamily="49" charset="0"/>
              </a:rPr>
              <a:t> schemas.android.com/</a:t>
            </a:r>
            <a:r>
              <a:rPr kumimoji="0" lang="en-US" altLang="en-US" sz="1100" b="0" i="0" u="none" strike="noStrike" cap="none" normalizeH="0" baseline="0" dirty="0" err="1">
                <a:ln>
                  <a:noFill/>
                </a:ln>
                <a:solidFill>
                  <a:srgbClr val="0000FF"/>
                </a:solidFill>
                <a:effectLst/>
                <a:latin typeface="Consolas" panose="020B0609020204030204" pitchFamily="49" charset="0"/>
              </a:rPr>
              <a:t>apk</a:t>
            </a:r>
            <a:r>
              <a:rPr kumimoji="0" lang="en-US" altLang="en-US" sz="1100" b="0" i="0" u="none" strike="noStrike" cap="none" normalizeH="0" baseline="0" dirty="0">
                <a:ln>
                  <a:noFill/>
                </a:ln>
                <a:solidFill>
                  <a:srgbClr val="0000FF"/>
                </a:solidFill>
                <a:effectLst/>
                <a:latin typeface="Consolas" panose="020B0609020204030204" pitchFamily="49" charset="0"/>
              </a:rPr>
              <a:t>/res/android"</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xmlns:tools</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a:t>
            </a:r>
            <a:r>
              <a:rPr kumimoji="0" lang="en-US" altLang="en-US" sz="1100" b="0" i="0" u="sng" strike="noStrike" cap="none" normalizeH="0" baseline="0" dirty="0">
                <a:ln>
                  <a:noFill/>
                </a:ln>
                <a:solidFill>
                  <a:srgbClr val="0000FF"/>
                </a:solidFill>
                <a:effectLst/>
                <a:latin typeface="Consolas" panose="020B0609020204030204" pitchFamily="49" charset="0"/>
                <a:hlinkClick r:id="rId2" invalidUrl="http:"/>
              </a:rPr>
              <a:t>http://</a:t>
            </a:r>
            <a:r>
              <a:rPr kumimoji="0" lang="en-US" altLang="en-US" sz="1100" b="0" i="0" u="none" strike="noStrike" cap="none" normalizeH="0" baseline="0" dirty="0">
                <a:ln>
                  <a:noFill/>
                </a:ln>
                <a:solidFill>
                  <a:srgbClr val="0000FF"/>
                </a:solidFill>
                <a:effectLst/>
                <a:latin typeface="Consolas" panose="020B0609020204030204" pitchFamily="49" charset="0"/>
              </a:rPr>
              <a:t> schemas.android.com/tools"</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android:orientation</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"vertical"</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android:layout_width</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a:t>
            </a:r>
            <a:r>
              <a:rPr kumimoji="0" lang="en-US" altLang="en-US" sz="1100" b="0" i="0" u="none" strike="noStrike" cap="none" normalizeH="0" baseline="0" dirty="0" err="1">
                <a:ln>
                  <a:noFill/>
                </a:ln>
                <a:solidFill>
                  <a:srgbClr val="0000FF"/>
                </a:solidFill>
                <a:effectLst/>
                <a:latin typeface="Consolas" panose="020B0609020204030204" pitchFamily="49" charset="0"/>
              </a:rPr>
              <a:t>match_parent</a:t>
            </a:r>
            <a:r>
              <a:rPr kumimoji="0" lang="en-US" altLang="en-US" sz="1100" b="0" i="0" u="none" strike="noStrike" cap="none" normalizeH="0" baseline="0" dirty="0">
                <a:ln>
                  <a:noFill/>
                </a:ln>
                <a:solidFill>
                  <a:srgbClr val="0000FF"/>
                </a:solidFill>
                <a:effectLst/>
                <a:latin typeface="Consolas" panose="020B0609020204030204" pitchFamily="49" charset="0"/>
              </a:rPr>
              <a: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android:layout_height</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a:t>
            </a:r>
            <a:r>
              <a:rPr kumimoji="0" lang="en-US" altLang="en-US" sz="1100" b="0" i="0" u="none" strike="noStrike" cap="none" normalizeH="0" baseline="0" dirty="0" err="1">
                <a:ln>
                  <a:noFill/>
                </a:ln>
                <a:solidFill>
                  <a:srgbClr val="0000FF"/>
                </a:solidFill>
                <a:effectLst/>
                <a:latin typeface="Consolas" panose="020B0609020204030204" pitchFamily="49" charset="0"/>
              </a:rPr>
              <a:t>match_parent</a:t>
            </a:r>
            <a:r>
              <a:rPr kumimoji="0" lang="en-US" altLang="en-US" sz="1100" b="0" i="0" u="none" strike="noStrike" cap="none" normalizeH="0" baseline="0" dirty="0">
                <a:ln>
                  <a:noFill/>
                </a:ln>
                <a:solidFill>
                  <a:srgbClr val="0000FF"/>
                </a:solidFill>
                <a:effectLst/>
                <a:latin typeface="Consolas" panose="020B0609020204030204" pitchFamily="49" charset="0"/>
              </a:rPr>
              <a: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tools:context</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a:t>
            </a:r>
            <a:r>
              <a:rPr kumimoji="0" lang="en-US" altLang="en-US" sz="1100" b="0" i="0" u="none" strike="noStrike" cap="none" normalizeH="0" baseline="0" dirty="0" err="1">
                <a:ln>
                  <a:noFill/>
                </a:ln>
                <a:solidFill>
                  <a:srgbClr val="0000FF"/>
                </a:solidFill>
                <a:effectLst/>
                <a:latin typeface="Consolas" panose="020B0609020204030204" pitchFamily="49" charset="0"/>
              </a:rPr>
              <a:t>MainActivity</a:t>
            </a:r>
            <a:r>
              <a:rPr kumimoji="0" lang="en-US" altLang="en-US" sz="1100" b="0" i="0" u="none" strike="noStrike" cap="none" normalizeH="0" baseline="0" dirty="0">
                <a:ln>
                  <a:noFill/>
                </a:ln>
                <a:solidFill>
                  <a:srgbClr val="0000FF"/>
                </a:solidFill>
                <a:effectLst/>
                <a:latin typeface="Consolas" panose="020B0609020204030204" pitchFamily="49" charset="0"/>
              </a:rPr>
              <a:t>"</a:t>
            </a:r>
            <a:r>
              <a:rPr kumimoji="0" lang="en-US" altLang="en-US" sz="1100" b="0" i="0" u="none" strike="noStrike" cap="none" normalizeH="0" baseline="0" dirty="0">
                <a:ln>
                  <a:noFill/>
                </a:ln>
                <a:solidFill>
                  <a:srgbClr val="000000"/>
                </a:solidFill>
                <a:effectLst/>
                <a:latin typeface="Consolas" panose="020B0609020204030204" pitchFamily="49" charset="0"/>
              </a:rPr>
              <a:t>&gt;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8200"/>
                </a:solidFill>
                <a:effectLst/>
                <a:latin typeface="Consolas" panose="020B0609020204030204" pitchFamily="49" charset="0"/>
              </a:rPr>
              <a:t>&lt;!--</a:t>
            </a:r>
            <a:r>
              <a:rPr kumimoji="0" lang="en-US" altLang="en-US" sz="1100" b="0" i="0" u="none" strike="noStrike" cap="none" normalizeH="0" baseline="0" dirty="0" err="1">
                <a:ln>
                  <a:noFill/>
                </a:ln>
                <a:solidFill>
                  <a:srgbClr val="008200"/>
                </a:solidFill>
                <a:effectLst/>
                <a:latin typeface="Consolas" panose="020B0609020204030204" pitchFamily="49" charset="0"/>
              </a:rPr>
              <a:t>EditText</a:t>
            </a:r>
            <a:r>
              <a:rPr kumimoji="0" lang="en-US" altLang="en-US" sz="1100" b="0" i="0" u="none" strike="noStrike" cap="none" normalizeH="0" baseline="0" dirty="0">
                <a:ln>
                  <a:noFill/>
                </a:ln>
                <a:solidFill>
                  <a:srgbClr val="008200"/>
                </a:solidFill>
                <a:effectLst/>
                <a:latin typeface="Consolas" panose="020B0609020204030204" pitchFamily="49" charset="0"/>
              </a:rPr>
              <a:t> with id </a:t>
            </a:r>
            <a:r>
              <a:rPr kumimoji="0" lang="en-US" altLang="en-US" sz="1100" b="0" i="0" u="none" strike="noStrike" cap="none" normalizeH="0" baseline="0" dirty="0" err="1">
                <a:ln>
                  <a:noFill/>
                </a:ln>
                <a:solidFill>
                  <a:srgbClr val="008200"/>
                </a:solidFill>
                <a:effectLst/>
                <a:latin typeface="Consolas" panose="020B0609020204030204" pitchFamily="49" charset="0"/>
              </a:rPr>
              <a:t>editText</a:t>
            </a:r>
            <a:r>
              <a:rPr kumimoji="0" lang="en-US" altLang="en-US" sz="1100" b="0" i="0" u="none" strike="noStrike" cap="none" normalizeH="0" baseline="0" dirty="0">
                <a:ln>
                  <a:noFill/>
                </a:ln>
                <a:solidFill>
                  <a:srgbClr val="008200"/>
                </a:solidFill>
                <a:effectLst/>
                <a:latin typeface="Consolas" panose="020B0609020204030204" pitchFamily="49" charset="0"/>
              </a:rPr>
              <a:t>--&gt;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&lt;</a:t>
            </a:r>
            <a:r>
              <a:rPr kumimoji="0" lang="en-US" altLang="en-US" sz="1100" b="1" i="0" u="none" strike="noStrike" cap="none" normalizeH="0" baseline="0" dirty="0" err="1">
                <a:ln>
                  <a:noFill/>
                </a:ln>
                <a:solidFill>
                  <a:srgbClr val="006699"/>
                </a:solidFill>
                <a:effectLst/>
                <a:latin typeface="Consolas" panose="020B0609020204030204" pitchFamily="49" charset="0"/>
              </a:rPr>
              <a:t>EditText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android:id</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"@+id/</a:t>
            </a:r>
            <a:r>
              <a:rPr kumimoji="0" lang="en-US" altLang="en-US" sz="1100" b="0" i="0" u="none" strike="noStrike" cap="none" normalizeH="0" baseline="0" dirty="0" err="1">
                <a:ln>
                  <a:noFill/>
                </a:ln>
                <a:solidFill>
                  <a:srgbClr val="0000FF"/>
                </a:solidFill>
                <a:effectLst/>
                <a:latin typeface="Consolas" panose="020B0609020204030204" pitchFamily="49" charset="0"/>
              </a:rPr>
              <a:t>editText</a:t>
            </a:r>
            <a:r>
              <a:rPr kumimoji="0" lang="en-US" altLang="en-US" sz="1100" b="0" i="0" u="none" strike="noStrike" cap="none" normalizeH="0" baseline="0" dirty="0">
                <a:ln>
                  <a:noFill/>
                </a:ln>
                <a:solidFill>
                  <a:srgbClr val="0000FF"/>
                </a:solidFill>
                <a:effectLst/>
                <a:latin typeface="Consolas" panose="020B0609020204030204" pitchFamily="49" charset="0"/>
              </a:rPr>
              <a: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android:layout_width</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a:t>
            </a:r>
            <a:r>
              <a:rPr kumimoji="0" lang="en-US" altLang="en-US" sz="1100" b="0" i="0" u="none" strike="noStrike" cap="none" normalizeH="0" baseline="0" dirty="0" err="1">
                <a:ln>
                  <a:noFill/>
                </a:ln>
                <a:solidFill>
                  <a:srgbClr val="0000FF"/>
                </a:solidFill>
                <a:effectLst/>
                <a:latin typeface="Consolas" panose="020B0609020204030204" pitchFamily="49" charset="0"/>
              </a:rPr>
              <a:t>match_parent</a:t>
            </a:r>
            <a:r>
              <a:rPr kumimoji="0" lang="en-US" altLang="en-US" sz="1100" b="0" i="0" u="none" strike="noStrike" cap="none" normalizeH="0" baseline="0" dirty="0">
                <a:ln>
                  <a:noFill/>
                </a:ln>
                <a:solidFill>
                  <a:srgbClr val="0000FF"/>
                </a:solidFill>
                <a:effectLst/>
                <a:latin typeface="Consolas" panose="020B0609020204030204" pitchFamily="49" charset="0"/>
              </a:rPr>
              <a: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android:layout_height</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a:t>
            </a:r>
            <a:r>
              <a:rPr kumimoji="0" lang="en-US" altLang="en-US" sz="1100" b="0" i="0" u="none" strike="noStrike" cap="none" normalizeH="0" baseline="0" dirty="0" err="1">
                <a:ln>
                  <a:noFill/>
                </a:ln>
                <a:solidFill>
                  <a:srgbClr val="0000FF"/>
                </a:solidFill>
                <a:effectLst/>
                <a:latin typeface="Consolas" panose="020B0609020204030204" pitchFamily="49" charset="0"/>
              </a:rPr>
              <a:t>wrap_content</a:t>
            </a:r>
            <a:r>
              <a:rPr kumimoji="0" lang="en-US" altLang="en-US" sz="1100" b="0" i="0" u="none" strike="noStrike" cap="none" normalizeH="0" baseline="0" dirty="0">
                <a:ln>
                  <a:noFill/>
                </a:ln>
                <a:solidFill>
                  <a:srgbClr val="0000FF"/>
                </a:solidFill>
                <a:effectLst/>
                <a:latin typeface="Consolas" panose="020B0609020204030204" pitchFamily="49" charset="0"/>
              </a:rPr>
              <a: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android:layout_margin</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"16dp"</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android:hint</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"Input"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android:inputType</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"text"</a:t>
            </a:r>
            <a:r>
              <a:rPr kumimoji="0" lang="en-US" altLang="en-US" sz="1100" b="0" i="0" u="none" strike="noStrike" cap="none" normalizeH="0" baseline="0" dirty="0">
                <a:ln>
                  <a:noFill/>
                </a:ln>
                <a:solidFill>
                  <a:srgbClr val="000000"/>
                </a:solidFill>
                <a:effectLst/>
                <a:latin typeface="Consolas" panose="020B0609020204030204" pitchFamily="49" charset="0"/>
              </a:rPr>
              <a:t>/&gt;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8200"/>
                </a:solidFill>
                <a:effectLst/>
                <a:latin typeface="Consolas" panose="020B0609020204030204" pitchFamily="49" charset="0"/>
              </a:rPr>
              <a:t>&lt;!--Button with id </a:t>
            </a:r>
            <a:r>
              <a:rPr kumimoji="0" lang="en-US" altLang="en-US" sz="1100" b="0" i="0" u="none" strike="noStrike" cap="none" normalizeH="0" baseline="0" dirty="0" err="1">
                <a:ln>
                  <a:noFill/>
                </a:ln>
                <a:solidFill>
                  <a:srgbClr val="008200"/>
                </a:solidFill>
                <a:effectLst/>
                <a:latin typeface="Consolas" panose="020B0609020204030204" pitchFamily="49" charset="0"/>
              </a:rPr>
              <a:t>showInput</a:t>
            </a:r>
            <a:r>
              <a:rPr kumimoji="0" lang="en-US" altLang="en-US" sz="1100" b="0" i="0" u="none" strike="noStrike" cap="none" normalizeH="0" baseline="0" dirty="0">
                <a:ln>
                  <a:noFill/>
                </a:ln>
                <a:solidFill>
                  <a:srgbClr val="008200"/>
                </a:solidFill>
                <a:effectLst/>
                <a:latin typeface="Consolas" panose="020B0609020204030204" pitchFamily="49" charset="0"/>
              </a:rPr>
              <a:t>--&gt;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&lt;</a:t>
            </a:r>
            <a:r>
              <a:rPr kumimoji="0" lang="en-US" altLang="en-US" sz="1100" b="1" i="0" u="none" strike="noStrike" cap="none" normalizeH="0" baseline="0" dirty="0">
                <a:ln>
                  <a:noFill/>
                </a:ln>
                <a:solidFill>
                  <a:srgbClr val="006699"/>
                </a:solidFill>
                <a:effectLst/>
                <a:latin typeface="Consolas" panose="020B0609020204030204" pitchFamily="49" charset="0"/>
              </a:rPr>
              <a:t>Button</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android:id</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"@+id/</a:t>
            </a:r>
            <a:r>
              <a:rPr kumimoji="0" lang="en-US" altLang="en-US" sz="1100" b="0" i="0" u="none" strike="noStrike" cap="none" normalizeH="0" baseline="0" dirty="0" err="1">
                <a:ln>
                  <a:noFill/>
                </a:ln>
                <a:solidFill>
                  <a:srgbClr val="0000FF"/>
                </a:solidFill>
                <a:effectLst/>
                <a:latin typeface="Consolas" panose="020B0609020204030204" pitchFamily="49" charset="0"/>
              </a:rPr>
              <a:t>showInput</a:t>
            </a:r>
            <a:r>
              <a:rPr kumimoji="0" lang="en-US" altLang="en-US" sz="1100" b="0" i="0" u="none" strike="noStrike" cap="none" normalizeH="0" baseline="0" dirty="0">
                <a:ln>
                  <a:noFill/>
                </a:ln>
                <a:solidFill>
                  <a:srgbClr val="0000FF"/>
                </a:solidFill>
                <a:effectLst/>
                <a:latin typeface="Consolas" panose="020B0609020204030204" pitchFamily="49" charset="0"/>
              </a:rPr>
              <a: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android:layout_width</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a:t>
            </a:r>
            <a:r>
              <a:rPr kumimoji="0" lang="en-US" altLang="en-US" sz="1100" b="0" i="0" u="none" strike="noStrike" cap="none" normalizeH="0" baseline="0" dirty="0" err="1">
                <a:ln>
                  <a:noFill/>
                </a:ln>
                <a:solidFill>
                  <a:srgbClr val="0000FF"/>
                </a:solidFill>
                <a:effectLst/>
                <a:latin typeface="Consolas" panose="020B0609020204030204" pitchFamily="49" charset="0"/>
              </a:rPr>
              <a:t>wrap_content</a:t>
            </a:r>
            <a:r>
              <a:rPr kumimoji="0" lang="en-US" altLang="en-US" sz="1100" b="0" i="0" u="none" strike="noStrike" cap="none" normalizeH="0" baseline="0" dirty="0">
                <a:ln>
                  <a:noFill/>
                </a:ln>
                <a:solidFill>
                  <a:srgbClr val="0000FF"/>
                </a:solidFill>
                <a:effectLst/>
                <a:latin typeface="Consolas" panose="020B0609020204030204" pitchFamily="49" charset="0"/>
              </a:rPr>
              <a: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android:layout_height</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a:t>
            </a:r>
            <a:r>
              <a:rPr kumimoji="0" lang="en-US" altLang="en-US" sz="1100" b="0" i="0" u="none" strike="noStrike" cap="none" normalizeH="0" baseline="0" dirty="0" err="1">
                <a:ln>
                  <a:noFill/>
                </a:ln>
                <a:solidFill>
                  <a:srgbClr val="0000FF"/>
                </a:solidFill>
                <a:effectLst/>
                <a:latin typeface="Consolas" panose="020B0609020204030204" pitchFamily="49" charset="0"/>
              </a:rPr>
              <a:t>wrap_content</a:t>
            </a:r>
            <a:r>
              <a:rPr kumimoji="0" lang="en-US" altLang="en-US" sz="1100" b="0" i="0" u="none" strike="noStrike" cap="none" normalizeH="0" baseline="0" dirty="0">
                <a:ln>
                  <a:noFill/>
                </a:ln>
                <a:solidFill>
                  <a:srgbClr val="0000FF"/>
                </a:solidFill>
                <a:effectLst/>
                <a:latin typeface="Consolas" panose="020B0609020204030204" pitchFamily="49" charset="0"/>
              </a:rPr>
              <a: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android:layout_gravity</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a:t>
            </a:r>
            <a:r>
              <a:rPr kumimoji="0" lang="en-US" altLang="en-US" sz="1100" b="0" i="0" u="none" strike="noStrike" cap="none" normalizeH="0" baseline="0" dirty="0" err="1">
                <a:ln>
                  <a:noFill/>
                </a:ln>
                <a:solidFill>
                  <a:srgbClr val="0000FF"/>
                </a:solidFill>
                <a:effectLst/>
                <a:latin typeface="Consolas" panose="020B0609020204030204" pitchFamily="49" charset="0"/>
              </a:rPr>
              <a:t>center_horizontal</a:t>
            </a:r>
            <a:r>
              <a:rPr kumimoji="0" lang="en-US" altLang="en-US" sz="1100" b="0" i="0" u="none" strike="noStrike" cap="none" normalizeH="0" baseline="0" dirty="0">
                <a:ln>
                  <a:noFill/>
                </a:ln>
                <a:solidFill>
                  <a:srgbClr val="0000FF"/>
                </a:solidFill>
                <a:effectLst/>
                <a:latin typeface="Consolas" panose="020B0609020204030204" pitchFamily="49" charset="0"/>
              </a:rPr>
              <a: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android:text</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"show"</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android:backgroundTint</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"@color/</a:t>
            </a:r>
            <a:r>
              <a:rPr kumimoji="0" lang="en-US" altLang="en-US" sz="1100" b="0" i="0" u="none" strike="noStrike" cap="none" normalizeH="0" baseline="0" dirty="0" err="1">
                <a:ln>
                  <a:noFill/>
                </a:ln>
                <a:solidFill>
                  <a:srgbClr val="0000FF"/>
                </a:solidFill>
                <a:effectLst/>
                <a:latin typeface="Consolas" panose="020B0609020204030204" pitchFamily="49" charset="0"/>
              </a:rPr>
              <a:t>colorPrimary</a:t>
            </a:r>
            <a:r>
              <a:rPr kumimoji="0" lang="en-US" altLang="en-US" sz="1100" b="0" i="0" u="none" strike="noStrike" cap="none" normalizeH="0" baseline="0" dirty="0">
                <a:ln>
                  <a:noFill/>
                </a:ln>
                <a:solidFill>
                  <a:srgbClr val="0000FF"/>
                </a:solidFill>
                <a:effectLst/>
                <a:latin typeface="Consolas" panose="020B0609020204030204" pitchFamily="49" charset="0"/>
              </a:rPr>
              <a: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err="1">
                <a:ln>
                  <a:noFill/>
                </a:ln>
                <a:solidFill>
                  <a:srgbClr val="808080"/>
                </a:solidFill>
                <a:effectLst/>
                <a:latin typeface="Consolas" panose="020B0609020204030204" pitchFamily="49" charset="0"/>
              </a:rPr>
              <a:t>android:textColor</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a:t>
            </a:r>
            <a:r>
              <a:rPr kumimoji="0" lang="en-US" altLang="en-US" sz="1100" b="0" i="0" u="none" strike="noStrike" cap="none" normalizeH="0" baseline="0" dirty="0" err="1">
                <a:ln>
                  <a:noFill/>
                </a:ln>
                <a:solidFill>
                  <a:srgbClr val="0000FF"/>
                </a:solidFill>
                <a:effectLst/>
                <a:latin typeface="Consolas" panose="020B0609020204030204" pitchFamily="49" charset="0"/>
              </a:rPr>
              <a:t>android:color</a:t>
            </a:r>
            <a:r>
              <a:rPr kumimoji="0" lang="en-US" altLang="en-US" sz="1100" b="0" i="0" u="none" strike="noStrike" cap="none" normalizeH="0" baseline="0" dirty="0">
                <a:ln>
                  <a:noFill/>
                </a:ln>
                <a:solidFill>
                  <a:srgbClr val="0000FF"/>
                </a:solidFill>
                <a:effectLst/>
                <a:latin typeface="Consolas" panose="020B0609020204030204" pitchFamily="49" charset="0"/>
              </a:rPr>
              <a:t>/white"</a:t>
            </a:r>
            <a:r>
              <a:rPr kumimoji="0" lang="en-US" altLang="en-US" sz="1100" b="0" i="0" u="none" strike="noStrike" cap="none" normalizeH="0" baseline="0" dirty="0">
                <a:ln>
                  <a:noFill/>
                </a:ln>
                <a:solidFill>
                  <a:srgbClr val="000000"/>
                </a:solidFill>
                <a:effectLst/>
                <a:latin typeface="Consolas" panose="020B0609020204030204" pitchFamily="49" charset="0"/>
              </a:rPr>
              <a:t>/&gt;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onsolas" panose="020B0609020204030204" pitchFamily="49" charset="0"/>
              </a:rPr>
              <a:t>&lt;/</a:t>
            </a:r>
            <a:r>
              <a:rPr kumimoji="0" lang="en-US" altLang="en-US" sz="1100" b="1" i="0" u="none" strike="noStrike" cap="none" normalizeH="0" baseline="0" dirty="0" err="1">
                <a:ln>
                  <a:noFill/>
                </a:ln>
                <a:solidFill>
                  <a:srgbClr val="006699"/>
                </a:solidFill>
                <a:effectLst/>
                <a:latin typeface="Consolas" panose="020B0609020204030204" pitchFamily="49" charset="0"/>
              </a:rPr>
              <a:t>LinearLayout</a:t>
            </a:r>
            <a:r>
              <a:rPr kumimoji="0" lang="en-US" altLang="en-US" sz="1100" b="0" i="0" u="none" strike="noStrike" cap="none" normalizeH="0" baseline="0" dirty="0">
                <a:ln>
                  <a:noFill/>
                </a:ln>
                <a:solidFill>
                  <a:srgbClr val="000000"/>
                </a:solidFill>
                <a:effectLst/>
                <a:latin typeface="Consolas" panose="020B0609020204030204" pitchFamily="49" charset="0"/>
              </a:rPr>
              <a:t>&gt;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253771886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C67BB5-99B2-80B5-6FEC-E9BD6B887CEE}"/>
              </a:ext>
            </a:extLst>
          </p:cNvPr>
          <p:cNvSpPr>
            <a:spLocks noGrp="1"/>
          </p:cNvSpPr>
          <p:nvPr>
            <p:ph type="title"/>
          </p:nvPr>
        </p:nvSpPr>
        <p:spPr>
          <a:xfrm>
            <a:off x="494117" y="365125"/>
            <a:ext cx="10859683" cy="430005"/>
          </a:xfrm>
        </p:spPr>
        <p:txBody>
          <a:bodyPr>
            <a:normAutofit fontScale="90000"/>
          </a:bodyPr>
          <a:lstStyle/>
          <a:p>
            <a:r>
              <a:rPr lang="en-IN" dirty="0"/>
              <a:t>XML Example (Vertical):</a:t>
            </a:r>
          </a:p>
        </p:txBody>
      </p:sp>
      <p:sp>
        <p:nvSpPr>
          <p:cNvPr id="3" name="Content Placeholder 2">
            <a:extLst>
              <a:ext uri="{FF2B5EF4-FFF2-40B4-BE49-F238E27FC236}">
                <a16:creationId xmlns="" xmlns:a16="http://schemas.microsoft.com/office/drawing/2014/main" id="{B23FD085-E201-64C7-142B-CD2FE1A247D1}"/>
              </a:ext>
            </a:extLst>
          </p:cNvPr>
          <p:cNvSpPr>
            <a:spLocks noGrp="1"/>
          </p:cNvSpPr>
          <p:nvPr>
            <p:ph idx="1"/>
          </p:nvPr>
        </p:nvSpPr>
        <p:spPr>
          <a:xfrm>
            <a:off x="391887" y="931440"/>
            <a:ext cx="10961914" cy="5245524"/>
          </a:xfrm>
        </p:spPr>
        <p:txBody>
          <a:bodyPr>
            <a:normAutofit fontScale="40000" lnSpcReduction="20000"/>
          </a:bodyPr>
          <a:lstStyle/>
          <a:p>
            <a:pPr marL="0" indent="0">
              <a:buNone/>
            </a:pPr>
            <a:r>
              <a:rPr lang="en-IN" dirty="0"/>
              <a:t>&lt;</a:t>
            </a:r>
            <a:r>
              <a:rPr lang="en-IN" dirty="0" err="1"/>
              <a:t>LinearLayout</a:t>
            </a:r>
            <a:endParaRPr lang="en-IN" dirty="0"/>
          </a:p>
          <a:p>
            <a:pPr marL="0" indent="0">
              <a:buNone/>
            </a:pPr>
            <a:r>
              <a:rPr lang="en-IN" dirty="0"/>
              <a:t>    </a:t>
            </a:r>
            <a:r>
              <a:rPr lang="en-IN" dirty="0" err="1"/>
              <a:t>xmlns:android</a:t>
            </a:r>
            <a:r>
              <a:rPr lang="en-IN" dirty="0"/>
              <a:t>="http://schemas.android.com/</a:t>
            </a:r>
            <a:r>
              <a:rPr lang="en-IN" dirty="0" err="1"/>
              <a:t>apk</a:t>
            </a:r>
            <a:r>
              <a:rPr lang="en-IN" dirty="0"/>
              <a:t>/res/android"</a:t>
            </a:r>
          </a:p>
          <a:p>
            <a:pPr marL="0" indent="0">
              <a:buNone/>
            </a:pPr>
            <a:r>
              <a:rPr lang="en-IN" dirty="0"/>
              <a:t>    </a:t>
            </a:r>
            <a:r>
              <a:rPr lang="en-IN" dirty="0" err="1"/>
              <a:t>android:layout_width</a:t>
            </a:r>
            <a:r>
              <a:rPr lang="en-IN" dirty="0"/>
              <a:t>="</a:t>
            </a:r>
            <a:r>
              <a:rPr lang="en-IN" dirty="0" err="1"/>
              <a:t>match_parent</a:t>
            </a:r>
            <a:r>
              <a:rPr lang="en-IN" dirty="0"/>
              <a:t>"</a:t>
            </a:r>
          </a:p>
          <a:p>
            <a:pPr marL="0" indent="0">
              <a:buNone/>
            </a:pPr>
            <a:r>
              <a:rPr lang="en-IN" dirty="0"/>
              <a:t>    </a:t>
            </a:r>
            <a:r>
              <a:rPr lang="en-IN" dirty="0" err="1"/>
              <a:t>android:layout_height</a:t>
            </a:r>
            <a:r>
              <a:rPr lang="en-IN" dirty="0"/>
              <a:t>="</a:t>
            </a:r>
            <a:r>
              <a:rPr lang="en-IN" dirty="0" err="1"/>
              <a:t>match_parent</a:t>
            </a:r>
            <a:r>
              <a:rPr lang="en-IN" dirty="0"/>
              <a:t>"</a:t>
            </a:r>
          </a:p>
          <a:p>
            <a:pPr marL="0" indent="0">
              <a:buNone/>
            </a:pPr>
            <a:r>
              <a:rPr lang="en-IN" dirty="0"/>
              <a:t>    </a:t>
            </a:r>
            <a:r>
              <a:rPr lang="en-IN" dirty="0" err="1"/>
              <a:t>android:orientation</a:t>
            </a:r>
            <a:r>
              <a:rPr lang="en-IN" dirty="0"/>
              <a:t>="vertical"</a:t>
            </a:r>
          </a:p>
          <a:p>
            <a:pPr marL="0" indent="0">
              <a:buNone/>
            </a:pPr>
            <a:r>
              <a:rPr lang="en-IN" dirty="0"/>
              <a:t>    </a:t>
            </a:r>
            <a:r>
              <a:rPr lang="en-IN" dirty="0" err="1"/>
              <a:t>android:padding</a:t>
            </a:r>
            <a:r>
              <a:rPr lang="en-IN" dirty="0"/>
              <a:t>="16dp"&gt;</a:t>
            </a:r>
          </a:p>
          <a:p>
            <a:pPr marL="0" indent="0">
              <a:buNone/>
            </a:pPr>
            <a:endParaRPr lang="en-IN" dirty="0"/>
          </a:p>
          <a:p>
            <a:pPr marL="0" indent="0">
              <a:buNone/>
            </a:pPr>
            <a:r>
              <a:rPr lang="en-IN" dirty="0"/>
              <a:t>    &lt;</a:t>
            </a:r>
            <a:r>
              <a:rPr lang="en-IN" dirty="0" err="1"/>
              <a:t>TextView</a:t>
            </a:r>
            <a:endParaRPr lang="en-IN" dirty="0"/>
          </a:p>
          <a:p>
            <a:pPr marL="0" indent="0">
              <a:buNone/>
            </a:pPr>
            <a:r>
              <a:rPr lang="en-IN" dirty="0"/>
              <a:t>        </a:t>
            </a:r>
            <a:r>
              <a:rPr lang="en-IN" dirty="0" err="1"/>
              <a:t>android:layout_width</a:t>
            </a:r>
            <a:r>
              <a:rPr lang="en-IN" dirty="0"/>
              <a:t>="</a:t>
            </a:r>
            <a:r>
              <a:rPr lang="en-IN" dirty="0" err="1"/>
              <a:t>wrap_content</a:t>
            </a:r>
            <a:r>
              <a:rPr lang="en-IN" dirty="0"/>
              <a:t>"</a:t>
            </a:r>
          </a:p>
          <a:p>
            <a:pPr marL="0" indent="0">
              <a:buNone/>
            </a:pPr>
            <a:r>
              <a:rPr lang="en-IN" dirty="0"/>
              <a:t>        </a:t>
            </a:r>
            <a:r>
              <a:rPr lang="en-IN" dirty="0" err="1"/>
              <a:t>android:layout_height</a:t>
            </a:r>
            <a:r>
              <a:rPr lang="en-IN" dirty="0"/>
              <a:t>="</a:t>
            </a:r>
            <a:r>
              <a:rPr lang="en-IN" dirty="0" err="1"/>
              <a:t>wrap_content</a:t>
            </a:r>
            <a:r>
              <a:rPr lang="en-IN" dirty="0"/>
              <a:t>"</a:t>
            </a:r>
          </a:p>
          <a:p>
            <a:pPr marL="0" indent="0">
              <a:buNone/>
            </a:pPr>
            <a:r>
              <a:rPr lang="en-IN" dirty="0"/>
              <a:t>        </a:t>
            </a:r>
            <a:r>
              <a:rPr lang="en-IN" dirty="0" err="1"/>
              <a:t>android:text</a:t>
            </a:r>
            <a:r>
              <a:rPr lang="en-IN" dirty="0"/>
              <a:t>="Name:" /&gt;</a:t>
            </a:r>
          </a:p>
          <a:p>
            <a:pPr marL="0" indent="0">
              <a:buNone/>
            </a:pPr>
            <a:endParaRPr lang="en-IN" dirty="0"/>
          </a:p>
          <a:p>
            <a:pPr marL="0" indent="0">
              <a:buNone/>
            </a:pPr>
            <a:r>
              <a:rPr lang="en-IN" dirty="0"/>
              <a:t>    &lt;</a:t>
            </a:r>
            <a:r>
              <a:rPr lang="en-IN" dirty="0" err="1"/>
              <a:t>EditText</a:t>
            </a:r>
            <a:endParaRPr lang="en-IN" dirty="0"/>
          </a:p>
          <a:p>
            <a:pPr marL="0" indent="0">
              <a:buNone/>
            </a:pPr>
            <a:r>
              <a:rPr lang="en-IN" dirty="0"/>
              <a:t>        </a:t>
            </a:r>
            <a:r>
              <a:rPr lang="en-IN" dirty="0" err="1"/>
              <a:t>android:layout_width</a:t>
            </a:r>
            <a:r>
              <a:rPr lang="en-IN" dirty="0"/>
              <a:t>="</a:t>
            </a:r>
            <a:r>
              <a:rPr lang="en-IN" dirty="0" err="1"/>
              <a:t>match_parent</a:t>
            </a:r>
            <a:r>
              <a:rPr lang="en-IN" dirty="0"/>
              <a:t>"</a:t>
            </a:r>
          </a:p>
          <a:p>
            <a:pPr marL="0" indent="0">
              <a:buNone/>
            </a:pPr>
            <a:r>
              <a:rPr lang="en-IN" dirty="0"/>
              <a:t>        </a:t>
            </a:r>
            <a:r>
              <a:rPr lang="en-IN" dirty="0" err="1"/>
              <a:t>android:layout_height</a:t>
            </a:r>
            <a:r>
              <a:rPr lang="en-IN" dirty="0"/>
              <a:t>="</a:t>
            </a:r>
            <a:r>
              <a:rPr lang="en-IN" dirty="0" err="1"/>
              <a:t>wrap_content</a:t>
            </a:r>
            <a:r>
              <a:rPr lang="en-IN" dirty="0"/>
              <a:t>" /&gt;</a:t>
            </a:r>
          </a:p>
          <a:p>
            <a:pPr marL="0" indent="0">
              <a:buNone/>
            </a:pPr>
            <a:r>
              <a:rPr lang="en-IN" dirty="0"/>
              <a:t>&lt;Button</a:t>
            </a:r>
          </a:p>
          <a:p>
            <a:pPr marL="0" indent="0">
              <a:buNone/>
            </a:pPr>
            <a:r>
              <a:rPr lang="en-IN" dirty="0"/>
              <a:t>        </a:t>
            </a:r>
            <a:r>
              <a:rPr lang="en-IN" dirty="0" err="1"/>
              <a:t>android:layout_width</a:t>
            </a:r>
            <a:r>
              <a:rPr lang="en-IN" dirty="0"/>
              <a:t>="</a:t>
            </a:r>
            <a:r>
              <a:rPr lang="en-IN" dirty="0" err="1"/>
              <a:t>wrap_content</a:t>
            </a:r>
            <a:r>
              <a:rPr lang="en-IN" dirty="0"/>
              <a:t>"</a:t>
            </a:r>
          </a:p>
          <a:p>
            <a:pPr marL="0" indent="0">
              <a:buNone/>
            </a:pPr>
            <a:r>
              <a:rPr lang="en-IN" dirty="0"/>
              <a:t>        </a:t>
            </a:r>
            <a:r>
              <a:rPr lang="en-IN" dirty="0" err="1"/>
              <a:t>android:layout_height</a:t>
            </a:r>
            <a:r>
              <a:rPr lang="en-IN" dirty="0"/>
              <a:t>="</a:t>
            </a:r>
            <a:r>
              <a:rPr lang="en-IN" dirty="0" err="1"/>
              <a:t>wrap_content</a:t>
            </a:r>
            <a:r>
              <a:rPr lang="en-IN" dirty="0"/>
              <a:t>"</a:t>
            </a:r>
          </a:p>
          <a:p>
            <a:pPr marL="0" indent="0">
              <a:buNone/>
            </a:pPr>
            <a:r>
              <a:rPr lang="en-IN" dirty="0"/>
              <a:t>        </a:t>
            </a:r>
            <a:r>
              <a:rPr lang="en-IN" dirty="0" err="1"/>
              <a:t>android:text</a:t>
            </a:r>
            <a:r>
              <a:rPr lang="en-IN" dirty="0"/>
              <a:t>="Submit" /&gt;</a:t>
            </a:r>
          </a:p>
          <a:p>
            <a:pPr marL="0" indent="0">
              <a:buNone/>
            </a:pPr>
            <a:endParaRPr lang="en-IN" dirty="0"/>
          </a:p>
          <a:p>
            <a:pPr marL="0" indent="0">
              <a:buNone/>
            </a:pPr>
            <a:r>
              <a:rPr lang="en-IN" dirty="0"/>
              <a:t>&lt;/</a:t>
            </a:r>
            <a:r>
              <a:rPr lang="en-IN" dirty="0" err="1"/>
              <a:t>LinearLayout</a:t>
            </a:r>
            <a:r>
              <a:rPr lang="en-IN" dirty="0"/>
              <a:t>&gt;</a:t>
            </a:r>
          </a:p>
          <a:p>
            <a:endParaRPr lang="en-IN" dirty="0"/>
          </a:p>
        </p:txBody>
      </p:sp>
    </p:spTree>
    <p:extLst>
      <p:ext uri="{BB962C8B-B14F-4D97-AF65-F5344CB8AC3E}">
        <p14:creationId xmlns="" xmlns:p14="http://schemas.microsoft.com/office/powerpoint/2010/main" val="74988045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805ED47-5CA1-F82F-A728-C02540DA2E6C}"/>
              </a:ext>
            </a:extLst>
          </p:cNvPr>
          <p:cNvSpPr>
            <a:spLocks noGrp="1"/>
          </p:cNvSpPr>
          <p:nvPr>
            <p:ph type="title"/>
          </p:nvPr>
        </p:nvSpPr>
        <p:spPr/>
        <p:txBody>
          <a:bodyPr/>
          <a:lstStyle/>
          <a:p>
            <a:r>
              <a:rPr lang="en-US" b="1" dirty="0">
                <a:solidFill>
                  <a:srgbClr val="273239"/>
                </a:solidFill>
                <a:latin typeface="Times New Roman" panose="02020603050405020304" pitchFamily="18" charset="0"/>
                <a:cs typeface="Times New Roman" panose="02020603050405020304" pitchFamily="18" charset="0"/>
              </a:rPr>
              <a:t>Android Relative Layout: </a:t>
            </a:r>
            <a:endParaRPr lang="en-IN" dirty="0"/>
          </a:p>
        </p:txBody>
      </p:sp>
      <p:sp>
        <p:nvSpPr>
          <p:cNvPr id="3" name="Content Placeholder 2">
            <a:extLst>
              <a:ext uri="{FF2B5EF4-FFF2-40B4-BE49-F238E27FC236}">
                <a16:creationId xmlns="" xmlns:a16="http://schemas.microsoft.com/office/drawing/2014/main" id="{595929EF-F64D-882E-F346-C748875D19CA}"/>
              </a:ext>
            </a:extLst>
          </p:cNvPr>
          <p:cNvSpPr>
            <a:spLocks noGrp="1"/>
          </p:cNvSpPr>
          <p:nvPr>
            <p:ph idx="1"/>
          </p:nvPr>
        </p:nvSpPr>
        <p:spPr/>
        <p:txBody>
          <a:bodyPr/>
          <a:lstStyle/>
          <a:p>
            <a:pPr algn="just" fontAlgn="base">
              <a:lnSpc>
                <a:spcPct val="150000"/>
              </a:lnSpc>
              <a:buNone/>
            </a:pPr>
            <a:r>
              <a:rPr lang="en-US" b="1" dirty="0">
                <a:solidFill>
                  <a:srgbClr val="273239"/>
                </a:solidFill>
                <a:latin typeface="Times New Roman" pitchFamily="18" charset="0"/>
                <a:cs typeface="Times New Roman" pitchFamily="18" charset="0"/>
              </a:rPr>
              <a:t>Android Relative Layout: </a:t>
            </a:r>
            <a:r>
              <a:rPr lang="en-US" dirty="0" smtClean="0">
                <a:latin typeface="Times New Roman" pitchFamily="18" charset="0"/>
                <a:cs typeface="Times New Roman" pitchFamily="18" charset="0"/>
              </a:rPr>
              <a:t> is a layout that arranges its child views in relation to each other. Unlike Linear Layout, which can make element arrangement complex, Relative Layout simplifies the process by allowing flexible and dynamic positioning. It enables you to align views relative to each other or to the edges of the parent container, making it ideal for creating more complex and responsive UI designs.</a:t>
            </a:r>
            <a:endParaRPr lang="en-US" dirty="0">
              <a:latin typeface="Times New Roman" pitchFamily="18" charset="0"/>
              <a:cs typeface="Times New Roman" pitchFamily="18" charset="0"/>
            </a:endParaRPr>
          </a:p>
          <a:p>
            <a:pPr marL="0" indent="0" algn="just" fontAlgn="base">
              <a:buNone/>
            </a:pPr>
            <a:endParaRPr lang="en-US" dirty="0">
              <a:latin typeface="Times New Roman" pitchFamily="18" charset="0"/>
              <a:cs typeface="Times New Roman" pitchFamily="18" charset="0"/>
            </a:endParaRPr>
          </a:p>
          <a:p>
            <a:pPr marL="0" indent="0">
              <a:buNone/>
            </a:pPr>
            <a:endParaRPr lang="en-IN" dirty="0"/>
          </a:p>
        </p:txBody>
      </p:sp>
    </p:spTree>
    <p:extLst>
      <p:ext uri="{BB962C8B-B14F-4D97-AF65-F5344CB8AC3E}">
        <p14:creationId xmlns="" xmlns:p14="http://schemas.microsoft.com/office/powerpoint/2010/main" val="219117656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Properties</a:t>
            </a:r>
            <a:endParaRPr lang="en-US" dirty="0"/>
          </a:p>
        </p:txBody>
      </p:sp>
      <p:sp>
        <p:nvSpPr>
          <p:cNvPr id="3" name="Content Placeholder 2"/>
          <p:cNvSpPr>
            <a:spLocks noGrp="1"/>
          </p:cNvSpPr>
          <p:nvPr>
            <p:ph idx="1"/>
          </p:nvPr>
        </p:nvSpPr>
        <p:spPr>
          <a:xfrm>
            <a:off x="838200" y="1825625"/>
            <a:ext cx="4318000" cy="4351338"/>
          </a:xfrm>
        </p:spPr>
        <p:txBody>
          <a:bodyPr/>
          <a:lstStyle/>
          <a:p>
            <a:pPr fontAlgn="base">
              <a:buFont typeface="Wingdings" pitchFamily="2" charset="2"/>
              <a:buChar char="Ø"/>
            </a:pPr>
            <a:r>
              <a:rPr lang="en-US" dirty="0" err="1" smtClean="0">
                <a:latin typeface="Times New Roman" pitchFamily="18" charset="0"/>
                <a:cs typeface="Times New Roman" pitchFamily="18" charset="0"/>
              </a:rPr>
              <a:t>layout_alignParentTop</a:t>
            </a:r>
            <a:endParaRPr lang="en-US" dirty="0" smtClean="0">
              <a:latin typeface="Times New Roman" pitchFamily="18" charset="0"/>
              <a:cs typeface="Times New Roman" pitchFamily="18" charset="0"/>
            </a:endParaRPr>
          </a:p>
          <a:p>
            <a:pPr fontAlgn="base">
              <a:buFont typeface="Wingdings" pitchFamily="2" charset="2"/>
              <a:buChar char="Ø"/>
            </a:pPr>
            <a:r>
              <a:rPr lang="en-US" dirty="0" err="1" smtClean="0">
                <a:latin typeface="Times New Roman" pitchFamily="18" charset="0"/>
                <a:cs typeface="Times New Roman" pitchFamily="18" charset="0"/>
              </a:rPr>
              <a:t>layout_alignParentBottom</a:t>
            </a:r>
            <a:endParaRPr lang="en-US" dirty="0" smtClean="0">
              <a:latin typeface="Times New Roman" pitchFamily="18" charset="0"/>
              <a:cs typeface="Times New Roman" pitchFamily="18" charset="0"/>
            </a:endParaRPr>
          </a:p>
          <a:p>
            <a:pPr fontAlgn="base">
              <a:buFont typeface="Wingdings" pitchFamily="2" charset="2"/>
              <a:buChar char="Ø"/>
            </a:pPr>
            <a:r>
              <a:rPr lang="en-US" dirty="0" err="1" smtClean="0">
                <a:latin typeface="Times New Roman" pitchFamily="18" charset="0"/>
                <a:cs typeface="Times New Roman" pitchFamily="18" charset="0"/>
              </a:rPr>
              <a:t>layout_alignParentRight</a:t>
            </a:r>
            <a:endParaRPr lang="en-US" dirty="0" smtClean="0">
              <a:latin typeface="Times New Roman" pitchFamily="18" charset="0"/>
              <a:cs typeface="Times New Roman" pitchFamily="18" charset="0"/>
            </a:endParaRPr>
          </a:p>
          <a:p>
            <a:pPr fontAlgn="base">
              <a:buFont typeface="Wingdings" pitchFamily="2" charset="2"/>
              <a:buChar char="Ø"/>
            </a:pPr>
            <a:r>
              <a:rPr lang="en-US" dirty="0" err="1" smtClean="0">
                <a:latin typeface="Times New Roman" pitchFamily="18" charset="0"/>
                <a:cs typeface="Times New Roman" pitchFamily="18" charset="0"/>
              </a:rPr>
              <a:t>layout_alignParentLeft</a:t>
            </a:r>
            <a:endParaRPr lang="en-US" dirty="0" smtClean="0">
              <a:latin typeface="Times New Roman" pitchFamily="18" charset="0"/>
              <a:cs typeface="Times New Roman" pitchFamily="18" charset="0"/>
            </a:endParaRPr>
          </a:p>
          <a:p>
            <a:pPr fontAlgn="base">
              <a:buFont typeface="Wingdings" pitchFamily="2" charset="2"/>
              <a:buChar char="Ø"/>
            </a:pPr>
            <a:r>
              <a:rPr lang="en-US" dirty="0" err="1" smtClean="0">
                <a:latin typeface="Times New Roman" pitchFamily="18" charset="0"/>
                <a:cs typeface="Times New Roman" pitchFamily="18" charset="0"/>
              </a:rPr>
              <a:t>layout_centerHorozontal</a:t>
            </a:r>
            <a:endParaRPr lang="en-US" dirty="0" smtClean="0">
              <a:latin typeface="Times New Roman" pitchFamily="18" charset="0"/>
              <a:cs typeface="Times New Roman" pitchFamily="18" charset="0"/>
            </a:endParaRPr>
          </a:p>
          <a:p>
            <a:pPr fontAlgn="base">
              <a:buFont typeface="Wingdings" pitchFamily="2" charset="2"/>
              <a:buChar char="Ø"/>
            </a:pPr>
            <a:r>
              <a:rPr lang="en-US" dirty="0" err="1" smtClean="0">
                <a:latin typeface="Times New Roman" pitchFamily="18" charset="0"/>
                <a:cs typeface="Times New Roman" pitchFamily="18" charset="0"/>
              </a:rPr>
              <a:t>layout_centerVertical</a:t>
            </a:r>
            <a:endParaRPr lang="en-US" dirty="0" smtClean="0">
              <a:latin typeface="Times New Roman" pitchFamily="18" charset="0"/>
              <a:cs typeface="Times New Roman" pitchFamily="18" charset="0"/>
            </a:endParaRPr>
          </a:p>
          <a:p>
            <a:pPr fontAlgn="base">
              <a:buFont typeface="Wingdings" pitchFamily="2" charset="2"/>
              <a:buChar char="Ø"/>
            </a:pPr>
            <a:r>
              <a:rPr lang="en-US" dirty="0" err="1" smtClean="0">
                <a:latin typeface="Times New Roman" pitchFamily="18" charset="0"/>
                <a:cs typeface="Times New Roman" pitchFamily="18" charset="0"/>
              </a:rPr>
              <a:t>layout_above</a:t>
            </a:r>
            <a:endParaRPr lang="en-US" dirty="0" smtClean="0">
              <a:latin typeface="Times New Roman" pitchFamily="18" charset="0"/>
              <a:cs typeface="Times New Roman" pitchFamily="18" charset="0"/>
            </a:endParaRPr>
          </a:p>
          <a:p>
            <a:pPr fontAlgn="base">
              <a:buFont typeface="Wingdings" pitchFamily="2" charset="2"/>
              <a:buChar char="Ø"/>
            </a:pPr>
            <a:r>
              <a:rPr lang="en-US" dirty="0" err="1" smtClean="0">
                <a:latin typeface="Times New Roman" pitchFamily="18" charset="0"/>
                <a:cs typeface="Times New Roman" pitchFamily="18" charset="0"/>
              </a:rPr>
              <a:t>layout_below</a:t>
            </a:r>
            <a:endParaRPr lang="en-US" dirty="0" smtClean="0">
              <a:latin typeface="Times New Roman" pitchFamily="18" charset="0"/>
              <a:cs typeface="Times New Roman" pitchFamily="18" charset="0"/>
            </a:endParaRPr>
          </a:p>
          <a:p>
            <a:pPr>
              <a:buNone/>
            </a:pP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br>
              <a:rPr lang="en-US" dirty="0" smtClean="0"/>
            </a:br>
            <a:endParaRPr lang="en-US" dirty="0"/>
          </a:p>
        </p:txBody>
      </p:sp>
      <p:sp>
        <p:nvSpPr>
          <p:cNvPr id="3" name="Content Placeholder 2"/>
          <p:cNvSpPr>
            <a:spLocks noGrp="1"/>
          </p:cNvSpPr>
          <p:nvPr>
            <p:ph idx="1"/>
          </p:nvPr>
        </p:nvSpPr>
        <p:spPr>
          <a:xfrm>
            <a:off x="520700" y="1130300"/>
            <a:ext cx="6134100" cy="5046663"/>
          </a:xfrm>
        </p:spPr>
        <p:txBody>
          <a:bodyPr>
            <a:normAutofit fontScale="77500" lnSpcReduction="20000"/>
          </a:bodyPr>
          <a:lstStyle/>
          <a:p>
            <a:pPr>
              <a:buNone/>
            </a:pPr>
            <a:r>
              <a:rPr lang="en-US" dirty="0" smtClean="0"/>
              <a:t>&lt;?xml version="1.0" encoding="utf-8"?&gt; </a:t>
            </a:r>
            <a:br>
              <a:rPr lang="en-US" dirty="0" smtClean="0"/>
            </a:br>
            <a:r>
              <a:rPr lang="en-US" b="1" dirty="0" smtClean="0">
                <a:latin typeface="Times New Roman" pitchFamily="18" charset="0"/>
                <a:cs typeface="Times New Roman" pitchFamily="18" charset="0"/>
              </a:rPr>
              <a:t>&lt;</a:t>
            </a:r>
            <a:r>
              <a:rPr lang="en-US" b="1" dirty="0" err="1" smtClean="0">
                <a:latin typeface="Times New Roman" pitchFamily="18" charset="0"/>
                <a:cs typeface="Times New Roman" pitchFamily="18" charset="0"/>
              </a:rPr>
              <a:t>RelativeLayout</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android:layout_width</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fill_parent</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android:layout_height</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fill_parent</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xmlns:android</a:t>
            </a:r>
            <a:r>
              <a:rPr lang="en-US" dirty="0" smtClean="0">
                <a:latin typeface="Times New Roman" pitchFamily="18" charset="0"/>
                <a:cs typeface="Times New Roman" pitchFamily="18" charset="0"/>
              </a:rPr>
              <a:t>="http://schemas.android.com/apk/res/android"</a:t>
            </a:r>
            <a:r>
              <a:rPr lang="en-US" b="1" dirty="0" smtClean="0">
                <a:latin typeface="Times New Roman" pitchFamily="18" charset="0"/>
                <a:cs typeface="Times New Roman" pitchFamily="18" charset="0"/>
              </a:rPr>
              <a:t>&gt;</a:t>
            </a:r>
            <a:r>
              <a:rPr lang="en-US" dirty="0" smtClean="0">
                <a:latin typeface="Times New Roman" pitchFamily="18" charset="0"/>
                <a:cs typeface="Times New Roman" pitchFamily="18" charset="0"/>
              </a:rPr>
              <a:t> </a:t>
            </a:r>
          </a:p>
          <a:p>
            <a:pPr>
              <a:buNone/>
            </a:pPr>
            <a:r>
              <a:rPr lang="en-US" b="1" dirty="0" smtClean="0">
                <a:latin typeface="Times New Roman" pitchFamily="18" charset="0"/>
                <a:cs typeface="Times New Roman" pitchFamily="18" charset="0"/>
              </a:rPr>
              <a:t>	&lt;Button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android:id</a:t>
            </a:r>
            <a:r>
              <a:rPr lang="en-US" dirty="0" smtClean="0">
                <a:latin typeface="Times New Roman" pitchFamily="18" charset="0"/>
                <a:cs typeface="Times New Roman" pitchFamily="18" charset="0"/>
              </a:rPr>
              <a:t>="@+id/button1" </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android:layout_width</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wrap_content</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android:layout_height</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wrap_content</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android:layout_marginTop</a:t>
            </a:r>
            <a:r>
              <a:rPr lang="en-US" dirty="0" smtClean="0">
                <a:latin typeface="Times New Roman" pitchFamily="18" charset="0"/>
                <a:cs typeface="Times New Roman" pitchFamily="18" charset="0"/>
              </a:rPr>
              <a:t>="35sp" </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android:text</a:t>
            </a:r>
            <a:r>
              <a:rPr lang="en-US" dirty="0" smtClean="0">
                <a:latin typeface="Times New Roman" pitchFamily="18" charset="0"/>
                <a:cs typeface="Times New Roman" pitchFamily="18" charset="0"/>
              </a:rPr>
              <a:t>="Top Left Button“</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android:layout_alignParentLeft</a:t>
            </a:r>
            <a:r>
              <a:rPr lang="en-US" dirty="0" smtClean="0">
                <a:latin typeface="Times New Roman" pitchFamily="18" charset="0"/>
                <a:cs typeface="Times New Roman" pitchFamily="18" charset="0"/>
              </a:rPr>
              <a:t>="true" </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android:layout_alignParentTop</a:t>
            </a:r>
            <a:r>
              <a:rPr lang="en-US" dirty="0" smtClean="0">
                <a:latin typeface="Times New Roman" pitchFamily="18" charset="0"/>
                <a:cs typeface="Times New Roman" pitchFamily="18" charset="0"/>
              </a:rPr>
              <a:t>="true"</a:t>
            </a:r>
            <a:r>
              <a:rPr lang="en-US" b="1" dirty="0" smtClean="0">
                <a:latin typeface="Times New Roman" pitchFamily="18" charset="0"/>
                <a:cs typeface="Times New Roman" pitchFamily="18" charset="0"/>
              </a:rPr>
              <a:t>/&gt;</a:t>
            </a:r>
          </a:p>
          <a:p>
            <a:pPr>
              <a:buNone/>
            </a:pP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4" name="Rectangle 3"/>
          <p:cNvSpPr/>
          <p:nvPr/>
        </p:nvSpPr>
        <p:spPr>
          <a:xfrm>
            <a:off x="6178550" y="1253341"/>
            <a:ext cx="5219700" cy="4247317"/>
          </a:xfrm>
          <a:prstGeom prst="rect">
            <a:avLst/>
          </a:prstGeom>
        </p:spPr>
        <p:txBody>
          <a:bodyPr wrap="square">
            <a:spAutoFit/>
          </a:bodyPr>
          <a:lstStyle/>
          <a:p>
            <a:pPr>
              <a:buNone/>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&lt;Button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android:id</a:t>
            </a:r>
            <a:r>
              <a:rPr lang="en-US" dirty="0" smtClean="0">
                <a:latin typeface="Times New Roman" pitchFamily="18" charset="0"/>
                <a:cs typeface="Times New Roman" pitchFamily="18" charset="0"/>
              </a:rPr>
              <a:t>="@+id/button2“</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android:layout_width</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wrap_content</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android:layout_height</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wrap_content</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android:layout_marginTop</a:t>
            </a:r>
            <a:r>
              <a:rPr lang="en-US" dirty="0" smtClean="0">
                <a:latin typeface="Times New Roman" pitchFamily="18" charset="0"/>
                <a:cs typeface="Times New Roman" pitchFamily="18" charset="0"/>
              </a:rPr>
              <a:t>="35sp“</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android:text</a:t>
            </a:r>
            <a:r>
              <a:rPr lang="en-US" dirty="0" smtClean="0">
                <a:latin typeface="Times New Roman" pitchFamily="18" charset="0"/>
                <a:cs typeface="Times New Roman" pitchFamily="18" charset="0"/>
              </a:rPr>
              <a:t>="Top Right Button“</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android:layout_alignParentTop</a:t>
            </a:r>
            <a:r>
              <a:rPr lang="en-US" dirty="0" smtClean="0">
                <a:latin typeface="Times New Roman" pitchFamily="18" charset="0"/>
                <a:cs typeface="Times New Roman" pitchFamily="18" charset="0"/>
              </a:rPr>
              <a:t>="true“</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android:layout_alignParentRight</a:t>
            </a:r>
            <a:r>
              <a:rPr lang="en-US" dirty="0" smtClean="0">
                <a:latin typeface="Times New Roman" pitchFamily="18" charset="0"/>
                <a:cs typeface="Times New Roman" pitchFamily="18" charset="0"/>
              </a:rPr>
              <a:t>="true"</a:t>
            </a:r>
            <a:r>
              <a:rPr lang="en-US" b="1" dirty="0" smtClean="0">
                <a:latin typeface="Times New Roman" pitchFamily="18" charset="0"/>
                <a:cs typeface="Times New Roman" pitchFamily="18" charset="0"/>
              </a:rPr>
              <a:t>/&gt;</a:t>
            </a:r>
          </a:p>
          <a:p>
            <a:pPr>
              <a:buNone/>
            </a:pP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&lt;Button</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android:id</a:t>
            </a:r>
            <a:r>
              <a:rPr lang="en-US" dirty="0" smtClean="0">
                <a:latin typeface="Times New Roman" pitchFamily="18" charset="0"/>
                <a:cs typeface="Times New Roman" pitchFamily="18" charset="0"/>
              </a:rPr>
              <a:t>="@+id/button3" </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android:layout_width</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wrap_content</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android:layout_height</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wrap_content</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android:text</a:t>
            </a:r>
            <a:r>
              <a:rPr lang="en-US" dirty="0" smtClean="0">
                <a:latin typeface="Times New Roman" pitchFamily="18" charset="0"/>
                <a:cs typeface="Times New Roman" pitchFamily="18" charset="0"/>
              </a:rPr>
              <a:t>="Bottom Left Button" </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android:layout_alignParentLeft</a:t>
            </a:r>
            <a:r>
              <a:rPr lang="en-US" dirty="0" smtClean="0">
                <a:latin typeface="Times New Roman" pitchFamily="18" charset="0"/>
                <a:cs typeface="Times New Roman" pitchFamily="18" charset="0"/>
              </a:rPr>
              <a:t>="true“</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android:layout_alignParentBottom</a:t>
            </a:r>
            <a:r>
              <a:rPr lang="en-US" dirty="0" smtClean="0">
                <a:latin typeface="Times New Roman" pitchFamily="18" charset="0"/>
                <a:cs typeface="Times New Roman" pitchFamily="18" charset="0"/>
              </a:rPr>
              <a:t>="true"</a:t>
            </a:r>
            <a:r>
              <a:rPr lang="en-US" b="1" dirty="0" smtClean="0">
                <a:latin typeface="Times New Roman" pitchFamily="18" charset="0"/>
                <a:cs typeface="Times New Roman" pitchFamily="18" charset="0"/>
              </a:rPr>
              <a:t>/&gt;</a:t>
            </a:r>
            <a:r>
              <a:rPr lang="en-US" dirty="0" smtClean="0">
                <a:latin typeface="Times New Roman" pitchFamily="18" charset="0"/>
                <a:cs typeface="Times New Roman" pitchFamily="18" charset="0"/>
              </a:rPr>
              <a:t> </a:t>
            </a:r>
          </a:p>
          <a:p>
            <a:pPr>
              <a:buNone/>
            </a:pPr>
            <a:r>
              <a:rPr lang="en-US" b="1" dirty="0" smtClean="0">
                <a:latin typeface="Times New Roman" pitchFamily="18" charset="0"/>
                <a:cs typeface="Times New Roman" pitchFamily="18" charset="0"/>
              </a:rPr>
              <a:t>&lt;/</a:t>
            </a:r>
            <a:r>
              <a:rPr lang="en-US" b="1" dirty="0" err="1" smtClean="0">
                <a:latin typeface="Times New Roman" pitchFamily="18" charset="0"/>
                <a:cs typeface="Times New Roman" pitchFamily="18" charset="0"/>
              </a:rPr>
              <a:t>RelativeLayout</a:t>
            </a:r>
            <a:r>
              <a:rPr lang="en-US" b="1" dirty="0" smtClean="0">
                <a:latin typeface="Times New Roman" pitchFamily="18" charset="0"/>
                <a:cs typeface="Times New Roman" pitchFamily="18" charset="0"/>
              </a:rPr>
              <a:t>&gt;</a:t>
            </a:r>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168B61B-33A5-14D9-C488-8B34E7F86FB4}"/>
              </a:ext>
            </a:extLst>
          </p:cNvPr>
          <p:cNvSpPr>
            <a:spLocks noGrp="1"/>
          </p:cNvSpPr>
          <p:nvPr>
            <p:ph type="title"/>
          </p:nvPr>
        </p:nvSpPr>
        <p:spPr/>
        <p:txBody>
          <a:bodyPr/>
          <a:lstStyle/>
          <a:p>
            <a:r>
              <a:rPr lang="en-US" b="1" dirty="0">
                <a:solidFill>
                  <a:srgbClr val="273239"/>
                </a:solidFill>
                <a:latin typeface="Times New Roman" panose="02020603050405020304" pitchFamily="18" charset="0"/>
                <a:cs typeface="Times New Roman" panose="02020603050405020304" pitchFamily="18" charset="0"/>
              </a:rPr>
              <a:t>Android Constraint Layout: </a:t>
            </a:r>
            <a:endParaRPr lang="en-IN" dirty="0"/>
          </a:p>
        </p:txBody>
      </p:sp>
      <p:sp>
        <p:nvSpPr>
          <p:cNvPr id="3" name="Content Placeholder 2">
            <a:extLst>
              <a:ext uri="{FF2B5EF4-FFF2-40B4-BE49-F238E27FC236}">
                <a16:creationId xmlns="" xmlns:a16="http://schemas.microsoft.com/office/drawing/2014/main" id="{19F2374E-4F74-AEE5-2CC5-6505CACDB08A}"/>
              </a:ext>
            </a:extLst>
          </p:cNvPr>
          <p:cNvSpPr>
            <a:spLocks noGrp="1"/>
          </p:cNvSpPr>
          <p:nvPr>
            <p:ph idx="1"/>
          </p:nvPr>
        </p:nvSpPr>
        <p:spPr/>
        <p:txBody>
          <a:bodyPr/>
          <a:lstStyle/>
          <a:p>
            <a:pPr algn="just"/>
            <a:r>
              <a:rPr lang="en-US" b="1" dirty="0">
                <a:solidFill>
                  <a:srgbClr val="273239"/>
                </a:solidFill>
                <a:latin typeface="Times New Roman" panose="02020603050405020304" pitchFamily="18" charset="0"/>
                <a:cs typeface="Times New Roman" panose="02020603050405020304" pitchFamily="18" charset="0"/>
              </a:rPr>
              <a:t>Android Constraint Layout: </a:t>
            </a:r>
            <a:r>
              <a:rPr lang="en-US" dirty="0" err="1">
                <a:solidFill>
                  <a:srgbClr val="273239"/>
                </a:solidFill>
                <a:latin typeface="Times New Roman" panose="02020603050405020304" pitchFamily="18" charset="0"/>
                <a:cs typeface="Times New Roman" panose="02020603050405020304" pitchFamily="18" charset="0"/>
              </a:rPr>
              <a:t>ConstraintLayout</a:t>
            </a:r>
            <a:r>
              <a:rPr lang="en-US" dirty="0">
                <a:solidFill>
                  <a:srgbClr val="273239"/>
                </a:solidFill>
                <a:latin typeface="Times New Roman" panose="02020603050405020304" pitchFamily="18" charset="0"/>
                <a:cs typeface="Times New Roman" panose="02020603050405020304" pitchFamily="18" charset="0"/>
              </a:rPr>
              <a:t> is a </a:t>
            </a:r>
            <a:r>
              <a:rPr lang="en-US" dirty="0" err="1">
                <a:solidFill>
                  <a:srgbClr val="273239"/>
                </a:solidFill>
                <a:latin typeface="Times New Roman" panose="02020603050405020304" pitchFamily="18" charset="0"/>
                <a:cs typeface="Times New Roman" panose="02020603050405020304" pitchFamily="18" charset="0"/>
              </a:rPr>
              <a:t>ViewGroup</a:t>
            </a:r>
            <a:r>
              <a:rPr lang="en-US" dirty="0">
                <a:solidFill>
                  <a:srgbClr val="273239"/>
                </a:solidFill>
                <a:latin typeface="Times New Roman" panose="02020603050405020304" pitchFamily="18" charset="0"/>
                <a:cs typeface="Times New Roman" panose="02020603050405020304" pitchFamily="18" charset="0"/>
              </a:rPr>
              <a:t> subclass, used to specify the position of layout constraints for every child View relative to other views present. A </a:t>
            </a:r>
            <a:r>
              <a:rPr lang="en-US" dirty="0" err="1">
                <a:solidFill>
                  <a:srgbClr val="273239"/>
                </a:solidFill>
                <a:latin typeface="Times New Roman" panose="02020603050405020304" pitchFamily="18" charset="0"/>
                <a:cs typeface="Times New Roman" panose="02020603050405020304" pitchFamily="18" charset="0"/>
              </a:rPr>
              <a:t>ConstraintLayout</a:t>
            </a:r>
            <a:r>
              <a:rPr lang="en-US" dirty="0">
                <a:solidFill>
                  <a:srgbClr val="273239"/>
                </a:solidFill>
                <a:latin typeface="Times New Roman" panose="02020603050405020304" pitchFamily="18" charset="0"/>
                <a:cs typeface="Times New Roman" panose="02020603050405020304" pitchFamily="18" charset="0"/>
              </a:rPr>
              <a:t> is similar to a Relative Layout, but having more power.</a:t>
            </a:r>
          </a:p>
          <a:p>
            <a:endParaRPr lang="en-IN" dirty="0"/>
          </a:p>
        </p:txBody>
      </p:sp>
    </p:spTree>
    <p:extLst>
      <p:ext uri="{BB962C8B-B14F-4D97-AF65-F5344CB8AC3E}">
        <p14:creationId xmlns="" xmlns:p14="http://schemas.microsoft.com/office/powerpoint/2010/main" val="104316768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581D31-8F21-F57E-3306-991EE5DD7B20}"/>
              </a:ext>
            </a:extLst>
          </p:cNvPr>
          <p:cNvSpPr>
            <a:spLocks noGrp="1"/>
          </p:cNvSpPr>
          <p:nvPr>
            <p:ph type="title"/>
          </p:nvPr>
        </p:nvSpPr>
        <p:spPr/>
        <p:txBody>
          <a:bodyPr/>
          <a:lstStyle/>
          <a:p>
            <a:r>
              <a:rPr lang="en-IN" b="1" i="0" dirty="0" smtClean="0">
                <a:solidFill>
                  <a:srgbClr val="273239"/>
                </a:solidFill>
                <a:effectLst/>
                <a:latin typeface="Nunito" pitchFamily="2" charset="0"/>
              </a:rPr>
              <a:t>Other Types </a:t>
            </a:r>
            <a:r>
              <a:rPr lang="en-IN" b="1" i="0" dirty="0">
                <a:solidFill>
                  <a:srgbClr val="273239"/>
                </a:solidFill>
                <a:effectLst/>
                <a:latin typeface="Nunito" pitchFamily="2" charset="0"/>
              </a:rPr>
              <a:t>of Android Layout</a:t>
            </a:r>
            <a:endParaRPr lang="en-IN" dirty="0"/>
          </a:p>
        </p:txBody>
      </p:sp>
      <p:sp>
        <p:nvSpPr>
          <p:cNvPr id="3" name="Content Placeholder 2">
            <a:extLst>
              <a:ext uri="{FF2B5EF4-FFF2-40B4-BE49-F238E27FC236}">
                <a16:creationId xmlns="" xmlns:a16="http://schemas.microsoft.com/office/drawing/2014/main" id="{5CDA1EDE-1C4C-5EC9-6ADE-3B0342421169}"/>
              </a:ext>
            </a:extLst>
          </p:cNvPr>
          <p:cNvSpPr>
            <a:spLocks noGrp="1"/>
          </p:cNvSpPr>
          <p:nvPr>
            <p:ph idx="1"/>
          </p:nvPr>
        </p:nvSpPr>
        <p:spPr>
          <a:xfrm>
            <a:off x="838200" y="1690688"/>
            <a:ext cx="10604500" cy="4486275"/>
          </a:xfrm>
        </p:spPr>
        <p:txBody>
          <a:bodyPr>
            <a:normAutofit/>
          </a:bodyPr>
          <a:lstStyle/>
          <a:p>
            <a:pPr algn="just" fontAlgn="base">
              <a:buFont typeface="Arial" panose="020B0604020202020204" pitchFamily="34" charset="0"/>
              <a:buChar char="•"/>
            </a:pPr>
            <a:r>
              <a:rPr lang="en-US" sz="1900" b="1" i="0" dirty="0">
                <a:solidFill>
                  <a:srgbClr val="273239"/>
                </a:solidFill>
                <a:effectLst/>
                <a:latin typeface="Times New Roman" panose="02020603050405020304" pitchFamily="18" charset="0"/>
                <a:cs typeface="Times New Roman" panose="02020603050405020304" pitchFamily="18" charset="0"/>
              </a:rPr>
              <a:t>Android Frame Layout: </a:t>
            </a:r>
            <a:r>
              <a:rPr lang="en-US" sz="1900" dirty="0">
                <a:latin typeface="Times New Roman" panose="02020603050405020304" pitchFamily="18" charset="0"/>
                <a:cs typeface="Times New Roman" panose="02020603050405020304" pitchFamily="18" charset="0"/>
              </a:rPr>
              <a:t>Frame Layout is a View Group subclass, used to specify the position of View elements it contains on the top of each other to display only a single View inside the Frame Layout.</a:t>
            </a:r>
          </a:p>
          <a:p>
            <a:pPr algn="just" fontAlgn="base">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Designed to block out an area on the screen to display a </a:t>
            </a:r>
            <a:r>
              <a:rPr lang="en-US" sz="1900" b="1" dirty="0">
                <a:latin typeface="Times New Roman" panose="02020603050405020304" pitchFamily="18" charset="0"/>
                <a:cs typeface="Times New Roman" panose="02020603050405020304" pitchFamily="18" charset="0"/>
              </a:rPr>
              <a:t>single item</a:t>
            </a:r>
            <a:r>
              <a:rPr lang="en-US" sz="1900" dirty="0">
                <a:latin typeface="Times New Roman" panose="02020603050405020304" pitchFamily="18" charset="0"/>
                <a:cs typeface="Times New Roman" panose="02020603050405020304" pitchFamily="18" charset="0"/>
              </a:rPr>
              <a:t>. </a:t>
            </a:r>
          </a:p>
          <a:p>
            <a:pPr algn="just" fontAlgn="base">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Unlike Linear Layout, Frame Layout doesn’t arrange children in a specific order; instead, it </a:t>
            </a:r>
            <a:r>
              <a:rPr lang="en-US" sz="1900" b="1" dirty="0">
                <a:latin typeface="Times New Roman" panose="02020603050405020304" pitchFamily="18" charset="0"/>
                <a:cs typeface="Times New Roman" panose="02020603050405020304" pitchFamily="18" charset="0"/>
              </a:rPr>
              <a:t>overlaps</a:t>
            </a:r>
            <a:r>
              <a:rPr lang="en-US" sz="1900" dirty="0">
                <a:latin typeface="Times New Roman" panose="02020603050405020304" pitchFamily="18" charset="0"/>
                <a:cs typeface="Times New Roman" panose="02020603050405020304" pitchFamily="18" charset="0"/>
              </a:rPr>
              <a:t> its children in a </a:t>
            </a:r>
            <a:r>
              <a:rPr lang="en-US" sz="1900" b="1" dirty="0">
                <a:latin typeface="Times New Roman" panose="02020603050405020304" pitchFamily="18" charset="0"/>
                <a:cs typeface="Times New Roman" panose="02020603050405020304" pitchFamily="18" charset="0"/>
              </a:rPr>
              <a:t>stacked</a:t>
            </a:r>
            <a:r>
              <a:rPr lang="en-US" sz="1900" dirty="0">
                <a:latin typeface="Times New Roman" panose="02020603050405020304" pitchFamily="18" charset="0"/>
                <a:cs typeface="Times New Roman" panose="02020603050405020304" pitchFamily="18" charset="0"/>
              </a:rPr>
              <a:t> manner.</a:t>
            </a:r>
          </a:p>
          <a:p>
            <a:pPr algn="just" fontAlgn="base">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Children can be aligned to one of the layout’s sides using layout gravity.</a:t>
            </a:r>
            <a:endParaRPr lang="en-US" sz="1900" b="0" i="0" dirty="0">
              <a:solidFill>
                <a:srgbClr val="273239"/>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1900" b="1" i="0" dirty="0">
                <a:solidFill>
                  <a:srgbClr val="273239"/>
                </a:solidFill>
                <a:effectLst/>
                <a:latin typeface="Times New Roman" panose="02020603050405020304" pitchFamily="18" charset="0"/>
                <a:cs typeface="Times New Roman" panose="02020603050405020304" pitchFamily="18" charset="0"/>
              </a:rPr>
              <a:t>Android Table Layout: </a:t>
            </a:r>
            <a:r>
              <a:rPr lang="en-US" sz="1900" b="0" i="0" dirty="0">
                <a:solidFill>
                  <a:srgbClr val="273239"/>
                </a:solidFill>
                <a:effectLst/>
                <a:latin typeface="Times New Roman" panose="02020603050405020304" pitchFamily="18" charset="0"/>
                <a:cs typeface="Times New Roman" panose="02020603050405020304" pitchFamily="18" charset="0"/>
              </a:rPr>
              <a:t>Table Layout is a View Group subclass, used to display the child View elements in rows and columns.</a:t>
            </a:r>
          </a:p>
          <a:p>
            <a:pPr algn="just" fontAlgn="base">
              <a:buFont typeface="Arial" panose="020B0604020202020204" pitchFamily="34" charset="0"/>
              <a:buChar char="•"/>
            </a:pPr>
            <a:r>
              <a:rPr lang="en-US" sz="1900" b="1" i="0" dirty="0">
                <a:solidFill>
                  <a:srgbClr val="273239"/>
                </a:solidFill>
                <a:effectLst/>
                <a:latin typeface="Times New Roman" panose="02020603050405020304" pitchFamily="18" charset="0"/>
                <a:cs typeface="Times New Roman" panose="02020603050405020304" pitchFamily="18" charset="0"/>
              </a:rPr>
              <a:t>Android Web View: </a:t>
            </a:r>
            <a:r>
              <a:rPr lang="en-US" sz="1900" b="0" i="0" dirty="0">
                <a:solidFill>
                  <a:srgbClr val="273239"/>
                </a:solidFill>
                <a:effectLst/>
                <a:latin typeface="Times New Roman" panose="02020603050405020304" pitchFamily="18" charset="0"/>
                <a:cs typeface="Times New Roman" panose="02020603050405020304" pitchFamily="18" charset="0"/>
              </a:rPr>
              <a:t>WebView is a browser that is used to display the web pages in our activity layout.</a:t>
            </a:r>
          </a:p>
          <a:p>
            <a:pPr algn="just" fontAlgn="base">
              <a:buFont typeface="Arial" panose="020B0604020202020204" pitchFamily="34" charset="0"/>
              <a:buChar char="•"/>
            </a:pPr>
            <a:r>
              <a:rPr lang="en-US" sz="1900" b="1" i="0" dirty="0">
                <a:solidFill>
                  <a:srgbClr val="273239"/>
                </a:solidFill>
                <a:effectLst/>
                <a:latin typeface="Times New Roman" panose="02020603050405020304" pitchFamily="18" charset="0"/>
                <a:cs typeface="Times New Roman" panose="02020603050405020304" pitchFamily="18" charset="0"/>
              </a:rPr>
              <a:t>Android List View: </a:t>
            </a:r>
            <a:r>
              <a:rPr lang="en-US" sz="1900" b="0" i="0" dirty="0">
                <a:solidFill>
                  <a:srgbClr val="273239"/>
                </a:solidFill>
                <a:effectLst/>
                <a:latin typeface="Times New Roman" panose="02020603050405020304" pitchFamily="18" charset="0"/>
                <a:cs typeface="Times New Roman" panose="02020603050405020304" pitchFamily="18" charset="0"/>
              </a:rPr>
              <a:t>List View is a View Group, used to display scrollable lists of items in a single column.</a:t>
            </a:r>
          </a:p>
          <a:p>
            <a:pPr algn="just" fontAlgn="base">
              <a:buFont typeface="Arial" panose="020B0604020202020204" pitchFamily="34" charset="0"/>
              <a:buChar char="•"/>
            </a:pPr>
            <a:r>
              <a:rPr lang="en-US" sz="1900" b="1" i="0" dirty="0">
                <a:solidFill>
                  <a:srgbClr val="273239"/>
                </a:solidFill>
                <a:effectLst/>
                <a:latin typeface="Times New Roman" panose="02020603050405020304" pitchFamily="18" charset="0"/>
                <a:cs typeface="Times New Roman" panose="02020603050405020304" pitchFamily="18" charset="0"/>
              </a:rPr>
              <a:t>Android Grid View: </a:t>
            </a:r>
            <a:r>
              <a:rPr lang="en-US" sz="1900" b="0" i="0" dirty="0">
                <a:solidFill>
                  <a:srgbClr val="273239"/>
                </a:solidFill>
                <a:effectLst/>
                <a:latin typeface="Times New Roman" panose="02020603050405020304" pitchFamily="18" charset="0"/>
                <a:cs typeface="Times New Roman" panose="02020603050405020304" pitchFamily="18" charset="0"/>
              </a:rPr>
              <a:t>Grid View is a View Group that is used to display a scrollable list of items in a grid view of rows and columns.</a:t>
            </a:r>
          </a:p>
          <a:p>
            <a:endParaRPr lang="en-IN" dirty="0"/>
          </a:p>
        </p:txBody>
      </p:sp>
    </p:spTree>
    <p:extLst>
      <p:ext uri="{BB962C8B-B14F-4D97-AF65-F5344CB8AC3E}">
        <p14:creationId xmlns="" xmlns:p14="http://schemas.microsoft.com/office/powerpoint/2010/main" val="347845210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AbsoluteLayout</a:t>
            </a:r>
            <a:endParaRPr lang="en-US" dirty="0"/>
          </a:p>
        </p:txBody>
      </p:sp>
      <p:sp>
        <p:nvSpPr>
          <p:cNvPr id="3" name="Content Placeholder 2"/>
          <p:cNvSpPr>
            <a:spLocks noGrp="1"/>
          </p:cNvSpPr>
          <p:nvPr>
            <p:ph idx="1"/>
          </p:nvPr>
        </p:nvSpPr>
        <p:spPr/>
        <p:txBody>
          <a:bodyPr>
            <a:normAutofit fontScale="77500" lnSpcReduction="20000"/>
          </a:bodyPr>
          <a:lstStyle/>
          <a:p>
            <a:pPr algn="just">
              <a:lnSpc>
                <a:spcPct val="200000"/>
              </a:lnSpc>
              <a:buNone/>
            </a:pPr>
            <a:r>
              <a:rPr lang="en-US" dirty="0" smtClean="0">
                <a:latin typeface="Times New Roman" pitchFamily="18" charset="0"/>
                <a:cs typeface="Times New Roman" pitchFamily="18" charset="0"/>
              </a:rPr>
              <a:t>	An </a:t>
            </a:r>
            <a:r>
              <a:rPr lang="en-US" b="1" dirty="0" err="1" smtClean="0">
                <a:latin typeface="Times New Roman" pitchFamily="18" charset="0"/>
                <a:cs typeface="Times New Roman" pitchFamily="18" charset="0"/>
              </a:rPr>
              <a:t>AbsoluteLayout</a:t>
            </a:r>
            <a:r>
              <a:rPr lang="en-US" dirty="0" smtClean="0">
                <a:latin typeface="Times New Roman" pitchFamily="18" charset="0"/>
                <a:cs typeface="Times New Roman" pitchFamily="18" charset="0"/>
              </a:rPr>
              <a:t> allows you to specify the exact location (X and Y coordinates) of its child views. However, it  is </a:t>
            </a:r>
            <a:r>
              <a:rPr lang="en-US" b="1" dirty="0" smtClean="0">
                <a:latin typeface="Times New Roman" pitchFamily="18" charset="0"/>
                <a:cs typeface="Times New Roman" pitchFamily="18" charset="0"/>
              </a:rPr>
              <a:t>deprecated</a:t>
            </a:r>
            <a:r>
              <a:rPr lang="en-US" dirty="0" smtClean="0">
                <a:latin typeface="Times New Roman" pitchFamily="18" charset="0"/>
                <a:cs typeface="Times New Roman" pitchFamily="18" charset="0"/>
              </a:rPr>
              <a:t> and highly </a:t>
            </a:r>
            <a:r>
              <a:rPr lang="en-US" dirty="0" err="1" smtClean="0">
                <a:latin typeface="Times New Roman" pitchFamily="18" charset="0"/>
                <a:cs typeface="Times New Roman" pitchFamily="18" charset="0"/>
              </a:rPr>
              <a:t>unrecommended</a:t>
            </a:r>
            <a:r>
              <a:rPr lang="en-US" dirty="0" smtClean="0">
                <a:latin typeface="Times New Roman" pitchFamily="18" charset="0"/>
                <a:cs typeface="Times New Roman" pitchFamily="18" charset="0"/>
              </a:rPr>
              <a:t> for modern Android development due to its lack of flexibility across different screen sizes and resolutions.</a:t>
            </a:r>
          </a:p>
          <a:p>
            <a:pPr algn="just">
              <a:buNone/>
            </a:pPr>
            <a:r>
              <a:rPr lang="en-US"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android:layout_x</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Specifies the X-coordinate (horizontal position) of the view, relative to the left edge of the parent layout.</a:t>
            </a:r>
          </a:p>
          <a:p>
            <a:pPr algn="just">
              <a:buNone/>
            </a:pPr>
            <a:r>
              <a:rPr lang="en-US"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android:layout_y</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Specifies the Y-coordinate (vertical position) of the view, relative to the top edge of the parent layout.</a:t>
            </a:r>
          </a:p>
          <a:p>
            <a:pPr algn="just">
              <a:buNone/>
            </a:pPr>
            <a:r>
              <a:rPr lang="en-US" dirty="0" smtClean="0">
                <a:latin typeface="Times New Roman" pitchFamily="18" charset="0"/>
                <a:cs typeface="Times New Roman" pitchFamily="18" charset="0"/>
              </a:rPr>
              <a:t>	Coordinates are typically specified in density-independent pixels (</a:t>
            </a:r>
            <a:r>
              <a:rPr lang="en-US" dirty="0" err="1" smtClean="0">
                <a:latin typeface="Times New Roman" pitchFamily="18" charset="0"/>
                <a:cs typeface="Times New Roman" pitchFamily="18" charset="0"/>
              </a:rPr>
              <a:t>dp</a:t>
            </a:r>
            <a:r>
              <a:rPr lang="en-US" dirty="0" smtClean="0">
                <a:latin typeface="Times New Roman" pitchFamily="18" charset="0"/>
                <a:cs typeface="Times New Roman" pitchFamily="18" charset="0"/>
              </a:rPr>
              <a:t>) or pixels (</a:t>
            </a:r>
            <a:r>
              <a:rPr lang="en-US" dirty="0" err="1" smtClean="0">
                <a:latin typeface="Times New Roman" pitchFamily="18" charset="0"/>
                <a:cs typeface="Times New Roman" pitchFamily="18" charset="0"/>
              </a:rPr>
              <a:t>px</a:t>
            </a:r>
            <a:r>
              <a:rPr lang="en-US" dirty="0" smtClean="0">
                <a:latin typeface="Times New Roman" pitchFamily="18" charset="0"/>
                <a:cs typeface="Times New Roman" pitchFamily="18" charset="0"/>
              </a:rPr>
              <a:t>). </a:t>
            </a:r>
          </a:p>
          <a:p>
            <a:pPr>
              <a:lnSpc>
                <a:spcPct val="200000"/>
              </a:lnSpc>
              <a:buNone/>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a:xfrm>
            <a:off x="838200" y="1825625"/>
            <a:ext cx="4546600" cy="4351338"/>
          </a:xfrm>
        </p:spPr>
        <p:txBody>
          <a:bodyPr>
            <a:noAutofit/>
          </a:bodyPr>
          <a:lstStyle/>
          <a:p>
            <a:pPr algn="just">
              <a:lnSpc>
                <a:spcPct val="200000"/>
              </a:lnSpc>
              <a:buNone/>
            </a:pPr>
            <a:r>
              <a:rPr lang="en-US" sz="1200" dirty="0" smtClean="0">
                <a:latin typeface="Times New Roman" pitchFamily="18" charset="0"/>
                <a:cs typeface="Times New Roman" pitchFamily="18" charset="0"/>
              </a:rPr>
              <a:t>&lt;?xml version="1.0" encoding="utf-8"?&gt; </a:t>
            </a:r>
          </a:p>
          <a:p>
            <a:pPr algn="just">
              <a:lnSpc>
                <a:spcPct val="200000"/>
              </a:lnSpc>
              <a:buNone/>
            </a:pPr>
            <a:r>
              <a:rPr lang="en-US" sz="1200" dirty="0" smtClean="0">
                <a:latin typeface="Times New Roman" pitchFamily="18" charset="0"/>
                <a:cs typeface="Times New Roman" pitchFamily="18" charset="0"/>
              </a:rPr>
              <a:t>&lt;</a:t>
            </a:r>
            <a:r>
              <a:rPr lang="en-US" sz="1200" dirty="0" err="1" smtClean="0">
                <a:latin typeface="Times New Roman" pitchFamily="18" charset="0"/>
                <a:cs typeface="Times New Roman" pitchFamily="18" charset="0"/>
              </a:rPr>
              <a:t>AbsoluteLayout</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xmlns:android</a:t>
            </a:r>
            <a:r>
              <a:rPr lang="en-US" sz="1200" dirty="0" smtClean="0">
                <a:latin typeface="Times New Roman" pitchFamily="18" charset="0"/>
                <a:cs typeface="Times New Roman" pitchFamily="18" charset="0"/>
              </a:rPr>
              <a:t>="http://schemas.android.com/apk/res/android" </a:t>
            </a:r>
          </a:p>
          <a:p>
            <a:pPr algn="just">
              <a:lnSpc>
                <a:spcPct val="200000"/>
              </a:lnSpc>
              <a:buNone/>
            </a:pPr>
            <a:r>
              <a:rPr lang="en-US" sz="1200" dirty="0" err="1" smtClean="0">
                <a:latin typeface="Times New Roman" pitchFamily="18" charset="0"/>
                <a:cs typeface="Times New Roman" pitchFamily="18" charset="0"/>
              </a:rPr>
              <a:t>xmlns:tools</a:t>
            </a:r>
            <a:r>
              <a:rPr lang="en-US" sz="1200" dirty="0" smtClean="0">
                <a:latin typeface="Times New Roman" pitchFamily="18" charset="0"/>
                <a:cs typeface="Times New Roman" pitchFamily="18" charset="0"/>
              </a:rPr>
              <a:t>=</a:t>
            </a:r>
            <a:r>
              <a:rPr lang="en-US" sz="1200" dirty="0" smtClean="0">
                <a:latin typeface="Times New Roman" pitchFamily="18" charset="0"/>
                <a:cs typeface="Times New Roman" pitchFamily="18" charset="0"/>
                <a:hlinkClick r:id="rId2"/>
              </a:rPr>
              <a:t>http://schemas.android.com/tools</a:t>
            </a:r>
            <a:endParaRPr lang="en-US" sz="1200" dirty="0" smtClean="0">
              <a:latin typeface="Times New Roman" pitchFamily="18" charset="0"/>
              <a:cs typeface="Times New Roman" pitchFamily="18" charset="0"/>
            </a:endParaRPr>
          </a:p>
          <a:p>
            <a:pPr algn="just">
              <a:lnSpc>
                <a:spcPct val="200000"/>
              </a:lnSpc>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android:layout_width</a:t>
            </a:r>
            <a:r>
              <a:rPr lang="en-US" sz="1200" dirty="0" smtClean="0">
                <a:latin typeface="Times New Roman" pitchFamily="18" charset="0"/>
                <a:cs typeface="Times New Roman" pitchFamily="18" charset="0"/>
              </a:rPr>
              <a:t>="</a:t>
            </a:r>
            <a:r>
              <a:rPr lang="en-US" sz="1200" dirty="0" err="1" smtClean="0">
                <a:latin typeface="Times New Roman" pitchFamily="18" charset="0"/>
                <a:cs typeface="Times New Roman" pitchFamily="18" charset="0"/>
              </a:rPr>
              <a:t>match_parent</a:t>
            </a:r>
            <a:r>
              <a:rPr lang="en-US" sz="1200" dirty="0" smtClean="0">
                <a:latin typeface="Times New Roman" pitchFamily="18" charset="0"/>
                <a:cs typeface="Times New Roman" pitchFamily="18" charset="0"/>
              </a:rPr>
              <a:t>" </a:t>
            </a:r>
          </a:p>
          <a:p>
            <a:pPr algn="just">
              <a:lnSpc>
                <a:spcPct val="200000"/>
              </a:lnSpc>
              <a:buNone/>
            </a:pPr>
            <a:r>
              <a:rPr lang="en-US" sz="1200" dirty="0" err="1" smtClean="0">
                <a:latin typeface="Times New Roman" pitchFamily="18" charset="0"/>
                <a:cs typeface="Times New Roman" pitchFamily="18" charset="0"/>
              </a:rPr>
              <a:t>android:layout_height</a:t>
            </a:r>
            <a:r>
              <a:rPr lang="en-US" sz="1200" dirty="0" smtClean="0">
                <a:latin typeface="Times New Roman" pitchFamily="18" charset="0"/>
                <a:cs typeface="Times New Roman" pitchFamily="18" charset="0"/>
              </a:rPr>
              <a:t>="</a:t>
            </a:r>
            <a:r>
              <a:rPr lang="en-US" sz="1200" dirty="0" err="1" smtClean="0">
                <a:latin typeface="Times New Roman" pitchFamily="18" charset="0"/>
                <a:cs typeface="Times New Roman" pitchFamily="18" charset="0"/>
              </a:rPr>
              <a:t>match_parent</a:t>
            </a:r>
            <a:r>
              <a:rPr lang="en-US" sz="1200" dirty="0" smtClean="0">
                <a:latin typeface="Times New Roman" pitchFamily="18" charset="0"/>
                <a:cs typeface="Times New Roman" pitchFamily="18" charset="0"/>
              </a:rPr>
              <a:t>" </a:t>
            </a:r>
          </a:p>
          <a:p>
            <a:pPr algn="just">
              <a:lnSpc>
                <a:spcPct val="200000"/>
              </a:lnSpc>
              <a:buNone/>
            </a:pPr>
            <a:r>
              <a:rPr lang="en-US" sz="1200" dirty="0" err="1" smtClean="0">
                <a:latin typeface="Times New Roman" pitchFamily="18" charset="0"/>
                <a:cs typeface="Times New Roman" pitchFamily="18" charset="0"/>
              </a:rPr>
              <a:t>tools:context</a:t>
            </a:r>
            <a:r>
              <a:rPr lang="en-US" sz="1200" dirty="0" smtClean="0">
                <a:latin typeface="Times New Roman" pitchFamily="18" charset="0"/>
                <a:cs typeface="Times New Roman" pitchFamily="18" charset="0"/>
              </a:rPr>
              <a:t>=".</a:t>
            </a:r>
            <a:r>
              <a:rPr lang="en-US" sz="1200" dirty="0" err="1" smtClean="0">
                <a:latin typeface="Times New Roman" pitchFamily="18" charset="0"/>
                <a:cs typeface="Times New Roman" pitchFamily="18" charset="0"/>
              </a:rPr>
              <a:t>MainActivity</a:t>
            </a:r>
            <a:r>
              <a:rPr lang="en-US" sz="1200" dirty="0" smtClean="0">
                <a:latin typeface="Times New Roman" pitchFamily="18" charset="0"/>
                <a:cs typeface="Times New Roman" pitchFamily="18" charset="0"/>
              </a:rPr>
              <a:t>"&gt; </a:t>
            </a:r>
          </a:p>
        </p:txBody>
      </p:sp>
      <p:sp>
        <p:nvSpPr>
          <p:cNvPr id="4" name="Rectangle 3"/>
          <p:cNvSpPr/>
          <p:nvPr/>
        </p:nvSpPr>
        <p:spPr>
          <a:xfrm>
            <a:off x="5568950" y="1267589"/>
            <a:ext cx="6096000" cy="5632311"/>
          </a:xfrm>
          <a:prstGeom prst="rect">
            <a:avLst/>
          </a:prstGeom>
        </p:spPr>
        <p:txBody>
          <a:bodyPr>
            <a:spAutoFit/>
          </a:bodyPr>
          <a:lstStyle/>
          <a:p>
            <a:pPr algn="just">
              <a:lnSpc>
                <a:spcPct val="200000"/>
              </a:lnSpc>
              <a:buNone/>
            </a:pPr>
            <a:r>
              <a:rPr lang="en-US" dirty="0" smtClean="0">
                <a:latin typeface="Times New Roman" pitchFamily="18" charset="0"/>
                <a:cs typeface="Times New Roman" pitchFamily="18" charset="0"/>
              </a:rPr>
              <a:t>&lt;</a:t>
            </a:r>
            <a:r>
              <a:rPr lang="en-US" dirty="0" err="1" smtClean="0">
                <a:latin typeface="Times New Roman" pitchFamily="18" charset="0"/>
                <a:cs typeface="Times New Roman" pitchFamily="18" charset="0"/>
              </a:rPr>
              <a:t>TextView</a:t>
            </a:r>
            <a:endParaRPr lang="en-US" dirty="0" smtClean="0">
              <a:latin typeface="Times New Roman" pitchFamily="18" charset="0"/>
              <a:cs typeface="Times New Roman" pitchFamily="18" charset="0"/>
            </a:endParaRPr>
          </a:p>
          <a:p>
            <a:pPr algn="just">
              <a:lnSpc>
                <a:spcPct val="200000"/>
              </a:lnSpc>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android:layout_width</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wrap_content</a:t>
            </a:r>
            <a:r>
              <a:rPr lang="en-US" dirty="0" smtClean="0">
                <a:latin typeface="Times New Roman" pitchFamily="18" charset="0"/>
                <a:cs typeface="Times New Roman" pitchFamily="18" charset="0"/>
              </a:rPr>
              <a:t>“</a:t>
            </a:r>
          </a:p>
          <a:p>
            <a:pPr algn="just">
              <a:lnSpc>
                <a:spcPct val="200000"/>
              </a:lnSpc>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android:layout_height</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wrap_content</a:t>
            </a:r>
            <a:r>
              <a:rPr lang="en-US" dirty="0" smtClean="0">
                <a:latin typeface="Times New Roman" pitchFamily="18" charset="0"/>
                <a:cs typeface="Times New Roman" pitchFamily="18" charset="0"/>
              </a:rPr>
              <a:t>" </a:t>
            </a:r>
          </a:p>
          <a:p>
            <a:pPr algn="just">
              <a:lnSpc>
                <a:spcPct val="200000"/>
              </a:lnSpc>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android:layout_x</a:t>
            </a:r>
            <a:r>
              <a:rPr lang="en-US" dirty="0" smtClean="0">
                <a:latin typeface="Times New Roman" pitchFamily="18" charset="0"/>
                <a:cs typeface="Times New Roman" pitchFamily="18" charset="0"/>
              </a:rPr>
              <a:t>="90dp" </a:t>
            </a:r>
          </a:p>
          <a:p>
            <a:pPr algn="just">
              <a:lnSpc>
                <a:spcPct val="200000"/>
              </a:lnSpc>
              <a:buNone/>
            </a:pPr>
            <a:r>
              <a:rPr lang="en-US" dirty="0" err="1" smtClean="0">
                <a:latin typeface="Times New Roman" pitchFamily="18" charset="0"/>
                <a:cs typeface="Times New Roman" pitchFamily="18" charset="0"/>
              </a:rPr>
              <a:t>android:layout_y</a:t>
            </a:r>
            <a:r>
              <a:rPr lang="en-US" dirty="0" smtClean="0">
                <a:latin typeface="Times New Roman" pitchFamily="18" charset="0"/>
                <a:cs typeface="Times New Roman" pitchFamily="18" charset="0"/>
              </a:rPr>
              <a:t>="350dp" </a:t>
            </a:r>
          </a:p>
          <a:p>
            <a:pPr algn="just">
              <a:lnSpc>
                <a:spcPct val="200000"/>
              </a:lnSpc>
              <a:buNone/>
            </a:pPr>
            <a:r>
              <a:rPr lang="en-US" dirty="0" err="1" smtClean="0">
                <a:latin typeface="Times New Roman" pitchFamily="18" charset="0"/>
                <a:cs typeface="Times New Roman" pitchFamily="18" charset="0"/>
              </a:rPr>
              <a:t>android:text</a:t>
            </a:r>
            <a:r>
              <a:rPr lang="en-US" dirty="0" smtClean="0">
                <a:latin typeface="Times New Roman" pitchFamily="18" charset="0"/>
                <a:cs typeface="Times New Roman" pitchFamily="18" charset="0"/>
              </a:rPr>
              <a:t>="Absolute Layout Example“</a:t>
            </a:r>
          </a:p>
          <a:p>
            <a:pPr algn="just">
              <a:lnSpc>
                <a:spcPct val="200000"/>
              </a:lnSpc>
              <a:buNone/>
            </a:pPr>
            <a:r>
              <a:rPr lang="en-US" dirty="0" err="1" smtClean="0">
                <a:latin typeface="Times New Roman" pitchFamily="18" charset="0"/>
                <a:cs typeface="Times New Roman" pitchFamily="18" charset="0"/>
              </a:rPr>
              <a:t>android:textColor</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android:color</a:t>
            </a:r>
            <a:r>
              <a:rPr lang="en-US" dirty="0" smtClean="0">
                <a:latin typeface="Times New Roman" pitchFamily="18" charset="0"/>
                <a:cs typeface="Times New Roman" pitchFamily="18" charset="0"/>
              </a:rPr>
              <a:t>/black" </a:t>
            </a:r>
          </a:p>
          <a:p>
            <a:pPr algn="just">
              <a:lnSpc>
                <a:spcPct val="200000"/>
              </a:lnSpc>
              <a:buNone/>
            </a:pPr>
            <a:r>
              <a:rPr lang="en-US" dirty="0" err="1" smtClean="0">
                <a:latin typeface="Times New Roman" pitchFamily="18" charset="0"/>
                <a:cs typeface="Times New Roman" pitchFamily="18" charset="0"/>
              </a:rPr>
              <a:t>android:textSize</a:t>
            </a:r>
            <a:r>
              <a:rPr lang="en-US" dirty="0" smtClean="0">
                <a:latin typeface="Times New Roman" pitchFamily="18" charset="0"/>
                <a:cs typeface="Times New Roman" pitchFamily="18" charset="0"/>
              </a:rPr>
              <a:t>="20sp" </a:t>
            </a:r>
          </a:p>
          <a:p>
            <a:pPr algn="just">
              <a:lnSpc>
                <a:spcPct val="200000"/>
              </a:lnSpc>
              <a:buNone/>
            </a:pPr>
            <a:r>
              <a:rPr lang="en-US" dirty="0" err="1" smtClean="0">
                <a:latin typeface="Times New Roman" pitchFamily="18" charset="0"/>
                <a:cs typeface="Times New Roman" pitchFamily="18" charset="0"/>
              </a:rPr>
              <a:t>android:textStyle</a:t>
            </a:r>
            <a:r>
              <a:rPr lang="en-US" dirty="0" smtClean="0">
                <a:latin typeface="Times New Roman" pitchFamily="18" charset="0"/>
                <a:cs typeface="Times New Roman" pitchFamily="18" charset="0"/>
              </a:rPr>
              <a:t>="bold" /&gt;</a:t>
            </a:r>
          </a:p>
          <a:p>
            <a:pPr algn="just">
              <a:lnSpc>
                <a:spcPct val="200000"/>
              </a:lnSpc>
              <a:buNone/>
            </a:pPr>
            <a:r>
              <a:rPr lang="en-US" dirty="0" smtClean="0"/>
              <a:t>&lt;/</a:t>
            </a:r>
            <a:r>
              <a:rPr lang="en-US" dirty="0" err="1" smtClean="0"/>
              <a:t>AbsoluteLayout</a:t>
            </a:r>
            <a:r>
              <a:rPr lang="en-US" dirty="0" smtClean="0"/>
              <a:t>&gt;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 Layout</a:t>
            </a:r>
            <a:endParaRPr lang="en-US" dirty="0"/>
          </a:p>
        </p:txBody>
      </p:sp>
      <p:sp>
        <p:nvSpPr>
          <p:cNvPr id="3" name="Content Placeholder 2"/>
          <p:cNvSpPr>
            <a:spLocks noGrp="1"/>
          </p:cNvSpPr>
          <p:nvPr>
            <p:ph idx="1"/>
          </p:nvPr>
        </p:nvSpPr>
        <p:spPr/>
        <p:txBody>
          <a:bodyPr>
            <a:normAutofit/>
          </a:bodyPr>
          <a:lstStyle/>
          <a:p>
            <a:pPr algn="just">
              <a:lnSpc>
                <a:spcPct val="150000"/>
              </a:lnSpc>
              <a:buNone/>
            </a:pPr>
            <a:r>
              <a:rPr lang="en-US" sz="1600" b="1" dirty="0" err="1" smtClean="0">
                <a:latin typeface="Times New Roman" pitchFamily="18" charset="0"/>
                <a:cs typeface="Times New Roman" pitchFamily="18" charset="0"/>
              </a:rPr>
              <a:t>TableLayout</a:t>
            </a:r>
            <a:r>
              <a:rPr lang="en-US" sz="1600" dirty="0" smtClean="0">
                <a:latin typeface="Times New Roman" pitchFamily="18" charset="0"/>
                <a:cs typeface="Times New Roman" pitchFamily="18" charset="0"/>
              </a:rPr>
              <a:t> is a </a:t>
            </a:r>
            <a:r>
              <a:rPr lang="en-US" sz="1600" dirty="0" err="1" smtClean="0">
                <a:latin typeface="Times New Roman" pitchFamily="18" charset="0"/>
                <a:cs typeface="Times New Roman" pitchFamily="18" charset="0"/>
              </a:rPr>
              <a:t>ViewGroup</a:t>
            </a:r>
            <a:r>
              <a:rPr lang="en-US" sz="1600" dirty="0" smtClean="0">
                <a:latin typeface="Times New Roman" pitchFamily="18" charset="0"/>
                <a:cs typeface="Times New Roman" pitchFamily="18" charset="0"/>
              </a:rPr>
              <a:t> subclass used to arrange UI elements into rows and columns, similar to an HTML &lt;table&gt;. It's useful for organizing small, static sets of data but does not draw border lines for cells, rows, or columns.</a:t>
            </a:r>
          </a:p>
          <a:p>
            <a:pPr algn="just">
              <a:lnSpc>
                <a:spcPct val="150000"/>
              </a:lnSpc>
              <a:buNone/>
            </a:pPr>
            <a:r>
              <a:rPr lang="en-US" sz="1600" b="1" dirty="0" smtClean="0">
                <a:latin typeface="Times New Roman" pitchFamily="18" charset="0"/>
                <a:cs typeface="Times New Roman" pitchFamily="18" charset="0"/>
              </a:rPr>
              <a:t>Components:</a:t>
            </a:r>
            <a:r>
              <a:rPr lang="en-US" sz="1600" dirty="0" smtClean="0">
                <a:latin typeface="Times New Roman" pitchFamily="18" charset="0"/>
                <a:cs typeface="Times New Roman" pitchFamily="18" charset="0"/>
              </a:rPr>
              <a:t> </a:t>
            </a:r>
          </a:p>
          <a:p>
            <a:pPr>
              <a:lnSpc>
                <a:spcPct val="150000"/>
              </a:lnSpc>
              <a:buNone/>
            </a:pPr>
            <a:r>
              <a:rPr lang="en-US" sz="1600" b="1" dirty="0" smtClean="0">
                <a:latin typeface="Times New Roman" pitchFamily="18" charset="0"/>
                <a:cs typeface="Times New Roman" pitchFamily="18" charset="0"/>
              </a:rPr>
              <a:t>&lt;</a:t>
            </a:r>
            <a:r>
              <a:rPr lang="en-US" sz="1600" b="1" dirty="0" err="1" smtClean="0">
                <a:latin typeface="Times New Roman" pitchFamily="18" charset="0"/>
                <a:cs typeface="Times New Roman" pitchFamily="18" charset="0"/>
              </a:rPr>
              <a:t>TableLayout</a:t>
            </a:r>
            <a:r>
              <a:rPr lang="en-US" sz="1600" b="1" dirty="0" smtClean="0">
                <a:latin typeface="Times New Roman" pitchFamily="18" charset="0"/>
                <a:cs typeface="Times New Roman" pitchFamily="18" charset="0"/>
              </a:rPr>
              <a:t>&gt;:</a:t>
            </a:r>
            <a:r>
              <a:rPr lang="en-US" sz="1600" dirty="0" smtClean="0">
                <a:latin typeface="Times New Roman" pitchFamily="18" charset="0"/>
                <a:cs typeface="Times New Roman" pitchFamily="18" charset="0"/>
              </a:rPr>
              <a:t> The parent container for the table structure.</a:t>
            </a:r>
          </a:p>
          <a:p>
            <a:pPr>
              <a:lnSpc>
                <a:spcPct val="150000"/>
              </a:lnSpc>
              <a:buNone/>
            </a:pPr>
            <a:r>
              <a:rPr lang="en-US" sz="1600" b="1" dirty="0" smtClean="0">
                <a:latin typeface="Times New Roman" pitchFamily="18" charset="0"/>
                <a:cs typeface="Times New Roman" pitchFamily="18" charset="0"/>
              </a:rPr>
              <a:t>&lt;</a:t>
            </a:r>
            <a:r>
              <a:rPr lang="en-US" sz="1600" b="1" dirty="0" err="1" smtClean="0">
                <a:latin typeface="Times New Roman" pitchFamily="18" charset="0"/>
                <a:cs typeface="Times New Roman" pitchFamily="18" charset="0"/>
              </a:rPr>
              <a:t>TableRow</a:t>
            </a:r>
            <a:r>
              <a:rPr lang="en-US" sz="1600" b="1" dirty="0" smtClean="0">
                <a:latin typeface="Times New Roman" pitchFamily="18" charset="0"/>
                <a:cs typeface="Times New Roman" pitchFamily="18" charset="0"/>
              </a:rPr>
              <a:t>&gt;:</a:t>
            </a:r>
            <a:r>
              <a:rPr lang="en-US" sz="1600" dirty="0" smtClean="0">
                <a:latin typeface="Times New Roman" pitchFamily="18" charset="0"/>
                <a:cs typeface="Times New Roman" pitchFamily="18" charset="0"/>
              </a:rPr>
              <a:t> A child of </a:t>
            </a:r>
            <a:r>
              <a:rPr lang="en-US" sz="1600" dirty="0" err="1" smtClean="0">
                <a:latin typeface="Times New Roman" pitchFamily="18" charset="0"/>
                <a:cs typeface="Times New Roman" pitchFamily="18" charset="0"/>
              </a:rPr>
              <a:t>TableLayout</a:t>
            </a:r>
            <a:r>
              <a:rPr lang="en-US" sz="1600" dirty="0" smtClean="0">
                <a:latin typeface="Times New Roman" pitchFamily="18" charset="0"/>
                <a:cs typeface="Times New Roman" pitchFamily="18" charset="0"/>
              </a:rPr>
              <a:t> that defines a single row in the table.</a:t>
            </a:r>
          </a:p>
          <a:p>
            <a:pPr>
              <a:lnSpc>
                <a:spcPct val="150000"/>
              </a:lnSpc>
              <a:buNone/>
            </a:pPr>
            <a:r>
              <a:rPr lang="en-US" sz="1600" b="1" dirty="0" smtClean="0">
                <a:latin typeface="Times New Roman" pitchFamily="18" charset="0"/>
                <a:cs typeface="Times New Roman" pitchFamily="18" charset="0"/>
              </a:rPr>
              <a:t>Child Views:</a:t>
            </a:r>
            <a:r>
              <a:rPr lang="en-US" sz="1600" dirty="0" smtClean="0">
                <a:latin typeface="Times New Roman" pitchFamily="18" charset="0"/>
                <a:cs typeface="Times New Roman" pitchFamily="18" charset="0"/>
              </a:rPr>
              <a:t> Any View object (like </a:t>
            </a:r>
            <a:r>
              <a:rPr lang="en-US" sz="1600" dirty="0" err="1" smtClean="0">
                <a:latin typeface="Times New Roman" pitchFamily="18" charset="0"/>
                <a:cs typeface="Times New Roman" pitchFamily="18" charset="0"/>
              </a:rPr>
              <a:t>TextView</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EditText</a:t>
            </a:r>
            <a:r>
              <a:rPr lang="en-US" sz="1600" dirty="0" smtClean="0">
                <a:latin typeface="Times New Roman" pitchFamily="18" charset="0"/>
                <a:cs typeface="Times New Roman" pitchFamily="18" charset="0"/>
              </a:rPr>
              <a:t>, Button, etc.) added within a &lt;</a:t>
            </a:r>
            <a:r>
              <a:rPr lang="en-US" sz="1600" dirty="0" err="1" smtClean="0">
                <a:latin typeface="Times New Roman" pitchFamily="18" charset="0"/>
                <a:cs typeface="Times New Roman" pitchFamily="18" charset="0"/>
              </a:rPr>
              <a:t>TableRow</a:t>
            </a:r>
            <a:r>
              <a:rPr lang="en-US" sz="1600" dirty="0" smtClean="0">
                <a:latin typeface="Times New Roman" pitchFamily="18" charset="0"/>
                <a:cs typeface="Times New Roman" pitchFamily="18" charset="0"/>
              </a:rPr>
              <a:t>&gt; acts as a cell in that row. </a:t>
            </a:r>
          </a:p>
          <a:p>
            <a:pPr algn="just">
              <a:buNone/>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Important Attributes</a:t>
            </a:r>
            <a:br>
              <a:rPr lang="en-US" b="1" dirty="0" smtClean="0"/>
            </a:br>
            <a:r>
              <a:rPr lang="en-US" dirty="0" smtClean="0"/>
              <a:t/>
            </a:r>
            <a:br>
              <a:rPr lang="en-US" dirty="0" smtClean="0"/>
            </a:br>
            <a:endParaRPr lang="en-US" dirty="0"/>
          </a:p>
        </p:txBody>
      </p:sp>
      <p:sp>
        <p:nvSpPr>
          <p:cNvPr id="3" name="Content Placeholder 2"/>
          <p:cNvSpPr>
            <a:spLocks noGrp="1"/>
          </p:cNvSpPr>
          <p:nvPr>
            <p:ph idx="1"/>
          </p:nvPr>
        </p:nvSpPr>
        <p:spPr/>
        <p:txBody>
          <a:bodyPr/>
          <a:lstStyle/>
          <a:p>
            <a:pPr algn="just"/>
            <a:r>
              <a:rPr lang="en-US" b="1" dirty="0" err="1" smtClean="0">
                <a:latin typeface="Times New Roman" pitchFamily="18" charset="0"/>
                <a:cs typeface="Times New Roman" pitchFamily="18" charset="0"/>
              </a:rPr>
              <a:t>android:stretchColumns</a:t>
            </a:r>
            <a:r>
              <a:rPr lang="en-US" b="1" dirty="0" smtClean="0">
                <a:latin typeface="Times New Roman" pitchFamily="18" charset="0"/>
                <a:cs typeface="Times New Roman" pitchFamily="18" charset="0"/>
              </a:rPr>
              <a:t>:</a:t>
            </a:r>
          </a:p>
          <a:p>
            <a:pPr algn="just">
              <a:buNone/>
            </a:pPr>
            <a:r>
              <a:rPr lang="en-US" b="1" dirty="0" smtClean="0">
                <a:latin typeface="Times New Roman" pitchFamily="18" charset="0"/>
                <a:cs typeface="Times New Roman" pitchFamily="18" charset="0"/>
              </a:rPr>
              <a:t> It</a:t>
            </a:r>
            <a:r>
              <a:rPr lang="en-US" dirty="0" smtClean="0">
                <a:latin typeface="Times New Roman" pitchFamily="18" charset="0"/>
                <a:cs typeface="Times New Roman" pitchFamily="18" charset="0"/>
              </a:rPr>
              <a:t> specifies which columns should stretch to fill any extra space in the table. The value can be a zero-based column index, a comma-separated list, or * for all columns.</a:t>
            </a:r>
          </a:p>
          <a:p>
            <a:pPr algn="just">
              <a:buNone/>
            </a:pP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android:shrinkColumns</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t>
            </a:r>
          </a:p>
          <a:p>
            <a:pPr algn="just">
              <a:buNone/>
            </a:pPr>
            <a:r>
              <a:rPr lang="en-US" dirty="0" smtClean="0">
                <a:latin typeface="Times New Roman" pitchFamily="18" charset="0"/>
                <a:cs typeface="Times New Roman" pitchFamily="18" charset="0"/>
              </a:rPr>
              <a:t>	Specifies which columns can shrink their width by word-wrapping content to fit within the parent container's width.</a:t>
            </a:r>
          </a:p>
          <a:p>
            <a:pPr algn="just">
              <a:buNone/>
            </a:pP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android:collapseColumns</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Hides or makes the specified column invisible. </a:t>
            </a:r>
          </a:p>
          <a:p>
            <a:pPr>
              <a:buNone/>
            </a:pPr>
            <a:endParaRPr 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stretchColumns</a:t>
            </a:r>
            <a:r>
              <a:rPr lang="en-US" b="1" dirty="0" smtClean="0"/>
              <a:t>:</a:t>
            </a:r>
            <a:endParaRPr lang="en-US" dirty="0"/>
          </a:p>
        </p:txBody>
      </p:sp>
      <p:sp>
        <p:nvSpPr>
          <p:cNvPr id="3" name="Content Placeholder 2"/>
          <p:cNvSpPr>
            <a:spLocks noGrp="1"/>
          </p:cNvSpPr>
          <p:nvPr>
            <p:ph idx="1"/>
          </p:nvPr>
        </p:nvSpPr>
        <p:spPr>
          <a:xfrm>
            <a:off x="393700" y="1574800"/>
            <a:ext cx="10960100" cy="4602163"/>
          </a:xfrm>
        </p:spPr>
        <p:txBody>
          <a:bodyPr>
            <a:normAutofit lnSpcReduction="10000"/>
          </a:bodyPr>
          <a:lstStyle/>
          <a:p>
            <a:pPr algn="just">
              <a:lnSpc>
                <a:spcPct val="200000"/>
              </a:lnSpc>
            </a:pPr>
            <a:r>
              <a:rPr lang="en-US" sz="1600" dirty="0" smtClean="0">
                <a:latin typeface="Times New Roman" pitchFamily="18" charset="0"/>
                <a:cs typeface="Times New Roman" pitchFamily="18" charset="0"/>
              </a:rPr>
              <a:t>Stretch column attribute is used in Table Layout to change the default width of a column which is set equal to the width of the widest column but we can also stretch the columns to take up available free space by using this attribute. The value that assigned to this attribute can be a single column number or a comma delimited list of column numbers (1, 2, 3…n).</a:t>
            </a:r>
          </a:p>
          <a:p>
            <a:pPr algn="just">
              <a:lnSpc>
                <a:spcPct val="200000"/>
              </a:lnSpc>
            </a:pPr>
            <a:r>
              <a:rPr lang="en-US" sz="1600" dirty="0" smtClean="0">
                <a:latin typeface="Times New Roman" pitchFamily="18" charset="0"/>
                <a:cs typeface="Times New Roman" pitchFamily="18" charset="0"/>
              </a:rPr>
              <a:t>If the value is 1 then the second column is stretched to take up any available space in the row, because of the column numbers are started from 0.</a:t>
            </a:r>
          </a:p>
          <a:p>
            <a:pPr algn="just">
              <a:lnSpc>
                <a:spcPct val="200000"/>
              </a:lnSpc>
            </a:pPr>
            <a:r>
              <a:rPr lang="en-US" sz="1600" dirty="0" smtClean="0">
                <a:latin typeface="Times New Roman" pitchFamily="18" charset="0"/>
                <a:cs typeface="Times New Roman" pitchFamily="18" charset="0"/>
              </a:rPr>
              <a:t>If the value is 0,1 then both the first and second columns of table are stretched to take up the available space in the row.</a:t>
            </a:r>
          </a:p>
          <a:p>
            <a:pPr algn="just">
              <a:lnSpc>
                <a:spcPct val="200000"/>
              </a:lnSpc>
            </a:pPr>
            <a:r>
              <a:rPr lang="en-US" sz="1600" dirty="0" smtClean="0">
                <a:latin typeface="Times New Roman" pitchFamily="18" charset="0"/>
                <a:cs typeface="Times New Roman" pitchFamily="18" charset="0"/>
              </a:rPr>
              <a:t>If the value is ‘*’ then all the columns are stretched to take up the available space.</a:t>
            </a:r>
          </a:p>
          <a:p>
            <a:pPr>
              <a:buNone/>
            </a:pP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shrinkColumns</a:t>
            </a:r>
            <a:r>
              <a:rPr lang="en-US" b="1" dirty="0" smtClean="0"/>
              <a:t>:</a:t>
            </a:r>
            <a:endParaRPr lang="en-US" dirty="0"/>
          </a:p>
        </p:txBody>
      </p:sp>
      <p:sp>
        <p:nvSpPr>
          <p:cNvPr id="3" name="Content Placeholder 2"/>
          <p:cNvSpPr>
            <a:spLocks noGrp="1"/>
          </p:cNvSpPr>
          <p:nvPr>
            <p:ph idx="1"/>
          </p:nvPr>
        </p:nvSpPr>
        <p:spPr/>
        <p:txBody>
          <a:bodyPr>
            <a:normAutofit/>
          </a:bodyPr>
          <a:lstStyle/>
          <a:p>
            <a:pPr>
              <a:lnSpc>
                <a:spcPct val="150000"/>
              </a:lnSpc>
            </a:pPr>
            <a:r>
              <a:rPr lang="en-US" sz="1800" dirty="0" smtClean="0">
                <a:latin typeface="Times New Roman" pitchFamily="18" charset="0"/>
                <a:cs typeface="Times New Roman" pitchFamily="18" charset="0"/>
              </a:rPr>
              <a:t>Shrink column attribute is used to shrink or reduce the width of the column‘s. We can specify either a single column or a comma delimited list of column numbers for this attribute. The content in the specified columns word-wraps to reduce their width.</a:t>
            </a:r>
          </a:p>
          <a:p>
            <a:pPr>
              <a:lnSpc>
                <a:spcPct val="150000"/>
              </a:lnSpc>
            </a:pPr>
            <a:r>
              <a:rPr lang="en-US" sz="1800" dirty="0" smtClean="0">
                <a:latin typeface="Times New Roman" pitchFamily="18" charset="0"/>
                <a:cs typeface="Times New Roman" pitchFamily="18" charset="0"/>
              </a:rPr>
              <a:t>If the value is 0 then the first column’s width shrinks or reduces by word wrapping its content.</a:t>
            </a:r>
          </a:p>
          <a:p>
            <a:pPr>
              <a:lnSpc>
                <a:spcPct val="150000"/>
              </a:lnSpc>
            </a:pPr>
            <a:r>
              <a:rPr lang="en-US" sz="1800" dirty="0" smtClean="0">
                <a:latin typeface="Times New Roman" pitchFamily="18" charset="0"/>
                <a:cs typeface="Times New Roman" pitchFamily="18" charset="0"/>
              </a:rPr>
              <a:t>If the value is 0,1 then both first and second columns are shrinks or reduced by word wrapping its content.</a:t>
            </a:r>
          </a:p>
          <a:p>
            <a:pPr>
              <a:lnSpc>
                <a:spcPct val="150000"/>
              </a:lnSpc>
            </a:pPr>
            <a:r>
              <a:rPr lang="en-US" sz="1800" dirty="0" smtClean="0">
                <a:latin typeface="Times New Roman" pitchFamily="18" charset="0"/>
                <a:cs typeface="Times New Roman" pitchFamily="18" charset="0"/>
              </a:rPr>
              <a:t>If the value is ‘*’ then the content of all columns is word wrapped to shrink their widths.</a:t>
            </a:r>
          </a:p>
          <a:p>
            <a:pPr>
              <a:buNone/>
            </a:pPr>
            <a:endParaRPr 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collapseColumns</a:t>
            </a:r>
            <a:r>
              <a:rPr lang="en-US" b="1" dirty="0" smtClean="0"/>
              <a:t>:</a:t>
            </a:r>
            <a:endParaRPr lang="en-US" dirty="0"/>
          </a:p>
        </p:txBody>
      </p:sp>
      <p:sp>
        <p:nvSpPr>
          <p:cNvPr id="3" name="Content Placeholder 2"/>
          <p:cNvSpPr>
            <a:spLocks noGrp="1"/>
          </p:cNvSpPr>
          <p:nvPr>
            <p:ph idx="1"/>
          </p:nvPr>
        </p:nvSpPr>
        <p:spPr/>
        <p:txBody>
          <a:bodyPr/>
          <a:lstStyle/>
          <a:p>
            <a:pPr algn="just"/>
            <a:r>
              <a:rPr lang="en-US" dirty="0" smtClean="0">
                <a:latin typeface="Times New Roman" pitchFamily="18" charset="0"/>
                <a:cs typeface="Times New Roman" pitchFamily="18" charset="0"/>
              </a:rPr>
              <a:t>collapse columns attribute is used to collapse or invisible the column’s of a table layout. These columns are the part of the table information but are invisible.</a:t>
            </a:r>
          </a:p>
          <a:p>
            <a:pPr algn="just"/>
            <a:r>
              <a:rPr lang="en-US" dirty="0" smtClean="0">
                <a:latin typeface="Times New Roman" pitchFamily="18" charset="0"/>
                <a:cs typeface="Times New Roman" pitchFamily="18" charset="0"/>
              </a:rPr>
              <a:t>If the values is 0 then the first column appears collapsed, </a:t>
            </a:r>
            <a:r>
              <a:rPr lang="en-US" dirty="0" err="1" smtClean="0">
                <a:latin typeface="Times New Roman" pitchFamily="18" charset="0"/>
                <a:cs typeface="Times New Roman" pitchFamily="18" charset="0"/>
              </a:rPr>
              <a:t>i.e</a:t>
            </a:r>
            <a:r>
              <a:rPr lang="en-US" dirty="0" smtClean="0">
                <a:latin typeface="Times New Roman" pitchFamily="18" charset="0"/>
                <a:cs typeface="Times New Roman" pitchFamily="18" charset="0"/>
              </a:rPr>
              <a:t> it is the part of table but it is invisible.</a:t>
            </a:r>
          </a:p>
          <a:p>
            <a:pPr>
              <a:buNone/>
            </a:pPr>
            <a:endParaRPr lang="en-US"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9450" y="0"/>
            <a:ext cx="10553700" cy="949325"/>
          </a:xfrm>
        </p:spPr>
        <p:txBody>
          <a:bodyPr/>
          <a:lstStyle/>
          <a:p>
            <a:r>
              <a:rPr lang="en-US" dirty="0" smtClean="0"/>
              <a:t>example</a:t>
            </a:r>
            <a:endParaRPr lang="en-US" dirty="0"/>
          </a:p>
        </p:txBody>
      </p:sp>
      <p:sp>
        <p:nvSpPr>
          <p:cNvPr id="3" name="Content Placeholder 2"/>
          <p:cNvSpPr>
            <a:spLocks noGrp="1"/>
          </p:cNvSpPr>
          <p:nvPr>
            <p:ph idx="1"/>
          </p:nvPr>
        </p:nvSpPr>
        <p:spPr>
          <a:xfrm>
            <a:off x="266700" y="920750"/>
            <a:ext cx="6978650" cy="5740400"/>
          </a:xfrm>
        </p:spPr>
        <p:txBody>
          <a:bodyPr>
            <a:normAutofit fontScale="77500" lnSpcReduction="20000"/>
          </a:bodyPr>
          <a:lstStyle/>
          <a:p>
            <a:pPr>
              <a:lnSpc>
                <a:spcPct val="200000"/>
              </a:lnSpc>
              <a:buNone/>
            </a:pPr>
            <a:r>
              <a:rPr lang="en-US" sz="1500" dirty="0" smtClean="0">
                <a:latin typeface="Times New Roman" pitchFamily="18" charset="0"/>
                <a:cs typeface="Times New Roman" pitchFamily="18" charset="0"/>
              </a:rPr>
              <a:t>&lt;?xml version="1.0" encoding="utf-8"?&gt;</a:t>
            </a:r>
          </a:p>
          <a:p>
            <a:pPr>
              <a:lnSpc>
                <a:spcPct val="200000"/>
              </a:lnSpc>
              <a:buNone/>
            </a:pPr>
            <a:r>
              <a:rPr lang="en-US" sz="1500" dirty="0" smtClean="0">
                <a:latin typeface="Times New Roman" pitchFamily="18" charset="0"/>
                <a:cs typeface="Times New Roman" pitchFamily="18" charset="0"/>
              </a:rPr>
              <a:t>&lt;</a:t>
            </a:r>
            <a:r>
              <a:rPr lang="en-US" sz="1500" dirty="0" err="1" smtClean="0">
                <a:latin typeface="Times New Roman" pitchFamily="18" charset="0"/>
                <a:cs typeface="Times New Roman" pitchFamily="18" charset="0"/>
              </a:rPr>
              <a:t>TableLayout</a:t>
            </a:r>
            <a:r>
              <a:rPr lang="en-US" sz="1500" dirty="0" smtClean="0">
                <a:latin typeface="Times New Roman" pitchFamily="18" charset="0"/>
                <a:cs typeface="Times New Roman" pitchFamily="18" charset="0"/>
              </a:rPr>
              <a:t> </a:t>
            </a:r>
            <a:r>
              <a:rPr lang="en-US" sz="1500" dirty="0" err="1" smtClean="0">
                <a:latin typeface="Times New Roman" pitchFamily="18" charset="0"/>
                <a:cs typeface="Times New Roman" pitchFamily="18" charset="0"/>
              </a:rPr>
              <a:t>xmlns:android</a:t>
            </a:r>
            <a:r>
              <a:rPr lang="en-US" sz="1500" dirty="0" smtClean="0">
                <a:latin typeface="Times New Roman" pitchFamily="18" charset="0"/>
                <a:cs typeface="Times New Roman" pitchFamily="18" charset="0"/>
              </a:rPr>
              <a:t>="http://schemas.android.com/apk/res/android"    </a:t>
            </a:r>
            <a:r>
              <a:rPr lang="en-US" sz="1500" dirty="0" err="1" smtClean="0">
                <a:latin typeface="Times New Roman" pitchFamily="18" charset="0"/>
                <a:cs typeface="Times New Roman" pitchFamily="18" charset="0"/>
              </a:rPr>
              <a:t>android:layout_width</a:t>
            </a:r>
            <a:r>
              <a:rPr lang="en-US" sz="1500" dirty="0" smtClean="0">
                <a:latin typeface="Times New Roman" pitchFamily="18" charset="0"/>
                <a:cs typeface="Times New Roman" pitchFamily="18" charset="0"/>
              </a:rPr>
              <a:t>="</a:t>
            </a:r>
            <a:r>
              <a:rPr lang="en-US" sz="1500" dirty="0" err="1" smtClean="0">
                <a:latin typeface="Times New Roman" pitchFamily="18" charset="0"/>
                <a:cs typeface="Times New Roman" pitchFamily="18" charset="0"/>
              </a:rPr>
              <a:t>match_parent</a:t>
            </a:r>
            <a:r>
              <a:rPr lang="en-US" sz="1500" dirty="0" smtClean="0">
                <a:latin typeface="Times New Roman" pitchFamily="18" charset="0"/>
                <a:cs typeface="Times New Roman" pitchFamily="18" charset="0"/>
              </a:rPr>
              <a:t>"    </a:t>
            </a:r>
            <a:r>
              <a:rPr lang="en-US" sz="1500" dirty="0" err="1" smtClean="0">
                <a:latin typeface="Times New Roman" pitchFamily="18" charset="0"/>
                <a:cs typeface="Times New Roman" pitchFamily="18" charset="0"/>
              </a:rPr>
              <a:t>android:layout_height</a:t>
            </a:r>
            <a:r>
              <a:rPr lang="en-US" sz="1500" dirty="0" smtClean="0">
                <a:latin typeface="Times New Roman" pitchFamily="18" charset="0"/>
                <a:cs typeface="Times New Roman" pitchFamily="18" charset="0"/>
              </a:rPr>
              <a:t>="</a:t>
            </a:r>
            <a:r>
              <a:rPr lang="en-US" sz="1500" dirty="0" err="1" smtClean="0">
                <a:latin typeface="Times New Roman" pitchFamily="18" charset="0"/>
                <a:cs typeface="Times New Roman" pitchFamily="18" charset="0"/>
              </a:rPr>
              <a:t>match_parent</a:t>
            </a:r>
            <a:r>
              <a:rPr lang="en-US" sz="1500" dirty="0" smtClean="0">
                <a:latin typeface="Times New Roman" pitchFamily="18" charset="0"/>
                <a:cs typeface="Times New Roman" pitchFamily="18" charset="0"/>
              </a:rPr>
              <a:t>"   </a:t>
            </a:r>
          </a:p>
          <a:p>
            <a:pPr>
              <a:lnSpc>
                <a:spcPct val="200000"/>
              </a:lnSpc>
              <a:buNone/>
            </a:pPr>
            <a:r>
              <a:rPr lang="en-US" sz="1500" dirty="0" smtClean="0">
                <a:latin typeface="Times New Roman" pitchFamily="18" charset="0"/>
                <a:cs typeface="Times New Roman" pitchFamily="18" charset="0"/>
              </a:rPr>
              <a:t> </a:t>
            </a:r>
            <a:r>
              <a:rPr lang="en-US" sz="1500" dirty="0" err="1" smtClean="0">
                <a:latin typeface="Times New Roman" pitchFamily="18" charset="0"/>
                <a:cs typeface="Times New Roman" pitchFamily="18" charset="0"/>
              </a:rPr>
              <a:t>android:padding</a:t>
            </a:r>
            <a:r>
              <a:rPr lang="en-US" sz="1500" dirty="0" smtClean="0">
                <a:latin typeface="Times New Roman" pitchFamily="18" charset="0"/>
                <a:cs typeface="Times New Roman" pitchFamily="18" charset="0"/>
              </a:rPr>
              <a:t>="16dp"    </a:t>
            </a:r>
          </a:p>
          <a:p>
            <a:pPr>
              <a:lnSpc>
                <a:spcPct val="200000"/>
              </a:lnSpc>
              <a:buNone/>
            </a:pPr>
            <a:r>
              <a:rPr lang="en-US" sz="1500" dirty="0" err="1" smtClean="0">
                <a:latin typeface="Times New Roman" pitchFamily="18" charset="0"/>
                <a:cs typeface="Times New Roman" pitchFamily="18" charset="0"/>
              </a:rPr>
              <a:t>android:stretchColumns</a:t>
            </a:r>
            <a:r>
              <a:rPr lang="en-US" sz="1500" dirty="0" smtClean="0">
                <a:latin typeface="Times New Roman" pitchFamily="18" charset="0"/>
                <a:cs typeface="Times New Roman" pitchFamily="18" charset="0"/>
              </a:rPr>
              <a:t>="1"&gt;</a:t>
            </a:r>
          </a:p>
          <a:p>
            <a:pPr>
              <a:lnSpc>
                <a:spcPct val="200000"/>
              </a:lnSpc>
              <a:buNone/>
            </a:pPr>
            <a:r>
              <a:rPr lang="en-US" sz="1500" dirty="0" smtClean="0">
                <a:latin typeface="Times New Roman" pitchFamily="18" charset="0"/>
                <a:cs typeface="Times New Roman" pitchFamily="18" charset="0"/>
              </a:rPr>
              <a:t> &lt;!-- Stretches column 1 (</a:t>
            </a:r>
            <a:r>
              <a:rPr lang="en-US" sz="1500" dirty="0" err="1" smtClean="0">
                <a:latin typeface="Times New Roman" pitchFamily="18" charset="0"/>
                <a:cs typeface="Times New Roman" pitchFamily="18" charset="0"/>
              </a:rPr>
              <a:t>EditText</a:t>
            </a:r>
            <a:r>
              <a:rPr lang="en-US" sz="1500" dirty="0" smtClean="0">
                <a:latin typeface="Times New Roman" pitchFamily="18" charset="0"/>
                <a:cs typeface="Times New Roman" pitchFamily="18" charset="0"/>
              </a:rPr>
              <a:t>) --&gt;   </a:t>
            </a:r>
          </a:p>
          <a:p>
            <a:pPr>
              <a:lnSpc>
                <a:spcPct val="200000"/>
              </a:lnSpc>
              <a:buNone/>
            </a:pPr>
            <a:r>
              <a:rPr lang="en-US" sz="1500" dirty="0" smtClean="0">
                <a:latin typeface="Times New Roman" pitchFamily="18" charset="0"/>
                <a:cs typeface="Times New Roman" pitchFamily="18" charset="0"/>
              </a:rPr>
              <a:t> &lt;</a:t>
            </a:r>
            <a:r>
              <a:rPr lang="en-US" sz="1500" dirty="0" err="1" smtClean="0">
                <a:latin typeface="Times New Roman" pitchFamily="18" charset="0"/>
                <a:cs typeface="Times New Roman" pitchFamily="18" charset="0"/>
              </a:rPr>
              <a:t>TableRow</a:t>
            </a:r>
            <a:r>
              <a:rPr lang="en-US" sz="1500" dirty="0" smtClean="0">
                <a:latin typeface="Times New Roman" pitchFamily="18" charset="0"/>
                <a:cs typeface="Times New Roman" pitchFamily="18" charset="0"/>
              </a:rPr>
              <a:t>&gt;      </a:t>
            </a:r>
          </a:p>
          <a:p>
            <a:pPr>
              <a:lnSpc>
                <a:spcPct val="200000"/>
              </a:lnSpc>
              <a:buNone/>
            </a:pPr>
            <a:r>
              <a:rPr lang="en-US" sz="1500" dirty="0" smtClean="0">
                <a:latin typeface="Times New Roman" pitchFamily="18" charset="0"/>
                <a:cs typeface="Times New Roman" pitchFamily="18" charset="0"/>
              </a:rPr>
              <a:t> </a:t>
            </a:r>
            <a:r>
              <a:rPr lang="en-US" sz="1500" b="1" dirty="0" smtClean="0">
                <a:latin typeface="Times New Roman" pitchFamily="18" charset="0"/>
                <a:cs typeface="Times New Roman" pitchFamily="18" charset="0"/>
              </a:rPr>
              <a:t> &lt;</a:t>
            </a:r>
            <a:r>
              <a:rPr lang="en-US" sz="1500" b="1" dirty="0" err="1" smtClean="0">
                <a:latin typeface="Times New Roman" pitchFamily="18" charset="0"/>
                <a:cs typeface="Times New Roman" pitchFamily="18" charset="0"/>
              </a:rPr>
              <a:t>TextView</a:t>
            </a:r>
            <a:r>
              <a:rPr lang="en-US" sz="1500" b="1" dirty="0" smtClean="0">
                <a:latin typeface="Times New Roman" pitchFamily="18" charset="0"/>
                <a:cs typeface="Times New Roman" pitchFamily="18" charset="0"/>
              </a:rPr>
              <a:t> </a:t>
            </a:r>
          </a:p>
          <a:p>
            <a:pPr>
              <a:lnSpc>
                <a:spcPct val="200000"/>
              </a:lnSpc>
              <a:buNone/>
            </a:pPr>
            <a:r>
              <a:rPr lang="en-US" sz="1500" dirty="0" smtClean="0">
                <a:latin typeface="Times New Roman" pitchFamily="18" charset="0"/>
                <a:cs typeface="Times New Roman" pitchFamily="18" charset="0"/>
              </a:rPr>
              <a:t>	</a:t>
            </a:r>
            <a:r>
              <a:rPr lang="en-US" sz="1500" dirty="0" err="1" smtClean="0">
                <a:latin typeface="Times New Roman" pitchFamily="18" charset="0"/>
                <a:cs typeface="Times New Roman" pitchFamily="18" charset="0"/>
              </a:rPr>
              <a:t>android:text</a:t>
            </a:r>
            <a:r>
              <a:rPr lang="en-US" sz="1500" dirty="0" smtClean="0">
                <a:latin typeface="Times New Roman" pitchFamily="18" charset="0"/>
                <a:cs typeface="Times New Roman" pitchFamily="18" charset="0"/>
              </a:rPr>
              <a:t>="Username:" /&gt;        </a:t>
            </a:r>
          </a:p>
          <a:p>
            <a:pPr>
              <a:lnSpc>
                <a:spcPct val="200000"/>
              </a:lnSpc>
              <a:buNone/>
            </a:pPr>
            <a:r>
              <a:rPr lang="en-US" sz="1500" dirty="0" smtClean="0">
                <a:latin typeface="Times New Roman" pitchFamily="18" charset="0"/>
                <a:cs typeface="Times New Roman" pitchFamily="18" charset="0"/>
              </a:rPr>
              <a:t>	&lt;</a:t>
            </a:r>
            <a:r>
              <a:rPr lang="en-US" sz="1500" dirty="0" err="1" smtClean="0">
                <a:latin typeface="Times New Roman" pitchFamily="18" charset="0"/>
                <a:cs typeface="Times New Roman" pitchFamily="18" charset="0"/>
              </a:rPr>
              <a:t>EditText</a:t>
            </a:r>
            <a:r>
              <a:rPr lang="en-US" sz="1500" dirty="0" smtClean="0">
                <a:latin typeface="Times New Roman" pitchFamily="18" charset="0"/>
                <a:cs typeface="Times New Roman" pitchFamily="18" charset="0"/>
              </a:rPr>
              <a:t> </a:t>
            </a:r>
            <a:r>
              <a:rPr lang="en-US" sz="1500" dirty="0" err="1" smtClean="0">
                <a:latin typeface="Times New Roman" pitchFamily="18" charset="0"/>
                <a:cs typeface="Times New Roman" pitchFamily="18" charset="0"/>
              </a:rPr>
              <a:t>android:id</a:t>
            </a:r>
            <a:r>
              <a:rPr lang="en-US" sz="1500" dirty="0" smtClean="0">
                <a:latin typeface="Times New Roman" pitchFamily="18" charset="0"/>
                <a:cs typeface="Times New Roman" pitchFamily="18" charset="0"/>
              </a:rPr>
              <a:t>="@+id/</a:t>
            </a:r>
            <a:r>
              <a:rPr lang="en-US" sz="1500" dirty="0" err="1" smtClean="0">
                <a:latin typeface="Times New Roman" pitchFamily="18" charset="0"/>
                <a:cs typeface="Times New Roman" pitchFamily="18" charset="0"/>
              </a:rPr>
              <a:t>et_username</a:t>
            </a:r>
            <a:r>
              <a:rPr lang="en-US" sz="1500" dirty="0" smtClean="0">
                <a:latin typeface="Times New Roman" pitchFamily="18" charset="0"/>
                <a:cs typeface="Times New Roman" pitchFamily="18" charset="0"/>
              </a:rPr>
              <a:t>" </a:t>
            </a:r>
          </a:p>
          <a:p>
            <a:pPr>
              <a:lnSpc>
                <a:spcPct val="200000"/>
              </a:lnSpc>
              <a:buNone/>
            </a:pPr>
            <a:r>
              <a:rPr lang="en-US" sz="1500" dirty="0" smtClean="0">
                <a:latin typeface="Times New Roman" pitchFamily="18" charset="0"/>
                <a:cs typeface="Times New Roman" pitchFamily="18" charset="0"/>
              </a:rPr>
              <a:t>	</a:t>
            </a:r>
            <a:r>
              <a:rPr lang="en-US" sz="1500" dirty="0" err="1" smtClean="0">
                <a:latin typeface="Times New Roman" pitchFamily="18" charset="0"/>
                <a:cs typeface="Times New Roman" pitchFamily="18" charset="0"/>
              </a:rPr>
              <a:t>android:hint</a:t>
            </a:r>
            <a:r>
              <a:rPr lang="en-US" sz="1500" dirty="0" smtClean="0">
                <a:latin typeface="Times New Roman" pitchFamily="18" charset="0"/>
                <a:cs typeface="Times New Roman" pitchFamily="18" charset="0"/>
              </a:rPr>
              <a:t>="Enter Name" /&gt;    </a:t>
            </a:r>
          </a:p>
          <a:p>
            <a:pPr>
              <a:lnSpc>
                <a:spcPct val="200000"/>
              </a:lnSpc>
              <a:buNone/>
            </a:pPr>
            <a:r>
              <a:rPr lang="en-US" sz="1500" b="1" dirty="0" smtClean="0">
                <a:latin typeface="Times New Roman" pitchFamily="18" charset="0"/>
                <a:cs typeface="Times New Roman" pitchFamily="18" charset="0"/>
              </a:rPr>
              <a:t>	&lt;/</a:t>
            </a:r>
            <a:r>
              <a:rPr lang="en-US" sz="1500" b="1" dirty="0" err="1" smtClean="0">
                <a:latin typeface="Times New Roman" pitchFamily="18" charset="0"/>
                <a:cs typeface="Times New Roman" pitchFamily="18" charset="0"/>
              </a:rPr>
              <a:t>TableRow</a:t>
            </a:r>
            <a:r>
              <a:rPr lang="en-US" sz="1500" b="1" dirty="0" smtClean="0">
                <a:latin typeface="Times New Roman" pitchFamily="18" charset="0"/>
                <a:cs typeface="Times New Roman" pitchFamily="18" charset="0"/>
              </a:rPr>
              <a:t>&gt;   </a:t>
            </a:r>
          </a:p>
          <a:p>
            <a:pPr>
              <a:buNone/>
            </a:pPr>
            <a:r>
              <a:rPr lang="en-US" dirty="0" smtClean="0"/>
              <a:t>	</a:t>
            </a:r>
            <a:endParaRPr lang="en-US" dirty="0"/>
          </a:p>
        </p:txBody>
      </p:sp>
      <p:sp>
        <p:nvSpPr>
          <p:cNvPr id="4" name="Rectangle 3"/>
          <p:cNvSpPr/>
          <p:nvPr/>
        </p:nvSpPr>
        <p:spPr>
          <a:xfrm>
            <a:off x="6731000" y="1122740"/>
            <a:ext cx="4679950" cy="5444054"/>
          </a:xfrm>
          <a:prstGeom prst="rect">
            <a:avLst/>
          </a:prstGeom>
        </p:spPr>
        <p:txBody>
          <a:bodyPr wrap="square">
            <a:spAutoFit/>
          </a:bodyPr>
          <a:lstStyle/>
          <a:p>
            <a:pPr>
              <a:lnSpc>
                <a:spcPct val="150000"/>
              </a:lnSpc>
              <a:buNone/>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&lt;</a:t>
            </a:r>
            <a:r>
              <a:rPr lang="en-US" b="1" dirty="0" err="1" smtClean="0">
                <a:latin typeface="Times New Roman" pitchFamily="18" charset="0"/>
                <a:cs typeface="Times New Roman" pitchFamily="18" charset="0"/>
              </a:rPr>
              <a:t>TableRow</a:t>
            </a:r>
            <a:r>
              <a:rPr lang="en-US" b="1" dirty="0" smtClean="0">
                <a:latin typeface="Times New Roman" pitchFamily="18" charset="0"/>
                <a:cs typeface="Times New Roman" pitchFamily="18" charset="0"/>
              </a:rPr>
              <a:t>&gt;       </a:t>
            </a:r>
          </a:p>
          <a:p>
            <a:pPr>
              <a:lnSpc>
                <a:spcPct val="150000"/>
              </a:lnSpc>
              <a:buNone/>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 &lt;</a:t>
            </a:r>
            <a:r>
              <a:rPr lang="en-US" b="1" dirty="0" err="1" smtClean="0">
                <a:latin typeface="Times New Roman" pitchFamily="18" charset="0"/>
                <a:cs typeface="Times New Roman" pitchFamily="18" charset="0"/>
              </a:rPr>
              <a:t>TextView</a:t>
            </a:r>
            <a:r>
              <a:rPr lang="en-US" b="1" dirty="0" smtClean="0">
                <a:latin typeface="Times New Roman" pitchFamily="18" charset="0"/>
                <a:cs typeface="Times New Roman" pitchFamily="18" charset="0"/>
              </a:rPr>
              <a:t> </a:t>
            </a:r>
          </a:p>
          <a:p>
            <a:pPr>
              <a:lnSpc>
                <a:spcPct val="150000"/>
              </a:lnSpc>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android:text</a:t>
            </a:r>
            <a:r>
              <a:rPr lang="en-US" dirty="0" smtClean="0">
                <a:latin typeface="Times New Roman" pitchFamily="18" charset="0"/>
                <a:cs typeface="Times New Roman" pitchFamily="18" charset="0"/>
              </a:rPr>
              <a:t>="Password:" /&gt;     </a:t>
            </a:r>
          </a:p>
          <a:p>
            <a:pPr>
              <a:lnSpc>
                <a:spcPct val="150000"/>
              </a:lnSpc>
              <a:buNone/>
            </a:pPr>
            <a:r>
              <a:rPr lang="en-US" dirty="0" smtClean="0">
                <a:latin typeface="Times New Roman" pitchFamily="18" charset="0"/>
                <a:cs typeface="Times New Roman" pitchFamily="18" charset="0"/>
              </a:rPr>
              <a:t>	   &lt;</a:t>
            </a:r>
            <a:r>
              <a:rPr lang="en-US" dirty="0" err="1" smtClean="0">
                <a:latin typeface="Times New Roman" pitchFamily="18" charset="0"/>
                <a:cs typeface="Times New Roman" pitchFamily="18" charset="0"/>
              </a:rPr>
              <a:t>EditText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android:id</a:t>
            </a:r>
            <a:r>
              <a:rPr lang="en-US" dirty="0" smtClean="0">
                <a:latin typeface="Times New Roman" pitchFamily="18" charset="0"/>
                <a:cs typeface="Times New Roman" pitchFamily="18" charset="0"/>
              </a:rPr>
              <a:t>="@+id/</a:t>
            </a:r>
            <a:r>
              <a:rPr lang="en-US" dirty="0" err="1" smtClean="0">
                <a:latin typeface="Times New Roman" pitchFamily="18" charset="0"/>
                <a:cs typeface="Times New Roman" pitchFamily="18" charset="0"/>
              </a:rPr>
              <a:t>et_password</a:t>
            </a:r>
            <a:r>
              <a:rPr lang="en-US" dirty="0" smtClean="0">
                <a:latin typeface="Times New Roman" pitchFamily="18" charset="0"/>
                <a:cs typeface="Times New Roman" pitchFamily="18" charset="0"/>
              </a:rPr>
              <a:t>" </a:t>
            </a:r>
          </a:p>
          <a:p>
            <a:pPr>
              <a:lnSpc>
                <a:spcPct val="150000"/>
              </a:lnSpc>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android:inputType</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textPassword</a:t>
            </a:r>
            <a:r>
              <a:rPr lang="en-US" dirty="0" smtClean="0">
                <a:latin typeface="Times New Roman" pitchFamily="18" charset="0"/>
                <a:cs typeface="Times New Roman" pitchFamily="18" charset="0"/>
              </a:rPr>
              <a:t>" /&gt;  </a:t>
            </a:r>
          </a:p>
          <a:p>
            <a:pPr>
              <a:lnSpc>
                <a:spcPct val="150000"/>
              </a:lnSpc>
              <a:buNone/>
            </a:pPr>
            <a:r>
              <a:rPr lang="en-US" dirty="0" smtClean="0">
                <a:latin typeface="Times New Roman" pitchFamily="18" charset="0"/>
                <a:cs typeface="Times New Roman" pitchFamily="18" charset="0"/>
              </a:rPr>
              <a:t>	  &lt;/</a:t>
            </a:r>
            <a:r>
              <a:rPr lang="en-US" dirty="0" err="1" smtClean="0">
                <a:latin typeface="Times New Roman" pitchFamily="18" charset="0"/>
                <a:cs typeface="Times New Roman" pitchFamily="18" charset="0"/>
              </a:rPr>
              <a:t>TableRow</a:t>
            </a:r>
            <a:r>
              <a:rPr lang="en-US" dirty="0" smtClean="0">
                <a:latin typeface="Times New Roman" pitchFamily="18" charset="0"/>
                <a:cs typeface="Times New Roman" pitchFamily="18" charset="0"/>
              </a:rPr>
              <a:t>&gt;    &lt;</a:t>
            </a:r>
            <a:r>
              <a:rPr lang="en-US" dirty="0" err="1" smtClean="0">
                <a:latin typeface="Times New Roman" pitchFamily="18" charset="0"/>
                <a:cs typeface="Times New Roman" pitchFamily="18" charset="0"/>
              </a:rPr>
              <a:t>TableRow</a:t>
            </a:r>
            <a:r>
              <a:rPr lang="en-US" dirty="0" smtClean="0">
                <a:latin typeface="Times New Roman" pitchFamily="18" charset="0"/>
                <a:cs typeface="Times New Roman" pitchFamily="18" charset="0"/>
              </a:rPr>
              <a:t>&gt;      </a:t>
            </a:r>
          </a:p>
          <a:p>
            <a:pPr>
              <a:lnSpc>
                <a:spcPct val="150000"/>
              </a:lnSpc>
              <a:buNone/>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  &lt;Button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android:id</a:t>
            </a:r>
            <a:r>
              <a:rPr lang="en-US" dirty="0" smtClean="0">
                <a:latin typeface="Times New Roman" pitchFamily="18" charset="0"/>
                <a:cs typeface="Times New Roman" pitchFamily="18" charset="0"/>
              </a:rPr>
              <a:t>="@+id/</a:t>
            </a:r>
            <a:r>
              <a:rPr lang="en-US" dirty="0" err="1" smtClean="0">
                <a:latin typeface="Times New Roman" pitchFamily="18" charset="0"/>
                <a:cs typeface="Times New Roman" pitchFamily="18" charset="0"/>
              </a:rPr>
              <a:t>btn_login</a:t>
            </a:r>
            <a:r>
              <a:rPr lang="en-US" dirty="0" smtClean="0">
                <a:latin typeface="Times New Roman" pitchFamily="18" charset="0"/>
                <a:cs typeface="Times New Roman" pitchFamily="18" charset="0"/>
              </a:rPr>
              <a:t>" </a:t>
            </a:r>
          </a:p>
          <a:p>
            <a:pPr>
              <a:lnSpc>
                <a:spcPct val="150000"/>
              </a:lnSpc>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android:text</a:t>
            </a:r>
            <a:r>
              <a:rPr lang="en-US" dirty="0" smtClean="0">
                <a:latin typeface="Times New Roman" pitchFamily="18" charset="0"/>
                <a:cs typeface="Times New Roman" pitchFamily="18" charset="0"/>
              </a:rPr>
              <a:t>="Login" </a:t>
            </a:r>
          </a:p>
          <a:p>
            <a:pPr>
              <a:lnSpc>
                <a:spcPct val="150000"/>
              </a:lnSpc>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android:layout_column</a:t>
            </a:r>
            <a:r>
              <a:rPr lang="en-US" dirty="0" smtClean="0">
                <a:latin typeface="Times New Roman" pitchFamily="18" charset="0"/>
                <a:cs typeface="Times New Roman" pitchFamily="18" charset="0"/>
              </a:rPr>
              <a:t>="1" /&gt;    </a:t>
            </a:r>
          </a:p>
          <a:p>
            <a:pPr>
              <a:lnSpc>
                <a:spcPct val="150000"/>
              </a:lnSpc>
              <a:buNone/>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&lt;/</a:t>
            </a:r>
            <a:r>
              <a:rPr lang="en-US" b="1" dirty="0" err="1" smtClean="0">
                <a:latin typeface="Times New Roman" pitchFamily="18" charset="0"/>
                <a:cs typeface="Times New Roman" pitchFamily="18" charset="0"/>
              </a:rPr>
              <a:t>TableRow</a:t>
            </a:r>
            <a:r>
              <a:rPr lang="en-US" b="1" dirty="0" smtClean="0">
                <a:latin typeface="Times New Roman" pitchFamily="18" charset="0"/>
                <a:cs typeface="Times New Roman" pitchFamily="18" charset="0"/>
              </a:rPr>
              <a:t>&gt;</a:t>
            </a:r>
          </a:p>
          <a:p>
            <a:pPr>
              <a:lnSpc>
                <a:spcPct val="150000"/>
              </a:lnSpc>
              <a:buNone/>
            </a:pPr>
            <a:r>
              <a:rPr lang="en-US" dirty="0" smtClean="0">
                <a:latin typeface="Times New Roman" pitchFamily="18" charset="0"/>
                <a:cs typeface="Times New Roman" pitchFamily="18" charset="0"/>
              </a:rPr>
              <a:t>&lt;/</a:t>
            </a:r>
            <a:r>
              <a:rPr lang="en-US" dirty="0" err="1" smtClean="0">
                <a:latin typeface="Times New Roman" pitchFamily="18" charset="0"/>
                <a:cs typeface="Times New Roman" pitchFamily="18" charset="0"/>
              </a:rPr>
              <a:t>TableLayout</a:t>
            </a:r>
            <a:r>
              <a:rPr lang="en-US" dirty="0" smtClean="0">
                <a:latin typeface="Times New Roman" pitchFamily="18" charset="0"/>
                <a:cs typeface="Times New Roman" pitchFamily="18" charset="0"/>
              </a:rPr>
              <a:t>&gt;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Times New Roman" pitchFamily="18" charset="0"/>
                <a:cs typeface="Times New Roman" pitchFamily="18" charset="0"/>
              </a:rPr>
              <a:t>FrameLayout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lnSpc>
                <a:spcPct val="150000"/>
              </a:lnSpc>
              <a:buNone/>
            </a:pPr>
            <a:r>
              <a:rPr lang="en-US" sz="16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Android </a:t>
            </a:r>
            <a:r>
              <a:rPr lang="en-US" sz="2000" b="1" dirty="0" err="1" smtClean="0">
                <a:latin typeface="Times New Roman" pitchFamily="18" charset="0"/>
                <a:cs typeface="Times New Roman" pitchFamily="18" charset="0"/>
              </a:rPr>
              <a:t>Framelayout</a:t>
            </a:r>
            <a:r>
              <a:rPr lang="en-US" sz="2000" dirty="0" smtClean="0">
                <a:latin typeface="Times New Roman" pitchFamily="18" charset="0"/>
                <a:cs typeface="Times New Roman" pitchFamily="18" charset="0"/>
              </a:rPr>
              <a:t> is a </a:t>
            </a:r>
            <a:r>
              <a:rPr lang="en-US" sz="2000" dirty="0" err="1" smtClean="0">
                <a:latin typeface="Times New Roman" pitchFamily="18" charset="0"/>
                <a:cs typeface="Times New Roman" pitchFamily="18" charset="0"/>
              </a:rPr>
              <a:t>ViewGroup</a:t>
            </a:r>
            <a:r>
              <a:rPr lang="en-US" sz="2000" dirty="0" smtClean="0">
                <a:latin typeface="Times New Roman" pitchFamily="18" charset="0"/>
                <a:cs typeface="Times New Roman" pitchFamily="18" charset="0"/>
              </a:rPr>
              <a:t> subclass that is used to specify the position of multiple views placed on top of each other to represent a single view screen. Generally, we can say </a:t>
            </a:r>
            <a:r>
              <a:rPr lang="en-US" sz="2000" dirty="0" err="1" smtClean="0">
                <a:latin typeface="Times New Roman" pitchFamily="18" charset="0"/>
                <a:cs typeface="Times New Roman" pitchFamily="18" charset="0"/>
              </a:rPr>
              <a:t>FrameLayout</a:t>
            </a:r>
            <a:r>
              <a:rPr lang="en-US" sz="2000" dirty="0" smtClean="0">
                <a:latin typeface="Times New Roman" pitchFamily="18" charset="0"/>
                <a:cs typeface="Times New Roman" pitchFamily="18" charset="0"/>
              </a:rPr>
              <a:t> simply blocks a particular area on the screen to display a single view. Here, all the child views or elements are added in stack format means the most recently added child will be shown on the top of the screen. But, we can add multiple children's views and control their positions only by using gravity attributes in </a:t>
            </a:r>
            <a:r>
              <a:rPr lang="en-US" sz="2000" dirty="0" err="1" smtClean="0">
                <a:latin typeface="Times New Roman" pitchFamily="18" charset="0"/>
                <a:cs typeface="Times New Roman" pitchFamily="18" charset="0"/>
              </a:rPr>
              <a:t>FrameLayout</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10725150" cy="384175"/>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228600" y="971550"/>
            <a:ext cx="5467350" cy="5664200"/>
          </a:xfrm>
        </p:spPr>
        <p:txBody>
          <a:bodyPr>
            <a:normAutofit fontScale="85000" lnSpcReduction="10000"/>
          </a:bodyPr>
          <a:lstStyle/>
          <a:p>
            <a:pPr>
              <a:buNone/>
            </a:pPr>
            <a:r>
              <a:rPr lang="en-US" dirty="0" smtClean="0">
                <a:latin typeface="Times New Roman" pitchFamily="18" charset="0"/>
                <a:cs typeface="Times New Roman" pitchFamily="18" charset="0"/>
              </a:rPr>
              <a:t>&lt;?xml version="1.0" encoding="utf-8"?&gt;</a:t>
            </a:r>
          </a:p>
          <a:p>
            <a:pPr>
              <a:buNone/>
            </a:pPr>
            <a:r>
              <a:rPr lang="en-US" dirty="0" smtClean="0">
                <a:latin typeface="Times New Roman" pitchFamily="18" charset="0"/>
                <a:cs typeface="Times New Roman" pitchFamily="18" charset="0"/>
              </a:rPr>
              <a:t>&lt;</a:t>
            </a:r>
            <a:r>
              <a:rPr lang="en-US" dirty="0" err="1" smtClean="0">
                <a:latin typeface="Times New Roman" pitchFamily="18" charset="0"/>
                <a:cs typeface="Times New Roman" pitchFamily="18" charset="0"/>
              </a:rPr>
              <a:t>FrameLayout</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xmlns:android</a:t>
            </a:r>
            <a:r>
              <a:rPr lang="en-US" dirty="0" smtClean="0">
                <a:latin typeface="Times New Roman" pitchFamily="18" charset="0"/>
                <a:cs typeface="Times New Roman" pitchFamily="18" charset="0"/>
              </a:rPr>
              <a:t>="http://schemas.android.com/apk/res/android"</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android:layout_width</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match_parent</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android:layout_height</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match_parent</a:t>
            </a:r>
            <a:r>
              <a:rPr lang="en-US" dirty="0" smtClean="0">
                <a:latin typeface="Times New Roman" pitchFamily="18" charset="0"/>
                <a:cs typeface="Times New Roman" pitchFamily="18" charset="0"/>
              </a:rPr>
              <a:t>"&gt;</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android:padding</a:t>
            </a:r>
            <a:r>
              <a:rPr lang="en-US" dirty="0" smtClean="0">
                <a:latin typeface="Times New Roman" pitchFamily="18" charset="0"/>
                <a:cs typeface="Times New Roman" pitchFamily="18" charset="0"/>
              </a:rPr>
              <a:t>="32dp“</a:t>
            </a:r>
          </a:p>
          <a:p>
            <a:pPr>
              <a:buNone/>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&lt;</a:t>
            </a:r>
            <a:r>
              <a:rPr lang="en-US" b="1" dirty="0" err="1" smtClean="0">
                <a:latin typeface="Times New Roman" pitchFamily="18" charset="0"/>
                <a:cs typeface="Times New Roman" pitchFamily="18" charset="0"/>
              </a:rPr>
              <a:t>ImageView</a:t>
            </a:r>
            <a:endParaRPr lang="en-US" b="1"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android:layout_width</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match_parent</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android:layout_height</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match_parent</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android:src</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drawable</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bg</a:t>
            </a:r>
            <a:r>
              <a:rPr lang="en-US" dirty="0" smtClean="0">
                <a:latin typeface="Times New Roman" pitchFamily="18" charset="0"/>
                <a:cs typeface="Times New Roman" pitchFamily="18" charset="0"/>
              </a:rPr>
              <a:t>"/&gt;</a:t>
            </a:r>
          </a:p>
          <a:p>
            <a:pPr>
              <a:buNone/>
            </a:pP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
        <p:nvSpPr>
          <p:cNvPr id="4" name="Rectangle 3"/>
          <p:cNvSpPr/>
          <p:nvPr/>
        </p:nvSpPr>
        <p:spPr>
          <a:xfrm>
            <a:off x="5930900" y="919540"/>
            <a:ext cx="6096000" cy="3139321"/>
          </a:xfrm>
          <a:prstGeom prst="rect">
            <a:avLst/>
          </a:prstGeom>
        </p:spPr>
        <p:txBody>
          <a:bodyPr>
            <a:spAutoFit/>
          </a:bodyPr>
          <a:lstStyle/>
          <a:p>
            <a:pPr>
              <a:buNone/>
            </a:pPr>
            <a:r>
              <a:rPr lang="en-US" dirty="0" smtClean="0">
                <a:latin typeface="Times New Roman" pitchFamily="18" charset="0"/>
                <a:cs typeface="Times New Roman" pitchFamily="18" charset="0"/>
              </a:rPr>
              <a:t>&lt;Button</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android:id</a:t>
            </a:r>
            <a:r>
              <a:rPr lang="en-US" dirty="0" smtClean="0">
                <a:latin typeface="Times New Roman" pitchFamily="18" charset="0"/>
                <a:cs typeface="Times New Roman" pitchFamily="18" charset="0"/>
              </a:rPr>
              <a:t>="@+id/button“</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android:layout_width</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wrap_content</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android:layout_height</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wrap_content</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android:layout_marginTop</a:t>
            </a:r>
            <a:r>
              <a:rPr lang="en-US" dirty="0" smtClean="0">
                <a:latin typeface="Times New Roman" pitchFamily="18" charset="0"/>
                <a:cs typeface="Times New Roman" pitchFamily="18" charset="0"/>
              </a:rPr>
              <a:t>="300dp" </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android:backgroundTint</a:t>
            </a:r>
            <a:r>
              <a:rPr lang="en-US" dirty="0" smtClean="0">
                <a:latin typeface="Times New Roman" pitchFamily="18" charset="0"/>
                <a:cs typeface="Times New Roman" pitchFamily="18" charset="0"/>
              </a:rPr>
              <a:t>="@color/green" </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android:layout_gravity</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center_horizontal</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android:text</a:t>
            </a:r>
            <a:r>
              <a:rPr lang="en-US" dirty="0" smtClean="0">
                <a:latin typeface="Times New Roman" pitchFamily="18" charset="0"/>
                <a:cs typeface="Times New Roman" pitchFamily="18" charset="0"/>
              </a:rPr>
              <a:t>="Submit" </a:t>
            </a:r>
            <a:endParaRPr lang="en-US" b="1" dirty="0" smtClean="0">
              <a:latin typeface="Times New Roman" pitchFamily="18" charset="0"/>
              <a:cs typeface="Times New Roman" pitchFamily="18" charset="0"/>
            </a:endParaRPr>
          </a:p>
          <a:p>
            <a:pPr>
              <a:buNone/>
            </a:pP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android:layout_gravity</a:t>
            </a:r>
            <a:r>
              <a:rPr lang="en-US" dirty="0" smtClean="0">
                <a:latin typeface="Times New Roman" pitchFamily="18" charset="0"/>
                <a:cs typeface="Times New Roman" pitchFamily="18" charset="0"/>
              </a:rPr>
              <a:t>="center"/&gt;</a:t>
            </a:r>
          </a:p>
          <a:p>
            <a:pPr>
              <a:buNone/>
            </a:pP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&lt;/</a:t>
            </a:r>
            <a:r>
              <a:rPr lang="en-US" dirty="0" err="1" smtClean="0">
                <a:latin typeface="Times New Roman" pitchFamily="18" charset="0"/>
                <a:cs typeface="Times New Roman" pitchFamily="18" charset="0"/>
              </a:rPr>
              <a:t>FrameLayout</a:t>
            </a:r>
            <a:r>
              <a:rPr lang="en-US" dirty="0" smtClean="0">
                <a:latin typeface="Times New Roman" pitchFamily="18" charset="0"/>
                <a:cs typeface="Times New Roman" pitchFamily="18" charset="0"/>
              </a:rPr>
              <a:t>&gt;</a:t>
            </a:r>
            <a:endParaRPr lang="en-US" dirty="0">
              <a:latin typeface="Times New Roman" pitchFamily="18" charset="0"/>
              <a:cs typeface="Times New Roman"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4198680" y="1825625"/>
            <a:ext cx="3794640" cy="4351338"/>
          </a:xfrm>
          <a:prstGeom prst="rect">
            <a:avLst/>
          </a:prstGeom>
          <a:noFill/>
          <a:ln w="9525">
            <a:noFill/>
            <a:miter lim="800000"/>
            <a:headEnd/>
            <a:tailEnd/>
          </a:ln>
          <a:effec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236200" cy="809625"/>
          </a:xfrm>
        </p:spPr>
        <p:txBody>
          <a:bodyPr/>
          <a:lstStyle/>
          <a:p>
            <a:r>
              <a:rPr lang="en-US" dirty="0" smtClean="0"/>
              <a:t>example</a:t>
            </a:r>
            <a:endParaRPr lang="en-US" dirty="0"/>
          </a:p>
        </p:txBody>
      </p:sp>
      <p:sp>
        <p:nvSpPr>
          <p:cNvPr id="3" name="Content Placeholder 2"/>
          <p:cNvSpPr>
            <a:spLocks noGrp="1"/>
          </p:cNvSpPr>
          <p:nvPr>
            <p:ph idx="1"/>
          </p:nvPr>
        </p:nvSpPr>
        <p:spPr>
          <a:xfrm>
            <a:off x="838200" y="1825625"/>
            <a:ext cx="3905250" cy="4168775"/>
          </a:xfrm>
        </p:spPr>
        <p:txBody>
          <a:bodyPr>
            <a:noAutofit/>
          </a:bodyPr>
          <a:lstStyle/>
          <a:p>
            <a:pPr>
              <a:lnSpc>
                <a:spcPct val="100000"/>
              </a:lnSpc>
              <a:buNone/>
            </a:pPr>
            <a:r>
              <a:rPr lang="en-US" sz="1100" dirty="0" smtClean="0"/>
              <a:t>&lt;?xml version="1.0" encoding="utf-8"?&gt;</a:t>
            </a:r>
          </a:p>
          <a:p>
            <a:pPr>
              <a:lnSpc>
                <a:spcPct val="100000"/>
              </a:lnSpc>
              <a:buNone/>
            </a:pPr>
            <a:r>
              <a:rPr lang="en-US" sz="1100" b="1" dirty="0" smtClean="0"/>
              <a:t>&lt;</a:t>
            </a:r>
            <a:r>
              <a:rPr lang="en-US" sz="1100" b="1" dirty="0" err="1" smtClean="0"/>
              <a:t>FrameLayout</a:t>
            </a:r>
            <a:r>
              <a:rPr lang="en-US" sz="1100" dirty="0" smtClean="0"/>
              <a:t> </a:t>
            </a:r>
            <a:r>
              <a:rPr lang="en-US" sz="1100" dirty="0" err="1" smtClean="0"/>
              <a:t>xmlns:android</a:t>
            </a:r>
            <a:r>
              <a:rPr lang="en-US" sz="1100" dirty="0" smtClean="0"/>
              <a:t>="http://schemas.android.com/apk/res/android" </a:t>
            </a:r>
            <a:r>
              <a:rPr lang="en-US" sz="1100" dirty="0" err="1" smtClean="0"/>
              <a:t>xmlns:app</a:t>
            </a:r>
            <a:r>
              <a:rPr lang="en-US" sz="1100" dirty="0" smtClean="0"/>
              <a:t>="http://schemas.android.com/apk/res-auto" </a:t>
            </a:r>
            <a:r>
              <a:rPr lang="en-US" sz="1100" dirty="0" err="1" smtClean="0"/>
              <a:t>xmlns:tools</a:t>
            </a:r>
            <a:r>
              <a:rPr lang="en-US" sz="1100" dirty="0" smtClean="0"/>
              <a:t>="http://schemas.android.com/tools" </a:t>
            </a:r>
            <a:r>
              <a:rPr lang="en-US" sz="1100" dirty="0" err="1" smtClean="0"/>
              <a:t>android:id</a:t>
            </a:r>
            <a:r>
              <a:rPr lang="en-US" sz="1100" dirty="0" smtClean="0"/>
              <a:t>="@+id/main" </a:t>
            </a:r>
            <a:r>
              <a:rPr lang="en-US" sz="1100" dirty="0" err="1" smtClean="0"/>
              <a:t>android:layout_width</a:t>
            </a:r>
            <a:r>
              <a:rPr lang="en-US" sz="1100" dirty="0" smtClean="0"/>
              <a:t>="</a:t>
            </a:r>
            <a:r>
              <a:rPr lang="en-US" sz="1100" dirty="0" err="1" smtClean="0"/>
              <a:t>match_parent</a:t>
            </a:r>
            <a:r>
              <a:rPr lang="en-US" sz="1100" dirty="0" smtClean="0"/>
              <a:t>" </a:t>
            </a:r>
            <a:r>
              <a:rPr lang="en-US" sz="1100" dirty="0" err="1" smtClean="0"/>
              <a:t>android:layout_height</a:t>
            </a:r>
            <a:r>
              <a:rPr lang="en-US" sz="1100" dirty="0" smtClean="0"/>
              <a:t>="</a:t>
            </a:r>
            <a:r>
              <a:rPr lang="en-US" sz="1100" dirty="0" err="1" smtClean="0"/>
              <a:t>match_parent</a:t>
            </a:r>
            <a:r>
              <a:rPr lang="en-US" sz="1100" dirty="0" smtClean="0"/>
              <a:t>" </a:t>
            </a:r>
            <a:r>
              <a:rPr lang="en-US" sz="1100" dirty="0" err="1" smtClean="0"/>
              <a:t>android:padding</a:t>
            </a:r>
            <a:r>
              <a:rPr lang="en-US" sz="1100" dirty="0" smtClean="0"/>
              <a:t>="32dp" </a:t>
            </a:r>
            <a:r>
              <a:rPr lang="en-US" sz="1100" dirty="0" err="1" smtClean="0"/>
              <a:t>android:background</a:t>
            </a:r>
            <a:r>
              <a:rPr lang="en-US" sz="1100" dirty="0" smtClean="0"/>
              <a:t>="@color/white" </a:t>
            </a:r>
            <a:r>
              <a:rPr lang="en-US" sz="1100" dirty="0" err="1" smtClean="0"/>
              <a:t>tools:context</a:t>
            </a:r>
            <a:r>
              <a:rPr lang="en-US" sz="1100" dirty="0" smtClean="0"/>
              <a:t>=".</a:t>
            </a:r>
            <a:r>
              <a:rPr lang="en-US" sz="1100" dirty="0" err="1" smtClean="0"/>
              <a:t>MainActivity</a:t>
            </a:r>
            <a:r>
              <a:rPr lang="en-US" sz="1100" dirty="0" smtClean="0"/>
              <a:t>"</a:t>
            </a:r>
            <a:r>
              <a:rPr lang="en-US" sz="1100" b="1" dirty="0" smtClean="0"/>
              <a:t>&gt;</a:t>
            </a:r>
          </a:p>
          <a:p>
            <a:pPr>
              <a:lnSpc>
                <a:spcPct val="100000"/>
              </a:lnSpc>
              <a:buNone/>
            </a:pPr>
            <a:r>
              <a:rPr lang="en-US" sz="1100" b="1" dirty="0" smtClean="0"/>
              <a:t>&lt;</a:t>
            </a:r>
            <a:r>
              <a:rPr lang="en-US" sz="1100" b="1" dirty="0" err="1" smtClean="0"/>
              <a:t>TextView</a:t>
            </a:r>
            <a:r>
              <a:rPr lang="en-US" sz="1100" dirty="0" smtClean="0"/>
              <a:t> </a:t>
            </a:r>
            <a:r>
              <a:rPr lang="en-US" sz="1100" dirty="0" err="1" smtClean="0"/>
              <a:t>android:id</a:t>
            </a:r>
            <a:r>
              <a:rPr lang="en-US" sz="1100" dirty="0" smtClean="0"/>
              <a:t>="@+id/</a:t>
            </a:r>
            <a:r>
              <a:rPr lang="en-US" sz="1100" dirty="0" err="1" smtClean="0"/>
              <a:t>textView</a:t>
            </a:r>
            <a:r>
              <a:rPr lang="en-US" sz="1100" dirty="0" smtClean="0"/>
              <a:t>" </a:t>
            </a:r>
            <a:r>
              <a:rPr lang="en-US" sz="1100" dirty="0" err="1" smtClean="0"/>
              <a:t>android:layout_width</a:t>
            </a:r>
            <a:r>
              <a:rPr lang="en-US" sz="1100" dirty="0" smtClean="0"/>
              <a:t>="</a:t>
            </a:r>
            <a:r>
              <a:rPr lang="en-US" sz="1100" dirty="0" err="1" smtClean="0"/>
              <a:t>wrap_content</a:t>
            </a:r>
            <a:r>
              <a:rPr lang="en-US" sz="1100" dirty="0" smtClean="0"/>
              <a:t>" </a:t>
            </a:r>
            <a:r>
              <a:rPr lang="en-US" sz="1100" dirty="0" err="1" smtClean="0"/>
              <a:t>android:layout_height</a:t>
            </a:r>
            <a:r>
              <a:rPr lang="en-US" sz="1100" dirty="0" smtClean="0"/>
              <a:t>="</a:t>
            </a:r>
            <a:r>
              <a:rPr lang="en-US" sz="1100" dirty="0" err="1" smtClean="0"/>
              <a:t>wrap_content</a:t>
            </a:r>
            <a:r>
              <a:rPr lang="en-US" sz="1100" dirty="0" smtClean="0"/>
              <a:t>" </a:t>
            </a:r>
            <a:r>
              <a:rPr lang="en-US" sz="1100" dirty="0" err="1" smtClean="0"/>
              <a:t>android:layout_marginTop</a:t>
            </a:r>
            <a:r>
              <a:rPr lang="en-US" sz="1100" dirty="0" smtClean="0"/>
              <a:t>="64dp" </a:t>
            </a:r>
            <a:r>
              <a:rPr lang="en-US" sz="1100" dirty="0" err="1" smtClean="0"/>
              <a:t>android:layout_gravity</a:t>
            </a:r>
            <a:r>
              <a:rPr lang="en-US" sz="1100" dirty="0" smtClean="0"/>
              <a:t>="</a:t>
            </a:r>
            <a:r>
              <a:rPr lang="en-US" sz="1100" dirty="0" err="1" smtClean="0"/>
              <a:t>center_horizontal</a:t>
            </a:r>
            <a:r>
              <a:rPr lang="en-US" sz="1100" dirty="0" smtClean="0"/>
              <a:t>" </a:t>
            </a:r>
            <a:r>
              <a:rPr lang="en-US" sz="1100" dirty="0" err="1" smtClean="0"/>
              <a:t>android:background</a:t>
            </a:r>
            <a:r>
              <a:rPr lang="en-US" sz="1100" dirty="0" smtClean="0"/>
              <a:t>="@color/green" </a:t>
            </a:r>
            <a:r>
              <a:rPr lang="en-US" sz="1100" dirty="0" err="1" smtClean="0"/>
              <a:t>android:padding</a:t>
            </a:r>
            <a:r>
              <a:rPr lang="en-US" sz="1100" dirty="0" smtClean="0"/>
              <a:t>="16dp" </a:t>
            </a:r>
            <a:r>
              <a:rPr lang="en-US" sz="1100" dirty="0" err="1" smtClean="0"/>
              <a:t>android:text</a:t>
            </a:r>
            <a:r>
              <a:rPr lang="en-US" sz="1100" dirty="0" smtClean="0"/>
              <a:t>="Login Details" </a:t>
            </a:r>
            <a:r>
              <a:rPr lang="en-US" sz="1100" dirty="0" err="1" smtClean="0"/>
              <a:t>android:textColor</a:t>
            </a:r>
            <a:r>
              <a:rPr lang="en-US" sz="1100" dirty="0" smtClean="0"/>
              <a:t>="#FFFFFF" </a:t>
            </a:r>
            <a:r>
              <a:rPr lang="en-US" sz="1100" dirty="0" err="1" smtClean="0"/>
              <a:t>android:textSize</a:t>
            </a:r>
            <a:r>
              <a:rPr lang="en-US" sz="1100" dirty="0" smtClean="0"/>
              <a:t>="20sp" </a:t>
            </a:r>
            <a:r>
              <a:rPr lang="en-US" sz="1100" b="1" dirty="0" smtClean="0"/>
              <a:t>/&gt;</a:t>
            </a:r>
            <a:endParaRPr lang="en-US" sz="1100" dirty="0">
              <a:latin typeface="Times New Roman" pitchFamily="18" charset="0"/>
              <a:cs typeface="Times New Roman" pitchFamily="18" charset="0"/>
            </a:endParaRPr>
          </a:p>
        </p:txBody>
      </p:sp>
      <p:sp>
        <p:nvSpPr>
          <p:cNvPr id="2049" name="Rectangle 1"/>
          <p:cNvSpPr>
            <a:spLocks noChangeArrowheads="1"/>
          </p:cNvSpPr>
          <p:nvPr/>
        </p:nvSpPr>
        <p:spPr bwMode="auto">
          <a:xfrm>
            <a:off x="5156200" y="1549400"/>
            <a:ext cx="6203950" cy="3816429"/>
          </a:xfrm>
          <a:prstGeom prst="rect">
            <a:avLst/>
          </a:prstGeom>
          <a:noFill/>
          <a:ln w="9525">
            <a:noFill/>
            <a:miter lim="800000"/>
            <a:headEnd/>
            <a:tailEnd/>
          </a:ln>
          <a:effectLst/>
        </p:spPr>
        <p:txBody>
          <a:bodyPr vert="horz" wrap="square" lIns="0" tIns="0" rIns="0" bIns="45720" numCol="1" anchor="ctr" anchorCtr="0" compatLnSpc="1">
            <a:prstTxWarp prst="textNoShape">
              <a:avLst/>
            </a:prstTxWarp>
            <a:spAutoFit/>
          </a:bodyPr>
          <a:lstStyle/>
          <a:p>
            <a:pPr lvl="0" fontAlgn="base">
              <a:spcBef>
                <a:spcPct val="0"/>
              </a:spcBef>
              <a:spcAft>
                <a:spcPct val="0"/>
              </a:spcAft>
            </a:pPr>
            <a:r>
              <a:rPr lang="en-US" sz="1200" b="1" dirty="0" smtClean="0"/>
              <a:t>&lt;</a:t>
            </a:r>
            <a:r>
              <a:rPr lang="en-US" sz="1200" b="1" dirty="0" err="1" smtClean="0"/>
              <a:t>EditText</a:t>
            </a:r>
            <a:endParaRPr lang="en-US" sz="1200" dirty="0" smtClean="0"/>
          </a:p>
          <a:p>
            <a:pPr lvl="0" fontAlgn="base">
              <a:spcBef>
                <a:spcPct val="0"/>
              </a:spcBef>
              <a:spcAft>
                <a:spcPct val="0"/>
              </a:spcAft>
            </a:pPr>
            <a:r>
              <a:rPr lang="en-US" sz="1200" dirty="0" err="1" smtClean="0"/>
              <a:t>android:id</a:t>
            </a:r>
            <a:r>
              <a:rPr lang="en-US" sz="1200" dirty="0" smtClean="0"/>
              <a:t>="@+id/editText1“</a:t>
            </a:r>
          </a:p>
          <a:p>
            <a:pPr lvl="0" fontAlgn="base">
              <a:spcBef>
                <a:spcPct val="0"/>
              </a:spcBef>
              <a:spcAft>
                <a:spcPct val="0"/>
              </a:spcAft>
            </a:pPr>
            <a:r>
              <a:rPr lang="en-US" sz="1200" dirty="0" err="1" smtClean="0"/>
              <a:t>android:layout_width</a:t>
            </a:r>
            <a:r>
              <a:rPr lang="en-US" sz="1200" dirty="0" smtClean="0"/>
              <a:t>="</a:t>
            </a:r>
            <a:r>
              <a:rPr lang="en-US" sz="1200" dirty="0" err="1" smtClean="0"/>
              <a:t>match_parent</a:t>
            </a:r>
            <a:r>
              <a:rPr lang="en-US" sz="1200" dirty="0" smtClean="0"/>
              <a:t>" </a:t>
            </a:r>
            <a:r>
              <a:rPr lang="en-US" sz="1200" dirty="0" err="1" smtClean="0"/>
              <a:t>android:layout_height</a:t>
            </a:r>
            <a:r>
              <a:rPr lang="en-US" sz="1200" dirty="0" smtClean="0"/>
              <a:t>="</a:t>
            </a:r>
            <a:r>
              <a:rPr lang="en-US" sz="1200" dirty="0" err="1" smtClean="0"/>
              <a:t>wrap_content</a:t>
            </a:r>
            <a:r>
              <a:rPr lang="en-US" sz="1200" dirty="0" smtClean="0"/>
              <a:t>" </a:t>
            </a:r>
            <a:r>
              <a:rPr lang="en-US" sz="1200" dirty="0" err="1" smtClean="0"/>
              <a:t>android:layout_marginTop</a:t>
            </a:r>
            <a:r>
              <a:rPr lang="en-US" sz="1200" dirty="0" smtClean="0"/>
              <a:t>="156dp" </a:t>
            </a:r>
            <a:r>
              <a:rPr lang="en-US" sz="1200" dirty="0" err="1" smtClean="0"/>
              <a:t>android:layout_gravity</a:t>
            </a:r>
            <a:r>
              <a:rPr lang="en-US" sz="1200" dirty="0" smtClean="0"/>
              <a:t>="</a:t>
            </a:r>
            <a:r>
              <a:rPr lang="en-US" sz="1200" dirty="0" err="1" smtClean="0"/>
              <a:t>center_horizontal</a:t>
            </a:r>
            <a:r>
              <a:rPr lang="en-US" sz="1200" dirty="0" smtClean="0"/>
              <a:t>" </a:t>
            </a:r>
            <a:r>
              <a:rPr lang="en-US" sz="1200" dirty="0" err="1" smtClean="0"/>
              <a:t>android:background</a:t>
            </a:r>
            <a:r>
              <a:rPr lang="en-US" sz="1200" dirty="0" smtClean="0"/>
              <a:t>="@color/grey" </a:t>
            </a:r>
            <a:r>
              <a:rPr lang="en-US" sz="1200" dirty="0" err="1" smtClean="0"/>
              <a:t>android:textColorHint</a:t>
            </a:r>
            <a:r>
              <a:rPr lang="en-US" sz="1200" dirty="0" smtClean="0"/>
              <a:t>="@color/white" </a:t>
            </a:r>
            <a:r>
              <a:rPr lang="en-US" sz="1200" dirty="0" err="1" smtClean="0"/>
              <a:t>android:hint</a:t>
            </a:r>
            <a:r>
              <a:rPr lang="en-US" sz="1200" dirty="0" smtClean="0"/>
              <a:t>="Enter your email" </a:t>
            </a:r>
            <a:r>
              <a:rPr lang="en-US" sz="1200" dirty="0" err="1" smtClean="0"/>
              <a:t>android:padding</a:t>
            </a:r>
            <a:r>
              <a:rPr lang="en-US" sz="1200" dirty="0" smtClean="0"/>
              <a:t>="10dp" </a:t>
            </a:r>
            <a:r>
              <a:rPr lang="en-US" sz="1200" b="1" dirty="0" smtClean="0"/>
              <a:t>/&gt;</a:t>
            </a:r>
          </a:p>
          <a:p>
            <a:pPr lvl="0" fontAlgn="base">
              <a:spcBef>
                <a:spcPct val="0"/>
              </a:spcBef>
              <a:spcAft>
                <a:spcPct val="0"/>
              </a:spcAft>
            </a:pPr>
            <a:endParaRPr kumimoji="0" lang="en-US" sz="1200" b="1" i="0" u="none" strike="noStrike" cap="none" normalizeH="0" baseline="0" dirty="0" smtClean="0">
              <a:ln>
                <a:noFill/>
              </a:ln>
              <a:solidFill>
                <a:srgbClr val="008000"/>
              </a:solidFill>
              <a:effectLst/>
              <a:latin typeface="Consolas" pitchFamily="49" charset="0"/>
              <a:cs typeface="Arial" pitchFamily="34" charset="0"/>
            </a:endParaRPr>
          </a:p>
          <a:p>
            <a:pPr lvl="0" fontAlgn="base">
              <a:spcBef>
                <a:spcPct val="0"/>
              </a:spcBef>
              <a:spcAft>
                <a:spcPct val="0"/>
              </a:spcAft>
            </a:pPr>
            <a:r>
              <a:rPr lang="en-US" sz="1200" b="1" dirty="0" smtClean="0"/>
              <a:t>&lt;</a:t>
            </a:r>
            <a:r>
              <a:rPr lang="en-US" sz="1200" b="1" dirty="0" err="1" smtClean="0"/>
              <a:t>EditText</a:t>
            </a:r>
            <a:endParaRPr lang="en-US" sz="1200" b="1" dirty="0" smtClean="0"/>
          </a:p>
          <a:p>
            <a:pPr lvl="0" fontAlgn="base">
              <a:spcBef>
                <a:spcPct val="0"/>
              </a:spcBef>
              <a:spcAft>
                <a:spcPct val="0"/>
              </a:spcAft>
            </a:pPr>
            <a:r>
              <a:rPr lang="en-US" sz="1200" dirty="0" err="1" smtClean="0"/>
              <a:t>android:id</a:t>
            </a:r>
            <a:r>
              <a:rPr lang="en-US" sz="1200" dirty="0" smtClean="0"/>
              <a:t>="@+id/editText2" </a:t>
            </a:r>
            <a:r>
              <a:rPr lang="en-US" sz="1200" dirty="0" err="1" smtClean="0"/>
              <a:t>android:layout_width</a:t>
            </a:r>
            <a:r>
              <a:rPr lang="en-US" sz="1200" dirty="0" smtClean="0"/>
              <a:t>="</a:t>
            </a:r>
            <a:r>
              <a:rPr lang="en-US" sz="1200" dirty="0" err="1" smtClean="0"/>
              <a:t>match_parent</a:t>
            </a:r>
            <a:r>
              <a:rPr lang="en-US" sz="1200" dirty="0" smtClean="0"/>
              <a:t>" </a:t>
            </a:r>
            <a:r>
              <a:rPr lang="en-US" sz="1200" dirty="0" err="1" smtClean="0"/>
              <a:t>android:layout_height</a:t>
            </a:r>
            <a:r>
              <a:rPr lang="en-US" sz="1200" dirty="0" smtClean="0"/>
              <a:t>="</a:t>
            </a:r>
            <a:r>
              <a:rPr lang="en-US" sz="1200" dirty="0" err="1" smtClean="0"/>
              <a:t>wrap_content</a:t>
            </a:r>
            <a:r>
              <a:rPr lang="en-US" sz="1200" dirty="0" smtClean="0"/>
              <a:t>" </a:t>
            </a:r>
            <a:r>
              <a:rPr lang="en-US" sz="1200" dirty="0" err="1" smtClean="0"/>
              <a:t>android:layout_gravity</a:t>
            </a:r>
            <a:r>
              <a:rPr lang="en-US" sz="1200" dirty="0" smtClean="0"/>
              <a:t>="</a:t>
            </a:r>
            <a:r>
              <a:rPr lang="en-US" sz="1200" dirty="0" err="1" smtClean="0"/>
              <a:t>center_horizontal</a:t>
            </a:r>
            <a:r>
              <a:rPr lang="en-US" sz="1200" dirty="0" smtClean="0"/>
              <a:t>" </a:t>
            </a:r>
            <a:r>
              <a:rPr lang="en-US" sz="1200" dirty="0" err="1" smtClean="0"/>
              <a:t>android:layout_marginTop</a:t>
            </a:r>
            <a:r>
              <a:rPr lang="en-US" sz="1200" dirty="0" smtClean="0"/>
              <a:t>="220dp" </a:t>
            </a:r>
            <a:r>
              <a:rPr lang="en-US" sz="1200" dirty="0" err="1" smtClean="0"/>
              <a:t>android:background</a:t>
            </a:r>
            <a:r>
              <a:rPr lang="en-US" sz="1200" dirty="0" smtClean="0"/>
              <a:t>="@color/grey" </a:t>
            </a:r>
            <a:r>
              <a:rPr lang="en-US" sz="1200" dirty="0" err="1" smtClean="0"/>
              <a:t>android:textColorHint</a:t>
            </a:r>
            <a:r>
              <a:rPr lang="en-US" sz="1200" dirty="0" smtClean="0"/>
              <a:t>="@color/white" </a:t>
            </a:r>
            <a:r>
              <a:rPr lang="en-US" sz="1200" dirty="0" err="1" smtClean="0"/>
              <a:t>android:hint</a:t>
            </a:r>
            <a:r>
              <a:rPr lang="en-US" sz="1200" dirty="0" smtClean="0"/>
              <a:t>="Enter password" </a:t>
            </a:r>
            <a:r>
              <a:rPr lang="en-US" sz="1200" dirty="0" err="1" smtClean="0"/>
              <a:t>android:padding</a:t>
            </a:r>
            <a:r>
              <a:rPr lang="en-US" sz="1200" dirty="0" smtClean="0"/>
              <a:t>="10dp" </a:t>
            </a:r>
            <a:r>
              <a:rPr lang="en-US" sz="1200" b="1" dirty="0" smtClean="0"/>
              <a:t>/</a:t>
            </a:r>
          </a:p>
          <a:p>
            <a:pPr lvl="0" fontAlgn="base">
              <a:spcBef>
                <a:spcPct val="0"/>
              </a:spcBef>
              <a:spcAft>
                <a:spcPct val="0"/>
              </a:spcAft>
            </a:pPr>
            <a:r>
              <a:rPr lang="en-US" sz="1200" b="1" dirty="0" smtClean="0"/>
              <a:t>&lt;Button</a:t>
            </a:r>
          </a:p>
          <a:p>
            <a:pPr lvl="0" fontAlgn="base">
              <a:spcBef>
                <a:spcPct val="0"/>
              </a:spcBef>
              <a:spcAft>
                <a:spcPct val="0"/>
              </a:spcAft>
            </a:pPr>
            <a:r>
              <a:rPr lang="en-US" sz="1200" dirty="0" err="1" smtClean="0"/>
              <a:t>android:id</a:t>
            </a:r>
            <a:r>
              <a:rPr lang="en-US" sz="1200" dirty="0" smtClean="0"/>
              <a:t>="@+id/button" </a:t>
            </a:r>
            <a:r>
              <a:rPr lang="en-US" sz="1200" dirty="0" err="1" smtClean="0"/>
              <a:t>android:layout_width</a:t>
            </a:r>
            <a:r>
              <a:rPr lang="en-US" sz="1200" dirty="0" smtClean="0"/>
              <a:t>="</a:t>
            </a:r>
            <a:r>
              <a:rPr lang="en-US" sz="1200" dirty="0" err="1" smtClean="0"/>
              <a:t>wrap_content</a:t>
            </a:r>
            <a:r>
              <a:rPr lang="en-US" sz="1200" dirty="0" smtClean="0"/>
              <a:t>" </a:t>
            </a:r>
            <a:r>
              <a:rPr lang="en-US" sz="1200" dirty="0" err="1" smtClean="0"/>
              <a:t>android:layout_height</a:t>
            </a:r>
            <a:r>
              <a:rPr lang="en-US" sz="1200" dirty="0" smtClean="0"/>
              <a:t>="</a:t>
            </a:r>
            <a:r>
              <a:rPr lang="en-US" sz="1200" dirty="0" err="1" smtClean="0"/>
              <a:t>wrap_content</a:t>
            </a:r>
            <a:r>
              <a:rPr lang="en-US" sz="1200" dirty="0" smtClean="0"/>
              <a:t>" </a:t>
            </a:r>
            <a:r>
              <a:rPr lang="en-US" sz="1200" dirty="0" err="1" smtClean="0"/>
              <a:t>android:layout_marginTop</a:t>
            </a:r>
            <a:r>
              <a:rPr lang="en-US" sz="1200" dirty="0" smtClean="0"/>
              <a:t>="300dp" </a:t>
            </a:r>
            <a:r>
              <a:rPr lang="en-US" sz="1200" dirty="0" err="1" smtClean="0"/>
              <a:t>android:backgroundTint</a:t>
            </a:r>
            <a:r>
              <a:rPr lang="en-US" sz="1200" dirty="0" smtClean="0"/>
              <a:t>="@color/green" </a:t>
            </a:r>
            <a:r>
              <a:rPr lang="en-US" sz="1200" dirty="0" err="1" smtClean="0"/>
              <a:t>android:layout_gravity</a:t>
            </a:r>
            <a:r>
              <a:rPr lang="en-US" sz="1200" dirty="0" smtClean="0"/>
              <a:t>="</a:t>
            </a:r>
            <a:r>
              <a:rPr lang="en-US" sz="1200" dirty="0" err="1" smtClean="0"/>
              <a:t>center_horizontal</a:t>
            </a:r>
            <a:r>
              <a:rPr lang="en-US" sz="1200" dirty="0" smtClean="0"/>
              <a:t>" </a:t>
            </a:r>
            <a:r>
              <a:rPr lang="en-US" sz="1200" dirty="0" err="1" smtClean="0"/>
              <a:t>android:text</a:t>
            </a:r>
            <a:r>
              <a:rPr lang="en-US" sz="1200" dirty="0" smtClean="0"/>
              <a:t>="Submit" </a:t>
            </a:r>
            <a:r>
              <a:rPr lang="en-US" sz="1200" b="1" dirty="0" smtClean="0"/>
              <a:t>/&gt;</a:t>
            </a:r>
          </a:p>
          <a:p>
            <a:pPr lvl="0" fontAlgn="base">
              <a:spcBef>
                <a:spcPct val="0"/>
              </a:spcBef>
              <a:spcAft>
                <a:spcPct val="0"/>
              </a:spcAft>
            </a:pPr>
            <a:r>
              <a:rPr lang="en-US" sz="1200" b="1" dirty="0" smtClean="0"/>
              <a:t>&lt;/</a:t>
            </a:r>
            <a:r>
              <a:rPr lang="en-US" sz="1200" b="1" dirty="0" err="1" smtClean="0"/>
              <a:t>FrameLayout</a:t>
            </a:r>
            <a:r>
              <a:rPr lang="en-US" sz="1200" b="1" dirty="0" smtClean="0"/>
              <a:t>&gt;</a:t>
            </a:r>
            <a:endParaRPr kumimoji="0" lang="en-US" sz="1200" b="1" i="0" u="none" strike="noStrike" cap="none" normalizeH="0" baseline="0" dirty="0" smtClean="0">
              <a:ln>
                <a:noFill/>
              </a:ln>
              <a:solidFill>
                <a:srgbClr val="008000"/>
              </a:solidFill>
              <a:effectLst/>
              <a:latin typeface="Consolas" pitchFamily="49"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US" sz="1200" b="1" dirty="0" smtClean="0">
              <a:solidFill>
                <a:srgbClr val="008000"/>
              </a:solidFill>
              <a:latin typeface="Consolas" pitchFamily="49"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500" b="0" i="0" u="none" strike="noStrike" cap="none" normalizeH="0" baseline="0" dirty="0" smtClean="0">
                <a:ln>
                  <a:noFill/>
                </a:ln>
                <a:solidFill>
                  <a:schemeClr val="tx1"/>
                </a:solidFill>
                <a:effectLst/>
                <a:latin typeface="Arial" pitchFamily="34" charset="0"/>
                <a:cs typeface="Arial" pitchFamily="34"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Scroll layout</a:t>
            </a:r>
            <a:endParaRPr lang="en-US" dirty="0"/>
          </a:p>
        </p:txBody>
      </p:sp>
      <p:sp>
        <p:nvSpPr>
          <p:cNvPr id="3" name="Content Placeholder 2"/>
          <p:cNvSpPr>
            <a:spLocks noGrp="1"/>
          </p:cNvSpPr>
          <p:nvPr>
            <p:ph idx="1"/>
          </p:nvPr>
        </p:nvSpPr>
        <p:spPr/>
        <p:txBody>
          <a:bodyPr/>
          <a:lstStyle/>
          <a:p>
            <a:pPr algn="just">
              <a:lnSpc>
                <a:spcPct val="200000"/>
              </a:lnSpc>
              <a:buNone/>
            </a:pPr>
            <a:r>
              <a:rPr lang="en-US"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It is a view group that is used to make vertically scrollable views. A </a:t>
            </a:r>
            <a:r>
              <a:rPr lang="en-US" sz="1600" b="1" dirty="0" smtClean="0">
                <a:latin typeface="Times New Roman" pitchFamily="18" charset="0"/>
                <a:cs typeface="Times New Roman" pitchFamily="18" charset="0"/>
              </a:rPr>
              <a:t>scroll view </a:t>
            </a:r>
            <a:r>
              <a:rPr lang="en-US" sz="1600" dirty="0" smtClean="0">
                <a:latin typeface="Times New Roman" pitchFamily="18" charset="0"/>
                <a:cs typeface="Times New Roman" pitchFamily="18" charset="0"/>
              </a:rPr>
              <a:t>contains a single direct child only. In order to place multiple views in the scroll view, one needs to make a view group(like </a:t>
            </a:r>
            <a:r>
              <a:rPr lang="en-US" sz="1600" dirty="0" err="1" smtClean="0">
                <a:latin typeface="Times New Roman" pitchFamily="18" charset="0"/>
                <a:cs typeface="Times New Roman" pitchFamily="18" charset="0"/>
              </a:rPr>
              <a:t>LinearLayout</a:t>
            </a:r>
            <a:r>
              <a:rPr lang="en-US" sz="1600" dirty="0" smtClean="0">
                <a:latin typeface="Times New Roman" pitchFamily="18" charset="0"/>
                <a:cs typeface="Times New Roman" pitchFamily="18" charset="0"/>
              </a:rPr>
              <a:t>) as a direct child and then we can define many views inside it. A </a:t>
            </a:r>
            <a:r>
              <a:rPr lang="en-US" sz="1600" b="1" dirty="0" err="1" smtClean="0">
                <a:latin typeface="Times New Roman" pitchFamily="18" charset="0"/>
                <a:cs typeface="Times New Roman" pitchFamily="18" charset="0"/>
              </a:rPr>
              <a:t>ScrollView</a:t>
            </a:r>
            <a:r>
              <a:rPr lang="en-US" sz="1600" b="1"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supports Vertical scrolling only, so in order to create a horizontally scrollable view, </a:t>
            </a:r>
            <a:r>
              <a:rPr lang="en-US" sz="1600" dirty="0" err="1" smtClean="0">
                <a:latin typeface="Times New Roman" pitchFamily="18" charset="0"/>
                <a:cs typeface="Times New Roman" pitchFamily="18" charset="0"/>
              </a:rPr>
              <a:t>HorizontalScrollView</a:t>
            </a:r>
            <a:r>
              <a:rPr lang="en-US" sz="1600" dirty="0" smtClean="0">
                <a:latin typeface="Times New Roman" pitchFamily="18" charset="0"/>
                <a:cs typeface="Times New Roman" pitchFamily="18" charset="0"/>
              </a:rPr>
              <a:t> is used.</a:t>
            </a:r>
            <a:endParaRPr lang="en-US" sz="1600" dirty="0">
              <a:latin typeface="Times New Roman" pitchFamily="18" charset="0"/>
              <a:cs typeface="Times New Roman"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Key Concepts</a:t>
            </a:r>
            <a:endParaRPr lang="en-US" dirty="0"/>
          </a:p>
        </p:txBody>
      </p:sp>
      <p:sp>
        <p:nvSpPr>
          <p:cNvPr id="3" name="Content Placeholder 2"/>
          <p:cNvSpPr>
            <a:spLocks noGrp="1"/>
          </p:cNvSpPr>
          <p:nvPr>
            <p:ph idx="1"/>
          </p:nvPr>
        </p:nvSpPr>
        <p:spPr/>
        <p:txBody>
          <a:bodyPr>
            <a:normAutofit fontScale="85000" lnSpcReduction="10000"/>
          </a:bodyPr>
          <a:lstStyle/>
          <a:p>
            <a:pPr algn="just">
              <a:lnSpc>
                <a:spcPct val="200000"/>
              </a:lnSpc>
            </a:pPr>
            <a:r>
              <a:rPr lang="en-US" sz="2000" b="1" dirty="0" smtClean="0">
                <a:latin typeface="Times New Roman" pitchFamily="18" charset="0"/>
                <a:cs typeface="Times New Roman" pitchFamily="18" charset="0"/>
              </a:rPr>
              <a:t>Single Child Rule:</a:t>
            </a:r>
            <a:r>
              <a:rPr lang="en-US" sz="2000" dirty="0" smtClean="0">
                <a:latin typeface="Times New Roman" pitchFamily="18" charset="0"/>
                <a:cs typeface="Times New Roman" pitchFamily="18" charset="0"/>
              </a:rPr>
              <a:t> A </a:t>
            </a:r>
            <a:r>
              <a:rPr lang="en-US" sz="2000" dirty="0" err="1" smtClean="0">
                <a:latin typeface="Times New Roman" pitchFamily="18" charset="0"/>
                <a:cs typeface="Times New Roman" pitchFamily="18" charset="0"/>
              </a:rPr>
              <a:t>ScrollView</a:t>
            </a:r>
            <a:r>
              <a:rPr lang="en-US" sz="2000" dirty="0" smtClean="0">
                <a:latin typeface="Times New Roman" pitchFamily="18" charset="0"/>
                <a:cs typeface="Times New Roman" pitchFamily="18" charset="0"/>
              </a:rPr>
              <a:t> can only have one direct child view or view group. To include multiple elements, you must nest them inside a layout like </a:t>
            </a:r>
            <a:r>
              <a:rPr lang="en-US" sz="2000" dirty="0" err="1" smtClean="0">
                <a:latin typeface="Times New Roman" pitchFamily="18" charset="0"/>
                <a:cs typeface="Times New Roman" pitchFamily="18" charset="0"/>
              </a:rPr>
              <a:t>LinearLayout</a:t>
            </a:r>
            <a:r>
              <a:rPr lang="en-US" sz="2000" dirty="0" smtClean="0">
                <a:latin typeface="Times New Roman" pitchFamily="18" charset="0"/>
                <a:cs typeface="Times New Roman" pitchFamily="18" charset="0"/>
              </a:rPr>
              <a:t> or </a:t>
            </a:r>
            <a:r>
              <a:rPr lang="en-US" sz="2000" dirty="0" err="1" smtClean="0">
                <a:latin typeface="Times New Roman" pitchFamily="18" charset="0"/>
                <a:cs typeface="Times New Roman" pitchFamily="18" charset="0"/>
              </a:rPr>
              <a:t>ConstraintLayout</a:t>
            </a:r>
            <a:r>
              <a:rPr lang="en-US" sz="2000" dirty="0" smtClean="0">
                <a:latin typeface="Times New Roman" pitchFamily="18" charset="0"/>
                <a:cs typeface="Times New Roman" pitchFamily="18" charset="0"/>
              </a:rPr>
              <a:t>, and then place that single layout inside the </a:t>
            </a:r>
            <a:r>
              <a:rPr lang="en-US" sz="2000" dirty="0" err="1" smtClean="0">
                <a:latin typeface="Times New Roman" pitchFamily="18" charset="0"/>
                <a:cs typeface="Times New Roman" pitchFamily="18" charset="0"/>
              </a:rPr>
              <a:t>ScrollView</a:t>
            </a:r>
            <a:r>
              <a:rPr lang="en-US" sz="2000" dirty="0" smtClean="0">
                <a:latin typeface="Times New Roman" pitchFamily="18" charset="0"/>
                <a:cs typeface="Times New Roman" pitchFamily="18" charset="0"/>
              </a:rPr>
              <a:t>.</a:t>
            </a:r>
          </a:p>
          <a:p>
            <a:pPr algn="just">
              <a:lnSpc>
                <a:spcPct val="200000"/>
              </a:lnSpc>
            </a:pPr>
            <a:r>
              <a:rPr lang="en-US" sz="2000" b="1" dirty="0" smtClean="0">
                <a:latin typeface="Times New Roman" pitchFamily="18" charset="0"/>
                <a:cs typeface="Times New Roman" pitchFamily="18" charset="0"/>
              </a:rPr>
              <a:t>Vertical vs. Horizontal:</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ScrollView</a:t>
            </a:r>
            <a:r>
              <a:rPr lang="en-US" sz="2000" dirty="0" smtClean="0">
                <a:latin typeface="Times New Roman" pitchFamily="18" charset="0"/>
                <a:cs typeface="Times New Roman" pitchFamily="18" charset="0"/>
              </a:rPr>
              <a:t> provides vertical scrolling by default. For horizontal scrolling, you must use </a:t>
            </a:r>
            <a:r>
              <a:rPr lang="en-US" sz="2000" dirty="0" err="1" smtClean="0">
                <a:latin typeface="Times New Roman" pitchFamily="18" charset="0"/>
                <a:cs typeface="Times New Roman" pitchFamily="18" charset="0"/>
              </a:rPr>
              <a:t>HorizontalScrollView</a:t>
            </a:r>
            <a:r>
              <a:rPr lang="en-US" sz="2000" dirty="0" smtClean="0">
                <a:latin typeface="Times New Roman" pitchFamily="18" charset="0"/>
                <a:cs typeface="Times New Roman" pitchFamily="18" charset="0"/>
              </a:rPr>
              <a:t>.</a:t>
            </a:r>
          </a:p>
          <a:p>
            <a:pPr algn="just">
              <a:lnSpc>
                <a:spcPct val="200000"/>
              </a:lnSpc>
            </a:pPr>
            <a:r>
              <a:rPr lang="en-US" sz="2000" b="1" dirty="0" smtClean="0">
                <a:latin typeface="Times New Roman" pitchFamily="18" charset="0"/>
                <a:cs typeface="Times New Roman" pitchFamily="18" charset="0"/>
              </a:rPr>
              <a:t>Avoid Nested Scrolling Containers:</a:t>
            </a:r>
            <a:r>
              <a:rPr lang="en-US" sz="2000" dirty="0" smtClean="0">
                <a:latin typeface="Times New Roman" pitchFamily="18" charset="0"/>
                <a:cs typeface="Times New Roman" pitchFamily="18" charset="0"/>
              </a:rPr>
              <a:t> It is not recommended to place a </a:t>
            </a:r>
            <a:r>
              <a:rPr lang="en-US" sz="2000" dirty="0" err="1" smtClean="0">
                <a:latin typeface="Times New Roman" pitchFamily="18" charset="0"/>
                <a:cs typeface="Times New Roman" pitchFamily="18" charset="0"/>
              </a:rPr>
              <a:t>ListView</a:t>
            </a:r>
            <a:r>
              <a:rPr lang="en-US" sz="2000" dirty="0" smtClean="0">
                <a:latin typeface="Times New Roman" pitchFamily="18" charset="0"/>
                <a:cs typeface="Times New Roman" pitchFamily="18" charset="0"/>
              </a:rPr>
              <a:t> or </a:t>
            </a:r>
            <a:r>
              <a:rPr lang="en-US" sz="2000" dirty="0" err="1" smtClean="0">
                <a:latin typeface="Times New Roman" pitchFamily="18" charset="0"/>
                <a:cs typeface="Times New Roman" pitchFamily="18" charset="0"/>
              </a:rPr>
              <a:t>RecyclerView</a:t>
            </a:r>
            <a:r>
              <a:rPr lang="en-US" sz="2000" dirty="0" smtClean="0">
                <a:latin typeface="Times New Roman" pitchFamily="18" charset="0"/>
                <a:cs typeface="Times New Roman" pitchFamily="18" charset="0"/>
              </a:rPr>
              <a:t> inside a </a:t>
            </a:r>
            <a:r>
              <a:rPr lang="en-US" sz="2000" dirty="0" err="1" smtClean="0">
                <a:latin typeface="Times New Roman" pitchFamily="18" charset="0"/>
                <a:cs typeface="Times New Roman" pitchFamily="18" charset="0"/>
              </a:rPr>
              <a:t>ScrollView</a:t>
            </a:r>
            <a:r>
              <a:rPr lang="en-US" sz="2000" dirty="0" smtClean="0">
                <a:latin typeface="Times New Roman" pitchFamily="18" charset="0"/>
                <a:cs typeface="Times New Roman" pitchFamily="18" charset="0"/>
              </a:rPr>
              <a:t>, as these list components have their own built-in scrolling. Use a </a:t>
            </a:r>
            <a:r>
              <a:rPr lang="en-US" sz="2000" dirty="0" err="1" smtClean="0">
                <a:latin typeface="Times New Roman" pitchFamily="18" charset="0"/>
                <a:cs typeface="Times New Roman" pitchFamily="18" charset="0"/>
              </a:rPr>
              <a:t>NestedScrollView</a:t>
            </a:r>
            <a:r>
              <a:rPr lang="en-US" sz="2000" dirty="0" smtClean="0">
                <a:latin typeface="Times New Roman" pitchFamily="18" charset="0"/>
                <a:cs typeface="Times New Roman" pitchFamily="18" charset="0"/>
              </a:rPr>
              <a:t> from the </a:t>
            </a:r>
            <a:r>
              <a:rPr lang="en-US" sz="2000" dirty="0" err="1" smtClean="0">
                <a:latin typeface="Times New Roman" pitchFamily="18" charset="0"/>
                <a:cs typeface="Times New Roman" pitchFamily="18" charset="0"/>
              </a:rPr>
              <a:t>AndroidX</a:t>
            </a:r>
            <a:r>
              <a:rPr lang="en-US" sz="2000" dirty="0" smtClean="0">
                <a:latin typeface="Times New Roman" pitchFamily="18" charset="0"/>
                <a:cs typeface="Times New Roman" pitchFamily="18" charset="0"/>
              </a:rPr>
              <a:t> compatibility library if you specifically need complex nested scrolling behavior.</a:t>
            </a:r>
          </a:p>
          <a:p>
            <a:pPr>
              <a:buNone/>
            </a:pP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a:xfrm>
            <a:off x="349250" y="1825625"/>
            <a:ext cx="8851900" cy="4746625"/>
          </a:xfrm>
        </p:spPr>
        <p:txBody>
          <a:bodyPr>
            <a:normAutofit fontScale="32500" lnSpcReduction="20000"/>
          </a:bodyPr>
          <a:lstStyle/>
          <a:p>
            <a:pPr>
              <a:buNone/>
            </a:pPr>
            <a:r>
              <a:rPr lang="en-US" sz="2900" dirty="0" smtClean="0">
                <a:latin typeface="Times New Roman" pitchFamily="18" charset="0"/>
                <a:cs typeface="Times New Roman" pitchFamily="18" charset="0"/>
              </a:rPr>
              <a:t>&lt;</a:t>
            </a:r>
            <a:r>
              <a:rPr lang="en-US" sz="2900" dirty="0" err="1" smtClean="0">
                <a:latin typeface="Times New Roman" pitchFamily="18" charset="0"/>
                <a:cs typeface="Times New Roman" pitchFamily="18" charset="0"/>
              </a:rPr>
              <a:t>ScrollView</a:t>
            </a:r>
            <a:r>
              <a:rPr lang="en-US" sz="2900" dirty="0" smtClean="0">
                <a:latin typeface="Times New Roman" pitchFamily="18" charset="0"/>
                <a:cs typeface="Times New Roman" pitchFamily="18" charset="0"/>
              </a:rPr>
              <a:t> </a:t>
            </a:r>
            <a:r>
              <a:rPr lang="en-US" sz="2900" dirty="0" err="1" smtClean="0">
                <a:latin typeface="Times New Roman" pitchFamily="18" charset="0"/>
                <a:cs typeface="Times New Roman" pitchFamily="18" charset="0"/>
              </a:rPr>
              <a:t>xmlns:android</a:t>
            </a:r>
            <a:r>
              <a:rPr lang="en-US" sz="2900" dirty="0" smtClean="0">
                <a:latin typeface="Times New Roman" pitchFamily="18" charset="0"/>
                <a:cs typeface="Times New Roman" pitchFamily="18" charset="0"/>
              </a:rPr>
              <a:t>="http://schemas.android.com/apk/res/android" </a:t>
            </a:r>
          </a:p>
          <a:p>
            <a:pPr>
              <a:buNone/>
            </a:pPr>
            <a:r>
              <a:rPr lang="en-US" sz="2900" dirty="0" smtClean="0">
                <a:latin typeface="Times New Roman" pitchFamily="18" charset="0"/>
                <a:cs typeface="Times New Roman" pitchFamily="18" charset="0"/>
              </a:rPr>
              <a:t>	</a:t>
            </a:r>
            <a:r>
              <a:rPr lang="en-US" sz="2900" dirty="0" err="1" smtClean="0">
                <a:latin typeface="Times New Roman" pitchFamily="18" charset="0"/>
                <a:cs typeface="Times New Roman" pitchFamily="18" charset="0"/>
              </a:rPr>
              <a:t>android:layout_width</a:t>
            </a:r>
            <a:r>
              <a:rPr lang="en-US" sz="2900" dirty="0" smtClean="0">
                <a:latin typeface="Times New Roman" pitchFamily="18" charset="0"/>
                <a:cs typeface="Times New Roman" pitchFamily="18" charset="0"/>
              </a:rPr>
              <a:t>="</a:t>
            </a:r>
            <a:r>
              <a:rPr lang="en-US" sz="2900" dirty="0" err="1" smtClean="0">
                <a:latin typeface="Times New Roman" pitchFamily="18" charset="0"/>
                <a:cs typeface="Times New Roman" pitchFamily="18" charset="0"/>
              </a:rPr>
              <a:t>match_parent</a:t>
            </a:r>
            <a:r>
              <a:rPr lang="en-US" sz="2900" dirty="0" smtClean="0">
                <a:latin typeface="Times New Roman" pitchFamily="18" charset="0"/>
                <a:cs typeface="Times New Roman" pitchFamily="18" charset="0"/>
              </a:rPr>
              <a:t>" </a:t>
            </a:r>
          </a:p>
          <a:p>
            <a:pPr>
              <a:buNone/>
            </a:pPr>
            <a:r>
              <a:rPr lang="en-US" sz="2900" dirty="0" smtClean="0">
                <a:latin typeface="Times New Roman" pitchFamily="18" charset="0"/>
                <a:cs typeface="Times New Roman" pitchFamily="18" charset="0"/>
              </a:rPr>
              <a:t>	</a:t>
            </a:r>
            <a:r>
              <a:rPr lang="en-US" sz="2900" dirty="0" err="1" smtClean="0">
                <a:latin typeface="Times New Roman" pitchFamily="18" charset="0"/>
                <a:cs typeface="Times New Roman" pitchFamily="18" charset="0"/>
              </a:rPr>
              <a:t>android:layout_height</a:t>
            </a:r>
            <a:r>
              <a:rPr lang="en-US" sz="2900" dirty="0" smtClean="0">
                <a:latin typeface="Times New Roman" pitchFamily="18" charset="0"/>
                <a:cs typeface="Times New Roman" pitchFamily="18" charset="0"/>
              </a:rPr>
              <a:t>="</a:t>
            </a:r>
            <a:r>
              <a:rPr lang="en-US" sz="2900" dirty="0" err="1" smtClean="0">
                <a:latin typeface="Times New Roman" pitchFamily="18" charset="0"/>
                <a:cs typeface="Times New Roman" pitchFamily="18" charset="0"/>
              </a:rPr>
              <a:t>match_parent</a:t>
            </a:r>
            <a:r>
              <a:rPr lang="en-US" sz="2900" dirty="0" smtClean="0">
                <a:latin typeface="Times New Roman" pitchFamily="18" charset="0"/>
                <a:cs typeface="Times New Roman" pitchFamily="18" charset="0"/>
              </a:rPr>
              <a:t>“</a:t>
            </a:r>
          </a:p>
          <a:p>
            <a:pPr>
              <a:buNone/>
            </a:pPr>
            <a:r>
              <a:rPr lang="en-US" sz="2900" dirty="0" smtClean="0">
                <a:latin typeface="Times New Roman" pitchFamily="18" charset="0"/>
                <a:cs typeface="Times New Roman" pitchFamily="18" charset="0"/>
              </a:rPr>
              <a:t> 	</a:t>
            </a:r>
            <a:r>
              <a:rPr lang="en-US" sz="2900" dirty="0" err="1" smtClean="0">
                <a:latin typeface="Times New Roman" pitchFamily="18" charset="0"/>
                <a:cs typeface="Times New Roman" pitchFamily="18" charset="0"/>
              </a:rPr>
              <a:t>android:fillViewport</a:t>
            </a:r>
            <a:r>
              <a:rPr lang="en-US" sz="2900" dirty="0" smtClean="0">
                <a:latin typeface="Times New Roman" pitchFamily="18" charset="0"/>
                <a:cs typeface="Times New Roman" pitchFamily="18" charset="0"/>
              </a:rPr>
              <a:t>="true"&gt;</a:t>
            </a:r>
          </a:p>
          <a:p>
            <a:pPr>
              <a:buNone/>
            </a:pPr>
            <a:r>
              <a:rPr lang="en-US" sz="2900" dirty="0" smtClean="0">
                <a:latin typeface="Times New Roman" pitchFamily="18" charset="0"/>
                <a:cs typeface="Times New Roman" pitchFamily="18" charset="0"/>
              </a:rPr>
              <a:t>&lt;</a:t>
            </a:r>
            <a:r>
              <a:rPr lang="en-US" sz="2900" dirty="0" err="1" smtClean="0">
                <a:latin typeface="Times New Roman" pitchFamily="18" charset="0"/>
                <a:cs typeface="Times New Roman" pitchFamily="18" charset="0"/>
              </a:rPr>
              <a:t>LinearLayout</a:t>
            </a:r>
            <a:endParaRPr lang="en-US" sz="2900" dirty="0" smtClean="0">
              <a:latin typeface="Times New Roman" pitchFamily="18" charset="0"/>
              <a:cs typeface="Times New Roman" pitchFamily="18" charset="0"/>
            </a:endParaRPr>
          </a:p>
          <a:p>
            <a:pPr>
              <a:buNone/>
            </a:pPr>
            <a:r>
              <a:rPr lang="en-US" sz="2900" dirty="0" smtClean="0">
                <a:latin typeface="Times New Roman" pitchFamily="18" charset="0"/>
                <a:cs typeface="Times New Roman" pitchFamily="18" charset="0"/>
              </a:rPr>
              <a:t> </a:t>
            </a:r>
            <a:r>
              <a:rPr lang="en-US" sz="2900" dirty="0" err="1" smtClean="0">
                <a:latin typeface="Times New Roman" pitchFamily="18" charset="0"/>
                <a:cs typeface="Times New Roman" pitchFamily="18" charset="0"/>
              </a:rPr>
              <a:t>android:layout_width</a:t>
            </a:r>
            <a:r>
              <a:rPr lang="en-US" sz="2900" dirty="0" smtClean="0">
                <a:latin typeface="Times New Roman" pitchFamily="18" charset="0"/>
                <a:cs typeface="Times New Roman" pitchFamily="18" charset="0"/>
              </a:rPr>
              <a:t>="</a:t>
            </a:r>
            <a:r>
              <a:rPr lang="en-US" sz="2900" dirty="0" err="1" smtClean="0">
                <a:latin typeface="Times New Roman" pitchFamily="18" charset="0"/>
                <a:cs typeface="Times New Roman" pitchFamily="18" charset="0"/>
              </a:rPr>
              <a:t>match_parent</a:t>
            </a:r>
            <a:r>
              <a:rPr lang="en-US" sz="2900" dirty="0" smtClean="0">
                <a:latin typeface="Times New Roman" pitchFamily="18" charset="0"/>
                <a:cs typeface="Times New Roman" pitchFamily="18" charset="0"/>
              </a:rPr>
              <a:t>“</a:t>
            </a:r>
          </a:p>
          <a:p>
            <a:pPr>
              <a:buNone/>
            </a:pPr>
            <a:r>
              <a:rPr lang="en-US" sz="2900" dirty="0" smtClean="0">
                <a:latin typeface="Times New Roman" pitchFamily="18" charset="0"/>
                <a:cs typeface="Times New Roman" pitchFamily="18" charset="0"/>
              </a:rPr>
              <a:t> </a:t>
            </a:r>
            <a:r>
              <a:rPr lang="en-US" sz="2900" dirty="0" err="1" smtClean="0">
                <a:latin typeface="Times New Roman" pitchFamily="18" charset="0"/>
                <a:cs typeface="Times New Roman" pitchFamily="18" charset="0"/>
              </a:rPr>
              <a:t>android:layout_height</a:t>
            </a:r>
            <a:r>
              <a:rPr lang="en-US" sz="2900" dirty="0" smtClean="0">
                <a:latin typeface="Times New Roman" pitchFamily="18" charset="0"/>
                <a:cs typeface="Times New Roman" pitchFamily="18" charset="0"/>
              </a:rPr>
              <a:t>="</a:t>
            </a:r>
            <a:r>
              <a:rPr lang="en-US" sz="2900" dirty="0" err="1" smtClean="0">
                <a:latin typeface="Times New Roman" pitchFamily="18" charset="0"/>
                <a:cs typeface="Times New Roman" pitchFamily="18" charset="0"/>
              </a:rPr>
              <a:t>wrap_content</a:t>
            </a:r>
            <a:r>
              <a:rPr lang="en-US" sz="2900" dirty="0" smtClean="0">
                <a:latin typeface="Times New Roman" pitchFamily="18" charset="0"/>
                <a:cs typeface="Times New Roman" pitchFamily="18" charset="0"/>
              </a:rPr>
              <a:t>" </a:t>
            </a:r>
          </a:p>
          <a:p>
            <a:pPr>
              <a:buNone/>
            </a:pPr>
            <a:r>
              <a:rPr lang="en-US" sz="2900" dirty="0" smtClean="0">
                <a:latin typeface="Times New Roman" pitchFamily="18" charset="0"/>
                <a:cs typeface="Times New Roman" pitchFamily="18" charset="0"/>
              </a:rPr>
              <a:t>	</a:t>
            </a:r>
            <a:r>
              <a:rPr lang="en-US" sz="2900" dirty="0" err="1" smtClean="0">
                <a:latin typeface="Times New Roman" pitchFamily="18" charset="0"/>
                <a:cs typeface="Times New Roman" pitchFamily="18" charset="0"/>
              </a:rPr>
              <a:t>android:orientation</a:t>
            </a:r>
            <a:r>
              <a:rPr lang="en-US" sz="2900" dirty="0" smtClean="0">
                <a:latin typeface="Times New Roman" pitchFamily="18" charset="0"/>
                <a:cs typeface="Times New Roman" pitchFamily="18" charset="0"/>
              </a:rPr>
              <a:t>="vertical" </a:t>
            </a:r>
          </a:p>
          <a:p>
            <a:pPr>
              <a:buNone/>
            </a:pPr>
            <a:r>
              <a:rPr lang="en-US" sz="2900" dirty="0" smtClean="0">
                <a:latin typeface="Times New Roman" pitchFamily="18" charset="0"/>
                <a:cs typeface="Times New Roman" pitchFamily="18" charset="0"/>
              </a:rPr>
              <a:t>	</a:t>
            </a:r>
            <a:r>
              <a:rPr lang="en-US" sz="2900" dirty="0" err="1" smtClean="0">
                <a:latin typeface="Times New Roman" pitchFamily="18" charset="0"/>
                <a:cs typeface="Times New Roman" pitchFamily="18" charset="0"/>
              </a:rPr>
              <a:t>android:padding</a:t>
            </a:r>
            <a:r>
              <a:rPr lang="en-US" sz="2900" dirty="0" smtClean="0">
                <a:latin typeface="Times New Roman" pitchFamily="18" charset="0"/>
                <a:cs typeface="Times New Roman" pitchFamily="18" charset="0"/>
              </a:rPr>
              <a:t>="16dp"&gt;</a:t>
            </a:r>
          </a:p>
          <a:p>
            <a:pPr>
              <a:buNone/>
            </a:pPr>
            <a:r>
              <a:rPr lang="en-US" sz="2900" dirty="0" smtClean="0">
                <a:latin typeface="Times New Roman" pitchFamily="18" charset="0"/>
                <a:cs typeface="Times New Roman" pitchFamily="18" charset="0"/>
              </a:rPr>
              <a:t>&lt;</a:t>
            </a:r>
            <a:r>
              <a:rPr lang="en-US" sz="2900" dirty="0" err="1" smtClean="0">
                <a:latin typeface="Times New Roman" pitchFamily="18" charset="0"/>
                <a:cs typeface="Times New Roman" pitchFamily="18" charset="0"/>
              </a:rPr>
              <a:t>TextView</a:t>
            </a:r>
            <a:endParaRPr lang="en-US" sz="2900" dirty="0" smtClean="0">
              <a:latin typeface="Times New Roman" pitchFamily="18" charset="0"/>
              <a:cs typeface="Times New Roman" pitchFamily="18" charset="0"/>
            </a:endParaRPr>
          </a:p>
          <a:p>
            <a:pPr>
              <a:buNone/>
            </a:pPr>
            <a:r>
              <a:rPr lang="en-US" sz="2900" dirty="0" smtClean="0">
                <a:latin typeface="Times New Roman" pitchFamily="18" charset="0"/>
                <a:cs typeface="Times New Roman" pitchFamily="18" charset="0"/>
              </a:rPr>
              <a:t>	 </a:t>
            </a:r>
            <a:r>
              <a:rPr lang="en-US" sz="2900" dirty="0" err="1" smtClean="0">
                <a:latin typeface="Times New Roman" pitchFamily="18" charset="0"/>
                <a:cs typeface="Times New Roman" pitchFamily="18" charset="0"/>
              </a:rPr>
              <a:t>android:layout_width</a:t>
            </a:r>
            <a:r>
              <a:rPr lang="en-US" sz="2900" dirty="0" smtClean="0">
                <a:latin typeface="Times New Roman" pitchFamily="18" charset="0"/>
                <a:cs typeface="Times New Roman" pitchFamily="18" charset="0"/>
              </a:rPr>
              <a:t>="</a:t>
            </a:r>
            <a:r>
              <a:rPr lang="en-US" sz="2900" dirty="0" err="1" smtClean="0">
                <a:latin typeface="Times New Roman" pitchFamily="18" charset="0"/>
                <a:cs typeface="Times New Roman" pitchFamily="18" charset="0"/>
              </a:rPr>
              <a:t>wrap_content</a:t>
            </a:r>
            <a:r>
              <a:rPr lang="en-US" sz="2900" dirty="0" smtClean="0">
                <a:latin typeface="Times New Roman" pitchFamily="18" charset="0"/>
                <a:cs typeface="Times New Roman" pitchFamily="18" charset="0"/>
              </a:rPr>
              <a:t>" </a:t>
            </a:r>
          </a:p>
          <a:p>
            <a:pPr>
              <a:buNone/>
            </a:pPr>
            <a:r>
              <a:rPr lang="en-US" sz="2900" dirty="0" smtClean="0">
                <a:latin typeface="Times New Roman" pitchFamily="18" charset="0"/>
                <a:cs typeface="Times New Roman" pitchFamily="18" charset="0"/>
              </a:rPr>
              <a:t>	</a:t>
            </a:r>
            <a:r>
              <a:rPr lang="en-US" sz="2900" dirty="0" err="1" smtClean="0">
                <a:latin typeface="Times New Roman" pitchFamily="18" charset="0"/>
                <a:cs typeface="Times New Roman" pitchFamily="18" charset="0"/>
              </a:rPr>
              <a:t>android:layout_height</a:t>
            </a:r>
            <a:r>
              <a:rPr lang="en-US" sz="2900" dirty="0" smtClean="0">
                <a:latin typeface="Times New Roman" pitchFamily="18" charset="0"/>
                <a:cs typeface="Times New Roman" pitchFamily="18" charset="0"/>
              </a:rPr>
              <a:t>="</a:t>
            </a:r>
            <a:r>
              <a:rPr lang="en-US" sz="2900" dirty="0" err="1" smtClean="0">
                <a:latin typeface="Times New Roman" pitchFamily="18" charset="0"/>
                <a:cs typeface="Times New Roman" pitchFamily="18" charset="0"/>
              </a:rPr>
              <a:t>wrap_content</a:t>
            </a:r>
            <a:r>
              <a:rPr lang="en-US" sz="2900" dirty="0" smtClean="0">
                <a:latin typeface="Times New Roman" pitchFamily="18" charset="0"/>
                <a:cs typeface="Times New Roman" pitchFamily="18" charset="0"/>
              </a:rPr>
              <a:t>" </a:t>
            </a:r>
          </a:p>
          <a:p>
            <a:pPr>
              <a:buNone/>
            </a:pPr>
            <a:r>
              <a:rPr lang="en-US" sz="2900" dirty="0" smtClean="0">
                <a:latin typeface="Times New Roman" pitchFamily="18" charset="0"/>
                <a:cs typeface="Times New Roman" pitchFamily="18" charset="0"/>
              </a:rPr>
              <a:t>	</a:t>
            </a:r>
            <a:r>
              <a:rPr lang="en-US" sz="2900" dirty="0" err="1" smtClean="0">
                <a:latin typeface="Times New Roman" pitchFamily="18" charset="0"/>
                <a:cs typeface="Times New Roman" pitchFamily="18" charset="0"/>
              </a:rPr>
              <a:t>android:text</a:t>
            </a:r>
            <a:r>
              <a:rPr lang="en-US" sz="2900" dirty="0" smtClean="0">
                <a:latin typeface="Times New Roman" pitchFamily="18" charset="0"/>
                <a:cs typeface="Times New Roman" pitchFamily="18" charset="0"/>
              </a:rPr>
              <a:t>="Title“/&gt;</a:t>
            </a:r>
          </a:p>
          <a:p>
            <a:pPr>
              <a:buNone/>
            </a:pPr>
            <a:r>
              <a:rPr lang="en-US" sz="2900" dirty="0" smtClean="0">
                <a:latin typeface="Times New Roman" pitchFamily="18" charset="0"/>
                <a:cs typeface="Times New Roman" pitchFamily="18" charset="0"/>
              </a:rPr>
              <a:t>&lt;</a:t>
            </a:r>
            <a:r>
              <a:rPr lang="en-US" sz="2900" dirty="0" err="1" smtClean="0">
                <a:latin typeface="Times New Roman" pitchFamily="18" charset="0"/>
                <a:cs typeface="Times New Roman" pitchFamily="18" charset="0"/>
              </a:rPr>
              <a:t>TextView</a:t>
            </a:r>
            <a:r>
              <a:rPr lang="en-US" sz="2900" dirty="0" smtClean="0">
                <a:latin typeface="Times New Roman" pitchFamily="18" charset="0"/>
                <a:cs typeface="Times New Roman" pitchFamily="18" charset="0"/>
              </a:rPr>
              <a:t> </a:t>
            </a:r>
          </a:p>
          <a:p>
            <a:pPr>
              <a:buNone/>
            </a:pPr>
            <a:r>
              <a:rPr lang="en-US" sz="2900" dirty="0" smtClean="0">
                <a:latin typeface="Times New Roman" pitchFamily="18" charset="0"/>
                <a:cs typeface="Times New Roman" pitchFamily="18" charset="0"/>
              </a:rPr>
              <a:t>	</a:t>
            </a:r>
            <a:r>
              <a:rPr lang="en-US" sz="2900" dirty="0" err="1" smtClean="0">
                <a:latin typeface="Times New Roman" pitchFamily="18" charset="0"/>
                <a:cs typeface="Times New Roman" pitchFamily="18" charset="0"/>
              </a:rPr>
              <a:t>android:layout_width</a:t>
            </a:r>
            <a:r>
              <a:rPr lang="en-US" sz="2900" dirty="0" smtClean="0">
                <a:latin typeface="Times New Roman" pitchFamily="18" charset="0"/>
                <a:cs typeface="Times New Roman" pitchFamily="18" charset="0"/>
              </a:rPr>
              <a:t>="</a:t>
            </a:r>
            <a:r>
              <a:rPr lang="en-US" sz="2900" dirty="0" err="1" smtClean="0">
                <a:latin typeface="Times New Roman" pitchFamily="18" charset="0"/>
                <a:cs typeface="Times New Roman" pitchFamily="18" charset="0"/>
              </a:rPr>
              <a:t>wrap_content</a:t>
            </a:r>
            <a:r>
              <a:rPr lang="en-US" sz="2900" dirty="0" smtClean="0">
                <a:latin typeface="Times New Roman" pitchFamily="18" charset="0"/>
                <a:cs typeface="Times New Roman" pitchFamily="18" charset="0"/>
              </a:rPr>
              <a:t>" </a:t>
            </a:r>
          </a:p>
          <a:p>
            <a:pPr>
              <a:buNone/>
            </a:pPr>
            <a:r>
              <a:rPr lang="en-US" sz="2900" dirty="0" smtClean="0">
                <a:latin typeface="Times New Roman" pitchFamily="18" charset="0"/>
                <a:cs typeface="Times New Roman" pitchFamily="18" charset="0"/>
              </a:rPr>
              <a:t>	</a:t>
            </a:r>
            <a:r>
              <a:rPr lang="en-US" sz="2900" dirty="0" err="1" smtClean="0">
                <a:latin typeface="Times New Roman" pitchFamily="18" charset="0"/>
                <a:cs typeface="Times New Roman" pitchFamily="18" charset="0"/>
              </a:rPr>
              <a:t>android:layout_height</a:t>
            </a:r>
            <a:r>
              <a:rPr lang="en-US" sz="2900" dirty="0" smtClean="0">
                <a:latin typeface="Times New Roman" pitchFamily="18" charset="0"/>
                <a:cs typeface="Times New Roman" pitchFamily="18" charset="0"/>
              </a:rPr>
              <a:t>="</a:t>
            </a:r>
            <a:r>
              <a:rPr lang="en-US" sz="2900" dirty="0" err="1" smtClean="0">
                <a:latin typeface="Times New Roman" pitchFamily="18" charset="0"/>
                <a:cs typeface="Times New Roman" pitchFamily="18" charset="0"/>
              </a:rPr>
              <a:t>wrap_content</a:t>
            </a:r>
            <a:r>
              <a:rPr lang="en-US" sz="2900" dirty="0" smtClean="0">
                <a:latin typeface="Times New Roman" pitchFamily="18" charset="0"/>
                <a:cs typeface="Times New Roman" pitchFamily="18" charset="0"/>
              </a:rPr>
              <a:t>" </a:t>
            </a:r>
          </a:p>
          <a:p>
            <a:pPr>
              <a:buNone/>
            </a:pPr>
            <a:r>
              <a:rPr lang="en-US" sz="2900" dirty="0" smtClean="0">
                <a:latin typeface="Times New Roman" pitchFamily="18" charset="0"/>
                <a:cs typeface="Times New Roman" pitchFamily="18" charset="0"/>
              </a:rPr>
              <a:t>	</a:t>
            </a:r>
            <a:r>
              <a:rPr lang="en-US" sz="2900" dirty="0" err="1" smtClean="0">
                <a:latin typeface="Times New Roman" pitchFamily="18" charset="0"/>
                <a:cs typeface="Times New Roman" pitchFamily="18" charset="0"/>
              </a:rPr>
              <a:t>android:layout_marginTop</a:t>
            </a:r>
            <a:r>
              <a:rPr lang="en-US" sz="2900" dirty="0" smtClean="0">
                <a:latin typeface="Times New Roman" pitchFamily="18" charset="0"/>
                <a:cs typeface="Times New Roman" pitchFamily="18" charset="0"/>
              </a:rPr>
              <a:t>="8dp“</a:t>
            </a:r>
          </a:p>
          <a:p>
            <a:pPr>
              <a:buNone/>
            </a:pPr>
            <a:r>
              <a:rPr lang="en-US" sz="2900" dirty="0" smtClean="0">
                <a:latin typeface="Times New Roman" pitchFamily="18" charset="0"/>
                <a:cs typeface="Times New Roman" pitchFamily="18" charset="0"/>
              </a:rPr>
              <a:t> 	 </a:t>
            </a:r>
            <a:r>
              <a:rPr lang="en-US" sz="2900" dirty="0" err="1" smtClean="0">
                <a:latin typeface="Times New Roman" pitchFamily="18" charset="0"/>
                <a:cs typeface="Times New Roman" pitchFamily="18" charset="0"/>
              </a:rPr>
              <a:t>android:text</a:t>
            </a:r>
            <a:r>
              <a:rPr lang="en-US" sz="2900" dirty="0" smtClean="0">
                <a:latin typeface="Times New Roman" pitchFamily="18" charset="0"/>
                <a:cs typeface="Times New Roman" pitchFamily="18" charset="0"/>
              </a:rPr>
              <a:t>=“title”/&gt;</a:t>
            </a:r>
          </a:p>
          <a:p>
            <a:pPr>
              <a:buNone/>
            </a:pPr>
            <a:r>
              <a:rPr lang="en-US" sz="2900" dirty="0" smtClean="0">
                <a:latin typeface="Times New Roman" pitchFamily="18" charset="0"/>
                <a:cs typeface="Times New Roman" pitchFamily="18" charset="0"/>
              </a:rPr>
              <a:t>&lt;/</a:t>
            </a:r>
            <a:r>
              <a:rPr lang="en-US" sz="2900" dirty="0" err="1" smtClean="0">
                <a:latin typeface="Times New Roman" pitchFamily="18" charset="0"/>
                <a:cs typeface="Times New Roman" pitchFamily="18" charset="0"/>
              </a:rPr>
              <a:t>LinearLayout</a:t>
            </a:r>
            <a:r>
              <a:rPr lang="en-US" sz="2900" dirty="0" smtClean="0">
                <a:latin typeface="Times New Roman" pitchFamily="18" charset="0"/>
                <a:cs typeface="Times New Roman" pitchFamily="18" charset="0"/>
              </a:rPr>
              <a:t>&gt; </a:t>
            </a:r>
          </a:p>
          <a:p>
            <a:pPr>
              <a:buNone/>
            </a:pPr>
            <a:r>
              <a:rPr lang="en-US" sz="2900" dirty="0" smtClean="0">
                <a:latin typeface="Times New Roman" pitchFamily="18" charset="0"/>
                <a:cs typeface="Times New Roman" pitchFamily="18" charset="0"/>
              </a:rPr>
              <a:t>&lt;/</a:t>
            </a:r>
            <a:r>
              <a:rPr lang="en-US" sz="2900" dirty="0" err="1" smtClean="0">
                <a:latin typeface="Times New Roman" pitchFamily="18" charset="0"/>
                <a:cs typeface="Times New Roman" pitchFamily="18" charset="0"/>
              </a:rPr>
              <a:t>ScrollView</a:t>
            </a:r>
            <a:r>
              <a:rPr lang="en-US" sz="2900" dirty="0" smtClean="0">
                <a:latin typeface="Times New Roman" pitchFamily="18" charset="0"/>
                <a:cs typeface="Times New Roman" pitchFamily="18" charset="0"/>
              </a:rPr>
              <a:t>&gt;</a:t>
            </a:r>
          </a:p>
          <a:p>
            <a:pPr>
              <a:buNone/>
            </a:pPr>
            <a:endParaRPr lang="en-US" dirty="0" smtClean="0"/>
          </a:p>
          <a:p>
            <a:pPr>
              <a:buNone/>
            </a:pPr>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Dialog</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latin typeface="Times New Roman" pitchFamily="18" charset="0"/>
                <a:cs typeface="Times New Roman" pitchFamily="18" charset="0"/>
              </a:rPr>
              <a:t>A Dialog is a small window that may appear in front of an activity in various forms.</a:t>
            </a:r>
          </a:p>
          <a:p>
            <a:pPr lvl="1"/>
            <a:r>
              <a:rPr lang="en-US" dirty="0" smtClean="0">
                <a:latin typeface="Times New Roman" pitchFamily="18" charset="0"/>
                <a:cs typeface="Times New Roman" pitchFamily="18" charset="0"/>
              </a:rPr>
              <a:t>Alert Dialog</a:t>
            </a:r>
          </a:p>
          <a:p>
            <a:pPr lvl="1"/>
            <a:r>
              <a:rPr lang="en-US" dirty="0" smtClean="0">
                <a:latin typeface="Times New Roman" pitchFamily="18" charset="0"/>
                <a:cs typeface="Times New Roman" pitchFamily="18" charset="0"/>
              </a:rPr>
              <a:t>Progress  Dialog </a:t>
            </a:r>
          </a:p>
          <a:p>
            <a:pPr lvl="1"/>
            <a:r>
              <a:rPr lang="en-US" dirty="0" err="1" smtClean="0">
                <a:latin typeface="Times New Roman" pitchFamily="18" charset="0"/>
                <a:cs typeface="Times New Roman" pitchFamily="18" charset="0"/>
              </a:rPr>
              <a:t>DatePicker</a:t>
            </a:r>
            <a:r>
              <a:rPr lang="en-US" dirty="0" smtClean="0">
                <a:latin typeface="Times New Roman" pitchFamily="18" charset="0"/>
                <a:cs typeface="Times New Roman" pitchFamily="18" charset="0"/>
              </a:rPr>
              <a:t> Dialog</a:t>
            </a:r>
          </a:p>
          <a:p>
            <a:pPr lvl="1"/>
            <a:r>
              <a:rPr lang="en-US" dirty="0" err="1" smtClean="0">
                <a:latin typeface="Times New Roman" pitchFamily="18" charset="0"/>
                <a:cs typeface="Times New Roman" pitchFamily="18" charset="0"/>
              </a:rPr>
              <a:t>TimePiker</a:t>
            </a:r>
            <a:r>
              <a:rPr lang="en-US" dirty="0" smtClean="0">
                <a:latin typeface="Times New Roman" pitchFamily="18" charset="0"/>
                <a:cs typeface="Times New Roman" pitchFamily="18" charset="0"/>
              </a:rPr>
              <a:t> Dialog</a:t>
            </a:r>
          </a:p>
          <a:p>
            <a:pPr>
              <a:buNone/>
            </a:pP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If you want to display an alert message , then you can design </a:t>
            </a:r>
            <a:r>
              <a:rPr lang="en-US" b="1" dirty="0" smtClean="0">
                <a:latin typeface="Times New Roman" pitchFamily="18" charset="0"/>
                <a:cs typeface="Times New Roman" pitchFamily="18" charset="0"/>
              </a:rPr>
              <a:t>alert dialog </a:t>
            </a:r>
            <a:r>
              <a:rPr lang="en-US" dirty="0" smtClean="0">
                <a:latin typeface="Times New Roman" pitchFamily="18" charset="0"/>
                <a:cs typeface="Times New Roman" pitchFamily="18" charset="0"/>
              </a:rPr>
              <a:t>box.</a:t>
            </a:r>
          </a:p>
          <a:p>
            <a:r>
              <a:rPr lang="en-US" dirty="0" err="1" smtClean="0">
                <a:latin typeface="Times New Roman" pitchFamily="18" charset="0"/>
                <a:cs typeface="Times New Roman" pitchFamily="18" charset="0"/>
              </a:rPr>
              <a:t>AlertDialog</a:t>
            </a:r>
            <a:r>
              <a:rPr lang="en-US" dirty="0" smtClean="0">
                <a:latin typeface="Times New Roman" pitchFamily="18" charset="0"/>
                <a:cs typeface="Times New Roman" pitchFamily="18" charset="0"/>
              </a:rPr>
              <a:t> is a small popup window used to display messages and get user confirmation with buttons like Yes/No/OK</a:t>
            </a:r>
            <a:r>
              <a:rPr lang="en-US" b="1"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Alert Dialog</a:t>
            </a:r>
            <a:endParaRPr lang="en-US" dirty="0"/>
          </a:p>
        </p:txBody>
      </p:sp>
      <p:sp>
        <p:nvSpPr>
          <p:cNvPr id="3" name="Content Placeholder 2"/>
          <p:cNvSpPr>
            <a:spLocks noGrp="1"/>
          </p:cNvSpPr>
          <p:nvPr>
            <p:ph idx="1"/>
          </p:nvPr>
        </p:nvSpPr>
        <p:spPr/>
        <p:txBody>
          <a:bodyPr/>
          <a:lstStyle/>
          <a:p>
            <a:pPr>
              <a:buNone/>
            </a:pPr>
            <a:r>
              <a:rPr lang="en-US" dirty="0" err="1" smtClean="0">
                <a:latin typeface="Times New Roman" pitchFamily="18" charset="0"/>
                <a:cs typeface="Times New Roman" pitchFamily="18" charset="0"/>
              </a:rPr>
              <a:t>AlertDialog.Builder</a:t>
            </a:r>
            <a:r>
              <a:rPr lang="en-US" dirty="0" smtClean="0">
                <a:latin typeface="Times New Roman" pitchFamily="18" charset="0"/>
                <a:cs typeface="Times New Roman" pitchFamily="18" charset="0"/>
              </a:rPr>
              <a:t> builder = new </a:t>
            </a:r>
            <a:r>
              <a:rPr lang="en-US" dirty="0" err="1" smtClean="0">
                <a:latin typeface="Times New Roman" pitchFamily="18" charset="0"/>
                <a:cs typeface="Times New Roman" pitchFamily="18" charset="0"/>
              </a:rPr>
              <a:t>AlertDialog.Builder</a:t>
            </a:r>
            <a:r>
              <a:rPr lang="en-US" dirty="0" smtClean="0">
                <a:latin typeface="Times New Roman" pitchFamily="18" charset="0"/>
                <a:cs typeface="Times New Roman" pitchFamily="18" charset="0"/>
              </a:rPr>
              <a:t>(this);</a:t>
            </a:r>
          </a:p>
          <a:p>
            <a:pPr>
              <a:buNone/>
            </a:pPr>
            <a:r>
              <a:rPr lang="en-US" dirty="0" err="1" smtClean="0">
                <a:latin typeface="Times New Roman" pitchFamily="18" charset="0"/>
                <a:cs typeface="Times New Roman" pitchFamily="18" charset="0"/>
              </a:rPr>
              <a:t>builder.setTitle</a:t>
            </a:r>
            <a:r>
              <a:rPr lang="en-US" dirty="0" smtClean="0">
                <a:latin typeface="Times New Roman" pitchFamily="18" charset="0"/>
                <a:cs typeface="Times New Roman" pitchFamily="18" charset="0"/>
              </a:rPr>
              <a:t>("Title");</a:t>
            </a:r>
          </a:p>
          <a:p>
            <a:pPr>
              <a:buNone/>
            </a:pPr>
            <a:r>
              <a:rPr lang="en-US" dirty="0" err="1" smtClean="0">
                <a:latin typeface="Times New Roman" pitchFamily="18" charset="0"/>
                <a:cs typeface="Times New Roman" pitchFamily="18" charset="0"/>
              </a:rPr>
              <a:t>builder.setMessage</a:t>
            </a:r>
            <a:r>
              <a:rPr lang="en-US" dirty="0" smtClean="0">
                <a:latin typeface="Times New Roman" pitchFamily="18" charset="0"/>
                <a:cs typeface="Times New Roman" pitchFamily="18" charset="0"/>
              </a:rPr>
              <a:t>("Message");</a:t>
            </a:r>
          </a:p>
          <a:p>
            <a:pPr>
              <a:buNone/>
            </a:pPr>
            <a:r>
              <a:rPr lang="en-US" dirty="0" err="1" smtClean="0">
                <a:latin typeface="Times New Roman" pitchFamily="18" charset="0"/>
                <a:cs typeface="Times New Roman" pitchFamily="18" charset="0"/>
              </a:rPr>
              <a:t>builder.setPositiveButton</a:t>
            </a:r>
            <a:r>
              <a:rPr lang="en-US" dirty="0" smtClean="0">
                <a:latin typeface="Times New Roman" pitchFamily="18" charset="0"/>
                <a:cs typeface="Times New Roman" pitchFamily="18" charset="0"/>
              </a:rPr>
              <a:t>("Yes", null);</a:t>
            </a:r>
          </a:p>
          <a:p>
            <a:pPr>
              <a:buNone/>
            </a:pPr>
            <a:r>
              <a:rPr lang="en-US" dirty="0" err="1" smtClean="0">
                <a:latin typeface="Times New Roman" pitchFamily="18" charset="0"/>
                <a:cs typeface="Times New Roman" pitchFamily="18" charset="0"/>
              </a:rPr>
              <a:t>builder.setNegativeButton</a:t>
            </a:r>
            <a:r>
              <a:rPr lang="en-US" dirty="0" smtClean="0">
                <a:latin typeface="Times New Roman" pitchFamily="18" charset="0"/>
                <a:cs typeface="Times New Roman" pitchFamily="18" charset="0"/>
              </a:rPr>
              <a:t>("No", null);</a:t>
            </a:r>
          </a:p>
          <a:p>
            <a:pPr>
              <a:buNone/>
            </a:pPr>
            <a:r>
              <a:rPr lang="en-US" dirty="0" err="1" smtClean="0">
                <a:latin typeface="Times New Roman" pitchFamily="18" charset="0"/>
                <a:cs typeface="Times New Roman" pitchFamily="18" charset="0"/>
              </a:rPr>
              <a:t>builder.show</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950" y="365125"/>
            <a:ext cx="11118850" cy="352425"/>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215900" y="1085850"/>
            <a:ext cx="4794250" cy="4945063"/>
          </a:xfrm>
        </p:spPr>
        <p:txBody>
          <a:bodyPr>
            <a:normAutofit fontScale="25000" lnSpcReduction="20000"/>
          </a:bodyPr>
          <a:lstStyle/>
          <a:p>
            <a:pPr>
              <a:buNone/>
            </a:pPr>
            <a:r>
              <a:rPr lang="en-US" sz="4800" dirty="0" smtClean="0">
                <a:latin typeface="Times New Roman" pitchFamily="18" charset="0"/>
                <a:cs typeface="Times New Roman" pitchFamily="18" charset="0"/>
              </a:rPr>
              <a:t>import </a:t>
            </a:r>
            <a:r>
              <a:rPr lang="en-US" sz="4800" dirty="0" err="1" smtClean="0">
                <a:latin typeface="Times New Roman" pitchFamily="18" charset="0"/>
                <a:cs typeface="Times New Roman" pitchFamily="18" charset="0"/>
              </a:rPr>
              <a:t>android.app.AlertDialog</a:t>
            </a:r>
            <a:r>
              <a:rPr lang="en-US" sz="4800" dirty="0" smtClean="0">
                <a:latin typeface="Times New Roman" pitchFamily="18" charset="0"/>
                <a:cs typeface="Times New Roman" pitchFamily="18" charset="0"/>
              </a:rPr>
              <a:t>;</a:t>
            </a:r>
          </a:p>
          <a:p>
            <a:pPr>
              <a:buNone/>
            </a:pPr>
            <a:r>
              <a:rPr lang="en-US" sz="4800" dirty="0" smtClean="0">
                <a:latin typeface="Times New Roman" pitchFamily="18" charset="0"/>
                <a:cs typeface="Times New Roman" pitchFamily="18" charset="0"/>
              </a:rPr>
              <a:t>import </a:t>
            </a:r>
            <a:r>
              <a:rPr lang="en-US" sz="4800" dirty="0" err="1" smtClean="0">
                <a:latin typeface="Times New Roman" pitchFamily="18" charset="0"/>
                <a:cs typeface="Times New Roman" pitchFamily="18" charset="0"/>
              </a:rPr>
              <a:t>android.content.DialogInterface</a:t>
            </a:r>
            <a:r>
              <a:rPr lang="en-US" sz="4800" dirty="0" smtClean="0">
                <a:latin typeface="Times New Roman" pitchFamily="18" charset="0"/>
                <a:cs typeface="Times New Roman" pitchFamily="18" charset="0"/>
              </a:rPr>
              <a:t>;</a:t>
            </a:r>
          </a:p>
          <a:p>
            <a:pPr>
              <a:buNone/>
            </a:pPr>
            <a:r>
              <a:rPr lang="en-US" sz="4800" dirty="0" smtClean="0">
                <a:latin typeface="Times New Roman" pitchFamily="18" charset="0"/>
                <a:cs typeface="Times New Roman" pitchFamily="18" charset="0"/>
              </a:rPr>
              <a:t>import </a:t>
            </a:r>
            <a:r>
              <a:rPr lang="en-US" sz="4800" dirty="0" err="1" smtClean="0">
                <a:latin typeface="Times New Roman" pitchFamily="18" charset="0"/>
                <a:cs typeface="Times New Roman" pitchFamily="18" charset="0"/>
              </a:rPr>
              <a:t>android.os.Bundle</a:t>
            </a:r>
            <a:r>
              <a:rPr lang="en-US" sz="4800" dirty="0" smtClean="0">
                <a:latin typeface="Times New Roman" pitchFamily="18" charset="0"/>
                <a:cs typeface="Times New Roman" pitchFamily="18" charset="0"/>
              </a:rPr>
              <a:t>;</a:t>
            </a:r>
          </a:p>
          <a:p>
            <a:pPr>
              <a:buNone/>
            </a:pPr>
            <a:r>
              <a:rPr lang="en-US" sz="4800" dirty="0" smtClean="0">
                <a:latin typeface="Times New Roman" pitchFamily="18" charset="0"/>
                <a:cs typeface="Times New Roman" pitchFamily="18" charset="0"/>
              </a:rPr>
              <a:t>import </a:t>
            </a:r>
            <a:r>
              <a:rPr lang="en-US" sz="4800" dirty="0" err="1" smtClean="0">
                <a:latin typeface="Times New Roman" pitchFamily="18" charset="0"/>
                <a:cs typeface="Times New Roman" pitchFamily="18" charset="0"/>
              </a:rPr>
              <a:t>android.view.View</a:t>
            </a:r>
            <a:r>
              <a:rPr lang="en-US" sz="4800" dirty="0" smtClean="0">
                <a:latin typeface="Times New Roman" pitchFamily="18" charset="0"/>
                <a:cs typeface="Times New Roman" pitchFamily="18" charset="0"/>
              </a:rPr>
              <a:t>;</a:t>
            </a:r>
          </a:p>
          <a:p>
            <a:pPr>
              <a:buNone/>
            </a:pPr>
            <a:r>
              <a:rPr lang="en-US" sz="4800" dirty="0" smtClean="0">
                <a:latin typeface="Times New Roman" pitchFamily="18" charset="0"/>
                <a:cs typeface="Times New Roman" pitchFamily="18" charset="0"/>
              </a:rPr>
              <a:t>import </a:t>
            </a:r>
            <a:r>
              <a:rPr lang="en-US" sz="4800" dirty="0" err="1" smtClean="0">
                <a:latin typeface="Times New Roman" pitchFamily="18" charset="0"/>
                <a:cs typeface="Times New Roman" pitchFamily="18" charset="0"/>
              </a:rPr>
              <a:t>android.widget.Button</a:t>
            </a:r>
            <a:r>
              <a:rPr lang="en-US" sz="4800" dirty="0" smtClean="0">
                <a:latin typeface="Times New Roman" pitchFamily="18" charset="0"/>
                <a:cs typeface="Times New Roman" pitchFamily="18" charset="0"/>
              </a:rPr>
              <a:t>;</a:t>
            </a:r>
          </a:p>
          <a:p>
            <a:pPr>
              <a:buNone/>
            </a:pPr>
            <a:r>
              <a:rPr lang="en-US" sz="4800" dirty="0" smtClean="0">
                <a:latin typeface="Times New Roman" pitchFamily="18" charset="0"/>
                <a:cs typeface="Times New Roman" pitchFamily="18" charset="0"/>
              </a:rPr>
              <a:t>import </a:t>
            </a:r>
            <a:r>
              <a:rPr lang="en-US" sz="4800" dirty="0" err="1" smtClean="0">
                <a:latin typeface="Times New Roman" pitchFamily="18" charset="0"/>
                <a:cs typeface="Times New Roman" pitchFamily="18" charset="0"/>
              </a:rPr>
              <a:t>androidx.appcompat.app.AppCompatActivity</a:t>
            </a:r>
            <a:r>
              <a:rPr lang="en-US" sz="4800" dirty="0" smtClean="0">
                <a:latin typeface="Times New Roman" pitchFamily="18" charset="0"/>
                <a:cs typeface="Times New Roman" pitchFamily="18" charset="0"/>
              </a:rPr>
              <a:t>;</a:t>
            </a:r>
          </a:p>
          <a:p>
            <a:pPr>
              <a:buNone/>
            </a:pPr>
            <a:endParaRPr lang="en-US" sz="4800" dirty="0" smtClean="0">
              <a:latin typeface="Times New Roman" pitchFamily="18" charset="0"/>
              <a:cs typeface="Times New Roman" pitchFamily="18" charset="0"/>
            </a:endParaRPr>
          </a:p>
          <a:p>
            <a:pPr>
              <a:buNone/>
            </a:pPr>
            <a:r>
              <a:rPr lang="en-US" sz="4800" dirty="0" smtClean="0">
                <a:latin typeface="Times New Roman" pitchFamily="18" charset="0"/>
                <a:cs typeface="Times New Roman" pitchFamily="18" charset="0"/>
              </a:rPr>
              <a:t>public class </a:t>
            </a:r>
            <a:r>
              <a:rPr lang="en-US" sz="4800" dirty="0" err="1" smtClean="0">
                <a:latin typeface="Times New Roman" pitchFamily="18" charset="0"/>
                <a:cs typeface="Times New Roman" pitchFamily="18" charset="0"/>
              </a:rPr>
              <a:t>MainActivity</a:t>
            </a:r>
            <a:r>
              <a:rPr lang="en-US" sz="4800" dirty="0" smtClean="0">
                <a:latin typeface="Times New Roman" pitchFamily="18" charset="0"/>
                <a:cs typeface="Times New Roman" pitchFamily="18" charset="0"/>
              </a:rPr>
              <a:t> extends </a:t>
            </a:r>
            <a:r>
              <a:rPr lang="en-US" sz="4800" dirty="0" err="1" smtClean="0">
                <a:latin typeface="Times New Roman" pitchFamily="18" charset="0"/>
                <a:cs typeface="Times New Roman" pitchFamily="18" charset="0"/>
              </a:rPr>
              <a:t>AppCompatActivity</a:t>
            </a:r>
            <a:r>
              <a:rPr lang="en-US" sz="4800" dirty="0" smtClean="0">
                <a:latin typeface="Times New Roman" pitchFamily="18" charset="0"/>
                <a:cs typeface="Times New Roman" pitchFamily="18" charset="0"/>
              </a:rPr>
              <a:t> {</a:t>
            </a:r>
          </a:p>
          <a:p>
            <a:pPr>
              <a:buNone/>
            </a:pPr>
            <a:endParaRPr lang="en-US" sz="4800" dirty="0" smtClean="0">
              <a:latin typeface="Times New Roman" pitchFamily="18" charset="0"/>
              <a:cs typeface="Times New Roman" pitchFamily="18" charset="0"/>
            </a:endParaRPr>
          </a:p>
          <a:p>
            <a:pPr>
              <a:buNone/>
            </a:pPr>
            <a:r>
              <a:rPr lang="en-US" sz="4800" dirty="0" smtClean="0">
                <a:latin typeface="Times New Roman" pitchFamily="18" charset="0"/>
                <a:cs typeface="Times New Roman" pitchFamily="18" charset="0"/>
              </a:rPr>
              <a:t>    Button </a:t>
            </a:r>
            <a:r>
              <a:rPr lang="en-US" sz="4800" dirty="0" err="1" smtClean="0">
                <a:latin typeface="Times New Roman" pitchFamily="18" charset="0"/>
                <a:cs typeface="Times New Roman" pitchFamily="18" charset="0"/>
              </a:rPr>
              <a:t>btn</a:t>
            </a:r>
            <a:r>
              <a:rPr lang="en-US" sz="4800" dirty="0" smtClean="0">
                <a:latin typeface="Times New Roman" pitchFamily="18" charset="0"/>
                <a:cs typeface="Times New Roman" pitchFamily="18" charset="0"/>
              </a:rPr>
              <a:t>;</a:t>
            </a:r>
          </a:p>
          <a:p>
            <a:pPr>
              <a:buNone/>
            </a:pPr>
            <a:endParaRPr lang="en-US" sz="4800" dirty="0" smtClean="0">
              <a:latin typeface="Times New Roman" pitchFamily="18" charset="0"/>
              <a:cs typeface="Times New Roman" pitchFamily="18" charset="0"/>
            </a:endParaRPr>
          </a:p>
          <a:p>
            <a:pPr>
              <a:buNone/>
            </a:pPr>
            <a:r>
              <a:rPr lang="en-US" sz="4800" dirty="0" smtClean="0">
                <a:latin typeface="Times New Roman" pitchFamily="18" charset="0"/>
                <a:cs typeface="Times New Roman" pitchFamily="18" charset="0"/>
              </a:rPr>
              <a:t>    @Override</a:t>
            </a:r>
          </a:p>
          <a:p>
            <a:pPr>
              <a:buNone/>
            </a:pPr>
            <a:r>
              <a:rPr lang="en-US" sz="4800" dirty="0" smtClean="0">
                <a:latin typeface="Times New Roman" pitchFamily="18" charset="0"/>
                <a:cs typeface="Times New Roman" pitchFamily="18" charset="0"/>
              </a:rPr>
              <a:t>    protected void </a:t>
            </a:r>
            <a:r>
              <a:rPr lang="en-US" sz="4800" dirty="0" err="1" smtClean="0">
                <a:latin typeface="Times New Roman" pitchFamily="18" charset="0"/>
                <a:cs typeface="Times New Roman" pitchFamily="18" charset="0"/>
              </a:rPr>
              <a:t>onCreate</a:t>
            </a:r>
            <a:r>
              <a:rPr lang="en-US" sz="4800" dirty="0" smtClean="0">
                <a:latin typeface="Times New Roman" pitchFamily="18" charset="0"/>
                <a:cs typeface="Times New Roman" pitchFamily="18" charset="0"/>
              </a:rPr>
              <a:t>(Bundle </a:t>
            </a:r>
            <a:r>
              <a:rPr lang="en-US" sz="4800" dirty="0" err="1" smtClean="0">
                <a:latin typeface="Times New Roman" pitchFamily="18" charset="0"/>
                <a:cs typeface="Times New Roman" pitchFamily="18" charset="0"/>
              </a:rPr>
              <a:t>savedInstanceState</a:t>
            </a:r>
            <a:r>
              <a:rPr lang="en-US" sz="4800" dirty="0" smtClean="0">
                <a:latin typeface="Times New Roman" pitchFamily="18" charset="0"/>
                <a:cs typeface="Times New Roman" pitchFamily="18" charset="0"/>
              </a:rPr>
              <a:t>) {</a:t>
            </a:r>
          </a:p>
          <a:p>
            <a:pPr>
              <a:buNone/>
            </a:pPr>
            <a:r>
              <a:rPr lang="en-US" sz="4800" dirty="0" smtClean="0">
                <a:latin typeface="Times New Roman" pitchFamily="18" charset="0"/>
                <a:cs typeface="Times New Roman" pitchFamily="18" charset="0"/>
              </a:rPr>
              <a:t>        </a:t>
            </a:r>
            <a:r>
              <a:rPr lang="en-US" sz="4800" dirty="0" err="1" smtClean="0">
                <a:latin typeface="Times New Roman" pitchFamily="18" charset="0"/>
                <a:cs typeface="Times New Roman" pitchFamily="18" charset="0"/>
              </a:rPr>
              <a:t>super.onCreate</a:t>
            </a:r>
            <a:r>
              <a:rPr lang="en-US" sz="4800" dirty="0" smtClean="0">
                <a:latin typeface="Times New Roman" pitchFamily="18" charset="0"/>
                <a:cs typeface="Times New Roman" pitchFamily="18" charset="0"/>
              </a:rPr>
              <a:t>(</a:t>
            </a:r>
            <a:r>
              <a:rPr lang="en-US" sz="4800" dirty="0" err="1" smtClean="0">
                <a:latin typeface="Times New Roman" pitchFamily="18" charset="0"/>
                <a:cs typeface="Times New Roman" pitchFamily="18" charset="0"/>
              </a:rPr>
              <a:t>savedInstanceState</a:t>
            </a:r>
            <a:r>
              <a:rPr lang="en-US" sz="4800" dirty="0" smtClean="0">
                <a:latin typeface="Times New Roman" pitchFamily="18" charset="0"/>
                <a:cs typeface="Times New Roman" pitchFamily="18" charset="0"/>
              </a:rPr>
              <a:t>);</a:t>
            </a:r>
          </a:p>
          <a:p>
            <a:pPr>
              <a:buNone/>
            </a:pPr>
            <a:r>
              <a:rPr lang="en-US" sz="4800" dirty="0" smtClean="0">
                <a:latin typeface="Times New Roman" pitchFamily="18" charset="0"/>
                <a:cs typeface="Times New Roman" pitchFamily="18" charset="0"/>
              </a:rPr>
              <a:t>        </a:t>
            </a:r>
            <a:r>
              <a:rPr lang="en-US" sz="4800" dirty="0" err="1" smtClean="0">
                <a:latin typeface="Times New Roman" pitchFamily="18" charset="0"/>
                <a:cs typeface="Times New Roman" pitchFamily="18" charset="0"/>
              </a:rPr>
              <a:t>setContentView</a:t>
            </a:r>
            <a:r>
              <a:rPr lang="en-US" sz="4800" dirty="0" smtClean="0">
                <a:latin typeface="Times New Roman" pitchFamily="18" charset="0"/>
                <a:cs typeface="Times New Roman" pitchFamily="18" charset="0"/>
              </a:rPr>
              <a:t>(</a:t>
            </a:r>
            <a:r>
              <a:rPr lang="en-US" sz="4800" dirty="0" err="1" smtClean="0">
                <a:latin typeface="Times New Roman" pitchFamily="18" charset="0"/>
                <a:cs typeface="Times New Roman" pitchFamily="18" charset="0"/>
              </a:rPr>
              <a:t>R.layout.activity_main</a:t>
            </a:r>
            <a:r>
              <a:rPr lang="en-US" sz="4800" dirty="0" smtClean="0">
                <a:latin typeface="Times New Roman" pitchFamily="18" charset="0"/>
                <a:cs typeface="Times New Roman" pitchFamily="18" charset="0"/>
              </a:rPr>
              <a:t>);</a:t>
            </a:r>
          </a:p>
          <a:p>
            <a:pPr>
              <a:buNone/>
            </a:pPr>
            <a:endParaRPr lang="en-US" sz="4800" dirty="0" smtClean="0">
              <a:latin typeface="Times New Roman" pitchFamily="18" charset="0"/>
              <a:cs typeface="Times New Roman" pitchFamily="18" charset="0"/>
            </a:endParaRPr>
          </a:p>
          <a:p>
            <a:pPr>
              <a:buNone/>
            </a:pPr>
            <a:r>
              <a:rPr lang="en-US" sz="4800" dirty="0" smtClean="0">
                <a:latin typeface="Times New Roman" pitchFamily="18" charset="0"/>
                <a:cs typeface="Times New Roman" pitchFamily="18" charset="0"/>
              </a:rPr>
              <a:t>        </a:t>
            </a:r>
            <a:r>
              <a:rPr lang="en-US" sz="4800" dirty="0" err="1" smtClean="0">
                <a:latin typeface="Times New Roman" pitchFamily="18" charset="0"/>
                <a:cs typeface="Times New Roman" pitchFamily="18" charset="0"/>
              </a:rPr>
              <a:t>btn</a:t>
            </a:r>
            <a:r>
              <a:rPr lang="en-US" sz="4800" dirty="0" smtClean="0">
                <a:latin typeface="Times New Roman" pitchFamily="18" charset="0"/>
                <a:cs typeface="Times New Roman" pitchFamily="18" charset="0"/>
              </a:rPr>
              <a:t> = </a:t>
            </a:r>
            <a:r>
              <a:rPr lang="en-US" sz="4800" dirty="0" err="1" smtClean="0">
                <a:latin typeface="Times New Roman" pitchFamily="18" charset="0"/>
                <a:cs typeface="Times New Roman" pitchFamily="18" charset="0"/>
              </a:rPr>
              <a:t>findViewById</a:t>
            </a:r>
            <a:r>
              <a:rPr lang="en-US" sz="4800" dirty="0" smtClean="0">
                <a:latin typeface="Times New Roman" pitchFamily="18" charset="0"/>
                <a:cs typeface="Times New Roman" pitchFamily="18" charset="0"/>
              </a:rPr>
              <a:t>(</a:t>
            </a:r>
            <a:r>
              <a:rPr lang="en-US" sz="4800" dirty="0" err="1" smtClean="0">
                <a:latin typeface="Times New Roman" pitchFamily="18" charset="0"/>
                <a:cs typeface="Times New Roman" pitchFamily="18" charset="0"/>
              </a:rPr>
              <a:t>R.id.button</a:t>
            </a:r>
            <a:r>
              <a:rPr lang="en-US" sz="4800" dirty="0" smtClean="0">
                <a:latin typeface="Times New Roman" pitchFamily="18" charset="0"/>
                <a:cs typeface="Times New Roman" pitchFamily="18" charset="0"/>
              </a:rPr>
              <a:t>);</a:t>
            </a:r>
          </a:p>
          <a:p>
            <a:pPr>
              <a:buNone/>
            </a:pPr>
            <a:endParaRPr lang="en-US" sz="4800" dirty="0" smtClean="0">
              <a:latin typeface="Times New Roman" pitchFamily="18" charset="0"/>
              <a:cs typeface="Times New Roman" pitchFamily="18" charset="0"/>
            </a:endParaRPr>
          </a:p>
        </p:txBody>
      </p:sp>
      <p:sp>
        <p:nvSpPr>
          <p:cNvPr id="4" name="Rectangle 3"/>
          <p:cNvSpPr/>
          <p:nvPr/>
        </p:nvSpPr>
        <p:spPr>
          <a:xfrm>
            <a:off x="4813300" y="736600"/>
            <a:ext cx="6559550" cy="5632311"/>
          </a:xfrm>
          <a:prstGeom prst="rect">
            <a:avLst/>
          </a:prstGeom>
        </p:spPr>
        <p:txBody>
          <a:bodyPr wrap="square">
            <a:spAutoFit/>
          </a:bodyPr>
          <a:lstStyle/>
          <a:p>
            <a:pPr>
              <a:buNone/>
            </a:pPr>
            <a:r>
              <a:rPr lang="en-US"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btn.setOnClickListener</a:t>
            </a:r>
            <a:r>
              <a:rPr lang="en-US" sz="1200" dirty="0" smtClean="0">
                <a:latin typeface="Times New Roman" pitchFamily="18" charset="0"/>
                <a:cs typeface="Times New Roman" pitchFamily="18" charset="0"/>
              </a:rPr>
              <a:t>(new </a:t>
            </a:r>
            <a:r>
              <a:rPr lang="en-US" sz="1200" dirty="0" err="1" smtClean="0">
                <a:latin typeface="Times New Roman" pitchFamily="18" charset="0"/>
                <a:cs typeface="Times New Roman" pitchFamily="18" charset="0"/>
              </a:rPr>
              <a:t>View.OnClickListener</a:t>
            </a:r>
            <a:r>
              <a:rPr lang="en-US" sz="1200" dirty="0" smtClean="0">
                <a:latin typeface="Times New Roman" pitchFamily="18" charset="0"/>
                <a:cs typeface="Times New Roman" pitchFamily="18" charset="0"/>
              </a:rPr>
              <a:t>() {</a:t>
            </a:r>
          </a:p>
          <a:p>
            <a:pPr>
              <a:buNone/>
            </a:pPr>
            <a:r>
              <a:rPr lang="en-US" sz="1200" dirty="0" smtClean="0">
                <a:latin typeface="Times New Roman" pitchFamily="18" charset="0"/>
                <a:cs typeface="Times New Roman" pitchFamily="18" charset="0"/>
              </a:rPr>
              <a:t>            @Override</a:t>
            </a:r>
          </a:p>
          <a:p>
            <a:pPr>
              <a:buNone/>
            </a:pPr>
            <a:r>
              <a:rPr lang="en-US" sz="1200" dirty="0" smtClean="0">
                <a:latin typeface="Times New Roman" pitchFamily="18" charset="0"/>
                <a:cs typeface="Times New Roman" pitchFamily="18" charset="0"/>
              </a:rPr>
              <a:t>            public void </a:t>
            </a:r>
            <a:r>
              <a:rPr lang="en-US" sz="1200" dirty="0" err="1" smtClean="0">
                <a:latin typeface="Times New Roman" pitchFamily="18" charset="0"/>
                <a:cs typeface="Times New Roman" pitchFamily="18" charset="0"/>
              </a:rPr>
              <a:t>onClick</a:t>
            </a:r>
            <a:r>
              <a:rPr lang="en-US" sz="1200" dirty="0" smtClean="0">
                <a:latin typeface="Times New Roman" pitchFamily="18" charset="0"/>
                <a:cs typeface="Times New Roman" pitchFamily="18" charset="0"/>
              </a:rPr>
              <a:t>(View v) {</a:t>
            </a:r>
          </a:p>
          <a:p>
            <a:pPr>
              <a:buNone/>
            </a:pPr>
            <a:r>
              <a:rPr lang="en-US" dirty="0" smtClean="0"/>
              <a:t> </a:t>
            </a:r>
          </a:p>
          <a:p>
            <a:pPr>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AlertDialog.Builder</a:t>
            </a:r>
            <a:r>
              <a:rPr lang="en-US" sz="1200" dirty="0" smtClean="0">
                <a:latin typeface="Times New Roman" pitchFamily="18" charset="0"/>
                <a:cs typeface="Times New Roman" pitchFamily="18" charset="0"/>
              </a:rPr>
              <a:t> builder = new </a:t>
            </a:r>
            <a:r>
              <a:rPr lang="en-US" sz="1200" dirty="0" err="1" smtClean="0">
                <a:latin typeface="Times New Roman" pitchFamily="18" charset="0"/>
                <a:cs typeface="Times New Roman" pitchFamily="18" charset="0"/>
              </a:rPr>
              <a:t>AlertDialog.Builder</a:t>
            </a:r>
            <a:r>
              <a:rPr lang="en-US" sz="1200" dirty="0" smtClean="0">
                <a:latin typeface="Times New Roman" pitchFamily="18" charset="0"/>
                <a:cs typeface="Times New Roman" pitchFamily="18" charset="0"/>
              </a:rPr>
              <a:t>(</a:t>
            </a:r>
            <a:r>
              <a:rPr lang="en-US" sz="1200" dirty="0" err="1" smtClean="0">
                <a:latin typeface="Times New Roman" pitchFamily="18" charset="0"/>
                <a:cs typeface="Times New Roman" pitchFamily="18" charset="0"/>
              </a:rPr>
              <a:t>MainActivity.this</a:t>
            </a:r>
            <a:r>
              <a:rPr lang="en-US" sz="1200" dirty="0" smtClean="0">
                <a:latin typeface="Times New Roman" pitchFamily="18" charset="0"/>
                <a:cs typeface="Times New Roman" pitchFamily="18" charset="0"/>
              </a:rPr>
              <a:t>);</a:t>
            </a:r>
          </a:p>
          <a:p>
            <a:pPr>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builder.setTitle</a:t>
            </a:r>
            <a:r>
              <a:rPr lang="en-US" sz="1200" dirty="0" smtClean="0">
                <a:latin typeface="Times New Roman" pitchFamily="18" charset="0"/>
                <a:cs typeface="Times New Roman" pitchFamily="18" charset="0"/>
              </a:rPr>
              <a:t>(“Exit");</a:t>
            </a:r>
          </a:p>
          <a:p>
            <a:pPr>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builder.setMessage</a:t>
            </a:r>
            <a:r>
              <a:rPr lang="en-US" sz="1200" dirty="0" smtClean="0">
                <a:latin typeface="Times New Roman" pitchFamily="18" charset="0"/>
                <a:cs typeface="Times New Roman" pitchFamily="18" charset="0"/>
              </a:rPr>
              <a:t>("Do you want to exit?");</a:t>
            </a:r>
          </a:p>
          <a:p>
            <a:pPr>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builder.setCancelable</a:t>
            </a:r>
            <a:r>
              <a:rPr lang="en-US" sz="1200" dirty="0" smtClean="0">
                <a:latin typeface="Times New Roman" pitchFamily="18" charset="0"/>
                <a:cs typeface="Times New Roman" pitchFamily="18" charset="0"/>
              </a:rPr>
              <a:t>(false)</a:t>
            </a:r>
          </a:p>
          <a:p>
            <a:pPr>
              <a:buNone/>
            </a:pPr>
            <a:endParaRPr lang="en-US" sz="1200" dirty="0" smtClean="0">
              <a:latin typeface="Times New Roman" pitchFamily="18" charset="0"/>
              <a:cs typeface="Times New Roman" pitchFamily="18" charset="0"/>
            </a:endParaRPr>
          </a:p>
          <a:p>
            <a:pPr>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builder.setPositiveButton</a:t>
            </a:r>
            <a:r>
              <a:rPr lang="en-US" sz="1200" dirty="0" smtClean="0">
                <a:latin typeface="Times New Roman" pitchFamily="18" charset="0"/>
                <a:cs typeface="Times New Roman" pitchFamily="18" charset="0"/>
              </a:rPr>
              <a:t>("Yes", new </a:t>
            </a:r>
            <a:r>
              <a:rPr lang="en-US" sz="1200" dirty="0" err="1" smtClean="0">
                <a:latin typeface="Times New Roman" pitchFamily="18" charset="0"/>
                <a:cs typeface="Times New Roman" pitchFamily="18" charset="0"/>
              </a:rPr>
              <a:t>DialogInterface.OnClickListener</a:t>
            </a:r>
            <a:r>
              <a:rPr lang="en-US" sz="1200" dirty="0" smtClean="0">
                <a:latin typeface="Times New Roman" pitchFamily="18" charset="0"/>
                <a:cs typeface="Times New Roman" pitchFamily="18" charset="0"/>
              </a:rPr>
              <a:t>() {</a:t>
            </a:r>
          </a:p>
          <a:p>
            <a:pPr>
              <a:buNone/>
            </a:pPr>
            <a:r>
              <a:rPr lang="en-US" sz="1200" dirty="0" smtClean="0">
                <a:latin typeface="Times New Roman" pitchFamily="18" charset="0"/>
                <a:cs typeface="Times New Roman" pitchFamily="18" charset="0"/>
              </a:rPr>
              <a:t>                    @Override</a:t>
            </a:r>
          </a:p>
          <a:p>
            <a:pPr>
              <a:buNone/>
            </a:pPr>
            <a:r>
              <a:rPr lang="en-US" sz="1200" dirty="0" smtClean="0">
                <a:latin typeface="Times New Roman" pitchFamily="18" charset="0"/>
                <a:cs typeface="Times New Roman" pitchFamily="18" charset="0"/>
              </a:rPr>
              <a:t>                    public void </a:t>
            </a:r>
            <a:r>
              <a:rPr lang="en-US" sz="1200" dirty="0" err="1" smtClean="0">
                <a:latin typeface="Times New Roman" pitchFamily="18" charset="0"/>
                <a:cs typeface="Times New Roman" pitchFamily="18" charset="0"/>
              </a:rPr>
              <a:t>onClick</a:t>
            </a:r>
            <a:r>
              <a:rPr lang="en-US" sz="1200" dirty="0" smtClean="0">
                <a:latin typeface="Times New Roman" pitchFamily="18" charset="0"/>
                <a:cs typeface="Times New Roman" pitchFamily="18" charset="0"/>
              </a:rPr>
              <a:t>(</a:t>
            </a:r>
            <a:r>
              <a:rPr lang="en-US" sz="1200" dirty="0" err="1" smtClean="0">
                <a:latin typeface="Times New Roman" pitchFamily="18" charset="0"/>
                <a:cs typeface="Times New Roman" pitchFamily="18" charset="0"/>
              </a:rPr>
              <a:t>DialogInterface</a:t>
            </a:r>
            <a:r>
              <a:rPr lang="en-US" sz="1200" dirty="0" smtClean="0">
                <a:latin typeface="Times New Roman" pitchFamily="18" charset="0"/>
                <a:cs typeface="Times New Roman" pitchFamily="18" charset="0"/>
              </a:rPr>
              <a:t> dialog, </a:t>
            </a:r>
            <a:r>
              <a:rPr lang="en-US" sz="1200" dirty="0" err="1" smtClean="0">
                <a:latin typeface="Times New Roman" pitchFamily="18" charset="0"/>
                <a:cs typeface="Times New Roman" pitchFamily="18" charset="0"/>
              </a:rPr>
              <a:t>int</a:t>
            </a:r>
            <a:r>
              <a:rPr lang="en-US" sz="1200" dirty="0" smtClean="0">
                <a:latin typeface="Times New Roman" pitchFamily="18" charset="0"/>
                <a:cs typeface="Times New Roman" pitchFamily="18" charset="0"/>
              </a:rPr>
              <a:t> id) {</a:t>
            </a:r>
          </a:p>
          <a:p>
            <a:pPr>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CreateDialogActivity.this</a:t>
            </a:r>
            <a:r>
              <a:rPr lang="en-US" sz="1200" dirty="0" smtClean="0">
                <a:latin typeface="Times New Roman" pitchFamily="18" charset="0"/>
                <a:cs typeface="Times New Roman" pitchFamily="18" charset="0"/>
              </a:rPr>
              <a:t>. finish();</a:t>
            </a:r>
          </a:p>
          <a:p>
            <a:pPr>
              <a:buNone/>
            </a:pPr>
            <a:r>
              <a:rPr lang="en-US" sz="1200" dirty="0" smtClean="0">
                <a:latin typeface="Times New Roman" pitchFamily="18" charset="0"/>
                <a:cs typeface="Times New Roman" pitchFamily="18" charset="0"/>
              </a:rPr>
              <a:t>                    }</a:t>
            </a:r>
          </a:p>
          <a:p>
            <a:pPr>
              <a:buNone/>
            </a:pPr>
            <a:r>
              <a:rPr lang="en-US" sz="1200" dirty="0" smtClean="0">
                <a:latin typeface="Times New Roman" pitchFamily="18" charset="0"/>
                <a:cs typeface="Times New Roman" pitchFamily="18" charset="0"/>
              </a:rPr>
              <a:t>                });</a:t>
            </a:r>
          </a:p>
          <a:p>
            <a:pPr>
              <a:buNone/>
            </a:pPr>
            <a:endParaRPr lang="en-US" sz="1200" dirty="0" smtClean="0">
              <a:latin typeface="Times New Roman" pitchFamily="18" charset="0"/>
              <a:cs typeface="Times New Roman" pitchFamily="18" charset="0"/>
            </a:endParaRPr>
          </a:p>
          <a:p>
            <a:pPr>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builder.setNegativeButton</a:t>
            </a:r>
            <a:r>
              <a:rPr lang="en-US" sz="1200" dirty="0" smtClean="0">
                <a:latin typeface="Times New Roman" pitchFamily="18" charset="0"/>
                <a:cs typeface="Times New Roman" pitchFamily="18" charset="0"/>
              </a:rPr>
              <a:t>("No", new </a:t>
            </a:r>
            <a:r>
              <a:rPr lang="en-US" sz="1200" dirty="0" err="1" smtClean="0">
                <a:latin typeface="Times New Roman" pitchFamily="18" charset="0"/>
                <a:cs typeface="Times New Roman" pitchFamily="18" charset="0"/>
              </a:rPr>
              <a:t>DialogInterface.OnClickListener</a:t>
            </a:r>
            <a:r>
              <a:rPr lang="en-US" sz="1200" dirty="0" smtClean="0">
                <a:latin typeface="Times New Roman" pitchFamily="18" charset="0"/>
                <a:cs typeface="Times New Roman" pitchFamily="18" charset="0"/>
              </a:rPr>
              <a:t>() {</a:t>
            </a:r>
          </a:p>
          <a:p>
            <a:pPr>
              <a:buNone/>
            </a:pPr>
            <a:r>
              <a:rPr lang="en-US" sz="1200" dirty="0" smtClean="0">
                <a:latin typeface="Times New Roman" pitchFamily="18" charset="0"/>
                <a:cs typeface="Times New Roman" pitchFamily="18" charset="0"/>
              </a:rPr>
              <a:t>                    @Override</a:t>
            </a:r>
          </a:p>
          <a:p>
            <a:pPr>
              <a:buNone/>
            </a:pPr>
            <a:r>
              <a:rPr lang="en-US" sz="1200" dirty="0" smtClean="0">
                <a:latin typeface="Times New Roman" pitchFamily="18" charset="0"/>
                <a:cs typeface="Times New Roman" pitchFamily="18" charset="0"/>
              </a:rPr>
              <a:t>                    public void </a:t>
            </a:r>
            <a:r>
              <a:rPr lang="en-US" sz="1200" dirty="0" err="1" smtClean="0">
                <a:latin typeface="Times New Roman" pitchFamily="18" charset="0"/>
                <a:cs typeface="Times New Roman" pitchFamily="18" charset="0"/>
              </a:rPr>
              <a:t>onClick</a:t>
            </a:r>
            <a:r>
              <a:rPr lang="en-US" sz="1200" dirty="0" smtClean="0">
                <a:latin typeface="Times New Roman" pitchFamily="18" charset="0"/>
                <a:cs typeface="Times New Roman" pitchFamily="18" charset="0"/>
              </a:rPr>
              <a:t>(</a:t>
            </a:r>
            <a:r>
              <a:rPr lang="en-US" sz="1200" dirty="0" err="1" smtClean="0">
                <a:latin typeface="Times New Roman" pitchFamily="18" charset="0"/>
                <a:cs typeface="Times New Roman" pitchFamily="18" charset="0"/>
              </a:rPr>
              <a:t>DialogInterface</a:t>
            </a:r>
            <a:r>
              <a:rPr lang="en-US" sz="1200" dirty="0" smtClean="0">
                <a:latin typeface="Times New Roman" pitchFamily="18" charset="0"/>
                <a:cs typeface="Times New Roman" pitchFamily="18" charset="0"/>
              </a:rPr>
              <a:t> dialog, </a:t>
            </a:r>
            <a:r>
              <a:rPr lang="en-US" sz="1200" dirty="0" err="1" smtClean="0">
                <a:latin typeface="Times New Roman" pitchFamily="18" charset="0"/>
                <a:cs typeface="Times New Roman" pitchFamily="18" charset="0"/>
              </a:rPr>
              <a:t>int</a:t>
            </a:r>
            <a:r>
              <a:rPr lang="en-US" sz="1200" dirty="0" smtClean="0">
                <a:latin typeface="Times New Roman" pitchFamily="18" charset="0"/>
                <a:cs typeface="Times New Roman" pitchFamily="18" charset="0"/>
              </a:rPr>
              <a:t> id) {</a:t>
            </a:r>
          </a:p>
          <a:p>
            <a:pPr>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dialog.cancel</a:t>
            </a:r>
            <a:r>
              <a:rPr lang="en-US" sz="1200" dirty="0" smtClean="0">
                <a:latin typeface="Times New Roman" pitchFamily="18" charset="0"/>
                <a:cs typeface="Times New Roman" pitchFamily="18" charset="0"/>
              </a:rPr>
              <a:t>();</a:t>
            </a:r>
          </a:p>
          <a:p>
            <a:pPr>
              <a:buNone/>
            </a:pPr>
            <a:r>
              <a:rPr lang="en-US" sz="1200" dirty="0" smtClean="0">
                <a:latin typeface="Times New Roman" pitchFamily="18" charset="0"/>
                <a:cs typeface="Times New Roman" pitchFamily="18" charset="0"/>
              </a:rPr>
              <a:t>                    }</a:t>
            </a:r>
          </a:p>
          <a:p>
            <a:pPr>
              <a:buNone/>
            </a:pPr>
            <a:r>
              <a:rPr lang="en-US" sz="1200" dirty="0" smtClean="0">
                <a:latin typeface="Times New Roman" pitchFamily="18" charset="0"/>
                <a:cs typeface="Times New Roman" pitchFamily="18" charset="0"/>
              </a:rPr>
              <a:t>                });</a:t>
            </a:r>
          </a:p>
          <a:p>
            <a:pPr>
              <a:buNone/>
            </a:pPr>
            <a:endParaRPr lang="en-US" sz="1200" dirty="0" smtClean="0">
              <a:latin typeface="Times New Roman" pitchFamily="18" charset="0"/>
              <a:cs typeface="Times New Roman" pitchFamily="18" charset="0"/>
            </a:endParaRPr>
          </a:p>
          <a:p>
            <a:pPr>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AlertDialog</a:t>
            </a:r>
            <a:r>
              <a:rPr lang="en-US" sz="1200" dirty="0" smtClean="0">
                <a:latin typeface="Times New Roman" pitchFamily="18" charset="0"/>
                <a:cs typeface="Times New Roman" pitchFamily="18" charset="0"/>
              </a:rPr>
              <a:t> dialog = </a:t>
            </a:r>
            <a:r>
              <a:rPr lang="en-US" sz="1200" dirty="0" err="1" smtClean="0">
                <a:latin typeface="Times New Roman" pitchFamily="18" charset="0"/>
                <a:cs typeface="Times New Roman" pitchFamily="18" charset="0"/>
              </a:rPr>
              <a:t>builder.create</a:t>
            </a:r>
            <a:r>
              <a:rPr lang="en-US" sz="1200" dirty="0" smtClean="0">
                <a:latin typeface="Times New Roman" pitchFamily="18" charset="0"/>
                <a:cs typeface="Times New Roman" pitchFamily="18" charset="0"/>
              </a:rPr>
              <a:t>();</a:t>
            </a:r>
          </a:p>
          <a:p>
            <a:pPr>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dialog.show</a:t>
            </a:r>
            <a:r>
              <a:rPr lang="en-US" sz="1200" dirty="0" smtClean="0">
                <a:latin typeface="Times New Roman" pitchFamily="18" charset="0"/>
                <a:cs typeface="Times New Roman" pitchFamily="18" charset="0"/>
              </a:rPr>
              <a:t>();</a:t>
            </a:r>
          </a:p>
          <a:p>
            <a:pPr>
              <a:buNone/>
            </a:pPr>
            <a:r>
              <a:rPr lang="en-US" sz="1200" dirty="0" smtClean="0">
                <a:latin typeface="Times New Roman" pitchFamily="18" charset="0"/>
                <a:cs typeface="Times New Roman" pitchFamily="18" charset="0"/>
              </a:rPr>
              <a:t>            }</a:t>
            </a:r>
          </a:p>
          <a:p>
            <a:pPr>
              <a:buNone/>
            </a:pPr>
            <a:r>
              <a:rPr lang="en-US" sz="1200" dirty="0" smtClean="0">
                <a:latin typeface="Times New Roman" pitchFamily="18" charset="0"/>
                <a:cs typeface="Times New Roman" pitchFamily="18" charset="0"/>
              </a:rPr>
              <a:t>        });</a:t>
            </a:r>
          </a:p>
          <a:p>
            <a:pPr>
              <a:buNone/>
            </a:pPr>
            <a:r>
              <a:rPr lang="en-US" sz="1200" dirty="0" smtClean="0">
                <a:latin typeface="Times New Roman" pitchFamily="18" charset="0"/>
                <a:cs typeface="Times New Roman" pitchFamily="18" charset="0"/>
              </a:rPr>
              <a:t>    }</a:t>
            </a:r>
          </a:p>
          <a:p>
            <a:pPr>
              <a:buNone/>
            </a:pPr>
            <a:r>
              <a:rPr lang="en-US" sz="1200" dirty="0" smtClean="0">
                <a:latin typeface="Times New Roman" pitchFamily="18" charset="0"/>
                <a:cs typeface="Times New Roman" pitchFamily="18" charset="0"/>
              </a:rPr>
              <a:t>}</a:t>
            </a:r>
            <a:endParaRPr lang="en-US" sz="1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ProgressDialog</a:t>
            </a:r>
            <a:endParaRPr lang="en-US" dirty="0"/>
          </a:p>
        </p:txBody>
      </p:sp>
      <p:sp>
        <p:nvSpPr>
          <p:cNvPr id="3" name="Content Placeholder 2"/>
          <p:cNvSpPr>
            <a:spLocks noGrp="1"/>
          </p:cNvSpPr>
          <p:nvPr>
            <p:ph idx="1"/>
          </p:nvPr>
        </p:nvSpPr>
        <p:spPr>
          <a:xfrm>
            <a:off x="838200" y="1517650"/>
            <a:ext cx="11074400" cy="4659313"/>
          </a:xfrm>
        </p:spPr>
        <p:txBody>
          <a:bodyPr/>
          <a:lstStyle/>
          <a:p>
            <a:pPr algn="just"/>
            <a:r>
              <a:rPr lang="en-US" dirty="0" smtClean="0">
                <a:latin typeface="Times New Roman" pitchFamily="18" charset="0"/>
                <a:cs typeface="Times New Roman" pitchFamily="18" charset="0"/>
              </a:rPr>
              <a:t>It is the extension of </a:t>
            </a:r>
            <a:r>
              <a:rPr lang="en-US" dirty="0" err="1" smtClean="0">
                <a:latin typeface="Times New Roman" pitchFamily="18" charset="0"/>
                <a:cs typeface="Times New Roman" pitchFamily="18" charset="0"/>
              </a:rPr>
              <a:t>AlertDialog</a:t>
            </a:r>
            <a:r>
              <a:rPr lang="en-US" dirty="0" smtClean="0">
                <a:latin typeface="Times New Roman" pitchFamily="18" charset="0"/>
                <a:cs typeface="Times New Roman" pitchFamily="18" charset="0"/>
              </a:rPr>
              <a:t> class , which is used to display the progress of a task in the form of spinning wheel or in the display format being set by you . You simply create the instance of  </a:t>
            </a:r>
            <a:r>
              <a:rPr lang="en-US" dirty="0" err="1" smtClean="0">
                <a:latin typeface="Times New Roman" pitchFamily="18" charset="0"/>
                <a:cs typeface="Times New Roman" pitchFamily="18" charset="0"/>
              </a:rPr>
              <a:t>ProgressDialog</a:t>
            </a:r>
            <a:r>
              <a:rPr lang="en-US" dirty="0" smtClean="0">
                <a:latin typeface="Times New Roman" pitchFamily="18" charset="0"/>
                <a:cs typeface="Times New Roman" pitchFamily="18" charset="0"/>
              </a:rPr>
              <a:t> class and invoke the show() method.</a:t>
            </a:r>
          </a:p>
          <a:p>
            <a:pPr algn="just"/>
            <a:endParaRPr lang="en-US" dirty="0" smtClean="0">
              <a:latin typeface="Times New Roman" pitchFamily="18" charset="0"/>
              <a:cs typeface="Times New Roman" pitchFamily="18" charset="0"/>
            </a:endParaRPr>
          </a:p>
          <a:p>
            <a:pPr algn="just"/>
            <a:r>
              <a:rPr lang="en-US" dirty="0" err="1" smtClean="0">
                <a:latin typeface="Times New Roman" pitchFamily="18" charset="0"/>
                <a:cs typeface="Times New Roman" pitchFamily="18" charset="0"/>
              </a:rPr>
              <a:t>ProgressDialog</a:t>
            </a:r>
            <a:r>
              <a:rPr lang="en-US" dirty="0" smtClean="0">
                <a:latin typeface="Times New Roman" pitchFamily="18" charset="0"/>
                <a:cs typeface="Times New Roman" pitchFamily="18" charset="0"/>
              </a:rPr>
              <a:t> is used to show the progress of a task such as downloading, loading, or processing data.</a:t>
            </a:r>
          </a:p>
          <a:p>
            <a:pPr algn="just"/>
            <a:r>
              <a:rPr lang="en-US" dirty="0" smtClean="0">
                <a:latin typeface="Times New Roman" pitchFamily="18" charset="0"/>
                <a:cs typeface="Times New Roman" pitchFamily="18" charset="0"/>
              </a:rPr>
              <a:t> By default, a Progress Dialog has a title, a message, and a circular progress bar that keeps rotating</a:t>
            </a:r>
          </a:p>
          <a:p>
            <a:pPr>
              <a:buNone/>
            </a:pPr>
            <a:endParaRPr lang="en-US"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ProgressDialog</a:t>
            </a:r>
            <a:endParaRPr lang="en-US" dirty="0"/>
          </a:p>
        </p:txBody>
      </p:sp>
      <p:sp>
        <p:nvSpPr>
          <p:cNvPr id="3" name="Content Placeholder 2"/>
          <p:cNvSpPr>
            <a:spLocks noGrp="1"/>
          </p:cNvSpPr>
          <p:nvPr>
            <p:ph idx="1"/>
          </p:nvPr>
        </p:nvSpPr>
        <p:spPr/>
        <p:txBody>
          <a:bodyPr/>
          <a:lstStyle/>
          <a:p>
            <a:pPr>
              <a:buNone/>
            </a:pPr>
            <a:r>
              <a:rPr lang="en-US" dirty="0" err="1" smtClean="0"/>
              <a:t>ProgressDialog</a:t>
            </a:r>
            <a:r>
              <a:rPr lang="en-US" dirty="0" smtClean="0"/>
              <a:t> </a:t>
            </a:r>
            <a:r>
              <a:rPr lang="en-US" dirty="0" err="1" smtClean="0"/>
              <a:t>progressDialog</a:t>
            </a:r>
            <a:r>
              <a:rPr lang="en-US" dirty="0" smtClean="0"/>
              <a:t>;</a:t>
            </a:r>
            <a:br>
              <a:rPr lang="en-US" dirty="0" smtClean="0"/>
            </a:br>
            <a:r>
              <a:rPr lang="en-US" dirty="0" smtClean="0"/>
              <a:t/>
            </a:r>
            <a:br>
              <a:rPr lang="en-US" dirty="0" smtClean="0"/>
            </a:br>
            <a:r>
              <a:rPr lang="en-US" dirty="0" err="1" smtClean="0"/>
              <a:t>progressDialog</a:t>
            </a:r>
            <a:r>
              <a:rPr lang="en-US" dirty="0" smtClean="0"/>
              <a:t> = new </a:t>
            </a:r>
            <a:r>
              <a:rPr lang="en-US" dirty="0" err="1" smtClean="0"/>
              <a:t>ProgressDialog</a:t>
            </a:r>
            <a:r>
              <a:rPr lang="en-US" dirty="0" smtClean="0"/>
              <a:t>(this);</a:t>
            </a:r>
            <a:br>
              <a:rPr lang="en-US" dirty="0" smtClean="0"/>
            </a:br>
            <a:r>
              <a:rPr lang="en-US" dirty="0" err="1" smtClean="0"/>
              <a:t>progressDialog.setTitle</a:t>
            </a:r>
            <a:r>
              <a:rPr lang="en-US" dirty="0" smtClean="0"/>
              <a:t>("Loading");</a:t>
            </a:r>
            <a:br>
              <a:rPr lang="en-US" dirty="0" smtClean="0"/>
            </a:br>
            <a:r>
              <a:rPr lang="en-US" dirty="0" err="1" smtClean="0"/>
              <a:t>progressDialog.setMessage</a:t>
            </a:r>
            <a:r>
              <a:rPr lang="en-US" dirty="0" smtClean="0"/>
              <a:t>("Please wait...");</a:t>
            </a:r>
            <a:br>
              <a:rPr lang="en-US" dirty="0" smtClean="0"/>
            </a:br>
            <a:r>
              <a:rPr lang="en-US" dirty="0" err="1" smtClean="0"/>
              <a:t>progressDialog.setCancelable</a:t>
            </a:r>
            <a:r>
              <a:rPr lang="en-US" dirty="0" smtClean="0"/>
              <a:t>(false);</a:t>
            </a:r>
            <a:br>
              <a:rPr lang="en-US" dirty="0" smtClean="0"/>
            </a:br>
            <a:r>
              <a:rPr lang="en-US" dirty="0" err="1" smtClean="0"/>
              <a:t>progressDialog.show</a:t>
            </a:r>
            <a:r>
              <a:rPr lang="en-US" dirty="0" smtClean="0"/>
              <a:t>();</a:t>
            </a:r>
            <a:br>
              <a:rPr lang="en-US" dirty="0" smtClean="0"/>
            </a:br>
            <a:r>
              <a:rPr lang="en-US" dirty="0" smtClean="0"/>
              <a:t/>
            </a:r>
            <a:br>
              <a:rPr lang="en-US" dirty="0" smtClean="0"/>
            </a:br>
            <a:r>
              <a:rPr lang="en-US" dirty="0" smtClean="0"/>
              <a:t>// Stop after some work</a:t>
            </a:r>
            <a:br>
              <a:rPr lang="en-US" dirty="0" smtClean="0"/>
            </a:br>
            <a:r>
              <a:rPr lang="en-US" dirty="0" err="1" smtClean="0"/>
              <a:t>progressDialog.dismiss</a:t>
            </a:r>
            <a:r>
              <a:rPr lang="en-US" dirty="0" smtClean="0"/>
              <a:t>();</a:t>
            </a:r>
            <a:endParaRPr lang="en-US"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9950" y="365125"/>
            <a:ext cx="10483850" cy="796925"/>
          </a:xfrm>
        </p:spPr>
        <p:txBody>
          <a:bodyPr>
            <a:normAutofit/>
          </a:bodyPr>
          <a:lstStyle/>
          <a:p>
            <a:r>
              <a:rPr lang="en-US" sz="2000" b="1" dirty="0" smtClean="0">
                <a:latin typeface="Times New Roman" pitchFamily="18" charset="0"/>
                <a:cs typeface="Times New Roman" pitchFamily="18" charset="0"/>
              </a:rPr>
              <a:t>Horizontal </a:t>
            </a:r>
            <a:r>
              <a:rPr lang="en-US" sz="2000" b="1" dirty="0" err="1" smtClean="0">
                <a:latin typeface="Times New Roman" pitchFamily="18" charset="0"/>
                <a:cs typeface="Times New Roman" pitchFamily="18" charset="0"/>
              </a:rPr>
              <a:t>ProgressDialog</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88900" y="952500"/>
            <a:ext cx="11264900" cy="5822950"/>
          </a:xfrm>
        </p:spPr>
        <p:txBody>
          <a:bodyPr>
            <a:normAutofit fontScale="92500" lnSpcReduction="10000"/>
          </a:bodyPr>
          <a:lstStyle/>
          <a:p>
            <a:pPr>
              <a:buNone/>
            </a:pPr>
            <a:r>
              <a:rPr lang="en-US" sz="1200" b="1" dirty="0" err="1" smtClean="0">
                <a:latin typeface="Times New Roman" pitchFamily="18" charset="0"/>
                <a:cs typeface="Times New Roman" pitchFamily="18" charset="0"/>
              </a:rPr>
              <a:t>ProgressDialog</a:t>
            </a: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progressDialog</a:t>
            </a:r>
            <a:r>
              <a:rPr lang="en-US" sz="1200" b="1" dirty="0" smtClean="0">
                <a:latin typeface="Times New Roman" pitchFamily="18" charset="0"/>
                <a:cs typeface="Times New Roman" pitchFamily="18" charset="0"/>
              </a:rPr>
              <a:t> = new </a:t>
            </a:r>
            <a:r>
              <a:rPr lang="en-US" sz="1200" b="1" dirty="0" err="1" smtClean="0">
                <a:latin typeface="Times New Roman" pitchFamily="18" charset="0"/>
                <a:cs typeface="Times New Roman" pitchFamily="18" charset="0"/>
              </a:rPr>
              <a:t>ProgressDialog</a:t>
            </a:r>
            <a:r>
              <a:rPr lang="en-US" sz="1200" b="1" dirty="0" smtClean="0">
                <a:latin typeface="Times New Roman" pitchFamily="18" charset="0"/>
                <a:cs typeface="Times New Roman" pitchFamily="18" charset="0"/>
              </a:rPr>
              <a:t>(this);</a:t>
            </a:r>
          </a:p>
          <a:p>
            <a:pPr>
              <a:buNone/>
            </a:pPr>
            <a:r>
              <a:rPr lang="en-US" sz="1200" b="1" dirty="0" err="1" smtClean="0">
                <a:latin typeface="Times New Roman" pitchFamily="18" charset="0"/>
                <a:cs typeface="Times New Roman" pitchFamily="18" charset="0"/>
              </a:rPr>
              <a:t>progressDialog.setTitle</a:t>
            </a:r>
            <a:r>
              <a:rPr lang="en-US" sz="1200" b="1" dirty="0" smtClean="0">
                <a:latin typeface="Times New Roman" pitchFamily="18" charset="0"/>
                <a:cs typeface="Times New Roman" pitchFamily="18" charset="0"/>
              </a:rPr>
              <a:t>("Downloading");</a:t>
            </a:r>
          </a:p>
          <a:p>
            <a:pPr>
              <a:buNone/>
            </a:pPr>
            <a:r>
              <a:rPr lang="en-US" sz="1200" b="1" dirty="0" err="1" smtClean="0">
                <a:latin typeface="Times New Roman" pitchFamily="18" charset="0"/>
                <a:cs typeface="Times New Roman" pitchFamily="18" charset="0"/>
              </a:rPr>
              <a:t>progressDialog.setMessage</a:t>
            </a:r>
            <a:r>
              <a:rPr lang="en-US" sz="1200" b="1" dirty="0" smtClean="0">
                <a:latin typeface="Times New Roman" pitchFamily="18" charset="0"/>
                <a:cs typeface="Times New Roman" pitchFamily="18" charset="0"/>
              </a:rPr>
              <a:t>("Please wait...");</a:t>
            </a:r>
          </a:p>
          <a:p>
            <a:pPr>
              <a:buNone/>
            </a:pPr>
            <a:r>
              <a:rPr lang="en-US" sz="1200" b="1" dirty="0" err="1" smtClean="0">
                <a:latin typeface="Times New Roman" pitchFamily="18" charset="0"/>
                <a:cs typeface="Times New Roman" pitchFamily="18" charset="0"/>
              </a:rPr>
              <a:t>progressDialog.setProgressStyle</a:t>
            </a:r>
            <a:r>
              <a:rPr lang="en-US" sz="1200" b="1" dirty="0" smtClean="0">
                <a:latin typeface="Times New Roman" pitchFamily="18" charset="0"/>
                <a:cs typeface="Times New Roman" pitchFamily="18" charset="0"/>
              </a:rPr>
              <a:t>(</a:t>
            </a:r>
            <a:r>
              <a:rPr lang="en-US" sz="1200" b="1" dirty="0" err="1" smtClean="0">
                <a:latin typeface="Times New Roman" pitchFamily="18" charset="0"/>
                <a:cs typeface="Times New Roman" pitchFamily="18" charset="0"/>
              </a:rPr>
              <a:t>ProgressDialog.STYLE_HORIZONTAL</a:t>
            </a:r>
            <a:r>
              <a:rPr lang="en-US" sz="1200" b="1" dirty="0" smtClean="0">
                <a:latin typeface="Times New Roman" pitchFamily="18" charset="0"/>
                <a:cs typeface="Times New Roman" pitchFamily="18" charset="0"/>
              </a:rPr>
              <a:t>);</a:t>
            </a:r>
          </a:p>
          <a:p>
            <a:pPr>
              <a:buNone/>
            </a:pPr>
            <a:r>
              <a:rPr lang="en-US" sz="1200" b="1" dirty="0" err="1" smtClean="0">
                <a:latin typeface="Times New Roman" pitchFamily="18" charset="0"/>
                <a:cs typeface="Times New Roman" pitchFamily="18" charset="0"/>
              </a:rPr>
              <a:t>progressDialog.setMax</a:t>
            </a:r>
            <a:r>
              <a:rPr lang="en-US" sz="1200" b="1" dirty="0" smtClean="0">
                <a:latin typeface="Times New Roman" pitchFamily="18" charset="0"/>
                <a:cs typeface="Times New Roman" pitchFamily="18" charset="0"/>
              </a:rPr>
              <a:t>(100);</a:t>
            </a:r>
          </a:p>
          <a:p>
            <a:pPr>
              <a:buNone/>
            </a:pPr>
            <a:r>
              <a:rPr lang="en-US" sz="1200" b="1" dirty="0" err="1" smtClean="0">
                <a:latin typeface="Times New Roman" pitchFamily="18" charset="0"/>
                <a:cs typeface="Times New Roman" pitchFamily="18" charset="0"/>
              </a:rPr>
              <a:t>progressDialog.show</a:t>
            </a:r>
            <a:r>
              <a:rPr lang="en-US" sz="1200" b="1" dirty="0" smtClean="0">
                <a:latin typeface="Times New Roman" pitchFamily="18" charset="0"/>
                <a:cs typeface="Times New Roman" pitchFamily="18" charset="0"/>
              </a:rPr>
              <a:t>();</a:t>
            </a:r>
          </a:p>
          <a:p>
            <a:pPr>
              <a:buNone/>
            </a:pPr>
            <a:endParaRPr lang="en-US" sz="1200" b="1" dirty="0" smtClean="0">
              <a:latin typeface="Times New Roman" pitchFamily="18" charset="0"/>
              <a:cs typeface="Times New Roman" pitchFamily="18" charset="0"/>
            </a:endParaRPr>
          </a:p>
          <a:p>
            <a:pPr>
              <a:buNone/>
            </a:pPr>
            <a:r>
              <a:rPr lang="en-US" sz="1200" b="1" dirty="0" smtClean="0">
                <a:latin typeface="Times New Roman" pitchFamily="18" charset="0"/>
                <a:cs typeface="Times New Roman" pitchFamily="18" charset="0"/>
              </a:rPr>
              <a:t>// Increase progress</a:t>
            </a:r>
          </a:p>
          <a:p>
            <a:pPr>
              <a:buNone/>
            </a:pPr>
            <a:r>
              <a:rPr lang="en-US" sz="1200" b="1" dirty="0" smtClean="0">
                <a:latin typeface="Times New Roman" pitchFamily="18" charset="0"/>
                <a:cs typeface="Times New Roman" pitchFamily="18" charset="0"/>
              </a:rPr>
              <a:t>new Thread(new </a:t>
            </a:r>
            <a:r>
              <a:rPr lang="en-US" sz="1200" b="1" dirty="0" err="1" smtClean="0">
                <a:latin typeface="Times New Roman" pitchFamily="18" charset="0"/>
                <a:cs typeface="Times New Roman" pitchFamily="18" charset="0"/>
              </a:rPr>
              <a:t>Runnable</a:t>
            </a:r>
            <a:r>
              <a:rPr lang="en-US" sz="1200" b="1" dirty="0" smtClean="0">
                <a:latin typeface="Times New Roman" pitchFamily="18" charset="0"/>
                <a:cs typeface="Times New Roman" pitchFamily="18" charset="0"/>
              </a:rPr>
              <a:t>() {</a:t>
            </a:r>
          </a:p>
          <a:p>
            <a:pPr>
              <a:buNone/>
            </a:pPr>
            <a:r>
              <a:rPr lang="en-US" sz="1200" b="1" dirty="0" smtClean="0">
                <a:latin typeface="Times New Roman" pitchFamily="18" charset="0"/>
                <a:cs typeface="Times New Roman" pitchFamily="18" charset="0"/>
              </a:rPr>
              <a:t>    public void run() {</a:t>
            </a:r>
          </a:p>
          <a:p>
            <a:pPr>
              <a:buNone/>
            </a:pPr>
            <a:r>
              <a:rPr lang="en-US" sz="1200" b="1" dirty="0" smtClean="0">
                <a:latin typeface="Times New Roman" pitchFamily="18" charset="0"/>
                <a:cs typeface="Times New Roman" pitchFamily="18" charset="0"/>
              </a:rPr>
              <a:t>        for(</a:t>
            </a:r>
            <a:r>
              <a:rPr lang="en-US" sz="1200" b="1" dirty="0" err="1" smtClean="0">
                <a:latin typeface="Times New Roman" pitchFamily="18" charset="0"/>
                <a:cs typeface="Times New Roman" pitchFamily="18" charset="0"/>
              </a:rPr>
              <a:t>int</a:t>
            </a: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i</a:t>
            </a:r>
            <a:r>
              <a:rPr lang="en-US" sz="1200" b="1" dirty="0" smtClean="0">
                <a:latin typeface="Times New Roman" pitchFamily="18" charset="0"/>
                <a:cs typeface="Times New Roman" pitchFamily="18" charset="0"/>
              </a:rPr>
              <a:t> = 0; </a:t>
            </a:r>
            <a:r>
              <a:rPr lang="en-US" sz="1200" b="1" dirty="0" err="1" smtClean="0">
                <a:latin typeface="Times New Roman" pitchFamily="18" charset="0"/>
                <a:cs typeface="Times New Roman" pitchFamily="18" charset="0"/>
              </a:rPr>
              <a:t>i</a:t>
            </a:r>
            <a:r>
              <a:rPr lang="en-US" sz="1200" b="1" dirty="0" smtClean="0">
                <a:latin typeface="Times New Roman" pitchFamily="18" charset="0"/>
                <a:cs typeface="Times New Roman" pitchFamily="18" charset="0"/>
              </a:rPr>
              <a:t> &lt;= 100; </a:t>
            </a:r>
            <a:r>
              <a:rPr lang="en-US" sz="1200" b="1" dirty="0" err="1" smtClean="0">
                <a:latin typeface="Times New Roman" pitchFamily="18" charset="0"/>
                <a:cs typeface="Times New Roman" pitchFamily="18" charset="0"/>
              </a:rPr>
              <a:t>i</a:t>
            </a:r>
            <a:r>
              <a:rPr lang="en-US" sz="1200" b="1" dirty="0" smtClean="0">
                <a:latin typeface="Times New Roman" pitchFamily="18" charset="0"/>
                <a:cs typeface="Times New Roman" pitchFamily="18" charset="0"/>
              </a:rPr>
              <a:t> += 10){</a:t>
            </a:r>
          </a:p>
          <a:p>
            <a:pPr>
              <a:buNone/>
            </a:pPr>
            <a:r>
              <a:rPr lang="en-US" sz="1200" b="1" dirty="0" smtClean="0">
                <a:latin typeface="Times New Roman" pitchFamily="18" charset="0"/>
                <a:cs typeface="Times New Roman" pitchFamily="18" charset="0"/>
              </a:rPr>
              <a:t>            try {</a:t>
            </a:r>
          </a:p>
          <a:p>
            <a:pPr>
              <a:buNone/>
            </a:pP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Thread.sleep</a:t>
            </a:r>
            <a:r>
              <a:rPr lang="en-US" sz="1200" b="1" dirty="0" smtClean="0">
                <a:latin typeface="Times New Roman" pitchFamily="18" charset="0"/>
                <a:cs typeface="Times New Roman" pitchFamily="18" charset="0"/>
              </a:rPr>
              <a:t>(500);</a:t>
            </a:r>
          </a:p>
          <a:p>
            <a:pPr>
              <a:buNone/>
            </a:pP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progressDialog.setProgress</a:t>
            </a:r>
            <a:r>
              <a:rPr lang="en-US" sz="1200" b="1" dirty="0" smtClean="0">
                <a:latin typeface="Times New Roman" pitchFamily="18" charset="0"/>
                <a:cs typeface="Times New Roman" pitchFamily="18" charset="0"/>
              </a:rPr>
              <a:t>(</a:t>
            </a:r>
            <a:r>
              <a:rPr lang="en-US" sz="1200" b="1" dirty="0" err="1" smtClean="0">
                <a:latin typeface="Times New Roman" pitchFamily="18" charset="0"/>
                <a:cs typeface="Times New Roman" pitchFamily="18" charset="0"/>
              </a:rPr>
              <a:t>i</a:t>
            </a:r>
            <a:r>
              <a:rPr lang="en-US" sz="1200" b="1" dirty="0" smtClean="0">
                <a:latin typeface="Times New Roman" pitchFamily="18" charset="0"/>
                <a:cs typeface="Times New Roman" pitchFamily="18" charset="0"/>
              </a:rPr>
              <a:t>);</a:t>
            </a:r>
          </a:p>
          <a:p>
            <a:pPr>
              <a:buNone/>
            </a:pPr>
            <a:r>
              <a:rPr lang="en-US" sz="1200" b="1" dirty="0" smtClean="0">
                <a:latin typeface="Times New Roman" pitchFamily="18" charset="0"/>
                <a:cs typeface="Times New Roman" pitchFamily="18" charset="0"/>
              </a:rPr>
              <a:t>            } catch (Exception e) {</a:t>
            </a:r>
          </a:p>
          <a:p>
            <a:pPr>
              <a:buNone/>
            </a:pP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e.printStackTrace</a:t>
            </a:r>
            <a:r>
              <a:rPr lang="en-US" sz="1200" b="1" dirty="0" smtClean="0">
                <a:latin typeface="Times New Roman" pitchFamily="18" charset="0"/>
                <a:cs typeface="Times New Roman" pitchFamily="18" charset="0"/>
              </a:rPr>
              <a:t>();</a:t>
            </a:r>
          </a:p>
          <a:p>
            <a:pPr>
              <a:buNone/>
            </a:pPr>
            <a:r>
              <a:rPr lang="en-US" sz="1200" b="1" dirty="0" smtClean="0">
                <a:latin typeface="Times New Roman" pitchFamily="18" charset="0"/>
                <a:cs typeface="Times New Roman" pitchFamily="18" charset="0"/>
              </a:rPr>
              <a:t>            }</a:t>
            </a:r>
          </a:p>
          <a:p>
            <a:pPr>
              <a:buNone/>
            </a:pPr>
            <a:r>
              <a:rPr lang="en-US" sz="1200" b="1" dirty="0" smtClean="0">
                <a:latin typeface="Times New Roman" pitchFamily="18" charset="0"/>
                <a:cs typeface="Times New Roman" pitchFamily="18" charset="0"/>
              </a:rPr>
              <a:t>        }</a:t>
            </a:r>
          </a:p>
          <a:p>
            <a:pPr>
              <a:buNone/>
            </a:pP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progressDialog.dismiss</a:t>
            </a:r>
            <a:r>
              <a:rPr lang="en-US" sz="1200" b="1" dirty="0" smtClean="0">
                <a:latin typeface="Times New Roman" pitchFamily="18" charset="0"/>
                <a:cs typeface="Times New Roman" pitchFamily="18" charset="0"/>
              </a:rPr>
              <a:t>();</a:t>
            </a:r>
          </a:p>
          <a:p>
            <a:pPr>
              <a:buNone/>
            </a:pPr>
            <a:r>
              <a:rPr lang="en-US" sz="1200" b="1" dirty="0" smtClean="0">
                <a:latin typeface="Times New Roman" pitchFamily="18" charset="0"/>
                <a:cs typeface="Times New Roman" pitchFamily="18" charset="0"/>
              </a:rPr>
              <a:t>    }</a:t>
            </a:r>
          </a:p>
          <a:p>
            <a:pPr>
              <a:buNone/>
            </a:pPr>
            <a:r>
              <a:rPr lang="en-US" sz="1200" b="1" dirty="0" smtClean="0">
                <a:latin typeface="Times New Roman" pitchFamily="18" charset="0"/>
                <a:cs typeface="Times New Roman" pitchFamily="18" charset="0"/>
              </a:rPr>
              <a:t>})</a:t>
            </a:r>
          </a:p>
          <a:p>
            <a:pPr>
              <a:buNone/>
            </a:pP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progressDialog.start</a:t>
            </a:r>
            <a:r>
              <a:rPr lang="en-US" sz="1200" b="1" dirty="0" smtClean="0">
                <a:latin typeface="Times New Roman" pitchFamily="18" charset="0"/>
                <a:cs typeface="Times New Roman" pitchFamily="18" charset="0"/>
              </a:rPr>
              <a:t>();</a:t>
            </a:r>
            <a:endParaRPr lang="en-US" sz="12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86710B-8B57-4CB8-700E-50078D168C2D}"/>
              </a:ext>
            </a:extLst>
          </p:cNvPr>
          <p:cNvSpPr>
            <a:spLocks noGrp="1"/>
          </p:cNvSpPr>
          <p:nvPr>
            <p:ph type="title"/>
          </p:nvPr>
        </p:nvSpPr>
        <p:spPr/>
        <p:txBody>
          <a:bodyPr/>
          <a:lstStyle/>
          <a:p>
            <a:r>
              <a:rPr lang="en-US" b="1" dirty="0" err="1"/>
              <a:t>TimePicker</a:t>
            </a:r>
            <a:r>
              <a:rPr lang="en-US" b="1" dirty="0"/>
              <a:t> and </a:t>
            </a:r>
            <a:r>
              <a:rPr lang="en-US" b="1" dirty="0" err="1"/>
              <a:t>DatePicker</a:t>
            </a:r>
            <a:r>
              <a:rPr lang="en-US" b="1" dirty="0"/>
              <a:t> View</a:t>
            </a:r>
            <a:br>
              <a:rPr lang="en-US" b="1" dirty="0"/>
            </a:br>
            <a:endParaRPr lang="en-IN" dirty="0"/>
          </a:p>
        </p:txBody>
      </p:sp>
      <p:sp>
        <p:nvSpPr>
          <p:cNvPr id="3" name="Content Placeholder 2">
            <a:extLst>
              <a:ext uri="{FF2B5EF4-FFF2-40B4-BE49-F238E27FC236}">
                <a16:creationId xmlns="" xmlns:a16="http://schemas.microsoft.com/office/drawing/2014/main" id="{C84F3993-0F7F-5142-1C7D-E7BFA43F81B8}"/>
              </a:ext>
            </a:extLst>
          </p:cNvPr>
          <p:cNvSpPr>
            <a:spLocks noGrp="1"/>
          </p:cNvSpPr>
          <p:nvPr>
            <p:ph idx="1"/>
          </p:nvPr>
        </p:nvSpPr>
        <p:spPr/>
        <p:txBody>
          <a:bodyPr>
            <a:normAutofit lnSpcReduction="10000"/>
          </a:bodyPr>
          <a:lstStyle/>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Time Picker</a:t>
            </a:r>
            <a:r>
              <a:rPr lang="en-US" sz="1800" dirty="0">
                <a:latin typeface="Times New Roman" panose="02020603050405020304" pitchFamily="18" charset="0"/>
                <a:cs typeface="Times New Roman" panose="02020603050405020304" pitchFamily="18" charset="0"/>
              </a:rPr>
              <a:t>:</a:t>
            </a:r>
          </a:p>
          <a:p>
            <a:pPr marL="0" indent="0" algn="just">
              <a:buNone/>
            </a:pPr>
            <a:endParaRPr lang="en-US" sz="1800"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 UI element that allows the user to select a </a:t>
            </a:r>
            <a:r>
              <a:rPr lang="en-US" sz="1800" b="1" dirty="0">
                <a:latin typeface="Times New Roman" panose="02020603050405020304" pitchFamily="18" charset="0"/>
                <a:cs typeface="Times New Roman" panose="02020603050405020304" pitchFamily="18" charset="0"/>
              </a:rPr>
              <a:t>time</a:t>
            </a:r>
            <a:r>
              <a:rPr lang="en-US" sz="1800" dirty="0">
                <a:latin typeface="Times New Roman" panose="02020603050405020304" pitchFamily="18" charset="0"/>
                <a:cs typeface="Times New Roman" panose="02020603050405020304" pitchFamily="18" charset="0"/>
              </a:rPr>
              <a:t> (hours and minutes).</a:t>
            </a:r>
          </a:p>
          <a:p>
            <a:pPr marL="742950" lvl="1"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Can display time in either a </a:t>
            </a:r>
            <a:r>
              <a:rPr lang="en-US" sz="1800" b="1" dirty="0">
                <a:latin typeface="Times New Roman" panose="02020603050405020304" pitchFamily="18" charset="0"/>
                <a:cs typeface="Times New Roman" panose="02020603050405020304" pitchFamily="18" charset="0"/>
              </a:rPr>
              <a:t>12-hour</a:t>
            </a:r>
            <a:r>
              <a:rPr lang="en-US" sz="1800" dirty="0">
                <a:latin typeface="Times New Roman" panose="02020603050405020304" pitchFamily="18" charset="0"/>
                <a:cs typeface="Times New Roman" panose="02020603050405020304" pitchFamily="18" charset="0"/>
              </a:rPr>
              <a:t> or </a:t>
            </a:r>
            <a:r>
              <a:rPr lang="en-US" sz="1800" b="1" dirty="0">
                <a:latin typeface="Times New Roman" panose="02020603050405020304" pitchFamily="18" charset="0"/>
                <a:cs typeface="Times New Roman" panose="02020603050405020304" pitchFamily="18" charset="0"/>
              </a:rPr>
              <a:t>24-hour</a:t>
            </a:r>
            <a:r>
              <a:rPr lang="en-US" sz="1800" dirty="0">
                <a:latin typeface="Times New Roman" panose="02020603050405020304" pitchFamily="18" charset="0"/>
                <a:cs typeface="Times New Roman" panose="02020603050405020304" pitchFamily="18" charset="0"/>
              </a:rPr>
              <a:t> format.</a:t>
            </a:r>
          </a:p>
          <a:p>
            <a:pPr marL="742950" lvl="1"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It has two modes: </a:t>
            </a:r>
            <a:r>
              <a:rPr lang="en-US" sz="1800" b="1" dirty="0">
                <a:latin typeface="Times New Roman" panose="02020603050405020304" pitchFamily="18" charset="0"/>
                <a:cs typeface="Times New Roman" panose="02020603050405020304" pitchFamily="18" charset="0"/>
              </a:rPr>
              <a:t>Spinner mode</a:t>
            </a:r>
            <a:r>
              <a:rPr lang="en-US" sz="1800" dirty="0">
                <a:latin typeface="Times New Roman" panose="02020603050405020304" pitchFamily="18" charset="0"/>
                <a:cs typeface="Times New Roman" panose="02020603050405020304" pitchFamily="18" charset="0"/>
              </a:rPr>
              <a:t> (where users scroll to select values) and </a:t>
            </a:r>
            <a:r>
              <a:rPr lang="en-US" sz="1800" b="1" dirty="0">
                <a:latin typeface="Times New Roman" panose="02020603050405020304" pitchFamily="18" charset="0"/>
                <a:cs typeface="Times New Roman" panose="02020603050405020304" pitchFamily="18" charset="0"/>
              </a:rPr>
              <a:t>Clock mode</a:t>
            </a:r>
            <a:r>
              <a:rPr lang="en-US" sz="1800" dirty="0">
                <a:latin typeface="Times New Roman" panose="02020603050405020304" pitchFamily="18" charset="0"/>
                <a:cs typeface="Times New Roman" panose="02020603050405020304" pitchFamily="18" charset="0"/>
              </a:rPr>
              <a:t> (where users select time using a visual clock interface).</a:t>
            </a:r>
          </a:p>
          <a:p>
            <a:pPr marL="742950" lvl="1"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Commonly used in apps for alarm or event scheduling.</a:t>
            </a:r>
          </a:p>
          <a:p>
            <a:pPr marL="457200" lvl="1" indent="0" algn="just">
              <a:buNone/>
            </a:pPr>
            <a:endParaRPr lang="en-US" sz="1800" dirty="0">
              <a:latin typeface="Times New Roman" panose="02020603050405020304" pitchFamily="18" charset="0"/>
              <a:cs typeface="Times New Roman" panose="02020603050405020304" pitchFamily="18" charset="0"/>
            </a:endParaRPr>
          </a:p>
          <a:p>
            <a:pPr algn="just"/>
            <a:r>
              <a:rPr lang="en-US" sz="1800" b="1" dirty="0">
                <a:latin typeface="Times New Roman" panose="02020603050405020304" pitchFamily="18" charset="0"/>
                <a:cs typeface="Times New Roman" panose="02020603050405020304" pitchFamily="18" charset="0"/>
              </a:rPr>
              <a:t>Date Picker</a:t>
            </a:r>
            <a:r>
              <a:rPr lang="en-US" sz="1800" dirty="0">
                <a:latin typeface="Times New Roman" panose="02020603050405020304" pitchFamily="18" charset="0"/>
                <a:cs typeface="Times New Roman" panose="02020603050405020304" pitchFamily="18" charset="0"/>
              </a:rPr>
              <a:t>:</a:t>
            </a:r>
          </a:p>
          <a:p>
            <a:pPr marL="0" indent="0" algn="just">
              <a:buNone/>
            </a:pPr>
            <a:endParaRPr lang="en-US" sz="1800" dirty="0">
              <a:latin typeface="Times New Roman" panose="02020603050405020304" pitchFamily="18" charset="0"/>
              <a:cs typeface="Times New Roman" panose="02020603050405020304" pitchFamily="18" charset="0"/>
            </a:endParaRPr>
          </a:p>
          <a:p>
            <a:pPr lvl="1" algn="just"/>
            <a:r>
              <a:rPr lang="en-US" sz="1800" dirty="0">
                <a:latin typeface="Times New Roman" panose="02020603050405020304" pitchFamily="18" charset="0"/>
                <a:cs typeface="Times New Roman" panose="02020603050405020304" pitchFamily="18" charset="0"/>
              </a:rPr>
              <a:t>A UI element that allows the user to select a </a:t>
            </a:r>
            <a:r>
              <a:rPr lang="en-US" sz="1800" b="1" dirty="0">
                <a:latin typeface="Times New Roman" panose="02020603050405020304" pitchFamily="18" charset="0"/>
                <a:cs typeface="Times New Roman" panose="02020603050405020304" pitchFamily="18" charset="0"/>
              </a:rPr>
              <a:t>date</a:t>
            </a:r>
            <a:r>
              <a:rPr lang="en-US" sz="1800" dirty="0">
                <a:latin typeface="Times New Roman" panose="02020603050405020304" pitchFamily="18" charset="0"/>
                <a:cs typeface="Times New Roman" panose="02020603050405020304" pitchFamily="18" charset="0"/>
              </a:rPr>
              <a:t> (day, month, and year).</a:t>
            </a:r>
          </a:p>
          <a:p>
            <a:pPr lvl="1" algn="just"/>
            <a:r>
              <a:rPr lang="en-US" sz="1800" dirty="0">
                <a:latin typeface="Times New Roman" panose="02020603050405020304" pitchFamily="18" charset="0"/>
                <a:cs typeface="Times New Roman" panose="02020603050405020304" pitchFamily="18" charset="0"/>
              </a:rPr>
              <a:t>Provides a calendar-like interface where users can scroll through months and years.</a:t>
            </a:r>
          </a:p>
          <a:p>
            <a:pPr lvl="1" algn="just"/>
            <a:r>
              <a:rPr lang="en-US" sz="1800" dirty="0">
                <a:latin typeface="Times New Roman" panose="02020603050405020304" pitchFamily="18" charset="0"/>
                <a:cs typeface="Times New Roman" panose="02020603050405020304" pitchFamily="18" charset="0"/>
              </a:rPr>
              <a:t>Can be used either in </a:t>
            </a:r>
            <a:r>
              <a:rPr lang="en-US" sz="1800" b="1" dirty="0">
                <a:latin typeface="Times New Roman" panose="02020603050405020304" pitchFamily="18" charset="0"/>
                <a:cs typeface="Times New Roman" panose="02020603050405020304" pitchFamily="18" charset="0"/>
              </a:rPr>
              <a:t>spinner mode</a:t>
            </a:r>
            <a:r>
              <a:rPr lang="en-US" sz="1800" dirty="0">
                <a:latin typeface="Times New Roman" panose="02020603050405020304" pitchFamily="18" charset="0"/>
                <a:cs typeface="Times New Roman" panose="02020603050405020304" pitchFamily="18" charset="0"/>
              </a:rPr>
              <a:t> or as a </a:t>
            </a:r>
            <a:r>
              <a:rPr lang="en-US" sz="1800" b="1" dirty="0">
                <a:latin typeface="Times New Roman" panose="02020603050405020304" pitchFamily="18" charset="0"/>
                <a:cs typeface="Times New Roman" panose="02020603050405020304" pitchFamily="18" charset="0"/>
              </a:rPr>
              <a:t>calendar view</a:t>
            </a:r>
            <a:r>
              <a:rPr lang="en-US" sz="1800" dirty="0">
                <a:latin typeface="Times New Roman" panose="02020603050405020304" pitchFamily="18" charset="0"/>
                <a:cs typeface="Times New Roman" panose="02020603050405020304" pitchFamily="18" charset="0"/>
              </a:rPr>
              <a:t>.</a:t>
            </a:r>
          </a:p>
          <a:p>
            <a:pPr lvl="1" algn="just"/>
            <a:r>
              <a:rPr lang="en-US" sz="1800" dirty="0">
                <a:latin typeface="Times New Roman" panose="02020603050405020304" pitchFamily="18" charset="0"/>
                <a:cs typeface="Times New Roman" panose="02020603050405020304" pitchFamily="18" charset="0"/>
              </a:rPr>
              <a:t>Useful for selecting birthdates, scheduling events, or setting deadlines.</a:t>
            </a:r>
          </a:p>
          <a:p>
            <a:endParaRPr lang="en-IN" dirty="0"/>
          </a:p>
        </p:txBody>
      </p:sp>
    </p:spTree>
    <p:extLst>
      <p:ext uri="{BB962C8B-B14F-4D97-AF65-F5344CB8AC3E}">
        <p14:creationId xmlns="" xmlns:p14="http://schemas.microsoft.com/office/powerpoint/2010/main" val="9873727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425E9B-756D-47B4-0E59-A58A85989160}"/>
              </a:ext>
            </a:extLst>
          </p:cNvPr>
          <p:cNvSpPr>
            <a:spLocks noGrp="1"/>
          </p:cNvSpPr>
          <p:nvPr>
            <p:ph type="title"/>
          </p:nvPr>
        </p:nvSpPr>
        <p:spPr/>
        <p:txBody>
          <a:bodyPr/>
          <a:lstStyle/>
          <a:p>
            <a:r>
              <a:rPr kumimoji="0" lang="en-US" altLang="en-US" sz="4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Adapter</a:t>
            </a:r>
            <a:r>
              <a:rPr kumimoji="0" lang="en-US" altLang="en-US" sz="4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4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AdapterView</a:t>
            </a:r>
            <a:endParaRPr lang="en-IN" dirty="0"/>
          </a:p>
        </p:txBody>
      </p:sp>
      <p:sp>
        <p:nvSpPr>
          <p:cNvPr id="4" name="Rectangle 1">
            <a:extLst>
              <a:ext uri="{FF2B5EF4-FFF2-40B4-BE49-F238E27FC236}">
                <a16:creationId xmlns="" xmlns:a16="http://schemas.microsoft.com/office/drawing/2014/main" id="{7945C6B0-62AF-1003-73E7-D6589A1143D7}"/>
              </a:ext>
            </a:extLst>
          </p:cNvPr>
          <p:cNvSpPr>
            <a:spLocks noGrp="1" noChangeArrowheads="1"/>
          </p:cNvSpPr>
          <p:nvPr>
            <p:ph idx="1"/>
          </p:nvPr>
        </p:nvSpPr>
        <p:spPr bwMode="auto">
          <a:xfrm>
            <a:off x="578070" y="1874267"/>
            <a:ext cx="11114690" cy="440120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Android development,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AdapterView</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key components in building UI elements that display dynamic data, such as lists or grids. </a:t>
            </a:r>
          </a:p>
          <a:p>
            <a:pPr algn="just"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Adapters act as intermediaries between the data source and the UI components.</a:t>
            </a:r>
            <a:endParaRPr lang="en-US" altLang="en-US" sz="2000" dirty="0">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work together to display data from a data source (like an array or database) and present it to the user in various UI elements such as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ListView</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GridView, or Spinner.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 xmlns:a16="http://schemas.microsoft.com/office/drawing/2014/main" id="{3922E808-839B-1E94-0A20-6347330A4DD7}"/>
              </a:ext>
            </a:extLst>
          </p:cNvPr>
          <p:cNvSpPr>
            <a:spLocks noChangeArrowheads="1"/>
          </p:cNvSpPr>
          <p:nvPr/>
        </p:nvSpPr>
        <p:spPr bwMode="auto">
          <a:xfrm>
            <a:off x="659523" y="3797871"/>
            <a:ext cx="10791497" cy="20313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Relationship Between Adapter and AdapterView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Adapter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Supplies data to the AdapterView. It acts as a bridge between the data source and the UI.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AdapterView</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Displays the data provided by the Adapter. It requests views from the Adapter and renders them on the screen.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2464603736"/>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E42C05-7765-BB37-C6CF-9FC72952799A}"/>
              </a:ext>
            </a:extLst>
          </p:cNvPr>
          <p:cNvSpPr>
            <a:spLocks noGrp="1"/>
          </p:cNvSpPr>
          <p:nvPr>
            <p:ph type="title"/>
          </p:nvPr>
        </p:nvSpPr>
        <p:spPr/>
        <p:txBody>
          <a:bodyPr/>
          <a:lstStyle/>
          <a:p>
            <a:r>
              <a:rPr kumimoji="0" lang="en-US" altLang="en-US" sz="4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Adapter</a:t>
            </a:r>
            <a:br>
              <a:rPr kumimoji="0" lang="en-US" altLang="en-US" sz="4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lang="en-IN" dirty="0"/>
          </a:p>
        </p:txBody>
      </p:sp>
      <p:sp>
        <p:nvSpPr>
          <p:cNvPr id="4" name="Rectangle 1">
            <a:extLst>
              <a:ext uri="{FF2B5EF4-FFF2-40B4-BE49-F238E27FC236}">
                <a16:creationId xmlns="" xmlns:a16="http://schemas.microsoft.com/office/drawing/2014/main" id="{FDB533AF-08FD-0671-60F6-5B5706174E9B}"/>
              </a:ext>
            </a:extLst>
          </p:cNvPr>
          <p:cNvSpPr>
            <a:spLocks noGrp="1" noChangeArrowheads="1"/>
          </p:cNvSpPr>
          <p:nvPr>
            <p:ph idx="1"/>
          </p:nvPr>
        </p:nvSpPr>
        <p:spPr bwMode="auto">
          <a:xfrm>
            <a:off x="788276" y="998193"/>
            <a:ext cx="10884968" cy="585801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Android acts as a bridge between the data source (such as arrays, databases, or content providers) and the UI components (like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ListView</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GridView).</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adapter retrieves data from the source and inflates each item into a view that is displayed in the UI.</a:t>
            </a:r>
          </a:p>
          <a:p>
            <a:pPr eaLnBrk="0" fontAlgn="base" hangingPunct="0">
              <a:lnSpc>
                <a:spcPct val="150000"/>
              </a:lnSpc>
              <a:spcBef>
                <a:spcPct val="0"/>
              </a:spcBef>
              <a:spcAft>
                <a:spcPct val="0"/>
              </a:spcAf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 Adapter Types: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ArrayAdapter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Binds arrays or lists of data to views like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ListView</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Spinner.</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CursorAdapter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Binds data from a Cursor (often from a SQLite database) to views.</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BaseAdapter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base class that can be extended to create custom adapters.</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RecyclerView.Adapter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Specifically used with Recycler View, providing better performance for large datasets.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224870818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5D5572-DF44-88F8-E720-1699D832E2D4}"/>
              </a:ext>
            </a:extLst>
          </p:cNvPr>
          <p:cNvSpPr>
            <a:spLocks noGrp="1"/>
          </p:cNvSpPr>
          <p:nvPr>
            <p:ph type="title"/>
          </p:nvPr>
        </p:nvSpPr>
        <p:spPr/>
        <p:txBody>
          <a:bodyPr/>
          <a:lstStyle/>
          <a:p>
            <a:r>
              <a:rPr lang="en-US" b="1" dirty="0"/>
              <a:t>Key Methods in Adapter:</a:t>
            </a:r>
            <a:br>
              <a:rPr lang="en-US" b="1" dirty="0"/>
            </a:br>
            <a:endParaRPr lang="en-IN" dirty="0"/>
          </a:p>
        </p:txBody>
      </p:sp>
      <p:sp>
        <p:nvSpPr>
          <p:cNvPr id="3" name="Content Placeholder 2">
            <a:extLst>
              <a:ext uri="{FF2B5EF4-FFF2-40B4-BE49-F238E27FC236}">
                <a16:creationId xmlns="" xmlns:a16="http://schemas.microsoft.com/office/drawing/2014/main" id="{8E3B3B4B-FDB6-2D92-9512-30FE45FFA861}"/>
              </a:ext>
            </a:extLst>
          </p:cNvPr>
          <p:cNvSpPr>
            <a:spLocks noGrp="1"/>
          </p:cNvSpPr>
          <p:nvPr>
            <p:ph idx="1"/>
          </p:nvPr>
        </p:nvSpPr>
        <p:spPr/>
        <p:txBody>
          <a:bodyPr>
            <a:normAutofit/>
          </a:bodyPr>
          <a:lstStyle/>
          <a:p>
            <a:pPr>
              <a:buFont typeface="Arial" panose="020B0604020202020204" pitchFamily="34" charset="0"/>
              <a:buChar char="•"/>
            </a:pPr>
            <a:r>
              <a:rPr lang="en-US" sz="1600" b="1" dirty="0" err="1">
                <a:latin typeface="Times New Roman" panose="02020603050405020304" pitchFamily="18" charset="0"/>
                <a:cs typeface="Times New Roman" panose="02020603050405020304" pitchFamily="18" charset="0"/>
              </a:rPr>
              <a:t>getView</a:t>
            </a:r>
            <a:r>
              <a:rPr lang="en-US"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Returns the view for each item at a specific position in the dataset.</a:t>
            </a:r>
          </a:p>
          <a:p>
            <a:pPr>
              <a:buFont typeface="Arial" panose="020B0604020202020204" pitchFamily="34" charset="0"/>
              <a:buChar char="•"/>
            </a:pPr>
            <a:r>
              <a:rPr lang="en-US" sz="1600" b="1" dirty="0" err="1">
                <a:latin typeface="Times New Roman" panose="02020603050405020304" pitchFamily="18" charset="0"/>
                <a:cs typeface="Times New Roman" panose="02020603050405020304" pitchFamily="18" charset="0"/>
              </a:rPr>
              <a:t>getCount</a:t>
            </a:r>
            <a:r>
              <a:rPr lang="en-US"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Returns the number of items in the dataset.</a:t>
            </a:r>
          </a:p>
          <a:p>
            <a:pPr>
              <a:buFont typeface="Arial" panose="020B0604020202020204" pitchFamily="34" charset="0"/>
              <a:buChar char="•"/>
            </a:pPr>
            <a:r>
              <a:rPr lang="en-US" sz="1600" b="1" dirty="0" err="1">
                <a:latin typeface="Times New Roman" panose="02020603050405020304" pitchFamily="18" charset="0"/>
                <a:cs typeface="Times New Roman" panose="02020603050405020304" pitchFamily="18" charset="0"/>
              </a:rPr>
              <a:t>getItem</a:t>
            </a:r>
            <a:r>
              <a:rPr lang="en-US"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Retrieves the data at a specific position.</a:t>
            </a:r>
          </a:p>
          <a:p>
            <a:pPr>
              <a:buFont typeface="Arial" panose="020B0604020202020204" pitchFamily="34" charset="0"/>
              <a:buChar char="•"/>
            </a:pPr>
            <a:r>
              <a:rPr lang="en-US" sz="1600" b="1" dirty="0" err="1">
                <a:latin typeface="Times New Roman" panose="02020603050405020304" pitchFamily="18" charset="0"/>
                <a:cs typeface="Times New Roman" panose="02020603050405020304" pitchFamily="18" charset="0"/>
              </a:rPr>
              <a:t>getItemId</a:t>
            </a:r>
            <a:r>
              <a:rPr lang="en-US"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Returns the unique ID of a specific item.</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Example:</a:t>
            </a:r>
          </a:p>
          <a:p>
            <a:pPr marL="0" indent="0">
              <a:buNone/>
            </a:pPr>
            <a:r>
              <a:rPr lang="en-US" sz="1600" dirty="0" err="1">
                <a:latin typeface="Times New Roman" panose="02020603050405020304" pitchFamily="18" charset="0"/>
                <a:cs typeface="Times New Roman" panose="02020603050405020304" pitchFamily="18" charset="0"/>
              </a:rPr>
              <a:t>ArrayAdapter</a:t>
            </a:r>
            <a:r>
              <a:rPr lang="en-US" sz="1600" dirty="0">
                <a:latin typeface="Times New Roman" panose="02020603050405020304" pitchFamily="18" charset="0"/>
                <a:cs typeface="Times New Roman" panose="02020603050405020304" pitchFamily="18" charset="0"/>
              </a:rPr>
              <a:t>&lt;String&gt; adapter = new </a:t>
            </a:r>
            <a:r>
              <a:rPr lang="en-US" sz="1600" dirty="0" err="1">
                <a:latin typeface="Times New Roman" panose="02020603050405020304" pitchFamily="18" charset="0"/>
                <a:cs typeface="Times New Roman" panose="02020603050405020304" pitchFamily="18" charset="0"/>
              </a:rPr>
              <a:t>ArrayAdapter</a:t>
            </a:r>
            <a:r>
              <a:rPr lang="en-US" sz="1600" dirty="0">
                <a:latin typeface="Times New Roman" panose="02020603050405020304" pitchFamily="18" charset="0"/>
                <a:cs typeface="Times New Roman" panose="02020603050405020304" pitchFamily="18" charset="0"/>
              </a:rPr>
              <a:t>&lt;&gt;(this,  android.R.layout.simple_list_item_1,  new String[] {"Apple", "Banana", "Cherry"});</a:t>
            </a:r>
          </a:p>
          <a:p>
            <a:pPr marL="0" indent="0">
              <a:buNone/>
            </a:pPr>
            <a:r>
              <a:rPr lang="en-US" sz="1600" dirty="0" err="1">
                <a:latin typeface="Times New Roman" panose="02020603050405020304" pitchFamily="18" charset="0"/>
                <a:cs typeface="Times New Roman" panose="02020603050405020304" pitchFamily="18" charset="0"/>
              </a:rPr>
              <a:t>ListView</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listView</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findViewById</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R.id.listView</a:t>
            </a:r>
            <a:r>
              <a:rPr lang="en-US" sz="1600" dirty="0">
                <a:latin typeface="Times New Roman" panose="02020603050405020304" pitchFamily="18" charset="0"/>
                <a:cs typeface="Times New Roman" panose="02020603050405020304" pitchFamily="18" charset="0"/>
              </a:rPr>
              <a:t>);</a:t>
            </a:r>
          </a:p>
          <a:p>
            <a:pPr marL="0" indent="0">
              <a:buNone/>
            </a:pPr>
            <a:r>
              <a:rPr lang="en-US" sz="1600" dirty="0" err="1">
                <a:latin typeface="Times New Roman" panose="02020603050405020304" pitchFamily="18" charset="0"/>
                <a:cs typeface="Times New Roman" panose="02020603050405020304" pitchFamily="18" charset="0"/>
              </a:rPr>
              <a:t>listView.setAdapter</a:t>
            </a:r>
            <a:r>
              <a:rPr lang="en-US" sz="1600" dirty="0">
                <a:latin typeface="Times New Roman" panose="02020603050405020304" pitchFamily="18" charset="0"/>
                <a:cs typeface="Times New Roman" panose="02020603050405020304" pitchFamily="18" charset="0"/>
              </a:rPr>
              <a:t>(adapter);</a:t>
            </a:r>
          </a:p>
          <a:p>
            <a:pPr marL="0" indent="0">
              <a:buNone/>
            </a:pPr>
            <a:r>
              <a:rPr lang="en-US" sz="1600" dirty="0">
                <a:latin typeface="Times New Roman" panose="02020603050405020304" pitchFamily="18" charset="0"/>
                <a:cs typeface="Times New Roman" panose="02020603050405020304" pitchFamily="18" charset="0"/>
              </a:rPr>
              <a:t>The Array Adapter Bind the array string to a list view.</a:t>
            </a:r>
          </a:p>
          <a:p>
            <a:pPr>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 xmlns:p14="http://schemas.microsoft.com/office/powerpoint/2010/main" val="169433714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71FAA1B-905E-309E-BA89-A1BCBE3D311E}"/>
              </a:ext>
            </a:extLst>
          </p:cNvPr>
          <p:cNvSpPr>
            <a:spLocks noGrp="1"/>
          </p:cNvSpPr>
          <p:nvPr>
            <p:ph type="title"/>
          </p:nvPr>
        </p:nvSpPr>
        <p:spPr/>
        <p:txBody>
          <a:bodyPr/>
          <a:lstStyle/>
          <a:p>
            <a:r>
              <a:rPr kumimoji="0" lang="en-US" altLang="en-US" sz="4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AdapterView</a:t>
            </a:r>
            <a:br>
              <a:rPr kumimoji="0" lang="en-US" altLang="en-US" sz="4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lang="en-IN" dirty="0"/>
          </a:p>
        </p:txBody>
      </p:sp>
      <p:sp>
        <p:nvSpPr>
          <p:cNvPr id="4" name="Rectangle 1">
            <a:extLst>
              <a:ext uri="{FF2B5EF4-FFF2-40B4-BE49-F238E27FC236}">
                <a16:creationId xmlns="" xmlns:a16="http://schemas.microsoft.com/office/drawing/2014/main" id="{D07D2634-EB4E-D6E6-53A4-A212825CB936}"/>
              </a:ext>
            </a:extLst>
          </p:cNvPr>
          <p:cNvSpPr>
            <a:spLocks noGrp="1" noChangeArrowheads="1"/>
          </p:cNvSpPr>
          <p:nvPr>
            <p:ph idx="1"/>
          </p:nvPr>
        </p:nvSpPr>
        <p:spPr bwMode="auto">
          <a:xfrm>
            <a:off x="1219199" y="1758993"/>
            <a:ext cx="9953297" cy="230832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AdapterView</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UI component that depends on an adapter to display multiple items.</a:t>
            </a:r>
          </a:p>
          <a:p>
            <a:pPr algn="just"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is an abstract class that provides the base class for views like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ListView</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GridView, Spinner, and RecyclerView. </a:t>
            </a:r>
          </a:p>
          <a:p>
            <a:pPr algn="just"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views do not hold the data themselves; instead, they rely on an adapter to supply and manage the data.</a:t>
            </a:r>
          </a:p>
        </p:txBody>
      </p:sp>
    </p:spTree>
    <p:extLst>
      <p:ext uri="{BB962C8B-B14F-4D97-AF65-F5344CB8AC3E}">
        <p14:creationId xmlns="" xmlns:p14="http://schemas.microsoft.com/office/powerpoint/2010/main" val="304832913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920293-BC73-2412-EBEB-40F760F3FB2E}"/>
              </a:ext>
            </a:extLst>
          </p:cNvPr>
          <p:cNvSpPr>
            <a:spLocks noGrp="1"/>
          </p:cNvSpPr>
          <p:nvPr>
            <p:ph type="title"/>
          </p:nvPr>
        </p:nvSpPr>
        <p:spPr/>
        <p:txBody>
          <a:bodyPr/>
          <a:lstStyle/>
          <a:p>
            <a:r>
              <a:rPr lang="en-IN" dirty="0"/>
              <a:t>Common Types of </a:t>
            </a:r>
            <a:r>
              <a:rPr lang="en-IN" dirty="0" err="1"/>
              <a:t>AdapterViews</a:t>
            </a:r>
            <a:r>
              <a:rPr lang="en-IN" dirty="0"/>
              <a:t>:</a:t>
            </a:r>
          </a:p>
        </p:txBody>
      </p:sp>
      <p:sp>
        <p:nvSpPr>
          <p:cNvPr id="4" name="Rectangle 1">
            <a:extLst>
              <a:ext uri="{FF2B5EF4-FFF2-40B4-BE49-F238E27FC236}">
                <a16:creationId xmlns="" xmlns:a16="http://schemas.microsoft.com/office/drawing/2014/main" id="{F6553C7F-A38B-ACB1-F253-3A3D72735923}"/>
              </a:ext>
            </a:extLst>
          </p:cNvPr>
          <p:cNvSpPr>
            <a:spLocks noGrp="1" noChangeArrowheads="1"/>
          </p:cNvSpPr>
          <p:nvPr>
            <p:ph idx="1"/>
          </p:nvPr>
        </p:nvSpPr>
        <p:spPr bwMode="auto">
          <a:xfrm>
            <a:off x="838200" y="1690688"/>
            <a:ext cx="10126716" cy="45858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ListView</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Displays a vertically scrollable list of items.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GridView</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Displays items in a grid format.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Spinner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Displays a dropdown menu where the user can select an item.</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RecyclerView</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More advanced and flexible version of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ListView</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better performance, used to display large datasets.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lang="en-IN" sz="1600" b="1" dirty="0">
                <a:latin typeface="Times New Roman" panose="02020603050405020304" pitchFamily="18" charset="0"/>
                <a:cs typeface="Times New Roman" panose="02020603050405020304" pitchFamily="18" charset="0"/>
              </a:rPr>
              <a:t>Key Methods in </a:t>
            </a:r>
            <a:r>
              <a:rPr lang="en-IN" sz="1600" b="1" dirty="0" err="1">
                <a:latin typeface="Times New Roman" panose="02020603050405020304" pitchFamily="18" charset="0"/>
                <a:cs typeface="Times New Roman" panose="02020603050405020304" pitchFamily="18" charset="0"/>
              </a:rPr>
              <a:t>AdapterView</a:t>
            </a:r>
            <a:r>
              <a:rPr lang="en-IN" sz="1600" b="1"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lang="en-IN" sz="1600" b="1" dirty="0" err="1">
                <a:latin typeface="Times New Roman" panose="02020603050405020304" pitchFamily="18" charset="0"/>
                <a:cs typeface="Times New Roman" panose="02020603050405020304" pitchFamily="18" charset="0"/>
              </a:rPr>
              <a:t>setAdapter</a:t>
            </a:r>
            <a:r>
              <a:rPr lang="en-IN"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Connects an adapter to the AdapterView( ex. </a:t>
            </a:r>
            <a:r>
              <a:rPr lang="en-US" sz="1600" dirty="0" err="1">
                <a:latin typeface="Times New Roman" panose="02020603050405020304" pitchFamily="18" charset="0"/>
                <a:cs typeface="Times New Roman" panose="02020603050405020304" pitchFamily="18" charset="0"/>
              </a:rPr>
              <a:t>ListView</a:t>
            </a:r>
            <a:r>
              <a:rPr lang="en-US" sz="1600" dirty="0">
                <a:latin typeface="Times New Roman" panose="02020603050405020304" pitchFamily="18" charset="0"/>
                <a:cs typeface="Times New Roman" panose="02020603050405020304" pitchFamily="18" charset="0"/>
              </a:rPr>
              <a:t>, GridView).</a:t>
            </a:r>
          </a:p>
          <a:p>
            <a:pPr marL="0" marR="0" lvl="0" indent="0" algn="l" defTabSz="914400" rtl="0" eaLnBrk="0" fontAlgn="base" latinLnBrk="0" hangingPunct="0">
              <a:lnSpc>
                <a:spcPct val="100000"/>
              </a:lnSpc>
              <a:spcBef>
                <a:spcPct val="0"/>
              </a:spcBef>
              <a:spcAft>
                <a:spcPct val="0"/>
              </a:spcAft>
              <a:buClrTx/>
              <a:buSzTx/>
              <a:buNone/>
              <a:tabLst/>
            </a:pPr>
            <a:endParaRPr lang="en-US" sz="16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lang="en-IN" sz="1600" b="1" dirty="0" err="1">
                <a:latin typeface="Times New Roman" panose="02020603050405020304" pitchFamily="18" charset="0"/>
                <a:cs typeface="Times New Roman" panose="02020603050405020304" pitchFamily="18" charset="0"/>
              </a:rPr>
              <a:t>getAdapter</a:t>
            </a:r>
            <a:r>
              <a:rPr lang="en-IN"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Retrieves the current adapter used by the AdapterView.</a:t>
            </a:r>
          </a:p>
          <a:p>
            <a:pPr marL="0" marR="0" lvl="0" indent="0" algn="l" defTabSz="914400" rtl="0" eaLnBrk="0" fontAlgn="base" latinLnBrk="0" hangingPunct="0">
              <a:lnSpc>
                <a:spcPct val="100000"/>
              </a:lnSpc>
              <a:spcBef>
                <a:spcPct val="0"/>
              </a:spcBef>
              <a:spcAft>
                <a:spcPct val="0"/>
              </a:spcAft>
              <a:buClrTx/>
              <a:buSzTx/>
              <a:buNone/>
              <a:tabLst/>
            </a:pPr>
            <a:endParaRPr lang="en-US" sz="16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lang="en-US" sz="1600" b="1" dirty="0" err="1">
                <a:latin typeface="Times New Roman" panose="02020603050405020304" pitchFamily="18" charset="0"/>
                <a:cs typeface="Times New Roman" panose="02020603050405020304" pitchFamily="18" charset="0"/>
              </a:rPr>
              <a:t>setOnItemClickListener</a:t>
            </a:r>
            <a:r>
              <a:rPr lang="en-US"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Sets a listener to handle click events on individual items.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412418467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6658B8-D4FE-4331-4D79-8ADA6BCD3E8E}"/>
              </a:ext>
            </a:extLst>
          </p:cNvPr>
          <p:cNvSpPr>
            <a:spLocks noGrp="1"/>
          </p:cNvSpPr>
          <p:nvPr>
            <p:ph type="title"/>
          </p:nvPr>
        </p:nvSpPr>
        <p:spPr/>
        <p:txBody>
          <a:bodyPr/>
          <a:lstStyle/>
          <a:p>
            <a:r>
              <a:rPr lang="en-US" dirty="0"/>
              <a:t>Example of an AdapterView (</a:t>
            </a:r>
            <a:r>
              <a:rPr lang="en-US" dirty="0" err="1"/>
              <a:t>ListView</a:t>
            </a:r>
            <a:r>
              <a:rPr lang="en-US" dirty="0"/>
              <a:t>):</a:t>
            </a:r>
            <a:endParaRPr lang="en-IN" dirty="0"/>
          </a:p>
        </p:txBody>
      </p:sp>
      <p:sp>
        <p:nvSpPr>
          <p:cNvPr id="3" name="Content Placeholder 2">
            <a:extLst>
              <a:ext uri="{FF2B5EF4-FFF2-40B4-BE49-F238E27FC236}">
                <a16:creationId xmlns="" xmlns:a16="http://schemas.microsoft.com/office/drawing/2014/main" id="{4C25F392-EC92-03A7-9F15-4688F540D0E2}"/>
              </a:ext>
            </a:extLst>
          </p:cNvPr>
          <p:cNvSpPr>
            <a:spLocks noGrp="1"/>
          </p:cNvSpPr>
          <p:nvPr>
            <p:ph idx="1"/>
          </p:nvPr>
        </p:nvSpPr>
        <p:spPr/>
        <p:txBody>
          <a:bodyPr/>
          <a:lstStyle/>
          <a:p>
            <a:pPr marL="0" indent="0">
              <a:buNone/>
            </a:pPr>
            <a:r>
              <a:rPr lang="en-IN" sz="1600" b="1" dirty="0" err="1">
                <a:latin typeface="Times New Roman" panose="02020603050405020304" pitchFamily="18" charset="0"/>
                <a:cs typeface="Times New Roman" panose="02020603050405020304" pitchFamily="18" charset="0"/>
              </a:rPr>
              <a:t>ListView</a:t>
            </a:r>
            <a:r>
              <a:rPr lang="en-IN" sz="1600" b="1" dirty="0">
                <a:latin typeface="Times New Roman" panose="02020603050405020304" pitchFamily="18" charset="0"/>
                <a:cs typeface="Times New Roman" panose="02020603050405020304" pitchFamily="18" charset="0"/>
              </a:rPr>
              <a:t> </a:t>
            </a:r>
            <a:r>
              <a:rPr lang="en-IN" sz="1600" b="1" dirty="0" err="1">
                <a:latin typeface="Times New Roman" panose="02020603050405020304" pitchFamily="18" charset="0"/>
                <a:cs typeface="Times New Roman" panose="02020603050405020304" pitchFamily="18" charset="0"/>
              </a:rPr>
              <a:t>listView</a:t>
            </a:r>
            <a:r>
              <a:rPr lang="en-IN" sz="1600" b="1" dirty="0">
                <a:latin typeface="Times New Roman" panose="02020603050405020304" pitchFamily="18" charset="0"/>
                <a:cs typeface="Times New Roman" panose="02020603050405020304" pitchFamily="18" charset="0"/>
              </a:rPr>
              <a:t> = </a:t>
            </a:r>
            <a:r>
              <a:rPr lang="en-IN" sz="1600" b="1" dirty="0" err="1">
                <a:latin typeface="Times New Roman" panose="02020603050405020304" pitchFamily="18" charset="0"/>
                <a:cs typeface="Times New Roman" panose="02020603050405020304" pitchFamily="18" charset="0"/>
              </a:rPr>
              <a:t>findViewById</a:t>
            </a:r>
            <a:r>
              <a:rPr lang="en-IN" sz="1600" b="1" dirty="0">
                <a:latin typeface="Times New Roman" panose="02020603050405020304" pitchFamily="18" charset="0"/>
                <a:cs typeface="Times New Roman" panose="02020603050405020304" pitchFamily="18" charset="0"/>
              </a:rPr>
              <a:t>(</a:t>
            </a:r>
            <a:r>
              <a:rPr lang="en-IN" sz="1600" b="1" dirty="0" err="1">
                <a:latin typeface="Times New Roman" panose="02020603050405020304" pitchFamily="18" charset="0"/>
                <a:cs typeface="Times New Roman" panose="02020603050405020304" pitchFamily="18" charset="0"/>
              </a:rPr>
              <a:t>R.id.listView</a:t>
            </a:r>
            <a:r>
              <a:rPr lang="en-IN" sz="1600" b="1" dirty="0">
                <a:latin typeface="Times New Roman" panose="02020603050405020304" pitchFamily="18" charset="0"/>
                <a:cs typeface="Times New Roman" panose="02020603050405020304" pitchFamily="18" charset="0"/>
              </a:rPr>
              <a:t>);</a:t>
            </a:r>
          </a:p>
          <a:p>
            <a:pPr marL="0" indent="0">
              <a:buNone/>
            </a:pPr>
            <a:r>
              <a:rPr lang="en-IN" sz="1600" b="1" dirty="0" err="1">
                <a:latin typeface="Times New Roman" panose="02020603050405020304" pitchFamily="18" charset="0"/>
                <a:cs typeface="Times New Roman" panose="02020603050405020304" pitchFamily="18" charset="0"/>
              </a:rPr>
              <a:t>ArrayAdapter</a:t>
            </a:r>
            <a:r>
              <a:rPr lang="en-IN" sz="1600" b="1" dirty="0">
                <a:latin typeface="Times New Roman" panose="02020603050405020304" pitchFamily="18" charset="0"/>
                <a:cs typeface="Times New Roman" panose="02020603050405020304" pitchFamily="18" charset="0"/>
              </a:rPr>
              <a:t>&lt;String&gt; adapter = new </a:t>
            </a:r>
            <a:r>
              <a:rPr lang="en-IN" sz="1600" b="1" dirty="0" err="1">
                <a:latin typeface="Times New Roman" panose="02020603050405020304" pitchFamily="18" charset="0"/>
                <a:cs typeface="Times New Roman" panose="02020603050405020304" pitchFamily="18" charset="0"/>
              </a:rPr>
              <a:t>ArrayAdapter</a:t>
            </a:r>
            <a:r>
              <a:rPr lang="en-IN" sz="1600" b="1" dirty="0">
                <a:latin typeface="Times New Roman" panose="02020603050405020304" pitchFamily="18" charset="0"/>
                <a:cs typeface="Times New Roman" panose="02020603050405020304" pitchFamily="18" charset="0"/>
              </a:rPr>
              <a:t>&lt;&gt;(  this,android.R.layout.simple_list_item_1, new String[] {"Apple", "Banana", "Cherry"});</a:t>
            </a:r>
          </a:p>
          <a:p>
            <a:pPr marL="0" indent="0">
              <a:buNone/>
            </a:pPr>
            <a:r>
              <a:rPr lang="en-IN" sz="1600" b="1" dirty="0" err="1">
                <a:latin typeface="Times New Roman" panose="02020603050405020304" pitchFamily="18" charset="0"/>
                <a:cs typeface="Times New Roman" panose="02020603050405020304" pitchFamily="18" charset="0"/>
              </a:rPr>
              <a:t>listView.setAdapter</a:t>
            </a:r>
            <a:r>
              <a:rPr lang="en-IN" sz="1600" b="1" dirty="0">
                <a:latin typeface="Times New Roman" panose="02020603050405020304" pitchFamily="18" charset="0"/>
                <a:cs typeface="Times New Roman" panose="02020603050405020304" pitchFamily="18" charset="0"/>
              </a:rPr>
              <a:t>(adapter);</a:t>
            </a:r>
          </a:p>
          <a:p>
            <a:pPr marL="0" indent="0">
              <a:buNone/>
            </a:pPr>
            <a:endParaRPr lang="en-IN" dirty="0"/>
          </a:p>
          <a:p>
            <a:pPr marL="0" indent="0">
              <a:buNone/>
            </a:pPr>
            <a:r>
              <a:rPr lang="en-IN" dirty="0"/>
              <a:t>*</a:t>
            </a:r>
            <a:r>
              <a:rPr lang="en-IN" sz="1600" dirty="0"/>
              <a:t>The </a:t>
            </a:r>
            <a:r>
              <a:rPr lang="en-IN" sz="1600" dirty="0" err="1"/>
              <a:t>ListView</a:t>
            </a:r>
            <a:r>
              <a:rPr lang="en-IN" sz="1600" dirty="0"/>
              <a:t>(an adapter View) is populated by the array Adapter, which provides the data (an array of string)</a:t>
            </a:r>
          </a:p>
        </p:txBody>
      </p:sp>
    </p:spTree>
    <p:extLst>
      <p:ext uri="{BB962C8B-B14F-4D97-AF65-F5344CB8AC3E}">
        <p14:creationId xmlns="" xmlns:p14="http://schemas.microsoft.com/office/powerpoint/2010/main" val="1040083651"/>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FDDA50-F764-6A5F-AC1C-8FD9CF209D2F}"/>
              </a:ext>
            </a:extLst>
          </p:cNvPr>
          <p:cNvSpPr>
            <a:spLocks noGrp="1"/>
          </p:cNvSpPr>
          <p:nvPr>
            <p:ph type="title"/>
          </p:nvPr>
        </p:nvSpPr>
        <p:spPr/>
        <p:txBody>
          <a:bodyPr/>
          <a:lstStyle/>
          <a:p>
            <a:r>
              <a:rPr lang="en-US" dirty="0"/>
              <a:t>Example: XML Layout (activity_main.xml)</a:t>
            </a:r>
            <a:endParaRPr lang="en-IN" dirty="0"/>
          </a:p>
        </p:txBody>
      </p:sp>
      <p:sp>
        <p:nvSpPr>
          <p:cNvPr id="3" name="Content Placeholder 2">
            <a:extLst>
              <a:ext uri="{FF2B5EF4-FFF2-40B4-BE49-F238E27FC236}">
                <a16:creationId xmlns="" xmlns:a16="http://schemas.microsoft.com/office/drawing/2014/main" id="{0C8865F7-CCC2-110B-5623-2212621C9C4F}"/>
              </a:ext>
            </a:extLst>
          </p:cNvPr>
          <p:cNvSpPr>
            <a:spLocks noGrp="1"/>
          </p:cNvSpPr>
          <p:nvPr>
            <p:ph idx="1"/>
          </p:nvPr>
        </p:nvSpPr>
        <p:spPr/>
        <p:txBody>
          <a:bodyPr>
            <a:normAutofit fontScale="92500" lnSpcReduction="20000"/>
          </a:bodyPr>
          <a:lstStyle/>
          <a:p>
            <a:pPr marL="0" indent="0">
              <a:buNone/>
            </a:pPr>
            <a:r>
              <a:rPr lang="en-IN" dirty="0"/>
              <a:t>&lt;</a:t>
            </a:r>
            <a:r>
              <a:rPr lang="en-IN" dirty="0" err="1"/>
              <a:t>LinearLayout</a:t>
            </a:r>
            <a:endParaRPr lang="en-IN" dirty="0"/>
          </a:p>
          <a:p>
            <a:pPr marL="0" indent="0">
              <a:buNone/>
            </a:pPr>
            <a:r>
              <a:rPr lang="en-IN" dirty="0"/>
              <a:t> </a:t>
            </a:r>
            <a:r>
              <a:rPr lang="en-IN" dirty="0" err="1"/>
              <a:t>xmlns:android</a:t>
            </a:r>
            <a:r>
              <a:rPr lang="en-IN" dirty="0"/>
              <a:t>="http://schemas.android.com/</a:t>
            </a:r>
            <a:r>
              <a:rPr lang="en-IN" dirty="0" err="1"/>
              <a:t>apk</a:t>
            </a:r>
            <a:r>
              <a:rPr lang="en-IN" dirty="0"/>
              <a:t>/res/android"</a:t>
            </a:r>
          </a:p>
          <a:p>
            <a:pPr marL="0" indent="0">
              <a:buNone/>
            </a:pPr>
            <a:r>
              <a:rPr lang="en-IN" dirty="0" err="1"/>
              <a:t>android:layout_width</a:t>
            </a:r>
            <a:r>
              <a:rPr lang="en-IN" dirty="0"/>
              <a:t>="</a:t>
            </a:r>
            <a:r>
              <a:rPr lang="en-IN" dirty="0" err="1"/>
              <a:t>match_parent</a:t>
            </a:r>
            <a:r>
              <a:rPr lang="en-IN" dirty="0"/>
              <a:t>"</a:t>
            </a:r>
          </a:p>
          <a:p>
            <a:pPr marL="0" indent="0">
              <a:buNone/>
            </a:pPr>
            <a:r>
              <a:rPr lang="en-IN" dirty="0"/>
              <a:t> </a:t>
            </a:r>
            <a:r>
              <a:rPr lang="en-IN" dirty="0" err="1"/>
              <a:t>android:layout_height</a:t>
            </a:r>
            <a:r>
              <a:rPr lang="en-IN" dirty="0"/>
              <a:t>="</a:t>
            </a:r>
            <a:r>
              <a:rPr lang="en-IN" dirty="0" err="1"/>
              <a:t>match_parent</a:t>
            </a:r>
            <a:r>
              <a:rPr lang="en-IN" dirty="0"/>
              <a:t>"</a:t>
            </a:r>
          </a:p>
          <a:p>
            <a:pPr marL="0" indent="0">
              <a:buNone/>
            </a:pPr>
            <a:r>
              <a:rPr lang="en-IN" dirty="0"/>
              <a:t> </a:t>
            </a:r>
            <a:r>
              <a:rPr lang="en-IN" dirty="0" err="1"/>
              <a:t>android:orientation</a:t>
            </a:r>
            <a:r>
              <a:rPr lang="en-IN" dirty="0"/>
              <a:t>="vertical"&gt;</a:t>
            </a:r>
          </a:p>
          <a:p>
            <a:pPr marL="0" indent="0">
              <a:buNone/>
            </a:pPr>
            <a:r>
              <a:rPr lang="en-IN" dirty="0"/>
              <a:t>    &lt;</a:t>
            </a:r>
            <a:r>
              <a:rPr lang="en-IN" dirty="0" err="1"/>
              <a:t>ListView</a:t>
            </a:r>
            <a:endParaRPr lang="en-IN" dirty="0"/>
          </a:p>
          <a:p>
            <a:pPr marL="0" indent="0">
              <a:buNone/>
            </a:pPr>
            <a:r>
              <a:rPr lang="en-IN" dirty="0"/>
              <a:t>        </a:t>
            </a:r>
            <a:r>
              <a:rPr lang="en-IN" dirty="0" err="1"/>
              <a:t>android:id</a:t>
            </a:r>
            <a:r>
              <a:rPr lang="en-IN" dirty="0"/>
              <a:t>="@+id/</a:t>
            </a:r>
            <a:r>
              <a:rPr lang="en-IN" dirty="0" err="1"/>
              <a:t>listView</a:t>
            </a:r>
            <a:r>
              <a:rPr lang="en-IN" dirty="0"/>
              <a:t>"</a:t>
            </a:r>
          </a:p>
          <a:p>
            <a:pPr marL="0" indent="0">
              <a:buNone/>
            </a:pPr>
            <a:r>
              <a:rPr lang="en-IN" dirty="0"/>
              <a:t>        </a:t>
            </a:r>
            <a:r>
              <a:rPr lang="en-IN" dirty="0" err="1"/>
              <a:t>android:layout_width</a:t>
            </a:r>
            <a:r>
              <a:rPr lang="en-IN" dirty="0"/>
              <a:t>="</a:t>
            </a:r>
            <a:r>
              <a:rPr lang="en-IN" dirty="0" err="1"/>
              <a:t>match_parent</a:t>
            </a:r>
            <a:r>
              <a:rPr lang="en-IN" dirty="0"/>
              <a:t>"</a:t>
            </a:r>
          </a:p>
          <a:p>
            <a:pPr marL="0" indent="0">
              <a:buNone/>
            </a:pPr>
            <a:r>
              <a:rPr lang="en-IN" dirty="0"/>
              <a:t>        </a:t>
            </a:r>
            <a:r>
              <a:rPr lang="en-IN" dirty="0" err="1"/>
              <a:t>android:layout_height</a:t>
            </a:r>
            <a:r>
              <a:rPr lang="en-IN" dirty="0"/>
              <a:t>="</a:t>
            </a:r>
            <a:r>
              <a:rPr lang="en-IN" dirty="0" err="1"/>
              <a:t>wrap_content</a:t>
            </a:r>
            <a:r>
              <a:rPr lang="en-IN" dirty="0"/>
              <a:t>" /&gt;</a:t>
            </a:r>
          </a:p>
          <a:p>
            <a:pPr marL="0" indent="0">
              <a:buNone/>
            </a:pPr>
            <a:r>
              <a:rPr lang="en-IN" dirty="0"/>
              <a:t>&lt;/</a:t>
            </a:r>
            <a:r>
              <a:rPr lang="en-IN" dirty="0" err="1"/>
              <a:t>LinearLayout</a:t>
            </a:r>
            <a:r>
              <a:rPr lang="en-IN" dirty="0"/>
              <a:t>&gt;</a:t>
            </a:r>
          </a:p>
          <a:p>
            <a:endParaRPr lang="en-IN" dirty="0"/>
          </a:p>
        </p:txBody>
      </p:sp>
    </p:spTree>
    <p:extLst>
      <p:ext uri="{BB962C8B-B14F-4D97-AF65-F5344CB8AC3E}">
        <p14:creationId xmlns="" xmlns:p14="http://schemas.microsoft.com/office/powerpoint/2010/main" val="2690251069"/>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7DABFF-9053-BFA1-6497-8D5504C51DF9}"/>
              </a:ext>
            </a:extLst>
          </p:cNvPr>
          <p:cNvSpPr>
            <a:spLocks noGrp="1"/>
          </p:cNvSpPr>
          <p:nvPr>
            <p:ph type="title"/>
          </p:nvPr>
        </p:nvSpPr>
        <p:spPr/>
        <p:txBody>
          <a:bodyPr/>
          <a:lstStyle/>
          <a:p>
            <a:r>
              <a:rPr lang="en-IN" dirty="0"/>
              <a:t>MainActivity.java</a:t>
            </a:r>
          </a:p>
        </p:txBody>
      </p:sp>
      <p:sp>
        <p:nvSpPr>
          <p:cNvPr id="3" name="Content Placeholder 2">
            <a:extLst>
              <a:ext uri="{FF2B5EF4-FFF2-40B4-BE49-F238E27FC236}">
                <a16:creationId xmlns="" xmlns:a16="http://schemas.microsoft.com/office/drawing/2014/main" id="{FD2C0ACB-B35E-37BB-3697-8014D81C8100}"/>
              </a:ext>
            </a:extLst>
          </p:cNvPr>
          <p:cNvSpPr>
            <a:spLocks noGrp="1"/>
          </p:cNvSpPr>
          <p:nvPr>
            <p:ph idx="1"/>
          </p:nvPr>
        </p:nvSpPr>
        <p:spPr>
          <a:xfrm>
            <a:off x="838199" y="1650124"/>
            <a:ext cx="11290737" cy="4526839"/>
          </a:xfrm>
        </p:spPr>
        <p:txBody>
          <a:bodyPr>
            <a:normAutofit fontScale="25000" lnSpcReduction="20000"/>
          </a:bodyPr>
          <a:lstStyle/>
          <a:p>
            <a:pPr marL="0" indent="0">
              <a:buNone/>
            </a:pPr>
            <a:r>
              <a:rPr lang="en-IN" sz="4800" b="1" dirty="0">
                <a:latin typeface="Times New Roman" panose="02020603050405020304" pitchFamily="18" charset="0"/>
                <a:cs typeface="Times New Roman" panose="02020603050405020304" pitchFamily="18" charset="0"/>
              </a:rPr>
              <a:t>import </a:t>
            </a:r>
            <a:r>
              <a:rPr lang="en-IN" sz="4800" b="1" dirty="0" err="1">
                <a:latin typeface="Times New Roman" panose="02020603050405020304" pitchFamily="18" charset="0"/>
                <a:cs typeface="Times New Roman" panose="02020603050405020304" pitchFamily="18" charset="0"/>
              </a:rPr>
              <a:t>android.os.Bundle</a:t>
            </a:r>
            <a:r>
              <a:rPr lang="en-IN" sz="4800" b="1" dirty="0">
                <a:latin typeface="Times New Roman" panose="02020603050405020304" pitchFamily="18" charset="0"/>
                <a:cs typeface="Times New Roman" panose="02020603050405020304" pitchFamily="18" charset="0"/>
              </a:rPr>
              <a:t>;</a:t>
            </a:r>
          </a:p>
          <a:p>
            <a:pPr marL="0" indent="0">
              <a:buNone/>
            </a:pPr>
            <a:r>
              <a:rPr lang="en-IN" sz="4800" b="1" dirty="0">
                <a:latin typeface="Times New Roman" panose="02020603050405020304" pitchFamily="18" charset="0"/>
                <a:cs typeface="Times New Roman" panose="02020603050405020304" pitchFamily="18" charset="0"/>
              </a:rPr>
              <a:t>import </a:t>
            </a:r>
            <a:r>
              <a:rPr lang="en-IN" sz="4800" b="1" dirty="0" err="1">
                <a:latin typeface="Times New Roman" panose="02020603050405020304" pitchFamily="18" charset="0"/>
                <a:cs typeface="Times New Roman" panose="02020603050405020304" pitchFamily="18" charset="0"/>
              </a:rPr>
              <a:t>android.widget.ArrayAdapter</a:t>
            </a:r>
            <a:r>
              <a:rPr lang="en-IN" sz="4800" b="1" dirty="0">
                <a:latin typeface="Times New Roman" panose="02020603050405020304" pitchFamily="18" charset="0"/>
                <a:cs typeface="Times New Roman" panose="02020603050405020304" pitchFamily="18" charset="0"/>
              </a:rPr>
              <a:t>;</a:t>
            </a:r>
          </a:p>
          <a:p>
            <a:pPr marL="0" indent="0">
              <a:buNone/>
            </a:pPr>
            <a:r>
              <a:rPr lang="en-IN" sz="4800" b="1" dirty="0">
                <a:latin typeface="Times New Roman" panose="02020603050405020304" pitchFamily="18" charset="0"/>
                <a:cs typeface="Times New Roman" panose="02020603050405020304" pitchFamily="18" charset="0"/>
              </a:rPr>
              <a:t>import </a:t>
            </a:r>
            <a:r>
              <a:rPr lang="en-IN" sz="4800" b="1" dirty="0" err="1">
                <a:latin typeface="Times New Roman" panose="02020603050405020304" pitchFamily="18" charset="0"/>
                <a:cs typeface="Times New Roman" panose="02020603050405020304" pitchFamily="18" charset="0"/>
              </a:rPr>
              <a:t>android.widget.ListView</a:t>
            </a:r>
            <a:r>
              <a:rPr lang="en-IN" sz="4800" b="1" dirty="0">
                <a:latin typeface="Times New Roman" panose="02020603050405020304" pitchFamily="18" charset="0"/>
                <a:cs typeface="Times New Roman" panose="02020603050405020304" pitchFamily="18" charset="0"/>
              </a:rPr>
              <a:t>;</a:t>
            </a:r>
          </a:p>
          <a:p>
            <a:pPr marL="0" indent="0">
              <a:buNone/>
            </a:pPr>
            <a:r>
              <a:rPr lang="en-IN" sz="4800" b="1" dirty="0">
                <a:latin typeface="Times New Roman" panose="02020603050405020304" pitchFamily="18" charset="0"/>
                <a:cs typeface="Times New Roman" panose="02020603050405020304" pitchFamily="18" charset="0"/>
              </a:rPr>
              <a:t>import </a:t>
            </a:r>
            <a:r>
              <a:rPr lang="en-IN" sz="4800" b="1" dirty="0" err="1">
                <a:latin typeface="Times New Roman" panose="02020603050405020304" pitchFamily="18" charset="0"/>
                <a:cs typeface="Times New Roman" panose="02020603050405020304" pitchFamily="18" charset="0"/>
              </a:rPr>
              <a:t>androidx.appcompat.app.AppCompatActivity</a:t>
            </a:r>
            <a:r>
              <a:rPr lang="en-IN" sz="4800" b="1" dirty="0">
                <a:latin typeface="Times New Roman" panose="02020603050405020304" pitchFamily="18" charset="0"/>
                <a:cs typeface="Times New Roman" panose="02020603050405020304" pitchFamily="18" charset="0"/>
              </a:rPr>
              <a:t>;</a:t>
            </a:r>
          </a:p>
          <a:p>
            <a:pPr marL="0" indent="0">
              <a:buNone/>
            </a:pPr>
            <a:r>
              <a:rPr lang="en-IN" sz="4800" b="1" dirty="0">
                <a:latin typeface="Times New Roman" panose="02020603050405020304" pitchFamily="18" charset="0"/>
                <a:cs typeface="Times New Roman" panose="02020603050405020304" pitchFamily="18" charset="0"/>
              </a:rPr>
              <a:t>public class </a:t>
            </a:r>
            <a:r>
              <a:rPr lang="en-IN" sz="4800" b="1" dirty="0" err="1">
                <a:latin typeface="Times New Roman" panose="02020603050405020304" pitchFamily="18" charset="0"/>
                <a:cs typeface="Times New Roman" panose="02020603050405020304" pitchFamily="18" charset="0"/>
              </a:rPr>
              <a:t>MainActivity</a:t>
            </a:r>
            <a:r>
              <a:rPr lang="en-IN" sz="4800" b="1" dirty="0">
                <a:latin typeface="Times New Roman" panose="02020603050405020304" pitchFamily="18" charset="0"/>
                <a:cs typeface="Times New Roman" panose="02020603050405020304" pitchFamily="18" charset="0"/>
              </a:rPr>
              <a:t> extends </a:t>
            </a:r>
            <a:r>
              <a:rPr lang="en-IN" sz="4800" b="1" dirty="0" err="1">
                <a:latin typeface="Times New Roman" panose="02020603050405020304" pitchFamily="18" charset="0"/>
                <a:cs typeface="Times New Roman" panose="02020603050405020304" pitchFamily="18" charset="0"/>
              </a:rPr>
              <a:t>AppCompatActivity</a:t>
            </a:r>
            <a:r>
              <a:rPr lang="en-IN" sz="4800" b="1" dirty="0">
                <a:latin typeface="Times New Roman" panose="02020603050405020304" pitchFamily="18" charset="0"/>
                <a:cs typeface="Times New Roman" panose="02020603050405020304" pitchFamily="18" charset="0"/>
              </a:rPr>
              <a:t> {</a:t>
            </a:r>
          </a:p>
          <a:p>
            <a:pPr marL="0" indent="0">
              <a:buNone/>
            </a:pPr>
            <a:r>
              <a:rPr lang="en-IN" sz="4800" b="1" dirty="0">
                <a:latin typeface="Times New Roman" panose="02020603050405020304" pitchFamily="18" charset="0"/>
                <a:cs typeface="Times New Roman" panose="02020603050405020304" pitchFamily="18" charset="0"/>
              </a:rPr>
              <a:t>    @Override</a:t>
            </a:r>
          </a:p>
          <a:p>
            <a:pPr marL="0" indent="0">
              <a:buNone/>
            </a:pPr>
            <a:r>
              <a:rPr lang="en-IN" sz="4800" b="1" dirty="0">
                <a:latin typeface="Times New Roman" panose="02020603050405020304" pitchFamily="18" charset="0"/>
                <a:cs typeface="Times New Roman" panose="02020603050405020304" pitchFamily="18" charset="0"/>
              </a:rPr>
              <a:t>    protected void </a:t>
            </a:r>
            <a:r>
              <a:rPr lang="en-IN" sz="4800" b="1" dirty="0" err="1">
                <a:latin typeface="Times New Roman" panose="02020603050405020304" pitchFamily="18" charset="0"/>
                <a:cs typeface="Times New Roman" panose="02020603050405020304" pitchFamily="18" charset="0"/>
              </a:rPr>
              <a:t>onCreate</a:t>
            </a:r>
            <a:r>
              <a:rPr lang="en-IN" sz="4800" b="1" dirty="0">
                <a:latin typeface="Times New Roman" panose="02020603050405020304" pitchFamily="18" charset="0"/>
                <a:cs typeface="Times New Roman" panose="02020603050405020304" pitchFamily="18" charset="0"/>
              </a:rPr>
              <a:t>(Bundle </a:t>
            </a:r>
            <a:r>
              <a:rPr lang="en-IN" sz="4800" b="1" dirty="0" err="1">
                <a:latin typeface="Times New Roman" panose="02020603050405020304" pitchFamily="18" charset="0"/>
                <a:cs typeface="Times New Roman" panose="02020603050405020304" pitchFamily="18" charset="0"/>
              </a:rPr>
              <a:t>savedInstanceState</a:t>
            </a:r>
            <a:r>
              <a:rPr lang="en-IN" sz="4800" b="1" dirty="0">
                <a:latin typeface="Times New Roman" panose="02020603050405020304" pitchFamily="18" charset="0"/>
                <a:cs typeface="Times New Roman" panose="02020603050405020304" pitchFamily="18" charset="0"/>
              </a:rPr>
              <a:t>) {</a:t>
            </a:r>
          </a:p>
          <a:p>
            <a:pPr marL="0" indent="0">
              <a:buNone/>
            </a:pPr>
            <a:r>
              <a:rPr lang="en-IN" sz="4800" b="1" dirty="0">
                <a:latin typeface="Times New Roman" panose="02020603050405020304" pitchFamily="18" charset="0"/>
                <a:cs typeface="Times New Roman" panose="02020603050405020304" pitchFamily="18" charset="0"/>
              </a:rPr>
              <a:t>        </a:t>
            </a:r>
            <a:r>
              <a:rPr lang="en-IN" sz="4800" b="1" dirty="0" err="1">
                <a:latin typeface="Times New Roman" panose="02020603050405020304" pitchFamily="18" charset="0"/>
                <a:cs typeface="Times New Roman" panose="02020603050405020304" pitchFamily="18" charset="0"/>
              </a:rPr>
              <a:t>super.onCreate</a:t>
            </a:r>
            <a:r>
              <a:rPr lang="en-IN" sz="4800" b="1" dirty="0">
                <a:latin typeface="Times New Roman" panose="02020603050405020304" pitchFamily="18" charset="0"/>
                <a:cs typeface="Times New Roman" panose="02020603050405020304" pitchFamily="18" charset="0"/>
              </a:rPr>
              <a:t>(</a:t>
            </a:r>
            <a:r>
              <a:rPr lang="en-IN" sz="4800" b="1" dirty="0" err="1">
                <a:latin typeface="Times New Roman" panose="02020603050405020304" pitchFamily="18" charset="0"/>
                <a:cs typeface="Times New Roman" panose="02020603050405020304" pitchFamily="18" charset="0"/>
              </a:rPr>
              <a:t>savedInstanceState</a:t>
            </a:r>
            <a:r>
              <a:rPr lang="en-IN" sz="4800" b="1" dirty="0">
                <a:latin typeface="Times New Roman" panose="02020603050405020304" pitchFamily="18" charset="0"/>
                <a:cs typeface="Times New Roman" panose="02020603050405020304" pitchFamily="18" charset="0"/>
              </a:rPr>
              <a:t>);</a:t>
            </a:r>
          </a:p>
          <a:p>
            <a:pPr marL="0" indent="0">
              <a:buNone/>
            </a:pPr>
            <a:r>
              <a:rPr lang="en-IN" sz="4800" b="1" dirty="0">
                <a:latin typeface="Times New Roman" panose="02020603050405020304" pitchFamily="18" charset="0"/>
                <a:cs typeface="Times New Roman" panose="02020603050405020304" pitchFamily="18" charset="0"/>
              </a:rPr>
              <a:t>        </a:t>
            </a:r>
            <a:r>
              <a:rPr lang="en-IN" sz="4800" b="1" dirty="0" err="1">
                <a:latin typeface="Times New Roman" panose="02020603050405020304" pitchFamily="18" charset="0"/>
                <a:cs typeface="Times New Roman" panose="02020603050405020304" pitchFamily="18" charset="0"/>
              </a:rPr>
              <a:t>setContentView</a:t>
            </a:r>
            <a:r>
              <a:rPr lang="en-IN" sz="4800" b="1" dirty="0">
                <a:latin typeface="Times New Roman" panose="02020603050405020304" pitchFamily="18" charset="0"/>
                <a:cs typeface="Times New Roman" panose="02020603050405020304" pitchFamily="18" charset="0"/>
              </a:rPr>
              <a:t>(</a:t>
            </a:r>
            <a:r>
              <a:rPr lang="en-IN" sz="4800" b="1" dirty="0" err="1">
                <a:latin typeface="Times New Roman" panose="02020603050405020304" pitchFamily="18" charset="0"/>
                <a:cs typeface="Times New Roman" panose="02020603050405020304" pitchFamily="18" charset="0"/>
              </a:rPr>
              <a:t>R.layout.activity_main</a:t>
            </a:r>
            <a:r>
              <a:rPr lang="en-IN" sz="4800" b="1" dirty="0">
                <a:latin typeface="Times New Roman" panose="02020603050405020304" pitchFamily="18" charset="0"/>
                <a:cs typeface="Times New Roman" panose="02020603050405020304" pitchFamily="18" charset="0"/>
              </a:rPr>
              <a:t>);</a:t>
            </a:r>
          </a:p>
          <a:p>
            <a:pPr marL="0" indent="0">
              <a:buNone/>
            </a:pPr>
            <a:r>
              <a:rPr lang="en-IN" sz="4800" dirty="0">
                <a:latin typeface="Times New Roman" panose="02020603050405020304" pitchFamily="18" charset="0"/>
                <a:cs typeface="Times New Roman" panose="02020603050405020304" pitchFamily="18" charset="0"/>
              </a:rPr>
              <a:t>        // Step 1: Reference the </a:t>
            </a:r>
            <a:r>
              <a:rPr lang="en-IN" sz="4800" dirty="0" err="1">
                <a:latin typeface="Times New Roman" panose="02020603050405020304" pitchFamily="18" charset="0"/>
                <a:cs typeface="Times New Roman" panose="02020603050405020304" pitchFamily="18" charset="0"/>
              </a:rPr>
              <a:t>ListView</a:t>
            </a:r>
            <a:endParaRPr lang="en-IN" sz="4800" dirty="0">
              <a:latin typeface="Times New Roman" panose="02020603050405020304" pitchFamily="18" charset="0"/>
              <a:cs typeface="Times New Roman" panose="02020603050405020304" pitchFamily="18" charset="0"/>
            </a:endParaRPr>
          </a:p>
          <a:p>
            <a:pPr marL="0" indent="0">
              <a:buNone/>
            </a:pPr>
            <a:r>
              <a:rPr lang="en-IN" sz="4800" b="1" dirty="0">
                <a:latin typeface="Times New Roman" panose="02020603050405020304" pitchFamily="18" charset="0"/>
                <a:cs typeface="Times New Roman" panose="02020603050405020304" pitchFamily="18" charset="0"/>
              </a:rPr>
              <a:t>        </a:t>
            </a:r>
            <a:r>
              <a:rPr lang="en-IN" sz="4800" b="1" dirty="0" err="1">
                <a:latin typeface="Times New Roman" panose="02020603050405020304" pitchFamily="18" charset="0"/>
                <a:cs typeface="Times New Roman" panose="02020603050405020304" pitchFamily="18" charset="0"/>
              </a:rPr>
              <a:t>ListView</a:t>
            </a:r>
            <a:r>
              <a:rPr lang="en-IN" sz="4800" b="1" dirty="0">
                <a:latin typeface="Times New Roman" panose="02020603050405020304" pitchFamily="18" charset="0"/>
                <a:cs typeface="Times New Roman" panose="02020603050405020304" pitchFamily="18" charset="0"/>
              </a:rPr>
              <a:t> </a:t>
            </a:r>
            <a:r>
              <a:rPr lang="en-IN" sz="4800" b="1" dirty="0" err="1">
                <a:latin typeface="Times New Roman" panose="02020603050405020304" pitchFamily="18" charset="0"/>
                <a:cs typeface="Times New Roman" panose="02020603050405020304" pitchFamily="18" charset="0"/>
              </a:rPr>
              <a:t>listView</a:t>
            </a:r>
            <a:r>
              <a:rPr lang="en-IN" sz="4800" b="1" dirty="0">
                <a:latin typeface="Times New Roman" panose="02020603050405020304" pitchFamily="18" charset="0"/>
                <a:cs typeface="Times New Roman" panose="02020603050405020304" pitchFamily="18" charset="0"/>
              </a:rPr>
              <a:t> = </a:t>
            </a:r>
            <a:r>
              <a:rPr lang="en-IN" sz="4800" b="1" dirty="0" err="1">
                <a:latin typeface="Times New Roman" panose="02020603050405020304" pitchFamily="18" charset="0"/>
                <a:cs typeface="Times New Roman" panose="02020603050405020304" pitchFamily="18" charset="0"/>
              </a:rPr>
              <a:t>findViewById</a:t>
            </a:r>
            <a:r>
              <a:rPr lang="en-IN" sz="4800" b="1" dirty="0">
                <a:latin typeface="Times New Roman" panose="02020603050405020304" pitchFamily="18" charset="0"/>
                <a:cs typeface="Times New Roman" panose="02020603050405020304" pitchFamily="18" charset="0"/>
              </a:rPr>
              <a:t>(</a:t>
            </a:r>
            <a:r>
              <a:rPr lang="en-IN" sz="4800" b="1" dirty="0" err="1">
                <a:latin typeface="Times New Roman" panose="02020603050405020304" pitchFamily="18" charset="0"/>
                <a:cs typeface="Times New Roman" panose="02020603050405020304" pitchFamily="18" charset="0"/>
              </a:rPr>
              <a:t>R.id.listView</a:t>
            </a:r>
            <a:r>
              <a:rPr lang="en-IN" sz="4800" b="1" dirty="0">
                <a:latin typeface="Times New Roman" panose="02020603050405020304" pitchFamily="18" charset="0"/>
                <a:cs typeface="Times New Roman" panose="02020603050405020304" pitchFamily="18" charset="0"/>
              </a:rPr>
              <a:t>);</a:t>
            </a:r>
          </a:p>
          <a:p>
            <a:pPr marL="0" indent="0">
              <a:buNone/>
            </a:pPr>
            <a:r>
              <a:rPr lang="en-IN" sz="4800" dirty="0">
                <a:latin typeface="Times New Roman" panose="02020603050405020304" pitchFamily="18" charset="0"/>
                <a:cs typeface="Times New Roman" panose="02020603050405020304" pitchFamily="18" charset="0"/>
              </a:rPr>
              <a:t>        // Step 2: Create an </a:t>
            </a:r>
            <a:r>
              <a:rPr lang="en-IN" sz="4800" dirty="0" err="1">
                <a:latin typeface="Times New Roman" panose="02020603050405020304" pitchFamily="18" charset="0"/>
                <a:cs typeface="Times New Roman" panose="02020603050405020304" pitchFamily="18" charset="0"/>
              </a:rPr>
              <a:t>ArrayAdapter</a:t>
            </a:r>
            <a:endParaRPr lang="en-IN" sz="4800" dirty="0">
              <a:latin typeface="Times New Roman" panose="02020603050405020304" pitchFamily="18" charset="0"/>
              <a:cs typeface="Times New Roman" panose="02020603050405020304" pitchFamily="18" charset="0"/>
            </a:endParaRPr>
          </a:p>
          <a:p>
            <a:pPr marL="0" indent="0">
              <a:buNone/>
            </a:pPr>
            <a:r>
              <a:rPr lang="en-IN" sz="4800" b="1" dirty="0">
                <a:latin typeface="Times New Roman" panose="02020603050405020304" pitchFamily="18" charset="0"/>
                <a:cs typeface="Times New Roman" panose="02020603050405020304" pitchFamily="18" charset="0"/>
              </a:rPr>
              <a:t>        String[] fruits = {"Apple", "Banana", "Cherry", "Date", "Fig"};</a:t>
            </a:r>
          </a:p>
          <a:p>
            <a:pPr marL="0" indent="0">
              <a:buNone/>
            </a:pPr>
            <a:r>
              <a:rPr lang="en-IN" sz="4800" b="1" dirty="0">
                <a:latin typeface="Times New Roman" panose="02020603050405020304" pitchFamily="18" charset="0"/>
                <a:cs typeface="Times New Roman" panose="02020603050405020304" pitchFamily="18" charset="0"/>
              </a:rPr>
              <a:t>        </a:t>
            </a:r>
            <a:r>
              <a:rPr lang="en-IN" sz="4800" b="1" dirty="0" err="1">
                <a:latin typeface="Times New Roman" panose="02020603050405020304" pitchFamily="18" charset="0"/>
                <a:cs typeface="Times New Roman" panose="02020603050405020304" pitchFamily="18" charset="0"/>
              </a:rPr>
              <a:t>ArrayAdapter</a:t>
            </a:r>
            <a:r>
              <a:rPr lang="en-IN" sz="4800" b="1" dirty="0">
                <a:latin typeface="Times New Roman" panose="02020603050405020304" pitchFamily="18" charset="0"/>
                <a:cs typeface="Times New Roman" panose="02020603050405020304" pitchFamily="18" charset="0"/>
              </a:rPr>
              <a:t>&lt;String&gt; adapter = new </a:t>
            </a:r>
            <a:r>
              <a:rPr lang="en-IN" sz="4800" b="1" dirty="0" err="1">
                <a:latin typeface="Times New Roman" panose="02020603050405020304" pitchFamily="18" charset="0"/>
                <a:cs typeface="Times New Roman" panose="02020603050405020304" pitchFamily="18" charset="0"/>
              </a:rPr>
              <a:t>ArrayAdapter</a:t>
            </a:r>
            <a:r>
              <a:rPr lang="en-IN" sz="4800" b="1" dirty="0">
                <a:latin typeface="Times New Roman" panose="02020603050405020304" pitchFamily="18" charset="0"/>
                <a:cs typeface="Times New Roman" panose="02020603050405020304" pitchFamily="18" charset="0"/>
              </a:rPr>
              <a:t>&lt;&gt;(  this,  android.R.layout.simple_list_item_1,  fruits   );</a:t>
            </a:r>
          </a:p>
          <a:p>
            <a:pPr marL="0" indent="0">
              <a:buNone/>
            </a:pPr>
            <a:r>
              <a:rPr lang="en-IN" sz="4800" dirty="0">
                <a:latin typeface="Times New Roman" panose="02020603050405020304" pitchFamily="18" charset="0"/>
                <a:cs typeface="Times New Roman" panose="02020603050405020304" pitchFamily="18" charset="0"/>
              </a:rPr>
              <a:t>        // Step 3: Set the Adapter to the </a:t>
            </a:r>
            <a:r>
              <a:rPr lang="en-IN" sz="4800" dirty="0" err="1">
                <a:latin typeface="Times New Roman" panose="02020603050405020304" pitchFamily="18" charset="0"/>
                <a:cs typeface="Times New Roman" panose="02020603050405020304" pitchFamily="18" charset="0"/>
              </a:rPr>
              <a:t>ListView</a:t>
            </a:r>
            <a:endParaRPr lang="en-IN" sz="4800" dirty="0">
              <a:latin typeface="Times New Roman" panose="02020603050405020304" pitchFamily="18" charset="0"/>
              <a:cs typeface="Times New Roman" panose="02020603050405020304" pitchFamily="18" charset="0"/>
            </a:endParaRPr>
          </a:p>
          <a:p>
            <a:pPr marL="0" indent="0">
              <a:buNone/>
            </a:pPr>
            <a:r>
              <a:rPr lang="en-IN" sz="4800" b="1" dirty="0">
                <a:latin typeface="Times New Roman" panose="02020603050405020304" pitchFamily="18" charset="0"/>
                <a:cs typeface="Times New Roman" panose="02020603050405020304" pitchFamily="18" charset="0"/>
              </a:rPr>
              <a:t>        </a:t>
            </a:r>
            <a:r>
              <a:rPr lang="en-IN" sz="4800" b="1" dirty="0" err="1">
                <a:latin typeface="Times New Roman" panose="02020603050405020304" pitchFamily="18" charset="0"/>
                <a:cs typeface="Times New Roman" panose="02020603050405020304" pitchFamily="18" charset="0"/>
              </a:rPr>
              <a:t>listView.setAdapter</a:t>
            </a:r>
            <a:r>
              <a:rPr lang="en-IN" sz="4800" b="1" dirty="0">
                <a:latin typeface="Times New Roman" panose="02020603050405020304" pitchFamily="18" charset="0"/>
                <a:cs typeface="Times New Roman" panose="02020603050405020304" pitchFamily="18" charset="0"/>
              </a:rPr>
              <a:t>(adapter);</a:t>
            </a:r>
          </a:p>
          <a:p>
            <a:pPr marL="0" indent="0">
              <a:buNone/>
            </a:pPr>
            <a:r>
              <a:rPr lang="en-IN" sz="4800" b="1" dirty="0">
                <a:latin typeface="Times New Roman" panose="02020603050405020304" pitchFamily="18" charset="0"/>
                <a:cs typeface="Times New Roman" panose="02020603050405020304" pitchFamily="18" charset="0"/>
              </a:rPr>
              <a:t>    }</a:t>
            </a:r>
          </a:p>
          <a:p>
            <a:pPr marL="0" indent="0">
              <a:buNone/>
            </a:pPr>
            <a:r>
              <a:rPr lang="en-IN" sz="4800" b="1" dirty="0">
                <a:latin typeface="Times New Roman" panose="02020603050405020304" pitchFamily="18" charset="0"/>
                <a:cs typeface="Times New Roman" panose="02020603050405020304" pitchFamily="18" charset="0"/>
              </a:rPr>
              <a:t>}</a:t>
            </a:r>
          </a:p>
          <a:p>
            <a:endParaRPr lang="en-IN" dirty="0"/>
          </a:p>
        </p:txBody>
      </p:sp>
      <p:sp>
        <p:nvSpPr>
          <p:cNvPr id="4" name="Rectangle 1">
            <a:extLst>
              <a:ext uri="{FF2B5EF4-FFF2-40B4-BE49-F238E27FC236}">
                <a16:creationId xmlns="" xmlns:a16="http://schemas.microsoft.com/office/drawing/2014/main" id="{5340AEEC-31E1-2CB4-0320-D6263B3FFFB2}"/>
              </a:ext>
            </a:extLst>
          </p:cNvPr>
          <p:cNvSpPr>
            <a:spLocks noChangeArrowheads="1"/>
          </p:cNvSpPr>
          <p:nvPr/>
        </p:nvSpPr>
        <p:spPr bwMode="auto">
          <a:xfrm>
            <a:off x="5060731" y="1579335"/>
            <a:ext cx="7068206" cy="15696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AdapterView</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ListView</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this example is an AdapterView. It requires an adapter to supply the data.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Adapter</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ArrayAdapter</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this case binds the fruits array to the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ListView</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generating a view for each fruit.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Interaction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ListView</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interacts with the adapter to get the data and display it to the user. </a:t>
            </a:r>
          </a:p>
        </p:txBody>
      </p:sp>
    </p:spTree>
    <p:extLst>
      <p:ext uri="{BB962C8B-B14F-4D97-AF65-F5344CB8AC3E}">
        <p14:creationId xmlns="" xmlns:p14="http://schemas.microsoft.com/office/powerpoint/2010/main" val="1421600597"/>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BE19E52-3B7B-84DF-40D9-686574657EC3}"/>
              </a:ext>
            </a:extLst>
          </p:cNvPr>
          <p:cNvSpPr>
            <a:spLocks noGrp="1"/>
          </p:cNvSpPr>
          <p:nvPr>
            <p:ph type="title"/>
          </p:nvPr>
        </p:nvSpPr>
        <p:spPr/>
        <p:txBody>
          <a:bodyPr/>
          <a:lstStyle/>
          <a:p>
            <a:r>
              <a:rPr lang="en-US" dirty="0"/>
              <a:t>Spinner View</a:t>
            </a:r>
            <a:endParaRPr lang="en-IN" dirty="0"/>
          </a:p>
        </p:txBody>
      </p:sp>
      <p:sp>
        <p:nvSpPr>
          <p:cNvPr id="3" name="Content Placeholder 2">
            <a:extLst>
              <a:ext uri="{FF2B5EF4-FFF2-40B4-BE49-F238E27FC236}">
                <a16:creationId xmlns="" xmlns:a16="http://schemas.microsoft.com/office/drawing/2014/main" id="{EA635FB6-CE7D-449E-E703-408CB0717245}"/>
              </a:ext>
            </a:extLst>
          </p:cNvPr>
          <p:cNvSpPr>
            <a:spLocks noGrp="1"/>
          </p:cNvSpPr>
          <p:nvPr>
            <p:ph idx="1"/>
          </p:nvPr>
        </p:nvSpPr>
        <p:spPr/>
        <p:txBody>
          <a:bodyPr>
            <a:normAutofit/>
          </a:bodyPr>
          <a:lstStyle/>
          <a:p>
            <a:r>
              <a:rPr lang="en-US" sz="2000" u="sng" dirty="0">
                <a:latin typeface="Times New Roman" panose="02020603050405020304" pitchFamily="18" charset="0"/>
                <a:cs typeface="Times New Roman" panose="02020603050405020304" pitchFamily="18" charset="0"/>
                <a:hlinkClick r:id="rId2">
                  <a:extLst>
                    <a:ext uri="{A12FA001-AC4F-418D-AE19-62706E023703}">
                      <ahyp:hlinkClr xmlns="" xmlns:ahyp="http://schemas.microsoft.com/office/drawing/2018/hyperlinkcolor" val="tx"/>
                    </a:ext>
                  </a:extLst>
                </a:hlinkClick>
              </a:rPr>
              <a:t>Android</a:t>
            </a:r>
            <a:r>
              <a:rPr lang="en-US" sz="2000" dirty="0">
                <a:latin typeface="Times New Roman" panose="02020603050405020304" pitchFamily="18" charset="0"/>
                <a:cs typeface="Times New Roman" panose="02020603050405020304" pitchFamily="18" charset="0"/>
              </a:rPr>
              <a:t> Spinner is a view similar to the dropdown list which is used to select one option from the list of options.</a:t>
            </a:r>
          </a:p>
          <a:p>
            <a:r>
              <a:rPr lang="en-US" sz="2000" dirty="0">
                <a:latin typeface="Times New Roman" panose="02020603050405020304" pitchFamily="18" charset="0"/>
                <a:cs typeface="Times New Roman" panose="02020603050405020304" pitchFamily="18" charset="0"/>
              </a:rPr>
              <a:t> It provides an easy way to select one item from the list of items and it shows a dropdown list of all values when we click on it. </a:t>
            </a:r>
          </a:p>
          <a:p>
            <a:pPr algn="just"/>
            <a:r>
              <a:rPr lang="en-US" sz="2000" dirty="0">
                <a:latin typeface="Times New Roman" panose="02020603050405020304" pitchFamily="18" charset="0"/>
                <a:cs typeface="Times New Roman" panose="02020603050405020304" pitchFamily="18" charset="0"/>
              </a:rPr>
              <a:t>The default value of the android spinner will be the currently selected value and by using Adapter we can easily bind the items to the spinner objects.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818467084"/>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4966236C-0A99-C65E-E736-58886697798A}"/>
              </a:ext>
            </a:extLst>
          </p:cNvPr>
          <p:cNvSpPr>
            <a:spLocks noChangeArrowheads="1"/>
          </p:cNvSpPr>
          <p:nvPr/>
        </p:nvSpPr>
        <p:spPr bwMode="auto">
          <a:xfrm rot="10800000" flipV="1">
            <a:off x="908718" y="1304770"/>
            <a:ext cx="9538127" cy="3354765"/>
          </a:xfrm>
          <a:prstGeom prst="rect">
            <a:avLst/>
          </a:prstGeom>
          <a:solidFill>
            <a:srgbClr val="F6F6F6"/>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B75301"/>
                </a:solidFill>
                <a:effectLst/>
                <a:latin typeface="inherit"/>
              </a:rPr>
              <a:t>List</a:t>
            </a:r>
            <a:r>
              <a:rPr kumimoji="0" lang="en-US" altLang="en-US" sz="2000" b="0" i="0" u="none" strike="noStrike" cap="none" normalizeH="0" baseline="0" dirty="0">
                <a:ln>
                  <a:noFill/>
                </a:ln>
                <a:solidFill>
                  <a:srgbClr val="0C0D0E"/>
                </a:solidFill>
                <a:effectLst/>
                <a:latin typeface="inherit"/>
              </a:rPr>
              <a:t>&lt;</a:t>
            </a:r>
            <a:r>
              <a:rPr kumimoji="0" lang="en-US" altLang="en-US" sz="2000" b="0" i="0" u="none" strike="noStrike" cap="none" normalizeH="0" baseline="0" dirty="0">
                <a:ln>
                  <a:noFill/>
                </a:ln>
                <a:solidFill>
                  <a:srgbClr val="B75301"/>
                </a:solidFill>
                <a:effectLst/>
                <a:latin typeface="inherit"/>
              </a:rPr>
              <a:t>String</a:t>
            </a:r>
            <a:r>
              <a:rPr kumimoji="0" lang="en-US" altLang="en-US" sz="2000" b="0" i="0" u="none" strike="noStrike" cap="none" normalizeH="0" baseline="0" dirty="0">
                <a:ln>
                  <a:noFill/>
                </a:ln>
                <a:solidFill>
                  <a:srgbClr val="0C0D0E"/>
                </a:solidFill>
                <a:effectLst/>
                <a:latin typeface="inherit"/>
              </a:rPr>
              <a:t>&gt; </a:t>
            </a:r>
            <a:r>
              <a:rPr kumimoji="0" lang="en-US" altLang="en-US" sz="2000" b="0" i="0" u="none" strike="noStrike" cap="none" normalizeH="0" baseline="0" dirty="0" err="1">
                <a:ln>
                  <a:noFill/>
                </a:ln>
                <a:solidFill>
                  <a:srgbClr val="0C0D0E"/>
                </a:solidFill>
                <a:effectLst/>
                <a:latin typeface="inherit"/>
              </a:rPr>
              <a:t>spinnerArray</a:t>
            </a:r>
            <a:r>
              <a:rPr kumimoji="0" lang="en-US" altLang="en-US" sz="2000" b="0" i="0" u="none" strike="noStrike" cap="none" normalizeH="0" baseline="0" dirty="0">
                <a:ln>
                  <a:noFill/>
                </a:ln>
                <a:solidFill>
                  <a:srgbClr val="0C0D0E"/>
                </a:solidFill>
                <a:effectLst/>
                <a:latin typeface="inherit"/>
              </a:rPr>
              <a:t> = </a:t>
            </a:r>
            <a:r>
              <a:rPr kumimoji="0" lang="en-US" altLang="en-US" sz="2000" b="0" i="0" u="none" strike="noStrike" cap="none" normalizeH="0" baseline="0" dirty="0">
                <a:ln>
                  <a:noFill/>
                </a:ln>
                <a:solidFill>
                  <a:srgbClr val="015493"/>
                </a:solidFill>
                <a:effectLst/>
                <a:latin typeface="inherit"/>
              </a:rPr>
              <a:t>new</a:t>
            </a:r>
            <a:r>
              <a:rPr kumimoji="0" lang="en-US" altLang="en-US" sz="2000" b="0" i="0" u="none" strike="noStrike" cap="none" normalizeH="0" baseline="0" dirty="0">
                <a:ln>
                  <a:noFill/>
                </a:ln>
                <a:solidFill>
                  <a:srgbClr val="0C0D0E"/>
                </a:solidFill>
                <a:effectLst/>
                <a:latin typeface="inherit"/>
              </a:rPr>
              <a:t> </a:t>
            </a:r>
            <a:r>
              <a:rPr kumimoji="0" lang="en-US" altLang="en-US" sz="2000" b="0" i="0" u="none" strike="noStrike" cap="none" normalizeH="0" baseline="0" dirty="0" err="1">
                <a:ln>
                  <a:noFill/>
                </a:ln>
                <a:solidFill>
                  <a:srgbClr val="0C0D0E"/>
                </a:solidFill>
                <a:effectLst/>
                <a:latin typeface="inherit"/>
              </a:rPr>
              <a:t>ArrayList</a:t>
            </a:r>
            <a:r>
              <a:rPr kumimoji="0" lang="en-US" altLang="en-US" sz="2000" b="0" i="0" u="none" strike="noStrike" cap="none" normalizeH="0" baseline="0" dirty="0">
                <a:ln>
                  <a:noFill/>
                </a:ln>
                <a:solidFill>
                  <a:srgbClr val="0C0D0E"/>
                </a:solidFill>
                <a:effectLst/>
                <a:latin typeface="inherit"/>
              </a:rPr>
              <a:t>&lt;</a:t>
            </a:r>
            <a:r>
              <a:rPr kumimoji="0" lang="en-US" altLang="en-US" sz="2000" b="0" i="0" u="none" strike="noStrike" cap="none" normalizeH="0" baseline="0" dirty="0">
                <a:ln>
                  <a:noFill/>
                </a:ln>
                <a:solidFill>
                  <a:srgbClr val="B75301"/>
                </a:solidFill>
                <a:effectLst/>
                <a:latin typeface="inherit"/>
              </a:rPr>
              <a:t>String</a:t>
            </a:r>
            <a:r>
              <a:rPr kumimoji="0" lang="en-US" altLang="en-US" sz="2000" b="0" i="0" u="none" strike="noStrike" cap="none" normalizeH="0" baseline="0" dirty="0">
                <a:ln>
                  <a:noFill/>
                </a:ln>
                <a:solidFill>
                  <a:srgbClr val="0C0D0E"/>
                </a:solidFill>
                <a:effectLst/>
                <a:latin typeface="inherit"/>
              </a:rPr>
              <a:t>&gt;();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0C0D0E"/>
                </a:solidFill>
                <a:effectLst/>
                <a:latin typeface="inherit"/>
              </a:rPr>
              <a:t>spinnerArray.add</a:t>
            </a:r>
            <a:r>
              <a:rPr kumimoji="0" lang="en-US" altLang="en-US" sz="2000" b="0" i="0" u="none" strike="noStrike" cap="none" normalizeH="0" baseline="0" dirty="0">
                <a:ln>
                  <a:noFill/>
                </a:ln>
                <a:solidFill>
                  <a:srgbClr val="0C0D0E"/>
                </a:solidFill>
                <a:effectLst/>
                <a:latin typeface="inherit"/>
              </a:rPr>
              <a:t>(</a:t>
            </a:r>
            <a:r>
              <a:rPr kumimoji="0" lang="en-US" altLang="en-US" sz="2000" b="0" i="0" u="none" strike="noStrike" cap="none" normalizeH="0" baseline="0" dirty="0">
                <a:ln>
                  <a:noFill/>
                </a:ln>
                <a:solidFill>
                  <a:srgbClr val="567A0D"/>
                </a:solidFill>
                <a:effectLst/>
                <a:latin typeface="inherit"/>
              </a:rPr>
              <a:t>"item1"</a:t>
            </a:r>
            <a:r>
              <a:rPr kumimoji="0" lang="en-US" altLang="en-US" sz="2000" b="0" i="0" u="none" strike="noStrike" cap="none" normalizeH="0" baseline="0" dirty="0">
                <a:ln>
                  <a:noFill/>
                </a:ln>
                <a:solidFill>
                  <a:srgbClr val="0C0D0E"/>
                </a:solidFill>
                <a:effectLst/>
                <a:latin typeface="inherit"/>
              </a:rPr>
              <a:t>); </a:t>
            </a:r>
            <a:r>
              <a:rPr kumimoji="0" lang="en-US" altLang="en-US" sz="2000" b="0" i="0" u="none" strike="noStrike" cap="none" normalizeH="0" baseline="0" dirty="0" err="1">
                <a:ln>
                  <a:noFill/>
                </a:ln>
                <a:solidFill>
                  <a:srgbClr val="0C0D0E"/>
                </a:solidFill>
                <a:effectLst/>
                <a:latin typeface="inherit"/>
              </a:rPr>
              <a:t>spinnerArray.add</a:t>
            </a:r>
            <a:r>
              <a:rPr kumimoji="0" lang="en-US" altLang="en-US" sz="2000" b="0" i="0" u="none" strike="noStrike" cap="none" normalizeH="0" baseline="0" dirty="0">
                <a:ln>
                  <a:noFill/>
                </a:ln>
                <a:solidFill>
                  <a:srgbClr val="0C0D0E"/>
                </a:solidFill>
                <a:effectLst/>
                <a:latin typeface="inherit"/>
              </a:rPr>
              <a:t>(</a:t>
            </a:r>
            <a:r>
              <a:rPr kumimoji="0" lang="en-US" altLang="en-US" sz="2000" b="0" i="0" u="none" strike="noStrike" cap="none" normalizeH="0" baseline="0" dirty="0">
                <a:ln>
                  <a:noFill/>
                </a:ln>
                <a:solidFill>
                  <a:srgbClr val="567A0D"/>
                </a:solidFill>
                <a:effectLst/>
                <a:latin typeface="inherit"/>
              </a:rPr>
              <a:t>"item2"</a:t>
            </a:r>
            <a:r>
              <a:rPr kumimoji="0" lang="en-US" altLang="en-US" sz="2000" b="0" i="0" u="none" strike="noStrike" cap="none" normalizeH="0" baseline="0" dirty="0">
                <a:ln>
                  <a:noFill/>
                </a:ln>
                <a:solidFill>
                  <a:srgbClr val="0C0D0E"/>
                </a:solidFill>
                <a:effectLst/>
                <a:latin typeface="inheri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0C0D0E"/>
                </a:solidFill>
                <a:effectLst/>
                <a:latin typeface="inherit"/>
              </a:rPr>
              <a:t>ArrayAdapter</a:t>
            </a:r>
            <a:r>
              <a:rPr kumimoji="0" lang="en-US" altLang="en-US" sz="2000" b="0" i="0" u="none" strike="noStrike" cap="none" normalizeH="0" baseline="0" dirty="0">
                <a:ln>
                  <a:noFill/>
                </a:ln>
                <a:solidFill>
                  <a:srgbClr val="0C0D0E"/>
                </a:solidFill>
                <a:effectLst/>
                <a:latin typeface="inherit"/>
              </a:rPr>
              <a:t>&lt;</a:t>
            </a:r>
            <a:r>
              <a:rPr kumimoji="0" lang="en-US" altLang="en-US" sz="2000" b="0" i="0" u="none" strike="noStrike" cap="none" normalizeH="0" baseline="0" dirty="0">
                <a:ln>
                  <a:noFill/>
                </a:ln>
                <a:solidFill>
                  <a:srgbClr val="B75301"/>
                </a:solidFill>
                <a:effectLst/>
                <a:latin typeface="inherit"/>
              </a:rPr>
              <a:t>String</a:t>
            </a:r>
            <a:r>
              <a:rPr kumimoji="0" lang="en-US" altLang="en-US" sz="2000" b="0" i="0" u="none" strike="noStrike" cap="none" normalizeH="0" baseline="0" dirty="0">
                <a:ln>
                  <a:noFill/>
                </a:ln>
                <a:solidFill>
                  <a:srgbClr val="0C0D0E"/>
                </a:solidFill>
                <a:effectLst/>
                <a:latin typeface="inherit"/>
              </a:rPr>
              <a:t>&gt; adapter = </a:t>
            </a:r>
            <a:r>
              <a:rPr kumimoji="0" lang="en-US" altLang="en-US" sz="2000" b="0" i="0" u="none" strike="noStrike" cap="none" normalizeH="0" baseline="0" dirty="0">
                <a:ln>
                  <a:noFill/>
                </a:ln>
                <a:solidFill>
                  <a:srgbClr val="015493"/>
                </a:solidFill>
                <a:effectLst/>
                <a:latin typeface="inherit"/>
              </a:rPr>
              <a:t>new</a:t>
            </a:r>
            <a:r>
              <a:rPr kumimoji="0" lang="en-US" altLang="en-US" sz="2000" b="0" i="0" u="none" strike="noStrike" cap="none" normalizeH="0" baseline="0" dirty="0">
                <a:ln>
                  <a:noFill/>
                </a:ln>
                <a:solidFill>
                  <a:srgbClr val="0C0D0E"/>
                </a:solidFill>
                <a:effectLst/>
                <a:latin typeface="inherit"/>
              </a:rPr>
              <a:t> </a:t>
            </a:r>
            <a:r>
              <a:rPr kumimoji="0" lang="en-US" altLang="en-US" sz="2000" b="0" i="0" u="none" strike="noStrike" cap="none" normalizeH="0" baseline="0" dirty="0" err="1">
                <a:ln>
                  <a:noFill/>
                </a:ln>
                <a:solidFill>
                  <a:srgbClr val="0C0D0E"/>
                </a:solidFill>
                <a:effectLst/>
                <a:latin typeface="inherit"/>
              </a:rPr>
              <a:t>ArrayAdapter</a:t>
            </a:r>
            <a:r>
              <a:rPr kumimoji="0" lang="en-US" altLang="en-US" sz="2000" b="0" i="0" u="none" strike="noStrike" cap="none" normalizeH="0" baseline="0" dirty="0">
                <a:ln>
                  <a:noFill/>
                </a:ln>
                <a:solidFill>
                  <a:srgbClr val="0C0D0E"/>
                </a:solidFill>
                <a:effectLst/>
                <a:latin typeface="inherit"/>
              </a:rPr>
              <a:t>&lt;</a:t>
            </a:r>
            <a:r>
              <a:rPr kumimoji="0" lang="en-US" altLang="en-US" sz="2000" b="0" i="0" u="none" strike="noStrike" cap="none" normalizeH="0" baseline="0" dirty="0">
                <a:ln>
                  <a:noFill/>
                </a:ln>
                <a:solidFill>
                  <a:srgbClr val="B75301"/>
                </a:solidFill>
                <a:effectLst/>
                <a:latin typeface="inherit"/>
              </a:rPr>
              <a:t>String</a:t>
            </a:r>
            <a:r>
              <a:rPr kumimoji="0" lang="en-US" altLang="en-US" sz="2000" b="0" i="0" u="none" strike="noStrike" cap="none" normalizeH="0" baseline="0" dirty="0">
                <a:ln>
                  <a:noFill/>
                </a:ln>
                <a:solidFill>
                  <a:srgbClr val="0C0D0E"/>
                </a:solidFill>
                <a:effectLst/>
                <a:latin typeface="inherit"/>
              </a:rPr>
              <a:t>&gt;( </a:t>
            </a:r>
            <a:r>
              <a:rPr kumimoji="0" lang="en-US" altLang="en-US" sz="2000" b="0" i="0" u="none" strike="noStrike" cap="none" normalizeH="0" baseline="0" dirty="0">
                <a:ln>
                  <a:noFill/>
                </a:ln>
                <a:solidFill>
                  <a:srgbClr val="015493"/>
                </a:solidFill>
                <a:effectLst/>
                <a:latin typeface="inherit"/>
              </a:rPr>
              <a:t>this</a:t>
            </a:r>
            <a:r>
              <a:rPr kumimoji="0" lang="en-US" altLang="en-US" sz="2000" b="0" i="0" u="none" strike="noStrike" cap="none" normalizeH="0" baseline="0" dirty="0">
                <a:ln>
                  <a:noFill/>
                </a:ln>
                <a:solidFill>
                  <a:srgbClr val="0C0D0E"/>
                </a:solidFill>
                <a:effectLst/>
                <a:latin typeface="inherit"/>
              </a:rPr>
              <a:t>, </a:t>
            </a:r>
            <a:r>
              <a:rPr kumimoji="0" lang="en-US" altLang="en-US" sz="2000" b="0" i="0" u="none" strike="noStrike" cap="none" normalizeH="0" baseline="0" dirty="0" err="1">
                <a:ln>
                  <a:noFill/>
                </a:ln>
                <a:solidFill>
                  <a:srgbClr val="0C0D0E"/>
                </a:solidFill>
                <a:effectLst/>
                <a:latin typeface="inherit"/>
              </a:rPr>
              <a:t>android.R.layout.simple_spinner_item</a:t>
            </a:r>
            <a:r>
              <a:rPr kumimoji="0" lang="en-US" altLang="en-US" sz="2000" b="0" i="0" u="none" strike="noStrike" cap="none" normalizeH="0" baseline="0" dirty="0">
                <a:ln>
                  <a:noFill/>
                </a:ln>
                <a:solidFill>
                  <a:srgbClr val="0C0D0E"/>
                </a:solidFill>
                <a:effectLst/>
                <a:latin typeface="inherit"/>
              </a:rPr>
              <a:t>, </a:t>
            </a:r>
            <a:r>
              <a:rPr kumimoji="0" lang="en-US" altLang="en-US" sz="2000" b="0" i="0" u="none" strike="noStrike" cap="none" normalizeH="0" baseline="0" dirty="0" err="1">
                <a:ln>
                  <a:noFill/>
                </a:ln>
                <a:solidFill>
                  <a:srgbClr val="0C0D0E"/>
                </a:solidFill>
                <a:effectLst/>
                <a:latin typeface="inherit"/>
              </a:rPr>
              <a:t>spinnerArray</a:t>
            </a:r>
            <a:r>
              <a:rPr kumimoji="0" lang="en-US" altLang="en-US" sz="2000" b="0" i="0" u="none" strike="noStrike" cap="none" normalizeH="0" baseline="0" dirty="0">
                <a:ln>
                  <a:noFill/>
                </a:ln>
                <a:solidFill>
                  <a:srgbClr val="0C0D0E"/>
                </a:solidFill>
                <a:effectLst/>
                <a:latin typeface="inheri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0C0D0E"/>
                </a:solidFill>
                <a:effectLst/>
                <a:latin typeface="inherit"/>
              </a:rPr>
              <a:t>adapter.setDropDownViewResource</a:t>
            </a:r>
            <a:r>
              <a:rPr kumimoji="0" lang="en-US" altLang="en-US" sz="2000" b="0" i="0" u="none" strike="noStrike" cap="none" normalizeH="0" baseline="0" dirty="0">
                <a:ln>
                  <a:noFill/>
                </a:ln>
                <a:solidFill>
                  <a:srgbClr val="0C0D0E"/>
                </a:solidFill>
                <a:effectLst/>
                <a:latin typeface="inherit"/>
              </a:rPr>
              <a:t>(</a:t>
            </a:r>
            <a:r>
              <a:rPr kumimoji="0" lang="en-US" altLang="en-US" sz="2000" b="0" i="0" u="none" strike="noStrike" cap="none" normalizeH="0" baseline="0" dirty="0" err="1">
                <a:ln>
                  <a:noFill/>
                </a:ln>
                <a:solidFill>
                  <a:srgbClr val="0C0D0E"/>
                </a:solidFill>
                <a:effectLst/>
                <a:latin typeface="inherit"/>
              </a:rPr>
              <a:t>android.R.layout.simple_spinner_dropdown_item</a:t>
            </a:r>
            <a:r>
              <a:rPr kumimoji="0" lang="en-US" altLang="en-US" sz="2000" b="0" i="0" u="none" strike="noStrike" cap="none" normalizeH="0" baseline="0" dirty="0">
                <a:ln>
                  <a:noFill/>
                </a:ln>
                <a:solidFill>
                  <a:srgbClr val="0C0D0E"/>
                </a:solidFill>
                <a:effectLst/>
                <a:latin typeface="inherit"/>
              </a:rPr>
              <a:t>); Spinner </a:t>
            </a:r>
            <a:r>
              <a:rPr kumimoji="0" lang="en-US" altLang="en-US" sz="2000" b="0" i="0" u="none" strike="noStrike" cap="none" normalizeH="0" baseline="0" dirty="0" err="1">
                <a:ln>
                  <a:noFill/>
                </a:ln>
                <a:solidFill>
                  <a:srgbClr val="0C0D0E"/>
                </a:solidFill>
                <a:effectLst/>
                <a:latin typeface="inherit"/>
              </a:rPr>
              <a:t>sItems</a:t>
            </a:r>
            <a:r>
              <a:rPr kumimoji="0" lang="en-US" altLang="en-US" sz="2000" b="0" i="0" u="none" strike="noStrike" cap="none" normalizeH="0" baseline="0" dirty="0">
                <a:ln>
                  <a:noFill/>
                </a:ln>
                <a:solidFill>
                  <a:srgbClr val="0C0D0E"/>
                </a:solidFill>
                <a:effectLst/>
                <a:latin typeface="inherit"/>
              </a:rPr>
              <a:t> = (Spinner) </a:t>
            </a:r>
            <a:r>
              <a:rPr kumimoji="0" lang="en-US" altLang="en-US" sz="2000" b="0" i="0" u="none" strike="noStrike" cap="none" normalizeH="0" baseline="0" dirty="0" err="1">
                <a:ln>
                  <a:noFill/>
                </a:ln>
                <a:solidFill>
                  <a:srgbClr val="0C0D0E"/>
                </a:solidFill>
                <a:effectLst/>
                <a:latin typeface="inherit"/>
              </a:rPr>
              <a:t>findViewById</a:t>
            </a:r>
            <a:r>
              <a:rPr kumimoji="0" lang="en-US" altLang="en-US" sz="2000" b="0" i="0" u="none" strike="noStrike" cap="none" normalizeH="0" baseline="0" dirty="0">
                <a:ln>
                  <a:noFill/>
                </a:ln>
                <a:solidFill>
                  <a:srgbClr val="0C0D0E"/>
                </a:solidFill>
                <a:effectLst/>
                <a:latin typeface="inherit"/>
              </a:rPr>
              <a:t>(R.id.spinner1);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0C0D0E"/>
                </a:solidFill>
                <a:effectLst/>
                <a:latin typeface="inherit"/>
              </a:rPr>
              <a:t>sItems.setAdapter</a:t>
            </a:r>
            <a:r>
              <a:rPr kumimoji="0" lang="en-US" altLang="en-US" sz="2000" b="0" i="0" u="none" strike="noStrike" cap="none" normalizeH="0" baseline="0" dirty="0">
                <a:ln>
                  <a:noFill/>
                </a:ln>
                <a:solidFill>
                  <a:srgbClr val="0C0D0E"/>
                </a:solidFill>
                <a:effectLst/>
                <a:latin typeface="inherit"/>
              </a:rPr>
              <a:t>(adapter);</a:t>
            </a:r>
            <a:r>
              <a:rPr kumimoji="0" lang="en-US" altLang="en-US" sz="20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p>
          <a:p>
            <a:pPr lvl="0" eaLnBrk="0" fontAlgn="base" hangingPunct="0">
              <a:spcBef>
                <a:spcPct val="0"/>
              </a:spcBef>
              <a:spcAft>
                <a:spcPct val="0"/>
              </a:spcAft>
            </a:pPr>
            <a:r>
              <a:rPr lang="en-US" dirty="0"/>
              <a:t> to find out what is selected you could do something like this</a:t>
            </a:r>
          </a:p>
          <a:p>
            <a:pPr lvl="0" eaLnBrk="0" fontAlgn="base" hangingPunct="0">
              <a:spcBef>
                <a:spcPct val="0"/>
              </a:spcBef>
              <a:spcAft>
                <a:spcPct val="0"/>
              </a:spcAf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4" name="Rectangle 3">
            <a:extLst>
              <a:ext uri="{FF2B5EF4-FFF2-40B4-BE49-F238E27FC236}">
                <a16:creationId xmlns="" xmlns:a16="http://schemas.microsoft.com/office/drawing/2014/main" id="{12364DC1-7A9B-39E4-6B9A-460E8E63AC24}"/>
              </a:ext>
            </a:extLst>
          </p:cNvPr>
          <p:cNvSpPr>
            <a:spLocks noChangeArrowheads="1"/>
          </p:cNvSpPr>
          <p:nvPr/>
        </p:nvSpPr>
        <p:spPr bwMode="auto">
          <a:xfrm>
            <a:off x="846246" y="4623614"/>
            <a:ext cx="9538127" cy="615553"/>
          </a:xfrm>
          <a:prstGeom prst="rect">
            <a:avLst/>
          </a:prstGeom>
          <a:solidFill>
            <a:srgbClr val="F6F6F6"/>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B75301"/>
                </a:solidFill>
                <a:effectLst/>
                <a:latin typeface="inherit"/>
              </a:rPr>
              <a:t>String</a:t>
            </a:r>
            <a:r>
              <a:rPr kumimoji="0" lang="en-US" altLang="en-US" sz="2000" b="0" i="0" u="none" strike="noStrike" cap="none" normalizeH="0" baseline="0" dirty="0">
                <a:ln>
                  <a:noFill/>
                </a:ln>
                <a:solidFill>
                  <a:srgbClr val="0C0D0E"/>
                </a:solidFill>
                <a:effectLst/>
                <a:latin typeface="inherit"/>
              </a:rPr>
              <a:t> selected = </a:t>
            </a:r>
            <a:r>
              <a:rPr kumimoji="0" lang="en-US" altLang="en-US" sz="2000" b="0" i="0" u="none" strike="noStrike" cap="none" normalizeH="0" baseline="0" dirty="0" err="1">
                <a:ln>
                  <a:noFill/>
                </a:ln>
                <a:solidFill>
                  <a:srgbClr val="0C0D0E"/>
                </a:solidFill>
                <a:effectLst/>
                <a:latin typeface="inherit"/>
              </a:rPr>
              <a:t>sItems.getSelectedItem</a:t>
            </a:r>
            <a:r>
              <a:rPr kumimoji="0" lang="en-US" altLang="en-US" sz="2000" b="0" i="0" u="none" strike="noStrike" cap="none" normalizeH="0" baseline="0" dirty="0">
                <a:ln>
                  <a:noFill/>
                </a:ln>
                <a:solidFill>
                  <a:srgbClr val="0C0D0E"/>
                </a:solidFill>
                <a:effectLst/>
                <a:latin typeface="inherit"/>
              </a:rPr>
              <a:t>().</a:t>
            </a:r>
            <a:r>
              <a:rPr kumimoji="0" lang="en-US" altLang="en-US" sz="2000" b="0" i="0" u="none" strike="noStrike" cap="none" normalizeH="0" baseline="0" dirty="0" err="1">
                <a:ln>
                  <a:noFill/>
                </a:ln>
                <a:solidFill>
                  <a:srgbClr val="0C0D0E"/>
                </a:solidFill>
                <a:effectLst/>
                <a:latin typeface="inherit"/>
              </a:rPr>
              <a:t>toString</a:t>
            </a:r>
            <a:r>
              <a:rPr kumimoji="0" lang="en-US" altLang="en-US" sz="2000" b="0" i="0" u="none" strike="noStrike" cap="none" normalizeH="0" baseline="0" dirty="0">
                <a:ln>
                  <a:noFill/>
                </a:ln>
                <a:solidFill>
                  <a:srgbClr val="0C0D0E"/>
                </a:solidFill>
                <a:effectLst/>
                <a:latin typeface="inherit"/>
              </a:rPr>
              <a:t>(); </a:t>
            </a:r>
            <a:r>
              <a:rPr kumimoji="0" lang="en-US" altLang="en-US" sz="2000" b="0" i="0" u="none" strike="noStrike" cap="none" normalizeH="0" baseline="0" dirty="0">
                <a:ln>
                  <a:noFill/>
                </a:ln>
                <a:solidFill>
                  <a:srgbClr val="015493"/>
                </a:solidFill>
                <a:effectLst/>
                <a:latin typeface="inherit"/>
              </a:rPr>
              <a:t>if</a:t>
            </a:r>
            <a:r>
              <a:rPr kumimoji="0" lang="en-US" altLang="en-US" sz="2000" b="0" i="0" u="none" strike="noStrike" cap="none" normalizeH="0" baseline="0" dirty="0">
                <a:ln>
                  <a:noFill/>
                </a:ln>
                <a:solidFill>
                  <a:srgbClr val="0C0D0E"/>
                </a:solidFill>
                <a:effectLst/>
                <a:latin typeface="inherit"/>
              </a:rPr>
              <a:t> (</a:t>
            </a:r>
            <a:r>
              <a:rPr kumimoji="0" lang="en-US" altLang="en-US" sz="2000" b="0" i="0" u="none" strike="noStrike" cap="none" normalizeH="0" baseline="0" dirty="0" err="1">
                <a:ln>
                  <a:noFill/>
                </a:ln>
                <a:solidFill>
                  <a:srgbClr val="0C0D0E"/>
                </a:solidFill>
                <a:effectLst/>
                <a:latin typeface="inherit"/>
              </a:rPr>
              <a:t>selected.equals</a:t>
            </a:r>
            <a:r>
              <a:rPr kumimoji="0" lang="en-US" altLang="en-US" sz="2000" b="0" i="0" u="none" strike="noStrike" cap="none" normalizeH="0" baseline="0" dirty="0">
                <a:ln>
                  <a:noFill/>
                </a:ln>
                <a:solidFill>
                  <a:srgbClr val="0C0D0E"/>
                </a:solidFill>
                <a:effectLst/>
                <a:latin typeface="inherit"/>
              </a:rPr>
              <a:t>(</a:t>
            </a:r>
            <a:r>
              <a:rPr kumimoji="0" lang="en-US" altLang="en-US" sz="2000" b="0" i="0" u="none" strike="noStrike" cap="none" normalizeH="0" baseline="0" dirty="0">
                <a:ln>
                  <a:noFill/>
                </a:ln>
                <a:solidFill>
                  <a:srgbClr val="567A0D"/>
                </a:solidFill>
                <a:effectLst/>
                <a:latin typeface="inherit"/>
              </a:rPr>
              <a:t>"what ever the option was"</a:t>
            </a:r>
            <a:r>
              <a:rPr kumimoji="0" lang="en-US" altLang="en-US" sz="2000" b="0" i="0" u="none" strike="noStrike" cap="none" normalizeH="0" baseline="0" dirty="0">
                <a:ln>
                  <a:noFill/>
                </a:ln>
                <a:solidFill>
                  <a:srgbClr val="0C0D0E"/>
                </a:solidFill>
                <a:effectLst/>
                <a:latin typeface="inherit"/>
              </a:rPr>
              <a:t>)) { }</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2717737442"/>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89E6ED08-59C5-DDFE-D3BD-049E1EE6B46D}"/>
              </a:ext>
            </a:extLst>
          </p:cNvPr>
          <p:cNvSpPr txBox="1"/>
          <p:nvPr/>
        </p:nvSpPr>
        <p:spPr>
          <a:xfrm>
            <a:off x="249898" y="0"/>
            <a:ext cx="11466917" cy="6186309"/>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android.os.Bundle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android.view.View</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android.widget.AdapterView</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android.widget.ArrayAdapter</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android.widget.Spinner</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android.widget.Toast</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androidx.appcompat.app.AppCompatActivity</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public class MainActivity extends </a:t>
            </a:r>
            <a:r>
              <a:rPr lang="en-US" dirty="0" err="1">
                <a:latin typeface="Times New Roman" panose="02020603050405020304" pitchFamily="18" charset="0"/>
                <a:cs typeface="Times New Roman" panose="02020603050405020304" pitchFamily="18" charset="0"/>
              </a:rPr>
              <a:t>AppCompatActivity</a:t>
            </a:r>
            <a:r>
              <a:rPr lang="en-US" dirty="0">
                <a:latin typeface="Times New Roman" panose="02020603050405020304" pitchFamily="18" charset="0"/>
                <a:cs typeface="Times New Roman" panose="02020603050405020304" pitchFamily="18" charset="0"/>
              </a:rPr>
              <a:t> implements </a:t>
            </a:r>
            <a:r>
              <a:rPr lang="en-US" dirty="0" err="1">
                <a:latin typeface="Times New Roman" panose="02020603050405020304" pitchFamily="18" charset="0"/>
                <a:cs typeface="Times New Roman" panose="02020603050405020304" pitchFamily="18" charset="0"/>
              </a:rPr>
              <a:t>AdapterView.OnItemSelectedListener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private String[] courses = {</a:t>
            </a:r>
          </a:p>
          <a:p>
            <a:r>
              <a:rPr lang="en-IN" dirty="0">
                <a:latin typeface="Times New Roman" panose="02020603050405020304" pitchFamily="18" charset="0"/>
                <a:cs typeface="Times New Roman" panose="02020603050405020304" pitchFamily="18" charset="0"/>
              </a:rPr>
              <a:t>            "C", "DBMS",</a:t>
            </a:r>
          </a:p>
          <a:p>
            <a:r>
              <a:rPr lang="en-IN" dirty="0">
                <a:latin typeface="Times New Roman" panose="02020603050405020304" pitchFamily="18" charset="0"/>
                <a:cs typeface="Times New Roman" panose="02020603050405020304" pitchFamily="18" charset="0"/>
              </a:rPr>
              <a:t>            "java", "DAA",</a:t>
            </a:r>
          </a:p>
          <a:p>
            <a:r>
              <a:rPr lang="en-IN" dirty="0">
                <a:latin typeface="Times New Roman" panose="02020603050405020304" pitchFamily="18" charset="0"/>
                <a:cs typeface="Times New Roman" panose="02020603050405020304" pitchFamily="18" charset="0"/>
              </a:rPr>
              <a:t>            "DS", "OS"</a:t>
            </a:r>
          </a:p>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@Override</a:t>
            </a:r>
          </a:p>
          <a:p>
            <a:r>
              <a:rPr lang="en-IN" dirty="0">
                <a:latin typeface="Times New Roman" panose="02020603050405020304" pitchFamily="18" charset="0"/>
                <a:cs typeface="Times New Roman" panose="02020603050405020304" pitchFamily="18" charset="0"/>
              </a:rPr>
              <a:t>    protected void </a:t>
            </a:r>
            <a:r>
              <a:rPr lang="en-IN" dirty="0" err="1">
                <a:latin typeface="Times New Roman" panose="02020603050405020304" pitchFamily="18" charset="0"/>
                <a:cs typeface="Times New Roman" panose="02020603050405020304" pitchFamily="18" charset="0"/>
              </a:rPr>
              <a:t>onCreate</a:t>
            </a:r>
            <a:r>
              <a:rPr lang="en-IN" dirty="0">
                <a:latin typeface="Times New Roman" panose="02020603050405020304" pitchFamily="18" charset="0"/>
                <a:cs typeface="Times New Roman" panose="02020603050405020304" pitchFamily="18" charset="0"/>
              </a:rPr>
              <a:t>(Bundle </a:t>
            </a:r>
            <a:r>
              <a:rPr lang="en-IN" dirty="0" err="1">
                <a:latin typeface="Times New Roman" panose="02020603050405020304" pitchFamily="18" charset="0"/>
                <a:cs typeface="Times New Roman" panose="02020603050405020304" pitchFamily="18" charset="0"/>
              </a:rPr>
              <a:t>savedInstanceState</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super.onCreate</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savedInstanceState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setContentView</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R.layout.activity_main</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040980212"/>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CF7B448E-169F-D415-2B78-11BAB33D1A56}"/>
              </a:ext>
            </a:extLst>
          </p:cNvPr>
          <p:cNvSpPr txBox="1"/>
          <p:nvPr/>
        </p:nvSpPr>
        <p:spPr>
          <a:xfrm>
            <a:off x="556591" y="56795"/>
            <a:ext cx="8588828" cy="535531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Spinner spin = </a:t>
            </a:r>
            <a:r>
              <a:rPr lang="en-IN" dirty="0" err="1">
                <a:latin typeface="Times New Roman" panose="02020603050405020304" pitchFamily="18" charset="0"/>
                <a:cs typeface="Times New Roman" panose="02020603050405020304" pitchFamily="18" charset="0"/>
              </a:rPr>
              <a:t>findViewById</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R.id.spinner</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spin.setOnItemSelectedListener</a:t>
            </a:r>
            <a:r>
              <a:rPr lang="en-IN" dirty="0">
                <a:latin typeface="Times New Roman" panose="02020603050405020304" pitchFamily="18" charset="0"/>
                <a:cs typeface="Times New Roman" panose="02020603050405020304" pitchFamily="18" charset="0"/>
              </a:rPr>
              <a:t>(this);</a:t>
            </a:r>
          </a:p>
          <a:p>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ArrayAdapter</a:t>
            </a:r>
            <a:r>
              <a:rPr lang="en-IN" dirty="0">
                <a:latin typeface="Times New Roman" panose="02020603050405020304" pitchFamily="18" charset="0"/>
                <a:cs typeface="Times New Roman" panose="02020603050405020304" pitchFamily="18" charset="0"/>
              </a:rPr>
              <a:t>&lt;String&gt; ad = new </a:t>
            </a:r>
            <a:r>
              <a:rPr lang="en-IN" dirty="0" err="1">
                <a:latin typeface="Times New Roman" panose="02020603050405020304" pitchFamily="18" charset="0"/>
                <a:cs typeface="Times New Roman" panose="02020603050405020304" pitchFamily="18" charset="0"/>
              </a:rPr>
              <a:t>ArrayAdapter</a:t>
            </a:r>
            <a:r>
              <a:rPr lang="en-IN" dirty="0">
                <a:latin typeface="Times New Roman" panose="02020603050405020304" pitchFamily="18" charset="0"/>
                <a:cs typeface="Times New Roman" panose="02020603050405020304" pitchFamily="18" charset="0"/>
              </a:rPr>
              <a:t>&lt;&gt;(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this,android.R.layout.simple_spinner_item</a:t>
            </a:r>
            <a:r>
              <a:rPr lang="en-IN" dirty="0">
                <a:latin typeface="Times New Roman" panose="02020603050405020304" pitchFamily="18" charset="0"/>
                <a:cs typeface="Times New Roman" panose="02020603050405020304" pitchFamily="18" charset="0"/>
              </a:rPr>
              <a:t>,    courses</a:t>
            </a:r>
          </a:p>
          <a:p>
            <a:r>
              <a:rPr lang="en-IN" dirty="0">
                <a:latin typeface="Times New Roman" panose="02020603050405020304" pitchFamily="18" charset="0"/>
                <a:cs typeface="Times New Roman" panose="02020603050405020304" pitchFamily="18" charset="0"/>
              </a:rPr>
              <a:t>        );</a:t>
            </a:r>
          </a:p>
          <a:p>
            <a:r>
              <a:rPr lang="en-IN" dirty="0" err="1">
                <a:latin typeface="Times New Roman" panose="02020603050405020304" pitchFamily="18" charset="0"/>
                <a:cs typeface="Times New Roman" panose="02020603050405020304" pitchFamily="18" charset="0"/>
              </a:rPr>
              <a:t>ad.setDropDownViewResource</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android.R.layout.simple_spinner_dropdown_item</a:t>
            </a:r>
            <a:r>
              <a:rPr lang="en-IN" dirty="0">
                <a:latin typeface="Times New Roman" panose="02020603050405020304" pitchFamily="18" charset="0"/>
                <a:cs typeface="Times New Roman" panose="02020603050405020304" pitchFamily="18" charset="0"/>
              </a:rPr>
              <a:t>);</a:t>
            </a:r>
          </a:p>
          <a:p>
            <a:r>
              <a:rPr lang="en-IN" dirty="0" err="1">
                <a:latin typeface="Times New Roman" panose="02020603050405020304" pitchFamily="18" charset="0"/>
                <a:cs typeface="Times New Roman" panose="02020603050405020304" pitchFamily="18" charset="0"/>
              </a:rPr>
              <a:t>spin.setAdapter</a:t>
            </a:r>
            <a:r>
              <a:rPr lang="en-IN" dirty="0">
                <a:latin typeface="Times New Roman" panose="02020603050405020304" pitchFamily="18" charset="0"/>
                <a:cs typeface="Times New Roman" panose="02020603050405020304" pitchFamily="18" charset="0"/>
              </a:rPr>
              <a:t>(ad);</a:t>
            </a:r>
          </a:p>
          <a:p>
            <a:r>
              <a:rPr lang="en-US" dirty="0">
                <a:latin typeface="Times New Roman" panose="02020603050405020304" pitchFamily="18" charset="0"/>
                <a:cs typeface="Times New Roman" panose="02020603050405020304" pitchFamily="18" charset="0"/>
              </a:rPr>
              <a:t>public void </a:t>
            </a:r>
            <a:r>
              <a:rPr lang="en-US" dirty="0" err="1">
                <a:latin typeface="Times New Roman" panose="02020603050405020304" pitchFamily="18" charset="0"/>
                <a:cs typeface="Times New Roman" panose="02020603050405020304" pitchFamily="18" charset="0"/>
              </a:rPr>
              <a:t>onItemSelected</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AdapterView</a:t>
            </a:r>
            <a:r>
              <a:rPr lang="en-US" dirty="0">
                <a:latin typeface="Times New Roman" panose="02020603050405020304" pitchFamily="18" charset="0"/>
                <a:cs typeface="Times New Roman" panose="02020603050405020304" pitchFamily="18" charset="0"/>
              </a:rPr>
              <a:t>&lt;?&gt; parent, View </a:t>
            </a:r>
            <a:r>
              <a:rPr lang="en-US" dirty="0" err="1">
                <a:latin typeface="Times New Roman" panose="02020603050405020304" pitchFamily="18" charset="0"/>
                <a:cs typeface="Times New Roman" panose="02020603050405020304" pitchFamily="18" charset="0"/>
              </a:rPr>
              <a:t>view</a:t>
            </a:r>
            <a:r>
              <a:rPr lang="en-US" dirty="0">
                <a:latin typeface="Times New Roman" panose="02020603050405020304" pitchFamily="18" charset="0"/>
                <a:cs typeface="Times New Roman" panose="02020603050405020304" pitchFamily="18" charset="0"/>
              </a:rPr>
              <a:t>, int position, long id) {</a:t>
            </a:r>
          </a:p>
          <a:p>
            <a:r>
              <a:rPr lang="en-US" dirty="0">
                <a:latin typeface="Times New Roman" panose="02020603050405020304" pitchFamily="18" charset="0"/>
                <a:cs typeface="Times New Roman" panose="02020603050405020304" pitchFamily="18" charset="0"/>
              </a:rPr>
              <a:t>        // Make toast of the name of the course which is selected in the spinner</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Toast.makeText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getApplicationContext</a:t>
            </a:r>
            <a:r>
              <a:rPr lang="en-US" dirty="0">
                <a:latin typeface="Times New Roman" panose="02020603050405020304" pitchFamily="18" charset="0"/>
                <a:cs typeface="Times New Roman" panose="02020603050405020304" pitchFamily="18" charset="0"/>
              </a:rPr>
              <a:t>(), courses[position], </a:t>
            </a:r>
            <a:r>
              <a:rPr lang="en-US" dirty="0" err="1">
                <a:latin typeface="Times New Roman" panose="02020603050405020304" pitchFamily="18" charset="0"/>
                <a:cs typeface="Times New Roman" panose="02020603050405020304" pitchFamily="18" charset="0"/>
              </a:rPr>
              <a:t>Toast.LENGTH_SHORT</a:t>
            </a:r>
            <a:r>
              <a:rPr lang="en-US" dirty="0">
                <a:latin typeface="Times New Roman" panose="02020603050405020304" pitchFamily="18" charset="0"/>
                <a:cs typeface="Times New Roman" panose="02020603050405020304" pitchFamily="18" charset="0"/>
              </a:rPr>
              <a:t>).show();</a:t>
            </a:r>
          </a:p>
          <a:p>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@Override</a:t>
            </a:r>
          </a:p>
          <a:p>
            <a:r>
              <a:rPr lang="en-US" dirty="0">
                <a:latin typeface="Times New Roman" panose="02020603050405020304" pitchFamily="18" charset="0"/>
                <a:cs typeface="Times New Roman" panose="02020603050405020304" pitchFamily="18" charset="0"/>
              </a:rPr>
              <a:t>    public void </a:t>
            </a:r>
            <a:r>
              <a:rPr lang="en-US" dirty="0" err="1">
                <a:latin typeface="Times New Roman" panose="02020603050405020304" pitchFamily="18" charset="0"/>
                <a:cs typeface="Times New Roman" panose="02020603050405020304" pitchFamily="18" charset="0"/>
              </a:rPr>
              <a:t>onNothingSelected</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AdapterView</a:t>
            </a:r>
            <a:r>
              <a:rPr lang="en-US" dirty="0">
                <a:latin typeface="Times New Roman" panose="02020603050405020304" pitchFamily="18" charset="0"/>
                <a:cs typeface="Times New Roman" panose="02020603050405020304" pitchFamily="18" charset="0"/>
              </a:rPr>
              <a:t>&lt;?&gt; parent) {</a:t>
            </a:r>
          </a:p>
          <a:p>
            <a:r>
              <a:rPr lang="en-US" dirty="0">
                <a:latin typeface="Times New Roman" panose="02020603050405020304" pitchFamily="18" charset="0"/>
                <a:cs typeface="Times New Roman" panose="02020603050405020304" pitchFamily="18" charset="0"/>
              </a:rPr>
              <a:t>        // No action needed when no selection is made</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669606928"/>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19E28DDD-7ED0-07B7-6959-EB90EE9CF2B7}"/>
              </a:ext>
            </a:extLst>
          </p:cNvPr>
          <p:cNvSpPr txBox="1"/>
          <p:nvPr/>
        </p:nvSpPr>
        <p:spPr>
          <a:xfrm>
            <a:off x="738408" y="197346"/>
            <a:ext cx="10031421" cy="6463308"/>
          </a:xfrm>
          <a:prstGeom prst="rect">
            <a:avLst/>
          </a:prstGeom>
          <a:noFill/>
        </p:spPr>
        <p:txBody>
          <a:bodyPr wrap="square">
            <a:spAutoFit/>
          </a:bodyPr>
          <a:lstStyle/>
          <a:p>
            <a:r>
              <a:rPr lang="en-IN" dirty="0"/>
              <a:t>&lt;?xml version="1.0" encoding="utf-8"?&gt;</a:t>
            </a:r>
          </a:p>
          <a:p>
            <a:r>
              <a:rPr lang="en-IN" dirty="0"/>
              <a:t>&lt;</a:t>
            </a:r>
            <a:r>
              <a:rPr lang="en-IN" dirty="0" err="1"/>
              <a:t>androidx.constraintlayout.widget.ConstraintLayout</a:t>
            </a:r>
            <a:r>
              <a:rPr lang="en-IN" dirty="0"/>
              <a:t> </a:t>
            </a:r>
          </a:p>
          <a:p>
            <a:r>
              <a:rPr lang="en-IN" dirty="0"/>
              <a:t>    </a:t>
            </a:r>
            <a:r>
              <a:rPr lang="en-IN" dirty="0" err="1"/>
              <a:t>xmlns:android</a:t>
            </a:r>
            <a:r>
              <a:rPr lang="en-IN" dirty="0"/>
              <a:t>="http://schemas.android.com/</a:t>
            </a:r>
            <a:r>
              <a:rPr lang="en-IN" dirty="0" err="1"/>
              <a:t>apk</a:t>
            </a:r>
            <a:r>
              <a:rPr lang="en-IN" dirty="0"/>
              <a:t>/res/android"</a:t>
            </a:r>
          </a:p>
          <a:p>
            <a:r>
              <a:rPr lang="en-IN" dirty="0"/>
              <a:t>    </a:t>
            </a:r>
            <a:r>
              <a:rPr lang="en-IN" dirty="0" err="1"/>
              <a:t>xmlns:app</a:t>
            </a:r>
            <a:r>
              <a:rPr lang="en-IN" dirty="0"/>
              <a:t>="http://schemas.android.com/</a:t>
            </a:r>
            <a:r>
              <a:rPr lang="en-IN" dirty="0" err="1"/>
              <a:t>apk</a:t>
            </a:r>
            <a:r>
              <a:rPr lang="en-IN" dirty="0"/>
              <a:t>/res-auto"</a:t>
            </a:r>
          </a:p>
          <a:p>
            <a:r>
              <a:rPr lang="en-IN" dirty="0"/>
              <a:t>    </a:t>
            </a:r>
            <a:r>
              <a:rPr lang="en-IN" dirty="0" err="1"/>
              <a:t>xmlns:tools</a:t>
            </a:r>
            <a:r>
              <a:rPr lang="en-IN" dirty="0"/>
              <a:t>="http://schemas.android.com/tools"</a:t>
            </a:r>
          </a:p>
          <a:p>
            <a:r>
              <a:rPr lang="en-IN" dirty="0"/>
              <a:t>    </a:t>
            </a:r>
            <a:r>
              <a:rPr lang="en-IN" dirty="0" err="1"/>
              <a:t>android:layout_width</a:t>
            </a:r>
            <a:r>
              <a:rPr lang="en-IN" dirty="0"/>
              <a:t>="</a:t>
            </a:r>
            <a:r>
              <a:rPr lang="en-IN" dirty="0" err="1"/>
              <a:t>match_parent</a:t>
            </a:r>
            <a:r>
              <a:rPr lang="en-IN" dirty="0"/>
              <a:t>"</a:t>
            </a:r>
          </a:p>
          <a:p>
            <a:r>
              <a:rPr lang="en-IN" dirty="0"/>
              <a:t>    </a:t>
            </a:r>
            <a:r>
              <a:rPr lang="en-IN" dirty="0" err="1"/>
              <a:t>android:layout_height</a:t>
            </a:r>
            <a:r>
              <a:rPr lang="en-IN" dirty="0"/>
              <a:t>="</a:t>
            </a:r>
            <a:r>
              <a:rPr lang="en-IN" dirty="0" err="1"/>
              <a:t>match_parent</a:t>
            </a:r>
            <a:r>
              <a:rPr lang="en-IN" dirty="0"/>
              <a:t>"</a:t>
            </a:r>
          </a:p>
          <a:p>
            <a:r>
              <a:rPr lang="en-IN" dirty="0"/>
              <a:t>    </a:t>
            </a:r>
            <a:r>
              <a:rPr lang="en-IN" dirty="0" err="1"/>
              <a:t>android:background</a:t>
            </a:r>
            <a:r>
              <a:rPr lang="en-IN" dirty="0"/>
              <a:t>="@</a:t>
            </a:r>
            <a:r>
              <a:rPr lang="en-IN" dirty="0" err="1"/>
              <a:t>color</a:t>
            </a:r>
            <a:r>
              <a:rPr lang="en-IN" dirty="0"/>
              <a:t>/white"</a:t>
            </a:r>
          </a:p>
          <a:p>
            <a:r>
              <a:rPr lang="en-IN" dirty="0"/>
              <a:t>    </a:t>
            </a:r>
            <a:r>
              <a:rPr lang="en-IN" dirty="0" err="1"/>
              <a:t>tools:context</a:t>
            </a:r>
            <a:r>
              <a:rPr lang="en-IN" dirty="0"/>
              <a:t>=".MainActivity"&gt;</a:t>
            </a:r>
          </a:p>
          <a:p>
            <a:endParaRPr lang="en-IN" dirty="0"/>
          </a:p>
          <a:p>
            <a:r>
              <a:rPr lang="en-IN" dirty="0"/>
              <a:t>    &lt;!--Spinner widget--&gt;</a:t>
            </a:r>
          </a:p>
          <a:p>
            <a:r>
              <a:rPr lang="en-IN" dirty="0"/>
              <a:t>    &lt;Spinner</a:t>
            </a:r>
          </a:p>
          <a:p>
            <a:r>
              <a:rPr lang="en-IN" dirty="0"/>
              <a:t>        </a:t>
            </a:r>
            <a:r>
              <a:rPr lang="en-IN" dirty="0" err="1"/>
              <a:t>android:id</a:t>
            </a:r>
            <a:r>
              <a:rPr lang="en-IN" dirty="0"/>
              <a:t>="@+id/spinner"</a:t>
            </a:r>
          </a:p>
          <a:p>
            <a:r>
              <a:rPr lang="en-IN" dirty="0"/>
              <a:t>        </a:t>
            </a:r>
            <a:r>
              <a:rPr lang="en-IN" dirty="0" err="1"/>
              <a:t>android:layout_width</a:t>
            </a:r>
            <a:r>
              <a:rPr lang="en-IN" dirty="0"/>
              <a:t>="</a:t>
            </a:r>
            <a:r>
              <a:rPr lang="en-IN" dirty="0" err="1"/>
              <a:t>wrap_content</a:t>
            </a:r>
            <a:r>
              <a:rPr lang="en-IN" dirty="0"/>
              <a:t>"</a:t>
            </a:r>
          </a:p>
          <a:p>
            <a:r>
              <a:rPr lang="en-IN" dirty="0"/>
              <a:t>        </a:t>
            </a:r>
            <a:r>
              <a:rPr lang="en-IN" dirty="0" err="1"/>
              <a:t>android:layout_height</a:t>
            </a:r>
            <a:r>
              <a:rPr lang="en-IN" dirty="0"/>
              <a:t>="</a:t>
            </a:r>
            <a:r>
              <a:rPr lang="en-IN" dirty="0" err="1"/>
              <a:t>wrap_content</a:t>
            </a:r>
            <a:r>
              <a:rPr lang="en-IN" dirty="0"/>
              <a:t>"</a:t>
            </a:r>
          </a:p>
          <a:p>
            <a:r>
              <a:rPr lang="en-IN" dirty="0"/>
              <a:t>        </a:t>
            </a:r>
            <a:r>
              <a:rPr lang="en-IN" dirty="0" err="1"/>
              <a:t>android:paddingHorizontal</a:t>
            </a:r>
            <a:r>
              <a:rPr lang="en-IN" dirty="0"/>
              <a:t>="16dp"</a:t>
            </a:r>
          </a:p>
          <a:p>
            <a:r>
              <a:rPr lang="en-IN" dirty="0"/>
              <a:t>        </a:t>
            </a:r>
            <a:r>
              <a:rPr lang="en-IN" dirty="0" err="1"/>
              <a:t>android:paddingVertical</a:t>
            </a:r>
            <a:r>
              <a:rPr lang="en-IN" dirty="0"/>
              <a:t>="8dp"</a:t>
            </a:r>
          </a:p>
          <a:p>
            <a:r>
              <a:rPr lang="en-IN" dirty="0"/>
              <a:t>        </a:t>
            </a:r>
            <a:r>
              <a:rPr lang="en-IN" dirty="0" err="1"/>
              <a:t>app:layout_constraintBottom_toBottomOf</a:t>
            </a:r>
            <a:r>
              <a:rPr lang="en-IN" dirty="0"/>
              <a:t>="parent"</a:t>
            </a:r>
          </a:p>
          <a:p>
            <a:r>
              <a:rPr lang="en-IN" dirty="0"/>
              <a:t>        </a:t>
            </a:r>
            <a:r>
              <a:rPr lang="en-IN" dirty="0" err="1"/>
              <a:t>app:layout_constraintEnd_toEndOf</a:t>
            </a:r>
            <a:r>
              <a:rPr lang="en-IN" dirty="0"/>
              <a:t>="parent"</a:t>
            </a:r>
          </a:p>
          <a:p>
            <a:r>
              <a:rPr lang="en-IN" dirty="0"/>
              <a:t>        </a:t>
            </a:r>
            <a:r>
              <a:rPr lang="en-IN" dirty="0" err="1"/>
              <a:t>app:layout_constraintStart_toStartOf</a:t>
            </a:r>
            <a:r>
              <a:rPr lang="en-IN" dirty="0"/>
              <a:t>="parent"</a:t>
            </a:r>
          </a:p>
          <a:p>
            <a:r>
              <a:rPr lang="en-IN" dirty="0"/>
              <a:t>        </a:t>
            </a:r>
            <a:r>
              <a:rPr lang="en-IN" dirty="0" err="1"/>
              <a:t>app:layout_constraintTop_toTopOf</a:t>
            </a:r>
            <a:r>
              <a:rPr lang="en-IN" dirty="0"/>
              <a:t>="parent"/&gt;</a:t>
            </a:r>
          </a:p>
          <a:p>
            <a:endParaRPr lang="en-IN" dirty="0"/>
          </a:p>
          <a:p>
            <a:r>
              <a:rPr lang="en-IN" dirty="0"/>
              <a:t>&lt;/</a:t>
            </a:r>
            <a:r>
              <a:rPr lang="en-IN" dirty="0" err="1"/>
              <a:t>androidx.constraintlayout.widget.ConstraintLayout</a:t>
            </a:r>
            <a:r>
              <a:rPr lang="en-IN" dirty="0"/>
              <a:t>&gt;</a:t>
            </a:r>
          </a:p>
        </p:txBody>
      </p:sp>
    </p:spTree>
    <p:extLst>
      <p:ext uri="{BB962C8B-B14F-4D97-AF65-F5344CB8AC3E}">
        <p14:creationId xmlns="" xmlns:p14="http://schemas.microsoft.com/office/powerpoint/2010/main" val="2865812461"/>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Android Different Types of UI Controls</a:t>
            </a:r>
            <a:br>
              <a:rPr lang="en-US" dirty="0" smtClean="0"/>
            </a:br>
            <a:endParaRPr lang="en-US" dirty="0"/>
          </a:p>
        </p:txBody>
      </p:sp>
      <p:sp>
        <p:nvSpPr>
          <p:cNvPr id="4" name="Content Placeholder 3"/>
          <p:cNvSpPr>
            <a:spLocks noGrp="1"/>
          </p:cNvSpPr>
          <p:nvPr>
            <p:ph idx="1"/>
          </p:nvPr>
        </p:nvSpPr>
        <p:spPr/>
        <p:txBody>
          <a:bodyPr>
            <a:normAutofit lnSpcReduction="10000"/>
          </a:bodyPr>
          <a:lstStyle/>
          <a:p>
            <a:r>
              <a:rPr lang="en-US" dirty="0" err="1" smtClean="0">
                <a:hlinkClick r:id="rId2" tooltip="Android TextView Control with Examples"/>
              </a:rPr>
              <a:t>TextView</a:t>
            </a:r>
            <a:endParaRPr lang="en-US" dirty="0" smtClean="0"/>
          </a:p>
          <a:p>
            <a:r>
              <a:rPr lang="en-US" dirty="0" err="1" smtClean="0">
                <a:hlinkClick r:id="rId3" tooltip="Android EditText Control with Example"/>
              </a:rPr>
              <a:t>EditText</a:t>
            </a:r>
            <a:endParaRPr lang="en-US" dirty="0" smtClean="0"/>
          </a:p>
          <a:p>
            <a:r>
              <a:rPr lang="en-US" dirty="0" err="1" smtClean="0">
                <a:hlinkClick r:id="rId4" tooltip="Android AutoCompleteTextView with Examples"/>
              </a:rPr>
              <a:t>AutoCompleteTextView</a:t>
            </a:r>
            <a:endParaRPr lang="en-US" dirty="0" smtClean="0"/>
          </a:p>
          <a:p>
            <a:r>
              <a:rPr lang="en-US" dirty="0" smtClean="0">
                <a:hlinkClick r:id="rId5" tooltip="Android Buttons with Examples"/>
              </a:rPr>
              <a:t>Button</a:t>
            </a:r>
            <a:endParaRPr lang="en-US" dirty="0" smtClean="0"/>
          </a:p>
          <a:p>
            <a:r>
              <a:rPr lang="en-US" dirty="0" err="1" smtClean="0">
                <a:hlinkClick r:id="rId6" tooltip="Android ImageButton with Examples"/>
              </a:rPr>
              <a:t>ImageButton</a:t>
            </a:r>
            <a:endParaRPr lang="en-US" dirty="0" smtClean="0"/>
          </a:p>
          <a:p>
            <a:r>
              <a:rPr lang="en-US" dirty="0" err="1" smtClean="0">
                <a:hlinkClick r:id="rId7" tooltip="Android ToggleButton with Examples"/>
              </a:rPr>
              <a:t>ToggleButton</a:t>
            </a:r>
            <a:endParaRPr lang="en-US" dirty="0" smtClean="0"/>
          </a:p>
          <a:p>
            <a:r>
              <a:rPr lang="en-US" dirty="0" err="1" smtClean="0">
                <a:hlinkClick r:id="rId8" tooltip="Android CheckBox Control with Examples"/>
              </a:rPr>
              <a:t>CheckBox</a:t>
            </a:r>
            <a:endParaRPr lang="en-US" dirty="0" smtClean="0"/>
          </a:p>
          <a:p>
            <a:r>
              <a:rPr lang="en-US" dirty="0" err="1" smtClean="0">
                <a:hlinkClick r:id="rId9" tooltip="Android Radio Button with Examples"/>
              </a:rPr>
              <a:t>RadioButton</a:t>
            </a:r>
            <a:endParaRPr lang="en-US" dirty="0" smtClean="0"/>
          </a:p>
          <a:p>
            <a:r>
              <a:rPr lang="en-US" dirty="0" err="1" smtClean="0">
                <a:hlinkClick r:id="rId10" tooltip="Android RadioGroup with Examples"/>
              </a:rPr>
              <a:t>RadioGroup</a:t>
            </a:r>
            <a:endParaRPr lang="en-US" dirty="0" smtClean="0"/>
          </a:p>
          <a:p>
            <a:pPr>
              <a:buNone/>
            </a:pPr>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365125"/>
            <a:ext cx="10782300" cy="644525"/>
          </a:xfrm>
        </p:spPr>
        <p:txBody>
          <a:bodyPr>
            <a:normAutofit fontScale="90000"/>
          </a:bodyPr>
          <a:lstStyle/>
          <a:p>
            <a:r>
              <a:rPr lang="en-US" dirty="0" smtClean="0"/>
              <a:t>Check Box</a:t>
            </a:r>
            <a:endParaRPr lang="en-US" dirty="0"/>
          </a:p>
        </p:txBody>
      </p:sp>
      <p:sp>
        <p:nvSpPr>
          <p:cNvPr id="3" name="Content Placeholder 2"/>
          <p:cNvSpPr>
            <a:spLocks noGrp="1"/>
          </p:cNvSpPr>
          <p:nvPr>
            <p:ph idx="1"/>
          </p:nvPr>
        </p:nvSpPr>
        <p:spPr>
          <a:xfrm>
            <a:off x="838200" y="1825625"/>
            <a:ext cx="6267450" cy="4351338"/>
          </a:xfrm>
        </p:spPr>
        <p:txBody>
          <a:bodyPr>
            <a:normAutofit fontScale="55000" lnSpcReduction="20000"/>
          </a:bodyPr>
          <a:lstStyle/>
          <a:p>
            <a:pPr>
              <a:buNone/>
            </a:pPr>
            <a:endParaRPr lang="en-US" dirty="0" smtClean="0"/>
          </a:p>
          <a:p>
            <a:pPr>
              <a:buNone/>
            </a:pPr>
            <a:r>
              <a:rPr lang="en-US" dirty="0" smtClean="0"/>
              <a:t>&lt;?xml version="1.0" encoding="utf-8"?&gt;</a:t>
            </a:r>
            <a:br>
              <a:rPr lang="en-US" dirty="0" smtClean="0"/>
            </a:br>
            <a:r>
              <a:rPr lang="en-US" dirty="0" smtClean="0"/>
              <a:t>&lt;</a:t>
            </a:r>
            <a:r>
              <a:rPr lang="en-US" dirty="0" err="1" smtClean="0"/>
              <a:t>LinearLayout</a:t>
            </a:r>
            <a:r>
              <a:rPr lang="en-US" dirty="0" smtClean="0"/>
              <a:t> </a:t>
            </a:r>
            <a:r>
              <a:rPr lang="en-US" dirty="0" err="1" smtClean="0"/>
              <a:t>xmlns:android</a:t>
            </a:r>
            <a:r>
              <a:rPr lang="en-US" dirty="0" smtClean="0"/>
              <a:t>="http://schemas.android.com/apk/res/android"</a:t>
            </a:r>
            <a:br>
              <a:rPr lang="en-US" dirty="0" smtClean="0"/>
            </a:br>
            <a:r>
              <a:rPr lang="en-US" dirty="0" smtClean="0"/>
              <a:t>    </a:t>
            </a:r>
            <a:r>
              <a:rPr lang="en-US" dirty="0" err="1" smtClean="0"/>
              <a:t>android:orientation</a:t>
            </a:r>
            <a:r>
              <a:rPr lang="en-US" dirty="0" smtClean="0"/>
              <a:t>="vertical" </a:t>
            </a:r>
            <a:r>
              <a:rPr lang="en-US" dirty="0" err="1" smtClean="0"/>
              <a:t>android:layout_width</a:t>
            </a:r>
            <a:r>
              <a:rPr lang="en-US" dirty="0" smtClean="0"/>
              <a:t>="</a:t>
            </a:r>
            <a:r>
              <a:rPr lang="en-US" dirty="0" err="1" smtClean="0"/>
              <a:t>match_parent</a:t>
            </a:r>
            <a:r>
              <a:rPr lang="en-US" dirty="0" smtClean="0"/>
              <a:t>"</a:t>
            </a:r>
            <a:br>
              <a:rPr lang="en-US" dirty="0" smtClean="0"/>
            </a:br>
            <a:r>
              <a:rPr lang="en-US" dirty="0" smtClean="0"/>
              <a:t>    </a:t>
            </a:r>
            <a:r>
              <a:rPr lang="en-US" dirty="0" err="1" smtClean="0"/>
              <a:t>android:layout_height</a:t>
            </a:r>
            <a:r>
              <a:rPr lang="en-US" dirty="0" smtClean="0"/>
              <a:t>="</a:t>
            </a:r>
            <a:r>
              <a:rPr lang="en-US" dirty="0" err="1" smtClean="0"/>
              <a:t>match_parent</a:t>
            </a:r>
            <a:r>
              <a:rPr lang="en-US" dirty="0" smtClean="0"/>
              <a:t>"&gt;</a:t>
            </a:r>
            <a:br>
              <a:rPr lang="en-US" dirty="0" smtClean="0"/>
            </a:br>
            <a:r>
              <a:rPr lang="en-US" dirty="0" smtClean="0"/>
              <a:t>    &lt;</a:t>
            </a:r>
            <a:r>
              <a:rPr lang="en-US" dirty="0" err="1" smtClean="0"/>
              <a:t>CheckBox</a:t>
            </a:r>
            <a:r>
              <a:rPr lang="en-US" dirty="0" smtClean="0"/>
              <a:t/>
            </a:r>
            <a:br>
              <a:rPr lang="en-US" dirty="0" smtClean="0"/>
            </a:br>
            <a:r>
              <a:rPr lang="en-US" dirty="0" smtClean="0"/>
              <a:t>        </a:t>
            </a:r>
            <a:r>
              <a:rPr lang="en-US" dirty="0" err="1" smtClean="0"/>
              <a:t>android:id</a:t>
            </a:r>
            <a:r>
              <a:rPr lang="en-US" dirty="0" smtClean="0"/>
              <a:t>="@+id/</a:t>
            </a:r>
            <a:r>
              <a:rPr lang="en-US" dirty="0" err="1" smtClean="0"/>
              <a:t>chkJava</a:t>
            </a:r>
            <a:r>
              <a:rPr lang="en-US" dirty="0" smtClean="0"/>
              <a:t>"</a:t>
            </a:r>
            <a:br>
              <a:rPr lang="en-US" dirty="0" smtClean="0"/>
            </a:br>
            <a:r>
              <a:rPr lang="en-US" dirty="0" smtClean="0"/>
              <a:t>        </a:t>
            </a:r>
            <a:r>
              <a:rPr lang="en-US" dirty="0" err="1" smtClean="0"/>
              <a:t>android:layout_width</a:t>
            </a:r>
            <a:r>
              <a:rPr lang="en-US" dirty="0" smtClean="0"/>
              <a:t>="</a:t>
            </a:r>
            <a:r>
              <a:rPr lang="en-US" dirty="0" err="1" smtClean="0"/>
              <a:t>wrap_content</a:t>
            </a:r>
            <a:r>
              <a:rPr lang="en-US" dirty="0" smtClean="0"/>
              <a:t>"</a:t>
            </a:r>
            <a:br>
              <a:rPr lang="en-US" dirty="0" smtClean="0"/>
            </a:br>
            <a:r>
              <a:rPr lang="en-US" dirty="0" smtClean="0"/>
              <a:t>        </a:t>
            </a:r>
            <a:r>
              <a:rPr lang="en-US" dirty="0" err="1" smtClean="0"/>
              <a:t>android:layout_height</a:t>
            </a:r>
            <a:r>
              <a:rPr lang="en-US" dirty="0" smtClean="0"/>
              <a:t>="</a:t>
            </a:r>
            <a:r>
              <a:rPr lang="en-US" dirty="0" err="1" smtClean="0"/>
              <a:t>wrap_content</a:t>
            </a:r>
            <a:r>
              <a:rPr lang="en-US" dirty="0" smtClean="0"/>
              <a:t>"</a:t>
            </a:r>
            <a:br>
              <a:rPr lang="en-US" dirty="0" smtClean="0"/>
            </a:br>
            <a:r>
              <a:rPr lang="en-US" dirty="0" smtClean="0"/>
              <a:t>        </a:t>
            </a:r>
            <a:r>
              <a:rPr lang="en-US" dirty="0" err="1" smtClean="0"/>
              <a:t>android:padding</a:t>
            </a:r>
            <a:r>
              <a:rPr lang="en-US" dirty="0" smtClean="0"/>
              <a:t>="10dp"</a:t>
            </a:r>
            <a:br>
              <a:rPr lang="en-US" dirty="0" smtClean="0"/>
            </a:br>
            <a:r>
              <a:rPr lang="en-US" dirty="0" smtClean="0"/>
              <a:t>        </a:t>
            </a:r>
            <a:r>
              <a:rPr lang="en-US" dirty="0" err="1" smtClean="0"/>
              <a:t>android:layout_marginTop</a:t>
            </a:r>
            <a:r>
              <a:rPr lang="en-US" dirty="0" smtClean="0"/>
              <a:t>="150dp"</a:t>
            </a:r>
            <a:br>
              <a:rPr lang="en-US" dirty="0" smtClean="0"/>
            </a:br>
            <a:r>
              <a:rPr lang="en-US" dirty="0" smtClean="0"/>
              <a:t>        </a:t>
            </a:r>
            <a:r>
              <a:rPr lang="en-US" dirty="0" err="1" smtClean="0"/>
              <a:t>android:layout_marginLeft</a:t>
            </a:r>
            <a:r>
              <a:rPr lang="en-US" dirty="0" smtClean="0"/>
              <a:t>="100dp"</a:t>
            </a:r>
            <a:br>
              <a:rPr lang="en-US" dirty="0" smtClean="0"/>
            </a:br>
            <a:r>
              <a:rPr lang="en-US" dirty="0" smtClean="0"/>
              <a:t>        </a:t>
            </a:r>
            <a:r>
              <a:rPr lang="en-US" dirty="0" err="1" smtClean="0"/>
              <a:t>android:text</a:t>
            </a:r>
            <a:r>
              <a:rPr lang="en-US" dirty="0" smtClean="0"/>
              <a:t>="Java"</a:t>
            </a:r>
            <a:br>
              <a:rPr lang="en-US" dirty="0" smtClean="0"/>
            </a:br>
            <a:r>
              <a:rPr lang="en-US" dirty="0" smtClean="0"/>
              <a:t>        </a:t>
            </a:r>
            <a:r>
              <a:rPr lang="en-US" dirty="0" err="1" smtClean="0"/>
              <a:t>android:onClick</a:t>
            </a:r>
            <a:r>
              <a:rPr lang="en-US" dirty="0" smtClean="0"/>
              <a:t>="</a:t>
            </a:r>
            <a:r>
              <a:rPr lang="en-US" dirty="0" err="1" smtClean="0"/>
              <a:t>onCheckboxClicked</a:t>
            </a:r>
            <a:r>
              <a:rPr lang="en-US" dirty="0" smtClean="0"/>
              <a:t>"/&gt;</a:t>
            </a:r>
            <a:br>
              <a:rPr lang="en-US" dirty="0" smtClean="0"/>
            </a:br>
            <a:r>
              <a:rPr lang="en-US" dirty="0" smtClean="0"/>
              <a:t>    &lt;</a:t>
            </a:r>
            <a:r>
              <a:rPr lang="en-US" dirty="0" err="1" smtClean="0"/>
              <a:t>CheckBox</a:t>
            </a:r>
            <a:r>
              <a:rPr lang="en-US" dirty="0" smtClean="0"/>
              <a:t/>
            </a:r>
            <a:br>
              <a:rPr lang="en-US" dirty="0" smtClean="0"/>
            </a:br>
            <a:r>
              <a:rPr lang="en-US" dirty="0" smtClean="0"/>
              <a:t>        </a:t>
            </a:r>
            <a:r>
              <a:rPr lang="en-US" dirty="0" err="1" smtClean="0"/>
              <a:t>android:id</a:t>
            </a:r>
            <a:r>
              <a:rPr lang="en-US" dirty="0" smtClean="0"/>
              <a:t>="@+id/</a:t>
            </a:r>
            <a:r>
              <a:rPr lang="en-US" dirty="0" err="1" smtClean="0"/>
              <a:t>chkPython</a:t>
            </a:r>
            <a:r>
              <a:rPr lang="en-US" dirty="0" smtClean="0"/>
              <a:t>"</a:t>
            </a:r>
            <a:br>
              <a:rPr lang="en-US" dirty="0" smtClean="0"/>
            </a:br>
            <a:r>
              <a:rPr lang="en-US" dirty="0" smtClean="0"/>
              <a:t>        </a:t>
            </a:r>
            <a:r>
              <a:rPr lang="en-US" dirty="0" err="1" smtClean="0"/>
              <a:t>android:layout_width</a:t>
            </a:r>
            <a:r>
              <a:rPr lang="en-US" dirty="0" smtClean="0"/>
              <a:t>="</a:t>
            </a:r>
            <a:r>
              <a:rPr lang="en-US" dirty="0" err="1" smtClean="0"/>
              <a:t>wrap_content</a:t>
            </a:r>
            <a:r>
              <a:rPr lang="en-US" dirty="0" smtClean="0"/>
              <a:t>"</a:t>
            </a:r>
            <a:br>
              <a:rPr lang="en-US" dirty="0" smtClean="0"/>
            </a:br>
            <a:r>
              <a:rPr lang="en-US" dirty="0" smtClean="0"/>
              <a:t>        </a:t>
            </a:r>
            <a:r>
              <a:rPr lang="en-US" dirty="0" err="1" smtClean="0"/>
              <a:t>android:layout_height</a:t>
            </a:r>
            <a:r>
              <a:rPr lang="en-US" dirty="0" smtClean="0"/>
              <a:t>="</a:t>
            </a:r>
            <a:r>
              <a:rPr lang="en-US" dirty="0" err="1" smtClean="0"/>
              <a:t>wrap_content</a:t>
            </a:r>
            <a:r>
              <a:rPr lang="en-US" dirty="0" smtClean="0"/>
              <a:t>"</a:t>
            </a:r>
            <a:br>
              <a:rPr lang="en-US" dirty="0" smtClean="0"/>
            </a:br>
            <a:r>
              <a:rPr lang="en-US" dirty="0" smtClean="0"/>
              <a:t>        </a:t>
            </a:r>
            <a:r>
              <a:rPr lang="en-US" dirty="0" err="1" smtClean="0"/>
              <a:t>android:padding</a:t>
            </a:r>
            <a:r>
              <a:rPr lang="en-US" dirty="0" smtClean="0"/>
              <a:t>="10dp"</a:t>
            </a:r>
            <a:br>
              <a:rPr lang="en-US" dirty="0" smtClean="0"/>
            </a:br>
            <a:r>
              <a:rPr lang="en-US" dirty="0" smtClean="0"/>
              <a:t>        </a:t>
            </a:r>
            <a:r>
              <a:rPr lang="en-US" dirty="0" err="1" smtClean="0"/>
              <a:t>android:layout_marginLeft</a:t>
            </a:r>
            <a:r>
              <a:rPr lang="en-US" dirty="0" smtClean="0"/>
              <a:t>="100dp"</a:t>
            </a:r>
            <a:br>
              <a:rPr lang="en-US" dirty="0" smtClean="0"/>
            </a:br>
            <a:r>
              <a:rPr lang="en-US" dirty="0" smtClean="0"/>
              <a:t>        </a:t>
            </a:r>
            <a:r>
              <a:rPr lang="en-US" dirty="0" err="1" smtClean="0"/>
              <a:t>android:text</a:t>
            </a:r>
            <a:r>
              <a:rPr lang="en-US" dirty="0" smtClean="0"/>
              <a:t>="Python"</a:t>
            </a:r>
            <a:br>
              <a:rPr lang="en-US" dirty="0" smtClean="0"/>
            </a:br>
            <a:r>
              <a:rPr lang="en-US" dirty="0" smtClean="0"/>
              <a:t>        </a:t>
            </a:r>
            <a:r>
              <a:rPr lang="en-US" dirty="0" err="1" smtClean="0"/>
              <a:t>android:onClick</a:t>
            </a:r>
            <a:r>
              <a:rPr lang="en-US" dirty="0" smtClean="0"/>
              <a:t>="</a:t>
            </a:r>
            <a:r>
              <a:rPr lang="en-US" dirty="0" err="1" smtClean="0"/>
              <a:t>onCheckboxClicked</a:t>
            </a:r>
            <a:r>
              <a:rPr lang="en-US" dirty="0" smtClean="0"/>
              <a:t>"/&gt;</a:t>
            </a:r>
            <a:br>
              <a:rPr lang="en-US" dirty="0" smtClean="0"/>
            </a:br>
            <a:r>
              <a:rPr lang="en-US" dirty="0" smtClean="0"/>
              <a:t> </a:t>
            </a:r>
            <a:endParaRPr lang="en-US" dirty="0"/>
          </a:p>
        </p:txBody>
      </p:sp>
      <p:sp>
        <p:nvSpPr>
          <p:cNvPr id="4" name="Rectangle 3"/>
          <p:cNvSpPr/>
          <p:nvPr/>
        </p:nvSpPr>
        <p:spPr>
          <a:xfrm>
            <a:off x="6902450" y="1071801"/>
            <a:ext cx="5461000" cy="5786199"/>
          </a:xfrm>
          <a:prstGeom prst="rect">
            <a:avLst/>
          </a:prstGeom>
        </p:spPr>
        <p:txBody>
          <a:bodyPr wrap="square">
            <a:spAutoFit/>
          </a:bodyPr>
          <a:lstStyle/>
          <a:p>
            <a:pPr>
              <a:buNone/>
            </a:pPr>
            <a:r>
              <a:rPr lang="en-US" dirty="0" smtClean="0"/>
              <a:t>   </a:t>
            </a:r>
            <a:r>
              <a:rPr lang="en-US" sz="1600" dirty="0" smtClean="0"/>
              <a:t>&lt;</a:t>
            </a:r>
            <a:r>
              <a:rPr lang="en-US" sz="1600" dirty="0" err="1" smtClean="0"/>
              <a:t>CheckBox</a:t>
            </a:r>
            <a:r>
              <a:rPr lang="en-US" sz="1600" dirty="0" smtClean="0"/>
              <a:t/>
            </a:r>
            <a:br>
              <a:rPr lang="en-US" sz="1600" dirty="0" smtClean="0"/>
            </a:br>
            <a:r>
              <a:rPr lang="en-US" sz="1600" dirty="0" smtClean="0"/>
              <a:t>        </a:t>
            </a:r>
            <a:r>
              <a:rPr lang="en-US" sz="1600" dirty="0" err="1" smtClean="0"/>
              <a:t>android:id</a:t>
            </a:r>
            <a:r>
              <a:rPr lang="en-US" sz="1600" dirty="0" smtClean="0"/>
              <a:t>="@+id/</a:t>
            </a:r>
            <a:r>
              <a:rPr lang="en-US" sz="1600" dirty="0" err="1" smtClean="0"/>
              <a:t>chkAndroid</a:t>
            </a:r>
            <a:r>
              <a:rPr lang="en-US" sz="1600" dirty="0" smtClean="0"/>
              <a:t>"</a:t>
            </a:r>
            <a:br>
              <a:rPr lang="en-US" sz="1600" dirty="0" smtClean="0"/>
            </a:br>
            <a:r>
              <a:rPr lang="en-US" sz="1600" dirty="0" smtClean="0"/>
              <a:t>        </a:t>
            </a:r>
            <a:r>
              <a:rPr lang="en-US" sz="1600" dirty="0" err="1" smtClean="0"/>
              <a:t>android:layout_width</a:t>
            </a:r>
            <a:r>
              <a:rPr lang="en-US" sz="1600" dirty="0" smtClean="0"/>
              <a:t>="</a:t>
            </a:r>
            <a:r>
              <a:rPr lang="en-US" sz="1600" dirty="0" err="1" smtClean="0"/>
              <a:t>wrap_content</a:t>
            </a:r>
            <a:r>
              <a:rPr lang="en-US" sz="1600" dirty="0" smtClean="0"/>
              <a:t>"</a:t>
            </a:r>
            <a:br>
              <a:rPr lang="en-US" sz="1600" dirty="0" smtClean="0"/>
            </a:br>
            <a:r>
              <a:rPr lang="en-US" sz="1600" dirty="0" smtClean="0"/>
              <a:t>        </a:t>
            </a:r>
            <a:r>
              <a:rPr lang="en-US" sz="1600" dirty="0" err="1" smtClean="0"/>
              <a:t>android:layout_height</a:t>
            </a:r>
            <a:r>
              <a:rPr lang="en-US" sz="1600" dirty="0" smtClean="0"/>
              <a:t>="</a:t>
            </a:r>
            <a:r>
              <a:rPr lang="en-US" sz="1600" dirty="0" err="1" smtClean="0"/>
              <a:t>wrap_content</a:t>
            </a:r>
            <a:r>
              <a:rPr lang="en-US" sz="1600" dirty="0" smtClean="0"/>
              <a:t>"</a:t>
            </a:r>
            <a:br>
              <a:rPr lang="en-US" sz="1600" dirty="0" smtClean="0"/>
            </a:br>
            <a:r>
              <a:rPr lang="en-US" sz="1600" dirty="0" smtClean="0"/>
              <a:t>        </a:t>
            </a:r>
            <a:r>
              <a:rPr lang="en-US" sz="1600" dirty="0" err="1" smtClean="0"/>
              <a:t>android:padding</a:t>
            </a:r>
            <a:r>
              <a:rPr lang="en-US" sz="1600" dirty="0" smtClean="0"/>
              <a:t>="10dp"</a:t>
            </a:r>
            <a:br>
              <a:rPr lang="en-US" sz="1600" dirty="0" smtClean="0"/>
            </a:br>
            <a:r>
              <a:rPr lang="en-US" sz="1600" dirty="0" smtClean="0"/>
              <a:t>        </a:t>
            </a:r>
            <a:r>
              <a:rPr lang="en-US" sz="1600" dirty="0" err="1" smtClean="0"/>
              <a:t>android:layout_marginLeft</a:t>
            </a:r>
            <a:r>
              <a:rPr lang="en-US" sz="1600" dirty="0" smtClean="0"/>
              <a:t>="100dp"</a:t>
            </a:r>
            <a:br>
              <a:rPr lang="en-US" sz="1600" dirty="0" smtClean="0"/>
            </a:br>
            <a:r>
              <a:rPr lang="en-US" sz="1600" dirty="0" smtClean="0"/>
              <a:t>        </a:t>
            </a:r>
            <a:r>
              <a:rPr lang="en-US" sz="1600" dirty="0" err="1" smtClean="0"/>
              <a:t>android:text</a:t>
            </a:r>
            <a:r>
              <a:rPr lang="en-US" sz="1600" dirty="0" smtClean="0"/>
              <a:t>="Android"</a:t>
            </a:r>
            <a:br>
              <a:rPr lang="en-US" sz="1600" dirty="0" smtClean="0"/>
            </a:br>
            <a:r>
              <a:rPr lang="en-US" sz="1600" dirty="0" smtClean="0"/>
              <a:t>        </a:t>
            </a:r>
            <a:r>
              <a:rPr lang="en-US" sz="1600" dirty="0" err="1" smtClean="0"/>
              <a:t>android:onClick</a:t>
            </a:r>
            <a:r>
              <a:rPr lang="en-US" sz="1600" dirty="0" smtClean="0"/>
              <a:t>="</a:t>
            </a:r>
            <a:r>
              <a:rPr lang="en-US" sz="1600" dirty="0" err="1" smtClean="0"/>
              <a:t>onCheckboxClicked</a:t>
            </a:r>
            <a:r>
              <a:rPr lang="en-US" sz="1600" dirty="0" smtClean="0"/>
              <a:t>"/&gt;</a:t>
            </a:r>
            <a:br>
              <a:rPr lang="en-US" sz="1600" dirty="0" smtClean="0"/>
            </a:br>
            <a:r>
              <a:rPr lang="en-US" sz="1600" dirty="0" smtClean="0"/>
              <a:t>    &lt;</a:t>
            </a:r>
            <a:r>
              <a:rPr lang="en-US" sz="1600" dirty="0" err="1" smtClean="0"/>
              <a:t>CheckBox</a:t>
            </a:r>
            <a:r>
              <a:rPr lang="en-US" sz="1600" dirty="0" smtClean="0"/>
              <a:t/>
            </a:r>
            <a:br>
              <a:rPr lang="en-US" sz="1600" dirty="0" smtClean="0"/>
            </a:br>
            <a:r>
              <a:rPr lang="en-US" sz="1600" dirty="0" smtClean="0"/>
              <a:t>        </a:t>
            </a:r>
            <a:r>
              <a:rPr lang="en-US" sz="1600" dirty="0" err="1" smtClean="0"/>
              <a:t>android:id</a:t>
            </a:r>
            <a:r>
              <a:rPr lang="en-US" sz="1600" dirty="0" smtClean="0"/>
              <a:t>="@+id/</a:t>
            </a:r>
            <a:r>
              <a:rPr lang="en-US" sz="1600" dirty="0" err="1" smtClean="0"/>
              <a:t>chkAngular</a:t>
            </a:r>
            <a:r>
              <a:rPr lang="en-US" sz="1600" dirty="0" smtClean="0"/>
              <a:t>"</a:t>
            </a:r>
            <a:br>
              <a:rPr lang="en-US" sz="1600" dirty="0" smtClean="0"/>
            </a:br>
            <a:r>
              <a:rPr lang="en-US" sz="1600" dirty="0" smtClean="0"/>
              <a:t>        </a:t>
            </a:r>
            <a:r>
              <a:rPr lang="en-US" sz="1600" dirty="0" err="1" smtClean="0"/>
              <a:t>android:layout_width</a:t>
            </a:r>
            <a:r>
              <a:rPr lang="en-US" sz="1600" dirty="0" smtClean="0"/>
              <a:t>="</a:t>
            </a:r>
            <a:r>
              <a:rPr lang="en-US" sz="1600" dirty="0" err="1" smtClean="0"/>
              <a:t>wrap_content</a:t>
            </a:r>
            <a:r>
              <a:rPr lang="en-US" sz="1600" dirty="0" smtClean="0"/>
              <a:t>"</a:t>
            </a:r>
            <a:br>
              <a:rPr lang="en-US" sz="1600" dirty="0" smtClean="0"/>
            </a:br>
            <a:r>
              <a:rPr lang="en-US" sz="1600" dirty="0" smtClean="0"/>
              <a:t>        </a:t>
            </a:r>
            <a:r>
              <a:rPr lang="en-US" sz="1600" dirty="0" err="1" smtClean="0"/>
              <a:t>android:layout_height</a:t>
            </a:r>
            <a:r>
              <a:rPr lang="en-US" sz="1600" dirty="0" smtClean="0"/>
              <a:t>="</a:t>
            </a:r>
            <a:r>
              <a:rPr lang="en-US" sz="1600" dirty="0" err="1" smtClean="0"/>
              <a:t>wrap_content</a:t>
            </a:r>
            <a:r>
              <a:rPr lang="en-US" sz="1600" dirty="0" smtClean="0"/>
              <a:t>"</a:t>
            </a:r>
            <a:br>
              <a:rPr lang="en-US" sz="1600" dirty="0" smtClean="0"/>
            </a:br>
            <a:r>
              <a:rPr lang="en-US" sz="1600" dirty="0" smtClean="0"/>
              <a:t>        </a:t>
            </a:r>
            <a:r>
              <a:rPr lang="en-US" sz="1600" dirty="0" err="1" smtClean="0"/>
              <a:t>android:padding</a:t>
            </a:r>
            <a:r>
              <a:rPr lang="en-US" sz="1600" dirty="0" smtClean="0"/>
              <a:t>="10dp"</a:t>
            </a:r>
            <a:br>
              <a:rPr lang="en-US" sz="1600" dirty="0" smtClean="0"/>
            </a:br>
            <a:r>
              <a:rPr lang="en-US" sz="1600" dirty="0" smtClean="0"/>
              <a:t>        </a:t>
            </a:r>
            <a:r>
              <a:rPr lang="en-US" sz="1600" dirty="0" err="1" smtClean="0"/>
              <a:t>android:layout_marginLeft</a:t>
            </a:r>
            <a:r>
              <a:rPr lang="en-US" sz="1600" dirty="0" smtClean="0"/>
              <a:t>="100dp"</a:t>
            </a:r>
            <a:br>
              <a:rPr lang="en-US" sz="1600" dirty="0" smtClean="0"/>
            </a:br>
            <a:r>
              <a:rPr lang="en-US" sz="1600" dirty="0" smtClean="0"/>
              <a:t>        </a:t>
            </a:r>
            <a:r>
              <a:rPr lang="en-US" sz="1600" dirty="0" err="1" smtClean="0"/>
              <a:t>android:text</a:t>
            </a:r>
            <a:r>
              <a:rPr lang="en-US" sz="1600" dirty="0" smtClean="0"/>
              <a:t>="</a:t>
            </a:r>
            <a:r>
              <a:rPr lang="en-US" sz="1600" dirty="0" err="1" smtClean="0"/>
              <a:t>AngularJS</a:t>
            </a:r>
            <a:r>
              <a:rPr lang="en-US" sz="1600" dirty="0" smtClean="0"/>
              <a:t>"</a:t>
            </a:r>
            <a:br>
              <a:rPr lang="en-US" sz="1600" dirty="0" smtClean="0"/>
            </a:br>
            <a:r>
              <a:rPr lang="en-US" sz="1600" dirty="0" smtClean="0"/>
              <a:t>        </a:t>
            </a:r>
            <a:r>
              <a:rPr lang="en-US" sz="1600" dirty="0" err="1" smtClean="0"/>
              <a:t>android:onClick</a:t>
            </a:r>
            <a:r>
              <a:rPr lang="en-US" sz="1600" dirty="0" smtClean="0"/>
              <a:t>="</a:t>
            </a:r>
            <a:r>
              <a:rPr lang="en-US" sz="1600" dirty="0" err="1" smtClean="0"/>
              <a:t>onCheckboxClicked</a:t>
            </a:r>
            <a:r>
              <a:rPr lang="en-US" sz="1600" dirty="0" smtClean="0"/>
              <a:t>"/&gt;</a:t>
            </a:r>
            <a:br>
              <a:rPr lang="en-US" sz="1600" dirty="0" smtClean="0"/>
            </a:br>
            <a:r>
              <a:rPr lang="en-US" sz="1600" dirty="0" smtClean="0"/>
              <a:t>    &lt;Button</a:t>
            </a:r>
            <a:br>
              <a:rPr lang="en-US" sz="1600" dirty="0" smtClean="0"/>
            </a:br>
            <a:r>
              <a:rPr lang="en-US" sz="1600" dirty="0" smtClean="0"/>
              <a:t>        </a:t>
            </a:r>
            <a:r>
              <a:rPr lang="en-US" sz="1600" dirty="0" err="1" smtClean="0"/>
              <a:t>android:id</a:t>
            </a:r>
            <a:r>
              <a:rPr lang="en-US" sz="1600" dirty="0" smtClean="0"/>
              <a:t>="@+id/</a:t>
            </a:r>
            <a:r>
              <a:rPr lang="en-US" sz="1600" dirty="0" err="1" smtClean="0"/>
              <a:t>getBtn</a:t>
            </a:r>
            <a:r>
              <a:rPr lang="en-US" sz="1600" dirty="0" smtClean="0"/>
              <a:t>"</a:t>
            </a:r>
            <a:br>
              <a:rPr lang="en-US" sz="1600" dirty="0" smtClean="0"/>
            </a:br>
            <a:r>
              <a:rPr lang="en-US" sz="1600" dirty="0" smtClean="0"/>
              <a:t>        </a:t>
            </a:r>
            <a:r>
              <a:rPr lang="en-US" sz="1600" dirty="0" err="1" smtClean="0"/>
              <a:t>android:layout_width</a:t>
            </a:r>
            <a:r>
              <a:rPr lang="en-US" sz="1600" dirty="0" smtClean="0"/>
              <a:t>="</a:t>
            </a:r>
            <a:r>
              <a:rPr lang="en-US" sz="1600" dirty="0" err="1" smtClean="0"/>
              <a:t>wrap_content</a:t>
            </a:r>
            <a:r>
              <a:rPr lang="en-US" sz="1600" dirty="0" smtClean="0"/>
              <a:t>"</a:t>
            </a:r>
            <a:br>
              <a:rPr lang="en-US" sz="1600" dirty="0" smtClean="0"/>
            </a:br>
            <a:r>
              <a:rPr lang="en-US" sz="1600" dirty="0" smtClean="0"/>
              <a:t>        </a:t>
            </a:r>
            <a:r>
              <a:rPr lang="en-US" sz="1600" dirty="0" err="1" smtClean="0"/>
              <a:t>android:layout_height</a:t>
            </a:r>
            <a:r>
              <a:rPr lang="en-US" sz="1600" dirty="0" smtClean="0"/>
              <a:t>="</a:t>
            </a:r>
            <a:r>
              <a:rPr lang="en-US" sz="1600" dirty="0" err="1" smtClean="0"/>
              <a:t>wrap_content</a:t>
            </a:r>
            <a:r>
              <a:rPr lang="en-US" sz="1600" dirty="0" smtClean="0"/>
              <a:t>"</a:t>
            </a:r>
            <a:br>
              <a:rPr lang="en-US" sz="1600" dirty="0" smtClean="0"/>
            </a:br>
            <a:r>
              <a:rPr lang="en-US" sz="1600" dirty="0" smtClean="0"/>
              <a:t>        </a:t>
            </a:r>
            <a:r>
              <a:rPr lang="en-US" sz="1600" dirty="0" err="1" smtClean="0"/>
              <a:t>android:layout_marginLeft</a:t>
            </a:r>
            <a:r>
              <a:rPr lang="en-US" sz="1600" dirty="0" smtClean="0"/>
              <a:t>="100dp"</a:t>
            </a:r>
            <a:br>
              <a:rPr lang="en-US" sz="1600" dirty="0" smtClean="0"/>
            </a:br>
            <a:r>
              <a:rPr lang="en-US" sz="1600" dirty="0" smtClean="0"/>
              <a:t>        </a:t>
            </a:r>
            <a:r>
              <a:rPr lang="en-US" sz="1600" dirty="0" err="1" smtClean="0"/>
              <a:t>android:text</a:t>
            </a:r>
            <a:r>
              <a:rPr lang="en-US" sz="1600" dirty="0" smtClean="0"/>
              <a:t>="Get Details" /&gt;</a:t>
            </a:r>
            <a:br>
              <a:rPr lang="en-US" sz="1600" dirty="0" smtClean="0"/>
            </a:br>
            <a:r>
              <a:rPr lang="en-US" sz="1600" dirty="0" smtClean="0"/>
              <a:t>&lt;/</a:t>
            </a:r>
            <a:r>
              <a:rPr lang="en-US" sz="1600" dirty="0" err="1" smtClean="0"/>
              <a:t>LinearLayout</a:t>
            </a:r>
            <a:r>
              <a:rPr lang="en-US" sz="1600" dirty="0" smtClean="0"/>
              <a:t>&gt;</a:t>
            </a:r>
            <a:endParaRPr lang="en-US" sz="1600" dirty="0"/>
          </a:p>
        </p:txBody>
      </p:sp>
      <p:pic>
        <p:nvPicPr>
          <p:cNvPr id="1026" name="Picture 2"/>
          <p:cNvPicPr>
            <a:picLocks noChangeAspect="1" noChangeArrowheads="1"/>
          </p:cNvPicPr>
          <p:nvPr/>
        </p:nvPicPr>
        <p:blipFill>
          <a:blip r:embed="rId2"/>
          <a:srcRect/>
          <a:stretch>
            <a:fillRect/>
          </a:stretch>
        </p:blipFill>
        <p:spPr bwMode="auto">
          <a:xfrm>
            <a:off x="3562350" y="117475"/>
            <a:ext cx="8280400" cy="924938"/>
          </a:xfrm>
          <a:prstGeom prst="rect">
            <a:avLst/>
          </a:prstGeom>
          <a:noFill/>
          <a:ln w="9525">
            <a:noFill/>
            <a:miter lim="800000"/>
            <a:headEnd/>
            <a:tailEnd/>
          </a:ln>
          <a:effec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60450" y="273050"/>
            <a:ext cx="6096000" cy="6654386"/>
          </a:xfrm>
          <a:prstGeom prst="rect">
            <a:avLst/>
          </a:prstGeom>
        </p:spPr>
        <p:txBody>
          <a:bodyPr wrap="square">
            <a:spAutoFit/>
          </a:bodyPr>
          <a:lstStyle/>
          <a:p>
            <a:pPr>
              <a:lnSpc>
                <a:spcPct val="200000"/>
              </a:lnSpc>
            </a:pPr>
            <a:r>
              <a:rPr lang="en-US" dirty="0" smtClean="0"/>
              <a:t>public class </a:t>
            </a:r>
            <a:r>
              <a:rPr lang="en-US" dirty="0" err="1" smtClean="0"/>
              <a:t>MainActivity</a:t>
            </a:r>
            <a:r>
              <a:rPr lang="en-US" dirty="0" smtClean="0"/>
              <a:t> extends </a:t>
            </a:r>
            <a:r>
              <a:rPr lang="en-US" dirty="0" err="1" smtClean="0"/>
              <a:t>AppCompatActivity</a:t>
            </a:r>
            <a:r>
              <a:rPr lang="en-US" dirty="0" smtClean="0"/>
              <a:t> {</a:t>
            </a:r>
            <a:br>
              <a:rPr lang="en-US" dirty="0" smtClean="0"/>
            </a:br>
            <a:r>
              <a:rPr lang="en-US" dirty="0" smtClean="0"/>
              <a:t>    </a:t>
            </a:r>
            <a:r>
              <a:rPr lang="en-US" dirty="0" err="1" smtClean="0"/>
              <a:t>CheckBox</a:t>
            </a:r>
            <a:r>
              <a:rPr lang="en-US" dirty="0" smtClean="0"/>
              <a:t> android, java, angular, python;</a:t>
            </a:r>
            <a:br>
              <a:rPr lang="en-US" dirty="0" smtClean="0"/>
            </a:br>
            <a:r>
              <a:rPr lang="en-US" dirty="0" smtClean="0"/>
              <a:t>    @Override</a:t>
            </a:r>
            <a:br>
              <a:rPr lang="en-US" dirty="0" smtClean="0"/>
            </a:br>
            <a:r>
              <a:rPr lang="en-US" dirty="0" smtClean="0"/>
              <a:t>    protected void </a:t>
            </a:r>
            <a:r>
              <a:rPr lang="en-US" dirty="0" err="1" smtClean="0"/>
              <a:t>onCreate</a:t>
            </a:r>
            <a:r>
              <a:rPr lang="en-US" dirty="0" smtClean="0"/>
              <a:t>(Bundle </a:t>
            </a:r>
            <a:r>
              <a:rPr lang="en-US" dirty="0" err="1" smtClean="0"/>
              <a:t>savedInstanceState</a:t>
            </a:r>
            <a:r>
              <a:rPr lang="en-US" dirty="0" smtClean="0"/>
              <a:t>) {</a:t>
            </a:r>
            <a:br>
              <a:rPr lang="en-US" dirty="0" smtClean="0"/>
            </a:br>
            <a:r>
              <a:rPr lang="en-US" dirty="0" smtClean="0"/>
              <a:t>        </a:t>
            </a:r>
            <a:r>
              <a:rPr lang="en-US" dirty="0" err="1" smtClean="0"/>
              <a:t>super.onCreate</a:t>
            </a:r>
            <a:r>
              <a:rPr lang="en-US" dirty="0" smtClean="0"/>
              <a:t>(</a:t>
            </a:r>
            <a:r>
              <a:rPr lang="en-US" dirty="0" err="1" smtClean="0"/>
              <a:t>savedInstanceState</a:t>
            </a:r>
            <a:r>
              <a:rPr lang="en-US" dirty="0" smtClean="0"/>
              <a:t>);</a:t>
            </a:r>
            <a:br>
              <a:rPr lang="en-US" dirty="0" smtClean="0"/>
            </a:br>
            <a:r>
              <a:rPr lang="en-US" dirty="0" smtClean="0"/>
              <a:t>        </a:t>
            </a:r>
            <a:r>
              <a:rPr lang="en-US" dirty="0" err="1" smtClean="0"/>
              <a:t>setContentView</a:t>
            </a:r>
            <a:r>
              <a:rPr lang="en-US" dirty="0" smtClean="0"/>
              <a:t>(</a:t>
            </a:r>
            <a:r>
              <a:rPr lang="en-US" dirty="0" err="1" smtClean="0"/>
              <a:t>R.layout.activity_main</a:t>
            </a:r>
            <a:r>
              <a:rPr lang="en-US" dirty="0" smtClean="0"/>
              <a:t>);</a:t>
            </a:r>
            <a:br>
              <a:rPr lang="en-US" dirty="0" smtClean="0"/>
            </a:br>
            <a:r>
              <a:rPr lang="en-US" dirty="0" smtClean="0"/>
              <a:t>        android = (</a:t>
            </a:r>
            <a:r>
              <a:rPr lang="en-US" dirty="0" err="1" smtClean="0"/>
              <a:t>CheckBox</a:t>
            </a:r>
            <a:r>
              <a:rPr lang="en-US" dirty="0" smtClean="0"/>
              <a:t>)</a:t>
            </a:r>
            <a:r>
              <a:rPr lang="en-US" dirty="0" err="1" smtClean="0"/>
              <a:t>findViewById</a:t>
            </a:r>
            <a:r>
              <a:rPr lang="en-US" dirty="0" smtClean="0"/>
              <a:t>(</a:t>
            </a:r>
            <a:r>
              <a:rPr lang="en-US" dirty="0" err="1" smtClean="0"/>
              <a:t>R.id.chkAndroid</a:t>
            </a:r>
            <a:r>
              <a:rPr lang="en-US" dirty="0" smtClean="0"/>
              <a:t>);</a:t>
            </a:r>
            <a:br>
              <a:rPr lang="en-US" dirty="0" smtClean="0"/>
            </a:br>
            <a:r>
              <a:rPr lang="en-US" dirty="0" smtClean="0"/>
              <a:t>        angular = (</a:t>
            </a:r>
            <a:r>
              <a:rPr lang="en-US" dirty="0" err="1" smtClean="0"/>
              <a:t>CheckBox</a:t>
            </a:r>
            <a:r>
              <a:rPr lang="en-US" dirty="0" smtClean="0"/>
              <a:t>)</a:t>
            </a:r>
            <a:r>
              <a:rPr lang="en-US" dirty="0" err="1" smtClean="0"/>
              <a:t>findViewById</a:t>
            </a:r>
            <a:r>
              <a:rPr lang="en-US" dirty="0" smtClean="0"/>
              <a:t>(</a:t>
            </a:r>
            <a:r>
              <a:rPr lang="en-US" dirty="0" err="1" smtClean="0"/>
              <a:t>R.id.chkAngular</a:t>
            </a:r>
            <a:r>
              <a:rPr lang="en-US" dirty="0" smtClean="0"/>
              <a:t>);</a:t>
            </a:r>
            <a:br>
              <a:rPr lang="en-US" dirty="0" smtClean="0"/>
            </a:br>
            <a:r>
              <a:rPr lang="en-US" dirty="0" smtClean="0"/>
              <a:t>        java = (</a:t>
            </a:r>
            <a:r>
              <a:rPr lang="en-US" dirty="0" err="1" smtClean="0"/>
              <a:t>CheckBox</a:t>
            </a:r>
            <a:r>
              <a:rPr lang="en-US" dirty="0" smtClean="0"/>
              <a:t>)</a:t>
            </a:r>
            <a:r>
              <a:rPr lang="en-US" dirty="0" err="1" smtClean="0"/>
              <a:t>findViewById</a:t>
            </a:r>
            <a:r>
              <a:rPr lang="en-US" dirty="0" smtClean="0"/>
              <a:t>(</a:t>
            </a:r>
            <a:r>
              <a:rPr lang="en-US" dirty="0" err="1" smtClean="0"/>
              <a:t>R.id.chkJava</a:t>
            </a:r>
            <a:r>
              <a:rPr lang="en-US" dirty="0" smtClean="0"/>
              <a:t>);</a:t>
            </a:r>
            <a:br>
              <a:rPr lang="en-US" dirty="0" smtClean="0"/>
            </a:br>
            <a:r>
              <a:rPr lang="en-US" dirty="0" smtClean="0"/>
              <a:t>        python = (</a:t>
            </a:r>
            <a:r>
              <a:rPr lang="en-US" dirty="0" err="1" smtClean="0"/>
              <a:t>CheckBox</a:t>
            </a:r>
            <a:r>
              <a:rPr lang="en-US" dirty="0" smtClean="0"/>
              <a:t>)</a:t>
            </a:r>
            <a:r>
              <a:rPr lang="en-US" dirty="0" err="1" smtClean="0"/>
              <a:t>findViewById</a:t>
            </a:r>
            <a:r>
              <a:rPr lang="en-US" dirty="0" smtClean="0"/>
              <a:t>(</a:t>
            </a:r>
            <a:r>
              <a:rPr lang="en-US" dirty="0" err="1" smtClean="0"/>
              <a:t>R.id.chkPython</a:t>
            </a:r>
            <a:r>
              <a:rPr lang="en-US" dirty="0" smtClean="0"/>
              <a:t>);</a:t>
            </a:r>
            <a:br>
              <a:rPr lang="en-US" dirty="0" smtClean="0"/>
            </a:br>
            <a:r>
              <a:rPr lang="en-US" dirty="0" smtClean="0"/>
              <a:t>        Button </a:t>
            </a:r>
            <a:r>
              <a:rPr lang="en-US" dirty="0" err="1" smtClean="0"/>
              <a:t>btn</a:t>
            </a:r>
            <a:r>
              <a:rPr lang="en-US" dirty="0" smtClean="0"/>
              <a:t> = (Button)</a:t>
            </a:r>
            <a:r>
              <a:rPr lang="en-US" dirty="0" err="1" smtClean="0"/>
              <a:t>findViewById</a:t>
            </a:r>
            <a:r>
              <a:rPr lang="en-US" dirty="0" smtClean="0"/>
              <a:t>(</a:t>
            </a:r>
            <a:r>
              <a:rPr lang="en-US" dirty="0" err="1" smtClean="0"/>
              <a:t>R.id.getBtn</a:t>
            </a:r>
            <a:r>
              <a:rPr lang="en-US" dirty="0" smtClean="0"/>
              <a:t>);</a:t>
            </a:r>
            <a:br>
              <a:rPr lang="en-US" dirty="0" smtClean="0"/>
            </a:br>
            <a:r>
              <a:rPr lang="en-US" dirty="0" smtClean="0"/>
              <a:t>       </a:t>
            </a:r>
            <a:endParaRPr lang="en-US" dirty="0"/>
          </a:p>
        </p:txBody>
      </p:sp>
      <p:sp>
        <p:nvSpPr>
          <p:cNvPr id="5" name="Rectangle 4"/>
          <p:cNvSpPr/>
          <p:nvPr/>
        </p:nvSpPr>
        <p:spPr>
          <a:xfrm>
            <a:off x="7080250" y="182245"/>
            <a:ext cx="4895850" cy="6463308"/>
          </a:xfrm>
          <a:prstGeom prst="rect">
            <a:avLst/>
          </a:prstGeom>
        </p:spPr>
        <p:txBody>
          <a:bodyPr wrap="square">
            <a:spAutoFit/>
          </a:bodyPr>
          <a:lstStyle/>
          <a:p>
            <a:r>
              <a:rPr lang="en-US" dirty="0" smtClean="0"/>
              <a:t> </a:t>
            </a:r>
            <a:r>
              <a:rPr lang="en-US" dirty="0" err="1" smtClean="0"/>
              <a:t>btn.setOnClickListener</a:t>
            </a:r>
            <a:r>
              <a:rPr lang="en-US" dirty="0" smtClean="0"/>
              <a:t>(new </a:t>
            </a:r>
            <a:r>
              <a:rPr lang="en-US" dirty="0" err="1" smtClean="0"/>
              <a:t>View.OnClickListener</a:t>
            </a:r>
            <a:r>
              <a:rPr lang="en-US" dirty="0" smtClean="0"/>
              <a:t>() {</a:t>
            </a:r>
            <a:br>
              <a:rPr lang="en-US" dirty="0" smtClean="0"/>
            </a:br>
            <a:r>
              <a:rPr lang="en-US" dirty="0" smtClean="0"/>
              <a:t>            @Override</a:t>
            </a:r>
            <a:br>
              <a:rPr lang="en-US" dirty="0" smtClean="0"/>
            </a:br>
            <a:r>
              <a:rPr lang="en-US" dirty="0" smtClean="0"/>
              <a:t>            public void </a:t>
            </a:r>
            <a:r>
              <a:rPr lang="en-US" dirty="0" err="1" smtClean="0"/>
              <a:t>onClick</a:t>
            </a:r>
            <a:r>
              <a:rPr lang="en-US" dirty="0" smtClean="0"/>
              <a:t>(View v) {</a:t>
            </a:r>
            <a:br>
              <a:rPr lang="en-US" dirty="0" smtClean="0"/>
            </a:br>
            <a:r>
              <a:rPr lang="en-US" dirty="0" smtClean="0"/>
              <a:t>                String result = "Selected Courses";</a:t>
            </a:r>
            <a:br>
              <a:rPr lang="en-US" dirty="0" smtClean="0"/>
            </a:br>
            <a:r>
              <a:rPr lang="en-US" dirty="0" smtClean="0"/>
              <a:t>                if(</a:t>
            </a:r>
            <a:r>
              <a:rPr lang="en-US" dirty="0" err="1" smtClean="0"/>
              <a:t>android.isChecked</a:t>
            </a:r>
            <a:r>
              <a:rPr lang="en-US" dirty="0" smtClean="0"/>
              <a:t>()){</a:t>
            </a:r>
            <a:br>
              <a:rPr lang="en-US" dirty="0" smtClean="0"/>
            </a:br>
            <a:r>
              <a:rPr lang="en-US" dirty="0" smtClean="0"/>
              <a:t>                result += "\</a:t>
            </a:r>
            <a:r>
              <a:rPr lang="en-US" dirty="0" err="1" smtClean="0"/>
              <a:t>nAndroid</a:t>
            </a:r>
            <a:r>
              <a:rPr lang="en-US" dirty="0" smtClean="0"/>
              <a:t>";</a:t>
            </a:r>
            <a:br>
              <a:rPr lang="en-US" dirty="0" smtClean="0"/>
            </a:br>
            <a:r>
              <a:rPr lang="en-US" dirty="0" smtClean="0"/>
              <a:t>                }</a:t>
            </a:r>
            <a:br>
              <a:rPr lang="en-US" dirty="0" smtClean="0"/>
            </a:br>
            <a:r>
              <a:rPr lang="en-US" dirty="0" smtClean="0"/>
              <a:t>                if(</a:t>
            </a:r>
            <a:r>
              <a:rPr lang="en-US" dirty="0" err="1" smtClean="0"/>
              <a:t>angular.isChecked</a:t>
            </a:r>
            <a:r>
              <a:rPr lang="en-US" dirty="0" smtClean="0"/>
              <a:t>()){</a:t>
            </a:r>
            <a:br>
              <a:rPr lang="en-US" dirty="0" smtClean="0"/>
            </a:br>
            <a:r>
              <a:rPr lang="en-US" dirty="0" smtClean="0"/>
              <a:t>                    result += "\</a:t>
            </a:r>
            <a:r>
              <a:rPr lang="en-US" dirty="0" err="1" smtClean="0"/>
              <a:t>nAngularJS</a:t>
            </a:r>
            <a:r>
              <a:rPr lang="en-US" dirty="0" smtClean="0"/>
              <a:t>";</a:t>
            </a:r>
            <a:br>
              <a:rPr lang="en-US" dirty="0" smtClean="0"/>
            </a:br>
            <a:r>
              <a:rPr lang="en-US" dirty="0" smtClean="0"/>
              <a:t>                }</a:t>
            </a:r>
            <a:br>
              <a:rPr lang="en-US" dirty="0" smtClean="0"/>
            </a:br>
            <a:r>
              <a:rPr lang="en-US" dirty="0" smtClean="0"/>
              <a:t>                if(</a:t>
            </a:r>
            <a:r>
              <a:rPr lang="en-US" dirty="0" err="1" smtClean="0"/>
              <a:t>java.isChecked</a:t>
            </a:r>
            <a:r>
              <a:rPr lang="en-US" dirty="0" smtClean="0"/>
              <a:t>()){</a:t>
            </a:r>
            <a:br>
              <a:rPr lang="en-US" dirty="0" smtClean="0"/>
            </a:br>
            <a:r>
              <a:rPr lang="en-US" dirty="0" smtClean="0"/>
              <a:t>                    result += "\</a:t>
            </a:r>
            <a:r>
              <a:rPr lang="en-US" dirty="0" err="1" smtClean="0"/>
              <a:t>nJava</a:t>
            </a:r>
            <a:r>
              <a:rPr lang="en-US" dirty="0" smtClean="0"/>
              <a:t>";</a:t>
            </a:r>
            <a:br>
              <a:rPr lang="en-US" dirty="0" smtClean="0"/>
            </a:br>
            <a:r>
              <a:rPr lang="en-US" dirty="0" smtClean="0"/>
              <a:t>                }</a:t>
            </a:r>
            <a:br>
              <a:rPr lang="en-US" dirty="0" smtClean="0"/>
            </a:br>
            <a:r>
              <a:rPr lang="en-US" dirty="0" smtClean="0"/>
              <a:t>                if(</a:t>
            </a:r>
            <a:r>
              <a:rPr lang="en-US" dirty="0" err="1" smtClean="0"/>
              <a:t>python.isChecked</a:t>
            </a:r>
            <a:r>
              <a:rPr lang="en-US" dirty="0" smtClean="0"/>
              <a:t>()){</a:t>
            </a:r>
            <a:br>
              <a:rPr lang="en-US" dirty="0" smtClean="0"/>
            </a:br>
            <a:r>
              <a:rPr lang="en-US" dirty="0" smtClean="0"/>
              <a:t>                    result += "\</a:t>
            </a:r>
            <a:r>
              <a:rPr lang="en-US" dirty="0" err="1" smtClean="0"/>
              <a:t>nPython</a:t>
            </a:r>
            <a:r>
              <a:rPr lang="en-US" dirty="0" smtClean="0"/>
              <a:t>";</a:t>
            </a:r>
            <a:br>
              <a:rPr lang="en-US" dirty="0" smtClean="0"/>
            </a:br>
            <a:r>
              <a:rPr lang="en-US" dirty="0" smtClean="0"/>
              <a:t>                }</a:t>
            </a:r>
            <a:br>
              <a:rPr lang="en-US" dirty="0" smtClean="0"/>
            </a:br>
            <a:r>
              <a:rPr lang="en-US" dirty="0" smtClean="0"/>
              <a:t>                </a:t>
            </a:r>
            <a:r>
              <a:rPr lang="en-US" dirty="0" err="1" smtClean="0"/>
              <a:t>Toast.makeText</a:t>
            </a:r>
            <a:r>
              <a:rPr lang="en-US" dirty="0" smtClean="0"/>
              <a:t>(</a:t>
            </a:r>
            <a:r>
              <a:rPr lang="en-US" dirty="0" err="1" smtClean="0"/>
              <a:t>getApplicationContext</a:t>
            </a:r>
            <a:r>
              <a:rPr lang="en-US" dirty="0" smtClean="0"/>
              <a:t>(), result, </a:t>
            </a:r>
            <a:r>
              <a:rPr lang="en-US" dirty="0" err="1" smtClean="0"/>
              <a:t>Toast.LENGTH_SHORT</a:t>
            </a:r>
            <a:r>
              <a:rPr lang="en-US" dirty="0" smtClean="0"/>
              <a:t>).show();</a:t>
            </a:r>
            <a:br>
              <a:rPr lang="en-US" dirty="0" smtClean="0"/>
            </a:br>
            <a:r>
              <a:rPr lang="en-US" dirty="0" smtClean="0"/>
              <a:t>            }</a:t>
            </a:r>
            <a:br>
              <a:rPr lang="en-US" dirty="0" smtClean="0"/>
            </a:br>
            <a:r>
              <a:rPr lang="en-US" dirty="0" smtClean="0"/>
              <a:t>        });</a:t>
            </a:r>
            <a:br>
              <a:rPr lang="en-US" dirty="0" smtClean="0"/>
            </a:br>
            <a:r>
              <a:rPr lang="en-US" dirty="0" smtClean="0"/>
              <a:t>    }</a:t>
            </a:r>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5350" y="671691"/>
            <a:ext cx="9652000" cy="6186309"/>
          </a:xfrm>
          <a:prstGeom prst="rect">
            <a:avLst/>
          </a:prstGeom>
        </p:spPr>
        <p:txBody>
          <a:bodyPr wrap="square">
            <a:spAutoFit/>
          </a:bodyPr>
          <a:lstStyle/>
          <a:p>
            <a:r>
              <a:rPr lang="en-US" dirty="0" smtClean="0"/>
              <a:t>public void </a:t>
            </a:r>
            <a:r>
              <a:rPr lang="en-US" dirty="0" err="1" smtClean="0"/>
              <a:t>onCheckboxClicked</a:t>
            </a:r>
            <a:r>
              <a:rPr lang="en-US" dirty="0" smtClean="0"/>
              <a:t>(View </a:t>
            </a:r>
            <a:r>
              <a:rPr lang="en-US" dirty="0" err="1" smtClean="0"/>
              <a:t>view</a:t>
            </a:r>
            <a:r>
              <a:rPr lang="en-US" dirty="0" smtClean="0"/>
              <a:t>)</a:t>
            </a:r>
          </a:p>
          <a:p>
            <a:r>
              <a:rPr lang="en-US" dirty="0" smtClean="0"/>
              <a:t> {</a:t>
            </a:r>
            <a:br>
              <a:rPr lang="en-US" dirty="0" smtClean="0"/>
            </a:br>
            <a:r>
              <a:rPr lang="en-US" dirty="0" smtClean="0"/>
              <a:t>        </a:t>
            </a:r>
            <a:r>
              <a:rPr lang="en-US" dirty="0" err="1" smtClean="0"/>
              <a:t>boolean</a:t>
            </a:r>
            <a:r>
              <a:rPr lang="en-US" dirty="0" smtClean="0"/>
              <a:t> checked = ((</a:t>
            </a:r>
            <a:r>
              <a:rPr lang="en-US" dirty="0" err="1" smtClean="0"/>
              <a:t>CheckBox</a:t>
            </a:r>
            <a:r>
              <a:rPr lang="en-US" dirty="0" smtClean="0"/>
              <a:t>) view).</a:t>
            </a:r>
            <a:r>
              <a:rPr lang="en-US" dirty="0" err="1" smtClean="0"/>
              <a:t>isChecked</a:t>
            </a:r>
            <a:r>
              <a:rPr lang="en-US" dirty="0" smtClean="0"/>
              <a:t>();</a:t>
            </a:r>
            <a:br>
              <a:rPr lang="en-US" dirty="0" smtClean="0"/>
            </a:br>
            <a:r>
              <a:rPr lang="en-US" dirty="0" smtClean="0"/>
              <a:t>        String </a:t>
            </a:r>
            <a:r>
              <a:rPr lang="en-US" dirty="0" err="1" smtClean="0"/>
              <a:t>str</a:t>
            </a:r>
            <a:r>
              <a:rPr lang="en-US" dirty="0" smtClean="0"/>
              <a:t>="";</a:t>
            </a:r>
            <a:br>
              <a:rPr lang="en-US" dirty="0" smtClean="0"/>
            </a:br>
            <a:r>
              <a:rPr lang="en-US" dirty="0" smtClean="0"/>
              <a:t>        </a:t>
            </a:r>
            <a:r>
              <a:rPr lang="en-US" b="1" dirty="0" smtClean="0"/>
              <a:t>// Check which checkbox was clicked</a:t>
            </a:r>
            <a:r>
              <a:rPr lang="en-US" dirty="0" smtClean="0"/>
              <a:t/>
            </a:r>
            <a:br>
              <a:rPr lang="en-US" dirty="0" smtClean="0"/>
            </a:br>
            <a:r>
              <a:rPr lang="en-US" dirty="0" smtClean="0"/>
              <a:t>        switch(</a:t>
            </a:r>
            <a:r>
              <a:rPr lang="en-US" dirty="0" err="1" smtClean="0"/>
              <a:t>view.getId</a:t>
            </a:r>
            <a:r>
              <a:rPr lang="en-US" dirty="0" smtClean="0"/>
              <a:t>()) {</a:t>
            </a:r>
            <a:br>
              <a:rPr lang="en-US" dirty="0" smtClean="0"/>
            </a:br>
            <a:r>
              <a:rPr lang="en-US" dirty="0" smtClean="0"/>
              <a:t>            case </a:t>
            </a:r>
            <a:r>
              <a:rPr lang="en-US" dirty="0" err="1" smtClean="0"/>
              <a:t>R.id.chkAndroid</a:t>
            </a:r>
            <a:r>
              <a:rPr lang="en-US" dirty="0" smtClean="0"/>
              <a:t>:</a:t>
            </a:r>
            <a:br>
              <a:rPr lang="en-US" dirty="0" smtClean="0"/>
            </a:br>
            <a:r>
              <a:rPr lang="en-US" dirty="0" smtClean="0"/>
              <a:t>                </a:t>
            </a:r>
            <a:r>
              <a:rPr lang="en-US" dirty="0" err="1" smtClean="0"/>
              <a:t>str</a:t>
            </a:r>
            <a:r>
              <a:rPr lang="en-US" dirty="0" smtClean="0"/>
              <a:t> = checked?"Android Selected":"Android Deselected";</a:t>
            </a:r>
            <a:br>
              <a:rPr lang="en-US" dirty="0" smtClean="0"/>
            </a:br>
            <a:r>
              <a:rPr lang="en-US" dirty="0" smtClean="0"/>
              <a:t>                break;</a:t>
            </a:r>
            <a:br>
              <a:rPr lang="en-US" dirty="0" smtClean="0"/>
            </a:br>
            <a:r>
              <a:rPr lang="en-US" dirty="0" smtClean="0"/>
              <a:t>            case </a:t>
            </a:r>
            <a:r>
              <a:rPr lang="en-US" dirty="0" err="1" smtClean="0"/>
              <a:t>R.id.chkAngular</a:t>
            </a:r>
            <a:r>
              <a:rPr lang="en-US" dirty="0" smtClean="0"/>
              <a:t>:</a:t>
            </a:r>
            <a:br>
              <a:rPr lang="en-US" dirty="0" smtClean="0"/>
            </a:br>
            <a:r>
              <a:rPr lang="en-US" dirty="0" smtClean="0"/>
              <a:t>                </a:t>
            </a:r>
            <a:r>
              <a:rPr lang="en-US" dirty="0" err="1" smtClean="0"/>
              <a:t>str</a:t>
            </a:r>
            <a:r>
              <a:rPr lang="en-US" dirty="0" smtClean="0"/>
              <a:t> = checked?"</a:t>
            </a:r>
            <a:r>
              <a:rPr lang="en-US" dirty="0" err="1" smtClean="0"/>
              <a:t>AngularJS</a:t>
            </a:r>
            <a:r>
              <a:rPr lang="en-US" dirty="0" smtClean="0"/>
              <a:t> Selected":"</a:t>
            </a:r>
            <a:r>
              <a:rPr lang="en-US" dirty="0" err="1" smtClean="0"/>
              <a:t>AngularJS</a:t>
            </a:r>
            <a:r>
              <a:rPr lang="en-US" dirty="0" smtClean="0"/>
              <a:t> Deselected";</a:t>
            </a:r>
            <a:br>
              <a:rPr lang="en-US" dirty="0" smtClean="0"/>
            </a:br>
            <a:r>
              <a:rPr lang="en-US" dirty="0" smtClean="0"/>
              <a:t>                break;</a:t>
            </a:r>
            <a:br>
              <a:rPr lang="en-US" dirty="0" smtClean="0"/>
            </a:br>
            <a:r>
              <a:rPr lang="en-US" dirty="0" smtClean="0"/>
              <a:t>            case </a:t>
            </a:r>
            <a:r>
              <a:rPr lang="en-US" dirty="0" err="1" smtClean="0"/>
              <a:t>R.id.chkJava</a:t>
            </a:r>
            <a:r>
              <a:rPr lang="en-US" dirty="0" smtClean="0"/>
              <a:t>:</a:t>
            </a:r>
            <a:br>
              <a:rPr lang="en-US" dirty="0" smtClean="0"/>
            </a:br>
            <a:r>
              <a:rPr lang="en-US" dirty="0" smtClean="0"/>
              <a:t>                </a:t>
            </a:r>
            <a:r>
              <a:rPr lang="en-US" dirty="0" err="1" smtClean="0"/>
              <a:t>str</a:t>
            </a:r>
            <a:r>
              <a:rPr lang="en-US" dirty="0" smtClean="0"/>
              <a:t> = checked?"Java Selected":"Java Deselected";</a:t>
            </a:r>
            <a:br>
              <a:rPr lang="en-US" dirty="0" smtClean="0"/>
            </a:br>
            <a:r>
              <a:rPr lang="en-US" dirty="0" smtClean="0"/>
              <a:t>                break;</a:t>
            </a:r>
            <a:br>
              <a:rPr lang="en-US" dirty="0" smtClean="0"/>
            </a:br>
            <a:r>
              <a:rPr lang="en-US" dirty="0" smtClean="0"/>
              <a:t>            case </a:t>
            </a:r>
            <a:r>
              <a:rPr lang="en-US" dirty="0" err="1" smtClean="0"/>
              <a:t>R.id.chkPython</a:t>
            </a:r>
            <a:r>
              <a:rPr lang="en-US" dirty="0" smtClean="0"/>
              <a:t>:</a:t>
            </a:r>
            <a:br>
              <a:rPr lang="en-US" dirty="0" smtClean="0"/>
            </a:br>
            <a:r>
              <a:rPr lang="en-US" dirty="0" smtClean="0"/>
              <a:t>                </a:t>
            </a:r>
            <a:r>
              <a:rPr lang="en-US" dirty="0" err="1" smtClean="0"/>
              <a:t>str</a:t>
            </a:r>
            <a:r>
              <a:rPr lang="en-US" dirty="0" smtClean="0"/>
              <a:t> = checked?"Python Selected":"Python Deselected";</a:t>
            </a:r>
            <a:br>
              <a:rPr lang="en-US" dirty="0" smtClean="0"/>
            </a:br>
            <a:r>
              <a:rPr lang="en-US" dirty="0" smtClean="0"/>
              <a:t>                break;</a:t>
            </a:r>
            <a:br>
              <a:rPr lang="en-US" dirty="0" smtClean="0"/>
            </a:br>
            <a:r>
              <a:rPr lang="en-US" dirty="0" smtClean="0"/>
              <a:t>        }</a:t>
            </a:r>
            <a:br>
              <a:rPr lang="en-US" dirty="0" smtClean="0"/>
            </a:br>
            <a:r>
              <a:rPr lang="en-US" dirty="0" smtClean="0"/>
              <a:t>        </a:t>
            </a:r>
            <a:r>
              <a:rPr lang="en-US" dirty="0" err="1" smtClean="0"/>
              <a:t>Toast.makeText</a:t>
            </a:r>
            <a:r>
              <a:rPr lang="en-US" dirty="0" smtClean="0"/>
              <a:t>(</a:t>
            </a:r>
            <a:r>
              <a:rPr lang="en-US" dirty="0" err="1" smtClean="0"/>
              <a:t>getApplicationContext</a:t>
            </a:r>
            <a:r>
              <a:rPr lang="en-US" dirty="0" smtClean="0"/>
              <a:t>(), </a:t>
            </a:r>
            <a:r>
              <a:rPr lang="en-US" dirty="0" err="1" smtClean="0"/>
              <a:t>str</a:t>
            </a:r>
            <a:r>
              <a:rPr lang="en-US" dirty="0" smtClean="0"/>
              <a:t>, </a:t>
            </a:r>
            <a:r>
              <a:rPr lang="en-US" dirty="0" err="1" smtClean="0"/>
              <a:t>Toast.LENGTH_SHORT</a:t>
            </a:r>
            <a:r>
              <a:rPr lang="en-US" dirty="0" smtClean="0"/>
              <a:t>).show();</a:t>
            </a:r>
            <a:br>
              <a:rPr lang="en-US" dirty="0" smtClean="0"/>
            </a:br>
            <a:r>
              <a:rPr lang="en-US" dirty="0" smtClean="0"/>
              <a:t>    }</a:t>
            </a:r>
            <a:br>
              <a:rPr lang="en-US" dirty="0" smtClean="0"/>
            </a:br>
            <a:r>
              <a:rPr lang="en-US" dirty="0" smtClean="0"/>
              <a:t>}</a:t>
            </a:r>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650" y="383391"/>
            <a:ext cx="11944350" cy="5632311"/>
          </a:xfrm>
          <a:prstGeom prst="rect">
            <a:avLst/>
          </a:prstGeom>
        </p:spPr>
        <p:txBody>
          <a:bodyPr wrap="square">
            <a:spAutoFit/>
          </a:bodyPr>
          <a:lstStyle/>
          <a:p>
            <a:r>
              <a:rPr lang="en-US" b="1" dirty="0" smtClean="0"/>
              <a:t>Radio Button:</a:t>
            </a:r>
          </a:p>
          <a:p>
            <a:endParaRPr lang="en-US" dirty="0" smtClean="0"/>
          </a:p>
          <a:p>
            <a:r>
              <a:rPr lang="en-US" dirty="0" smtClean="0"/>
              <a:t>In android, </a:t>
            </a:r>
            <a:r>
              <a:rPr lang="en-US" b="1" dirty="0" smtClean="0"/>
              <a:t>Radio Button</a:t>
            </a:r>
            <a:r>
              <a:rPr lang="en-US" dirty="0" smtClean="0"/>
              <a:t> is a two-states button that can be either checked or unchecked and it’s the same as </a:t>
            </a:r>
            <a:r>
              <a:rPr lang="en-US" dirty="0" err="1" smtClean="0"/>
              <a:t>CheckBox</a:t>
            </a:r>
            <a:r>
              <a:rPr lang="en-US" dirty="0" smtClean="0"/>
              <a:t> control, except that it will allow only one option to select from the group of options.</a:t>
            </a:r>
          </a:p>
          <a:p>
            <a:r>
              <a:rPr lang="en-US" dirty="0" smtClean="0"/>
              <a:t> </a:t>
            </a:r>
          </a:p>
          <a:p>
            <a:r>
              <a:rPr lang="en-US" dirty="0" smtClean="0"/>
              <a:t>The user can press or click on the radio button to make it select. In android, </a:t>
            </a:r>
            <a:r>
              <a:rPr lang="en-US" dirty="0" err="1" smtClean="0"/>
              <a:t>CheckBox</a:t>
            </a:r>
            <a:r>
              <a:rPr lang="en-US" dirty="0" smtClean="0"/>
              <a:t> control allow users to change the state of control either Checked or Unchecked but the radio button cannot be unchecked once it is checked.</a:t>
            </a:r>
          </a:p>
          <a:p>
            <a:r>
              <a:rPr lang="en-US" dirty="0" smtClean="0"/>
              <a:t> </a:t>
            </a:r>
          </a:p>
          <a:p>
            <a:r>
              <a:rPr lang="en-US" dirty="0" smtClean="0"/>
              <a:t>Generally, we can use </a:t>
            </a:r>
            <a:r>
              <a:rPr lang="en-US" b="1" dirty="0" err="1" smtClean="0"/>
              <a:t>RadioButton</a:t>
            </a:r>
            <a:r>
              <a:rPr lang="en-US" dirty="0" smtClean="0"/>
              <a:t> controls in an android application to allow users to select only one option from the set of values.</a:t>
            </a:r>
          </a:p>
          <a:p>
            <a:r>
              <a:rPr lang="en-US" dirty="0" smtClean="0"/>
              <a:t>In android, we use radio buttons with in a </a:t>
            </a:r>
            <a:r>
              <a:rPr lang="en-US" b="1" dirty="0" err="1" smtClean="0"/>
              <a:t>RadioGroup</a:t>
            </a:r>
            <a:r>
              <a:rPr lang="en-US" dirty="0" smtClean="0"/>
              <a:t> to combine multiple radio buttons into one group and it will make sure that users can select only one option from the group of multiple options.</a:t>
            </a:r>
          </a:p>
          <a:p>
            <a:r>
              <a:rPr lang="en-US" dirty="0" smtClean="0"/>
              <a:t> </a:t>
            </a:r>
          </a:p>
          <a:p>
            <a:r>
              <a:rPr lang="en-US" dirty="0" smtClean="0"/>
              <a:t>By default, the android </a:t>
            </a:r>
            <a:r>
              <a:rPr lang="en-US" b="1" dirty="0" err="1" smtClean="0"/>
              <a:t>RadioButton</a:t>
            </a:r>
            <a:r>
              <a:rPr lang="en-US" dirty="0" smtClean="0"/>
              <a:t> will be in </a:t>
            </a:r>
            <a:r>
              <a:rPr lang="en-US" b="1" dirty="0" smtClean="0"/>
              <a:t>OFF</a:t>
            </a:r>
            <a:r>
              <a:rPr lang="en-US" dirty="0" smtClean="0"/>
              <a:t> (</a:t>
            </a:r>
            <a:r>
              <a:rPr lang="en-US" b="1" dirty="0" smtClean="0"/>
              <a:t>Unchecked</a:t>
            </a:r>
            <a:r>
              <a:rPr lang="en-US" dirty="0" smtClean="0"/>
              <a:t>) state. </a:t>
            </a:r>
          </a:p>
          <a:p>
            <a:r>
              <a:rPr lang="en-US" dirty="0" smtClean="0"/>
              <a:t>We can change the default state of </a:t>
            </a:r>
            <a:r>
              <a:rPr lang="en-US" b="1" dirty="0" err="1" smtClean="0"/>
              <a:t>RadioButton</a:t>
            </a:r>
            <a:r>
              <a:rPr lang="en-US" dirty="0" smtClean="0"/>
              <a:t> by using </a:t>
            </a:r>
            <a:r>
              <a:rPr lang="en-US" b="1" dirty="0" err="1" smtClean="0"/>
              <a:t>android:checked</a:t>
            </a:r>
            <a:r>
              <a:rPr lang="en-US" dirty="0" smtClean="0"/>
              <a:t> attribute.</a:t>
            </a:r>
          </a:p>
          <a:p>
            <a:r>
              <a:rPr lang="en-US" dirty="0" smtClean="0"/>
              <a:t> </a:t>
            </a:r>
          </a:p>
          <a:p>
            <a:r>
              <a:rPr lang="en-US" dirty="0" smtClean="0"/>
              <a:t>In case, if we want to change the state of </a:t>
            </a:r>
            <a:r>
              <a:rPr lang="en-US" b="1" dirty="0" err="1" smtClean="0"/>
              <a:t>RadioButton</a:t>
            </a:r>
            <a:r>
              <a:rPr lang="en-US" dirty="0" smtClean="0"/>
              <a:t> to </a:t>
            </a:r>
            <a:r>
              <a:rPr lang="en-US" b="1" dirty="0" smtClean="0"/>
              <a:t>ON</a:t>
            </a:r>
            <a:r>
              <a:rPr lang="en-US" dirty="0" smtClean="0"/>
              <a:t> (</a:t>
            </a:r>
            <a:r>
              <a:rPr lang="en-US" b="1" dirty="0" smtClean="0"/>
              <a:t>Checked</a:t>
            </a:r>
            <a:r>
              <a:rPr lang="en-US" dirty="0" smtClean="0"/>
              <a:t>), then we need to set</a:t>
            </a:r>
          </a:p>
          <a:p>
            <a:r>
              <a:rPr lang="en-US" dirty="0" smtClean="0"/>
              <a:t> </a:t>
            </a:r>
            <a:r>
              <a:rPr lang="en-US" b="1" dirty="0" err="1" smtClean="0"/>
              <a:t>android:checked</a:t>
            </a:r>
            <a:r>
              <a:rPr lang="en-US" b="1" dirty="0" smtClean="0"/>
              <a:t> = “true”</a:t>
            </a:r>
            <a:r>
              <a:rPr lang="en-US" dirty="0" smtClean="0"/>
              <a:t> </a:t>
            </a:r>
          </a:p>
          <a:p>
            <a:r>
              <a:rPr lang="en-US" dirty="0" smtClean="0"/>
              <a:t>in our XML layout file.</a:t>
            </a:r>
          </a:p>
          <a:p>
            <a:endParaRPr lang="en-US"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850" y="115967"/>
            <a:ext cx="6096000" cy="6555641"/>
          </a:xfrm>
          <a:prstGeom prst="rect">
            <a:avLst/>
          </a:prstGeom>
        </p:spPr>
        <p:txBody>
          <a:bodyPr>
            <a:spAutoFit/>
          </a:bodyPr>
          <a:lstStyle/>
          <a:p>
            <a:r>
              <a:rPr lang="en-US" sz="1200" dirty="0" smtClean="0"/>
              <a:t>&lt;?xml version="1.0" encoding="utf-8"?&gt;</a:t>
            </a:r>
            <a:br>
              <a:rPr lang="en-US" sz="1200" dirty="0" smtClean="0"/>
            </a:br>
            <a:r>
              <a:rPr lang="en-US" sz="1200" dirty="0" smtClean="0"/>
              <a:t>&lt;</a:t>
            </a:r>
            <a:r>
              <a:rPr lang="en-US" sz="1200" dirty="0" err="1" smtClean="0"/>
              <a:t>RelativeLayout</a:t>
            </a:r>
            <a:r>
              <a:rPr lang="en-US" sz="1200" dirty="0" smtClean="0"/>
              <a:t> </a:t>
            </a:r>
            <a:r>
              <a:rPr lang="en-US" sz="1200" dirty="0" err="1" smtClean="0"/>
              <a:t>xmlns:android</a:t>
            </a:r>
            <a:r>
              <a:rPr lang="en-US" sz="1200" dirty="0" smtClean="0"/>
              <a:t>="http://schemas.android.com/apk/res/android"</a:t>
            </a:r>
            <a:br>
              <a:rPr lang="en-US" sz="1200" dirty="0" smtClean="0"/>
            </a:br>
            <a:r>
              <a:rPr lang="en-US" sz="1200" dirty="0" smtClean="0"/>
              <a:t>    </a:t>
            </a:r>
            <a:r>
              <a:rPr lang="en-US" sz="1200" dirty="0" err="1" smtClean="0"/>
              <a:t>android:layout_width</a:t>
            </a:r>
            <a:r>
              <a:rPr lang="en-US" sz="1200" dirty="0" smtClean="0"/>
              <a:t>="</a:t>
            </a:r>
            <a:r>
              <a:rPr lang="en-US" sz="1200" dirty="0" err="1" smtClean="0"/>
              <a:t>match_parent</a:t>
            </a:r>
            <a:r>
              <a:rPr lang="en-US" sz="1200" dirty="0" smtClean="0"/>
              <a:t>" </a:t>
            </a:r>
            <a:r>
              <a:rPr lang="en-US" sz="1200" dirty="0" err="1" smtClean="0"/>
              <a:t>android:layout_height</a:t>
            </a:r>
            <a:r>
              <a:rPr lang="en-US" sz="1200" dirty="0" smtClean="0"/>
              <a:t>="</a:t>
            </a:r>
            <a:r>
              <a:rPr lang="en-US" sz="1200" dirty="0" err="1" smtClean="0"/>
              <a:t>match_parent</a:t>
            </a:r>
            <a:r>
              <a:rPr lang="en-US" sz="1200" dirty="0" smtClean="0"/>
              <a:t>"&gt;</a:t>
            </a:r>
            <a:br>
              <a:rPr lang="en-US" sz="1200" dirty="0" smtClean="0"/>
            </a:br>
            <a:r>
              <a:rPr lang="en-US" sz="1200" dirty="0" smtClean="0"/>
              <a:t>    &lt;</a:t>
            </a:r>
            <a:r>
              <a:rPr lang="en-US" sz="1200" dirty="0" err="1" smtClean="0"/>
              <a:t>TextView</a:t>
            </a:r>
            <a:r>
              <a:rPr lang="en-US" sz="1200" dirty="0" smtClean="0"/>
              <a:t/>
            </a:r>
            <a:br>
              <a:rPr lang="en-US" sz="1200" dirty="0" smtClean="0"/>
            </a:br>
            <a:r>
              <a:rPr lang="en-US" sz="1200" dirty="0" smtClean="0"/>
              <a:t>        </a:t>
            </a:r>
            <a:r>
              <a:rPr lang="en-US" sz="1200" dirty="0" err="1" smtClean="0"/>
              <a:t>android:layout_width</a:t>
            </a:r>
            <a:r>
              <a:rPr lang="en-US" sz="1200" dirty="0" smtClean="0"/>
              <a:t>="</a:t>
            </a:r>
            <a:r>
              <a:rPr lang="en-US" sz="1200" dirty="0" err="1" smtClean="0"/>
              <a:t>wrap_content</a:t>
            </a:r>
            <a:r>
              <a:rPr lang="en-US" sz="1200" dirty="0" smtClean="0"/>
              <a:t>"</a:t>
            </a:r>
            <a:br>
              <a:rPr lang="en-US" sz="1200" dirty="0" smtClean="0"/>
            </a:br>
            <a:r>
              <a:rPr lang="en-US" sz="1200" dirty="0" smtClean="0"/>
              <a:t>        </a:t>
            </a:r>
            <a:r>
              <a:rPr lang="en-US" sz="1200" dirty="0" err="1" smtClean="0"/>
              <a:t>android:layout_height</a:t>
            </a:r>
            <a:r>
              <a:rPr lang="en-US" sz="1200" dirty="0" smtClean="0"/>
              <a:t>="</a:t>
            </a:r>
            <a:r>
              <a:rPr lang="en-US" sz="1200" dirty="0" err="1" smtClean="0"/>
              <a:t>wrap_content</a:t>
            </a:r>
            <a:r>
              <a:rPr lang="en-US" sz="1200" dirty="0" smtClean="0"/>
              <a:t>"</a:t>
            </a:r>
            <a:br>
              <a:rPr lang="en-US" sz="1200" dirty="0" smtClean="0"/>
            </a:br>
            <a:r>
              <a:rPr lang="en-US" sz="1200" dirty="0" smtClean="0"/>
              <a:t>        </a:t>
            </a:r>
            <a:r>
              <a:rPr lang="en-US" sz="1200" dirty="0" err="1" smtClean="0"/>
              <a:t>android:layout_marginTop</a:t>
            </a:r>
            <a:r>
              <a:rPr lang="en-US" sz="1200" dirty="0" smtClean="0"/>
              <a:t>="150dp"</a:t>
            </a:r>
            <a:br>
              <a:rPr lang="en-US" sz="1200" dirty="0" smtClean="0"/>
            </a:br>
            <a:r>
              <a:rPr lang="en-US" sz="1200" dirty="0" smtClean="0"/>
              <a:t>        </a:t>
            </a:r>
            <a:r>
              <a:rPr lang="en-US" sz="1200" dirty="0" err="1" smtClean="0"/>
              <a:t>android:layout_marginLeft</a:t>
            </a:r>
            <a:r>
              <a:rPr lang="en-US" sz="1200" dirty="0" smtClean="0"/>
              <a:t>="100dp"</a:t>
            </a:r>
            <a:br>
              <a:rPr lang="en-US" sz="1200" dirty="0" smtClean="0"/>
            </a:br>
            <a:r>
              <a:rPr lang="en-US" sz="1200" dirty="0" smtClean="0"/>
              <a:t>        </a:t>
            </a:r>
            <a:r>
              <a:rPr lang="en-US" sz="1200" dirty="0" err="1" smtClean="0"/>
              <a:t>android:textSize</a:t>
            </a:r>
            <a:r>
              <a:rPr lang="en-US" sz="1200" dirty="0" smtClean="0"/>
              <a:t>="18dp"</a:t>
            </a:r>
            <a:br>
              <a:rPr lang="en-US" sz="1200" dirty="0" smtClean="0"/>
            </a:br>
            <a:r>
              <a:rPr lang="en-US" sz="1200" dirty="0" smtClean="0"/>
              <a:t>        </a:t>
            </a:r>
            <a:r>
              <a:rPr lang="en-US" sz="1200" dirty="0" err="1" smtClean="0"/>
              <a:t>android:text</a:t>
            </a:r>
            <a:r>
              <a:rPr lang="en-US" sz="1200" dirty="0" smtClean="0"/>
              <a:t>="Select Your Course"</a:t>
            </a:r>
            <a:br>
              <a:rPr lang="en-US" sz="1200" dirty="0" smtClean="0"/>
            </a:br>
            <a:r>
              <a:rPr lang="en-US" sz="1200" dirty="0" smtClean="0"/>
              <a:t>        </a:t>
            </a:r>
            <a:r>
              <a:rPr lang="en-US" sz="1200" dirty="0" err="1" smtClean="0"/>
              <a:t>android:textStyle</a:t>
            </a:r>
            <a:r>
              <a:rPr lang="en-US" sz="1200" dirty="0" smtClean="0"/>
              <a:t>="bold"</a:t>
            </a:r>
            <a:br>
              <a:rPr lang="en-US" sz="1200" dirty="0" smtClean="0"/>
            </a:br>
            <a:r>
              <a:rPr lang="en-US" sz="1200" dirty="0" smtClean="0"/>
              <a:t>        </a:t>
            </a:r>
            <a:r>
              <a:rPr lang="en-US" sz="1200" dirty="0" err="1" smtClean="0"/>
              <a:t>android:id</a:t>
            </a:r>
            <a:r>
              <a:rPr lang="en-US" sz="1200" dirty="0" smtClean="0"/>
              <a:t>="@+id/</a:t>
            </a:r>
            <a:r>
              <a:rPr lang="en-US" sz="1200" dirty="0" err="1" smtClean="0"/>
              <a:t>txtView</a:t>
            </a:r>
            <a:r>
              <a:rPr lang="en-US" sz="1200" dirty="0" smtClean="0"/>
              <a:t>"/&gt;</a:t>
            </a:r>
            <a:br>
              <a:rPr lang="en-US" sz="1200" dirty="0" smtClean="0"/>
            </a:br>
            <a:r>
              <a:rPr lang="en-US" sz="1200" dirty="0" smtClean="0"/>
              <a:t>&lt;</a:t>
            </a:r>
            <a:r>
              <a:rPr lang="en-US" sz="1200" dirty="0" err="1" smtClean="0"/>
              <a:t>RadioGroup</a:t>
            </a:r>
            <a:r>
              <a:rPr lang="en-US" sz="1200" dirty="0" smtClean="0"/>
              <a:t/>
            </a:r>
            <a:br>
              <a:rPr lang="en-US" sz="1200" dirty="0" smtClean="0"/>
            </a:br>
            <a:r>
              <a:rPr lang="en-US" sz="1200" dirty="0" smtClean="0"/>
              <a:t>    </a:t>
            </a:r>
            <a:r>
              <a:rPr lang="en-US" sz="1200" dirty="0" err="1" smtClean="0"/>
              <a:t>android:layout_width</a:t>
            </a:r>
            <a:r>
              <a:rPr lang="en-US" sz="1200" dirty="0" smtClean="0"/>
              <a:t>="</a:t>
            </a:r>
            <a:r>
              <a:rPr lang="en-US" sz="1200" dirty="0" err="1" smtClean="0"/>
              <a:t>match_parent</a:t>
            </a:r>
            <a:r>
              <a:rPr lang="en-US" sz="1200" dirty="0" smtClean="0"/>
              <a:t>"</a:t>
            </a:r>
            <a:br>
              <a:rPr lang="en-US" sz="1200" dirty="0" smtClean="0"/>
            </a:br>
            <a:r>
              <a:rPr lang="en-US" sz="1200" dirty="0" smtClean="0"/>
              <a:t>    </a:t>
            </a:r>
            <a:r>
              <a:rPr lang="en-US" sz="1200" dirty="0" err="1" smtClean="0"/>
              <a:t>android:layout_height</a:t>
            </a:r>
            <a:r>
              <a:rPr lang="en-US" sz="1200" dirty="0" smtClean="0"/>
              <a:t>="</a:t>
            </a:r>
            <a:r>
              <a:rPr lang="en-US" sz="1200" dirty="0" err="1" smtClean="0"/>
              <a:t>wrap_content</a:t>
            </a:r>
            <a:r>
              <a:rPr lang="en-US" sz="1200" dirty="0" smtClean="0"/>
              <a:t>"</a:t>
            </a:r>
            <a:br>
              <a:rPr lang="en-US" sz="1200" dirty="0" smtClean="0"/>
            </a:br>
            <a:r>
              <a:rPr lang="en-US" sz="1200" dirty="0" smtClean="0"/>
              <a:t>    </a:t>
            </a:r>
            <a:r>
              <a:rPr lang="en-US" sz="1200" dirty="0" err="1" smtClean="0"/>
              <a:t>android:orientation</a:t>
            </a:r>
            <a:r>
              <a:rPr lang="en-US" sz="1200" dirty="0" smtClean="0"/>
              <a:t>="vertical"</a:t>
            </a:r>
            <a:br>
              <a:rPr lang="en-US" sz="1200" dirty="0" smtClean="0"/>
            </a:br>
            <a:r>
              <a:rPr lang="en-US" sz="1200" dirty="0" smtClean="0"/>
              <a:t>    </a:t>
            </a:r>
            <a:r>
              <a:rPr lang="en-US" sz="1200" dirty="0" err="1" smtClean="0"/>
              <a:t>android:id</a:t>
            </a:r>
            <a:r>
              <a:rPr lang="en-US" sz="1200" dirty="0" smtClean="0"/>
              <a:t>="@+id/</a:t>
            </a:r>
            <a:r>
              <a:rPr lang="en-US" sz="1200" dirty="0" err="1" smtClean="0"/>
              <a:t>rdGroup</a:t>
            </a:r>
            <a:r>
              <a:rPr lang="en-US" sz="1200" dirty="0" smtClean="0"/>
              <a:t>"</a:t>
            </a:r>
            <a:br>
              <a:rPr lang="en-US" sz="1200" dirty="0" smtClean="0"/>
            </a:br>
            <a:r>
              <a:rPr lang="en-US" sz="1200" dirty="0" smtClean="0"/>
              <a:t>    </a:t>
            </a:r>
            <a:r>
              <a:rPr lang="en-US" sz="1200" dirty="0" err="1" smtClean="0"/>
              <a:t>android:layout_below</a:t>
            </a:r>
            <a:r>
              <a:rPr lang="en-US" sz="1200" dirty="0" smtClean="0"/>
              <a:t>="@+id/</a:t>
            </a:r>
            <a:r>
              <a:rPr lang="en-US" sz="1200" dirty="0" err="1" smtClean="0"/>
              <a:t>txtView</a:t>
            </a:r>
            <a:r>
              <a:rPr lang="en-US" sz="1200" dirty="0" smtClean="0"/>
              <a:t>"&gt;</a:t>
            </a:r>
            <a:br>
              <a:rPr lang="en-US" sz="1200" dirty="0" smtClean="0"/>
            </a:br>
            <a:r>
              <a:rPr lang="en-US" sz="1200" dirty="0" smtClean="0"/>
              <a:t>    &lt;</a:t>
            </a:r>
            <a:r>
              <a:rPr lang="en-US" sz="1200" dirty="0" err="1" smtClean="0"/>
              <a:t>RadioButton</a:t>
            </a:r>
            <a:r>
              <a:rPr lang="en-US" sz="1200" dirty="0" smtClean="0"/>
              <a:t/>
            </a:r>
            <a:br>
              <a:rPr lang="en-US" sz="1200" dirty="0" smtClean="0"/>
            </a:br>
            <a:r>
              <a:rPr lang="en-US" sz="1200" dirty="0" smtClean="0"/>
              <a:t>        </a:t>
            </a:r>
            <a:r>
              <a:rPr lang="en-US" sz="1200" dirty="0" err="1" smtClean="0"/>
              <a:t>android:id</a:t>
            </a:r>
            <a:r>
              <a:rPr lang="en-US" sz="1200" dirty="0" smtClean="0"/>
              <a:t>="@+id/</a:t>
            </a:r>
            <a:r>
              <a:rPr lang="en-US" sz="1200" dirty="0" err="1" smtClean="0"/>
              <a:t>rdbJava</a:t>
            </a:r>
            <a:r>
              <a:rPr lang="en-US" sz="1200" dirty="0" smtClean="0"/>
              <a:t>"</a:t>
            </a:r>
            <a:br>
              <a:rPr lang="en-US" sz="1200" dirty="0" smtClean="0"/>
            </a:br>
            <a:r>
              <a:rPr lang="en-US" sz="1200" dirty="0" smtClean="0"/>
              <a:t>        </a:t>
            </a:r>
            <a:r>
              <a:rPr lang="en-US" sz="1200" dirty="0" err="1" smtClean="0"/>
              <a:t>android:layout_width</a:t>
            </a:r>
            <a:r>
              <a:rPr lang="en-US" sz="1200" dirty="0" smtClean="0"/>
              <a:t>="</a:t>
            </a:r>
            <a:r>
              <a:rPr lang="en-US" sz="1200" dirty="0" err="1" smtClean="0"/>
              <a:t>wrap_content</a:t>
            </a:r>
            <a:r>
              <a:rPr lang="en-US" sz="1200" dirty="0" smtClean="0"/>
              <a:t>"</a:t>
            </a:r>
            <a:br>
              <a:rPr lang="en-US" sz="1200" dirty="0" smtClean="0"/>
            </a:br>
            <a:r>
              <a:rPr lang="en-US" sz="1200" dirty="0" smtClean="0"/>
              <a:t>        </a:t>
            </a:r>
            <a:r>
              <a:rPr lang="en-US" sz="1200" dirty="0" err="1" smtClean="0"/>
              <a:t>android:layout_height</a:t>
            </a:r>
            <a:r>
              <a:rPr lang="en-US" sz="1200" dirty="0" smtClean="0"/>
              <a:t>="</a:t>
            </a:r>
            <a:r>
              <a:rPr lang="en-US" sz="1200" dirty="0" err="1" smtClean="0"/>
              <a:t>wrap_content</a:t>
            </a:r>
            <a:r>
              <a:rPr lang="en-US" sz="1200" dirty="0" smtClean="0"/>
              <a:t>"</a:t>
            </a:r>
            <a:br>
              <a:rPr lang="en-US" sz="1200" dirty="0" smtClean="0"/>
            </a:br>
            <a:r>
              <a:rPr lang="en-US" sz="1200" dirty="0" smtClean="0"/>
              <a:t>        </a:t>
            </a:r>
            <a:r>
              <a:rPr lang="en-US" sz="1200" dirty="0" err="1" smtClean="0"/>
              <a:t>android:padding</a:t>
            </a:r>
            <a:r>
              <a:rPr lang="en-US" sz="1200" dirty="0" smtClean="0"/>
              <a:t>="10dp"</a:t>
            </a:r>
            <a:br>
              <a:rPr lang="en-US" sz="1200" dirty="0" smtClean="0"/>
            </a:br>
            <a:r>
              <a:rPr lang="en-US" sz="1200" dirty="0" smtClean="0"/>
              <a:t>        </a:t>
            </a:r>
            <a:r>
              <a:rPr lang="en-US" sz="1200" dirty="0" err="1" smtClean="0"/>
              <a:t>android:layout_marginLeft</a:t>
            </a:r>
            <a:r>
              <a:rPr lang="en-US" sz="1200" dirty="0" smtClean="0"/>
              <a:t>="100dp"</a:t>
            </a:r>
            <a:br>
              <a:rPr lang="en-US" sz="1200" dirty="0" smtClean="0"/>
            </a:br>
            <a:r>
              <a:rPr lang="en-US" sz="1200" dirty="0" smtClean="0"/>
              <a:t>        </a:t>
            </a:r>
            <a:r>
              <a:rPr lang="en-US" sz="1200" dirty="0" err="1" smtClean="0"/>
              <a:t>android:text</a:t>
            </a:r>
            <a:r>
              <a:rPr lang="en-US" sz="1200" dirty="0" smtClean="0"/>
              <a:t>="Java"</a:t>
            </a:r>
            <a:br>
              <a:rPr lang="en-US" sz="1200" dirty="0" smtClean="0"/>
            </a:br>
            <a:r>
              <a:rPr lang="en-US" sz="1200" dirty="0" smtClean="0"/>
              <a:t>        </a:t>
            </a:r>
            <a:r>
              <a:rPr lang="en-US" sz="1200" dirty="0" err="1" smtClean="0"/>
              <a:t>android:onClick</a:t>
            </a:r>
            <a:r>
              <a:rPr lang="en-US" sz="1200" dirty="0" smtClean="0"/>
              <a:t>="</a:t>
            </a:r>
            <a:r>
              <a:rPr lang="en-US" sz="1200" dirty="0" err="1" smtClean="0"/>
              <a:t>onRadioButtonClicked</a:t>
            </a:r>
            <a:r>
              <a:rPr lang="en-US" sz="1200" dirty="0" smtClean="0"/>
              <a:t>"/&gt;</a:t>
            </a:r>
            <a:br>
              <a:rPr lang="en-US" sz="1200" dirty="0" smtClean="0"/>
            </a:br>
            <a:r>
              <a:rPr lang="en-US" sz="1200" dirty="0" smtClean="0"/>
              <a:t>    &lt;</a:t>
            </a:r>
            <a:r>
              <a:rPr lang="en-US" sz="1200" dirty="0" err="1" smtClean="0"/>
              <a:t>RadioButton</a:t>
            </a:r>
            <a:r>
              <a:rPr lang="en-US" sz="1200" dirty="0" smtClean="0"/>
              <a:t/>
            </a:r>
            <a:br>
              <a:rPr lang="en-US" sz="1200" dirty="0" smtClean="0"/>
            </a:br>
            <a:r>
              <a:rPr lang="en-US" sz="1200" dirty="0" smtClean="0"/>
              <a:t>        </a:t>
            </a:r>
            <a:r>
              <a:rPr lang="en-US" sz="1200" dirty="0" err="1" smtClean="0"/>
              <a:t>android:id</a:t>
            </a:r>
            <a:r>
              <a:rPr lang="en-US" sz="1200" dirty="0" smtClean="0"/>
              <a:t>="@+id/</a:t>
            </a:r>
            <a:r>
              <a:rPr lang="en-US" sz="1200" dirty="0" err="1" smtClean="0"/>
              <a:t>rdbPython</a:t>
            </a:r>
            <a:r>
              <a:rPr lang="en-US" sz="1200" dirty="0" smtClean="0"/>
              <a:t>"</a:t>
            </a:r>
            <a:br>
              <a:rPr lang="en-US" sz="1200" dirty="0" smtClean="0"/>
            </a:br>
            <a:r>
              <a:rPr lang="en-US" sz="1200" dirty="0" smtClean="0"/>
              <a:t>        </a:t>
            </a:r>
            <a:r>
              <a:rPr lang="en-US" sz="1200" dirty="0" err="1" smtClean="0"/>
              <a:t>android:layout_width</a:t>
            </a:r>
            <a:r>
              <a:rPr lang="en-US" sz="1200" dirty="0" smtClean="0"/>
              <a:t>="</a:t>
            </a:r>
            <a:r>
              <a:rPr lang="en-US" sz="1200" dirty="0" err="1" smtClean="0"/>
              <a:t>wrap_content</a:t>
            </a:r>
            <a:r>
              <a:rPr lang="en-US" sz="1200" dirty="0" smtClean="0"/>
              <a:t>"</a:t>
            </a:r>
            <a:br>
              <a:rPr lang="en-US" sz="1200" dirty="0" smtClean="0"/>
            </a:br>
            <a:r>
              <a:rPr lang="en-US" sz="1200" dirty="0" smtClean="0"/>
              <a:t>        </a:t>
            </a:r>
            <a:r>
              <a:rPr lang="en-US" sz="1200" dirty="0" err="1" smtClean="0"/>
              <a:t>android:layout_height</a:t>
            </a:r>
            <a:r>
              <a:rPr lang="en-US" sz="1200" dirty="0" smtClean="0"/>
              <a:t>="</a:t>
            </a:r>
            <a:r>
              <a:rPr lang="en-US" sz="1200" dirty="0" err="1" smtClean="0"/>
              <a:t>wrap_content</a:t>
            </a:r>
            <a:r>
              <a:rPr lang="en-US" sz="1200" dirty="0" smtClean="0"/>
              <a:t>"</a:t>
            </a:r>
            <a:br>
              <a:rPr lang="en-US" sz="1200" dirty="0" smtClean="0"/>
            </a:br>
            <a:r>
              <a:rPr lang="en-US" sz="1200" dirty="0" smtClean="0"/>
              <a:t>        </a:t>
            </a:r>
            <a:r>
              <a:rPr lang="en-US" sz="1200" dirty="0" err="1" smtClean="0"/>
              <a:t>android:padding</a:t>
            </a:r>
            <a:r>
              <a:rPr lang="en-US" sz="1200" dirty="0" smtClean="0"/>
              <a:t>="10dp"</a:t>
            </a:r>
            <a:br>
              <a:rPr lang="en-US" sz="1200" dirty="0" smtClean="0"/>
            </a:br>
            <a:r>
              <a:rPr lang="en-US" sz="1200" dirty="0" smtClean="0"/>
              <a:t>        </a:t>
            </a:r>
            <a:r>
              <a:rPr lang="en-US" sz="1200" dirty="0" err="1" smtClean="0"/>
              <a:t>android:layout_marginLeft</a:t>
            </a:r>
            <a:r>
              <a:rPr lang="en-US" sz="1200" dirty="0" smtClean="0"/>
              <a:t>="100dp"</a:t>
            </a:r>
            <a:br>
              <a:rPr lang="en-US" sz="1200" dirty="0" smtClean="0"/>
            </a:br>
            <a:r>
              <a:rPr lang="en-US" sz="1200" dirty="0" smtClean="0"/>
              <a:t>        </a:t>
            </a:r>
            <a:r>
              <a:rPr lang="en-US" sz="1200" dirty="0" err="1" smtClean="0"/>
              <a:t>android:text</a:t>
            </a:r>
            <a:r>
              <a:rPr lang="en-US" sz="1200" dirty="0" smtClean="0"/>
              <a:t>="Python"</a:t>
            </a:r>
            <a:br>
              <a:rPr lang="en-US" sz="1200" dirty="0" smtClean="0"/>
            </a:br>
            <a:r>
              <a:rPr lang="en-US" sz="1200" dirty="0" smtClean="0"/>
              <a:t>        </a:t>
            </a:r>
            <a:r>
              <a:rPr lang="en-US" sz="1200" dirty="0" err="1" smtClean="0"/>
              <a:t>android:onClick</a:t>
            </a:r>
            <a:r>
              <a:rPr lang="en-US" sz="1200" dirty="0" smtClean="0"/>
              <a:t>="</a:t>
            </a:r>
            <a:r>
              <a:rPr lang="en-US" sz="1200" dirty="0" err="1" smtClean="0"/>
              <a:t>onRadioButtonClicked</a:t>
            </a:r>
            <a:r>
              <a:rPr lang="en-US" sz="1200" dirty="0" smtClean="0"/>
              <a:t>"/&gt;</a:t>
            </a:r>
            <a:br>
              <a:rPr lang="en-US" sz="1200" dirty="0" smtClean="0"/>
            </a:br>
            <a:r>
              <a:rPr lang="en-US" sz="1200" dirty="0" smtClean="0"/>
              <a:t>   </a:t>
            </a:r>
            <a:endParaRPr lang="en-US" sz="1200" dirty="0"/>
          </a:p>
        </p:txBody>
      </p:sp>
      <p:sp>
        <p:nvSpPr>
          <p:cNvPr id="3" name="Rectangle 2"/>
          <p:cNvSpPr/>
          <p:nvPr/>
        </p:nvSpPr>
        <p:spPr>
          <a:xfrm>
            <a:off x="6343650" y="0"/>
            <a:ext cx="6096000" cy="7017306"/>
          </a:xfrm>
          <a:prstGeom prst="rect">
            <a:avLst/>
          </a:prstGeom>
        </p:spPr>
        <p:txBody>
          <a:bodyPr>
            <a:spAutoFit/>
          </a:bodyPr>
          <a:lstStyle/>
          <a:p>
            <a:r>
              <a:rPr lang="en-US" dirty="0" smtClean="0"/>
              <a:t>&lt;</a:t>
            </a:r>
            <a:r>
              <a:rPr lang="en-US" dirty="0" err="1" smtClean="0"/>
              <a:t>RadioButton</a:t>
            </a:r>
            <a:r>
              <a:rPr lang="en-US" dirty="0" smtClean="0"/>
              <a:t/>
            </a:r>
            <a:br>
              <a:rPr lang="en-US" dirty="0" smtClean="0"/>
            </a:br>
            <a:r>
              <a:rPr lang="en-US" dirty="0" smtClean="0"/>
              <a:t>        </a:t>
            </a:r>
            <a:r>
              <a:rPr lang="en-US" dirty="0" err="1" smtClean="0"/>
              <a:t>android:id</a:t>
            </a:r>
            <a:r>
              <a:rPr lang="en-US" dirty="0" smtClean="0"/>
              <a:t>="@+id/</a:t>
            </a:r>
            <a:r>
              <a:rPr lang="en-US" dirty="0" err="1" smtClean="0"/>
              <a:t>rdbAndroid</a:t>
            </a:r>
            <a:r>
              <a:rPr lang="en-US" dirty="0" smtClean="0"/>
              <a:t>"</a:t>
            </a:r>
            <a:br>
              <a:rPr lang="en-US" dirty="0" smtClean="0"/>
            </a:br>
            <a:r>
              <a:rPr lang="en-US" dirty="0" smtClean="0"/>
              <a:t>        </a:t>
            </a:r>
            <a:r>
              <a:rPr lang="en-US" dirty="0" err="1" smtClean="0"/>
              <a:t>android:layout_width</a:t>
            </a:r>
            <a:r>
              <a:rPr lang="en-US" dirty="0" smtClean="0"/>
              <a:t>="</a:t>
            </a:r>
            <a:r>
              <a:rPr lang="en-US" dirty="0" err="1" smtClean="0"/>
              <a:t>wrap_content</a:t>
            </a:r>
            <a:r>
              <a:rPr lang="en-US" dirty="0" smtClean="0"/>
              <a:t>"</a:t>
            </a:r>
            <a:br>
              <a:rPr lang="en-US" dirty="0" smtClean="0"/>
            </a:br>
            <a:r>
              <a:rPr lang="en-US" dirty="0" smtClean="0"/>
              <a:t>        </a:t>
            </a:r>
            <a:r>
              <a:rPr lang="en-US" dirty="0" err="1" smtClean="0"/>
              <a:t>android:layout_height</a:t>
            </a:r>
            <a:r>
              <a:rPr lang="en-US" dirty="0" smtClean="0"/>
              <a:t>="</a:t>
            </a:r>
            <a:r>
              <a:rPr lang="en-US" dirty="0" err="1" smtClean="0"/>
              <a:t>wrap_content</a:t>
            </a:r>
            <a:r>
              <a:rPr lang="en-US" dirty="0" smtClean="0"/>
              <a:t>"</a:t>
            </a:r>
            <a:br>
              <a:rPr lang="en-US" dirty="0" smtClean="0"/>
            </a:br>
            <a:r>
              <a:rPr lang="en-US" dirty="0" smtClean="0"/>
              <a:t>        </a:t>
            </a:r>
            <a:r>
              <a:rPr lang="en-US" dirty="0" err="1" smtClean="0"/>
              <a:t>android:padding</a:t>
            </a:r>
            <a:r>
              <a:rPr lang="en-US" dirty="0" smtClean="0"/>
              <a:t>="10dp"</a:t>
            </a:r>
            <a:br>
              <a:rPr lang="en-US" dirty="0" smtClean="0"/>
            </a:br>
            <a:r>
              <a:rPr lang="en-US" dirty="0" smtClean="0"/>
              <a:t>        </a:t>
            </a:r>
            <a:r>
              <a:rPr lang="en-US" dirty="0" err="1" smtClean="0"/>
              <a:t>android:layout_marginLeft</a:t>
            </a:r>
            <a:r>
              <a:rPr lang="en-US" dirty="0" smtClean="0"/>
              <a:t>="100dp"</a:t>
            </a:r>
            <a:br>
              <a:rPr lang="en-US" dirty="0" smtClean="0"/>
            </a:br>
            <a:r>
              <a:rPr lang="en-US" dirty="0" smtClean="0"/>
              <a:t>        </a:t>
            </a:r>
            <a:r>
              <a:rPr lang="en-US" dirty="0" err="1" smtClean="0"/>
              <a:t>android:text</a:t>
            </a:r>
            <a:r>
              <a:rPr lang="en-US" dirty="0" smtClean="0"/>
              <a:t>="Android"</a:t>
            </a:r>
            <a:br>
              <a:rPr lang="en-US" dirty="0" smtClean="0"/>
            </a:br>
            <a:r>
              <a:rPr lang="en-US" dirty="0" smtClean="0"/>
              <a:t>        </a:t>
            </a:r>
            <a:r>
              <a:rPr lang="en-US" dirty="0" err="1" smtClean="0"/>
              <a:t>android:onClick</a:t>
            </a:r>
            <a:r>
              <a:rPr lang="en-US" dirty="0" smtClean="0"/>
              <a:t>="</a:t>
            </a:r>
            <a:r>
              <a:rPr lang="en-US" dirty="0" err="1" smtClean="0"/>
              <a:t>onRadioButtonClicked</a:t>
            </a:r>
            <a:r>
              <a:rPr lang="en-US" dirty="0" smtClean="0"/>
              <a:t>"/&gt;</a:t>
            </a:r>
            <a:br>
              <a:rPr lang="en-US" dirty="0" smtClean="0"/>
            </a:br>
            <a:r>
              <a:rPr lang="en-US" dirty="0" smtClean="0"/>
              <a:t>    &lt;</a:t>
            </a:r>
            <a:r>
              <a:rPr lang="en-US" dirty="0" err="1" smtClean="0"/>
              <a:t>RadioButton</a:t>
            </a:r>
            <a:r>
              <a:rPr lang="en-US" dirty="0" smtClean="0"/>
              <a:t/>
            </a:r>
            <a:br>
              <a:rPr lang="en-US" dirty="0" smtClean="0"/>
            </a:br>
            <a:r>
              <a:rPr lang="en-US" dirty="0" smtClean="0"/>
              <a:t>        </a:t>
            </a:r>
            <a:r>
              <a:rPr lang="en-US" dirty="0" err="1" smtClean="0"/>
              <a:t>android:id</a:t>
            </a:r>
            <a:r>
              <a:rPr lang="en-US" dirty="0" smtClean="0"/>
              <a:t>="@+id/</a:t>
            </a:r>
            <a:r>
              <a:rPr lang="en-US" dirty="0" err="1" smtClean="0"/>
              <a:t>rdbAngular</a:t>
            </a:r>
            <a:r>
              <a:rPr lang="en-US" dirty="0" smtClean="0"/>
              <a:t>"</a:t>
            </a:r>
            <a:br>
              <a:rPr lang="en-US" dirty="0" smtClean="0"/>
            </a:br>
            <a:r>
              <a:rPr lang="en-US" dirty="0" smtClean="0"/>
              <a:t>        </a:t>
            </a:r>
            <a:r>
              <a:rPr lang="en-US" dirty="0" err="1" smtClean="0"/>
              <a:t>android:layout_width</a:t>
            </a:r>
            <a:r>
              <a:rPr lang="en-US" dirty="0" smtClean="0"/>
              <a:t>="</a:t>
            </a:r>
            <a:r>
              <a:rPr lang="en-US" dirty="0" err="1" smtClean="0"/>
              <a:t>wrap_content</a:t>
            </a:r>
            <a:r>
              <a:rPr lang="en-US" dirty="0" smtClean="0"/>
              <a:t>"</a:t>
            </a:r>
            <a:br>
              <a:rPr lang="en-US" dirty="0" smtClean="0"/>
            </a:br>
            <a:r>
              <a:rPr lang="en-US" dirty="0" smtClean="0"/>
              <a:t>        </a:t>
            </a:r>
            <a:r>
              <a:rPr lang="en-US" dirty="0" err="1" smtClean="0"/>
              <a:t>android:layout_height</a:t>
            </a:r>
            <a:r>
              <a:rPr lang="en-US" dirty="0" smtClean="0"/>
              <a:t>="</a:t>
            </a:r>
            <a:r>
              <a:rPr lang="en-US" dirty="0" err="1" smtClean="0"/>
              <a:t>wrap_content</a:t>
            </a:r>
            <a:r>
              <a:rPr lang="en-US" dirty="0" smtClean="0"/>
              <a:t>"</a:t>
            </a:r>
            <a:br>
              <a:rPr lang="en-US" dirty="0" smtClean="0"/>
            </a:br>
            <a:r>
              <a:rPr lang="en-US" dirty="0" smtClean="0"/>
              <a:t>        </a:t>
            </a:r>
            <a:r>
              <a:rPr lang="en-US" dirty="0" err="1" smtClean="0"/>
              <a:t>android:padding</a:t>
            </a:r>
            <a:r>
              <a:rPr lang="en-US" dirty="0" smtClean="0"/>
              <a:t>="10dp"</a:t>
            </a:r>
            <a:br>
              <a:rPr lang="en-US" dirty="0" smtClean="0"/>
            </a:br>
            <a:r>
              <a:rPr lang="en-US" dirty="0" smtClean="0"/>
              <a:t>        </a:t>
            </a:r>
            <a:r>
              <a:rPr lang="en-US" dirty="0" err="1" smtClean="0"/>
              <a:t>android:layout_marginLeft</a:t>
            </a:r>
            <a:r>
              <a:rPr lang="en-US" dirty="0" smtClean="0"/>
              <a:t>="100dp"</a:t>
            </a:r>
            <a:br>
              <a:rPr lang="en-US" dirty="0" smtClean="0"/>
            </a:br>
            <a:r>
              <a:rPr lang="en-US" dirty="0" smtClean="0"/>
              <a:t>        </a:t>
            </a:r>
            <a:r>
              <a:rPr lang="en-US" dirty="0" err="1" smtClean="0"/>
              <a:t>android:text</a:t>
            </a:r>
            <a:r>
              <a:rPr lang="en-US" dirty="0" smtClean="0"/>
              <a:t>="</a:t>
            </a:r>
            <a:r>
              <a:rPr lang="en-US" dirty="0" err="1" smtClean="0"/>
              <a:t>AngularJS</a:t>
            </a:r>
            <a:r>
              <a:rPr lang="en-US" dirty="0" smtClean="0"/>
              <a:t>"</a:t>
            </a:r>
            <a:br>
              <a:rPr lang="en-US" dirty="0" smtClean="0"/>
            </a:br>
            <a:r>
              <a:rPr lang="en-US" dirty="0" smtClean="0"/>
              <a:t>        </a:t>
            </a:r>
            <a:r>
              <a:rPr lang="en-US" dirty="0" err="1" smtClean="0"/>
              <a:t>android:onClick</a:t>
            </a:r>
            <a:r>
              <a:rPr lang="en-US" dirty="0" smtClean="0"/>
              <a:t>="</a:t>
            </a:r>
            <a:r>
              <a:rPr lang="en-US" dirty="0" err="1" smtClean="0"/>
              <a:t>onRadioButtonClicked</a:t>
            </a:r>
            <a:r>
              <a:rPr lang="en-US" dirty="0" smtClean="0"/>
              <a:t>"/&gt;</a:t>
            </a:r>
            <a:br>
              <a:rPr lang="en-US" dirty="0" smtClean="0"/>
            </a:br>
            <a:r>
              <a:rPr lang="en-US" dirty="0" smtClean="0"/>
              <a:t>&lt;/</a:t>
            </a:r>
            <a:r>
              <a:rPr lang="en-US" dirty="0" err="1" smtClean="0"/>
              <a:t>RadioGroup</a:t>
            </a:r>
            <a:r>
              <a:rPr lang="en-US" dirty="0" smtClean="0"/>
              <a:t>&gt;</a:t>
            </a:r>
            <a:br>
              <a:rPr lang="en-US" dirty="0" smtClean="0"/>
            </a:br>
            <a:r>
              <a:rPr lang="en-US" dirty="0" smtClean="0"/>
              <a:t>    &lt;Button</a:t>
            </a:r>
            <a:br>
              <a:rPr lang="en-US" dirty="0" smtClean="0"/>
            </a:br>
            <a:r>
              <a:rPr lang="en-US" dirty="0" smtClean="0"/>
              <a:t>        </a:t>
            </a:r>
            <a:r>
              <a:rPr lang="en-US" dirty="0" err="1" smtClean="0"/>
              <a:t>android:id</a:t>
            </a:r>
            <a:r>
              <a:rPr lang="en-US" dirty="0" smtClean="0"/>
              <a:t>="@+id/</a:t>
            </a:r>
            <a:r>
              <a:rPr lang="en-US" dirty="0" err="1" smtClean="0"/>
              <a:t>getBtn</a:t>
            </a:r>
            <a:r>
              <a:rPr lang="en-US" dirty="0" smtClean="0"/>
              <a:t>"</a:t>
            </a:r>
            <a:br>
              <a:rPr lang="en-US" dirty="0" smtClean="0"/>
            </a:br>
            <a:r>
              <a:rPr lang="en-US" dirty="0" smtClean="0"/>
              <a:t>        </a:t>
            </a:r>
            <a:r>
              <a:rPr lang="en-US" dirty="0" err="1" smtClean="0"/>
              <a:t>android:layout_width</a:t>
            </a:r>
            <a:r>
              <a:rPr lang="en-US" dirty="0" smtClean="0"/>
              <a:t>="</a:t>
            </a:r>
            <a:r>
              <a:rPr lang="en-US" dirty="0" err="1" smtClean="0"/>
              <a:t>wrap_content</a:t>
            </a:r>
            <a:r>
              <a:rPr lang="en-US" dirty="0" smtClean="0"/>
              <a:t>"</a:t>
            </a:r>
            <a:br>
              <a:rPr lang="en-US" dirty="0" smtClean="0"/>
            </a:br>
            <a:r>
              <a:rPr lang="en-US" dirty="0" smtClean="0"/>
              <a:t>        </a:t>
            </a:r>
            <a:r>
              <a:rPr lang="en-US" dirty="0" err="1" smtClean="0"/>
              <a:t>android:layout_height</a:t>
            </a:r>
            <a:r>
              <a:rPr lang="en-US" dirty="0" smtClean="0"/>
              <a:t>="</a:t>
            </a:r>
            <a:r>
              <a:rPr lang="en-US" dirty="0" err="1" smtClean="0"/>
              <a:t>wrap_content</a:t>
            </a:r>
            <a:r>
              <a:rPr lang="en-US" dirty="0" smtClean="0"/>
              <a:t>"</a:t>
            </a:r>
            <a:br>
              <a:rPr lang="en-US" dirty="0" smtClean="0"/>
            </a:br>
            <a:r>
              <a:rPr lang="en-US" dirty="0" smtClean="0"/>
              <a:t>        </a:t>
            </a:r>
            <a:r>
              <a:rPr lang="en-US" dirty="0" err="1" smtClean="0"/>
              <a:t>android:layout_marginLeft</a:t>
            </a:r>
            <a:r>
              <a:rPr lang="en-US" dirty="0" smtClean="0"/>
              <a:t>="100dp"</a:t>
            </a:r>
            <a:br>
              <a:rPr lang="en-US" dirty="0" smtClean="0"/>
            </a:br>
            <a:r>
              <a:rPr lang="en-US" dirty="0" smtClean="0"/>
              <a:t>        </a:t>
            </a:r>
            <a:r>
              <a:rPr lang="en-US" dirty="0" err="1" smtClean="0"/>
              <a:t>android:layout_below</a:t>
            </a:r>
            <a:r>
              <a:rPr lang="en-US" dirty="0" smtClean="0"/>
              <a:t>="@+id/</a:t>
            </a:r>
            <a:r>
              <a:rPr lang="en-US" dirty="0" err="1" smtClean="0"/>
              <a:t>rdGroup</a:t>
            </a:r>
            <a:r>
              <a:rPr lang="en-US" dirty="0" smtClean="0"/>
              <a:t>"</a:t>
            </a:r>
            <a:br>
              <a:rPr lang="en-US" dirty="0" smtClean="0"/>
            </a:br>
            <a:r>
              <a:rPr lang="en-US" dirty="0" smtClean="0"/>
              <a:t>        </a:t>
            </a:r>
            <a:r>
              <a:rPr lang="en-US" dirty="0" err="1" smtClean="0"/>
              <a:t>android:text</a:t>
            </a:r>
            <a:r>
              <a:rPr lang="en-US" dirty="0" smtClean="0"/>
              <a:t>="Get Course" /&gt;</a:t>
            </a:r>
            <a:br>
              <a:rPr lang="en-US" dirty="0" smtClean="0"/>
            </a:br>
            <a:r>
              <a:rPr lang="en-US" dirty="0" smtClean="0"/>
              <a:t>&lt;/</a:t>
            </a:r>
            <a:r>
              <a:rPr lang="en-US" dirty="0" err="1" smtClean="0"/>
              <a:t>RelativeLayout</a:t>
            </a:r>
            <a:r>
              <a:rPr lang="en-US" dirty="0" smtClean="0"/>
              <a:t>&gt;</a:t>
            </a:r>
            <a:endParaRPr lang="en-US"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7850" y="308898"/>
            <a:ext cx="11017250" cy="6186309"/>
          </a:xfrm>
          <a:prstGeom prst="rect">
            <a:avLst/>
          </a:prstGeom>
        </p:spPr>
        <p:txBody>
          <a:bodyPr wrap="square">
            <a:spAutoFit/>
          </a:bodyPr>
          <a:lstStyle/>
          <a:p>
            <a:r>
              <a:rPr lang="en-US" dirty="0" smtClean="0"/>
              <a:t>public class </a:t>
            </a:r>
            <a:r>
              <a:rPr lang="en-US" dirty="0" err="1" smtClean="0"/>
              <a:t>MainActivity</a:t>
            </a:r>
            <a:r>
              <a:rPr lang="en-US" dirty="0" smtClean="0"/>
              <a:t> extends </a:t>
            </a:r>
            <a:r>
              <a:rPr lang="en-US" dirty="0" err="1" smtClean="0"/>
              <a:t>AppCompatActivity</a:t>
            </a:r>
            <a:r>
              <a:rPr lang="en-US" dirty="0" smtClean="0"/>
              <a:t> {</a:t>
            </a:r>
            <a:br>
              <a:rPr lang="en-US" dirty="0" smtClean="0"/>
            </a:br>
            <a:r>
              <a:rPr lang="en-US" dirty="0" smtClean="0"/>
              <a:t>    </a:t>
            </a:r>
            <a:r>
              <a:rPr lang="en-US" dirty="0" err="1" smtClean="0"/>
              <a:t>RadioButton</a:t>
            </a:r>
            <a:r>
              <a:rPr lang="en-US" dirty="0" smtClean="0"/>
              <a:t> android, java, angular, python;</a:t>
            </a:r>
            <a:br>
              <a:rPr lang="en-US" dirty="0" smtClean="0"/>
            </a:br>
            <a:r>
              <a:rPr lang="en-US" dirty="0" smtClean="0"/>
              <a:t>    @Override</a:t>
            </a:r>
            <a:br>
              <a:rPr lang="en-US" dirty="0" smtClean="0"/>
            </a:br>
            <a:r>
              <a:rPr lang="en-US" dirty="0" smtClean="0"/>
              <a:t>    protected void </a:t>
            </a:r>
            <a:r>
              <a:rPr lang="en-US" dirty="0" err="1" smtClean="0"/>
              <a:t>onCreate</a:t>
            </a:r>
            <a:r>
              <a:rPr lang="en-US" dirty="0" smtClean="0"/>
              <a:t>(Bundle </a:t>
            </a:r>
            <a:r>
              <a:rPr lang="en-US" dirty="0" err="1" smtClean="0"/>
              <a:t>savedInstanceState</a:t>
            </a:r>
            <a:r>
              <a:rPr lang="en-US" dirty="0" smtClean="0"/>
              <a:t>) {</a:t>
            </a:r>
            <a:br>
              <a:rPr lang="en-US" dirty="0" smtClean="0"/>
            </a:br>
            <a:r>
              <a:rPr lang="en-US" dirty="0" smtClean="0"/>
              <a:t>        </a:t>
            </a:r>
            <a:r>
              <a:rPr lang="en-US" dirty="0" err="1" smtClean="0"/>
              <a:t>super.onCreate</a:t>
            </a:r>
            <a:r>
              <a:rPr lang="en-US" dirty="0" smtClean="0"/>
              <a:t>(</a:t>
            </a:r>
            <a:r>
              <a:rPr lang="en-US" dirty="0" err="1" smtClean="0"/>
              <a:t>savedInstanceState</a:t>
            </a:r>
            <a:r>
              <a:rPr lang="en-US" dirty="0" smtClean="0"/>
              <a:t>);</a:t>
            </a:r>
            <a:br>
              <a:rPr lang="en-US" dirty="0" smtClean="0"/>
            </a:br>
            <a:r>
              <a:rPr lang="en-US" dirty="0" smtClean="0"/>
              <a:t>        </a:t>
            </a:r>
            <a:r>
              <a:rPr lang="en-US" dirty="0" err="1" smtClean="0"/>
              <a:t>setContentView</a:t>
            </a:r>
            <a:r>
              <a:rPr lang="en-US" dirty="0" smtClean="0"/>
              <a:t>(</a:t>
            </a:r>
            <a:r>
              <a:rPr lang="en-US" dirty="0" err="1" smtClean="0"/>
              <a:t>R.layout.activity_main</a:t>
            </a:r>
            <a:r>
              <a:rPr lang="en-US" dirty="0" smtClean="0"/>
              <a:t>);</a:t>
            </a:r>
            <a:br>
              <a:rPr lang="en-US" dirty="0" smtClean="0"/>
            </a:br>
            <a:r>
              <a:rPr lang="en-US" dirty="0" smtClean="0"/>
              <a:t>        android = (</a:t>
            </a:r>
            <a:r>
              <a:rPr lang="en-US" dirty="0" err="1" smtClean="0"/>
              <a:t>RadioButton</a:t>
            </a:r>
            <a:r>
              <a:rPr lang="en-US" dirty="0" smtClean="0"/>
              <a:t>)</a:t>
            </a:r>
            <a:r>
              <a:rPr lang="en-US" dirty="0" err="1" smtClean="0"/>
              <a:t>findViewById</a:t>
            </a:r>
            <a:r>
              <a:rPr lang="en-US" dirty="0" smtClean="0"/>
              <a:t>(</a:t>
            </a:r>
            <a:r>
              <a:rPr lang="en-US" dirty="0" err="1" smtClean="0"/>
              <a:t>R.id.rdbAndroid</a:t>
            </a:r>
            <a:r>
              <a:rPr lang="en-US" dirty="0" smtClean="0"/>
              <a:t>);</a:t>
            </a:r>
            <a:br>
              <a:rPr lang="en-US" dirty="0" smtClean="0"/>
            </a:br>
            <a:r>
              <a:rPr lang="en-US" dirty="0" smtClean="0"/>
              <a:t>        angular = (</a:t>
            </a:r>
            <a:r>
              <a:rPr lang="en-US" dirty="0" err="1" smtClean="0"/>
              <a:t>RadioButton</a:t>
            </a:r>
            <a:r>
              <a:rPr lang="en-US" dirty="0" smtClean="0"/>
              <a:t>)</a:t>
            </a:r>
            <a:r>
              <a:rPr lang="en-US" dirty="0" err="1" smtClean="0"/>
              <a:t>findViewById</a:t>
            </a:r>
            <a:r>
              <a:rPr lang="en-US" dirty="0" smtClean="0"/>
              <a:t>(</a:t>
            </a:r>
            <a:r>
              <a:rPr lang="en-US" dirty="0" err="1" smtClean="0"/>
              <a:t>R.id.rdbAngular</a:t>
            </a:r>
            <a:r>
              <a:rPr lang="en-US" dirty="0" smtClean="0"/>
              <a:t>);</a:t>
            </a:r>
            <a:br>
              <a:rPr lang="en-US" dirty="0" smtClean="0"/>
            </a:br>
            <a:r>
              <a:rPr lang="en-US" dirty="0" smtClean="0"/>
              <a:t>        java = (</a:t>
            </a:r>
            <a:r>
              <a:rPr lang="en-US" dirty="0" err="1" smtClean="0"/>
              <a:t>RadioButton</a:t>
            </a:r>
            <a:r>
              <a:rPr lang="en-US" dirty="0" smtClean="0"/>
              <a:t>)</a:t>
            </a:r>
            <a:r>
              <a:rPr lang="en-US" dirty="0" err="1" smtClean="0"/>
              <a:t>findViewById</a:t>
            </a:r>
            <a:r>
              <a:rPr lang="en-US" dirty="0" smtClean="0"/>
              <a:t>(</a:t>
            </a:r>
            <a:r>
              <a:rPr lang="en-US" dirty="0" err="1" smtClean="0"/>
              <a:t>R.id.rdbJava</a:t>
            </a:r>
            <a:r>
              <a:rPr lang="en-US" dirty="0" smtClean="0"/>
              <a:t>);</a:t>
            </a:r>
            <a:br>
              <a:rPr lang="en-US" dirty="0" smtClean="0"/>
            </a:br>
            <a:r>
              <a:rPr lang="en-US" dirty="0" smtClean="0"/>
              <a:t>        python = (</a:t>
            </a:r>
            <a:r>
              <a:rPr lang="en-US" dirty="0" err="1" smtClean="0"/>
              <a:t>RadioButton</a:t>
            </a:r>
            <a:r>
              <a:rPr lang="en-US" dirty="0" smtClean="0"/>
              <a:t>)</a:t>
            </a:r>
            <a:r>
              <a:rPr lang="en-US" dirty="0" err="1" smtClean="0"/>
              <a:t>findViewById</a:t>
            </a:r>
            <a:r>
              <a:rPr lang="en-US" dirty="0" smtClean="0"/>
              <a:t>(</a:t>
            </a:r>
            <a:r>
              <a:rPr lang="en-US" dirty="0" err="1" smtClean="0"/>
              <a:t>R.id.rdbPython</a:t>
            </a:r>
            <a:r>
              <a:rPr lang="en-US" dirty="0" smtClean="0"/>
              <a:t>);</a:t>
            </a:r>
            <a:br>
              <a:rPr lang="en-US" dirty="0" smtClean="0"/>
            </a:br>
            <a:r>
              <a:rPr lang="en-US" dirty="0" smtClean="0"/>
              <a:t>        Button </a:t>
            </a:r>
            <a:r>
              <a:rPr lang="en-US" dirty="0" err="1" smtClean="0"/>
              <a:t>btn</a:t>
            </a:r>
            <a:r>
              <a:rPr lang="en-US" dirty="0" smtClean="0"/>
              <a:t> = (Button)</a:t>
            </a:r>
            <a:r>
              <a:rPr lang="en-US" dirty="0" err="1" smtClean="0"/>
              <a:t>findViewById</a:t>
            </a:r>
            <a:r>
              <a:rPr lang="en-US" dirty="0" smtClean="0"/>
              <a:t>(</a:t>
            </a:r>
            <a:r>
              <a:rPr lang="en-US" dirty="0" err="1" smtClean="0"/>
              <a:t>R.id.getBtn</a:t>
            </a:r>
            <a:r>
              <a:rPr lang="en-US" dirty="0" smtClean="0"/>
              <a:t>);</a:t>
            </a:r>
            <a:br>
              <a:rPr lang="en-US" dirty="0" smtClean="0"/>
            </a:br>
            <a:r>
              <a:rPr lang="en-US" dirty="0" smtClean="0"/>
              <a:t>        </a:t>
            </a:r>
            <a:r>
              <a:rPr lang="en-US" dirty="0" err="1" smtClean="0"/>
              <a:t>btn.setOnClickListener</a:t>
            </a:r>
            <a:r>
              <a:rPr lang="en-US" dirty="0" smtClean="0"/>
              <a:t>(new </a:t>
            </a:r>
            <a:r>
              <a:rPr lang="en-US" dirty="0" err="1" smtClean="0"/>
              <a:t>View.OnClickListener</a:t>
            </a:r>
            <a:r>
              <a:rPr lang="en-US" dirty="0" smtClean="0"/>
              <a:t>() {</a:t>
            </a:r>
            <a:br>
              <a:rPr lang="en-US" dirty="0" smtClean="0"/>
            </a:br>
            <a:r>
              <a:rPr lang="en-US" dirty="0" smtClean="0"/>
              <a:t>            @Override</a:t>
            </a:r>
            <a:br>
              <a:rPr lang="en-US" dirty="0" smtClean="0"/>
            </a:br>
            <a:r>
              <a:rPr lang="en-US" dirty="0" smtClean="0"/>
              <a:t>            public void </a:t>
            </a:r>
            <a:r>
              <a:rPr lang="en-US" dirty="0" err="1" smtClean="0"/>
              <a:t>onClick</a:t>
            </a:r>
            <a:r>
              <a:rPr lang="en-US" dirty="0" smtClean="0"/>
              <a:t>(View v) {</a:t>
            </a:r>
            <a:br>
              <a:rPr lang="en-US" dirty="0" smtClean="0"/>
            </a:br>
            <a:r>
              <a:rPr lang="en-US" dirty="0" smtClean="0"/>
              <a:t>                String result = "Selected Course: ";</a:t>
            </a:r>
            <a:br>
              <a:rPr lang="en-US" dirty="0" smtClean="0"/>
            </a:br>
            <a:r>
              <a:rPr lang="en-US" dirty="0" smtClean="0"/>
              <a:t>                result+= (</a:t>
            </a:r>
            <a:r>
              <a:rPr lang="en-US" dirty="0" err="1" smtClean="0"/>
              <a:t>android.isChecked</a:t>
            </a:r>
            <a:r>
              <a:rPr lang="en-US" dirty="0" smtClean="0"/>
              <a:t>())?"Android":(</a:t>
            </a:r>
            <a:r>
              <a:rPr lang="en-US" dirty="0" err="1" smtClean="0"/>
              <a:t>angular.isChecked</a:t>
            </a:r>
            <a:r>
              <a:rPr lang="en-US" dirty="0" smtClean="0"/>
              <a:t>())?"</a:t>
            </a:r>
            <a:r>
              <a:rPr lang="en-US" dirty="0" err="1" smtClean="0"/>
              <a:t>AngularJS</a:t>
            </a:r>
            <a:r>
              <a:rPr lang="en-US" dirty="0" smtClean="0"/>
              <a:t>":(</a:t>
            </a:r>
            <a:r>
              <a:rPr lang="en-US" dirty="0" err="1" smtClean="0"/>
              <a:t>java.isChecked</a:t>
            </a:r>
            <a:r>
              <a:rPr lang="en-US" dirty="0" smtClean="0"/>
              <a:t>())?"Java":(</a:t>
            </a:r>
            <a:r>
              <a:rPr lang="en-US" dirty="0" err="1" smtClean="0"/>
              <a:t>python.isChecked</a:t>
            </a:r>
            <a:r>
              <a:rPr lang="en-US" dirty="0" smtClean="0"/>
              <a:t>())?"Python":"";</a:t>
            </a:r>
            <a:br>
              <a:rPr lang="en-US" dirty="0" smtClean="0"/>
            </a:br>
            <a:r>
              <a:rPr lang="en-US" dirty="0" smtClean="0"/>
              <a:t>                </a:t>
            </a:r>
            <a:r>
              <a:rPr lang="en-US" dirty="0" err="1" smtClean="0"/>
              <a:t>Toast.makeText</a:t>
            </a:r>
            <a:r>
              <a:rPr lang="en-US" dirty="0" smtClean="0"/>
              <a:t>(</a:t>
            </a:r>
            <a:r>
              <a:rPr lang="en-US" dirty="0" err="1" smtClean="0"/>
              <a:t>getApplicationContext</a:t>
            </a:r>
            <a:r>
              <a:rPr lang="en-US" dirty="0" smtClean="0"/>
              <a:t>(), result, </a:t>
            </a:r>
            <a:r>
              <a:rPr lang="en-US" dirty="0" err="1" smtClean="0"/>
              <a:t>Toast.LENGTH_SHORT</a:t>
            </a:r>
            <a:r>
              <a:rPr lang="en-US" dirty="0" smtClean="0"/>
              <a:t>).show();</a:t>
            </a:r>
            <a:br>
              <a:rPr lang="en-US" dirty="0" smtClean="0"/>
            </a:br>
            <a:r>
              <a:rPr lang="en-US" dirty="0" smtClean="0"/>
              <a:t>            }</a:t>
            </a:r>
            <a:br>
              <a:rPr lang="en-US" dirty="0" smtClean="0"/>
            </a:br>
            <a:r>
              <a:rPr lang="en-US" dirty="0" smtClean="0"/>
              <a:t>        });</a:t>
            </a:r>
            <a:br>
              <a:rPr lang="en-US" dirty="0" smtClean="0"/>
            </a:br>
            <a:r>
              <a:rPr lang="en-US" dirty="0" smtClean="0"/>
              <a:t>    }</a:t>
            </a:r>
            <a:endParaRPr lang="en-US" dirty="0"/>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650" y="0"/>
            <a:ext cx="10712450" cy="7017306"/>
          </a:xfrm>
          <a:prstGeom prst="rect">
            <a:avLst/>
          </a:prstGeom>
        </p:spPr>
        <p:txBody>
          <a:bodyPr wrap="square">
            <a:spAutoFit/>
          </a:bodyPr>
          <a:lstStyle/>
          <a:p>
            <a:r>
              <a:rPr lang="en-US" dirty="0" smtClean="0"/>
              <a:t> public void </a:t>
            </a:r>
            <a:r>
              <a:rPr lang="en-US" dirty="0" err="1" smtClean="0"/>
              <a:t>onRadioButtonClicked</a:t>
            </a:r>
            <a:r>
              <a:rPr lang="en-US" dirty="0" smtClean="0"/>
              <a:t>(View </a:t>
            </a:r>
            <a:r>
              <a:rPr lang="en-US" dirty="0" err="1" smtClean="0"/>
              <a:t>view</a:t>
            </a:r>
            <a:r>
              <a:rPr lang="en-US" dirty="0" smtClean="0"/>
              <a:t>) {</a:t>
            </a:r>
            <a:br>
              <a:rPr lang="en-US" dirty="0" smtClean="0"/>
            </a:br>
            <a:r>
              <a:rPr lang="en-US" dirty="0" smtClean="0"/>
              <a:t>        </a:t>
            </a:r>
            <a:r>
              <a:rPr lang="en-US" dirty="0" err="1" smtClean="0"/>
              <a:t>boolean</a:t>
            </a:r>
            <a:r>
              <a:rPr lang="en-US" dirty="0" smtClean="0"/>
              <a:t> checked = ((</a:t>
            </a:r>
            <a:r>
              <a:rPr lang="en-US" dirty="0" err="1" smtClean="0"/>
              <a:t>RadioButton</a:t>
            </a:r>
            <a:r>
              <a:rPr lang="en-US" dirty="0" smtClean="0"/>
              <a:t>) view).</a:t>
            </a:r>
            <a:r>
              <a:rPr lang="en-US" dirty="0" err="1" smtClean="0"/>
              <a:t>isChecked</a:t>
            </a:r>
            <a:r>
              <a:rPr lang="en-US" dirty="0" smtClean="0"/>
              <a:t>();</a:t>
            </a:r>
            <a:br>
              <a:rPr lang="en-US" dirty="0" smtClean="0"/>
            </a:br>
            <a:r>
              <a:rPr lang="en-US" dirty="0" smtClean="0"/>
              <a:t>        String </a:t>
            </a:r>
            <a:r>
              <a:rPr lang="en-US" dirty="0" err="1" smtClean="0"/>
              <a:t>str</a:t>
            </a:r>
            <a:r>
              <a:rPr lang="en-US" dirty="0" smtClean="0"/>
              <a:t>="";</a:t>
            </a:r>
            <a:br>
              <a:rPr lang="en-US" dirty="0" smtClean="0"/>
            </a:br>
            <a:r>
              <a:rPr lang="en-US" dirty="0" smtClean="0"/>
              <a:t>        // Check which radio button was clicked</a:t>
            </a:r>
            <a:br>
              <a:rPr lang="en-US" dirty="0" smtClean="0"/>
            </a:br>
            <a:r>
              <a:rPr lang="en-US" dirty="0" smtClean="0"/>
              <a:t>        switch(</a:t>
            </a:r>
            <a:r>
              <a:rPr lang="en-US" dirty="0" err="1" smtClean="0"/>
              <a:t>view.getId</a:t>
            </a:r>
            <a:r>
              <a:rPr lang="en-US" dirty="0" smtClean="0"/>
              <a:t>()) {</a:t>
            </a:r>
            <a:br>
              <a:rPr lang="en-US" dirty="0" smtClean="0"/>
            </a:br>
            <a:r>
              <a:rPr lang="en-US" dirty="0" smtClean="0"/>
              <a:t>            case </a:t>
            </a:r>
            <a:r>
              <a:rPr lang="en-US" dirty="0" err="1" smtClean="0"/>
              <a:t>R.id.rdbAndroid</a:t>
            </a:r>
            <a:r>
              <a:rPr lang="en-US" dirty="0" smtClean="0"/>
              <a:t>:</a:t>
            </a:r>
            <a:br>
              <a:rPr lang="en-US" dirty="0" smtClean="0"/>
            </a:br>
            <a:r>
              <a:rPr lang="en-US" dirty="0" smtClean="0"/>
              <a:t>                if(checked)</a:t>
            </a:r>
            <a:br>
              <a:rPr lang="en-US" dirty="0" smtClean="0"/>
            </a:br>
            <a:r>
              <a:rPr lang="en-US" dirty="0" smtClean="0"/>
              <a:t>                </a:t>
            </a:r>
            <a:r>
              <a:rPr lang="en-US" dirty="0" err="1" smtClean="0"/>
              <a:t>str</a:t>
            </a:r>
            <a:r>
              <a:rPr lang="en-US" dirty="0" smtClean="0"/>
              <a:t> = "Android Selected";</a:t>
            </a:r>
            <a:br>
              <a:rPr lang="en-US" dirty="0" smtClean="0"/>
            </a:br>
            <a:r>
              <a:rPr lang="en-US" dirty="0" smtClean="0"/>
              <a:t>                break;</a:t>
            </a:r>
            <a:br>
              <a:rPr lang="en-US" dirty="0" smtClean="0"/>
            </a:br>
            <a:r>
              <a:rPr lang="en-US" dirty="0" smtClean="0"/>
              <a:t>            case </a:t>
            </a:r>
            <a:r>
              <a:rPr lang="en-US" dirty="0" err="1" smtClean="0"/>
              <a:t>R.id.rdbAngular</a:t>
            </a:r>
            <a:r>
              <a:rPr lang="en-US" dirty="0" smtClean="0"/>
              <a:t>:</a:t>
            </a:r>
            <a:br>
              <a:rPr lang="en-US" dirty="0" smtClean="0"/>
            </a:br>
            <a:r>
              <a:rPr lang="en-US" dirty="0" smtClean="0"/>
              <a:t>                if(checked)</a:t>
            </a:r>
            <a:br>
              <a:rPr lang="en-US" dirty="0" smtClean="0"/>
            </a:br>
            <a:r>
              <a:rPr lang="en-US" dirty="0" smtClean="0"/>
              <a:t>                </a:t>
            </a:r>
            <a:r>
              <a:rPr lang="en-US" dirty="0" err="1" smtClean="0"/>
              <a:t>str</a:t>
            </a:r>
            <a:r>
              <a:rPr lang="en-US" dirty="0" smtClean="0"/>
              <a:t> = "</a:t>
            </a:r>
            <a:r>
              <a:rPr lang="en-US" dirty="0" err="1" smtClean="0"/>
              <a:t>AngularJS</a:t>
            </a:r>
            <a:r>
              <a:rPr lang="en-US" dirty="0" smtClean="0"/>
              <a:t> Selected";</a:t>
            </a:r>
            <a:br>
              <a:rPr lang="en-US" dirty="0" smtClean="0"/>
            </a:br>
            <a:r>
              <a:rPr lang="en-US" dirty="0" smtClean="0"/>
              <a:t>                break;</a:t>
            </a:r>
            <a:br>
              <a:rPr lang="en-US" dirty="0" smtClean="0"/>
            </a:br>
            <a:r>
              <a:rPr lang="en-US" dirty="0" smtClean="0"/>
              <a:t>            case </a:t>
            </a:r>
            <a:r>
              <a:rPr lang="en-US" dirty="0" err="1" smtClean="0"/>
              <a:t>R.id.rdbJava</a:t>
            </a:r>
            <a:r>
              <a:rPr lang="en-US" dirty="0" smtClean="0"/>
              <a:t>:</a:t>
            </a:r>
            <a:br>
              <a:rPr lang="en-US" dirty="0" smtClean="0"/>
            </a:br>
            <a:r>
              <a:rPr lang="en-US" dirty="0" smtClean="0"/>
              <a:t>                if(checked)</a:t>
            </a:r>
            <a:br>
              <a:rPr lang="en-US" dirty="0" smtClean="0"/>
            </a:br>
            <a:r>
              <a:rPr lang="en-US" dirty="0" smtClean="0"/>
              <a:t>                </a:t>
            </a:r>
            <a:r>
              <a:rPr lang="en-US" dirty="0" err="1" smtClean="0"/>
              <a:t>str</a:t>
            </a:r>
            <a:r>
              <a:rPr lang="en-US" dirty="0" smtClean="0"/>
              <a:t> = "Java Selected";</a:t>
            </a:r>
            <a:br>
              <a:rPr lang="en-US" dirty="0" smtClean="0"/>
            </a:br>
            <a:r>
              <a:rPr lang="en-US" dirty="0" smtClean="0"/>
              <a:t>                break;</a:t>
            </a:r>
            <a:br>
              <a:rPr lang="en-US" dirty="0" smtClean="0"/>
            </a:br>
            <a:r>
              <a:rPr lang="en-US" dirty="0" smtClean="0"/>
              <a:t>            case </a:t>
            </a:r>
            <a:r>
              <a:rPr lang="en-US" dirty="0" err="1" smtClean="0"/>
              <a:t>R.id.rdbPython</a:t>
            </a:r>
            <a:r>
              <a:rPr lang="en-US" dirty="0" smtClean="0"/>
              <a:t>:</a:t>
            </a:r>
            <a:br>
              <a:rPr lang="en-US" dirty="0" smtClean="0"/>
            </a:br>
            <a:r>
              <a:rPr lang="en-US" dirty="0" smtClean="0"/>
              <a:t>                if(checked)</a:t>
            </a:r>
            <a:br>
              <a:rPr lang="en-US" dirty="0" smtClean="0"/>
            </a:br>
            <a:r>
              <a:rPr lang="en-US" dirty="0" smtClean="0"/>
              <a:t>                </a:t>
            </a:r>
            <a:r>
              <a:rPr lang="en-US" dirty="0" err="1" smtClean="0"/>
              <a:t>str</a:t>
            </a:r>
            <a:r>
              <a:rPr lang="en-US" dirty="0" smtClean="0"/>
              <a:t> = "Python Selected";</a:t>
            </a:r>
            <a:br>
              <a:rPr lang="en-US" dirty="0" smtClean="0"/>
            </a:br>
            <a:r>
              <a:rPr lang="en-US" dirty="0" smtClean="0"/>
              <a:t>                break;</a:t>
            </a:r>
            <a:br>
              <a:rPr lang="en-US" dirty="0" smtClean="0"/>
            </a:br>
            <a:r>
              <a:rPr lang="en-US" dirty="0" smtClean="0"/>
              <a:t>        }</a:t>
            </a:r>
            <a:br>
              <a:rPr lang="en-US" dirty="0" smtClean="0"/>
            </a:br>
            <a:r>
              <a:rPr lang="en-US" dirty="0" smtClean="0"/>
              <a:t>        </a:t>
            </a:r>
            <a:r>
              <a:rPr lang="en-US" dirty="0" err="1" smtClean="0"/>
              <a:t>Toast.makeText</a:t>
            </a:r>
            <a:r>
              <a:rPr lang="en-US" dirty="0" smtClean="0"/>
              <a:t>(</a:t>
            </a:r>
            <a:r>
              <a:rPr lang="en-US" dirty="0" err="1" smtClean="0"/>
              <a:t>getApplicationContext</a:t>
            </a:r>
            <a:r>
              <a:rPr lang="en-US" dirty="0" smtClean="0"/>
              <a:t>(), </a:t>
            </a:r>
            <a:r>
              <a:rPr lang="en-US" dirty="0" err="1" smtClean="0"/>
              <a:t>str</a:t>
            </a:r>
            <a:r>
              <a:rPr lang="en-US" dirty="0" smtClean="0"/>
              <a:t>, </a:t>
            </a:r>
            <a:r>
              <a:rPr lang="en-US" dirty="0" err="1" smtClean="0"/>
              <a:t>Toast.LENGTH_SHORT</a:t>
            </a:r>
            <a:r>
              <a:rPr lang="en-US" dirty="0" smtClean="0"/>
              <a:t>).show();</a:t>
            </a:r>
            <a:br>
              <a:rPr lang="en-US" dirty="0" smtClean="0"/>
            </a:br>
            <a:r>
              <a:rPr lang="en-US" dirty="0" smtClean="0"/>
              <a:t>    }</a:t>
            </a:r>
            <a:br>
              <a:rPr lang="en-US" dirty="0" smtClean="0"/>
            </a:br>
            <a:r>
              <a:rPr lang="en-US" dirty="0" smtClean="0"/>
              <a:t>}</a:t>
            </a:r>
            <a:endParaRPr lang="en-US" dirty="0"/>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582341"/>
            <a:ext cx="10744200" cy="2585323"/>
          </a:xfrm>
          <a:prstGeom prst="rect">
            <a:avLst/>
          </a:prstGeom>
        </p:spPr>
        <p:txBody>
          <a:bodyPr wrap="square">
            <a:spAutoFit/>
          </a:bodyPr>
          <a:lstStyle/>
          <a:p>
            <a:pPr algn="just"/>
            <a:r>
              <a:rPr lang="en-US" dirty="0" smtClean="0"/>
              <a:t>In android, </a:t>
            </a:r>
            <a:r>
              <a:rPr lang="en-US" b="1" dirty="0" smtClean="0"/>
              <a:t>Radio Group</a:t>
            </a:r>
            <a:r>
              <a:rPr lang="en-US" dirty="0" smtClean="0"/>
              <a:t> is used to group one or more </a:t>
            </a:r>
            <a:r>
              <a:rPr lang="en-US" dirty="0" smtClean="0">
                <a:hlinkClick r:id="rId2" tooltip="Android Radio Button with Examples"/>
              </a:rPr>
              <a:t>radio buttons</a:t>
            </a:r>
            <a:r>
              <a:rPr lang="en-US" dirty="0" smtClean="0"/>
              <a:t> into separate groups based on our requirements.</a:t>
            </a:r>
          </a:p>
          <a:p>
            <a:pPr algn="just"/>
            <a:r>
              <a:rPr lang="en-US" dirty="0" smtClean="0"/>
              <a:t> </a:t>
            </a:r>
          </a:p>
          <a:p>
            <a:pPr algn="just"/>
            <a:r>
              <a:rPr lang="en-US" dirty="0" smtClean="0"/>
              <a:t>If we group </a:t>
            </a:r>
            <a:r>
              <a:rPr lang="en-US" dirty="0" smtClean="0">
                <a:hlinkClick r:id="rId2" tooltip="Android Radio Button with Examples"/>
              </a:rPr>
              <a:t>Radio Buttons</a:t>
            </a:r>
            <a:r>
              <a:rPr lang="en-US" dirty="0" smtClean="0"/>
              <a:t> using </a:t>
            </a:r>
            <a:r>
              <a:rPr lang="en-US" b="1" dirty="0" err="1" smtClean="0"/>
              <a:t>RadioGroup</a:t>
            </a:r>
            <a:r>
              <a:rPr lang="en-US" dirty="0" smtClean="0"/>
              <a:t>, at a time only one item can be selected from the group of radio buttons. In case, if we select one radio button that belongs to a radio group will unselect all other previously selected radio buttons within the same group.</a:t>
            </a:r>
          </a:p>
          <a:p>
            <a:pPr algn="just"/>
            <a:r>
              <a:rPr lang="en-US" dirty="0" smtClean="0"/>
              <a:t> </a:t>
            </a:r>
          </a:p>
          <a:p>
            <a:pPr algn="just"/>
            <a:r>
              <a:rPr lang="en-US" dirty="0" smtClean="0"/>
              <a:t>Initially, all the radio buttons of the radio group are in the unchecked state, once we select a radio button then it’s not possible for us to uncheck it like </a:t>
            </a:r>
            <a:r>
              <a:rPr lang="en-US" dirty="0" err="1" smtClean="0">
                <a:hlinkClick r:id="rId3" tooltip="Android CheckBox Control with Examples"/>
              </a:rPr>
              <a:t>CheckBox</a:t>
            </a:r>
            <a:r>
              <a:rPr lang="en-US" dirty="0" smtClean="0"/>
              <a:t> control.</a:t>
            </a:r>
            <a:endParaRPr lang="en-US" dirty="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28EE0F-2B65-50B8-FF96-1454A8BE2BA2}"/>
              </a:ext>
            </a:extLst>
          </p:cNvPr>
          <p:cNvSpPr>
            <a:spLocks noGrp="1"/>
          </p:cNvSpPr>
          <p:nvPr>
            <p:ph type="title"/>
          </p:nvPr>
        </p:nvSpPr>
        <p:spPr/>
        <p:txBody>
          <a:bodyPr/>
          <a:lstStyle/>
          <a:p>
            <a:r>
              <a:rPr lang="en-US" dirty="0"/>
              <a:t>Storage option</a:t>
            </a:r>
            <a:endParaRPr lang="en-IN" dirty="0"/>
          </a:p>
        </p:txBody>
      </p:sp>
      <p:sp>
        <p:nvSpPr>
          <p:cNvPr id="3" name="Content Placeholder 2">
            <a:extLst>
              <a:ext uri="{FF2B5EF4-FFF2-40B4-BE49-F238E27FC236}">
                <a16:creationId xmlns="" xmlns:a16="http://schemas.microsoft.com/office/drawing/2014/main" id="{8A3B1986-78CC-A603-6EC2-923621425836}"/>
              </a:ext>
            </a:extLst>
          </p:cNvPr>
          <p:cNvSpPr>
            <a:spLocks noGrp="1"/>
          </p:cNvSpPr>
          <p:nvPr>
            <p:ph idx="1"/>
          </p:nvPr>
        </p:nvSpPr>
        <p:spPr/>
        <p:txBody>
          <a:bodyPr/>
          <a:lstStyle/>
          <a:p>
            <a:r>
              <a:rPr lang="en-US" dirty="0"/>
              <a:t>The preferences</a:t>
            </a:r>
          </a:p>
          <a:p>
            <a:r>
              <a:rPr lang="en-US" dirty="0"/>
              <a:t>Internal storage</a:t>
            </a:r>
          </a:p>
          <a:p>
            <a:r>
              <a:rPr lang="en-US" dirty="0"/>
              <a:t>External storge</a:t>
            </a:r>
          </a:p>
          <a:p>
            <a:r>
              <a:rPr lang="en-US" dirty="0"/>
              <a:t>SQLite data base</a:t>
            </a:r>
          </a:p>
          <a:p>
            <a:r>
              <a:rPr lang="en-US" dirty="0"/>
              <a:t>The content provider</a:t>
            </a:r>
            <a:endParaRPr lang="en-IN" dirty="0"/>
          </a:p>
        </p:txBody>
      </p:sp>
    </p:spTree>
    <p:extLst>
      <p:ext uri="{BB962C8B-B14F-4D97-AF65-F5344CB8AC3E}">
        <p14:creationId xmlns="" xmlns:p14="http://schemas.microsoft.com/office/powerpoint/2010/main" val="2328587070"/>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A0B791-813D-0A73-8C02-7A7B9A0B1AA2}"/>
              </a:ext>
            </a:extLst>
          </p:cNvPr>
          <p:cNvSpPr>
            <a:spLocks noGrp="1"/>
          </p:cNvSpPr>
          <p:nvPr>
            <p:ph type="title"/>
          </p:nvPr>
        </p:nvSpPr>
        <p:spPr/>
        <p:txBody>
          <a:bodyPr/>
          <a:lstStyle/>
          <a:p>
            <a:r>
              <a:rPr lang="en-US" b="1" dirty="0" err="1" smtClean="0">
                <a:latin typeface="Times New Roman" pitchFamily="18" charset="0"/>
                <a:cs typeface="Times New Roman" pitchFamily="18" charset="0"/>
              </a:rPr>
              <a:t>SharedPreferences</a:t>
            </a:r>
            <a:r>
              <a:rPr lang="en-US" b="1" dirty="0" smtClean="0">
                <a:latin typeface="Times New Roman" pitchFamily="18" charset="0"/>
                <a:cs typeface="Times New Roman" pitchFamily="18" charset="0"/>
              </a:rPr>
              <a:t> </a:t>
            </a:r>
            <a:r>
              <a:rPr lang="en-US" dirty="0"/>
              <a:t/>
            </a:r>
            <a:br>
              <a:rPr lang="en-US" dirty="0"/>
            </a:br>
            <a:endParaRPr lang="en-IN" dirty="0"/>
          </a:p>
        </p:txBody>
      </p:sp>
      <p:sp>
        <p:nvSpPr>
          <p:cNvPr id="3" name="Content Placeholder 2">
            <a:extLst>
              <a:ext uri="{FF2B5EF4-FFF2-40B4-BE49-F238E27FC236}">
                <a16:creationId xmlns="" xmlns:a16="http://schemas.microsoft.com/office/drawing/2014/main" id="{3D175D24-03E8-928E-E6B1-5F808D691E1D}"/>
              </a:ext>
            </a:extLst>
          </p:cNvPr>
          <p:cNvSpPr>
            <a:spLocks noGrp="1"/>
          </p:cNvSpPr>
          <p:nvPr>
            <p:ph idx="1"/>
          </p:nvPr>
        </p:nvSpPr>
        <p:spPr/>
        <p:txBody>
          <a:bodyPr>
            <a:normAutofit fontScale="77500" lnSpcReduction="20000"/>
          </a:bodyPr>
          <a:lstStyle/>
          <a:p>
            <a:pPr marL="514350" indent="-514350" algn="just">
              <a:lnSpc>
                <a:spcPct val="150000"/>
              </a:lnSpc>
              <a:buNone/>
            </a:pPr>
            <a:r>
              <a:rPr lang="en-US"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SharedPreferences</a:t>
            </a:r>
            <a:r>
              <a:rPr lang="en-US" dirty="0" smtClean="0">
                <a:latin typeface="Times New Roman" pitchFamily="18" charset="0"/>
                <a:cs typeface="Times New Roman" pitchFamily="18" charset="0"/>
              </a:rPr>
              <a:t> is an Android API used to store and retrieve small amounts of primitive data as key-value pairs. It is ideal for application settings, login sessions, or user preferences that must persist even if the app is closed or the device is rebooted.</a:t>
            </a:r>
          </a:p>
          <a:p>
            <a:pPr marL="514350" indent="-514350" algn="just">
              <a:lnSpc>
                <a:spcPct val="150000"/>
              </a:lnSpc>
              <a:buNone/>
            </a:pPr>
            <a:r>
              <a:rPr lang="en-US" dirty="0" smtClean="0"/>
              <a:t>	</a:t>
            </a:r>
            <a:r>
              <a:rPr lang="en-US" dirty="0" smtClean="0">
                <a:latin typeface="Times New Roman" pitchFamily="18" charset="0"/>
                <a:cs typeface="Times New Roman" pitchFamily="18" charset="0"/>
              </a:rPr>
              <a:t>Each </a:t>
            </a:r>
            <a:r>
              <a:rPr lang="en-US" b="1" dirty="0" err="1" smtClean="0">
                <a:latin typeface="Times New Roman" pitchFamily="18" charset="0"/>
                <a:cs typeface="Times New Roman" pitchFamily="18" charset="0"/>
              </a:rPr>
              <a:t>SharedPreferences</a:t>
            </a:r>
            <a:r>
              <a:rPr lang="en-US" dirty="0" smtClean="0">
                <a:latin typeface="Times New Roman" pitchFamily="18" charset="0"/>
                <a:cs typeface="Times New Roman" pitchFamily="18" charset="0"/>
              </a:rPr>
              <a:t> file is managed by the framework and can be private or shared.</a:t>
            </a:r>
          </a:p>
          <a:p>
            <a:pPr marL="514350" indent="-514350" algn="just">
              <a:lnSpc>
                <a:spcPct val="150000"/>
              </a:lnSpc>
              <a:buNone/>
            </a:pPr>
            <a:r>
              <a:rPr lang="en-US" dirty="0" smtClean="0">
                <a:latin typeface="Times New Roman" pitchFamily="18" charset="0"/>
                <a:cs typeface="Times New Roman" pitchFamily="18" charset="0"/>
              </a:rPr>
              <a:t>Notes: </a:t>
            </a:r>
            <a:r>
              <a:rPr lang="en-US" b="1" dirty="0" err="1" smtClean="0">
                <a:latin typeface="Times New Roman" pitchFamily="18" charset="0"/>
                <a:cs typeface="Times New Roman" pitchFamily="18" charset="0"/>
              </a:rPr>
              <a:t>DataStore</a:t>
            </a:r>
            <a:r>
              <a:rPr lang="en-US" dirty="0" smtClean="0">
                <a:latin typeface="Times New Roman" pitchFamily="18" charset="0"/>
                <a:cs typeface="Times New Roman" pitchFamily="18" charset="0"/>
              </a:rPr>
              <a:t> is a modern data storage solution that you should use instead of </a:t>
            </a:r>
            <a:r>
              <a:rPr lang="en-US" dirty="0" err="1" smtClean="0">
                <a:latin typeface="Times New Roman" pitchFamily="18" charset="0"/>
                <a:cs typeface="Times New Roman" pitchFamily="18" charset="0"/>
              </a:rPr>
              <a:t>SharedPreferences</a:t>
            </a:r>
            <a:r>
              <a:rPr lang="en-US" dirty="0" smtClean="0">
                <a:latin typeface="Times New Roman" pitchFamily="18" charset="0"/>
                <a:cs typeface="Times New Roman" pitchFamily="18" charset="0"/>
              </a:rPr>
              <a:t>. It builds on </a:t>
            </a:r>
            <a:r>
              <a:rPr lang="en-US" dirty="0" err="1" smtClean="0">
                <a:latin typeface="Times New Roman" pitchFamily="18" charset="0"/>
                <a:cs typeface="Times New Roman" pitchFamily="18" charset="0"/>
              </a:rPr>
              <a:t>Kotlin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coroutines</a:t>
            </a:r>
            <a:r>
              <a:rPr lang="en-US" dirty="0" smtClean="0">
                <a:latin typeface="Times New Roman" pitchFamily="18" charset="0"/>
                <a:cs typeface="Times New Roman" pitchFamily="18" charset="0"/>
              </a:rPr>
              <a:t> and Flow, and overcomes many of the drawbacks of </a:t>
            </a:r>
            <a:r>
              <a:rPr lang="en-US" dirty="0" err="1" smtClean="0">
                <a:latin typeface="Times New Roman" pitchFamily="18" charset="0"/>
                <a:cs typeface="Times New Roman" pitchFamily="18" charset="0"/>
              </a:rPr>
              <a:t>SharedPreferences</a:t>
            </a:r>
            <a:r>
              <a:rPr lang="en-US" dirty="0" smtClean="0"/>
              <a:t>.</a:t>
            </a:r>
            <a:endParaRPr lang="en-IN" dirty="0">
              <a:latin typeface="Times New Roman" pitchFamily="18" charset="0"/>
              <a:cs typeface="Times New Roman" pitchFamily="18" charset="0"/>
            </a:endParaRPr>
          </a:p>
        </p:txBody>
      </p:sp>
    </p:spTree>
    <p:extLst>
      <p:ext uri="{BB962C8B-B14F-4D97-AF65-F5344CB8AC3E}">
        <p14:creationId xmlns="" xmlns:p14="http://schemas.microsoft.com/office/powerpoint/2010/main" val="661652993"/>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 Initialize </a:t>
            </a:r>
            <a:r>
              <a:rPr lang="en-US" b="1" dirty="0" err="1" smtClean="0"/>
              <a:t>SharedPreferences</a:t>
            </a:r>
            <a:endParaRPr lang="en-US" dirty="0"/>
          </a:p>
        </p:txBody>
      </p:sp>
      <p:sp>
        <p:nvSpPr>
          <p:cNvPr id="3" name="Content Placeholder 2"/>
          <p:cNvSpPr>
            <a:spLocks noGrp="1"/>
          </p:cNvSpPr>
          <p:nvPr>
            <p:ph idx="1"/>
          </p:nvPr>
        </p:nvSpPr>
        <p:spPr/>
        <p:txBody>
          <a:bodyPr>
            <a:normAutofit lnSpcReduction="10000"/>
          </a:bodyPr>
          <a:lstStyle/>
          <a:p>
            <a:pPr algn="just">
              <a:lnSpc>
                <a:spcPct val="150000"/>
              </a:lnSpc>
              <a:buNone/>
            </a:pPr>
            <a:r>
              <a:rPr lang="en-US" sz="2000" dirty="0" smtClean="0">
                <a:latin typeface="Times New Roman" pitchFamily="18" charset="0"/>
                <a:cs typeface="Times New Roman" pitchFamily="18" charset="0"/>
              </a:rPr>
              <a:t>You can create a new shared preference file or access an existing one by calling one of these methods: -</a:t>
            </a:r>
          </a:p>
          <a:p>
            <a:pPr algn="just">
              <a:lnSpc>
                <a:spcPct val="150000"/>
              </a:lnSpc>
            </a:pPr>
            <a:r>
              <a:rPr lang="en-US" sz="2000" b="1" dirty="0" err="1" smtClean="0">
                <a:latin typeface="Times New Roman" pitchFamily="18" charset="0"/>
                <a:cs typeface="Times New Roman" pitchFamily="18" charset="0"/>
              </a:rPr>
              <a:t>getSharedPreferences</a:t>
            </a:r>
            <a:r>
              <a:rPr lang="en-US" sz="2000" b="1" dirty="0" smtClean="0">
                <a:latin typeface="Times New Roman" pitchFamily="18" charset="0"/>
                <a:cs typeface="Times New Roman" pitchFamily="18" charset="0"/>
              </a:rPr>
              <a:t>(String name, </a:t>
            </a:r>
            <a:r>
              <a:rPr lang="en-US" sz="2000" b="1" dirty="0" err="1" smtClean="0">
                <a:latin typeface="Times New Roman" pitchFamily="18" charset="0"/>
                <a:cs typeface="Times New Roman" pitchFamily="18" charset="0"/>
              </a:rPr>
              <a:t>int</a:t>
            </a:r>
            <a:r>
              <a:rPr lang="en-US" sz="2000" b="1" dirty="0" smtClean="0">
                <a:latin typeface="Times New Roman" pitchFamily="18" charset="0"/>
                <a:cs typeface="Times New Roman" pitchFamily="18" charset="0"/>
              </a:rPr>
              <a:t> mode ):</a:t>
            </a:r>
            <a:r>
              <a:rPr lang="en-US" sz="2000" dirty="0" smtClean="0">
                <a:latin typeface="Times New Roman" pitchFamily="18" charset="0"/>
                <a:cs typeface="Times New Roman" pitchFamily="18" charset="0"/>
              </a:rPr>
              <a:t> Use this if you need multiple shared preference files identified by name, which you specify with the first parameter. You can call this from any Context in your app.</a:t>
            </a:r>
          </a:p>
          <a:p>
            <a:pPr algn="just">
              <a:lnSpc>
                <a:spcPct val="150000"/>
              </a:lnSpc>
            </a:pPr>
            <a:r>
              <a:rPr lang="en-US" sz="2000" b="1" dirty="0" err="1" smtClean="0">
                <a:latin typeface="Times New Roman" pitchFamily="18" charset="0"/>
                <a:cs typeface="Times New Roman" pitchFamily="18" charset="0"/>
              </a:rPr>
              <a:t>getPreferences</a:t>
            </a:r>
            <a:r>
              <a:rPr lang="en-US" sz="2000" b="1" dirty="0" smtClean="0">
                <a:latin typeface="Times New Roman" pitchFamily="18" charset="0"/>
                <a:cs typeface="Times New Roman" pitchFamily="18" charset="0"/>
              </a:rPr>
              <a:t>(</a:t>
            </a:r>
            <a:r>
              <a:rPr lang="en-US" sz="2000" b="1" dirty="0" err="1" smtClean="0">
                <a:latin typeface="Times New Roman" pitchFamily="18" charset="0"/>
                <a:cs typeface="Times New Roman" pitchFamily="18" charset="0"/>
              </a:rPr>
              <a:t>int</a:t>
            </a:r>
            <a:r>
              <a:rPr lang="en-US" sz="2000" b="1" dirty="0" smtClean="0">
                <a:latin typeface="Times New Roman" pitchFamily="18" charset="0"/>
                <a:cs typeface="Times New Roman" pitchFamily="18" charset="0"/>
              </a:rPr>
              <a:t> mode):</a:t>
            </a:r>
            <a:r>
              <a:rPr lang="en-US" sz="2000" dirty="0" smtClean="0">
                <a:latin typeface="Times New Roman" pitchFamily="18" charset="0"/>
                <a:cs typeface="Times New Roman" pitchFamily="18" charset="0"/>
              </a:rPr>
              <a:t> Use this from an Activity if you need to use only one shared preference file for the activity. Because this retrieves a default shared preference file that belongs to the activity, you don't need to supply a name.</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a:xfrm>
            <a:off x="0" y="1517650"/>
            <a:ext cx="12033250" cy="4659313"/>
          </a:xfrm>
        </p:spPr>
        <p:txBody>
          <a:bodyPr>
            <a:normAutofit fontScale="92500"/>
          </a:bodyPr>
          <a:lstStyle/>
          <a:p>
            <a:pPr algn="just">
              <a:lnSpc>
                <a:spcPct val="150000"/>
              </a:lnSpc>
              <a:buNone/>
            </a:pPr>
            <a:r>
              <a:rPr lang="en-US" sz="1800" dirty="0" smtClean="0">
                <a:latin typeface="Times New Roman" pitchFamily="18" charset="0"/>
                <a:cs typeface="Times New Roman" pitchFamily="18" charset="0"/>
              </a:rPr>
              <a:t>MODE_PRIVATE ensures only your app can access the file</a:t>
            </a:r>
          </a:p>
          <a:p>
            <a:pPr algn="just">
              <a:lnSpc>
                <a:spcPct val="150000"/>
              </a:lnSpc>
              <a:buNone/>
            </a:pPr>
            <a:r>
              <a:rPr lang="en-US" sz="1800" dirty="0" err="1" smtClean="0">
                <a:latin typeface="Times New Roman" pitchFamily="18" charset="0"/>
                <a:cs typeface="Times New Roman" pitchFamily="18" charset="0"/>
              </a:rPr>
              <a:t>SharedPreferences</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sharedPref</a:t>
            </a:r>
            <a:r>
              <a:rPr lang="en-US" sz="1800" dirty="0" smtClean="0">
                <a:latin typeface="Times New Roman" pitchFamily="18" charset="0"/>
                <a:cs typeface="Times New Roman" pitchFamily="18" charset="0"/>
              </a:rPr>
              <a:t> = </a:t>
            </a:r>
            <a:r>
              <a:rPr lang="en-US" sz="1800" dirty="0" err="1" smtClean="0">
                <a:latin typeface="Times New Roman" pitchFamily="18" charset="0"/>
                <a:cs typeface="Times New Roman" pitchFamily="18" charset="0"/>
              </a:rPr>
              <a:t>getSharedPreferences</a:t>
            </a:r>
            <a:r>
              <a:rPr lang="en-US" sz="1800" b="1" dirty="0" smtClean="0">
                <a:latin typeface="Times New Roman" pitchFamily="18" charset="0"/>
                <a:cs typeface="Times New Roman" pitchFamily="18" charset="0"/>
              </a:rPr>
              <a:t>("</a:t>
            </a:r>
            <a:r>
              <a:rPr lang="en-US" sz="1800" b="1" dirty="0" err="1" smtClean="0">
                <a:latin typeface="Times New Roman" pitchFamily="18" charset="0"/>
                <a:cs typeface="Times New Roman" pitchFamily="18" charset="0"/>
              </a:rPr>
              <a:t>MyPrefs</a:t>
            </a:r>
            <a:r>
              <a:rPr lang="en-US" sz="1800" b="1"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Context.MODE_PRIVATE</a:t>
            </a:r>
            <a:r>
              <a:rPr lang="en-US" sz="1800" dirty="0" smtClean="0">
                <a:latin typeface="Times New Roman" pitchFamily="18" charset="0"/>
                <a:cs typeface="Times New Roman" pitchFamily="18" charset="0"/>
              </a:rPr>
              <a:t>);</a:t>
            </a:r>
          </a:p>
          <a:p>
            <a:pPr algn="just">
              <a:lnSpc>
                <a:spcPct val="150000"/>
              </a:lnSpc>
              <a:buNone/>
            </a:pPr>
            <a:r>
              <a:rPr lang="en-US" sz="1800" dirty="0" smtClean="0">
                <a:latin typeface="Times New Roman" pitchFamily="18" charset="0"/>
                <a:cs typeface="Times New Roman" pitchFamily="18" charset="0"/>
              </a:rPr>
              <a:t>Or </a:t>
            </a:r>
          </a:p>
          <a:p>
            <a:pPr algn="just">
              <a:lnSpc>
                <a:spcPct val="150000"/>
              </a:lnSpc>
              <a:buNone/>
            </a:pPr>
            <a:r>
              <a:rPr lang="en-US" sz="1800" dirty="0" smtClean="0">
                <a:latin typeface="Times New Roman" pitchFamily="18" charset="0"/>
                <a:cs typeface="Times New Roman" pitchFamily="18" charset="0"/>
              </a:rPr>
              <a:t>	The following code accesses the shared preferences file that's identified by the resource string </a:t>
            </a:r>
            <a:r>
              <a:rPr lang="en-US" sz="1800" b="1" dirty="0" err="1" smtClean="0">
                <a:latin typeface="Times New Roman" pitchFamily="18" charset="0"/>
                <a:cs typeface="Times New Roman" pitchFamily="18" charset="0"/>
              </a:rPr>
              <a:t>R.string.preference_file_key</a:t>
            </a:r>
            <a:r>
              <a:rPr lang="en-US" sz="1800" b="1"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and opens it using the private mode so the file is accessible by only your app:</a:t>
            </a:r>
          </a:p>
          <a:p>
            <a:pPr algn="just">
              <a:lnSpc>
                <a:spcPct val="150000"/>
              </a:lnSpc>
              <a:buNone/>
            </a:pPr>
            <a:r>
              <a:rPr lang="en-US" sz="1800" dirty="0" smtClean="0">
                <a:latin typeface="Times New Roman" pitchFamily="18" charset="0"/>
                <a:cs typeface="Times New Roman" pitchFamily="18" charset="0"/>
              </a:rPr>
              <a:t>	Context </a:t>
            </a:r>
            <a:r>
              <a:rPr lang="en-US" sz="1800" dirty="0" err="1" smtClean="0">
                <a:latin typeface="Times New Roman" pitchFamily="18" charset="0"/>
                <a:cs typeface="Times New Roman" pitchFamily="18" charset="0"/>
              </a:rPr>
              <a:t>context</a:t>
            </a:r>
            <a:r>
              <a:rPr lang="en-US" sz="1800" dirty="0" smtClean="0">
                <a:latin typeface="Times New Roman" pitchFamily="18" charset="0"/>
                <a:cs typeface="Times New Roman" pitchFamily="18" charset="0"/>
              </a:rPr>
              <a:t> = </a:t>
            </a:r>
            <a:r>
              <a:rPr lang="en-US" sz="1800" dirty="0" err="1" smtClean="0">
                <a:latin typeface="Times New Roman" pitchFamily="18" charset="0"/>
                <a:cs typeface="Times New Roman" pitchFamily="18" charset="0"/>
              </a:rPr>
              <a:t>getActivity</a:t>
            </a:r>
            <a:r>
              <a:rPr lang="en-US" sz="1800" dirty="0" smtClean="0">
                <a:latin typeface="Times New Roman" pitchFamily="18" charset="0"/>
                <a:cs typeface="Times New Roman" pitchFamily="18" charset="0"/>
              </a:rPr>
              <a:t>(); </a:t>
            </a:r>
          </a:p>
          <a:p>
            <a:pPr>
              <a:lnSpc>
                <a:spcPct val="150000"/>
              </a:lnSpc>
              <a:buNone/>
            </a:pPr>
            <a:r>
              <a:rPr lang="en-US" sz="1800" b="1" dirty="0" smtClean="0">
                <a:latin typeface="Times New Roman" pitchFamily="18" charset="0"/>
                <a:cs typeface="Times New Roman" pitchFamily="18" charset="0"/>
              </a:rPr>
              <a:t>	</a:t>
            </a:r>
            <a:r>
              <a:rPr lang="en-US" sz="1800" b="1" dirty="0" err="1" smtClean="0">
                <a:latin typeface="Times New Roman" pitchFamily="18" charset="0"/>
                <a:cs typeface="Times New Roman" pitchFamily="18" charset="0"/>
              </a:rPr>
              <a:t>SharedPreferences</a:t>
            </a:r>
            <a:r>
              <a:rPr lang="en-US" sz="1800" b="1"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sharedPref</a:t>
            </a:r>
            <a:r>
              <a:rPr lang="en-US" sz="1800" dirty="0" smtClean="0">
                <a:latin typeface="Times New Roman" pitchFamily="18" charset="0"/>
                <a:cs typeface="Times New Roman" pitchFamily="18" charset="0"/>
              </a:rPr>
              <a:t>=</a:t>
            </a:r>
            <a:r>
              <a:rPr lang="en-US" sz="1800" b="1" dirty="0" err="1" smtClean="0">
                <a:latin typeface="Times New Roman" pitchFamily="18" charset="0"/>
                <a:cs typeface="Times New Roman" pitchFamily="18" charset="0"/>
              </a:rPr>
              <a:t>context.getSharedPreferences</a:t>
            </a:r>
            <a:r>
              <a:rPr lang="en-US" sz="1800" dirty="0" smtClean="0">
                <a:latin typeface="Times New Roman" pitchFamily="18" charset="0"/>
                <a:cs typeface="Times New Roman" pitchFamily="18" charset="0"/>
              </a:rPr>
              <a:t>(</a:t>
            </a:r>
            <a:r>
              <a:rPr lang="en-US" sz="1800" dirty="0" err="1" smtClean="0">
                <a:latin typeface="Times New Roman" pitchFamily="18" charset="0"/>
                <a:cs typeface="Times New Roman" pitchFamily="18" charset="0"/>
              </a:rPr>
              <a:t>getString</a:t>
            </a:r>
            <a:r>
              <a:rPr lang="en-US" sz="1800" dirty="0" smtClean="0">
                <a:latin typeface="Times New Roman" pitchFamily="18" charset="0"/>
                <a:cs typeface="Times New Roman" pitchFamily="18" charset="0"/>
              </a:rPr>
              <a:t>(</a:t>
            </a:r>
            <a:r>
              <a:rPr lang="en-US" sz="1800" dirty="0" err="1" smtClean="0">
                <a:latin typeface="Times New Roman" pitchFamily="18" charset="0"/>
                <a:cs typeface="Times New Roman" pitchFamily="18" charset="0"/>
              </a:rPr>
              <a:t>R.string.preference_file_key</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Context.MODE_PRIVATE</a:t>
            </a:r>
            <a:r>
              <a:rPr lang="en-US" sz="1800" dirty="0" smtClean="0">
                <a:latin typeface="Times New Roman" pitchFamily="18" charset="0"/>
                <a:cs typeface="Times New Roman" pitchFamily="18" charset="0"/>
              </a:rPr>
              <a:t>);</a:t>
            </a:r>
          </a:p>
          <a:p>
            <a:pPr algn="just">
              <a:lnSpc>
                <a:spcPct val="150000"/>
              </a:lnSpc>
              <a:buNone/>
            </a:pPr>
            <a:r>
              <a:rPr lang="en-US" sz="1800" dirty="0" smtClean="0">
                <a:latin typeface="Times New Roman" pitchFamily="18" charset="0"/>
                <a:cs typeface="Times New Roman" pitchFamily="18" charset="0"/>
              </a:rPr>
              <a:t> if you need just one shared preference file for your activity, you can use the </a:t>
            </a:r>
            <a:r>
              <a:rPr lang="en-US" sz="1800" dirty="0" err="1" smtClean="0">
                <a:latin typeface="Times New Roman" pitchFamily="18" charset="0"/>
                <a:cs typeface="Times New Roman" pitchFamily="18" charset="0"/>
                <a:hlinkClick r:id="rId2"/>
              </a:rPr>
              <a:t>getPreferences</a:t>
            </a:r>
            <a:r>
              <a:rPr lang="en-US" sz="1800" dirty="0" smtClean="0">
                <a:latin typeface="Times New Roman" pitchFamily="18" charset="0"/>
                <a:cs typeface="Times New Roman" pitchFamily="18" charset="0"/>
                <a:hlinkClick r:id="rId2"/>
              </a:rPr>
              <a:t>()</a:t>
            </a:r>
            <a:r>
              <a:rPr lang="en-US" sz="1800" dirty="0" smtClean="0">
                <a:latin typeface="Times New Roman" pitchFamily="18" charset="0"/>
                <a:cs typeface="Times New Roman" pitchFamily="18" charset="0"/>
              </a:rPr>
              <a:t> method:</a:t>
            </a:r>
          </a:p>
          <a:p>
            <a:pPr algn="just">
              <a:lnSpc>
                <a:spcPct val="150000"/>
              </a:lnSpc>
              <a:buNone/>
            </a:pPr>
            <a:r>
              <a:rPr lang="en-US" sz="1800" b="1" dirty="0" err="1" smtClean="0">
                <a:latin typeface="Times New Roman" pitchFamily="18" charset="0"/>
                <a:cs typeface="Times New Roman" pitchFamily="18" charset="0"/>
              </a:rPr>
              <a:t>SharedPreferences</a:t>
            </a:r>
            <a:r>
              <a:rPr lang="en-US" sz="1800" b="1" dirty="0" smtClean="0">
                <a:latin typeface="Times New Roman" pitchFamily="18" charset="0"/>
                <a:cs typeface="Times New Roman" pitchFamily="18" charset="0"/>
              </a:rPr>
              <a:t> </a:t>
            </a:r>
            <a:r>
              <a:rPr lang="en-US" sz="1800" b="1" dirty="0" err="1" smtClean="0">
                <a:latin typeface="Times New Roman" pitchFamily="18" charset="0"/>
                <a:cs typeface="Times New Roman" pitchFamily="18" charset="0"/>
              </a:rPr>
              <a:t>sharedPref</a:t>
            </a:r>
            <a:r>
              <a:rPr lang="en-US" sz="1800" b="1" dirty="0" smtClean="0">
                <a:latin typeface="Times New Roman" pitchFamily="18" charset="0"/>
                <a:cs typeface="Times New Roman" pitchFamily="18" charset="0"/>
              </a:rPr>
              <a:t> = </a:t>
            </a:r>
            <a:r>
              <a:rPr lang="en-US" sz="1800" b="1" dirty="0" err="1" smtClean="0">
                <a:latin typeface="Times New Roman" pitchFamily="18" charset="0"/>
                <a:cs typeface="Times New Roman" pitchFamily="18" charset="0"/>
              </a:rPr>
              <a:t>getActivity</a:t>
            </a:r>
            <a:r>
              <a:rPr lang="en-US" sz="1800" b="1" dirty="0" smtClean="0">
                <a:latin typeface="Times New Roman" pitchFamily="18" charset="0"/>
                <a:cs typeface="Times New Roman" pitchFamily="18" charset="0"/>
              </a:rPr>
              <a:t>().</a:t>
            </a:r>
            <a:r>
              <a:rPr lang="en-US" sz="1800" b="1" dirty="0" err="1" smtClean="0">
                <a:latin typeface="Times New Roman" pitchFamily="18" charset="0"/>
                <a:cs typeface="Times New Roman" pitchFamily="18" charset="0"/>
              </a:rPr>
              <a:t>getPreferences</a:t>
            </a:r>
            <a:r>
              <a:rPr lang="en-US" sz="1800" b="1" dirty="0" smtClean="0">
                <a:latin typeface="Times New Roman" pitchFamily="18" charset="0"/>
                <a:cs typeface="Times New Roman" pitchFamily="18" charset="0"/>
              </a:rPr>
              <a:t>(</a:t>
            </a:r>
            <a:r>
              <a:rPr lang="en-US" sz="1800" b="1" dirty="0" err="1" smtClean="0">
                <a:latin typeface="Times New Roman" pitchFamily="18" charset="0"/>
                <a:cs typeface="Times New Roman" pitchFamily="18" charset="0"/>
              </a:rPr>
              <a:t>Context.MODE_PRIVATE</a:t>
            </a:r>
            <a:r>
              <a:rPr lang="en-US" sz="1800" b="1" dirty="0" smtClean="0">
                <a:latin typeface="Times New Roman" pitchFamily="18" charset="0"/>
                <a:cs typeface="Times New Roman" pitchFamily="18" charset="0"/>
              </a:rPr>
              <a:t>);</a:t>
            </a:r>
            <a:endParaRPr lang="en-US" sz="18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365125"/>
            <a:ext cx="10782300" cy="758825"/>
          </a:xfrm>
        </p:spPr>
        <p:txBody>
          <a:bodyPr/>
          <a:lstStyle/>
          <a:p>
            <a:r>
              <a:rPr lang="en-US" b="1" dirty="0" smtClean="0"/>
              <a:t>2. Write Data</a:t>
            </a:r>
            <a:endParaRPr lang="en-US" dirty="0"/>
          </a:p>
        </p:txBody>
      </p:sp>
      <p:sp>
        <p:nvSpPr>
          <p:cNvPr id="3" name="Content Placeholder 2"/>
          <p:cNvSpPr>
            <a:spLocks noGrp="1"/>
          </p:cNvSpPr>
          <p:nvPr>
            <p:ph idx="1"/>
          </p:nvPr>
        </p:nvSpPr>
        <p:spPr>
          <a:xfrm>
            <a:off x="317500" y="1035050"/>
            <a:ext cx="11690350" cy="5676900"/>
          </a:xfrm>
        </p:spPr>
        <p:txBody>
          <a:bodyPr>
            <a:normAutofit lnSpcReduction="10000"/>
          </a:bodyPr>
          <a:lstStyle/>
          <a:p>
            <a:pPr>
              <a:lnSpc>
                <a:spcPct val="200000"/>
              </a:lnSpc>
            </a:pPr>
            <a:r>
              <a:rPr lang="en-US" sz="1800" dirty="0" smtClean="0">
                <a:latin typeface="Times New Roman" pitchFamily="18" charset="0"/>
                <a:cs typeface="Times New Roman" pitchFamily="18" charset="0"/>
              </a:rPr>
              <a:t>To write to a shared preferences file, create  </a:t>
            </a:r>
            <a:r>
              <a:rPr lang="en-US" sz="1800" b="1" dirty="0" err="1" smtClean="0">
                <a:latin typeface="Times New Roman" pitchFamily="18" charset="0"/>
                <a:cs typeface="Times New Roman" pitchFamily="18" charset="0"/>
              </a:rPr>
              <a:t>SharedPreferences.Editor</a:t>
            </a:r>
            <a:r>
              <a:rPr lang="en-US" sz="1800" dirty="0" smtClean="0">
                <a:latin typeface="Times New Roman" pitchFamily="18" charset="0"/>
                <a:cs typeface="Times New Roman" pitchFamily="18" charset="0"/>
              </a:rPr>
              <a:t> by calling </a:t>
            </a:r>
            <a:r>
              <a:rPr lang="en-US" sz="1800" b="1" dirty="0" smtClean="0">
                <a:latin typeface="Times New Roman" pitchFamily="18" charset="0"/>
                <a:cs typeface="Times New Roman" pitchFamily="18" charset="0"/>
              </a:rPr>
              <a:t>edit() </a:t>
            </a:r>
            <a:r>
              <a:rPr lang="en-US" sz="1800" dirty="0" smtClean="0">
                <a:latin typeface="Times New Roman" pitchFamily="18" charset="0"/>
                <a:cs typeface="Times New Roman" pitchFamily="18" charset="0"/>
              </a:rPr>
              <a:t>on your </a:t>
            </a:r>
            <a:r>
              <a:rPr lang="en-US" sz="1800" dirty="0" err="1" smtClean="0">
                <a:latin typeface="Times New Roman" pitchFamily="18" charset="0"/>
                <a:cs typeface="Times New Roman" pitchFamily="18" charset="0"/>
              </a:rPr>
              <a:t>SharedPreferences</a:t>
            </a:r>
            <a:r>
              <a:rPr lang="en-US" sz="1800" dirty="0" smtClean="0">
                <a:latin typeface="Times New Roman" pitchFamily="18" charset="0"/>
                <a:cs typeface="Times New Roman" pitchFamily="18" charset="0"/>
              </a:rPr>
              <a:t>.</a:t>
            </a:r>
          </a:p>
          <a:p>
            <a:pPr>
              <a:lnSpc>
                <a:spcPct val="200000"/>
              </a:lnSpc>
            </a:pPr>
            <a:r>
              <a:rPr lang="en-US" sz="1800" dirty="0" smtClean="0">
                <a:latin typeface="Times New Roman" pitchFamily="18" charset="0"/>
                <a:cs typeface="Times New Roman" pitchFamily="18" charset="0"/>
              </a:rPr>
              <a:t>Pass the keys and values you want to write with methods such as: </a:t>
            </a:r>
            <a:r>
              <a:rPr lang="en-US" sz="1800" b="1" dirty="0" err="1" smtClean="0">
                <a:latin typeface="Times New Roman" pitchFamily="18" charset="0"/>
                <a:cs typeface="Times New Roman" pitchFamily="18" charset="0"/>
              </a:rPr>
              <a:t>putInt</a:t>
            </a:r>
            <a:r>
              <a:rPr lang="en-US" sz="1800" b="1"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and   </a:t>
            </a:r>
            <a:r>
              <a:rPr lang="en-US" sz="1800" b="1" dirty="0" err="1" smtClean="0">
                <a:latin typeface="Times New Roman" pitchFamily="18" charset="0"/>
                <a:cs typeface="Times New Roman" pitchFamily="18" charset="0"/>
              </a:rPr>
              <a:t>putString</a:t>
            </a:r>
            <a:r>
              <a:rPr lang="en-US" sz="1800" b="1" dirty="0" smtClean="0">
                <a:latin typeface="Times New Roman" pitchFamily="18" charset="0"/>
                <a:cs typeface="Times New Roman" pitchFamily="18" charset="0"/>
              </a:rPr>
              <a:t>(). </a:t>
            </a:r>
          </a:p>
          <a:p>
            <a:pPr>
              <a:lnSpc>
                <a:spcPct val="200000"/>
              </a:lnSpc>
            </a:pPr>
            <a:r>
              <a:rPr lang="en-US" sz="1800" dirty="0" smtClean="0">
                <a:latin typeface="Times New Roman" pitchFamily="18" charset="0"/>
                <a:cs typeface="Times New Roman" pitchFamily="18" charset="0"/>
              </a:rPr>
              <a:t>Then call apply() or commit()  to save the changes.</a:t>
            </a:r>
          </a:p>
          <a:p>
            <a:pPr>
              <a:lnSpc>
                <a:spcPct val="200000"/>
              </a:lnSpc>
              <a:buNone/>
            </a:pPr>
            <a:r>
              <a:rPr lang="en-US" sz="1800" dirty="0" smtClean="0">
                <a:latin typeface="Times New Roman" pitchFamily="18" charset="0"/>
                <a:cs typeface="Times New Roman" pitchFamily="18" charset="0"/>
              </a:rPr>
              <a:t>Example:</a:t>
            </a:r>
          </a:p>
          <a:p>
            <a:pPr>
              <a:lnSpc>
                <a:spcPct val="200000"/>
              </a:lnSpc>
              <a:buNone/>
            </a:pPr>
            <a:r>
              <a:rPr lang="en-US" sz="1800" dirty="0" smtClean="0"/>
              <a:t>     	 </a:t>
            </a:r>
            <a:r>
              <a:rPr lang="en-US" sz="1800" b="1" dirty="0" err="1" smtClean="0">
                <a:latin typeface="Times New Roman" pitchFamily="18" charset="0"/>
                <a:cs typeface="Times New Roman" pitchFamily="18" charset="0"/>
              </a:rPr>
              <a:t>SharedPreferences</a:t>
            </a:r>
            <a:r>
              <a:rPr lang="en-US" sz="1800" b="1" dirty="0" smtClean="0">
                <a:latin typeface="Times New Roman" pitchFamily="18" charset="0"/>
                <a:cs typeface="Times New Roman" pitchFamily="18" charset="0"/>
              </a:rPr>
              <a:t> </a:t>
            </a:r>
            <a:r>
              <a:rPr lang="en-US" sz="1800" b="1" dirty="0" err="1" smtClean="0">
                <a:latin typeface="Times New Roman" pitchFamily="18" charset="0"/>
                <a:cs typeface="Times New Roman" pitchFamily="18" charset="0"/>
              </a:rPr>
              <a:t>sharedPref</a:t>
            </a:r>
            <a:r>
              <a:rPr lang="en-US" sz="1800" b="1" dirty="0" smtClean="0">
                <a:latin typeface="Times New Roman" pitchFamily="18" charset="0"/>
                <a:cs typeface="Times New Roman" pitchFamily="18" charset="0"/>
              </a:rPr>
              <a:t> = </a:t>
            </a:r>
            <a:r>
              <a:rPr lang="en-US" sz="1800" b="1" dirty="0" err="1" smtClean="0">
                <a:latin typeface="Times New Roman" pitchFamily="18" charset="0"/>
                <a:cs typeface="Times New Roman" pitchFamily="18" charset="0"/>
              </a:rPr>
              <a:t>getActivity</a:t>
            </a:r>
            <a:r>
              <a:rPr lang="en-US" sz="1800" b="1" dirty="0" smtClean="0">
                <a:latin typeface="Times New Roman" pitchFamily="18" charset="0"/>
                <a:cs typeface="Times New Roman" pitchFamily="18" charset="0"/>
              </a:rPr>
              <a:t>().</a:t>
            </a:r>
            <a:r>
              <a:rPr lang="en-US" sz="1800" b="1" dirty="0" err="1" smtClean="0">
                <a:latin typeface="Times New Roman" pitchFamily="18" charset="0"/>
                <a:cs typeface="Times New Roman" pitchFamily="18" charset="0"/>
              </a:rPr>
              <a:t>getPreferences</a:t>
            </a:r>
            <a:r>
              <a:rPr lang="en-US" sz="1800" b="1" dirty="0" smtClean="0">
                <a:latin typeface="Times New Roman" pitchFamily="18" charset="0"/>
                <a:cs typeface="Times New Roman" pitchFamily="18" charset="0"/>
              </a:rPr>
              <a:t>(</a:t>
            </a:r>
            <a:r>
              <a:rPr lang="en-US" sz="1800" b="1" dirty="0" err="1" smtClean="0">
                <a:latin typeface="Times New Roman" pitchFamily="18" charset="0"/>
                <a:cs typeface="Times New Roman" pitchFamily="18" charset="0"/>
              </a:rPr>
              <a:t>Context.MODE_PRIVATE</a:t>
            </a:r>
            <a:r>
              <a:rPr lang="en-US" sz="1800" b="1" dirty="0" smtClean="0">
                <a:latin typeface="Times New Roman" pitchFamily="18" charset="0"/>
                <a:cs typeface="Times New Roman" pitchFamily="18" charset="0"/>
              </a:rPr>
              <a:t>);   </a:t>
            </a:r>
          </a:p>
          <a:p>
            <a:pPr>
              <a:lnSpc>
                <a:spcPct val="200000"/>
              </a:lnSpc>
              <a:buNone/>
            </a:pPr>
            <a:r>
              <a:rPr lang="en-US" sz="1800" b="1" dirty="0" smtClean="0">
                <a:latin typeface="Times New Roman" pitchFamily="18" charset="0"/>
                <a:cs typeface="Times New Roman" pitchFamily="18" charset="0"/>
              </a:rPr>
              <a:t> 		</a:t>
            </a:r>
            <a:r>
              <a:rPr lang="en-US" sz="1800" b="1" dirty="0" err="1" smtClean="0">
                <a:latin typeface="Times New Roman" pitchFamily="18" charset="0"/>
                <a:cs typeface="Times New Roman" pitchFamily="18" charset="0"/>
              </a:rPr>
              <a:t>SharedPreferences.Editor</a:t>
            </a:r>
            <a:r>
              <a:rPr lang="en-US" sz="1800" b="1" dirty="0" smtClean="0">
                <a:latin typeface="Times New Roman" pitchFamily="18" charset="0"/>
                <a:cs typeface="Times New Roman" pitchFamily="18" charset="0"/>
              </a:rPr>
              <a:t> editor = </a:t>
            </a:r>
            <a:r>
              <a:rPr lang="en-US" sz="1800" b="1" dirty="0" err="1" smtClean="0">
                <a:latin typeface="Times New Roman" pitchFamily="18" charset="0"/>
                <a:cs typeface="Times New Roman" pitchFamily="18" charset="0"/>
              </a:rPr>
              <a:t>sharedPref.edit</a:t>
            </a:r>
            <a:r>
              <a:rPr lang="en-US" sz="1800" b="1" dirty="0" smtClean="0">
                <a:latin typeface="Times New Roman" pitchFamily="18" charset="0"/>
                <a:cs typeface="Times New Roman" pitchFamily="18" charset="0"/>
              </a:rPr>
              <a:t>(); </a:t>
            </a:r>
          </a:p>
          <a:p>
            <a:pPr>
              <a:lnSpc>
                <a:spcPct val="200000"/>
              </a:lnSpc>
              <a:buNone/>
            </a:pPr>
            <a:r>
              <a:rPr lang="en-US" sz="1800" b="1" dirty="0" smtClean="0">
                <a:latin typeface="Times New Roman" pitchFamily="18" charset="0"/>
                <a:cs typeface="Times New Roman" pitchFamily="18" charset="0"/>
              </a:rPr>
              <a:t>		</a:t>
            </a:r>
            <a:r>
              <a:rPr lang="en-US" sz="1800" b="1" dirty="0" err="1" smtClean="0">
                <a:latin typeface="Times New Roman" pitchFamily="18" charset="0"/>
                <a:cs typeface="Times New Roman" pitchFamily="18" charset="0"/>
              </a:rPr>
              <a:t>editor.putInt</a:t>
            </a:r>
            <a:r>
              <a:rPr lang="en-US" sz="1800" b="1" dirty="0" smtClean="0">
                <a:latin typeface="Times New Roman" pitchFamily="18" charset="0"/>
                <a:cs typeface="Times New Roman" pitchFamily="18" charset="0"/>
              </a:rPr>
              <a:t>(</a:t>
            </a:r>
            <a:r>
              <a:rPr lang="en-US" sz="1800" b="1" dirty="0" err="1" smtClean="0">
                <a:latin typeface="Times New Roman" pitchFamily="18" charset="0"/>
                <a:cs typeface="Times New Roman" pitchFamily="18" charset="0"/>
              </a:rPr>
              <a:t>getString</a:t>
            </a:r>
            <a:r>
              <a:rPr lang="en-US" sz="1800" b="1" dirty="0" smtClean="0">
                <a:latin typeface="Times New Roman" pitchFamily="18" charset="0"/>
                <a:cs typeface="Times New Roman" pitchFamily="18" charset="0"/>
              </a:rPr>
              <a:t>(</a:t>
            </a:r>
            <a:r>
              <a:rPr lang="en-US" sz="1800" b="1" dirty="0" err="1" smtClean="0">
                <a:latin typeface="Times New Roman" pitchFamily="18" charset="0"/>
                <a:cs typeface="Times New Roman" pitchFamily="18" charset="0"/>
              </a:rPr>
              <a:t>R.string.saved_high_score_key</a:t>
            </a:r>
            <a:r>
              <a:rPr lang="en-US" sz="1800" b="1" dirty="0" smtClean="0">
                <a:latin typeface="Times New Roman" pitchFamily="18" charset="0"/>
                <a:cs typeface="Times New Roman" pitchFamily="18" charset="0"/>
              </a:rPr>
              <a:t>), </a:t>
            </a:r>
            <a:r>
              <a:rPr lang="en-US" sz="1800" b="1" dirty="0" err="1" smtClean="0">
                <a:latin typeface="Times New Roman" pitchFamily="18" charset="0"/>
                <a:cs typeface="Times New Roman" pitchFamily="18" charset="0"/>
              </a:rPr>
              <a:t>newHighScore</a:t>
            </a:r>
            <a:r>
              <a:rPr lang="en-US" sz="1800" b="1" dirty="0" smtClean="0">
                <a:latin typeface="Times New Roman" pitchFamily="18" charset="0"/>
                <a:cs typeface="Times New Roman" pitchFamily="18" charset="0"/>
              </a:rPr>
              <a:t>); </a:t>
            </a:r>
            <a:r>
              <a:rPr lang="en-US" sz="1800" b="1" dirty="0" err="1" smtClean="0">
                <a:latin typeface="Times New Roman" pitchFamily="18" charset="0"/>
                <a:cs typeface="Times New Roman" pitchFamily="18" charset="0"/>
              </a:rPr>
              <a:t>editor.apply</a:t>
            </a:r>
            <a:r>
              <a:rPr lang="en-US" sz="1800" b="1" dirty="0" smtClean="0">
                <a:latin typeface="Times New Roman" pitchFamily="18" charset="0"/>
                <a:cs typeface="Times New Roman" pitchFamily="18" charset="0"/>
              </a:rPr>
              <a:t>();</a:t>
            </a:r>
          </a:p>
          <a:p>
            <a:r>
              <a:rPr lang="en-US" sz="1800" b="1" dirty="0" smtClean="0">
                <a:latin typeface="Times New Roman" pitchFamily="18" charset="0"/>
                <a:cs typeface="Times New Roman" pitchFamily="18" charset="0"/>
              </a:rPr>
              <a:t>apply()</a:t>
            </a:r>
            <a:r>
              <a:rPr lang="en-US" sz="1800" dirty="0" smtClean="0">
                <a:latin typeface="Times New Roman" pitchFamily="18" charset="0"/>
                <a:cs typeface="Times New Roman" pitchFamily="18" charset="0"/>
              </a:rPr>
              <a:t>: Changes are made immediately in memory but written to disk asynchronously. It does not return a value.</a:t>
            </a:r>
          </a:p>
          <a:p>
            <a:r>
              <a:rPr lang="en-US" sz="1800" b="1" dirty="0" smtClean="0">
                <a:latin typeface="Times New Roman" pitchFamily="18" charset="0"/>
                <a:cs typeface="Times New Roman" pitchFamily="18" charset="0"/>
              </a:rPr>
              <a:t>commit()</a:t>
            </a:r>
            <a:r>
              <a:rPr lang="en-US" sz="1800" dirty="0" smtClean="0">
                <a:latin typeface="Times New Roman" pitchFamily="18" charset="0"/>
                <a:cs typeface="Times New Roman" pitchFamily="18" charset="0"/>
              </a:rPr>
              <a:t>: Writes data synchronously and returns true if successful. Avoid calling this from the main UI thread as it can block execution. </a:t>
            </a:r>
          </a:p>
          <a:p>
            <a:pPr>
              <a:lnSpc>
                <a:spcPct val="200000"/>
              </a:lnSpc>
              <a:buNone/>
            </a:pPr>
            <a:endParaRPr lang="en-US" sz="1800" b="1" dirty="0" smtClean="0">
              <a:latin typeface="Times New Roman" pitchFamily="18" charset="0"/>
              <a:cs typeface="Times New Roman" pitchFamily="18" charset="0"/>
            </a:endParaRPr>
          </a:p>
          <a:p>
            <a:pPr>
              <a:lnSpc>
                <a:spcPct val="200000"/>
              </a:lnSpc>
              <a:buNone/>
            </a:pPr>
            <a:endParaRPr lang="en-US" sz="1800" b="1" dirty="0" smtClean="0">
              <a:latin typeface="Times New Roman" pitchFamily="18" charset="0"/>
              <a:cs typeface="Times New Roman" pitchFamily="18" charset="0"/>
            </a:endParaRPr>
          </a:p>
          <a:p>
            <a:pPr>
              <a:buNone/>
            </a:pPr>
            <a:endParaRPr lang="en-US" dirty="0"/>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7550" y="365125"/>
            <a:ext cx="10636250" cy="612775"/>
          </a:xfrm>
        </p:spPr>
        <p:txBody>
          <a:bodyPr>
            <a:normAutofit fontScale="90000"/>
          </a:bodyPr>
          <a:lstStyle/>
          <a:p>
            <a:r>
              <a:rPr lang="en-US" b="1" dirty="0" smtClean="0"/>
              <a:t/>
            </a:r>
            <a:br>
              <a:rPr lang="en-US" b="1" dirty="0" smtClean="0"/>
            </a:br>
            <a:r>
              <a:rPr lang="en-US" b="1" dirty="0" smtClean="0"/>
              <a:t/>
            </a:r>
            <a:br>
              <a:rPr lang="en-US" b="1" dirty="0" smtClean="0"/>
            </a:br>
            <a:r>
              <a:rPr lang="en-US" b="1" dirty="0" smtClean="0"/>
              <a:t>3. Read Data</a:t>
            </a:r>
            <a:br>
              <a:rPr lang="en-US" b="1" dirty="0" smtClean="0"/>
            </a:br>
            <a:r>
              <a:rPr lang="en-US" dirty="0" smtClean="0"/>
              <a:t/>
            </a:r>
            <a:br>
              <a:rPr lang="en-US" dirty="0" smtClean="0"/>
            </a:br>
            <a:endParaRPr lang="en-US" dirty="0"/>
          </a:p>
        </p:txBody>
      </p:sp>
      <p:sp>
        <p:nvSpPr>
          <p:cNvPr id="3" name="Content Placeholder 2"/>
          <p:cNvSpPr>
            <a:spLocks noGrp="1"/>
          </p:cNvSpPr>
          <p:nvPr>
            <p:ph idx="1"/>
          </p:nvPr>
        </p:nvSpPr>
        <p:spPr>
          <a:xfrm>
            <a:off x="266700" y="1060450"/>
            <a:ext cx="11087100" cy="5116513"/>
          </a:xfrm>
        </p:spPr>
        <p:txBody>
          <a:bodyPr>
            <a:normAutofit lnSpcReduction="10000"/>
          </a:bodyPr>
          <a:lstStyle/>
          <a:p>
            <a:pPr algn="just">
              <a:buNone/>
            </a:pPr>
            <a:r>
              <a:rPr lang="en-US" dirty="0" smtClean="0">
                <a:latin typeface="Times New Roman" pitchFamily="18" charset="0"/>
                <a:cs typeface="Times New Roman" pitchFamily="18" charset="0"/>
              </a:rPr>
              <a:t>To retrieve values from a shared preferences file, call methods such</a:t>
            </a:r>
          </a:p>
          <a:p>
            <a:pPr algn="just">
              <a:buNone/>
            </a:pPr>
            <a:r>
              <a:rPr lang="en-US" dirty="0" smtClean="0">
                <a:latin typeface="Times New Roman" pitchFamily="18" charset="0"/>
                <a:cs typeface="Times New Roman" pitchFamily="18" charset="0"/>
              </a:rPr>
              <a:t>as </a:t>
            </a:r>
            <a:r>
              <a:rPr lang="en-US" dirty="0" err="1" smtClean="0">
                <a:latin typeface="Times New Roman" pitchFamily="18" charset="0"/>
                <a:cs typeface="Times New Roman" pitchFamily="18" charset="0"/>
              </a:rPr>
              <a:t>getInt</a:t>
            </a:r>
            <a:r>
              <a:rPr lang="en-US" dirty="0" smtClean="0">
                <a:latin typeface="Times New Roman" pitchFamily="18" charset="0"/>
                <a:cs typeface="Times New Roman" pitchFamily="18" charset="0"/>
              </a:rPr>
              <a:t>() and </a:t>
            </a:r>
            <a:r>
              <a:rPr lang="en-US" dirty="0" err="1" smtClean="0">
                <a:latin typeface="Times New Roman" pitchFamily="18" charset="0"/>
                <a:cs typeface="Times New Roman" pitchFamily="18" charset="0"/>
              </a:rPr>
              <a:t>getString</a:t>
            </a:r>
            <a:r>
              <a:rPr lang="en-US" dirty="0" smtClean="0">
                <a:latin typeface="Times New Roman" pitchFamily="18" charset="0"/>
                <a:cs typeface="Times New Roman" pitchFamily="18" charset="0"/>
              </a:rPr>
              <a:t>(), providing the key for the value you want, and optionally a default value to return if the key isn't present.</a:t>
            </a:r>
          </a:p>
          <a:p>
            <a:pPr algn="just">
              <a:buNone/>
            </a:pPr>
            <a:endParaRPr lang="en-US" dirty="0" smtClean="0">
              <a:latin typeface="Times New Roman" pitchFamily="18" charset="0"/>
              <a:cs typeface="Times New Roman" pitchFamily="18" charset="0"/>
            </a:endParaRPr>
          </a:p>
          <a:p>
            <a:pPr algn="just">
              <a:buNone/>
            </a:pPr>
            <a:r>
              <a:rPr lang="en-US" dirty="0" smtClean="0">
                <a:latin typeface="Times New Roman" pitchFamily="18" charset="0"/>
                <a:cs typeface="Times New Roman" pitchFamily="18" charset="0"/>
              </a:rPr>
              <a:t>String name = </a:t>
            </a:r>
            <a:r>
              <a:rPr lang="en-US" dirty="0" err="1" smtClean="0">
                <a:latin typeface="Times New Roman" pitchFamily="18" charset="0"/>
                <a:cs typeface="Times New Roman" pitchFamily="18" charset="0"/>
              </a:rPr>
              <a:t>sharedPref.getString</a:t>
            </a:r>
            <a:r>
              <a:rPr lang="en-US" dirty="0" smtClean="0">
                <a:latin typeface="Times New Roman" pitchFamily="18" charset="0"/>
                <a:cs typeface="Times New Roman" pitchFamily="18" charset="0"/>
              </a:rPr>
              <a:t>("username", "Default Name");</a:t>
            </a:r>
          </a:p>
          <a:p>
            <a:pPr algn="just">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int</a:t>
            </a:r>
            <a:r>
              <a:rPr lang="en-US" dirty="0" smtClean="0">
                <a:latin typeface="Times New Roman" pitchFamily="18" charset="0"/>
                <a:cs typeface="Times New Roman" pitchFamily="18" charset="0"/>
              </a:rPr>
              <a:t> score = </a:t>
            </a:r>
            <a:r>
              <a:rPr lang="en-US" dirty="0" err="1" smtClean="0">
                <a:latin typeface="Times New Roman" pitchFamily="18" charset="0"/>
                <a:cs typeface="Times New Roman" pitchFamily="18" charset="0"/>
              </a:rPr>
              <a:t>sharedPref.getInt</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high_score</a:t>
            </a:r>
            <a:r>
              <a:rPr lang="en-US" dirty="0" smtClean="0">
                <a:latin typeface="Times New Roman" pitchFamily="18" charset="0"/>
                <a:cs typeface="Times New Roman" pitchFamily="18" charset="0"/>
              </a:rPr>
              <a:t>", 0);</a:t>
            </a:r>
          </a:p>
          <a:p>
            <a:pPr>
              <a:buNone/>
            </a:pPr>
            <a:r>
              <a:rPr lang="en-US" b="1" dirty="0" smtClean="0"/>
              <a:t>4.Delete Data</a:t>
            </a:r>
          </a:p>
          <a:p>
            <a:r>
              <a:rPr lang="en-US" b="1" dirty="0" smtClean="0"/>
              <a:t>Remove a specific key</a:t>
            </a:r>
            <a:r>
              <a:rPr lang="en-US" dirty="0" smtClean="0"/>
              <a:t>: </a:t>
            </a:r>
          </a:p>
          <a:p>
            <a:pPr>
              <a:buNone/>
            </a:pPr>
            <a:r>
              <a:rPr lang="en-US" dirty="0" err="1" smtClean="0"/>
              <a:t>editor.remove</a:t>
            </a:r>
            <a:r>
              <a:rPr lang="en-US" dirty="0" smtClean="0"/>
              <a:t>("</a:t>
            </a:r>
            <a:r>
              <a:rPr lang="en-US" dirty="0" err="1" smtClean="0"/>
              <a:t>key_name</a:t>
            </a:r>
            <a:r>
              <a:rPr lang="en-US" dirty="0" smtClean="0"/>
              <a:t>").apply();.</a:t>
            </a:r>
          </a:p>
          <a:p>
            <a:r>
              <a:rPr lang="en-US" b="1" dirty="0" smtClean="0"/>
              <a:t>Clear all data</a:t>
            </a:r>
            <a:r>
              <a:rPr lang="en-US" dirty="0" smtClean="0"/>
              <a:t>: </a:t>
            </a:r>
          </a:p>
          <a:p>
            <a:pPr>
              <a:buNone/>
            </a:pPr>
            <a:r>
              <a:rPr lang="en-US" dirty="0" err="1" smtClean="0"/>
              <a:t>editor.clear</a:t>
            </a:r>
            <a:r>
              <a:rPr lang="en-US" dirty="0" smtClean="0"/>
              <a:t>().apply();</a:t>
            </a:r>
          </a:p>
          <a:p>
            <a:pPr algn="just">
              <a:buNone/>
            </a:pPr>
            <a:endParaRPr lang="en-US"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47500" lnSpcReduction="20000"/>
          </a:bodyPr>
          <a:lstStyle/>
          <a:p>
            <a:pPr>
              <a:buNone/>
            </a:pPr>
            <a:r>
              <a:rPr lang="en-US" b="1" dirty="0" smtClean="0"/>
              <a:t>public</a:t>
            </a:r>
            <a:r>
              <a:rPr lang="en-US" dirty="0" smtClean="0"/>
              <a:t> </a:t>
            </a:r>
            <a:r>
              <a:rPr lang="en-US" b="1" dirty="0" smtClean="0"/>
              <a:t>class</a:t>
            </a:r>
            <a:r>
              <a:rPr lang="en-US" dirty="0" smtClean="0"/>
              <a:t> </a:t>
            </a:r>
            <a:r>
              <a:rPr lang="en-US" b="1" dirty="0" err="1" smtClean="0"/>
              <a:t>MainActivity</a:t>
            </a:r>
            <a:r>
              <a:rPr lang="en-US" dirty="0" smtClean="0"/>
              <a:t> </a:t>
            </a:r>
            <a:r>
              <a:rPr lang="en-US" b="1" dirty="0" smtClean="0"/>
              <a:t>extends</a:t>
            </a:r>
            <a:r>
              <a:rPr lang="en-US" dirty="0" smtClean="0"/>
              <a:t> </a:t>
            </a:r>
            <a:r>
              <a:rPr lang="en-US" dirty="0" err="1" smtClean="0"/>
              <a:t>AppCompatActivity</a:t>
            </a:r>
            <a:endParaRPr lang="en-US" dirty="0" smtClean="0"/>
          </a:p>
          <a:p>
            <a:pPr>
              <a:buNone/>
            </a:pPr>
            <a:r>
              <a:rPr lang="en-US" dirty="0" smtClean="0"/>
              <a:t> { </a:t>
            </a:r>
            <a:r>
              <a:rPr lang="en-US" b="1" dirty="0" smtClean="0"/>
              <a:t>private</a:t>
            </a:r>
            <a:r>
              <a:rPr lang="en-US" dirty="0" smtClean="0"/>
              <a:t> </a:t>
            </a:r>
            <a:r>
              <a:rPr lang="en-US" dirty="0" err="1" smtClean="0"/>
              <a:t>EditText</a:t>
            </a:r>
            <a:r>
              <a:rPr lang="en-US" dirty="0" smtClean="0"/>
              <a:t> </a:t>
            </a:r>
            <a:r>
              <a:rPr lang="en-US" dirty="0" err="1" smtClean="0"/>
              <a:t>nameEditText</a:t>
            </a:r>
            <a:r>
              <a:rPr lang="en-US" dirty="0" smtClean="0"/>
              <a:t>;</a:t>
            </a:r>
          </a:p>
          <a:p>
            <a:pPr>
              <a:buNone/>
            </a:pPr>
            <a:r>
              <a:rPr lang="en-US" dirty="0" smtClean="0"/>
              <a:t> </a:t>
            </a:r>
            <a:r>
              <a:rPr lang="en-US" b="1" dirty="0" smtClean="0"/>
              <a:t>private</a:t>
            </a:r>
            <a:r>
              <a:rPr lang="en-US" dirty="0" smtClean="0"/>
              <a:t> </a:t>
            </a:r>
            <a:r>
              <a:rPr lang="en-US" dirty="0" err="1" smtClean="0"/>
              <a:t>EditText</a:t>
            </a:r>
            <a:r>
              <a:rPr lang="en-US" dirty="0" smtClean="0"/>
              <a:t> </a:t>
            </a:r>
            <a:r>
              <a:rPr lang="en-US" dirty="0" err="1" smtClean="0"/>
              <a:t>ageEditText</a:t>
            </a:r>
            <a:r>
              <a:rPr lang="en-US" dirty="0" smtClean="0"/>
              <a:t>; </a:t>
            </a:r>
          </a:p>
          <a:p>
            <a:pPr>
              <a:buNone/>
            </a:pPr>
            <a:r>
              <a:rPr lang="en-US" b="1" dirty="0" smtClean="0"/>
              <a:t>protected</a:t>
            </a:r>
            <a:r>
              <a:rPr lang="en-US" dirty="0" smtClean="0"/>
              <a:t> void </a:t>
            </a:r>
            <a:r>
              <a:rPr lang="en-US" dirty="0" err="1" smtClean="0"/>
              <a:t>onCreate</a:t>
            </a:r>
            <a:r>
              <a:rPr lang="en-US" dirty="0" smtClean="0"/>
              <a:t>(Bundle </a:t>
            </a:r>
            <a:r>
              <a:rPr lang="en-US" dirty="0" err="1" smtClean="0"/>
              <a:t>savedInstanceState</a:t>
            </a:r>
            <a:r>
              <a:rPr lang="en-US" dirty="0" smtClean="0"/>
              <a:t>) </a:t>
            </a:r>
          </a:p>
          <a:p>
            <a:pPr>
              <a:buNone/>
            </a:pPr>
            <a:r>
              <a:rPr lang="en-US" dirty="0" smtClean="0"/>
              <a:t>{ </a:t>
            </a:r>
            <a:r>
              <a:rPr lang="en-US" b="1" dirty="0" err="1" smtClean="0"/>
              <a:t>super</a:t>
            </a:r>
            <a:r>
              <a:rPr lang="en-US" dirty="0" err="1" smtClean="0"/>
              <a:t>.onCreate</a:t>
            </a:r>
            <a:r>
              <a:rPr lang="en-US" dirty="0" smtClean="0"/>
              <a:t>(</a:t>
            </a:r>
            <a:r>
              <a:rPr lang="en-US" dirty="0" err="1" smtClean="0"/>
              <a:t>savedInstanceState</a:t>
            </a:r>
            <a:r>
              <a:rPr lang="en-US" dirty="0" smtClean="0"/>
              <a:t>); </a:t>
            </a:r>
            <a:r>
              <a:rPr lang="en-US" dirty="0" err="1" smtClean="0"/>
              <a:t>setContentView</a:t>
            </a:r>
            <a:r>
              <a:rPr lang="en-US" dirty="0" smtClean="0"/>
              <a:t>(</a:t>
            </a:r>
            <a:r>
              <a:rPr lang="en-US" dirty="0" err="1" smtClean="0"/>
              <a:t>R.layout.activity_main</a:t>
            </a:r>
            <a:r>
              <a:rPr lang="en-US" dirty="0" smtClean="0"/>
              <a:t>); </a:t>
            </a:r>
          </a:p>
          <a:p>
            <a:pPr>
              <a:buNone/>
            </a:pPr>
            <a:r>
              <a:rPr lang="en-US" i="1" dirty="0" smtClean="0"/>
              <a:t>// Initializing </a:t>
            </a:r>
            <a:r>
              <a:rPr lang="en-US" i="1" dirty="0" err="1" smtClean="0"/>
              <a:t>EditText</a:t>
            </a:r>
            <a:r>
              <a:rPr lang="en-US" i="1" dirty="0" smtClean="0"/>
              <a:t> fields</a:t>
            </a:r>
            <a:r>
              <a:rPr lang="en-US" dirty="0" smtClean="0"/>
              <a:t> </a:t>
            </a:r>
          </a:p>
          <a:p>
            <a:pPr>
              <a:buNone/>
            </a:pPr>
            <a:r>
              <a:rPr lang="en-US" dirty="0" err="1" smtClean="0"/>
              <a:t>nameEditText</a:t>
            </a:r>
            <a:r>
              <a:rPr lang="en-US" dirty="0" smtClean="0"/>
              <a:t> = </a:t>
            </a:r>
            <a:r>
              <a:rPr lang="en-US" dirty="0" err="1" smtClean="0"/>
              <a:t>findViewById</a:t>
            </a:r>
            <a:r>
              <a:rPr lang="en-US" dirty="0" smtClean="0"/>
              <a:t>(R.id.edit1);</a:t>
            </a:r>
          </a:p>
          <a:p>
            <a:pPr>
              <a:buNone/>
            </a:pPr>
            <a:r>
              <a:rPr lang="en-US" dirty="0" smtClean="0"/>
              <a:t> </a:t>
            </a:r>
            <a:r>
              <a:rPr lang="en-US" dirty="0" err="1" smtClean="0"/>
              <a:t>ageEditText</a:t>
            </a:r>
            <a:r>
              <a:rPr lang="en-US" dirty="0" smtClean="0"/>
              <a:t> = </a:t>
            </a:r>
            <a:r>
              <a:rPr lang="en-US" dirty="0" err="1" smtClean="0"/>
              <a:t>findViewById</a:t>
            </a:r>
            <a:r>
              <a:rPr lang="en-US" dirty="0" smtClean="0"/>
              <a:t>(R.id.edit2); </a:t>
            </a:r>
          </a:p>
          <a:p>
            <a:pPr>
              <a:buNone/>
            </a:pPr>
            <a:r>
              <a:rPr lang="en-US" dirty="0" smtClean="0"/>
              <a:t>}</a:t>
            </a:r>
          </a:p>
          <a:p>
            <a:pPr>
              <a:buNone/>
            </a:pPr>
            <a:r>
              <a:rPr lang="en-US" dirty="0" smtClean="0"/>
              <a:t> @Override </a:t>
            </a:r>
          </a:p>
          <a:p>
            <a:pPr>
              <a:buNone/>
            </a:pPr>
            <a:r>
              <a:rPr lang="en-US" b="1" dirty="0" smtClean="0"/>
              <a:t>protected</a:t>
            </a:r>
            <a:r>
              <a:rPr lang="en-US" dirty="0" smtClean="0"/>
              <a:t> void </a:t>
            </a:r>
            <a:r>
              <a:rPr lang="en-US" dirty="0" err="1" smtClean="0"/>
              <a:t>onResume</a:t>
            </a:r>
            <a:r>
              <a:rPr lang="en-US" dirty="0" smtClean="0"/>
              <a:t>() </a:t>
            </a:r>
          </a:p>
          <a:p>
            <a:pPr>
              <a:buNone/>
            </a:pPr>
            <a:r>
              <a:rPr lang="en-US" dirty="0" smtClean="0"/>
              <a:t>{ </a:t>
            </a:r>
            <a:r>
              <a:rPr lang="en-US" b="1" dirty="0" err="1" smtClean="0"/>
              <a:t>super</a:t>
            </a:r>
            <a:r>
              <a:rPr lang="en-US" dirty="0" err="1" smtClean="0"/>
              <a:t>.onResume</a:t>
            </a:r>
            <a:r>
              <a:rPr lang="en-US" dirty="0" smtClean="0"/>
              <a:t>();</a:t>
            </a:r>
          </a:p>
          <a:p>
            <a:pPr>
              <a:buNone/>
            </a:pPr>
            <a:r>
              <a:rPr lang="en-US" dirty="0" smtClean="0"/>
              <a:t> </a:t>
            </a:r>
            <a:r>
              <a:rPr lang="en-US" i="1" dirty="0" smtClean="0"/>
              <a:t>// Retrieving stored data from </a:t>
            </a:r>
            <a:r>
              <a:rPr lang="en-US" i="1" dirty="0" err="1" smtClean="0"/>
              <a:t>SharedPreferences</a:t>
            </a:r>
            <a:r>
              <a:rPr lang="en-US" dirty="0" smtClean="0"/>
              <a:t> </a:t>
            </a:r>
          </a:p>
          <a:p>
            <a:pPr>
              <a:buNone/>
            </a:pPr>
            <a:r>
              <a:rPr lang="en-US" dirty="0" err="1" smtClean="0"/>
              <a:t>SharedPreferences</a:t>
            </a:r>
            <a:r>
              <a:rPr lang="en-US" dirty="0" smtClean="0"/>
              <a:t> </a:t>
            </a:r>
            <a:r>
              <a:rPr lang="en-US" dirty="0" err="1" smtClean="0"/>
              <a:t>sharedPreferences</a:t>
            </a:r>
            <a:r>
              <a:rPr lang="en-US" dirty="0" smtClean="0"/>
              <a:t> = </a:t>
            </a:r>
            <a:r>
              <a:rPr lang="en-US" dirty="0" err="1" smtClean="0"/>
              <a:t>getSharedPreferences</a:t>
            </a:r>
            <a:r>
              <a:rPr lang="en-US" dirty="0" smtClean="0"/>
              <a:t>("</a:t>
            </a:r>
            <a:r>
              <a:rPr lang="en-US" dirty="0" err="1" smtClean="0"/>
              <a:t>UserPreferences</a:t>
            </a:r>
            <a:r>
              <a:rPr lang="en-US" dirty="0" smtClean="0"/>
              <a:t>", MODE_PRIVATE); </a:t>
            </a:r>
          </a:p>
          <a:p>
            <a:pPr>
              <a:buNone/>
            </a:pPr>
            <a:r>
              <a:rPr lang="en-US" dirty="0" smtClean="0"/>
              <a:t>String </a:t>
            </a:r>
            <a:r>
              <a:rPr lang="en-US" dirty="0" err="1" smtClean="0"/>
              <a:t>savedName</a:t>
            </a:r>
            <a:r>
              <a:rPr lang="en-US" dirty="0" smtClean="0"/>
              <a:t> = </a:t>
            </a:r>
            <a:r>
              <a:rPr lang="en-US" dirty="0" err="1" smtClean="0"/>
              <a:t>sharedPreferences.getString</a:t>
            </a:r>
            <a:r>
              <a:rPr lang="en-US" dirty="0" smtClean="0"/>
              <a:t>("</a:t>
            </a:r>
            <a:r>
              <a:rPr lang="en-US" dirty="0" err="1" smtClean="0"/>
              <a:t>user_name</a:t>
            </a:r>
            <a:r>
              <a:rPr lang="en-US" dirty="0" smtClean="0"/>
              <a:t>", ""); </a:t>
            </a:r>
          </a:p>
          <a:p>
            <a:pPr>
              <a:buNone/>
            </a:pPr>
            <a:r>
              <a:rPr lang="en-US" dirty="0" err="1" smtClean="0"/>
              <a:t>int</a:t>
            </a:r>
            <a:r>
              <a:rPr lang="en-US" dirty="0" smtClean="0"/>
              <a:t> </a:t>
            </a:r>
            <a:r>
              <a:rPr lang="en-US" dirty="0" err="1" smtClean="0"/>
              <a:t>savedAge</a:t>
            </a:r>
            <a:r>
              <a:rPr lang="en-US" dirty="0" smtClean="0"/>
              <a:t> = </a:t>
            </a:r>
            <a:r>
              <a:rPr lang="en-US" dirty="0" err="1" smtClean="0"/>
              <a:t>sharedPreferences.getInt</a:t>
            </a:r>
            <a:r>
              <a:rPr lang="en-US" dirty="0" smtClean="0"/>
              <a:t>("</a:t>
            </a:r>
            <a:r>
              <a:rPr lang="en-US" dirty="0" err="1" smtClean="0"/>
              <a:t>user_age</a:t>
            </a:r>
            <a:r>
              <a:rPr lang="en-US" dirty="0" smtClean="0"/>
              <a:t>", 0);</a:t>
            </a:r>
            <a:endParaRPr lang="en-US" dirty="0"/>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162050" y="787400"/>
            <a:ext cx="9423400" cy="5762796"/>
          </a:xfrm>
          <a:prstGeom prst="rect">
            <a:avLst/>
          </a:prstGeom>
          <a:noFill/>
          <a:ln w="9525">
            <a:noFill/>
            <a:miter lim="800000"/>
            <a:headEnd/>
            <a:tailEnd/>
          </a:ln>
          <a:effec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30000"/>
              </a:spcBef>
              <a:spcAft>
                <a:spcPct val="0"/>
              </a:spcAft>
              <a:buClrTx/>
              <a:buSzTx/>
              <a:buFontTx/>
              <a:buNone/>
              <a:tabLst/>
            </a:pPr>
            <a:r>
              <a:rPr kumimoji="0" lang="en-US" sz="1400" b="0" i="1" u="none" strike="noStrike" cap="none" normalizeH="0" baseline="0" dirty="0" smtClean="0">
                <a:ln>
                  <a:noFill/>
                </a:ln>
                <a:solidFill>
                  <a:srgbClr val="3D7B7B"/>
                </a:solidFill>
                <a:effectLst/>
                <a:latin typeface="Consolas" pitchFamily="49" charset="0"/>
                <a:cs typeface="Arial" pitchFamily="34" charset="0"/>
              </a:rPr>
              <a:t>// Populating </a:t>
            </a:r>
            <a:r>
              <a:rPr kumimoji="0" lang="en-US" sz="1400" b="0" i="1" u="none" strike="noStrike" cap="none" normalizeH="0" baseline="0" dirty="0" err="1" smtClean="0">
                <a:ln>
                  <a:noFill/>
                </a:ln>
                <a:solidFill>
                  <a:srgbClr val="3D7B7B"/>
                </a:solidFill>
                <a:effectLst/>
                <a:latin typeface="Consolas" pitchFamily="49" charset="0"/>
                <a:cs typeface="Arial" pitchFamily="34" charset="0"/>
              </a:rPr>
              <a:t>EditText</a:t>
            </a:r>
            <a:r>
              <a:rPr kumimoji="0" lang="en-US" sz="1400" b="0" i="1" u="none" strike="noStrike" cap="none" normalizeH="0" baseline="0" dirty="0" smtClean="0">
                <a:ln>
                  <a:noFill/>
                </a:ln>
                <a:solidFill>
                  <a:srgbClr val="3D7B7B"/>
                </a:solidFill>
                <a:effectLst/>
                <a:latin typeface="Consolas" pitchFamily="49" charset="0"/>
                <a:cs typeface="Arial" pitchFamily="34" charset="0"/>
              </a:rPr>
              <a:t> fields with stored data</a:t>
            </a:r>
            <a:r>
              <a:rPr kumimoji="0" lang="en-US" sz="1400" b="0" i="0" u="none" strike="noStrike" cap="none" normalizeH="0" baseline="0" dirty="0" smtClean="0">
                <a:ln>
                  <a:noFill/>
                </a:ln>
                <a:solidFill>
                  <a:schemeClr val="tx1"/>
                </a:solidFill>
                <a:effectLst/>
                <a:latin typeface="Consolas" pitchFamily="49" charset="0"/>
                <a:cs typeface="Arial" pitchFamily="34" charset="0"/>
              </a:rPr>
              <a:t> </a:t>
            </a:r>
          </a:p>
          <a:p>
            <a:pPr marL="0" marR="0" lvl="0" indent="0" algn="l" defTabSz="914400" rtl="0" eaLnBrk="0" fontAlgn="base" latinLnBrk="0" hangingPunct="0">
              <a:lnSpc>
                <a:spcPct val="150000"/>
              </a:lnSpc>
              <a:spcBef>
                <a:spcPct val="30000"/>
              </a:spcBef>
              <a:spcAft>
                <a:spcPct val="0"/>
              </a:spcAft>
              <a:buClrTx/>
              <a:buSzTx/>
              <a:buFontTx/>
              <a:buNone/>
              <a:tabLst/>
            </a:pPr>
            <a:r>
              <a:rPr kumimoji="0" lang="en-US" sz="1400" b="0" i="0" u="none" strike="noStrike" cap="none" normalizeH="0" baseline="0" dirty="0" err="1" smtClean="0">
                <a:ln>
                  <a:noFill/>
                </a:ln>
                <a:solidFill>
                  <a:schemeClr val="tx1"/>
                </a:solidFill>
                <a:effectLst/>
                <a:latin typeface="Consolas" pitchFamily="49" charset="0"/>
              </a:rPr>
              <a:t>nameEditText</a:t>
            </a:r>
            <a:r>
              <a:rPr kumimoji="0" lang="en-US" sz="1400" b="0" i="0" u="none" strike="noStrike" cap="none" normalizeH="0" baseline="0" dirty="0" err="1"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rgbClr val="687822"/>
                </a:solidFill>
                <a:effectLst/>
                <a:latin typeface="Consolas" pitchFamily="49" charset="0"/>
                <a:cs typeface="Arial" pitchFamily="34" charset="0"/>
              </a:rPr>
              <a:t>setText</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chemeClr val="tx1"/>
                </a:solidFill>
                <a:effectLst/>
                <a:latin typeface="Consolas" pitchFamily="49" charset="0"/>
              </a:rPr>
              <a:t>savedName</a:t>
            </a:r>
            <a:r>
              <a:rPr kumimoji="0" lang="en-US" sz="1400" b="0" i="0" u="none" strike="noStrike" cap="none" normalizeH="0" baseline="0" dirty="0" smtClean="0">
                <a:ln>
                  <a:noFill/>
                </a:ln>
                <a:solidFill>
                  <a:schemeClr val="tx1"/>
                </a:solidFill>
                <a:effectLst/>
                <a:latin typeface="Consolas" pitchFamily="49" charset="0"/>
                <a:cs typeface="Arial" pitchFamily="34" charset="0"/>
              </a:rPr>
              <a:t>); </a:t>
            </a:r>
          </a:p>
          <a:p>
            <a:pPr marL="0" marR="0" lvl="0" indent="0" algn="l" defTabSz="914400" rtl="0" eaLnBrk="0" fontAlgn="base" latinLnBrk="0" hangingPunct="0">
              <a:lnSpc>
                <a:spcPct val="150000"/>
              </a:lnSpc>
              <a:spcBef>
                <a:spcPct val="30000"/>
              </a:spcBef>
              <a:spcAft>
                <a:spcPct val="0"/>
              </a:spcAft>
              <a:buClrTx/>
              <a:buSzTx/>
              <a:buFontTx/>
              <a:buNone/>
              <a:tabLst/>
            </a:pPr>
            <a:r>
              <a:rPr kumimoji="0" lang="en-US" sz="1400" b="0" i="0" u="none" strike="noStrike" cap="none" normalizeH="0" baseline="0" dirty="0" err="1" smtClean="0">
                <a:ln>
                  <a:noFill/>
                </a:ln>
                <a:solidFill>
                  <a:schemeClr val="tx1"/>
                </a:solidFill>
                <a:effectLst/>
                <a:latin typeface="Consolas" pitchFamily="49" charset="0"/>
              </a:rPr>
              <a:t>ageEditText</a:t>
            </a:r>
            <a:r>
              <a:rPr kumimoji="0" lang="en-US" sz="1400" b="0" i="0" u="none" strike="noStrike" cap="none" normalizeH="0" baseline="0" dirty="0" err="1"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rgbClr val="687822"/>
                </a:solidFill>
                <a:effectLst/>
                <a:latin typeface="Consolas" pitchFamily="49" charset="0"/>
                <a:cs typeface="Arial" pitchFamily="34" charset="0"/>
              </a:rPr>
              <a:t>setText</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chemeClr val="tx1"/>
                </a:solidFill>
                <a:effectLst/>
                <a:latin typeface="Consolas" pitchFamily="49" charset="0"/>
              </a:rPr>
              <a:t>savedAge</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smtClean="0">
                <a:ln>
                  <a:noFill/>
                </a:ln>
                <a:solidFill>
                  <a:srgbClr val="666666"/>
                </a:solidFill>
                <a:effectLst/>
                <a:latin typeface="Consolas" pitchFamily="49" charset="0"/>
              </a:rPr>
              <a:t>&gt;</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smtClean="0">
                <a:ln>
                  <a:noFill/>
                </a:ln>
                <a:solidFill>
                  <a:srgbClr val="666666"/>
                </a:solidFill>
                <a:effectLst/>
                <a:latin typeface="Consolas" pitchFamily="49" charset="0"/>
                <a:cs typeface="Arial" pitchFamily="34" charset="0"/>
              </a:rPr>
              <a:t>0</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smtClean="0">
                <a:ln>
                  <a:noFill/>
                </a:ln>
                <a:solidFill>
                  <a:srgbClr val="666666"/>
                </a:solidFill>
                <a:effectLst/>
                <a:latin typeface="Consolas" pitchFamily="49" charset="0"/>
              </a:rPr>
              <a:t>?</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err="1" smtClean="0">
                <a:ln>
                  <a:noFill/>
                </a:ln>
                <a:solidFill>
                  <a:schemeClr val="tx1"/>
                </a:solidFill>
                <a:effectLst/>
                <a:latin typeface="Consolas" pitchFamily="49" charset="0"/>
              </a:rPr>
              <a:t>String</a:t>
            </a:r>
            <a:r>
              <a:rPr kumimoji="0" lang="en-US" sz="1400" b="0" i="0" u="none" strike="noStrike" cap="none" normalizeH="0" baseline="0" dirty="0" err="1"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rgbClr val="687822"/>
                </a:solidFill>
                <a:effectLst/>
                <a:latin typeface="Consolas" pitchFamily="49" charset="0"/>
                <a:cs typeface="Arial" pitchFamily="34" charset="0"/>
              </a:rPr>
              <a:t>valueOf</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chemeClr val="tx1"/>
                </a:solidFill>
                <a:effectLst/>
                <a:latin typeface="Consolas" pitchFamily="49" charset="0"/>
              </a:rPr>
              <a:t>savedAge</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smtClean="0">
                <a:ln>
                  <a:noFill/>
                </a:ln>
                <a:solidFill>
                  <a:srgbClr val="BA2121"/>
                </a:solidFill>
                <a:effectLst/>
                <a:latin typeface="Consolas" pitchFamily="49" charset="0"/>
                <a:cs typeface="Arial" pitchFamily="34" charset="0"/>
              </a:rPr>
              <a:t>""</a:t>
            </a:r>
            <a:r>
              <a:rPr kumimoji="0" lang="en-US" sz="1400" b="0" i="0" u="none" strike="noStrike" cap="none" normalizeH="0" baseline="0" dirty="0" smtClean="0">
                <a:ln>
                  <a:noFill/>
                </a:ln>
                <a:solidFill>
                  <a:schemeClr val="tx1"/>
                </a:solidFill>
                <a:effectLst/>
                <a:latin typeface="Consolas" pitchFamily="49" charset="0"/>
                <a:cs typeface="Arial" pitchFamily="34" charset="0"/>
              </a:rPr>
              <a:t>); </a:t>
            </a:r>
          </a:p>
          <a:p>
            <a:pPr marL="0" marR="0" lvl="0" indent="0" algn="l" defTabSz="914400" rtl="0" eaLnBrk="0" fontAlgn="base" latinLnBrk="0" hangingPunct="0">
              <a:lnSpc>
                <a:spcPct val="150000"/>
              </a:lnSpc>
              <a:spcBef>
                <a:spcPct val="30000"/>
              </a:spcBef>
              <a:spcAft>
                <a:spcPct val="0"/>
              </a:spcAft>
              <a:buClrTx/>
              <a:buSzTx/>
              <a:buFontTx/>
              <a:buNone/>
              <a:tabLst/>
            </a:pPr>
            <a:r>
              <a:rPr kumimoji="0" lang="en-US" sz="1400" b="0" i="0" u="none" strike="noStrike" cap="none" normalizeH="0" baseline="0" dirty="0" smtClean="0">
                <a:ln>
                  <a:noFill/>
                </a:ln>
                <a:solidFill>
                  <a:schemeClr val="tx1"/>
                </a:solidFill>
                <a:effectLst/>
                <a:latin typeface="Consolas" pitchFamily="49" charset="0"/>
                <a:cs typeface="Arial" pitchFamily="34" charset="0"/>
              </a:rPr>
              <a:t>} </a:t>
            </a:r>
            <a:r>
              <a:rPr kumimoji="0" lang="en-US" sz="1400" b="0" i="0" u="none" strike="noStrike" cap="none" normalizeH="0" baseline="0" dirty="0" smtClean="0">
                <a:ln>
                  <a:noFill/>
                </a:ln>
                <a:solidFill>
                  <a:srgbClr val="AA22FF"/>
                </a:solidFill>
                <a:effectLst/>
                <a:latin typeface="Consolas" pitchFamily="49" charset="0"/>
                <a:cs typeface="Arial" pitchFamily="34" charset="0"/>
              </a:rPr>
              <a:t>@Override</a:t>
            </a:r>
            <a:r>
              <a:rPr kumimoji="0" lang="en-US" sz="1400" b="0" i="0" u="none" strike="noStrike" cap="none" normalizeH="0" baseline="0" dirty="0" smtClean="0">
                <a:ln>
                  <a:noFill/>
                </a:ln>
                <a:solidFill>
                  <a:schemeClr val="tx1"/>
                </a:solidFill>
                <a:effectLst/>
                <a:latin typeface="Consolas" pitchFamily="49" charset="0"/>
                <a:cs typeface="Arial" pitchFamily="34" charset="0"/>
              </a:rPr>
              <a:t> </a:t>
            </a:r>
            <a:r>
              <a:rPr kumimoji="0" lang="en-US" sz="1400" b="1" i="0" u="none" strike="noStrike" cap="none" normalizeH="0" baseline="0" dirty="0" smtClean="0">
                <a:ln>
                  <a:noFill/>
                </a:ln>
                <a:solidFill>
                  <a:srgbClr val="008000"/>
                </a:solidFill>
                <a:effectLst/>
                <a:latin typeface="Consolas" pitchFamily="49" charset="0"/>
                <a:cs typeface="Arial" pitchFamily="34" charset="0"/>
              </a:rPr>
              <a:t>protected</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p>
          <a:p>
            <a:pPr marL="0" marR="0" lvl="0" indent="0" algn="l" defTabSz="914400" rtl="0" eaLnBrk="0" fontAlgn="base" latinLnBrk="0" hangingPunct="0">
              <a:lnSpc>
                <a:spcPct val="150000"/>
              </a:lnSpc>
              <a:spcBef>
                <a:spcPct val="30000"/>
              </a:spcBef>
              <a:spcAft>
                <a:spcPct val="0"/>
              </a:spcAft>
              <a:buClrTx/>
              <a:buSzTx/>
              <a:buFontTx/>
              <a:buNone/>
              <a:tabLst/>
            </a:pPr>
            <a:r>
              <a:rPr kumimoji="0" lang="en-US" sz="1400" b="0" i="0" u="none" strike="noStrike" cap="none" normalizeH="0" baseline="0" dirty="0" smtClean="0">
                <a:ln>
                  <a:noFill/>
                </a:ln>
                <a:solidFill>
                  <a:srgbClr val="B00040"/>
                </a:solidFill>
                <a:effectLst/>
                <a:latin typeface="Consolas" pitchFamily="49" charset="0"/>
                <a:cs typeface="Arial" pitchFamily="34" charset="0"/>
              </a:rPr>
              <a:t>void</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err="1" smtClean="0">
                <a:ln>
                  <a:noFill/>
                </a:ln>
                <a:solidFill>
                  <a:srgbClr val="0000FF"/>
                </a:solidFill>
                <a:effectLst/>
                <a:latin typeface="Consolas" pitchFamily="49" charset="0"/>
                <a:cs typeface="Arial" pitchFamily="34" charset="0"/>
              </a:rPr>
              <a:t>onPause</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p>
          <a:p>
            <a:pPr marL="0" marR="0" lvl="0" indent="0" algn="l" defTabSz="914400" rtl="0" eaLnBrk="0" fontAlgn="base" latinLnBrk="0" hangingPunct="0">
              <a:lnSpc>
                <a:spcPct val="150000"/>
              </a:lnSpc>
              <a:spcBef>
                <a:spcPct val="30000"/>
              </a:spcBef>
              <a:spcAft>
                <a:spcPct val="0"/>
              </a:spcAft>
              <a:buClrTx/>
              <a:buSzTx/>
              <a:buFontTx/>
              <a:buNone/>
              <a:tabLst/>
            </a:pPr>
            <a:r>
              <a:rPr kumimoji="0" lang="en-US" sz="1400" b="0" i="0" u="none" strike="noStrike" cap="none" normalizeH="0" baseline="0" dirty="0" smtClean="0">
                <a:ln>
                  <a:noFill/>
                </a:ln>
                <a:solidFill>
                  <a:schemeClr val="tx1"/>
                </a:solidFill>
                <a:effectLst/>
                <a:latin typeface="Consolas" pitchFamily="49" charset="0"/>
                <a:cs typeface="Arial" pitchFamily="34" charset="0"/>
              </a:rPr>
              <a:t> </a:t>
            </a:r>
            <a:r>
              <a:rPr kumimoji="0" lang="en-US" sz="1400" b="1" i="0" u="none" strike="noStrike" cap="none" normalizeH="0" baseline="0" dirty="0" err="1" smtClean="0">
                <a:ln>
                  <a:noFill/>
                </a:ln>
                <a:solidFill>
                  <a:srgbClr val="008000"/>
                </a:solidFill>
                <a:effectLst/>
                <a:latin typeface="Consolas" pitchFamily="49" charset="0"/>
                <a:cs typeface="Arial" pitchFamily="34" charset="0"/>
              </a:rPr>
              <a:t>super</a:t>
            </a:r>
            <a:r>
              <a:rPr kumimoji="0" lang="en-US" sz="1400" b="0" i="0" u="none" strike="noStrike" cap="none" normalizeH="0" baseline="0" dirty="0" err="1"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rgbClr val="687822"/>
                </a:solidFill>
                <a:effectLst/>
                <a:latin typeface="Consolas" pitchFamily="49" charset="0"/>
                <a:cs typeface="Arial" pitchFamily="34" charset="0"/>
              </a:rPr>
              <a:t>onPause</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p>
          <a:p>
            <a:pPr marL="0" marR="0" lvl="0" indent="0" algn="l" defTabSz="914400" rtl="0" eaLnBrk="0" fontAlgn="base" latinLnBrk="0" hangingPunct="0">
              <a:lnSpc>
                <a:spcPct val="150000"/>
              </a:lnSpc>
              <a:spcBef>
                <a:spcPct val="30000"/>
              </a:spcBef>
              <a:spcAft>
                <a:spcPct val="0"/>
              </a:spcAft>
              <a:buClrTx/>
              <a:buSzTx/>
              <a:buFontTx/>
              <a:buNone/>
              <a:tabLst/>
            </a:pPr>
            <a:r>
              <a:rPr kumimoji="0" lang="en-US" sz="1400" b="0" i="0" u="none" strike="noStrike" cap="none" normalizeH="0" baseline="0" dirty="0" smtClean="0">
                <a:ln>
                  <a:noFill/>
                </a:ln>
                <a:solidFill>
                  <a:schemeClr val="tx1"/>
                </a:solidFill>
                <a:effectLst/>
                <a:latin typeface="Consolas" pitchFamily="49" charset="0"/>
                <a:cs typeface="Arial" pitchFamily="34" charset="0"/>
              </a:rPr>
              <a:t> </a:t>
            </a:r>
            <a:r>
              <a:rPr kumimoji="0" lang="en-US" sz="1400" b="0" i="1" u="none" strike="noStrike" cap="none" normalizeH="0" baseline="0" dirty="0" smtClean="0">
                <a:ln>
                  <a:noFill/>
                </a:ln>
                <a:solidFill>
                  <a:srgbClr val="3D7B7B"/>
                </a:solidFill>
                <a:effectLst/>
                <a:latin typeface="Consolas" pitchFamily="49" charset="0"/>
                <a:cs typeface="Arial" pitchFamily="34" charset="0"/>
              </a:rPr>
              <a:t>// Storing data in </a:t>
            </a:r>
            <a:r>
              <a:rPr kumimoji="0" lang="en-US" sz="1400" b="0" i="1" u="none" strike="noStrike" cap="none" normalizeH="0" baseline="0" dirty="0" err="1" smtClean="0">
                <a:ln>
                  <a:noFill/>
                </a:ln>
                <a:solidFill>
                  <a:srgbClr val="3D7B7B"/>
                </a:solidFill>
                <a:effectLst/>
                <a:latin typeface="Consolas" pitchFamily="49" charset="0"/>
                <a:cs typeface="Arial" pitchFamily="34" charset="0"/>
              </a:rPr>
              <a:t>SharedPreferences</a:t>
            </a:r>
            <a:r>
              <a:rPr kumimoji="0" lang="en-US" sz="1400" b="0" i="0" u="none" strike="noStrike" cap="none" normalizeH="0" baseline="0" dirty="0" smtClean="0">
                <a:ln>
                  <a:noFill/>
                </a:ln>
                <a:solidFill>
                  <a:schemeClr val="tx1"/>
                </a:solidFill>
                <a:effectLst/>
                <a:latin typeface="Consolas" pitchFamily="49" charset="0"/>
                <a:cs typeface="Arial" pitchFamily="34" charset="0"/>
              </a:rPr>
              <a:t> </a:t>
            </a:r>
          </a:p>
          <a:p>
            <a:pPr marL="0" marR="0" lvl="0" indent="0" algn="l" defTabSz="914400" rtl="0" eaLnBrk="0" fontAlgn="base" latinLnBrk="0" hangingPunct="0">
              <a:lnSpc>
                <a:spcPct val="150000"/>
              </a:lnSpc>
              <a:spcBef>
                <a:spcPct val="30000"/>
              </a:spcBef>
              <a:spcAft>
                <a:spcPct val="0"/>
              </a:spcAft>
              <a:buClrTx/>
              <a:buSzTx/>
              <a:buFontTx/>
              <a:buNone/>
              <a:tabLst/>
            </a:pPr>
            <a:r>
              <a:rPr kumimoji="0" lang="en-US" sz="1400" b="0" i="0" u="none" strike="noStrike" cap="none" normalizeH="0" baseline="0" dirty="0" err="1" smtClean="0">
                <a:ln>
                  <a:noFill/>
                </a:ln>
                <a:solidFill>
                  <a:schemeClr val="tx1"/>
                </a:solidFill>
                <a:effectLst/>
                <a:latin typeface="Consolas" pitchFamily="49" charset="0"/>
              </a:rPr>
              <a:t>SharedPreferences</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err="1" smtClean="0">
                <a:ln>
                  <a:noFill/>
                </a:ln>
                <a:solidFill>
                  <a:schemeClr val="tx1"/>
                </a:solidFill>
                <a:effectLst/>
                <a:latin typeface="Consolas" pitchFamily="49" charset="0"/>
              </a:rPr>
              <a:t>sharedPreferences</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smtClean="0">
                <a:ln>
                  <a:noFill/>
                </a:ln>
                <a:solidFill>
                  <a:srgbClr val="666666"/>
                </a:solidFill>
                <a:effectLst/>
                <a:latin typeface="Consolas" pitchFamily="49" charset="0"/>
              </a:rPr>
              <a:t>=</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err="1" smtClean="0">
                <a:ln>
                  <a:noFill/>
                </a:ln>
                <a:solidFill>
                  <a:schemeClr val="tx1"/>
                </a:solidFill>
                <a:effectLst/>
                <a:latin typeface="Consolas" pitchFamily="49" charset="0"/>
              </a:rPr>
              <a:t>getSharedPreferences</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r>
              <a:rPr kumimoji="0" lang="en-US" sz="1400" b="0" i="0" u="none" strike="noStrike" cap="none" normalizeH="0" baseline="0" dirty="0" smtClean="0">
                <a:ln>
                  <a:noFill/>
                </a:ln>
                <a:solidFill>
                  <a:srgbClr val="BA2121"/>
                </a:solidFill>
                <a:effectLst/>
                <a:latin typeface="Consolas" pitchFamily="49" charset="0"/>
                <a:cs typeface="Arial" pitchFamily="34" charset="0"/>
              </a:rPr>
              <a:t>"</a:t>
            </a:r>
            <a:r>
              <a:rPr kumimoji="0" lang="en-US" sz="1400" b="0" i="0" u="none" strike="noStrike" cap="none" normalizeH="0" baseline="0" dirty="0" err="1" smtClean="0">
                <a:ln>
                  <a:noFill/>
                </a:ln>
                <a:solidFill>
                  <a:srgbClr val="BA2121"/>
                </a:solidFill>
                <a:effectLst/>
                <a:latin typeface="Consolas" pitchFamily="49" charset="0"/>
                <a:cs typeface="Arial" pitchFamily="34" charset="0"/>
              </a:rPr>
              <a:t>UserPreferences</a:t>
            </a:r>
            <a:r>
              <a:rPr kumimoji="0" lang="en-US" sz="1400" b="0" i="0" u="none" strike="noStrike" cap="none" normalizeH="0" baseline="0" dirty="0" smtClean="0">
                <a:ln>
                  <a:noFill/>
                </a:ln>
                <a:solidFill>
                  <a:srgbClr val="BA2121"/>
                </a:solidFill>
                <a:effectLst/>
                <a:latin typeface="Consolas" pitchFamily="49" charset="0"/>
                <a:cs typeface="Arial" pitchFamily="34" charset="0"/>
              </a:rPr>
              <a:t>"</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smtClean="0">
                <a:ln>
                  <a:noFill/>
                </a:ln>
                <a:solidFill>
                  <a:schemeClr val="tx1"/>
                </a:solidFill>
                <a:effectLst/>
                <a:latin typeface="Consolas" pitchFamily="49" charset="0"/>
              </a:rPr>
              <a:t>MODE_PRIVATE</a:t>
            </a:r>
            <a:r>
              <a:rPr kumimoji="0" lang="en-US" sz="1400" b="0" i="0" u="none" strike="noStrike" cap="none" normalizeH="0" baseline="0" dirty="0" smtClean="0">
                <a:ln>
                  <a:noFill/>
                </a:ln>
                <a:solidFill>
                  <a:schemeClr val="tx1"/>
                </a:solidFill>
                <a:effectLst/>
                <a:latin typeface="Consolas" pitchFamily="49" charset="0"/>
                <a:cs typeface="Arial" pitchFamily="34" charset="0"/>
              </a:rPr>
              <a:t>); </a:t>
            </a:r>
          </a:p>
          <a:p>
            <a:pPr marL="0" marR="0" lvl="0" indent="0" algn="l" defTabSz="914400" rtl="0" eaLnBrk="0" fontAlgn="base" latinLnBrk="0" hangingPunct="0">
              <a:lnSpc>
                <a:spcPct val="150000"/>
              </a:lnSpc>
              <a:spcBef>
                <a:spcPct val="30000"/>
              </a:spcBef>
              <a:spcAft>
                <a:spcPct val="0"/>
              </a:spcAft>
              <a:buClrTx/>
              <a:buSzTx/>
              <a:buFontTx/>
              <a:buNone/>
              <a:tabLst/>
            </a:pPr>
            <a:r>
              <a:rPr kumimoji="0" lang="en-US" sz="1400" b="0" i="0" u="none" strike="noStrike" cap="none" normalizeH="0" baseline="0" dirty="0" err="1" smtClean="0">
                <a:ln>
                  <a:noFill/>
                </a:ln>
                <a:solidFill>
                  <a:schemeClr val="tx1"/>
                </a:solidFill>
                <a:effectLst/>
                <a:latin typeface="Consolas" pitchFamily="49" charset="0"/>
              </a:rPr>
              <a:t>SharedPreferences</a:t>
            </a:r>
            <a:r>
              <a:rPr kumimoji="0" lang="en-US" sz="1400" b="0" i="0" u="none" strike="noStrike" cap="none" normalizeH="0" baseline="0" dirty="0" err="1"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rgbClr val="687822"/>
                </a:solidFill>
                <a:effectLst/>
                <a:latin typeface="Consolas" pitchFamily="49" charset="0"/>
                <a:cs typeface="Arial" pitchFamily="34" charset="0"/>
              </a:rPr>
              <a:t>Editor</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smtClean="0">
                <a:ln>
                  <a:noFill/>
                </a:ln>
                <a:solidFill>
                  <a:schemeClr val="tx1"/>
                </a:solidFill>
                <a:effectLst/>
                <a:latin typeface="Consolas" pitchFamily="49" charset="0"/>
              </a:rPr>
              <a:t>editor</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smtClean="0">
                <a:ln>
                  <a:noFill/>
                </a:ln>
                <a:solidFill>
                  <a:srgbClr val="666666"/>
                </a:solidFill>
                <a:effectLst/>
                <a:latin typeface="Consolas" pitchFamily="49" charset="0"/>
              </a:rPr>
              <a:t>=</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err="1" smtClean="0">
                <a:ln>
                  <a:noFill/>
                </a:ln>
                <a:solidFill>
                  <a:schemeClr val="tx1"/>
                </a:solidFill>
                <a:effectLst/>
                <a:latin typeface="Consolas" pitchFamily="49" charset="0"/>
              </a:rPr>
              <a:t>sharedPreferences</a:t>
            </a:r>
            <a:r>
              <a:rPr kumimoji="0" lang="en-US" sz="1400" b="0" i="0" u="none" strike="noStrike" cap="none" normalizeH="0" baseline="0" dirty="0" err="1"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rgbClr val="687822"/>
                </a:solidFill>
                <a:effectLst/>
                <a:latin typeface="Consolas" pitchFamily="49" charset="0"/>
                <a:cs typeface="Arial" pitchFamily="34" charset="0"/>
              </a:rPr>
              <a:t>edit</a:t>
            </a:r>
            <a:r>
              <a:rPr kumimoji="0" lang="en-US" sz="1400" b="0" i="0" u="none" strike="noStrike" cap="none" normalizeH="0" baseline="0" dirty="0" smtClean="0">
                <a:ln>
                  <a:noFill/>
                </a:ln>
                <a:solidFill>
                  <a:schemeClr val="tx1"/>
                </a:solidFill>
                <a:effectLst/>
                <a:latin typeface="Consolas" pitchFamily="49" charset="0"/>
                <a:cs typeface="Arial" pitchFamily="34" charset="0"/>
              </a:rPr>
              <a:t>(); </a:t>
            </a:r>
          </a:p>
          <a:p>
            <a:pPr marL="0" marR="0" lvl="0" indent="0" algn="l" defTabSz="914400" rtl="0" eaLnBrk="0" fontAlgn="base" latinLnBrk="0" hangingPunct="0">
              <a:lnSpc>
                <a:spcPct val="150000"/>
              </a:lnSpc>
              <a:spcBef>
                <a:spcPct val="30000"/>
              </a:spcBef>
              <a:spcAft>
                <a:spcPct val="0"/>
              </a:spcAft>
              <a:buClrTx/>
              <a:buSzTx/>
              <a:buFontTx/>
              <a:buNone/>
              <a:tabLst/>
            </a:pPr>
            <a:r>
              <a:rPr kumimoji="0" lang="en-US" sz="1400" b="0" i="1" u="none" strike="noStrike" cap="none" normalizeH="0" baseline="0" dirty="0" smtClean="0">
                <a:ln>
                  <a:noFill/>
                </a:ln>
                <a:solidFill>
                  <a:srgbClr val="3D7B7B"/>
                </a:solidFill>
                <a:effectLst/>
                <a:latin typeface="Consolas" pitchFamily="49" charset="0"/>
                <a:cs typeface="Arial" pitchFamily="34" charset="0"/>
              </a:rPr>
              <a:t>// Retrieving user input and saving it</a:t>
            </a:r>
          </a:p>
          <a:p>
            <a:pPr marL="0" marR="0" lvl="0" indent="0" algn="l" defTabSz="914400" rtl="0" eaLnBrk="0" fontAlgn="base" latinLnBrk="0" hangingPunct="0">
              <a:lnSpc>
                <a:spcPct val="150000"/>
              </a:lnSpc>
              <a:spcBef>
                <a:spcPct val="30000"/>
              </a:spcBef>
              <a:spcAft>
                <a:spcPct val="0"/>
              </a:spcAft>
              <a:buClrTx/>
              <a:buSzTx/>
              <a:buFontTx/>
              <a:buNone/>
              <a:tabLst/>
            </a:pPr>
            <a:r>
              <a:rPr kumimoji="0" lang="en-US" sz="1400" b="0" i="0" u="none" strike="noStrike" cap="none" normalizeH="0" baseline="0" dirty="0" smtClean="0">
                <a:ln>
                  <a:noFill/>
                </a:ln>
                <a:solidFill>
                  <a:schemeClr val="tx1"/>
                </a:solidFill>
                <a:effectLst/>
                <a:latin typeface="Consolas" pitchFamily="49" charset="0"/>
                <a:cs typeface="Arial" pitchFamily="34" charset="0"/>
              </a:rPr>
              <a:t> </a:t>
            </a:r>
            <a:r>
              <a:rPr kumimoji="0" lang="en-US" sz="1400" b="0" i="0" u="none" strike="noStrike" cap="none" normalizeH="0" baseline="0" dirty="0" err="1" smtClean="0">
                <a:ln>
                  <a:noFill/>
                </a:ln>
                <a:solidFill>
                  <a:schemeClr val="tx1"/>
                </a:solidFill>
                <a:effectLst/>
                <a:latin typeface="Consolas" pitchFamily="49" charset="0"/>
              </a:rPr>
              <a:t>editor</a:t>
            </a:r>
            <a:r>
              <a:rPr kumimoji="0" lang="en-US" sz="1400" b="0" i="0" u="none" strike="noStrike" cap="none" normalizeH="0" baseline="0" dirty="0" err="1"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rgbClr val="687822"/>
                </a:solidFill>
                <a:effectLst/>
                <a:latin typeface="Consolas" pitchFamily="49" charset="0"/>
                <a:cs typeface="Arial" pitchFamily="34" charset="0"/>
              </a:rPr>
              <a:t>putString</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r>
              <a:rPr kumimoji="0" lang="en-US" sz="1400" b="0" i="0" u="none" strike="noStrike" cap="none" normalizeH="0" baseline="0" dirty="0" smtClean="0">
                <a:ln>
                  <a:noFill/>
                </a:ln>
                <a:solidFill>
                  <a:srgbClr val="BA2121"/>
                </a:solidFill>
                <a:effectLst/>
                <a:latin typeface="Consolas" pitchFamily="49" charset="0"/>
                <a:cs typeface="Arial" pitchFamily="34" charset="0"/>
              </a:rPr>
              <a:t>"</a:t>
            </a:r>
            <a:r>
              <a:rPr kumimoji="0" lang="en-US" sz="1400" b="0" i="0" u="none" strike="noStrike" cap="none" normalizeH="0" baseline="0" dirty="0" err="1" smtClean="0">
                <a:ln>
                  <a:noFill/>
                </a:ln>
                <a:solidFill>
                  <a:srgbClr val="BA2121"/>
                </a:solidFill>
                <a:effectLst/>
                <a:latin typeface="Consolas" pitchFamily="49" charset="0"/>
                <a:cs typeface="Arial" pitchFamily="34" charset="0"/>
              </a:rPr>
              <a:t>user_name</a:t>
            </a:r>
            <a:r>
              <a:rPr kumimoji="0" lang="en-US" sz="1400" b="0" i="0" u="none" strike="noStrike" cap="none" normalizeH="0" baseline="0" dirty="0" smtClean="0">
                <a:ln>
                  <a:noFill/>
                </a:ln>
                <a:solidFill>
                  <a:srgbClr val="BA2121"/>
                </a:solidFill>
                <a:effectLst/>
                <a:latin typeface="Consolas" pitchFamily="49" charset="0"/>
                <a:cs typeface="Arial" pitchFamily="34" charset="0"/>
              </a:rPr>
              <a:t>"</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err="1" smtClean="0">
                <a:ln>
                  <a:noFill/>
                </a:ln>
                <a:solidFill>
                  <a:schemeClr val="tx1"/>
                </a:solidFill>
                <a:effectLst/>
                <a:latin typeface="Consolas" pitchFamily="49" charset="0"/>
              </a:rPr>
              <a:t>nameEditText</a:t>
            </a:r>
            <a:r>
              <a:rPr kumimoji="0" lang="en-US" sz="1400" b="0" i="0" u="none" strike="noStrike" cap="none" normalizeH="0" baseline="0" dirty="0" err="1"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rgbClr val="687822"/>
                </a:solidFill>
                <a:effectLst/>
                <a:latin typeface="Consolas" pitchFamily="49" charset="0"/>
                <a:cs typeface="Arial" pitchFamily="34" charset="0"/>
              </a:rPr>
              <a:t>getText</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rgbClr val="687822"/>
                </a:solidFill>
                <a:effectLst/>
                <a:latin typeface="Consolas" pitchFamily="49" charset="0"/>
                <a:cs typeface="Arial" pitchFamily="34" charset="0"/>
              </a:rPr>
              <a:t>toString</a:t>
            </a:r>
            <a:r>
              <a:rPr kumimoji="0" lang="en-US" sz="1400" b="0" i="0" u="none" strike="noStrike" cap="none" normalizeH="0" baseline="0" dirty="0" smtClean="0">
                <a:ln>
                  <a:noFill/>
                </a:ln>
                <a:solidFill>
                  <a:schemeClr val="tx1"/>
                </a:solidFill>
                <a:effectLst/>
                <a:latin typeface="Consolas" pitchFamily="49" charset="0"/>
                <a:cs typeface="Arial" pitchFamily="34" charset="0"/>
              </a:rPr>
              <a:t>()); </a:t>
            </a:r>
          </a:p>
          <a:p>
            <a:pPr marL="0" marR="0" lvl="0" indent="0" algn="l" defTabSz="914400" rtl="0" eaLnBrk="0" fontAlgn="base" latinLnBrk="0" hangingPunct="0">
              <a:lnSpc>
                <a:spcPct val="150000"/>
              </a:lnSpc>
              <a:spcBef>
                <a:spcPct val="30000"/>
              </a:spcBef>
              <a:spcAft>
                <a:spcPct val="0"/>
              </a:spcAft>
              <a:buClrTx/>
              <a:buSzTx/>
              <a:buFontTx/>
              <a:buNone/>
              <a:tabLst/>
            </a:pPr>
            <a:r>
              <a:rPr kumimoji="0" lang="en-US" sz="1400" b="0" i="0" u="none" strike="noStrike" cap="none" normalizeH="0" baseline="0" dirty="0" smtClean="0">
                <a:ln>
                  <a:noFill/>
                </a:ln>
                <a:solidFill>
                  <a:schemeClr val="tx1"/>
                </a:solidFill>
                <a:effectLst/>
                <a:latin typeface="Consolas" pitchFamily="49" charset="0"/>
              </a:rPr>
              <a:t>String</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err="1" smtClean="0">
                <a:ln>
                  <a:noFill/>
                </a:ln>
                <a:solidFill>
                  <a:schemeClr val="tx1"/>
                </a:solidFill>
                <a:effectLst/>
                <a:latin typeface="Consolas" pitchFamily="49" charset="0"/>
              </a:rPr>
              <a:t>ageInput</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smtClean="0">
                <a:ln>
                  <a:noFill/>
                </a:ln>
                <a:solidFill>
                  <a:srgbClr val="666666"/>
                </a:solidFill>
                <a:effectLst/>
                <a:latin typeface="Consolas" pitchFamily="49" charset="0"/>
              </a:rPr>
              <a:t>=</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err="1" smtClean="0">
                <a:ln>
                  <a:noFill/>
                </a:ln>
                <a:solidFill>
                  <a:schemeClr val="tx1"/>
                </a:solidFill>
                <a:effectLst/>
                <a:latin typeface="Consolas" pitchFamily="49" charset="0"/>
              </a:rPr>
              <a:t>ageEditText</a:t>
            </a:r>
            <a:r>
              <a:rPr kumimoji="0" lang="en-US" sz="1400" b="0" i="0" u="none" strike="noStrike" cap="none" normalizeH="0" baseline="0" dirty="0" err="1"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rgbClr val="687822"/>
                </a:solidFill>
                <a:effectLst/>
                <a:latin typeface="Consolas" pitchFamily="49" charset="0"/>
                <a:cs typeface="Arial" pitchFamily="34" charset="0"/>
              </a:rPr>
              <a:t>getText</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rgbClr val="687822"/>
                </a:solidFill>
                <a:effectLst/>
                <a:latin typeface="Consolas" pitchFamily="49" charset="0"/>
                <a:cs typeface="Arial" pitchFamily="34" charset="0"/>
              </a:rPr>
              <a:t>toString</a:t>
            </a:r>
            <a:r>
              <a:rPr kumimoji="0" lang="en-US" sz="1400" b="0" i="0" u="none" strike="noStrike" cap="none" normalizeH="0" baseline="0" dirty="0" smtClean="0">
                <a:ln>
                  <a:noFill/>
                </a:ln>
                <a:solidFill>
                  <a:schemeClr val="tx1"/>
                </a:solidFill>
                <a:effectLst/>
                <a:latin typeface="Consolas" pitchFamily="49" charset="0"/>
                <a:cs typeface="Arial" pitchFamily="34" charset="0"/>
              </a:rPr>
              <a:t>(); </a:t>
            </a:r>
          </a:p>
          <a:p>
            <a:pPr marL="0" marR="0" lvl="0" indent="0" algn="l" defTabSz="914400" rtl="0" eaLnBrk="0" fontAlgn="base" latinLnBrk="0" hangingPunct="0">
              <a:lnSpc>
                <a:spcPct val="150000"/>
              </a:lnSpc>
              <a:spcBef>
                <a:spcPct val="30000"/>
              </a:spcBef>
              <a:spcAft>
                <a:spcPct val="0"/>
              </a:spcAft>
              <a:buClrTx/>
              <a:buSzTx/>
              <a:buFontTx/>
              <a:buNone/>
              <a:tabLst/>
            </a:pPr>
            <a:r>
              <a:rPr kumimoji="0" lang="en-US" sz="1400" b="0" i="0" u="none" strike="noStrike" cap="none" normalizeH="0" baseline="0" dirty="0" err="1" smtClean="0">
                <a:ln>
                  <a:noFill/>
                </a:ln>
                <a:solidFill>
                  <a:srgbClr val="B00040"/>
                </a:solidFill>
                <a:effectLst/>
                <a:latin typeface="Consolas" pitchFamily="49" charset="0"/>
                <a:cs typeface="Arial" pitchFamily="34" charset="0"/>
              </a:rPr>
              <a:t>int</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err="1" smtClean="0">
                <a:ln>
                  <a:noFill/>
                </a:ln>
                <a:solidFill>
                  <a:schemeClr val="tx1"/>
                </a:solidFill>
                <a:effectLst/>
                <a:latin typeface="Consolas" pitchFamily="49" charset="0"/>
              </a:rPr>
              <a:t>userAge</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smtClean="0">
                <a:ln>
                  <a:noFill/>
                </a:ln>
                <a:solidFill>
                  <a:srgbClr val="666666"/>
                </a:solidFill>
                <a:effectLst/>
                <a:latin typeface="Consolas" pitchFamily="49" charset="0"/>
              </a:rPr>
              <a:t>=</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err="1" smtClean="0">
                <a:ln>
                  <a:noFill/>
                </a:ln>
                <a:solidFill>
                  <a:schemeClr val="tx1"/>
                </a:solidFill>
                <a:effectLst/>
                <a:latin typeface="Consolas" pitchFamily="49" charset="0"/>
              </a:rPr>
              <a:t>ageInput</a:t>
            </a:r>
            <a:r>
              <a:rPr kumimoji="0" lang="en-US" sz="1400" b="0" i="0" u="none" strike="noStrike" cap="none" normalizeH="0" baseline="0" dirty="0" err="1"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rgbClr val="687822"/>
                </a:solidFill>
                <a:effectLst/>
                <a:latin typeface="Consolas" pitchFamily="49" charset="0"/>
                <a:cs typeface="Arial" pitchFamily="34" charset="0"/>
              </a:rPr>
              <a:t>isEmpty</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smtClean="0">
                <a:ln>
                  <a:noFill/>
                </a:ln>
                <a:solidFill>
                  <a:srgbClr val="666666"/>
                </a:solidFill>
                <a:effectLst/>
                <a:latin typeface="Consolas" pitchFamily="49" charset="0"/>
              </a:rPr>
              <a:t>?</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smtClean="0">
                <a:ln>
                  <a:noFill/>
                </a:ln>
                <a:solidFill>
                  <a:srgbClr val="666666"/>
                </a:solidFill>
                <a:effectLst/>
                <a:latin typeface="Consolas" pitchFamily="49" charset="0"/>
                <a:cs typeface="Arial" pitchFamily="34" charset="0"/>
              </a:rPr>
              <a:t>0</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err="1" smtClean="0">
                <a:ln>
                  <a:noFill/>
                </a:ln>
                <a:solidFill>
                  <a:schemeClr val="tx1"/>
                </a:solidFill>
                <a:effectLst/>
                <a:latin typeface="Consolas" pitchFamily="49" charset="0"/>
              </a:rPr>
              <a:t>Integer</a:t>
            </a:r>
            <a:r>
              <a:rPr kumimoji="0" lang="en-US" sz="1400" b="0" i="0" u="none" strike="noStrike" cap="none" normalizeH="0" baseline="0" dirty="0" err="1"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rgbClr val="687822"/>
                </a:solidFill>
                <a:effectLst/>
                <a:latin typeface="Consolas" pitchFamily="49" charset="0"/>
                <a:cs typeface="Arial" pitchFamily="34" charset="0"/>
              </a:rPr>
              <a:t>parseInt</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chemeClr val="tx1"/>
                </a:solidFill>
                <a:effectLst/>
                <a:latin typeface="Consolas" pitchFamily="49" charset="0"/>
              </a:rPr>
              <a:t>ageInput</a:t>
            </a:r>
            <a:r>
              <a:rPr kumimoji="0" lang="en-US" sz="1400" b="0" i="0" u="none" strike="noStrike" cap="none" normalizeH="0" baseline="0" dirty="0" smtClean="0">
                <a:ln>
                  <a:noFill/>
                </a:ln>
                <a:solidFill>
                  <a:schemeClr val="tx1"/>
                </a:solidFill>
                <a:effectLst/>
                <a:latin typeface="Consolas" pitchFamily="49" charset="0"/>
                <a:cs typeface="Arial" pitchFamily="34" charset="0"/>
              </a:rPr>
              <a:t>); </a:t>
            </a:r>
          </a:p>
          <a:p>
            <a:pPr marL="0" marR="0" lvl="0" indent="0" algn="l" defTabSz="914400" rtl="0" eaLnBrk="0" fontAlgn="base" latinLnBrk="0" hangingPunct="0">
              <a:lnSpc>
                <a:spcPct val="150000"/>
              </a:lnSpc>
              <a:spcBef>
                <a:spcPct val="30000"/>
              </a:spcBef>
              <a:spcAft>
                <a:spcPct val="0"/>
              </a:spcAft>
              <a:buClrTx/>
              <a:buSzTx/>
              <a:buFontTx/>
              <a:buNone/>
              <a:tabLst/>
            </a:pPr>
            <a:r>
              <a:rPr kumimoji="0" lang="en-US" sz="1400" b="0" i="0" u="none" strike="noStrike" cap="none" normalizeH="0" baseline="0" dirty="0" err="1" smtClean="0">
                <a:ln>
                  <a:noFill/>
                </a:ln>
                <a:solidFill>
                  <a:schemeClr val="tx1"/>
                </a:solidFill>
                <a:effectLst/>
                <a:latin typeface="Consolas" pitchFamily="49" charset="0"/>
              </a:rPr>
              <a:t>editor</a:t>
            </a:r>
            <a:r>
              <a:rPr kumimoji="0" lang="en-US" sz="1400" b="0" i="0" u="none" strike="noStrike" cap="none" normalizeH="0" baseline="0" dirty="0" err="1"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rgbClr val="687822"/>
                </a:solidFill>
                <a:effectLst/>
                <a:latin typeface="Consolas" pitchFamily="49" charset="0"/>
                <a:cs typeface="Arial" pitchFamily="34" charset="0"/>
              </a:rPr>
              <a:t>putInt</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r>
              <a:rPr kumimoji="0" lang="en-US" sz="1400" b="0" i="0" u="none" strike="noStrike" cap="none" normalizeH="0" baseline="0" dirty="0" smtClean="0">
                <a:ln>
                  <a:noFill/>
                </a:ln>
                <a:solidFill>
                  <a:srgbClr val="BA2121"/>
                </a:solidFill>
                <a:effectLst/>
                <a:latin typeface="Consolas" pitchFamily="49" charset="0"/>
                <a:cs typeface="Arial" pitchFamily="34" charset="0"/>
              </a:rPr>
              <a:t>"</a:t>
            </a:r>
            <a:r>
              <a:rPr kumimoji="0" lang="en-US" sz="1400" b="0" i="0" u="none" strike="noStrike" cap="none" normalizeH="0" baseline="0" dirty="0" err="1" smtClean="0">
                <a:ln>
                  <a:noFill/>
                </a:ln>
                <a:solidFill>
                  <a:srgbClr val="BA2121"/>
                </a:solidFill>
                <a:effectLst/>
                <a:latin typeface="Consolas" pitchFamily="49" charset="0"/>
                <a:cs typeface="Arial" pitchFamily="34" charset="0"/>
              </a:rPr>
              <a:t>user_age</a:t>
            </a:r>
            <a:r>
              <a:rPr kumimoji="0" lang="en-US" sz="1400" b="0" i="0" u="none" strike="noStrike" cap="none" normalizeH="0" baseline="0" dirty="0" smtClean="0">
                <a:ln>
                  <a:noFill/>
                </a:ln>
                <a:solidFill>
                  <a:srgbClr val="BA2121"/>
                </a:solidFill>
                <a:effectLst/>
                <a:latin typeface="Consolas" pitchFamily="49" charset="0"/>
                <a:cs typeface="Arial" pitchFamily="34" charset="0"/>
              </a:rPr>
              <a:t>"</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r>
              <a:rPr kumimoji="0" lang="en-US" sz="1400" b="0" i="0" u="none" strike="noStrike" cap="none" normalizeH="0" baseline="0" dirty="0" smtClean="0">
                <a:ln>
                  <a:noFill/>
                </a:ln>
                <a:solidFill>
                  <a:srgbClr val="BBBBBB"/>
                </a:solidFill>
                <a:effectLst/>
                <a:latin typeface="Consolas" pitchFamily="49" charset="0"/>
                <a:cs typeface="Arial" pitchFamily="34" charset="0"/>
              </a:rPr>
              <a:t> </a:t>
            </a:r>
            <a:r>
              <a:rPr kumimoji="0" lang="en-US" sz="1400" b="0" i="0" u="none" strike="noStrike" cap="none" normalizeH="0" baseline="0" dirty="0" err="1" smtClean="0">
                <a:ln>
                  <a:noFill/>
                </a:ln>
                <a:solidFill>
                  <a:schemeClr val="tx1"/>
                </a:solidFill>
                <a:effectLst/>
                <a:latin typeface="Consolas" pitchFamily="49" charset="0"/>
              </a:rPr>
              <a:t>userAge</a:t>
            </a:r>
            <a:r>
              <a:rPr kumimoji="0" lang="en-US" sz="1400" b="0" i="0" u="none" strike="noStrike" cap="none" normalizeH="0" baseline="0" dirty="0" smtClean="0">
                <a:ln>
                  <a:noFill/>
                </a:ln>
                <a:solidFill>
                  <a:schemeClr val="tx1"/>
                </a:solidFill>
                <a:effectLst/>
                <a:latin typeface="Consolas" pitchFamily="49" charset="0"/>
                <a:cs typeface="Arial" pitchFamily="34" charset="0"/>
              </a:rPr>
              <a:t>);</a:t>
            </a:r>
          </a:p>
          <a:p>
            <a:pPr marL="0" marR="0" lvl="0" indent="0" algn="l" defTabSz="914400" rtl="0" eaLnBrk="0" fontAlgn="base" latinLnBrk="0" hangingPunct="0">
              <a:lnSpc>
                <a:spcPct val="150000"/>
              </a:lnSpc>
              <a:spcBef>
                <a:spcPct val="30000"/>
              </a:spcBef>
              <a:spcAft>
                <a:spcPct val="0"/>
              </a:spcAft>
              <a:buClrTx/>
              <a:buSzTx/>
              <a:buFontTx/>
              <a:buNone/>
              <a:tabLst/>
            </a:pPr>
            <a:r>
              <a:rPr kumimoji="0" lang="en-US" sz="1400" b="0" i="0" u="none" strike="noStrike" cap="none" normalizeH="0" baseline="0" dirty="0" smtClean="0">
                <a:ln>
                  <a:noFill/>
                </a:ln>
                <a:solidFill>
                  <a:schemeClr val="tx1"/>
                </a:solidFill>
                <a:effectLst/>
                <a:latin typeface="Consolas" pitchFamily="49" charset="0"/>
                <a:cs typeface="Arial" pitchFamily="34" charset="0"/>
              </a:rPr>
              <a:t> </a:t>
            </a:r>
            <a:r>
              <a:rPr kumimoji="0" lang="en-US" sz="1400" b="0" i="0" u="none" strike="noStrike" cap="none" normalizeH="0" baseline="0" dirty="0" err="1" smtClean="0">
                <a:ln>
                  <a:noFill/>
                </a:ln>
                <a:solidFill>
                  <a:schemeClr val="tx1"/>
                </a:solidFill>
                <a:effectLst/>
                <a:latin typeface="Consolas" pitchFamily="49" charset="0"/>
              </a:rPr>
              <a:t>editor</a:t>
            </a:r>
            <a:r>
              <a:rPr kumimoji="0" lang="en-US" sz="1400" b="0" i="0" u="none" strike="noStrike" cap="none" normalizeH="0" baseline="0" dirty="0" err="1" smtClean="0">
                <a:ln>
                  <a:noFill/>
                </a:ln>
                <a:solidFill>
                  <a:schemeClr val="tx1"/>
                </a:solidFill>
                <a:effectLst/>
                <a:latin typeface="Consolas" pitchFamily="49" charset="0"/>
                <a:cs typeface="Arial" pitchFamily="34" charset="0"/>
              </a:rPr>
              <a:t>.</a:t>
            </a:r>
            <a:r>
              <a:rPr kumimoji="0" lang="en-US" sz="1400" b="0" i="0" u="none" strike="noStrike" cap="none" normalizeH="0" baseline="0" dirty="0" err="1" smtClean="0">
                <a:ln>
                  <a:noFill/>
                </a:ln>
                <a:solidFill>
                  <a:srgbClr val="687822"/>
                </a:solidFill>
                <a:effectLst/>
                <a:latin typeface="Consolas" pitchFamily="49" charset="0"/>
                <a:cs typeface="Arial" pitchFamily="34" charset="0"/>
              </a:rPr>
              <a:t>apply</a:t>
            </a:r>
            <a:r>
              <a:rPr kumimoji="0" lang="en-US" sz="1400" b="0" i="0" u="none" strike="noStrike" cap="none" normalizeH="0" baseline="0" dirty="0" smtClean="0">
                <a:ln>
                  <a:noFill/>
                </a:ln>
                <a:solidFill>
                  <a:schemeClr val="tx1"/>
                </a:solidFill>
                <a:effectLst/>
                <a:latin typeface="Consolas" pitchFamily="49" charset="0"/>
                <a:cs typeface="Arial" pitchFamily="34" charset="0"/>
              </a:rPr>
              <a:t>(); } }</a:t>
            </a:r>
            <a:r>
              <a:rPr kumimoji="0" lang="en-US" sz="1400" b="0" i="0" u="none" strike="noStrike" cap="none" normalizeH="0" baseline="0" dirty="0" smtClean="0">
                <a:ln>
                  <a:noFill/>
                </a:ln>
                <a:solidFill>
                  <a:schemeClr val="tx1"/>
                </a:solidFill>
                <a:effectLst/>
                <a:latin typeface="Arial" pitchFamily="34" charset="0"/>
                <a:cs typeface="Arial" pitchFamily="34" charset="0"/>
              </a:rPr>
              <a:t> </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124CA5A-05D8-E2B0-C9D6-7D8699412FCE}"/>
              </a:ext>
            </a:extLst>
          </p:cNvPr>
          <p:cNvSpPr>
            <a:spLocks noGrp="1"/>
          </p:cNvSpPr>
          <p:nvPr>
            <p:ph type="title"/>
          </p:nvPr>
        </p:nvSpPr>
        <p:spPr/>
        <p:txBody>
          <a:bodyPr/>
          <a:lstStyle/>
          <a:p>
            <a:r>
              <a:rPr lang="en-US" dirty="0"/>
              <a:t>Data Base in Android</a:t>
            </a:r>
            <a:endParaRPr lang="en-IN" dirty="0"/>
          </a:p>
        </p:txBody>
      </p:sp>
      <p:sp>
        <p:nvSpPr>
          <p:cNvPr id="3" name="Content Placeholder 2">
            <a:extLst>
              <a:ext uri="{FF2B5EF4-FFF2-40B4-BE49-F238E27FC236}">
                <a16:creationId xmlns="" xmlns:a16="http://schemas.microsoft.com/office/drawing/2014/main" id="{8B143CBD-83AB-D02A-C71B-F385C90E1043}"/>
              </a:ext>
            </a:extLst>
          </p:cNvPr>
          <p:cNvSpPr>
            <a:spLocks noGrp="1"/>
          </p:cNvSpPr>
          <p:nvPr>
            <p:ph idx="1"/>
          </p:nvPr>
        </p:nvSpPr>
        <p:spPr/>
        <p:txBody>
          <a:bodyPr/>
          <a:lstStyle/>
          <a:p>
            <a:pPr algn="just">
              <a:lnSpc>
                <a:spcPct val="150000"/>
              </a:lnSpc>
            </a:pPr>
            <a:r>
              <a:rPr lang="en-US" dirty="0"/>
              <a:t>In Android, a database is commonly used to store structured data persistently within the application. One of the most common ways to store data in Android is using </a:t>
            </a:r>
            <a:r>
              <a:rPr lang="en-US" b="1" dirty="0"/>
              <a:t>SQLite</a:t>
            </a:r>
            <a:r>
              <a:rPr lang="en-US" dirty="0"/>
              <a:t>, a lightweight, self-contained SQL database engine. SQLite is used because it doesn't require a separate server process or system to manage the database.</a:t>
            </a:r>
            <a:endParaRPr lang="en-IN" dirty="0"/>
          </a:p>
        </p:txBody>
      </p:sp>
    </p:spTree>
    <p:extLst>
      <p:ext uri="{BB962C8B-B14F-4D97-AF65-F5344CB8AC3E}">
        <p14:creationId xmlns="" xmlns:p14="http://schemas.microsoft.com/office/powerpoint/2010/main" val="1630962845"/>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43A2306-2E59-0D6A-6A29-7C397185EE2C}"/>
              </a:ext>
            </a:extLst>
          </p:cNvPr>
          <p:cNvSpPr>
            <a:spLocks noGrp="1"/>
          </p:cNvSpPr>
          <p:nvPr>
            <p:ph type="title"/>
          </p:nvPr>
        </p:nvSpPr>
        <p:spPr/>
        <p:txBody>
          <a:bodyPr/>
          <a:lstStyle/>
          <a:p>
            <a:r>
              <a:rPr lang="en-US" dirty="0"/>
              <a:t>Data Base in Android</a:t>
            </a:r>
            <a:endParaRPr lang="en-IN" dirty="0"/>
          </a:p>
        </p:txBody>
      </p:sp>
      <p:sp>
        <p:nvSpPr>
          <p:cNvPr id="3" name="Content Placeholder 2">
            <a:extLst>
              <a:ext uri="{FF2B5EF4-FFF2-40B4-BE49-F238E27FC236}">
                <a16:creationId xmlns="" xmlns:a16="http://schemas.microsoft.com/office/drawing/2014/main" id="{26F0F214-1135-FD30-B902-E72F213C71A0}"/>
              </a:ext>
            </a:extLst>
          </p:cNvPr>
          <p:cNvSpPr>
            <a:spLocks noGrp="1"/>
          </p:cNvSpPr>
          <p:nvPr>
            <p:ph idx="1"/>
          </p:nvPr>
        </p:nvSpPr>
        <p:spPr/>
        <p:txBody>
          <a:bodyPr/>
          <a:lstStyle/>
          <a:p>
            <a:r>
              <a:rPr lang="en-US" b="1" dirty="0"/>
              <a:t>Basic Concepts</a:t>
            </a:r>
          </a:p>
          <a:p>
            <a:pPr marL="457200" lvl="1" indent="0" algn="just">
              <a:lnSpc>
                <a:spcPct val="200000"/>
              </a:lnSpc>
              <a:buNone/>
            </a:pPr>
            <a:r>
              <a:rPr lang="en-US" b="1" dirty="0"/>
              <a:t>SQLite Database</a:t>
            </a:r>
            <a:r>
              <a:rPr lang="en-US" dirty="0"/>
              <a:t>: It is a relational database that stores data in tables (rows and columns).</a:t>
            </a:r>
          </a:p>
          <a:p>
            <a:pPr marL="457200" lvl="1" indent="0" algn="just">
              <a:lnSpc>
                <a:spcPct val="200000"/>
              </a:lnSpc>
              <a:buNone/>
            </a:pPr>
            <a:r>
              <a:rPr lang="en-US" b="1" dirty="0" err="1"/>
              <a:t>SQLiteOpenHelper</a:t>
            </a:r>
            <a:r>
              <a:rPr lang="en-US" dirty="0"/>
              <a:t>: This is a helper class that simplifies database management, such as creating or upgrading databases.</a:t>
            </a:r>
          </a:p>
          <a:p>
            <a:endParaRPr lang="en-IN" dirty="0"/>
          </a:p>
        </p:txBody>
      </p:sp>
    </p:spTree>
    <p:extLst>
      <p:ext uri="{BB962C8B-B14F-4D97-AF65-F5344CB8AC3E}">
        <p14:creationId xmlns="" xmlns:p14="http://schemas.microsoft.com/office/powerpoint/2010/main" val="735634251"/>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56C4AF8-FA5B-23B8-03B4-E5C89442900A}"/>
              </a:ext>
            </a:extLst>
          </p:cNvPr>
          <p:cNvSpPr>
            <a:spLocks noGrp="1"/>
          </p:cNvSpPr>
          <p:nvPr>
            <p:ph type="title"/>
          </p:nvPr>
        </p:nvSpPr>
        <p:spPr/>
        <p:txBody>
          <a:bodyPr/>
          <a:lstStyle/>
          <a:p>
            <a:r>
              <a:rPr lang="en-US" b="1" dirty="0"/>
              <a:t>Steps to create data base:</a:t>
            </a:r>
            <a:br>
              <a:rPr lang="en-US" b="1" dirty="0"/>
            </a:br>
            <a:endParaRPr lang="en-IN" dirty="0"/>
          </a:p>
        </p:txBody>
      </p:sp>
      <p:sp>
        <p:nvSpPr>
          <p:cNvPr id="3" name="Content Placeholder 2">
            <a:extLst>
              <a:ext uri="{FF2B5EF4-FFF2-40B4-BE49-F238E27FC236}">
                <a16:creationId xmlns="" xmlns:a16="http://schemas.microsoft.com/office/drawing/2014/main" id="{81A59588-603F-AC92-0CC4-F7E4D8D03ED9}"/>
              </a:ext>
            </a:extLst>
          </p:cNvPr>
          <p:cNvSpPr>
            <a:spLocks noGrp="1"/>
          </p:cNvSpPr>
          <p:nvPr>
            <p:ph idx="1"/>
          </p:nvPr>
        </p:nvSpPr>
        <p:spPr/>
        <p:txBody>
          <a:bodyPr/>
          <a:lstStyle/>
          <a:p>
            <a:pPr lvl="1">
              <a:lnSpc>
                <a:spcPct val="200000"/>
              </a:lnSpc>
              <a:buFont typeface="+mj-lt"/>
              <a:buAutoNum type="arabicPeriod"/>
            </a:pPr>
            <a:r>
              <a:rPr lang="en-US" dirty="0"/>
              <a:t>Create a database helper class to manage the SQLite database.</a:t>
            </a:r>
          </a:p>
          <a:p>
            <a:pPr lvl="1">
              <a:lnSpc>
                <a:spcPct val="200000"/>
              </a:lnSpc>
              <a:buFont typeface="+mj-lt"/>
              <a:buAutoNum type="arabicPeriod"/>
            </a:pPr>
            <a:r>
              <a:rPr lang="en-US" dirty="0"/>
              <a:t>Create a model class to represent the data (User).</a:t>
            </a:r>
          </a:p>
          <a:p>
            <a:pPr lvl="1">
              <a:lnSpc>
                <a:spcPct val="200000"/>
              </a:lnSpc>
              <a:buFont typeface="+mj-lt"/>
              <a:buAutoNum type="arabicPeriod"/>
            </a:pPr>
            <a:r>
              <a:rPr lang="en-US" dirty="0"/>
              <a:t>Insert data into the database and retrieve data from it.</a:t>
            </a:r>
          </a:p>
          <a:p>
            <a:endParaRPr lang="en-IN" dirty="0"/>
          </a:p>
        </p:txBody>
      </p:sp>
    </p:spTree>
    <p:extLst>
      <p:ext uri="{BB962C8B-B14F-4D97-AF65-F5344CB8AC3E}">
        <p14:creationId xmlns="" xmlns:p14="http://schemas.microsoft.com/office/powerpoint/2010/main" val="1713616080"/>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6B8B77-EB25-24CD-4DDF-B03D1EE64D37}"/>
              </a:ext>
            </a:extLst>
          </p:cNvPr>
          <p:cNvSpPr>
            <a:spLocks noGrp="1"/>
          </p:cNvSpPr>
          <p:nvPr>
            <p:ph type="title"/>
          </p:nvPr>
        </p:nvSpPr>
        <p:spPr>
          <a:xfrm>
            <a:off x="925758" y="365125"/>
            <a:ext cx="10428041" cy="458403"/>
          </a:xfrm>
        </p:spPr>
        <p:txBody>
          <a:bodyPr>
            <a:normAutofit fontScale="90000"/>
          </a:bodyPr>
          <a:lstStyle/>
          <a:p>
            <a:r>
              <a:rPr lang="en-US" dirty="0"/>
              <a:t>Create a Database Helper Class</a:t>
            </a:r>
            <a:endParaRPr lang="en-IN" dirty="0"/>
          </a:p>
        </p:txBody>
      </p:sp>
      <p:sp>
        <p:nvSpPr>
          <p:cNvPr id="3" name="Content Placeholder 2">
            <a:extLst>
              <a:ext uri="{FF2B5EF4-FFF2-40B4-BE49-F238E27FC236}">
                <a16:creationId xmlns="" xmlns:a16="http://schemas.microsoft.com/office/drawing/2014/main" id="{A5D7E4D0-C9E2-6155-0318-563E955FF121}"/>
              </a:ext>
            </a:extLst>
          </p:cNvPr>
          <p:cNvSpPr>
            <a:spLocks noGrp="1"/>
          </p:cNvSpPr>
          <p:nvPr>
            <p:ph idx="1"/>
          </p:nvPr>
        </p:nvSpPr>
        <p:spPr>
          <a:xfrm>
            <a:off x="778092" y="1033670"/>
            <a:ext cx="10575708" cy="5696541"/>
          </a:xfrm>
        </p:spPr>
        <p:txBody>
          <a:bodyPr>
            <a:normAutofit fontScale="25000" lnSpcReduction="20000"/>
          </a:bodyPr>
          <a:lstStyle/>
          <a:p>
            <a:pPr marL="0" indent="0">
              <a:buNone/>
            </a:pPr>
            <a:r>
              <a:rPr lang="en-IN" sz="4300" b="1" dirty="0">
                <a:latin typeface="Times New Roman" panose="02020603050405020304" pitchFamily="18" charset="0"/>
                <a:cs typeface="Times New Roman" panose="02020603050405020304" pitchFamily="18" charset="0"/>
              </a:rPr>
              <a:t>import </a:t>
            </a:r>
            <a:r>
              <a:rPr lang="en-IN" sz="4300" b="1" dirty="0" err="1">
                <a:latin typeface="Times New Roman" panose="02020603050405020304" pitchFamily="18" charset="0"/>
                <a:cs typeface="Times New Roman" panose="02020603050405020304" pitchFamily="18" charset="0"/>
              </a:rPr>
              <a:t>android.content.Context</a:t>
            </a:r>
            <a:r>
              <a:rPr lang="en-IN" sz="4300" b="1" dirty="0">
                <a:latin typeface="Times New Roman" panose="02020603050405020304" pitchFamily="18" charset="0"/>
                <a:cs typeface="Times New Roman" panose="02020603050405020304" pitchFamily="18" charset="0"/>
              </a:rPr>
              <a:t>;</a:t>
            </a:r>
          </a:p>
          <a:p>
            <a:pPr marL="0" indent="0">
              <a:buNone/>
            </a:pPr>
            <a:r>
              <a:rPr lang="en-IN" sz="4300" b="1" dirty="0">
                <a:latin typeface="Times New Roman" panose="02020603050405020304" pitchFamily="18" charset="0"/>
                <a:cs typeface="Times New Roman" panose="02020603050405020304" pitchFamily="18" charset="0"/>
              </a:rPr>
              <a:t>import </a:t>
            </a:r>
            <a:r>
              <a:rPr lang="en-IN" sz="4300" b="1" dirty="0" err="1">
                <a:latin typeface="Times New Roman" panose="02020603050405020304" pitchFamily="18" charset="0"/>
                <a:cs typeface="Times New Roman" panose="02020603050405020304" pitchFamily="18" charset="0"/>
              </a:rPr>
              <a:t>android.database.sqlite.SQLiteDatabase</a:t>
            </a:r>
            <a:r>
              <a:rPr lang="en-IN" sz="4300" b="1" dirty="0">
                <a:latin typeface="Times New Roman" panose="02020603050405020304" pitchFamily="18" charset="0"/>
                <a:cs typeface="Times New Roman" panose="02020603050405020304" pitchFamily="18" charset="0"/>
              </a:rPr>
              <a:t>;</a:t>
            </a:r>
          </a:p>
          <a:p>
            <a:pPr marL="0" indent="0">
              <a:buNone/>
            </a:pPr>
            <a:r>
              <a:rPr lang="en-IN" sz="4300" b="1" dirty="0">
                <a:latin typeface="Times New Roman" panose="02020603050405020304" pitchFamily="18" charset="0"/>
                <a:cs typeface="Times New Roman" panose="02020603050405020304" pitchFamily="18" charset="0"/>
              </a:rPr>
              <a:t>import </a:t>
            </a:r>
            <a:r>
              <a:rPr lang="en-IN" sz="4300" b="1" dirty="0" err="1">
                <a:latin typeface="Times New Roman" panose="02020603050405020304" pitchFamily="18" charset="0"/>
                <a:cs typeface="Times New Roman" panose="02020603050405020304" pitchFamily="18" charset="0"/>
              </a:rPr>
              <a:t>android.database.sqlite.SQLiteOpenHelper</a:t>
            </a:r>
            <a:r>
              <a:rPr lang="en-IN" sz="4300" b="1" dirty="0">
                <a:latin typeface="Times New Roman" panose="02020603050405020304" pitchFamily="18" charset="0"/>
                <a:cs typeface="Times New Roman" panose="02020603050405020304" pitchFamily="18" charset="0"/>
              </a:rPr>
              <a:t>;</a:t>
            </a:r>
          </a:p>
          <a:p>
            <a:pPr marL="0" indent="0">
              <a:buNone/>
            </a:pPr>
            <a:endParaRPr lang="en-IN" sz="4300" b="1" dirty="0">
              <a:latin typeface="Times New Roman" panose="02020603050405020304" pitchFamily="18" charset="0"/>
              <a:cs typeface="Times New Roman" panose="02020603050405020304" pitchFamily="18" charset="0"/>
            </a:endParaRPr>
          </a:p>
          <a:p>
            <a:pPr marL="0" indent="0">
              <a:buNone/>
            </a:pPr>
            <a:r>
              <a:rPr lang="en-IN" sz="4300" b="1" dirty="0">
                <a:latin typeface="Times New Roman" panose="02020603050405020304" pitchFamily="18" charset="0"/>
                <a:cs typeface="Times New Roman" panose="02020603050405020304" pitchFamily="18" charset="0"/>
              </a:rPr>
              <a:t>public class </a:t>
            </a:r>
            <a:r>
              <a:rPr lang="en-IN" sz="4300" b="1" dirty="0" err="1">
                <a:latin typeface="Times New Roman" panose="02020603050405020304" pitchFamily="18" charset="0"/>
                <a:cs typeface="Times New Roman" panose="02020603050405020304" pitchFamily="18" charset="0"/>
              </a:rPr>
              <a:t>DatabaseHelper</a:t>
            </a:r>
            <a:r>
              <a:rPr lang="en-IN" sz="4300" b="1" dirty="0">
                <a:latin typeface="Times New Roman" panose="02020603050405020304" pitchFamily="18" charset="0"/>
                <a:cs typeface="Times New Roman" panose="02020603050405020304" pitchFamily="18" charset="0"/>
              </a:rPr>
              <a:t> extends </a:t>
            </a:r>
            <a:r>
              <a:rPr lang="en-IN" sz="4300" b="1" dirty="0" err="1">
                <a:latin typeface="Times New Roman" panose="02020603050405020304" pitchFamily="18" charset="0"/>
                <a:cs typeface="Times New Roman" panose="02020603050405020304" pitchFamily="18" charset="0"/>
              </a:rPr>
              <a:t>SQLiteOpenHelper</a:t>
            </a:r>
            <a:r>
              <a:rPr lang="en-IN" sz="4300" b="1" dirty="0">
                <a:latin typeface="Times New Roman" panose="02020603050405020304" pitchFamily="18" charset="0"/>
                <a:cs typeface="Times New Roman" panose="02020603050405020304" pitchFamily="18" charset="0"/>
              </a:rPr>
              <a:t> {</a:t>
            </a:r>
          </a:p>
          <a:p>
            <a:pPr marL="0" indent="0">
              <a:buNone/>
            </a:pPr>
            <a:r>
              <a:rPr lang="en-IN" sz="4300" b="1" dirty="0">
                <a:latin typeface="Times New Roman" panose="02020603050405020304" pitchFamily="18" charset="0"/>
                <a:cs typeface="Times New Roman" panose="02020603050405020304" pitchFamily="18" charset="0"/>
              </a:rPr>
              <a:t>    </a:t>
            </a:r>
          </a:p>
          <a:p>
            <a:pPr marL="0" indent="0">
              <a:buNone/>
            </a:pPr>
            <a:r>
              <a:rPr lang="en-IN" sz="4300" b="1" dirty="0">
                <a:latin typeface="Times New Roman" panose="02020603050405020304" pitchFamily="18" charset="0"/>
                <a:cs typeface="Times New Roman" panose="02020603050405020304" pitchFamily="18" charset="0"/>
              </a:rPr>
              <a:t>    // Database Info</a:t>
            </a:r>
          </a:p>
          <a:p>
            <a:pPr marL="0" indent="0">
              <a:buNone/>
            </a:pPr>
            <a:r>
              <a:rPr lang="en-IN" sz="4300" b="1" dirty="0">
                <a:latin typeface="Times New Roman" panose="02020603050405020304" pitchFamily="18" charset="0"/>
                <a:cs typeface="Times New Roman" panose="02020603050405020304" pitchFamily="18" charset="0"/>
              </a:rPr>
              <a:t>    private static final String DATABASE_NAME = "</a:t>
            </a:r>
            <a:r>
              <a:rPr lang="en-IN" sz="4300" b="1" dirty="0" err="1">
                <a:latin typeface="Times New Roman" panose="02020603050405020304" pitchFamily="18" charset="0"/>
                <a:cs typeface="Times New Roman" panose="02020603050405020304" pitchFamily="18" charset="0"/>
              </a:rPr>
              <a:t>user_db</a:t>
            </a:r>
            <a:r>
              <a:rPr lang="en-IN" sz="4300" b="1" dirty="0">
                <a:latin typeface="Times New Roman" panose="02020603050405020304" pitchFamily="18" charset="0"/>
                <a:cs typeface="Times New Roman" panose="02020603050405020304" pitchFamily="18" charset="0"/>
              </a:rPr>
              <a:t>";</a:t>
            </a:r>
          </a:p>
          <a:p>
            <a:pPr marL="0" indent="0">
              <a:buNone/>
            </a:pPr>
            <a:r>
              <a:rPr lang="en-IN" sz="4300" b="1" dirty="0">
                <a:latin typeface="Times New Roman" panose="02020603050405020304" pitchFamily="18" charset="0"/>
                <a:cs typeface="Times New Roman" panose="02020603050405020304" pitchFamily="18" charset="0"/>
              </a:rPr>
              <a:t>    private static final int DATABASE_VERSION = 1;</a:t>
            </a:r>
          </a:p>
          <a:p>
            <a:pPr marL="0" indent="0">
              <a:buNone/>
            </a:pPr>
            <a:r>
              <a:rPr lang="en-IN" sz="4300" b="1" dirty="0">
                <a:latin typeface="Times New Roman" panose="02020603050405020304" pitchFamily="18" charset="0"/>
                <a:cs typeface="Times New Roman" panose="02020603050405020304" pitchFamily="18" charset="0"/>
              </a:rPr>
              <a:t>    </a:t>
            </a:r>
          </a:p>
          <a:p>
            <a:pPr marL="0" indent="0">
              <a:buNone/>
            </a:pPr>
            <a:r>
              <a:rPr lang="en-IN" sz="4300" b="1" dirty="0">
                <a:latin typeface="Times New Roman" panose="02020603050405020304" pitchFamily="18" charset="0"/>
                <a:cs typeface="Times New Roman" panose="02020603050405020304" pitchFamily="18" charset="0"/>
              </a:rPr>
              <a:t>    // Table Info</a:t>
            </a:r>
          </a:p>
          <a:p>
            <a:pPr marL="0" indent="0">
              <a:buNone/>
            </a:pPr>
            <a:r>
              <a:rPr lang="en-IN" sz="4300" b="1" dirty="0">
                <a:latin typeface="Times New Roman" panose="02020603050405020304" pitchFamily="18" charset="0"/>
                <a:cs typeface="Times New Roman" panose="02020603050405020304" pitchFamily="18" charset="0"/>
              </a:rPr>
              <a:t>    public static final String TABLE_USER = "user";</a:t>
            </a:r>
          </a:p>
          <a:p>
            <a:pPr marL="0" indent="0">
              <a:buNone/>
            </a:pPr>
            <a:r>
              <a:rPr lang="en-IN" sz="4300" b="1" dirty="0">
                <a:latin typeface="Times New Roman" panose="02020603050405020304" pitchFamily="18" charset="0"/>
                <a:cs typeface="Times New Roman" panose="02020603050405020304" pitchFamily="18" charset="0"/>
              </a:rPr>
              <a:t>    public static final String COLUMN_ID = "id";</a:t>
            </a:r>
          </a:p>
          <a:p>
            <a:pPr marL="0" indent="0">
              <a:buNone/>
            </a:pPr>
            <a:r>
              <a:rPr lang="en-IN" sz="4300" b="1" dirty="0">
                <a:latin typeface="Times New Roman" panose="02020603050405020304" pitchFamily="18" charset="0"/>
                <a:cs typeface="Times New Roman" panose="02020603050405020304" pitchFamily="18" charset="0"/>
              </a:rPr>
              <a:t>    public static final String COLUMN_NAME = "name";</a:t>
            </a:r>
          </a:p>
          <a:p>
            <a:pPr marL="0" indent="0">
              <a:buNone/>
            </a:pPr>
            <a:r>
              <a:rPr lang="en-IN" sz="4300" b="1" dirty="0">
                <a:latin typeface="Times New Roman" panose="02020603050405020304" pitchFamily="18" charset="0"/>
                <a:cs typeface="Times New Roman" panose="02020603050405020304" pitchFamily="18" charset="0"/>
              </a:rPr>
              <a:t>    public static final String COLUMN_EMAIL = "email";</a:t>
            </a:r>
          </a:p>
          <a:p>
            <a:pPr marL="0" indent="0">
              <a:buNone/>
            </a:pPr>
            <a:r>
              <a:rPr lang="en-IN" sz="4300" b="1" dirty="0">
                <a:latin typeface="Times New Roman" panose="02020603050405020304" pitchFamily="18" charset="0"/>
                <a:cs typeface="Times New Roman" panose="02020603050405020304" pitchFamily="18" charset="0"/>
              </a:rPr>
              <a:t>    </a:t>
            </a:r>
          </a:p>
          <a:p>
            <a:pPr marL="0" indent="0">
              <a:buNone/>
            </a:pPr>
            <a:r>
              <a:rPr lang="en-IN" sz="4300" b="1" dirty="0">
                <a:latin typeface="Times New Roman" panose="02020603050405020304" pitchFamily="18" charset="0"/>
                <a:cs typeface="Times New Roman" panose="02020603050405020304" pitchFamily="18" charset="0"/>
              </a:rPr>
              <a:t>    // Create table SQL query</a:t>
            </a:r>
          </a:p>
          <a:p>
            <a:pPr marL="0" indent="0">
              <a:buNone/>
            </a:pPr>
            <a:r>
              <a:rPr lang="en-IN" sz="4300" b="1" dirty="0">
                <a:latin typeface="Times New Roman" panose="02020603050405020304" pitchFamily="18" charset="0"/>
                <a:cs typeface="Times New Roman" panose="02020603050405020304" pitchFamily="18" charset="0"/>
              </a:rPr>
              <a:t>    private static final String TABLE_CREATE =</a:t>
            </a:r>
          </a:p>
          <a:p>
            <a:pPr marL="0" indent="0">
              <a:buNone/>
            </a:pPr>
            <a:r>
              <a:rPr lang="en-IN" sz="4300" b="1" dirty="0">
                <a:latin typeface="Times New Roman" panose="02020603050405020304" pitchFamily="18" charset="0"/>
                <a:cs typeface="Times New Roman" panose="02020603050405020304" pitchFamily="18" charset="0"/>
              </a:rPr>
              <a:t>            "CREATE TABLE " + TABLE_USER + " (" +</a:t>
            </a:r>
          </a:p>
          <a:p>
            <a:pPr marL="0" indent="0">
              <a:buNone/>
            </a:pPr>
            <a:r>
              <a:rPr lang="en-IN" sz="4300" b="1" dirty="0">
                <a:latin typeface="Times New Roman" panose="02020603050405020304" pitchFamily="18" charset="0"/>
                <a:cs typeface="Times New Roman" panose="02020603050405020304" pitchFamily="18" charset="0"/>
              </a:rPr>
              <a:t>                    COLUMN_ID + " INTEGER PRIMARY KEY AUTOINCREMENT, " +</a:t>
            </a:r>
          </a:p>
          <a:p>
            <a:pPr marL="0" indent="0">
              <a:buNone/>
            </a:pPr>
            <a:r>
              <a:rPr lang="en-IN" sz="4300" b="1" dirty="0">
                <a:latin typeface="Times New Roman" panose="02020603050405020304" pitchFamily="18" charset="0"/>
                <a:cs typeface="Times New Roman" panose="02020603050405020304" pitchFamily="18" charset="0"/>
              </a:rPr>
              <a:t>                    COLUMN_NAME + " TEXT, " +</a:t>
            </a:r>
          </a:p>
          <a:p>
            <a:pPr marL="0" indent="0">
              <a:buNone/>
            </a:pPr>
            <a:r>
              <a:rPr lang="en-IN" sz="4300" b="1" dirty="0">
                <a:latin typeface="Times New Roman" panose="02020603050405020304" pitchFamily="18" charset="0"/>
                <a:cs typeface="Times New Roman" panose="02020603050405020304" pitchFamily="18" charset="0"/>
              </a:rPr>
              <a:t>                    COLUMN_EMAIL + " TEXT);";</a:t>
            </a:r>
          </a:p>
          <a:p>
            <a:pPr marL="0" indent="0">
              <a:buNone/>
            </a:pPr>
            <a:r>
              <a:rPr lang="en-IN" sz="4300" b="1" dirty="0">
                <a:latin typeface="Times New Roman" panose="02020603050405020304" pitchFamily="18" charset="0"/>
                <a:cs typeface="Times New Roman" panose="02020603050405020304" pitchFamily="18" charset="0"/>
              </a:rPr>
              <a:t>    </a:t>
            </a:r>
          </a:p>
          <a:p>
            <a:endParaRPr lang="en-IN" dirty="0"/>
          </a:p>
        </p:txBody>
      </p:sp>
    </p:spTree>
    <p:extLst>
      <p:ext uri="{BB962C8B-B14F-4D97-AF65-F5344CB8AC3E}">
        <p14:creationId xmlns="" xmlns:p14="http://schemas.microsoft.com/office/powerpoint/2010/main" val="1262628256"/>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40D3705-CDD2-957E-2622-13FAD11E62DC}"/>
              </a:ext>
            </a:extLst>
          </p:cNvPr>
          <p:cNvSpPr>
            <a:spLocks noGrp="1"/>
          </p:cNvSpPr>
          <p:nvPr>
            <p:ph type="title"/>
          </p:nvPr>
        </p:nvSpPr>
        <p:spPr>
          <a:xfrm>
            <a:off x="971194" y="365126"/>
            <a:ext cx="10382605" cy="725340"/>
          </a:xfrm>
        </p:spPr>
        <p:txBody>
          <a:bodyPr/>
          <a:lstStyle/>
          <a:p>
            <a:r>
              <a:rPr lang="en-US" dirty="0"/>
              <a:t>Create a Database Helper Class</a:t>
            </a:r>
            <a:endParaRPr lang="en-IN" dirty="0"/>
          </a:p>
        </p:txBody>
      </p:sp>
      <p:sp>
        <p:nvSpPr>
          <p:cNvPr id="3" name="Content Placeholder 2">
            <a:extLst>
              <a:ext uri="{FF2B5EF4-FFF2-40B4-BE49-F238E27FC236}">
                <a16:creationId xmlns="" xmlns:a16="http://schemas.microsoft.com/office/drawing/2014/main" id="{B7C9C5BA-601B-DE90-B79B-BBBAA0D4B45F}"/>
              </a:ext>
            </a:extLst>
          </p:cNvPr>
          <p:cNvSpPr>
            <a:spLocks noGrp="1"/>
          </p:cNvSpPr>
          <p:nvPr>
            <p:ph idx="1"/>
          </p:nvPr>
        </p:nvSpPr>
        <p:spPr>
          <a:xfrm>
            <a:off x="863284" y="1098732"/>
            <a:ext cx="11143186" cy="5671236"/>
          </a:xfrm>
        </p:spPr>
        <p:txBody>
          <a:bodyPr>
            <a:normAutofit fontScale="32500" lnSpcReduction="20000"/>
          </a:bodyPr>
          <a:lstStyle/>
          <a:p>
            <a:pPr marL="0" indent="0">
              <a:buNone/>
            </a:pPr>
            <a:r>
              <a:rPr lang="en-IN" dirty="0"/>
              <a:t> </a:t>
            </a:r>
            <a:r>
              <a:rPr lang="en-IN" sz="5500" dirty="0"/>
              <a:t>public </a:t>
            </a:r>
            <a:r>
              <a:rPr lang="en-IN" sz="5500" dirty="0" err="1"/>
              <a:t>DatabaseHelper</a:t>
            </a:r>
            <a:r>
              <a:rPr lang="en-IN" sz="5500" dirty="0"/>
              <a:t>(Context context) {</a:t>
            </a:r>
          </a:p>
          <a:p>
            <a:pPr marL="0" indent="0">
              <a:buNone/>
            </a:pPr>
            <a:r>
              <a:rPr lang="en-IN" sz="5500" dirty="0"/>
              <a:t>        super(context, DATABASE_NAME, null, DATABASE_VERSION);</a:t>
            </a:r>
          </a:p>
          <a:p>
            <a:pPr marL="0" indent="0">
              <a:buNone/>
            </a:pPr>
            <a:r>
              <a:rPr lang="en-IN" sz="5500" dirty="0"/>
              <a:t>    }</a:t>
            </a:r>
          </a:p>
          <a:p>
            <a:pPr marL="0" indent="0">
              <a:buNone/>
            </a:pPr>
            <a:r>
              <a:rPr lang="en-IN" sz="5500" dirty="0"/>
              <a:t>    </a:t>
            </a:r>
          </a:p>
          <a:p>
            <a:pPr marL="0" indent="0">
              <a:buNone/>
            </a:pPr>
            <a:r>
              <a:rPr lang="en-IN" sz="5500" dirty="0"/>
              <a:t>    // Called when the database is created for the first time</a:t>
            </a:r>
          </a:p>
          <a:p>
            <a:pPr marL="0" indent="0">
              <a:buNone/>
            </a:pPr>
            <a:r>
              <a:rPr lang="en-IN" sz="5500" dirty="0"/>
              <a:t>    @Override</a:t>
            </a:r>
          </a:p>
          <a:p>
            <a:pPr marL="0" indent="0">
              <a:buNone/>
            </a:pPr>
            <a:r>
              <a:rPr lang="en-IN" sz="5500" dirty="0"/>
              <a:t>    public void </a:t>
            </a:r>
            <a:r>
              <a:rPr lang="en-IN" sz="5500" dirty="0" err="1"/>
              <a:t>onCreate</a:t>
            </a:r>
            <a:r>
              <a:rPr lang="en-IN" sz="5500" dirty="0"/>
              <a:t>(</a:t>
            </a:r>
            <a:r>
              <a:rPr lang="en-IN" sz="5500" dirty="0" err="1"/>
              <a:t>SQLiteDatabase</a:t>
            </a:r>
            <a:r>
              <a:rPr lang="en-IN" sz="5500" dirty="0"/>
              <a:t> </a:t>
            </a:r>
            <a:r>
              <a:rPr lang="en-IN" sz="5500" dirty="0" err="1"/>
              <a:t>db</a:t>
            </a:r>
            <a:r>
              <a:rPr lang="en-IN" sz="5500" dirty="0"/>
              <a:t>) {</a:t>
            </a:r>
          </a:p>
          <a:p>
            <a:pPr marL="0" indent="0">
              <a:buNone/>
            </a:pPr>
            <a:r>
              <a:rPr lang="en-IN" sz="5500" dirty="0"/>
              <a:t>        </a:t>
            </a:r>
            <a:r>
              <a:rPr lang="en-IN" sz="5500" dirty="0" err="1"/>
              <a:t>db.execSQL</a:t>
            </a:r>
            <a:r>
              <a:rPr lang="en-IN" sz="5500" dirty="0"/>
              <a:t>(TABLE_CREATE);</a:t>
            </a:r>
          </a:p>
          <a:p>
            <a:pPr marL="0" indent="0">
              <a:buNone/>
            </a:pPr>
            <a:r>
              <a:rPr lang="en-IN" sz="5500" dirty="0"/>
              <a:t>    }</a:t>
            </a:r>
          </a:p>
          <a:p>
            <a:pPr marL="0" indent="0">
              <a:buNone/>
            </a:pPr>
            <a:r>
              <a:rPr lang="en-IN" sz="5500" dirty="0"/>
              <a:t>    </a:t>
            </a:r>
          </a:p>
          <a:p>
            <a:pPr marL="0" indent="0">
              <a:buNone/>
            </a:pPr>
            <a:r>
              <a:rPr lang="en-IN" sz="5500" dirty="0"/>
              <a:t>    // Called when the database needs to be upgraded (if the version number is changed)</a:t>
            </a:r>
          </a:p>
          <a:p>
            <a:pPr marL="0" indent="0">
              <a:buNone/>
            </a:pPr>
            <a:r>
              <a:rPr lang="en-IN" sz="5500" dirty="0"/>
              <a:t>    @Override</a:t>
            </a:r>
          </a:p>
          <a:p>
            <a:pPr marL="0" indent="0">
              <a:buNone/>
            </a:pPr>
            <a:r>
              <a:rPr lang="en-IN" sz="5500" dirty="0"/>
              <a:t>    public void </a:t>
            </a:r>
            <a:r>
              <a:rPr lang="en-IN" sz="5500" dirty="0" err="1"/>
              <a:t>onUpgrade</a:t>
            </a:r>
            <a:r>
              <a:rPr lang="en-IN" sz="5500" dirty="0"/>
              <a:t>(</a:t>
            </a:r>
            <a:r>
              <a:rPr lang="en-IN" sz="5500" dirty="0" err="1"/>
              <a:t>SQLiteDatabase</a:t>
            </a:r>
            <a:r>
              <a:rPr lang="en-IN" sz="5500" dirty="0"/>
              <a:t> </a:t>
            </a:r>
            <a:r>
              <a:rPr lang="en-IN" sz="5500" dirty="0" err="1"/>
              <a:t>db</a:t>
            </a:r>
            <a:r>
              <a:rPr lang="en-IN" sz="5500" dirty="0"/>
              <a:t>, int </a:t>
            </a:r>
            <a:r>
              <a:rPr lang="en-IN" sz="5500" dirty="0" err="1"/>
              <a:t>oldVersion</a:t>
            </a:r>
            <a:r>
              <a:rPr lang="en-IN" sz="5500" dirty="0"/>
              <a:t>, int </a:t>
            </a:r>
            <a:r>
              <a:rPr lang="en-IN" sz="5500" dirty="0" err="1"/>
              <a:t>newVersion</a:t>
            </a:r>
            <a:r>
              <a:rPr lang="en-IN" sz="5500" dirty="0"/>
              <a:t>) {</a:t>
            </a:r>
          </a:p>
          <a:p>
            <a:pPr marL="0" indent="0">
              <a:buNone/>
            </a:pPr>
            <a:r>
              <a:rPr lang="en-IN" sz="5500" dirty="0"/>
              <a:t>        </a:t>
            </a:r>
            <a:r>
              <a:rPr lang="en-IN" sz="5500" dirty="0" err="1"/>
              <a:t>db.execSQL</a:t>
            </a:r>
            <a:r>
              <a:rPr lang="en-IN" sz="5500" dirty="0"/>
              <a:t>("DROP TABLE IF EXISTS " + TABLE_USER);</a:t>
            </a:r>
          </a:p>
          <a:p>
            <a:pPr marL="0" indent="0">
              <a:buNone/>
            </a:pPr>
            <a:r>
              <a:rPr lang="en-IN" sz="5500" dirty="0"/>
              <a:t>        </a:t>
            </a:r>
            <a:r>
              <a:rPr lang="en-IN" sz="5500" dirty="0" err="1"/>
              <a:t>onCreate</a:t>
            </a:r>
            <a:r>
              <a:rPr lang="en-IN" sz="5500" dirty="0"/>
              <a:t>(</a:t>
            </a:r>
            <a:r>
              <a:rPr lang="en-IN" sz="5500" dirty="0" err="1"/>
              <a:t>db</a:t>
            </a:r>
            <a:r>
              <a:rPr lang="en-IN" sz="5500" dirty="0"/>
              <a:t>);</a:t>
            </a:r>
          </a:p>
          <a:p>
            <a:pPr marL="0" indent="0">
              <a:buNone/>
            </a:pPr>
            <a:r>
              <a:rPr lang="en-IN" sz="5500" dirty="0"/>
              <a:t>    }</a:t>
            </a:r>
          </a:p>
          <a:p>
            <a:pPr marL="0" indent="0">
              <a:buNone/>
            </a:pPr>
            <a:r>
              <a:rPr lang="en-IN" sz="5500" dirty="0"/>
              <a:t>}</a:t>
            </a:r>
          </a:p>
        </p:txBody>
      </p:sp>
    </p:spTree>
    <p:extLst>
      <p:ext uri="{BB962C8B-B14F-4D97-AF65-F5344CB8AC3E}">
        <p14:creationId xmlns="" xmlns:p14="http://schemas.microsoft.com/office/powerpoint/2010/main" val="3657732916"/>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BA26A3A-955E-52C4-6B5D-3396CF2D7256}"/>
              </a:ext>
            </a:extLst>
          </p:cNvPr>
          <p:cNvSpPr>
            <a:spLocks noGrp="1"/>
          </p:cNvSpPr>
          <p:nvPr>
            <p:ph type="title"/>
          </p:nvPr>
        </p:nvSpPr>
        <p:spPr>
          <a:xfrm>
            <a:off x="838200" y="365125"/>
            <a:ext cx="10515600" cy="481121"/>
          </a:xfrm>
        </p:spPr>
        <p:txBody>
          <a:bodyPr>
            <a:normAutofit fontScale="90000"/>
          </a:bodyPr>
          <a:lstStyle/>
          <a:p>
            <a:r>
              <a:rPr lang="en-IN" dirty="0"/>
              <a:t>Create a Model Class</a:t>
            </a:r>
          </a:p>
        </p:txBody>
      </p:sp>
      <p:sp>
        <p:nvSpPr>
          <p:cNvPr id="3" name="Content Placeholder 2">
            <a:extLst>
              <a:ext uri="{FF2B5EF4-FFF2-40B4-BE49-F238E27FC236}">
                <a16:creationId xmlns="" xmlns:a16="http://schemas.microsoft.com/office/drawing/2014/main" id="{017C04A9-1CCE-7002-E573-C4A0E424CE52}"/>
              </a:ext>
            </a:extLst>
          </p:cNvPr>
          <p:cNvSpPr>
            <a:spLocks noGrp="1"/>
          </p:cNvSpPr>
          <p:nvPr>
            <p:ph idx="1"/>
          </p:nvPr>
        </p:nvSpPr>
        <p:spPr>
          <a:xfrm>
            <a:off x="548545" y="846245"/>
            <a:ext cx="10515600" cy="5646629"/>
          </a:xfrm>
        </p:spPr>
        <p:txBody>
          <a:bodyPr>
            <a:noAutofit/>
          </a:bodyPr>
          <a:lstStyle/>
          <a:p>
            <a:pPr marL="0" indent="0">
              <a:buNone/>
            </a:pPr>
            <a:r>
              <a:rPr lang="en-IN" sz="800" dirty="0"/>
              <a:t> </a:t>
            </a:r>
          </a:p>
          <a:p>
            <a:pPr marL="0" indent="0">
              <a:buNone/>
            </a:pPr>
            <a:r>
              <a:rPr lang="en-IN" sz="800" dirty="0"/>
              <a:t>    </a:t>
            </a:r>
            <a:r>
              <a:rPr lang="en-IN" sz="1600" dirty="0"/>
              <a:t>public class User {</a:t>
            </a:r>
          </a:p>
          <a:p>
            <a:pPr marL="0" indent="0">
              <a:buNone/>
            </a:pPr>
            <a:r>
              <a:rPr lang="en-IN" sz="1600" dirty="0"/>
              <a:t>    private int id;</a:t>
            </a:r>
          </a:p>
          <a:p>
            <a:pPr marL="0" indent="0">
              <a:buNone/>
            </a:pPr>
            <a:r>
              <a:rPr lang="en-IN" sz="1600" dirty="0"/>
              <a:t>    private String name;</a:t>
            </a:r>
          </a:p>
          <a:p>
            <a:pPr marL="0" indent="0">
              <a:buNone/>
            </a:pPr>
            <a:r>
              <a:rPr lang="en-IN" sz="1600" dirty="0"/>
              <a:t>    private String email;</a:t>
            </a:r>
          </a:p>
          <a:p>
            <a:pPr marL="0" indent="0">
              <a:buNone/>
            </a:pPr>
            <a:r>
              <a:rPr lang="en-IN" sz="1600" dirty="0"/>
              <a:t>    </a:t>
            </a:r>
          </a:p>
          <a:p>
            <a:pPr marL="0" indent="0">
              <a:buNone/>
            </a:pPr>
            <a:r>
              <a:rPr lang="en-IN" sz="1600" dirty="0"/>
              <a:t>    public User(int id, String name, String email) {</a:t>
            </a:r>
          </a:p>
          <a:p>
            <a:pPr marL="0" indent="0">
              <a:buNone/>
            </a:pPr>
            <a:r>
              <a:rPr lang="en-IN" sz="1600" dirty="0"/>
              <a:t>        this.id = id;</a:t>
            </a:r>
          </a:p>
          <a:p>
            <a:pPr marL="0" indent="0">
              <a:buNone/>
            </a:pPr>
            <a:r>
              <a:rPr lang="en-IN" sz="1600" dirty="0"/>
              <a:t>        this.name = name;</a:t>
            </a:r>
          </a:p>
          <a:p>
            <a:pPr marL="0" indent="0">
              <a:buNone/>
            </a:pPr>
            <a:r>
              <a:rPr lang="en-IN" sz="1600" dirty="0"/>
              <a:t>        </a:t>
            </a:r>
            <a:r>
              <a:rPr lang="en-IN" sz="1600" dirty="0" err="1"/>
              <a:t>this.email</a:t>
            </a:r>
            <a:r>
              <a:rPr lang="en-IN" sz="1600" dirty="0"/>
              <a:t> = email;</a:t>
            </a:r>
          </a:p>
          <a:p>
            <a:pPr marL="0" indent="0">
              <a:buNone/>
            </a:pPr>
            <a:r>
              <a:rPr lang="en-IN" sz="1600" dirty="0"/>
              <a:t>    }</a:t>
            </a:r>
          </a:p>
          <a:p>
            <a:pPr marL="0" indent="0">
              <a:buNone/>
            </a:pPr>
            <a:r>
              <a:rPr lang="en-IN" sz="1600" dirty="0"/>
              <a:t>    </a:t>
            </a:r>
          </a:p>
          <a:p>
            <a:pPr marL="0" indent="0">
              <a:buNone/>
            </a:pPr>
            <a:r>
              <a:rPr lang="en-IN" sz="1600" dirty="0"/>
              <a:t>    // Getter and Setter methods for id, name, and email</a:t>
            </a:r>
          </a:p>
          <a:p>
            <a:pPr marL="0" indent="0">
              <a:buNone/>
            </a:pPr>
            <a:r>
              <a:rPr lang="en-IN" sz="1600" dirty="0"/>
              <a:t>    public int </a:t>
            </a:r>
            <a:r>
              <a:rPr lang="en-IN" sz="1600" dirty="0" err="1"/>
              <a:t>getId</a:t>
            </a:r>
            <a:r>
              <a:rPr lang="en-IN" sz="1600" dirty="0"/>
              <a:t>() {</a:t>
            </a:r>
          </a:p>
          <a:p>
            <a:pPr marL="0" indent="0">
              <a:buNone/>
            </a:pPr>
            <a:r>
              <a:rPr lang="en-IN" sz="1600" dirty="0"/>
              <a:t>        return id;</a:t>
            </a:r>
          </a:p>
          <a:p>
            <a:pPr marL="0" indent="0">
              <a:buNone/>
            </a:pPr>
            <a:r>
              <a:rPr lang="en-IN" sz="1600" dirty="0"/>
              <a:t>    }</a:t>
            </a:r>
          </a:p>
          <a:p>
            <a:pPr marL="0" indent="0">
              <a:buNone/>
            </a:pPr>
            <a:endParaRPr lang="en-IN" sz="1600" dirty="0"/>
          </a:p>
          <a:p>
            <a:pPr marL="0" indent="0">
              <a:buNone/>
            </a:pPr>
            <a:endParaRPr lang="en-IN" sz="800" dirty="0"/>
          </a:p>
        </p:txBody>
      </p:sp>
    </p:spTree>
    <p:extLst>
      <p:ext uri="{BB962C8B-B14F-4D97-AF65-F5344CB8AC3E}">
        <p14:creationId xmlns="" xmlns:p14="http://schemas.microsoft.com/office/powerpoint/2010/main" val="2451730145"/>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C4A967-C01C-52C7-C1A6-8508ACE50017}"/>
              </a:ext>
            </a:extLst>
          </p:cNvPr>
          <p:cNvSpPr>
            <a:spLocks noGrp="1"/>
          </p:cNvSpPr>
          <p:nvPr>
            <p:ph type="title"/>
          </p:nvPr>
        </p:nvSpPr>
        <p:spPr>
          <a:xfrm>
            <a:off x="838200" y="365126"/>
            <a:ext cx="10515600" cy="469762"/>
          </a:xfrm>
        </p:spPr>
        <p:txBody>
          <a:bodyPr>
            <a:normAutofit fontScale="90000"/>
          </a:bodyPr>
          <a:lstStyle/>
          <a:p>
            <a:r>
              <a:rPr lang="en-IN" dirty="0"/>
              <a:t>Create a Model Class</a:t>
            </a:r>
          </a:p>
        </p:txBody>
      </p:sp>
      <p:sp>
        <p:nvSpPr>
          <p:cNvPr id="3" name="Content Placeholder 2">
            <a:extLst>
              <a:ext uri="{FF2B5EF4-FFF2-40B4-BE49-F238E27FC236}">
                <a16:creationId xmlns="" xmlns:a16="http://schemas.microsoft.com/office/drawing/2014/main" id="{F151AD75-6AB0-DB57-16DF-3FEAB125E796}"/>
              </a:ext>
            </a:extLst>
          </p:cNvPr>
          <p:cNvSpPr>
            <a:spLocks noGrp="1"/>
          </p:cNvSpPr>
          <p:nvPr>
            <p:ph idx="1"/>
          </p:nvPr>
        </p:nvSpPr>
        <p:spPr>
          <a:xfrm>
            <a:off x="838200" y="882826"/>
            <a:ext cx="10657587" cy="5975173"/>
          </a:xfrm>
        </p:spPr>
        <p:txBody>
          <a:bodyPr>
            <a:normAutofit fontScale="25000" lnSpcReduction="20000"/>
          </a:bodyPr>
          <a:lstStyle/>
          <a:p>
            <a:pPr marL="0" indent="0">
              <a:buNone/>
            </a:pPr>
            <a:r>
              <a:rPr lang="en-IN" sz="2800" dirty="0"/>
              <a:t> </a:t>
            </a:r>
            <a:r>
              <a:rPr lang="en-IN" sz="6400" dirty="0"/>
              <a:t>public void </a:t>
            </a:r>
            <a:r>
              <a:rPr lang="en-IN" sz="6400" dirty="0" err="1"/>
              <a:t>setId</a:t>
            </a:r>
            <a:r>
              <a:rPr lang="en-IN" sz="6400" dirty="0"/>
              <a:t>(int id) {</a:t>
            </a:r>
          </a:p>
          <a:p>
            <a:pPr marL="0" indent="0">
              <a:buNone/>
            </a:pPr>
            <a:r>
              <a:rPr lang="en-IN" sz="6400" dirty="0"/>
              <a:t>        this.id = id;</a:t>
            </a:r>
          </a:p>
          <a:p>
            <a:pPr marL="0" indent="0">
              <a:buNone/>
            </a:pPr>
            <a:r>
              <a:rPr lang="en-IN" sz="6400" dirty="0"/>
              <a:t>    }</a:t>
            </a:r>
          </a:p>
          <a:p>
            <a:pPr marL="0" indent="0">
              <a:buNone/>
            </a:pPr>
            <a:endParaRPr lang="en-IN" sz="6400" dirty="0"/>
          </a:p>
          <a:p>
            <a:pPr marL="0" indent="0">
              <a:buNone/>
            </a:pPr>
            <a:r>
              <a:rPr lang="en-IN" sz="6400" dirty="0"/>
              <a:t>    public String </a:t>
            </a:r>
            <a:r>
              <a:rPr lang="en-IN" sz="6400" dirty="0" err="1"/>
              <a:t>getName</a:t>
            </a:r>
            <a:r>
              <a:rPr lang="en-IN" sz="6400" dirty="0"/>
              <a:t>() {</a:t>
            </a:r>
          </a:p>
          <a:p>
            <a:pPr marL="0" indent="0">
              <a:buNone/>
            </a:pPr>
            <a:r>
              <a:rPr lang="en-IN" sz="6400" dirty="0"/>
              <a:t>        return name;</a:t>
            </a:r>
          </a:p>
          <a:p>
            <a:pPr marL="0" indent="0">
              <a:buNone/>
            </a:pPr>
            <a:r>
              <a:rPr lang="en-IN" sz="6400" dirty="0"/>
              <a:t>    }</a:t>
            </a:r>
          </a:p>
          <a:p>
            <a:pPr marL="0" indent="0">
              <a:buNone/>
            </a:pPr>
            <a:endParaRPr lang="en-IN" sz="6400" dirty="0"/>
          </a:p>
          <a:p>
            <a:pPr marL="0" indent="0">
              <a:buNone/>
            </a:pPr>
            <a:r>
              <a:rPr lang="en-IN" sz="6400" dirty="0"/>
              <a:t>    public void </a:t>
            </a:r>
            <a:r>
              <a:rPr lang="en-IN" sz="6400" dirty="0" err="1"/>
              <a:t>setName</a:t>
            </a:r>
            <a:r>
              <a:rPr lang="en-IN" sz="6400" dirty="0"/>
              <a:t>(String name) {</a:t>
            </a:r>
          </a:p>
          <a:p>
            <a:pPr marL="0" indent="0">
              <a:buNone/>
            </a:pPr>
            <a:r>
              <a:rPr lang="en-IN" sz="6400" dirty="0"/>
              <a:t>        this.name = name;</a:t>
            </a:r>
          </a:p>
          <a:p>
            <a:pPr marL="0" indent="0">
              <a:buNone/>
            </a:pPr>
            <a:r>
              <a:rPr lang="en-IN" sz="6400" dirty="0"/>
              <a:t>    }</a:t>
            </a:r>
          </a:p>
          <a:p>
            <a:pPr marL="0" indent="0">
              <a:buNone/>
            </a:pPr>
            <a:endParaRPr lang="en-IN" sz="6400" dirty="0"/>
          </a:p>
          <a:p>
            <a:pPr marL="0" indent="0">
              <a:buNone/>
            </a:pPr>
            <a:r>
              <a:rPr lang="en-IN" sz="6400" dirty="0"/>
              <a:t>    public String </a:t>
            </a:r>
            <a:r>
              <a:rPr lang="en-IN" sz="6400" dirty="0" err="1"/>
              <a:t>getEmail</a:t>
            </a:r>
            <a:r>
              <a:rPr lang="en-IN" sz="6400" dirty="0"/>
              <a:t>() {</a:t>
            </a:r>
          </a:p>
          <a:p>
            <a:pPr marL="0" indent="0">
              <a:buNone/>
            </a:pPr>
            <a:r>
              <a:rPr lang="en-IN" sz="6400" dirty="0"/>
              <a:t>        return email;</a:t>
            </a:r>
          </a:p>
          <a:p>
            <a:pPr marL="0" indent="0">
              <a:buNone/>
            </a:pPr>
            <a:r>
              <a:rPr lang="en-IN" sz="6400" dirty="0"/>
              <a:t>    }</a:t>
            </a:r>
          </a:p>
          <a:p>
            <a:pPr marL="0" indent="0">
              <a:buNone/>
            </a:pPr>
            <a:endParaRPr lang="en-IN" sz="6400" dirty="0"/>
          </a:p>
          <a:p>
            <a:pPr marL="0" indent="0">
              <a:buNone/>
            </a:pPr>
            <a:r>
              <a:rPr lang="en-IN" sz="6400" dirty="0"/>
              <a:t>    public void </a:t>
            </a:r>
            <a:r>
              <a:rPr lang="en-IN" sz="6400" dirty="0" err="1"/>
              <a:t>setEmail</a:t>
            </a:r>
            <a:r>
              <a:rPr lang="en-IN" sz="6400" dirty="0"/>
              <a:t>(String email) {</a:t>
            </a:r>
          </a:p>
          <a:p>
            <a:pPr marL="0" indent="0">
              <a:buNone/>
            </a:pPr>
            <a:r>
              <a:rPr lang="en-IN" sz="6400" dirty="0"/>
              <a:t>        </a:t>
            </a:r>
            <a:r>
              <a:rPr lang="en-IN" sz="6400" dirty="0" err="1"/>
              <a:t>this.email</a:t>
            </a:r>
            <a:r>
              <a:rPr lang="en-IN" sz="6400" dirty="0"/>
              <a:t> = email;</a:t>
            </a:r>
          </a:p>
          <a:p>
            <a:pPr marL="0" indent="0">
              <a:buNone/>
            </a:pPr>
            <a:r>
              <a:rPr lang="en-IN" sz="6400" dirty="0"/>
              <a:t>    }</a:t>
            </a:r>
          </a:p>
          <a:p>
            <a:pPr marL="0" indent="0">
              <a:buNone/>
            </a:pPr>
            <a:r>
              <a:rPr lang="en-IN" sz="6400" dirty="0"/>
              <a:t>}</a:t>
            </a:r>
          </a:p>
        </p:txBody>
      </p:sp>
    </p:spTree>
    <p:extLst>
      <p:ext uri="{BB962C8B-B14F-4D97-AF65-F5344CB8AC3E}">
        <p14:creationId xmlns="" xmlns:p14="http://schemas.microsoft.com/office/powerpoint/2010/main" val="1835815250"/>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B7ECFD3-6B59-9906-417B-D3301411782E}"/>
              </a:ext>
            </a:extLst>
          </p:cNvPr>
          <p:cNvSpPr>
            <a:spLocks noGrp="1"/>
          </p:cNvSpPr>
          <p:nvPr>
            <p:ph type="title"/>
          </p:nvPr>
        </p:nvSpPr>
        <p:spPr>
          <a:xfrm>
            <a:off x="954156" y="365126"/>
            <a:ext cx="10399643" cy="356172"/>
          </a:xfrm>
        </p:spPr>
        <p:txBody>
          <a:bodyPr>
            <a:normAutofit fontScale="90000"/>
          </a:bodyPr>
          <a:lstStyle/>
          <a:p>
            <a:r>
              <a:rPr lang="en-US" dirty="0"/>
              <a:t>Insert and Retrieve Data from the Database</a:t>
            </a:r>
            <a:endParaRPr lang="en-IN" dirty="0"/>
          </a:p>
        </p:txBody>
      </p:sp>
      <p:sp>
        <p:nvSpPr>
          <p:cNvPr id="3" name="Content Placeholder 2">
            <a:extLst>
              <a:ext uri="{FF2B5EF4-FFF2-40B4-BE49-F238E27FC236}">
                <a16:creationId xmlns="" xmlns:a16="http://schemas.microsoft.com/office/drawing/2014/main" id="{51582EDC-DF8D-E709-1F7C-C10196A57DF3}"/>
              </a:ext>
            </a:extLst>
          </p:cNvPr>
          <p:cNvSpPr>
            <a:spLocks noGrp="1"/>
          </p:cNvSpPr>
          <p:nvPr>
            <p:ph idx="1"/>
          </p:nvPr>
        </p:nvSpPr>
        <p:spPr>
          <a:xfrm>
            <a:off x="761053" y="806489"/>
            <a:ext cx="10836492" cy="5946440"/>
          </a:xfrm>
        </p:spPr>
        <p:txBody>
          <a:bodyPr>
            <a:normAutofit fontScale="25000" lnSpcReduction="20000"/>
          </a:bodyPr>
          <a:lstStyle/>
          <a:p>
            <a:pPr marL="0" indent="0">
              <a:buNone/>
            </a:pPr>
            <a:r>
              <a:rPr lang="en-IN" sz="4400" dirty="0"/>
              <a:t>import </a:t>
            </a:r>
            <a:r>
              <a:rPr lang="en-IN" sz="4400" dirty="0" err="1"/>
              <a:t>android.content.ContentValues</a:t>
            </a:r>
            <a:r>
              <a:rPr lang="en-IN" sz="4400" dirty="0"/>
              <a:t>;</a:t>
            </a:r>
          </a:p>
          <a:p>
            <a:pPr marL="0" indent="0">
              <a:buNone/>
            </a:pPr>
            <a:r>
              <a:rPr lang="en-IN" sz="4400" dirty="0"/>
              <a:t>import </a:t>
            </a:r>
            <a:r>
              <a:rPr lang="en-IN" sz="4400" dirty="0" err="1"/>
              <a:t>android.database.Cursor</a:t>
            </a:r>
            <a:r>
              <a:rPr lang="en-IN" sz="4400" dirty="0"/>
              <a:t>;</a:t>
            </a:r>
          </a:p>
          <a:p>
            <a:pPr marL="0" indent="0">
              <a:buNone/>
            </a:pPr>
            <a:r>
              <a:rPr lang="en-IN" sz="4400" dirty="0"/>
              <a:t>import </a:t>
            </a:r>
            <a:r>
              <a:rPr lang="en-IN" sz="4400" dirty="0" err="1"/>
              <a:t>android.database.sqlite.SQLiteDatabase</a:t>
            </a:r>
            <a:r>
              <a:rPr lang="en-IN" sz="4400" dirty="0"/>
              <a:t>;</a:t>
            </a:r>
          </a:p>
          <a:p>
            <a:pPr marL="0" indent="0">
              <a:buNone/>
            </a:pPr>
            <a:r>
              <a:rPr lang="en-IN" sz="4400" dirty="0"/>
              <a:t>import </a:t>
            </a:r>
            <a:r>
              <a:rPr lang="en-IN" sz="4400" dirty="0" err="1"/>
              <a:t>android.os.Bundle</a:t>
            </a:r>
            <a:r>
              <a:rPr lang="en-IN" sz="4400" dirty="0"/>
              <a:t>;</a:t>
            </a:r>
          </a:p>
          <a:p>
            <a:pPr marL="0" indent="0">
              <a:buNone/>
            </a:pPr>
            <a:r>
              <a:rPr lang="en-IN" sz="4400" dirty="0"/>
              <a:t>import </a:t>
            </a:r>
            <a:r>
              <a:rPr lang="en-IN" sz="4400" dirty="0" err="1"/>
              <a:t>android.widget.Toast</a:t>
            </a:r>
            <a:r>
              <a:rPr lang="en-IN" sz="4400" dirty="0"/>
              <a:t>;</a:t>
            </a:r>
          </a:p>
          <a:p>
            <a:pPr marL="0" indent="0">
              <a:buNone/>
            </a:pPr>
            <a:r>
              <a:rPr lang="en-IN" sz="4400" dirty="0"/>
              <a:t>import </a:t>
            </a:r>
            <a:r>
              <a:rPr lang="en-IN" sz="4400" dirty="0" err="1"/>
              <a:t>androidx.appcompat.app.AppCompatActivity</a:t>
            </a:r>
            <a:r>
              <a:rPr lang="en-IN" sz="4400" dirty="0"/>
              <a:t>;</a:t>
            </a:r>
          </a:p>
          <a:p>
            <a:pPr marL="0" indent="0">
              <a:buNone/>
            </a:pPr>
            <a:endParaRPr lang="en-IN" sz="4400" dirty="0"/>
          </a:p>
          <a:p>
            <a:pPr marL="0" indent="0">
              <a:buNone/>
            </a:pPr>
            <a:r>
              <a:rPr lang="en-IN" sz="4400" dirty="0"/>
              <a:t>public class </a:t>
            </a:r>
            <a:r>
              <a:rPr lang="en-IN" sz="4400" dirty="0" err="1"/>
              <a:t>MainActivity</a:t>
            </a:r>
            <a:r>
              <a:rPr lang="en-IN" sz="4400" dirty="0"/>
              <a:t> extends </a:t>
            </a:r>
            <a:r>
              <a:rPr lang="en-IN" sz="4400" dirty="0" err="1"/>
              <a:t>AppCompatActivity</a:t>
            </a:r>
            <a:r>
              <a:rPr lang="en-IN" sz="4400" dirty="0"/>
              <a:t> {</a:t>
            </a:r>
          </a:p>
          <a:p>
            <a:pPr marL="0" indent="0">
              <a:buNone/>
            </a:pPr>
            <a:endParaRPr lang="en-IN" sz="4400" dirty="0"/>
          </a:p>
          <a:p>
            <a:pPr marL="0" indent="0">
              <a:buNone/>
            </a:pPr>
            <a:r>
              <a:rPr lang="en-IN" sz="4400" dirty="0"/>
              <a:t>    </a:t>
            </a:r>
            <a:r>
              <a:rPr lang="en-IN" sz="4400" dirty="0" err="1"/>
              <a:t>DatabaseHelper</a:t>
            </a:r>
            <a:r>
              <a:rPr lang="en-IN" sz="4400" dirty="0"/>
              <a:t> </a:t>
            </a:r>
            <a:r>
              <a:rPr lang="en-IN" sz="4400" dirty="0" err="1"/>
              <a:t>dbHelper</a:t>
            </a:r>
            <a:r>
              <a:rPr lang="en-IN" sz="4400" dirty="0"/>
              <a:t>;</a:t>
            </a:r>
          </a:p>
          <a:p>
            <a:pPr marL="0" indent="0">
              <a:buNone/>
            </a:pPr>
            <a:r>
              <a:rPr lang="en-IN" sz="4400" dirty="0"/>
              <a:t>    </a:t>
            </a:r>
          </a:p>
          <a:p>
            <a:pPr marL="0" indent="0">
              <a:buNone/>
            </a:pPr>
            <a:r>
              <a:rPr lang="en-IN" sz="4400" dirty="0"/>
              <a:t>    @Override</a:t>
            </a:r>
          </a:p>
          <a:p>
            <a:pPr marL="0" indent="0">
              <a:buNone/>
            </a:pPr>
            <a:r>
              <a:rPr lang="en-IN" sz="4400" dirty="0"/>
              <a:t>    protected void </a:t>
            </a:r>
            <a:r>
              <a:rPr lang="en-IN" sz="4400" dirty="0" err="1"/>
              <a:t>onCreate</a:t>
            </a:r>
            <a:r>
              <a:rPr lang="en-IN" sz="4400" dirty="0"/>
              <a:t>(Bundle </a:t>
            </a:r>
            <a:r>
              <a:rPr lang="en-IN" sz="4400" dirty="0" err="1"/>
              <a:t>savedInstanceState</a:t>
            </a:r>
            <a:r>
              <a:rPr lang="en-IN" sz="4400" dirty="0"/>
              <a:t>) {</a:t>
            </a:r>
          </a:p>
          <a:p>
            <a:pPr marL="0" indent="0">
              <a:buNone/>
            </a:pPr>
            <a:r>
              <a:rPr lang="en-IN" sz="4400" dirty="0"/>
              <a:t>        </a:t>
            </a:r>
            <a:r>
              <a:rPr lang="en-IN" sz="4400" dirty="0" err="1"/>
              <a:t>super.onCreate</a:t>
            </a:r>
            <a:r>
              <a:rPr lang="en-IN" sz="4400" dirty="0"/>
              <a:t>(</a:t>
            </a:r>
            <a:r>
              <a:rPr lang="en-IN" sz="4400" dirty="0" err="1"/>
              <a:t>savedInstanceState</a:t>
            </a:r>
            <a:r>
              <a:rPr lang="en-IN" sz="4400" dirty="0"/>
              <a:t>);</a:t>
            </a:r>
          </a:p>
          <a:p>
            <a:pPr marL="0" indent="0">
              <a:buNone/>
            </a:pPr>
            <a:r>
              <a:rPr lang="en-IN" sz="4400" dirty="0"/>
              <a:t>        </a:t>
            </a:r>
            <a:r>
              <a:rPr lang="en-IN" sz="4400" dirty="0" err="1"/>
              <a:t>setContentView</a:t>
            </a:r>
            <a:r>
              <a:rPr lang="en-IN" sz="4400" dirty="0"/>
              <a:t>(</a:t>
            </a:r>
            <a:r>
              <a:rPr lang="en-IN" sz="4400" dirty="0" err="1"/>
              <a:t>R.layout.activity_main</a:t>
            </a:r>
            <a:r>
              <a:rPr lang="en-IN" sz="4400" dirty="0"/>
              <a:t>);</a:t>
            </a:r>
          </a:p>
          <a:p>
            <a:pPr marL="0" indent="0">
              <a:buNone/>
            </a:pPr>
            <a:r>
              <a:rPr lang="en-IN" sz="4400" dirty="0"/>
              <a:t>        </a:t>
            </a:r>
          </a:p>
          <a:p>
            <a:pPr marL="0" indent="0">
              <a:buNone/>
            </a:pPr>
            <a:r>
              <a:rPr lang="en-IN" sz="4400" dirty="0"/>
              <a:t>        </a:t>
            </a:r>
            <a:r>
              <a:rPr lang="en-IN" sz="4400" dirty="0" err="1"/>
              <a:t>dbHelper</a:t>
            </a:r>
            <a:r>
              <a:rPr lang="en-IN" sz="4400" dirty="0"/>
              <a:t> = new </a:t>
            </a:r>
            <a:r>
              <a:rPr lang="en-IN" sz="4400" dirty="0" err="1"/>
              <a:t>DatabaseHelper</a:t>
            </a:r>
            <a:r>
              <a:rPr lang="en-IN" sz="4400" dirty="0"/>
              <a:t>(this);</a:t>
            </a:r>
          </a:p>
          <a:p>
            <a:pPr marL="0" indent="0">
              <a:buNone/>
            </a:pPr>
            <a:r>
              <a:rPr lang="en-IN" sz="4400" dirty="0"/>
              <a:t>        </a:t>
            </a:r>
          </a:p>
          <a:p>
            <a:pPr marL="0" indent="0">
              <a:buNone/>
            </a:pPr>
            <a:r>
              <a:rPr lang="en-IN" sz="4400" dirty="0"/>
              <a:t>        // Insert a new user into the database</a:t>
            </a:r>
          </a:p>
          <a:p>
            <a:pPr marL="0" indent="0">
              <a:buNone/>
            </a:pPr>
            <a:r>
              <a:rPr lang="en-IN" sz="4400" dirty="0"/>
              <a:t>        </a:t>
            </a:r>
            <a:r>
              <a:rPr lang="en-IN" sz="4400" dirty="0" err="1"/>
              <a:t>insertUser</a:t>
            </a:r>
            <a:r>
              <a:rPr lang="en-IN" sz="4400" dirty="0"/>
              <a:t>("John Doe", "john.doe@example.com");</a:t>
            </a:r>
          </a:p>
          <a:p>
            <a:pPr marL="0" indent="0">
              <a:buNone/>
            </a:pPr>
            <a:r>
              <a:rPr lang="en-IN" sz="4400" dirty="0"/>
              <a:t>        </a:t>
            </a:r>
          </a:p>
          <a:p>
            <a:pPr marL="0" indent="0">
              <a:buNone/>
            </a:pPr>
            <a:r>
              <a:rPr lang="en-IN" sz="4400" dirty="0"/>
              <a:t>        // Retrieve and display all users</a:t>
            </a:r>
          </a:p>
          <a:p>
            <a:pPr marL="0" indent="0">
              <a:buNone/>
            </a:pPr>
            <a:r>
              <a:rPr lang="en-IN" sz="4400" dirty="0"/>
              <a:t>        </a:t>
            </a:r>
            <a:r>
              <a:rPr lang="en-IN" sz="4400" dirty="0" err="1"/>
              <a:t>getUsers</a:t>
            </a:r>
            <a:r>
              <a:rPr lang="en-IN" sz="4400" dirty="0"/>
              <a:t>();</a:t>
            </a:r>
          </a:p>
          <a:p>
            <a:pPr marL="0" indent="0">
              <a:buNone/>
            </a:pPr>
            <a:r>
              <a:rPr lang="en-IN" sz="4400" dirty="0"/>
              <a:t>    }</a:t>
            </a:r>
          </a:p>
          <a:p>
            <a:pPr marL="0" indent="0">
              <a:buNone/>
            </a:pPr>
            <a:r>
              <a:rPr lang="en-IN" sz="4400" dirty="0"/>
              <a:t>    </a:t>
            </a:r>
          </a:p>
          <a:p>
            <a:endParaRPr lang="en-IN" dirty="0"/>
          </a:p>
        </p:txBody>
      </p:sp>
    </p:spTree>
    <p:extLst>
      <p:ext uri="{BB962C8B-B14F-4D97-AF65-F5344CB8AC3E}">
        <p14:creationId xmlns="" xmlns:p14="http://schemas.microsoft.com/office/powerpoint/2010/main" val="80783301"/>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F1AE8E-1595-2CEC-BD6A-AC4100A39854}"/>
              </a:ext>
            </a:extLst>
          </p:cNvPr>
          <p:cNvSpPr>
            <a:spLocks noGrp="1"/>
          </p:cNvSpPr>
          <p:nvPr>
            <p:ph type="title"/>
          </p:nvPr>
        </p:nvSpPr>
        <p:spPr>
          <a:xfrm>
            <a:off x="925758" y="365126"/>
            <a:ext cx="10428041" cy="611750"/>
          </a:xfrm>
        </p:spPr>
        <p:txBody>
          <a:bodyPr>
            <a:normAutofit fontScale="90000"/>
          </a:bodyPr>
          <a:lstStyle/>
          <a:p>
            <a:r>
              <a:rPr lang="en-US" dirty="0"/>
              <a:t>Insert and Retrieve Data from the Database</a:t>
            </a:r>
            <a:endParaRPr lang="en-IN" dirty="0"/>
          </a:p>
        </p:txBody>
      </p:sp>
      <p:sp>
        <p:nvSpPr>
          <p:cNvPr id="3" name="Content Placeholder 2">
            <a:extLst>
              <a:ext uri="{FF2B5EF4-FFF2-40B4-BE49-F238E27FC236}">
                <a16:creationId xmlns="" xmlns:a16="http://schemas.microsoft.com/office/drawing/2014/main" id="{2DF0FB8B-4FE0-B13B-BD46-09F20584B8A2}"/>
              </a:ext>
            </a:extLst>
          </p:cNvPr>
          <p:cNvSpPr>
            <a:spLocks noGrp="1"/>
          </p:cNvSpPr>
          <p:nvPr>
            <p:ph idx="1"/>
          </p:nvPr>
        </p:nvSpPr>
        <p:spPr>
          <a:xfrm>
            <a:off x="653143" y="1067746"/>
            <a:ext cx="10978479" cy="5790253"/>
          </a:xfrm>
        </p:spPr>
        <p:txBody>
          <a:bodyPr>
            <a:normAutofit fontScale="25000" lnSpcReduction="20000"/>
          </a:bodyPr>
          <a:lstStyle/>
          <a:p>
            <a:pPr marL="0" indent="0">
              <a:buNone/>
            </a:pPr>
            <a:r>
              <a:rPr lang="en-IN" sz="5600" dirty="0"/>
              <a:t> // Method to insert a user</a:t>
            </a:r>
          </a:p>
          <a:p>
            <a:pPr marL="0" indent="0">
              <a:buNone/>
            </a:pPr>
            <a:r>
              <a:rPr lang="en-IN" sz="5600" dirty="0"/>
              <a:t>    private void </a:t>
            </a:r>
            <a:r>
              <a:rPr lang="en-IN" sz="5600" dirty="0" err="1"/>
              <a:t>insertUser</a:t>
            </a:r>
            <a:r>
              <a:rPr lang="en-IN" sz="5600" dirty="0"/>
              <a:t>(String name, String email) {</a:t>
            </a:r>
          </a:p>
          <a:p>
            <a:pPr marL="0" indent="0">
              <a:buNone/>
            </a:pPr>
            <a:r>
              <a:rPr lang="en-IN" sz="5600" dirty="0"/>
              <a:t>        </a:t>
            </a:r>
            <a:r>
              <a:rPr lang="en-IN" sz="5600" dirty="0" err="1"/>
              <a:t>SQLiteDatabase</a:t>
            </a:r>
            <a:r>
              <a:rPr lang="en-IN" sz="5600" dirty="0"/>
              <a:t> </a:t>
            </a:r>
            <a:r>
              <a:rPr lang="en-IN" sz="5600" dirty="0" err="1"/>
              <a:t>db</a:t>
            </a:r>
            <a:r>
              <a:rPr lang="en-IN" sz="5600" dirty="0"/>
              <a:t> = </a:t>
            </a:r>
            <a:r>
              <a:rPr lang="en-IN" sz="5600" dirty="0" err="1"/>
              <a:t>dbHelper.getWritableDatabase</a:t>
            </a:r>
            <a:r>
              <a:rPr lang="en-IN" sz="5600" dirty="0"/>
              <a:t>();</a:t>
            </a:r>
          </a:p>
          <a:p>
            <a:pPr marL="0" indent="0">
              <a:buNone/>
            </a:pPr>
            <a:r>
              <a:rPr lang="en-IN" sz="5600" dirty="0"/>
              <a:t>        </a:t>
            </a:r>
          </a:p>
          <a:p>
            <a:pPr marL="0" indent="0">
              <a:buNone/>
            </a:pPr>
            <a:r>
              <a:rPr lang="en-IN" sz="5600" dirty="0"/>
              <a:t>        // Create a </a:t>
            </a:r>
            <a:r>
              <a:rPr lang="en-IN" sz="5600" dirty="0" err="1"/>
              <a:t>ContentValues</a:t>
            </a:r>
            <a:r>
              <a:rPr lang="en-IN" sz="5600" dirty="0"/>
              <a:t> object to hold the values to insert</a:t>
            </a:r>
          </a:p>
          <a:p>
            <a:pPr marL="0" indent="0">
              <a:buNone/>
            </a:pPr>
            <a:r>
              <a:rPr lang="en-IN" sz="5600" dirty="0"/>
              <a:t>        </a:t>
            </a:r>
            <a:r>
              <a:rPr lang="en-IN" sz="5600" dirty="0" err="1"/>
              <a:t>ContentValues</a:t>
            </a:r>
            <a:r>
              <a:rPr lang="en-IN" sz="5600" dirty="0"/>
              <a:t> values = new </a:t>
            </a:r>
            <a:r>
              <a:rPr lang="en-IN" sz="5600" dirty="0" err="1"/>
              <a:t>ContentValues</a:t>
            </a:r>
            <a:r>
              <a:rPr lang="en-IN" sz="5600" dirty="0"/>
              <a:t>();</a:t>
            </a:r>
          </a:p>
          <a:p>
            <a:pPr marL="0" indent="0">
              <a:buNone/>
            </a:pPr>
            <a:r>
              <a:rPr lang="en-IN" sz="5600" dirty="0"/>
              <a:t>        </a:t>
            </a:r>
            <a:r>
              <a:rPr lang="en-IN" sz="5600" dirty="0" err="1"/>
              <a:t>values.put</a:t>
            </a:r>
            <a:r>
              <a:rPr lang="en-IN" sz="5600" dirty="0"/>
              <a:t>(</a:t>
            </a:r>
            <a:r>
              <a:rPr lang="en-IN" sz="5600" dirty="0" err="1"/>
              <a:t>DatabaseHelper.COLUMN_NAME</a:t>
            </a:r>
            <a:r>
              <a:rPr lang="en-IN" sz="5600" dirty="0"/>
              <a:t>, name);</a:t>
            </a:r>
          </a:p>
          <a:p>
            <a:pPr marL="0" indent="0">
              <a:buNone/>
            </a:pPr>
            <a:r>
              <a:rPr lang="en-IN" sz="5600" dirty="0"/>
              <a:t>        </a:t>
            </a:r>
            <a:r>
              <a:rPr lang="en-IN" sz="5600" dirty="0" err="1"/>
              <a:t>values.put</a:t>
            </a:r>
            <a:r>
              <a:rPr lang="en-IN" sz="5600" dirty="0"/>
              <a:t>(</a:t>
            </a:r>
            <a:r>
              <a:rPr lang="en-IN" sz="5600" dirty="0" err="1"/>
              <a:t>DatabaseHelper.COLUMN_EMAIL</a:t>
            </a:r>
            <a:r>
              <a:rPr lang="en-IN" sz="5600" dirty="0"/>
              <a:t>, email);</a:t>
            </a:r>
          </a:p>
          <a:p>
            <a:pPr marL="0" indent="0">
              <a:buNone/>
            </a:pPr>
            <a:r>
              <a:rPr lang="en-IN" sz="5600" dirty="0"/>
              <a:t>        </a:t>
            </a:r>
          </a:p>
          <a:p>
            <a:pPr marL="0" indent="0">
              <a:buNone/>
            </a:pPr>
            <a:r>
              <a:rPr lang="en-IN" sz="5600" dirty="0"/>
              <a:t>        // Insert the user into the database</a:t>
            </a:r>
          </a:p>
          <a:p>
            <a:pPr marL="0" indent="0">
              <a:buNone/>
            </a:pPr>
            <a:r>
              <a:rPr lang="en-IN" sz="5600" dirty="0"/>
              <a:t>        long </a:t>
            </a:r>
            <a:r>
              <a:rPr lang="en-IN" sz="5600" dirty="0" err="1"/>
              <a:t>newRowId</a:t>
            </a:r>
            <a:r>
              <a:rPr lang="en-IN" sz="5600" dirty="0"/>
              <a:t> = </a:t>
            </a:r>
            <a:r>
              <a:rPr lang="en-IN" sz="5600" dirty="0" err="1"/>
              <a:t>db.insert</a:t>
            </a:r>
            <a:r>
              <a:rPr lang="en-IN" sz="5600" dirty="0"/>
              <a:t>(</a:t>
            </a:r>
            <a:r>
              <a:rPr lang="en-IN" sz="5600" dirty="0" err="1"/>
              <a:t>DatabaseHelper.TABLE_USER</a:t>
            </a:r>
            <a:r>
              <a:rPr lang="en-IN" sz="5600" dirty="0"/>
              <a:t>, null, values);</a:t>
            </a:r>
          </a:p>
          <a:p>
            <a:pPr marL="0" indent="0">
              <a:buNone/>
            </a:pPr>
            <a:r>
              <a:rPr lang="en-IN" sz="5600" dirty="0"/>
              <a:t>        </a:t>
            </a:r>
          </a:p>
          <a:p>
            <a:pPr marL="0" indent="0">
              <a:buNone/>
            </a:pPr>
            <a:r>
              <a:rPr lang="en-IN" sz="5600" dirty="0"/>
              <a:t>        // Show a toast message with the row ID</a:t>
            </a:r>
          </a:p>
          <a:p>
            <a:pPr marL="0" indent="0">
              <a:buNone/>
            </a:pPr>
            <a:r>
              <a:rPr lang="en-IN" sz="5600" dirty="0"/>
              <a:t>        if (</a:t>
            </a:r>
            <a:r>
              <a:rPr lang="en-IN" sz="5600" dirty="0" err="1"/>
              <a:t>newRowId</a:t>
            </a:r>
            <a:r>
              <a:rPr lang="en-IN" sz="5600" dirty="0"/>
              <a:t> != -1) {</a:t>
            </a:r>
          </a:p>
          <a:p>
            <a:pPr marL="0" indent="0">
              <a:buNone/>
            </a:pPr>
            <a:r>
              <a:rPr lang="en-IN" sz="5600" dirty="0"/>
              <a:t>            </a:t>
            </a:r>
            <a:r>
              <a:rPr lang="en-IN" sz="5600" dirty="0" err="1"/>
              <a:t>Toast.makeText</a:t>
            </a:r>
            <a:r>
              <a:rPr lang="en-IN" sz="5600" dirty="0"/>
              <a:t>(this, "User inserted with ID: " + </a:t>
            </a:r>
            <a:r>
              <a:rPr lang="en-IN" sz="5600" dirty="0" err="1"/>
              <a:t>newRowId</a:t>
            </a:r>
            <a:r>
              <a:rPr lang="en-IN" sz="5600" dirty="0"/>
              <a:t>, </a:t>
            </a:r>
            <a:r>
              <a:rPr lang="en-IN" sz="5600" dirty="0" err="1"/>
              <a:t>Toast.LENGTH_SHORT</a:t>
            </a:r>
            <a:r>
              <a:rPr lang="en-IN" sz="5600" dirty="0"/>
              <a:t>).show();</a:t>
            </a:r>
          </a:p>
          <a:p>
            <a:pPr marL="0" indent="0">
              <a:buNone/>
            </a:pPr>
            <a:r>
              <a:rPr lang="en-IN" sz="5600" dirty="0"/>
              <a:t>        }</a:t>
            </a:r>
          </a:p>
          <a:p>
            <a:pPr marL="0" indent="0">
              <a:buNone/>
            </a:pPr>
            <a:r>
              <a:rPr lang="en-IN" sz="5600" dirty="0"/>
              <a:t>    }</a:t>
            </a:r>
          </a:p>
          <a:p>
            <a:pPr marL="0" indent="0">
              <a:buNone/>
            </a:pPr>
            <a:r>
              <a:rPr lang="en-IN" sz="5600" dirty="0"/>
              <a:t>        // Method to retrieve and display all users</a:t>
            </a:r>
          </a:p>
          <a:p>
            <a:pPr marL="0" indent="0">
              <a:buNone/>
            </a:pPr>
            <a:r>
              <a:rPr lang="en-IN" sz="5600" dirty="0"/>
              <a:t>    private void </a:t>
            </a:r>
            <a:r>
              <a:rPr lang="en-IN" sz="5600" dirty="0" err="1"/>
              <a:t>getUsers</a:t>
            </a:r>
            <a:r>
              <a:rPr lang="en-IN" sz="5600" dirty="0"/>
              <a:t>() {</a:t>
            </a:r>
          </a:p>
          <a:p>
            <a:pPr marL="0" indent="0">
              <a:buNone/>
            </a:pPr>
            <a:r>
              <a:rPr lang="en-IN" sz="5600" dirty="0"/>
              <a:t>        </a:t>
            </a:r>
            <a:r>
              <a:rPr lang="en-IN" sz="5600" dirty="0" err="1"/>
              <a:t>SQLiteDatabase</a:t>
            </a:r>
            <a:r>
              <a:rPr lang="en-IN" sz="5600" dirty="0"/>
              <a:t> </a:t>
            </a:r>
            <a:r>
              <a:rPr lang="en-IN" sz="5600" dirty="0" err="1"/>
              <a:t>db</a:t>
            </a:r>
            <a:r>
              <a:rPr lang="en-IN" sz="5600" dirty="0"/>
              <a:t> = </a:t>
            </a:r>
            <a:r>
              <a:rPr lang="en-IN" sz="5600" dirty="0" err="1"/>
              <a:t>dbHelper.getReadableDatabase</a:t>
            </a:r>
            <a:r>
              <a:rPr lang="en-IN" sz="5600" dirty="0"/>
              <a:t>();</a:t>
            </a:r>
          </a:p>
          <a:p>
            <a:pPr marL="0" indent="0">
              <a:buNone/>
            </a:pPr>
            <a:r>
              <a:rPr lang="en-IN" dirty="0"/>
              <a:t>        </a:t>
            </a:r>
          </a:p>
          <a:p>
            <a:pPr marL="0" indent="0">
              <a:buNone/>
            </a:pPr>
            <a:endParaRPr lang="en-IN" dirty="0"/>
          </a:p>
        </p:txBody>
      </p:sp>
    </p:spTree>
    <p:extLst>
      <p:ext uri="{BB962C8B-B14F-4D97-AF65-F5344CB8AC3E}">
        <p14:creationId xmlns="" xmlns:p14="http://schemas.microsoft.com/office/powerpoint/2010/main" val="1271035581"/>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6C205B2-57E0-1197-D4E7-37AD2AAB1BFF}"/>
              </a:ext>
            </a:extLst>
          </p:cNvPr>
          <p:cNvSpPr>
            <a:spLocks noGrp="1"/>
          </p:cNvSpPr>
          <p:nvPr>
            <p:ph type="title"/>
          </p:nvPr>
        </p:nvSpPr>
        <p:spPr>
          <a:xfrm>
            <a:off x="1260850" y="365125"/>
            <a:ext cx="10092950" cy="390249"/>
          </a:xfrm>
        </p:spPr>
        <p:txBody>
          <a:bodyPr>
            <a:normAutofit fontScale="90000"/>
          </a:bodyPr>
          <a:lstStyle/>
          <a:p>
            <a:r>
              <a:rPr lang="en-US" dirty="0"/>
              <a:t>Insert and Retrieve Data from the Database</a:t>
            </a:r>
            <a:endParaRPr lang="en-IN" dirty="0"/>
          </a:p>
        </p:txBody>
      </p:sp>
      <p:sp>
        <p:nvSpPr>
          <p:cNvPr id="3" name="Content Placeholder 2">
            <a:extLst>
              <a:ext uri="{FF2B5EF4-FFF2-40B4-BE49-F238E27FC236}">
                <a16:creationId xmlns="" xmlns:a16="http://schemas.microsoft.com/office/drawing/2014/main" id="{A1A4F44A-47FF-D6CC-D19E-B739C3D4F11D}"/>
              </a:ext>
            </a:extLst>
          </p:cNvPr>
          <p:cNvSpPr>
            <a:spLocks noGrp="1"/>
          </p:cNvSpPr>
          <p:nvPr>
            <p:ph idx="1"/>
          </p:nvPr>
        </p:nvSpPr>
        <p:spPr>
          <a:xfrm>
            <a:off x="744015" y="1010952"/>
            <a:ext cx="10609785" cy="5166011"/>
          </a:xfrm>
        </p:spPr>
        <p:txBody>
          <a:bodyPr>
            <a:normAutofit fontScale="32500" lnSpcReduction="20000"/>
          </a:bodyPr>
          <a:lstStyle/>
          <a:p>
            <a:pPr marL="0" indent="0">
              <a:buNone/>
            </a:pPr>
            <a:r>
              <a:rPr lang="en-IN" sz="4300" dirty="0"/>
              <a:t> // Define the columns we want to retrieve</a:t>
            </a:r>
          </a:p>
          <a:p>
            <a:pPr marL="0" indent="0">
              <a:buNone/>
            </a:pPr>
            <a:r>
              <a:rPr lang="en-IN" sz="4300" dirty="0"/>
              <a:t>        String[] projection = {</a:t>
            </a:r>
          </a:p>
          <a:p>
            <a:pPr marL="0" indent="0">
              <a:buNone/>
            </a:pPr>
            <a:r>
              <a:rPr lang="en-IN" sz="4300" dirty="0"/>
              <a:t>            </a:t>
            </a:r>
            <a:r>
              <a:rPr lang="en-IN" sz="4300" dirty="0" err="1"/>
              <a:t>DatabaseHelper.COLUMN_ID</a:t>
            </a:r>
            <a:r>
              <a:rPr lang="en-IN" sz="4300" dirty="0"/>
              <a:t>,</a:t>
            </a:r>
          </a:p>
          <a:p>
            <a:pPr marL="0" indent="0">
              <a:buNone/>
            </a:pPr>
            <a:r>
              <a:rPr lang="en-IN" sz="4300" dirty="0"/>
              <a:t>            </a:t>
            </a:r>
            <a:r>
              <a:rPr lang="en-IN" sz="4300" dirty="0" err="1"/>
              <a:t>DatabaseHelper.COLUMN_NAME</a:t>
            </a:r>
            <a:r>
              <a:rPr lang="en-IN" sz="4300" dirty="0"/>
              <a:t>,</a:t>
            </a:r>
          </a:p>
          <a:p>
            <a:pPr marL="0" indent="0">
              <a:buNone/>
            </a:pPr>
            <a:r>
              <a:rPr lang="en-IN" sz="4300" dirty="0"/>
              <a:t>            </a:t>
            </a:r>
            <a:r>
              <a:rPr lang="en-IN" sz="4300" dirty="0" err="1"/>
              <a:t>DatabaseHelper.COLUMN_EMAIL</a:t>
            </a:r>
            <a:endParaRPr lang="en-IN" sz="4300" dirty="0"/>
          </a:p>
          <a:p>
            <a:pPr marL="0" indent="0">
              <a:buNone/>
            </a:pPr>
            <a:r>
              <a:rPr lang="en-IN" sz="4300" dirty="0"/>
              <a:t>        };</a:t>
            </a:r>
          </a:p>
          <a:p>
            <a:pPr marL="0" indent="0">
              <a:buNone/>
            </a:pPr>
            <a:r>
              <a:rPr lang="en-IN" sz="4300" dirty="0"/>
              <a:t>        </a:t>
            </a:r>
          </a:p>
          <a:p>
            <a:pPr marL="0" indent="0">
              <a:buNone/>
            </a:pPr>
            <a:r>
              <a:rPr lang="en-IN" sz="4300" dirty="0"/>
              <a:t>        // Query the database</a:t>
            </a:r>
          </a:p>
          <a:p>
            <a:pPr marL="0" indent="0">
              <a:buNone/>
            </a:pPr>
            <a:r>
              <a:rPr lang="en-IN" sz="4300" dirty="0"/>
              <a:t>        Cursor </a:t>
            </a:r>
            <a:r>
              <a:rPr lang="en-IN" sz="4300" dirty="0" err="1"/>
              <a:t>cursor</a:t>
            </a:r>
            <a:r>
              <a:rPr lang="en-IN" sz="4300" dirty="0"/>
              <a:t> = </a:t>
            </a:r>
            <a:r>
              <a:rPr lang="en-IN" sz="4300" dirty="0" err="1"/>
              <a:t>db.query</a:t>
            </a:r>
            <a:r>
              <a:rPr lang="en-IN" sz="4300" dirty="0"/>
              <a:t>(</a:t>
            </a:r>
          </a:p>
          <a:p>
            <a:pPr marL="0" indent="0">
              <a:buNone/>
            </a:pPr>
            <a:r>
              <a:rPr lang="en-IN" sz="4300" dirty="0"/>
              <a:t>                </a:t>
            </a:r>
            <a:r>
              <a:rPr lang="en-IN" sz="4300" dirty="0" err="1"/>
              <a:t>DatabaseHelper.TABLE_USER</a:t>
            </a:r>
            <a:r>
              <a:rPr lang="en-IN" sz="4300" dirty="0"/>
              <a:t>,   // Table name</a:t>
            </a:r>
          </a:p>
          <a:p>
            <a:pPr marL="0" indent="0">
              <a:buNone/>
            </a:pPr>
            <a:r>
              <a:rPr lang="en-IN" sz="4300" dirty="0"/>
              <a:t>                projection,                  // Columns to return</a:t>
            </a:r>
          </a:p>
          <a:p>
            <a:pPr marL="0" indent="0">
              <a:buNone/>
            </a:pPr>
            <a:r>
              <a:rPr lang="en-IN" sz="4300" dirty="0"/>
              <a:t>                null,                        // WHERE clause (no filter)</a:t>
            </a:r>
          </a:p>
          <a:p>
            <a:pPr marL="0" indent="0">
              <a:buNone/>
            </a:pPr>
            <a:r>
              <a:rPr lang="en-IN" sz="4300" dirty="0"/>
              <a:t>                null,                        // WHERE arguments</a:t>
            </a:r>
          </a:p>
          <a:p>
            <a:pPr marL="0" indent="0">
              <a:buNone/>
            </a:pPr>
            <a:r>
              <a:rPr lang="en-IN" sz="4300" dirty="0"/>
              <a:t>                null,                        // GROUP BY</a:t>
            </a:r>
          </a:p>
          <a:p>
            <a:pPr marL="0" indent="0">
              <a:buNone/>
            </a:pPr>
            <a:r>
              <a:rPr lang="en-IN" sz="4300" dirty="0"/>
              <a:t>                null,                        // HAVING</a:t>
            </a:r>
          </a:p>
          <a:p>
            <a:pPr marL="0" indent="0">
              <a:buNone/>
            </a:pPr>
            <a:r>
              <a:rPr lang="en-IN" sz="4300" dirty="0"/>
              <a:t>                null                         // ORDER BY (optional)</a:t>
            </a:r>
          </a:p>
          <a:p>
            <a:pPr marL="0" indent="0">
              <a:buNone/>
            </a:pPr>
            <a:r>
              <a:rPr lang="en-IN" sz="4300" dirty="0"/>
              <a:t>        );</a:t>
            </a:r>
          </a:p>
          <a:p>
            <a:pPr marL="0" indent="0">
              <a:buNone/>
            </a:pPr>
            <a:r>
              <a:rPr lang="en-IN" sz="4300" dirty="0"/>
              <a:t>        </a:t>
            </a:r>
          </a:p>
          <a:p>
            <a:endParaRPr lang="en-IN" dirty="0"/>
          </a:p>
        </p:txBody>
      </p:sp>
    </p:spTree>
    <p:extLst>
      <p:ext uri="{BB962C8B-B14F-4D97-AF65-F5344CB8AC3E}">
        <p14:creationId xmlns="" xmlns:p14="http://schemas.microsoft.com/office/powerpoint/2010/main" val="2691773023"/>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0410A6D-059E-C5C7-3BB7-BA70860978AE}"/>
              </a:ext>
            </a:extLst>
          </p:cNvPr>
          <p:cNvSpPr>
            <a:spLocks noGrp="1"/>
          </p:cNvSpPr>
          <p:nvPr>
            <p:ph type="title"/>
          </p:nvPr>
        </p:nvSpPr>
        <p:spPr>
          <a:xfrm>
            <a:off x="1175656" y="365125"/>
            <a:ext cx="10178143" cy="458403"/>
          </a:xfrm>
        </p:spPr>
        <p:txBody>
          <a:bodyPr>
            <a:normAutofit fontScale="90000"/>
          </a:bodyPr>
          <a:lstStyle/>
          <a:p>
            <a:r>
              <a:rPr lang="en-US" dirty="0"/>
              <a:t>Insert and Retrieve Data from the Database</a:t>
            </a:r>
            <a:endParaRPr lang="en-IN" dirty="0"/>
          </a:p>
        </p:txBody>
      </p:sp>
      <p:sp>
        <p:nvSpPr>
          <p:cNvPr id="3" name="Content Placeholder 2">
            <a:extLst>
              <a:ext uri="{FF2B5EF4-FFF2-40B4-BE49-F238E27FC236}">
                <a16:creationId xmlns="" xmlns:a16="http://schemas.microsoft.com/office/drawing/2014/main" id="{AE79E43A-D3E7-320F-D587-7ED3D8ED1898}"/>
              </a:ext>
            </a:extLst>
          </p:cNvPr>
          <p:cNvSpPr>
            <a:spLocks noGrp="1"/>
          </p:cNvSpPr>
          <p:nvPr>
            <p:ph idx="1"/>
          </p:nvPr>
        </p:nvSpPr>
        <p:spPr/>
        <p:txBody>
          <a:bodyPr>
            <a:normAutofit fontScale="55000" lnSpcReduction="20000"/>
          </a:bodyPr>
          <a:lstStyle/>
          <a:p>
            <a:pPr marL="0" indent="0">
              <a:buNone/>
            </a:pPr>
            <a:r>
              <a:rPr lang="en-IN" dirty="0"/>
              <a:t> // Loop through the result set and show each user</a:t>
            </a:r>
          </a:p>
          <a:p>
            <a:pPr marL="0" indent="0">
              <a:buNone/>
            </a:pPr>
            <a:r>
              <a:rPr lang="en-IN" dirty="0"/>
              <a:t>        while (</a:t>
            </a:r>
            <a:r>
              <a:rPr lang="en-IN" dirty="0" err="1"/>
              <a:t>cursor.moveToNext</a:t>
            </a:r>
            <a:r>
              <a:rPr lang="en-IN" dirty="0"/>
              <a:t>()) {</a:t>
            </a:r>
          </a:p>
          <a:p>
            <a:pPr marL="0" indent="0">
              <a:buNone/>
            </a:pPr>
            <a:r>
              <a:rPr lang="en-IN" dirty="0"/>
              <a:t>            int id = </a:t>
            </a:r>
            <a:r>
              <a:rPr lang="en-IN" dirty="0" err="1"/>
              <a:t>cursor.getInt</a:t>
            </a:r>
            <a:r>
              <a:rPr lang="en-IN" dirty="0"/>
              <a:t>(</a:t>
            </a:r>
            <a:r>
              <a:rPr lang="en-IN" dirty="0" err="1"/>
              <a:t>cursor.getColumnIndexOrThrow</a:t>
            </a:r>
            <a:r>
              <a:rPr lang="en-IN" dirty="0"/>
              <a:t>(</a:t>
            </a:r>
            <a:r>
              <a:rPr lang="en-IN" dirty="0" err="1"/>
              <a:t>DatabaseHelper.COLUMN_ID</a:t>
            </a:r>
            <a:r>
              <a:rPr lang="en-IN" dirty="0"/>
              <a:t>));</a:t>
            </a:r>
          </a:p>
          <a:p>
            <a:pPr marL="0" indent="0">
              <a:buNone/>
            </a:pPr>
            <a:r>
              <a:rPr lang="en-IN" dirty="0"/>
              <a:t>            String name = </a:t>
            </a:r>
            <a:r>
              <a:rPr lang="en-IN" dirty="0" err="1"/>
              <a:t>cursor.getString</a:t>
            </a:r>
            <a:r>
              <a:rPr lang="en-IN" dirty="0"/>
              <a:t>(</a:t>
            </a:r>
            <a:r>
              <a:rPr lang="en-IN" dirty="0" err="1"/>
              <a:t>cursor.getColumnIndexOrThrow</a:t>
            </a:r>
            <a:r>
              <a:rPr lang="en-IN" dirty="0"/>
              <a:t>(</a:t>
            </a:r>
            <a:r>
              <a:rPr lang="en-IN" dirty="0" err="1"/>
              <a:t>DatabaseHelper.COLUMN_NAME</a:t>
            </a:r>
            <a:r>
              <a:rPr lang="en-IN" dirty="0"/>
              <a:t>));</a:t>
            </a:r>
          </a:p>
          <a:p>
            <a:pPr marL="0" indent="0">
              <a:buNone/>
            </a:pPr>
            <a:r>
              <a:rPr lang="en-IN" dirty="0"/>
              <a:t>            String email = </a:t>
            </a:r>
            <a:r>
              <a:rPr lang="en-IN" dirty="0" err="1"/>
              <a:t>cursor.getString</a:t>
            </a:r>
            <a:r>
              <a:rPr lang="en-IN" dirty="0"/>
              <a:t>(</a:t>
            </a:r>
            <a:r>
              <a:rPr lang="en-IN" dirty="0" err="1"/>
              <a:t>cursor.getColumnIndexOrThrow</a:t>
            </a:r>
            <a:r>
              <a:rPr lang="en-IN" dirty="0"/>
              <a:t>(</a:t>
            </a:r>
            <a:r>
              <a:rPr lang="en-IN" dirty="0" err="1"/>
              <a:t>DatabaseHelper.COLUMN_EMAIL</a:t>
            </a:r>
            <a:r>
              <a:rPr lang="en-IN" dirty="0"/>
              <a:t>));</a:t>
            </a:r>
          </a:p>
          <a:p>
            <a:pPr marL="0" indent="0">
              <a:buNone/>
            </a:pPr>
            <a:r>
              <a:rPr lang="en-IN" dirty="0"/>
              <a:t>            </a:t>
            </a:r>
          </a:p>
          <a:p>
            <a:pPr marL="0" indent="0">
              <a:buNone/>
            </a:pPr>
            <a:r>
              <a:rPr lang="en-IN" dirty="0"/>
              <a:t>            // Display the user information</a:t>
            </a:r>
          </a:p>
          <a:p>
            <a:pPr marL="0" indent="0">
              <a:buNone/>
            </a:pPr>
            <a:r>
              <a:rPr lang="en-IN" dirty="0"/>
              <a:t>            </a:t>
            </a:r>
            <a:r>
              <a:rPr lang="en-IN" dirty="0" err="1"/>
              <a:t>Toast.makeText</a:t>
            </a:r>
            <a:r>
              <a:rPr lang="en-IN" dirty="0"/>
              <a:t>(this, "ID: " + id + ", Name: " + name + ", Email: " + email, </a:t>
            </a:r>
            <a:r>
              <a:rPr lang="en-IN" dirty="0" err="1"/>
              <a:t>Toast.LENGTH_SHORT</a:t>
            </a:r>
            <a:r>
              <a:rPr lang="en-IN" dirty="0"/>
              <a:t>).show();</a:t>
            </a:r>
          </a:p>
          <a:p>
            <a:pPr marL="0" indent="0">
              <a:buNone/>
            </a:pPr>
            <a:r>
              <a:rPr lang="en-IN" dirty="0"/>
              <a:t>        }</a:t>
            </a:r>
          </a:p>
          <a:p>
            <a:pPr marL="0" indent="0">
              <a:buNone/>
            </a:pPr>
            <a:r>
              <a:rPr lang="en-IN" dirty="0"/>
              <a:t>        </a:t>
            </a:r>
          </a:p>
          <a:p>
            <a:pPr marL="0" indent="0">
              <a:buNone/>
            </a:pPr>
            <a:r>
              <a:rPr lang="en-IN" dirty="0"/>
              <a:t>        </a:t>
            </a:r>
            <a:r>
              <a:rPr lang="en-IN" dirty="0" err="1"/>
              <a:t>cursor.close</a:t>
            </a:r>
            <a:r>
              <a:rPr lang="en-IN" dirty="0"/>
              <a:t>();</a:t>
            </a:r>
          </a:p>
          <a:p>
            <a:pPr marL="0" indent="0">
              <a:buNone/>
            </a:pPr>
            <a:r>
              <a:rPr lang="en-IN" dirty="0"/>
              <a:t>    }</a:t>
            </a:r>
          </a:p>
          <a:p>
            <a:pPr marL="0" indent="0">
              <a:buNone/>
            </a:pPr>
            <a:r>
              <a:rPr lang="en-IN" dirty="0"/>
              <a:t>}</a:t>
            </a:r>
          </a:p>
        </p:txBody>
      </p:sp>
    </p:spTree>
    <p:extLst>
      <p:ext uri="{BB962C8B-B14F-4D97-AF65-F5344CB8AC3E}">
        <p14:creationId xmlns="" xmlns:p14="http://schemas.microsoft.com/office/powerpoint/2010/main" val="3361039303"/>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D57813C-BC4C-60EF-B9C9-EA60C6351A8C}"/>
              </a:ext>
            </a:extLst>
          </p:cNvPr>
          <p:cNvSpPr>
            <a:spLocks noGrp="1"/>
          </p:cNvSpPr>
          <p:nvPr>
            <p:ph idx="1"/>
          </p:nvPr>
        </p:nvSpPr>
        <p:spPr/>
        <p:txBody>
          <a:bodyPr/>
          <a:lstStyle/>
          <a:p>
            <a:endParaRPr lang="en-IN" dirty="0"/>
          </a:p>
        </p:txBody>
      </p:sp>
      <p:sp>
        <p:nvSpPr>
          <p:cNvPr id="4" name="Rectangle 1">
            <a:extLst>
              <a:ext uri="{FF2B5EF4-FFF2-40B4-BE49-F238E27FC236}">
                <a16:creationId xmlns="" xmlns:a16="http://schemas.microsoft.com/office/drawing/2014/main" id="{6D268F60-E5F5-A386-C635-D0BD1213A247}"/>
              </a:ext>
            </a:extLst>
          </p:cNvPr>
          <p:cNvSpPr>
            <a:spLocks noGrp="1" noChangeArrowheads="1"/>
          </p:cNvSpPr>
          <p:nvPr>
            <p:ph type="title"/>
          </p:nvPr>
        </p:nvSpPr>
        <p:spPr bwMode="auto">
          <a:xfrm>
            <a:off x="838200" y="750907"/>
            <a:ext cx="10639772" cy="830997"/>
          </a:xfrm>
          <a:prstGeom prst="rect">
            <a:avLst/>
          </a:prstGeom>
          <a:solidFill>
            <a:srgbClr val="E3E8F4"/>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4D5B7C"/>
                </a:solidFill>
                <a:effectLst/>
                <a:latin typeface="__Inter_1fc7a2"/>
              </a:rPr>
              <a:t>The application consists of 5 classes. We begin with defining with </a:t>
            </a:r>
            <a:r>
              <a:rPr kumimoji="0" lang="en-US" altLang="en-US" sz="1800" b="1" i="0" u="none" strike="noStrike" cap="none" normalizeH="0" baseline="0" dirty="0" err="1">
                <a:ln>
                  <a:noFill/>
                </a:ln>
                <a:solidFill>
                  <a:srgbClr val="4D5B7C"/>
                </a:solidFill>
                <a:effectLst/>
                <a:latin typeface="__Inter_1fc7a2"/>
              </a:rPr>
              <a:t>DatabaseHelper</a:t>
            </a:r>
            <a:r>
              <a:rPr kumimoji="0" lang="en-US" altLang="en-US" sz="1800" b="0" i="0" u="none" strike="noStrike" cap="none" normalizeH="0" baseline="0" dirty="0">
                <a:ln>
                  <a:noFill/>
                </a:ln>
                <a:solidFill>
                  <a:srgbClr val="4D5B7C"/>
                </a:solidFill>
                <a:effectLst/>
                <a:latin typeface="__Inter_1fc7a2"/>
              </a:rPr>
              <a:t>, which is a subclass </a:t>
            </a:r>
            <a:r>
              <a:rPr kumimoji="0" lang="en-US" altLang="en-US" sz="1800" b="0" i="0" u="none" strike="noStrike" cap="none" normalizeH="0" baseline="0" dirty="0" smtClean="0">
                <a:ln>
                  <a:noFill/>
                </a:ln>
                <a:solidFill>
                  <a:srgbClr val="4D5B7C"/>
                </a:solidFill>
                <a:effectLst/>
                <a:latin typeface="__Inter_1fc7a2"/>
              </a:rPr>
              <a:t/>
            </a:r>
            <a:br>
              <a:rPr kumimoji="0" lang="en-US" altLang="en-US" sz="1800" b="0" i="0" u="none" strike="noStrike" cap="none" normalizeH="0" baseline="0" dirty="0" smtClean="0">
                <a:ln>
                  <a:noFill/>
                </a:ln>
                <a:solidFill>
                  <a:srgbClr val="4D5B7C"/>
                </a:solidFill>
                <a:effectLst/>
                <a:latin typeface="__Inter_1fc7a2"/>
              </a:rPr>
            </a:br>
            <a:r>
              <a:rPr kumimoji="0" lang="en-US" altLang="en-US" sz="1800" b="0" i="0" u="none" strike="noStrike" cap="none" normalizeH="0" baseline="0" dirty="0" smtClean="0">
                <a:ln>
                  <a:noFill/>
                </a:ln>
                <a:solidFill>
                  <a:srgbClr val="4D5B7C"/>
                </a:solidFill>
                <a:effectLst/>
                <a:latin typeface="__Inter_1fc7a2"/>
              </a:rPr>
              <a:t>of </a:t>
            </a:r>
            <a:r>
              <a:rPr kumimoji="0" lang="en-US" altLang="en-US" sz="1800" b="0" i="0" u="none" strike="noStrike" cap="none" normalizeH="0" baseline="0" dirty="0" err="1">
                <a:ln>
                  <a:noFill/>
                </a:ln>
                <a:solidFill>
                  <a:srgbClr val="4D5B7C"/>
                </a:solidFill>
                <a:effectLst/>
                <a:latin typeface="__Inter_1fc7a2"/>
              </a:rPr>
              <a:t>SQLiteOpenHelper</a:t>
            </a:r>
            <a:r>
              <a:rPr kumimoji="0" lang="en-US" altLang="en-US" sz="1800" b="0" i="0" u="none" strike="noStrike" cap="none" normalizeH="0" baseline="0" dirty="0">
                <a:ln>
                  <a:noFill/>
                </a:ln>
                <a:solidFill>
                  <a:srgbClr val="4D5B7C"/>
                </a:solidFill>
                <a:effectLst/>
                <a:latin typeface="__Inter_1fc7a2"/>
              </a:rPr>
              <a:t/>
            </a:r>
            <a:br>
              <a:rPr kumimoji="0" lang="en-US" altLang="en-US" sz="1800" b="0" i="0" u="none" strike="noStrike" cap="none" normalizeH="0" baseline="0" dirty="0">
                <a:ln>
                  <a:noFill/>
                </a:ln>
                <a:solidFill>
                  <a:srgbClr val="4D5B7C"/>
                </a:solidFill>
                <a:effectLst/>
                <a:latin typeface="__Inter_1fc7a2"/>
              </a:rPr>
            </a:br>
            <a:r>
              <a:rPr kumimoji="0" lang="en-US" altLang="en-US" sz="1800" b="0" i="0" u="none" strike="noStrike" cap="none" normalizeH="0" baseline="0" dirty="0">
                <a:ln>
                  <a:noFill/>
                </a:ln>
                <a:solidFill>
                  <a:srgbClr val="4D5B7C"/>
                </a:solidFill>
                <a:effectLst/>
                <a:latin typeface="__Inter_1fc7a2"/>
              </a:rPr>
              <a:t> as follows: </a:t>
            </a:r>
            <a:r>
              <a:rPr kumimoji="0" lang="en-US" altLang="en-US" sz="1800" b="0" i="0" u="none" strike="noStrike" cap="none" normalizeH="0" baseline="0" dirty="0">
                <a:ln>
                  <a:noFill/>
                </a:ln>
                <a:solidFill>
                  <a:srgbClr val="24335A"/>
                </a:solidFill>
                <a:effectLst/>
                <a:latin typeface="Courier New" panose="02070309020205020404" pitchFamily="49" charset="0"/>
                <a:cs typeface="Courier New" panose="02070309020205020404" pitchFamily="49" charset="0"/>
              </a:rPr>
              <a:t>DatabaseHelper.java</a:t>
            </a:r>
            <a:r>
              <a:rPr kumimoji="0" lang="en-US" altLang="en-US" sz="1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1678505655"/>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handling</a:t>
            </a:r>
            <a:endParaRPr lang="en-US" dirty="0"/>
          </a:p>
        </p:txBody>
      </p:sp>
      <p:sp>
        <p:nvSpPr>
          <p:cNvPr id="3" name="Content Placeholder 2"/>
          <p:cNvSpPr>
            <a:spLocks noGrp="1"/>
          </p:cNvSpPr>
          <p:nvPr>
            <p:ph idx="1"/>
          </p:nvPr>
        </p:nvSpPr>
        <p:spPr/>
        <p:txBody>
          <a:bodyPr/>
          <a:lstStyle/>
          <a:p>
            <a:pPr>
              <a:buNone/>
            </a:pPr>
            <a:r>
              <a:rPr lang="en-US" dirty="0" smtClean="0"/>
              <a:t>Event handling in Android is the process of capturing and responding to user interactions, such as clicks, touches, and key presses, using the Android framework's event management system</a:t>
            </a:r>
            <a:endParaRPr 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Core Concept</a:t>
            </a:r>
            <a:endParaRPr lang="en-US" dirty="0"/>
          </a:p>
        </p:txBody>
      </p:sp>
      <p:sp>
        <p:nvSpPr>
          <p:cNvPr id="3" name="Content Placeholder 2"/>
          <p:cNvSpPr>
            <a:spLocks noGrp="1"/>
          </p:cNvSpPr>
          <p:nvPr>
            <p:ph idx="1"/>
          </p:nvPr>
        </p:nvSpPr>
        <p:spPr/>
        <p:txBody>
          <a:bodyPr/>
          <a:lstStyle/>
          <a:p>
            <a:r>
              <a:rPr lang="en-US" b="1" dirty="0" smtClean="0"/>
              <a:t>Event Listeners:</a:t>
            </a:r>
            <a:r>
              <a:rPr lang="en-US" dirty="0" smtClean="0"/>
              <a:t> Interfaces within the </a:t>
            </a:r>
            <a:r>
              <a:rPr lang="en-US" dirty="0" smtClean="0">
                <a:hlinkClick r:id="rId2"/>
              </a:rPr>
              <a:t>Android View class</a:t>
            </a:r>
            <a:r>
              <a:rPr lang="en-US" dirty="0" smtClean="0"/>
              <a:t> containing a single callback method (e.g., </a:t>
            </a:r>
            <a:r>
              <a:rPr lang="en-US" dirty="0" err="1" smtClean="0"/>
              <a:t>OnClickListener</a:t>
            </a:r>
            <a:r>
              <a:rPr lang="en-US" dirty="0" smtClean="0"/>
              <a:t>). These are triggered when the user interacts with a UI component.</a:t>
            </a:r>
          </a:p>
          <a:p>
            <a:r>
              <a:rPr lang="en-US" b="1" dirty="0" smtClean="0"/>
              <a:t>Event Handlers:</a:t>
            </a:r>
            <a:r>
              <a:rPr lang="en-US" dirty="0" smtClean="0"/>
              <a:t> The actual callback methods (e.g., </a:t>
            </a:r>
            <a:r>
              <a:rPr lang="en-US" dirty="0" err="1" smtClean="0"/>
              <a:t>onClick</a:t>
            </a:r>
            <a:r>
              <a:rPr lang="en-US" dirty="0" smtClean="0"/>
              <a:t>()) where developers define the specific logic to execute in response to an event.</a:t>
            </a:r>
          </a:p>
          <a:p>
            <a:r>
              <a:rPr lang="en-US" b="1" dirty="0" smtClean="0"/>
              <a:t>Event Registration:</a:t>
            </a:r>
            <a:r>
              <a:rPr lang="en-US" dirty="0" smtClean="0"/>
              <a:t> The process of associating an event listener with a specific view so the framework knows which handler to call. </a:t>
            </a:r>
          </a:p>
          <a:p>
            <a:pPr>
              <a:buNone/>
            </a:pPr>
            <a:endParaRPr 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Common Event Listeners &amp; Handlers</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buNone/>
            </a:pPr>
            <a:r>
              <a:rPr lang="en-US" sz="1400" dirty="0" err="1" smtClean="0">
                <a:latin typeface="Times New Roman" pitchFamily="18" charset="0"/>
                <a:cs typeface="Times New Roman" pitchFamily="18" charset="0"/>
              </a:rPr>
              <a:t>OnClickListener</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onClick</a:t>
            </a:r>
            <a:r>
              <a:rPr lang="en-US" sz="1400" dirty="0" smtClean="0">
                <a:latin typeface="Times New Roman" pitchFamily="18" charset="0"/>
                <a:cs typeface="Times New Roman" pitchFamily="18" charset="0"/>
              </a:rPr>
              <a:t>()            Single </a:t>
            </a:r>
            <a:r>
              <a:rPr lang="en-US" sz="1400" dirty="0" smtClean="0">
                <a:latin typeface="Times New Roman" pitchFamily="18" charset="0"/>
                <a:cs typeface="Times New Roman" pitchFamily="18" charset="0"/>
              </a:rPr>
              <a:t>tap or click on a View</a:t>
            </a:r>
            <a:r>
              <a:rPr lang="en-US" sz="1400" dirty="0" smtClean="0">
                <a:latin typeface="Times New Roman" pitchFamily="18" charset="0"/>
                <a:cs typeface="Times New Roman" pitchFamily="18" charset="0"/>
              </a:rPr>
              <a:t>.</a:t>
            </a:r>
          </a:p>
          <a:p>
            <a:pPr>
              <a:buNone/>
            </a:pPr>
            <a:r>
              <a:rPr lang="en-US" sz="1400" dirty="0" err="1" smtClean="0">
                <a:latin typeface="Times New Roman" pitchFamily="18" charset="0"/>
                <a:cs typeface="Times New Roman" pitchFamily="18" charset="0"/>
              </a:rPr>
              <a:t>OnLongClickListener</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onLongClick</a:t>
            </a:r>
            <a:r>
              <a:rPr lang="en-US" sz="1400" dirty="0" smtClean="0">
                <a:latin typeface="Times New Roman" pitchFamily="18" charset="0"/>
                <a:cs typeface="Times New Roman" pitchFamily="18" charset="0"/>
              </a:rPr>
              <a:t>()        Holding </a:t>
            </a:r>
            <a:r>
              <a:rPr lang="en-US" sz="1400" dirty="0" smtClean="0">
                <a:latin typeface="Times New Roman" pitchFamily="18" charset="0"/>
                <a:cs typeface="Times New Roman" pitchFamily="18" charset="0"/>
              </a:rPr>
              <a:t>a View for one second or more</a:t>
            </a:r>
            <a:r>
              <a:rPr lang="en-US" sz="1400" dirty="0" smtClean="0">
                <a:latin typeface="Times New Roman" pitchFamily="18" charset="0"/>
                <a:cs typeface="Times New Roman" pitchFamily="18" charset="0"/>
              </a:rPr>
              <a:t>.</a:t>
            </a:r>
          </a:p>
          <a:p>
            <a:pPr>
              <a:buNone/>
            </a:pPr>
            <a:r>
              <a:rPr lang="en-US" sz="1400" dirty="0" err="1" smtClean="0"/>
              <a:t>OnTouchListener</a:t>
            </a:r>
            <a:r>
              <a:rPr lang="en-US" sz="1400" dirty="0" smtClean="0"/>
              <a:t>     </a:t>
            </a:r>
            <a:r>
              <a:rPr lang="en-US" sz="1400" dirty="0" err="1" smtClean="0"/>
              <a:t>onTouch</a:t>
            </a:r>
            <a:r>
              <a:rPr lang="en-US" sz="1400" dirty="0" smtClean="0"/>
              <a:t>()                Any </a:t>
            </a:r>
            <a:r>
              <a:rPr lang="en-US" sz="1400" dirty="0" smtClean="0"/>
              <a:t>touch screen interaction (press, release, or move</a:t>
            </a:r>
            <a:r>
              <a:rPr lang="en-US" sz="1400" dirty="0" smtClean="0"/>
              <a:t>).</a:t>
            </a:r>
          </a:p>
          <a:p>
            <a:pPr>
              <a:buNone/>
            </a:pPr>
            <a:r>
              <a:rPr lang="en-US" sz="1400" dirty="0" err="1" smtClean="0"/>
              <a:t>OnKeyListener</a:t>
            </a:r>
            <a:r>
              <a:rPr lang="en-US" sz="1400" dirty="0" smtClean="0"/>
              <a:t>        </a:t>
            </a:r>
            <a:r>
              <a:rPr lang="en-US" sz="1400" dirty="0" err="1" smtClean="0"/>
              <a:t>onKey</a:t>
            </a:r>
            <a:r>
              <a:rPr lang="en-US" sz="1400" dirty="0" smtClean="0"/>
              <a:t>()                   Pressing </a:t>
            </a:r>
            <a:r>
              <a:rPr lang="en-US" sz="1400" dirty="0" smtClean="0"/>
              <a:t>or releasing a hardware key while focused</a:t>
            </a:r>
            <a:r>
              <a:rPr lang="en-US" sz="1400" dirty="0" smtClean="0"/>
              <a:t>.</a:t>
            </a:r>
          </a:p>
          <a:p>
            <a:pPr>
              <a:buNone/>
            </a:pPr>
            <a:r>
              <a:rPr lang="en-US" sz="1400" dirty="0" err="1" smtClean="0"/>
              <a:t>OnFocusChangeListener</a:t>
            </a:r>
            <a:r>
              <a:rPr lang="en-US" sz="1400" dirty="0" smtClean="0"/>
              <a:t>    </a:t>
            </a:r>
            <a:r>
              <a:rPr lang="en-US" sz="1400" dirty="0" err="1" smtClean="0"/>
              <a:t>onFocusChange</a:t>
            </a:r>
            <a:r>
              <a:rPr lang="en-US" sz="1400" smtClean="0"/>
              <a:t>()            Navigating </a:t>
            </a:r>
            <a:r>
              <a:rPr lang="en-US" sz="1400" dirty="0" smtClean="0"/>
              <a:t>onto or away from a View.</a:t>
            </a:r>
            <a:endParaRPr lang="en-US" sz="14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17244</TotalTime>
  <Words>6060</Words>
  <Application>Microsoft Office PowerPoint</Application>
  <PresentationFormat>Custom</PresentationFormat>
  <Paragraphs>1466</Paragraphs>
  <Slides>139</Slides>
  <Notes>3</Notes>
  <HiddenSlides>0</HiddenSlides>
  <MMClips>0</MMClips>
  <ScaleCrop>false</ScaleCrop>
  <HeadingPairs>
    <vt:vector size="4" baseType="variant">
      <vt:variant>
        <vt:lpstr>Theme</vt:lpstr>
      </vt:variant>
      <vt:variant>
        <vt:i4>1</vt:i4>
      </vt:variant>
      <vt:variant>
        <vt:lpstr>Slide Titles</vt:lpstr>
      </vt:variant>
      <vt:variant>
        <vt:i4>139</vt:i4>
      </vt:variant>
    </vt:vector>
  </HeadingPairs>
  <TitlesOfParts>
    <vt:vector size="140" baseType="lpstr">
      <vt:lpstr>Office Theme</vt:lpstr>
      <vt:lpstr>Mobile application Developments</vt:lpstr>
      <vt:lpstr>Slide 2</vt:lpstr>
      <vt:lpstr>Slide 3</vt:lpstr>
      <vt:lpstr>Slide 4</vt:lpstr>
      <vt:lpstr>Slide 5</vt:lpstr>
      <vt:lpstr>Feature of Android </vt:lpstr>
      <vt:lpstr>Slide 7</vt:lpstr>
      <vt:lpstr>Slide 8</vt:lpstr>
      <vt:lpstr>Android Version</vt:lpstr>
      <vt:lpstr>Slide 10</vt:lpstr>
      <vt:lpstr>Slide 11</vt:lpstr>
      <vt:lpstr>Programming Languages used in Developing Android Applications </vt:lpstr>
      <vt:lpstr>Advantages  and Disadvantage of Android Development </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Intent in Android</vt:lpstr>
      <vt:lpstr>Some Important Method  </vt:lpstr>
      <vt:lpstr>Type of Intent</vt:lpstr>
      <vt:lpstr>Example: you may write the following code to view the webpage</vt:lpstr>
      <vt:lpstr>Example</vt:lpstr>
      <vt:lpstr>Layouts in views</vt:lpstr>
      <vt:lpstr>Explicit Intent </vt:lpstr>
      <vt:lpstr>Example: </vt:lpstr>
      <vt:lpstr>Method </vt:lpstr>
      <vt:lpstr>Layouts in views</vt:lpstr>
      <vt:lpstr>Layout  View</vt:lpstr>
      <vt:lpstr>View</vt:lpstr>
      <vt:lpstr>View Group</vt:lpstr>
      <vt:lpstr>The Android framework will allow us to use UI elements or widgets in two ways:   </vt:lpstr>
      <vt:lpstr>Layout </vt:lpstr>
      <vt:lpstr>Load the XML resource </vt:lpstr>
      <vt:lpstr>Types of Android Layout </vt:lpstr>
      <vt:lpstr> Write the XML </vt:lpstr>
      <vt:lpstr>XML Example (Vertical):</vt:lpstr>
      <vt:lpstr>Android Relative Layout: </vt:lpstr>
      <vt:lpstr>Properties</vt:lpstr>
      <vt:lpstr>Example </vt:lpstr>
      <vt:lpstr>Android Constraint Layout: </vt:lpstr>
      <vt:lpstr>Other Types of Android Layout</vt:lpstr>
      <vt:lpstr>AbsoluteLayout</vt:lpstr>
      <vt:lpstr>Example</vt:lpstr>
      <vt:lpstr>Table Layout</vt:lpstr>
      <vt:lpstr> Important Attributes  </vt:lpstr>
      <vt:lpstr>stretchColumns:</vt:lpstr>
      <vt:lpstr>shrinkColumns:</vt:lpstr>
      <vt:lpstr>collapseColumns:</vt:lpstr>
      <vt:lpstr>example</vt:lpstr>
      <vt:lpstr>FrameLayout</vt:lpstr>
      <vt:lpstr>example</vt:lpstr>
      <vt:lpstr>Example</vt:lpstr>
      <vt:lpstr>example</vt:lpstr>
      <vt:lpstr>Scroll layout</vt:lpstr>
      <vt:lpstr>Key Concepts</vt:lpstr>
      <vt:lpstr>Example</vt:lpstr>
      <vt:lpstr>Dialog</vt:lpstr>
      <vt:lpstr>Alert Dialog</vt:lpstr>
      <vt:lpstr>Example</vt:lpstr>
      <vt:lpstr>ProgressDialog</vt:lpstr>
      <vt:lpstr>ProgressDialog</vt:lpstr>
      <vt:lpstr>Horizontal ProgressDialog</vt:lpstr>
      <vt:lpstr>TimePicker and DatePicker View </vt:lpstr>
      <vt:lpstr>Adapter and AdapterView</vt:lpstr>
      <vt:lpstr> Adapter </vt:lpstr>
      <vt:lpstr>Key Methods in Adapter: </vt:lpstr>
      <vt:lpstr>AdapterView </vt:lpstr>
      <vt:lpstr>Common Types of AdapterViews:</vt:lpstr>
      <vt:lpstr>Example of an AdapterView (ListView):</vt:lpstr>
      <vt:lpstr>Example: XML Layout (activity_main.xml)</vt:lpstr>
      <vt:lpstr>MainActivity.java</vt:lpstr>
      <vt:lpstr>Spinner View</vt:lpstr>
      <vt:lpstr>Slide 104</vt:lpstr>
      <vt:lpstr>Slide 105</vt:lpstr>
      <vt:lpstr>Slide 106</vt:lpstr>
      <vt:lpstr>Slide 107</vt:lpstr>
      <vt:lpstr>Android Different Types of UI Controls </vt:lpstr>
      <vt:lpstr>Check Box</vt:lpstr>
      <vt:lpstr>Slide 110</vt:lpstr>
      <vt:lpstr>Slide 111</vt:lpstr>
      <vt:lpstr>Slide 112</vt:lpstr>
      <vt:lpstr>Slide 113</vt:lpstr>
      <vt:lpstr>Slide 114</vt:lpstr>
      <vt:lpstr>Slide 115</vt:lpstr>
      <vt:lpstr>Slide 116</vt:lpstr>
      <vt:lpstr>Storage option</vt:lpstr>
      <vt:lpstr>SharedPreferences  </vt:lpstr>
      <vt:lpstr>1. Initialize SharedPreferences</vt:lpstr>
      <vt:lpstr>Example</vt:lpstr>
      <vt:lpstr>2. Write Data</vt:lpstr>
      <vt:lpstr>  3. Read Data  </vt:lpstr>
      <vt:lpstr>example</vt:lpstr>
      <vt:lpstr>Slide 124</vt:lpstr>
      <vt:lpstr>Data Base in Android</vt:lpstr>
      <vt:lpstr>Data Base in Android</vt:lpstr>
      <vt:lpstr>Steps to create data base: </vt:lpstr>
      <vt:lpstr>Create a Database Helper Class</vt:lpstr>
      <vt:lpstr>Create a Database Helper Class</vt:lpstr>
      <vt:lpstr>Create a Model Class</vt:lpstr>
      <vt:lpstr>Create a Model Class</vt:lpstr>
      <vt:lpstr>Insert and Retrieve Data from the Database</vt:lpstr>
      <vt:lpstr>Insert and Retrieve Data from the Database</vt:lpstr>
      <vt:lpstr>Insert and Retrieve Data from the Database</vt:lpstr>
      <vt:lpstr>Insert and Retrieve Data from the Database</vt:lpstr>
      <vt:lpstr>The application consists of 5 classes. We begin with defining with DatabaseHelper, which is a subclass  of SQLiteOpenHelper  as follows: DatabaseHelper.java </vt:lpstr>
      <vt:lpstr>Event handling</vt:lpstr>
      <vt:lpstr>Core Concept</vt:lpstr>
      <vt:lpstr>Common Event Listeners &amp; Handlers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application Developments</dc:title>
  <dc:creator>Anuj Dixit</dc:creator>
  <cp:lastModifiedBy>ANUJ KUMAR</cp:lastModifiedBy>
  <cp:revision>156</cp:revision>
  <dcterms:created xsi:type="dcterms:W3CDTF">2024-08-01T05:17:29Z</dcterms:created>
  <dcterms:modified xsi:type="dcterms:W3CDTF">2026-04-22T07:11:59Z</dcterms:modified>
</cp:coreProperties>
</file>