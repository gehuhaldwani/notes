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77" r:id="rId5"/>
    <p:sldId id="258" r:id="rId6"/>
    <p:sldId id="259" r:id="rId7"/>
    <p:sldId id="266" r:id="rId8"/>
    <p:sldId id="260" r:id="rId9"/>
    <p:sldId id="261" r:id="rId10"/>
    <p:sldId id="262" r:id="rId11"/>
    <p:sldId id="263" r:id="rId12"/>
    <p:sldId id="264" r:id="rId13"/>
    <p:sldId id="265" r:id="rId14"/>
    <p:sldId id="268" r:id="rId15"/>
    <p:sldId id="269" r:id="rId16"/>
    <p:sldId id="270" r:id="rId17"/>
    <p:sldId id="271" r:id="rId18"/>
    <p:sldId id="272" r:id="rId19"/>
    <p:sldId id="273" r:id="rId20"/>
    <p:sldId id="274" r:id="rId21"/>
    <p:sldId id="275"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5" d="100"/>
          <a:sy n="85" d="100"/>
        </p:scale>
        <p:origin x="-1074" y="-6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C5C7E8-A1EF-45FB-B11D-D2199A63569B}"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C5C7E8-A1EF-45FB-B11D-D2199A63569B}"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AC5C7E8-A1EF-45FB-B11D-D2199A63569B}"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AC5C7E8-A1EF-45FB-B11D-D2199A63569B}"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AC5C7E8-A1EF-45FB-B11D-D2199A63569B}"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AC5C7E8-A1EF-45FB-B11D-D2199A63569B}"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C5C7E8-A1EF-45FB-B11D-D2199A63569B}"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C5C7E8-A1EF-45FB-B11D-D2199A63569B}"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C5C7E8-A1EF-45FB-B11D-D2199A63569B}"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C5C7E8-A1EF-45FB-B11D-D2199A63569B}"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C5C7E8-A1EF-45FB-B11D-D2199A63569B}"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5CD89E-8E41-4C5D-AE7E-932FF5401A4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5C7E8-A1EF-45FB-B11D-D2199A63569B}" type="datetimeFigureOut">
              <a:rPr lang="en-US" smtClean="0"/>
              <a:pPr/>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5CD89E-8E41-4C5D-AE7E-932FF5401A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130425"/>
            <a:ext cx="7772400" cy="1470025"/>
          </a:xfrm>
        </p:spPr>
        <p:txBody>
          <a:bodyPr/>
          <a:lstStyle/>
          <a:p>
            <a:r>
              <a:rPr lang="en-US" dirty="0" smtClean="0"/>
              <a:t>Unit-1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1500174"/>
            <a:ext cx="8286808" cy="3970318"/>
          </a:xfrm>
          <a:prstGeom prst="rect">
            <a:avLst/>
          </a:prstGeom>
        </p:spPr>
        <p:txBody>
          <a:bodyPr wrap="square">
            <a:spAutoFit/>
          </a:bodyPr>
          <a:lstStyle/>
          <a:p>
            <a:pPr algn="just">
              <a:lnSpc>
                <a:spcPct val="200000"/>
              </a:lnSpc>
            </a:pPr>
            <a:r>
              <a:rPr lang="en-US" dirty="0">
                <a:latin typeface="Times New Roman" pitchFamily="18" charset="0"/>
                <a:cs typeface="Times New Roman" pitchFamily="18" charset="0"/>
              </a:rPr>
              <a:t>Mobile application development is </a:t>
            </a:r>
            <a:r>
              <a:rPr lang="en-US" dirty="0" smtClean="0">
                <a:latin typeface="Times New Roman" pitchFamily="18" charset="0"/>
                <a:cs typeface="Times New Roman" pitchFamily="18" charset="0"/>
              </a:rPr>
              <a:t>the process of creating software for smart phones, tablets, and other mobile devices, involving designing, coding, and deploying apps for specific platforms like </a:t>
            </a:r>
            <a:r>
              <a:rPr lang="en-US" dirty="0" err="1" smtClean="0">
                <a:latin typeface="Times New Roman" pitchFamily="18" charset="0"/>
                <a:cs typeface="Times New Roman" pitchFamily="18" charset="0"/>
              </a:rPr>
              <a:t>iOS</a:t>
            </a:r>
            <a:r>
              <a:rPr lang="en-US" dirty="0" smtClean="0">
                <a:latin typeface="Times New Roman" pitchFamily="18" charset="0"/>
                <a:cs typeface="Times New Roman" pitchFamily="18" charset="0"/>
              </a:rPr>
              <a:t> (Swift/</a:t>
            </a:r>
            <a:r>
              <a:rPr lang="en-US" dirty="0" err="1" smtClean="0">
                <a:latin typeface="Times New Roman" pitchFamily="18" charset="0"/>
                <a:cs typeface="Times New Roman" pitchFamily="18" charset="0"/>
              </a:rPr>
              <a:t>Xcode</a:t>
            </a:r>
            <a:r>
              <a:rPr lang="en-US" dirty="0" smtClean="0">
                <a:latin typeface="Times New Roman" pitchFamily="18" charset="0"/>
                <a:cs typeface="Times New Roman" pitchFamily="18" charset="0"/>
              </a:rPr>
              <a:t>) or Android (</a:t>
            </a:r>
            <a:r>
              <a:rPr lang="en-US" dirty="0" err="1" smtClean="0">
                <a:latin typeface="Times New Roman" pitchFamily="18" charset="0"/>
                <a:cs typeface="Times New Roman" pitchFamily="18" charset="0"/>
              </a:rPr>
              <a:t>Kotlin</a:t>
            </a:r>
            <a:r>
              <a:rPr lang="en-US" dirty="0" smtClean="0">
                <a:latin typeface="Times New Roman" pitchFamily="18" charset="0"/>
                <a:cs typeface="Times New Roman" pitchFamily="18" charset="0"/>
              </a:rPr>
              <a:t>/Java/Android Studio), or using cross-platform tools (Flutter, </a:t>
            </a:r>
            <a:r>
              <a:rPr lang="en-US" dirty="0">
                <a:latin typeface="Times New Roman" pitchFamily="18" charset="0"/>
                <a:cs typeface="Times New Roman" pitchFamily="18" charset="0"/>
              </a:rPr>
              <a:t>React </a:t>
            </a:r>
            <a:r>
              <a:rPr lang="en-US" dirty="0" smtClean="0">
                <a:latin typeface="Times New Roman" pitchFamily="18" charset="0"/>
                <a:cs typeface="Times New Roman" pitchFamily="18" charset="0"/>
              </a:rPr>
              <a:t>Native) to reach both</a:t>
            </a:r>
            <a:r>
              <a:rPr lang="en-US" dirty="0">
                <a:latin typeface="Times New Roman" pitchFamily="18" charset="0"/>
                <a:cs typeface="Times New Roman" pitchFamily="18" charset="0"/>
              </a:rPr>
              <a:t>; it requires focusing on user experience, performance, and device-specific features to deliver functionality from simple utilities to complex services, integrating backend support and testing thoroughly before launch. </a:t>
            </a:r>
          </a:p>
        </p:txBody>
      </p:sp>
      <p:sp>
        <p:nvSpPr>
          <p:cNvPr id="3" name="Title 2"/>
          <p:cNvSpPr>
            <a:spLocks noGrp="1"/>
          </p:cNvSpPr>
          <p:nvPr>
            <p:ph type="title"/>
          </p:nvPr>
        </p:nvSpPr>
        <p:spPr/>
        <p:txBody>
          <a:bodyPr/>
          <a:lstStyle/>
          <a:p>
            <a:r>
              <a:rPr lang="en-US" dirty="0" smtClean="0"/>
              <a:t>Introduction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Rectangle 2"/>
          <p:cNvSpPr/>
          <p:nvPr/>
        </p:nvSpPr>
        <p:spPr>
          <a:xfrm>
            <a:off x="500034" y="1643050"/>
            <a:ext cx="8358246" cy="4662815"/>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Mobile app development is rapidly growing. From retail, telecommunications and e-commerce to insurance, healthcare and government, organizations across industries must meet user expectations for real-time, convenient ways to conduct transactions and access information</a:t>
            </a:r>
            <a:r>
              <a:rPr lang="en-US" dirty="0" smtClean="0">
                <a:latin typeface="Times New Roman" pitchFamily="18" charset="0"/>
                <a:cs typeface="Times New Roman" pitchFamily="18" charset="0"/>
              </a:rPr>
              <a:t>.</a:t>
            </a:r>
          </a:p>
          <a:p>
            <a:pPr algn="just">
              <a:lnSpc>
                <a:spcPct val="150000"/>
              </a:lnSpc>
            </a:pPr>
            <a:r>
              <a:rPr lang="en-US" dirty="0">
                <a:latin typeface="Times New Roman" pitchFamily="18" charset="0"/>
                <a:cs typeface="Times New Roman" pitchFamily="18" charset="0"/>
              </a:rPr>
              <a:t>Many independent application development teams choose to build their apps for Android first. Why? The vast majority, around 70%, of </a:t>
            </a:r>
            <a:r>
              <a:rPr lang="en-US" dirty="0" err="1">
                <a:latin typeface="Times New Roman" pitchFamily="18" charset="0"/>
                <a:cs typeface="Times New Roman" pitchFamily="18" charset="0"/>
              </a:rPr>
              <a:t>smartphones</a:t>
            </a:r>
            <a:r>
              <a:rPr lang="en-US" dirty="0">
                <a:latin typeface="Times New Roman" pitchFamily="18" charset="0"/>
                <a:cs typeface="Times New Roman" pitchFamily="18" charset="0"/>
              </a:rPr>
              <a:t> run Android and the Google Play Store has fewer restrictions than the Apple App Store.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On the other hand, mobile applications developed for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have far fewer devices that need support, making optimization simpler. And user retention is typically higher for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applications</a:t>
            </a:r>
            <a:r>
              <a:rPr lang="en-US" dirty="0"/>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a:t>
            </a:r>
            <a:endParaRPr lang="en-US" dirty="0"/>
          </a:p>
        </p:txBody>
      </p:sp>
      <p:pic>
        <p:nvPicPr>
          <p:cNvPr id="28674" name="Picture 2"/>
          <p:cNvPicPr>
            <a:picLocks noChangeAspect="1" noChangeArrowheads="1"/>
          </p:cNvPicPr>
          <p:nvPr/>
        </p:nvPicPr>
        <p:blipFill>
          <a:blip r:embed="rId2"/>
          <a:srcRect/>
          <a:stretch>
            <a:fillRect/>
          </a:stretch>
        </p:blipFill>
        <p:spPr bwMode="auto">
          <a:xfrm>
            <a:off x="1643042" y="1714488"/>
            <a:ext cx="4929222" cy="49572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8596" y="357166"/>
            <a:ext cx="7858180" cy="3139321"/>
          </a:xfrm>
          <a:prstGeom prst="rect">
            <a:avLst/>
          </a:prstGeom>
        </p:spPr>
        <p:txBody>
          <a:bodyPr wrap="square">
            <a:spAutoFit/>
          </a:bodyPr>
          <a:lstStyle/>
          <a:p>
            <a:pPr fontAlgn="base"/>
            <a:r>
              <a:rPr lang="en-US" dirty="0">
                <a:latin typeface="Times New Roman" pitchFamily="18" charset="0"/>
                <a:cs typeface="Times New Roman" pitchFamily="18" charset="0"/>
              </a:rPr>
              <a:t>Mobile apps are majorly developed for 3 Operating System. :</a:t>
            </a:r>
          </a:p>
          <a:p>
            <a:pPr fontAlgn="base">
              <a:buFont typeface="Arial" pitchFamily="34" charset="0"/>
              <a:buChar char="•"/>
            </a:pPr>
            <a:r>
              <a:rPr lang="en-US" dirty="0">
                <a:latin typeface="Times New Roman" pitchFamily="18" charset="0"/>
                <a:cs typeface="Times New Roman" pitchFamily="18" charset="0"/>
              </a:rPr>
              <a:t>Android  </a:t>
            </a:r>
          </a:p>
          <a:p>
            <a:pPr fontAlgn="base">
              <a:buFont typeface="Arial" pitchFamily="34" charset="0"/>
              <a:buChar char="•"/>
            </a:pPr>
            <a:r>
              <a:rPr lang="en-US" dirty="0">
                <a:latin typeface="Times New Roman" pitchFamily="18" charset="0"/>
                <a:cs typeface="Times New Roman" pitchFamily="18" charset="0"/>
              </a:rPr>
              <a:t>IOS</a:t>
            </a:r>
          </a:p>
          <a:p>
            <a:pPr fontAlgn="base">
              <a:buFont typeface="Arial" pitchFamily="34" charset="0"/>
              <a:buChar char="•"/>
            </a:pPr>
            <a:r>
              <a:rPr lang="en-US" dirty="0">
                <a:latin typeface="Times New Roman" pitchFamily="18" charset="0"/>
                <a:cs typeface="Times New Roman" pitchFamily="18" charset="0"/>
              </a:rPr>
              <a:t>Windows</a:t>
            </a:r>
          </a:p>
          <a:p>
            <a:pPr fontAlgn="base"/>
            <a:r>
              <a:rPr lang="en-US" b="1" dirty="0">
                <a:latin typeface="Times New Roman" pitchFamily="18" charset="0"/>
                <a:cs typeface="Times New Roman" pitchFamily="18" charset="0"/>
              </a:rPr>
              <a:t>There are 3 different ways to develop Mobile apps: -</a:t>
            </a:r>
            <a:endParaRPr lang="en-US" dirty="0">
              <a:latin typeface="Times New Roman" pitchFamily="18" charset="0"/>
              <a:cs typeface="Times New Roman" pitchFamily="18" charset="0"/>
            </a:endParaRPr>
          </a:p>
          <a:p>
            <a:pPr fontAlgn="base">
              <a:lnSpc>
                <a:spcPct val="200000"/>
              </a:lnSpc>
              <a:buFont typeface="Wingdings" pitchFamily="2" charset="2"/>
              <a:buChar char="Ø"/>
            </a:pPr>
            <a:r>
              <a:rPr lang="en-US" dirty="0">
                <a:latin typeface="Times New Roman" pitchFamily="18" charset="0"/>
                <a:cs typeface="Times New Roman" pitchFamily="18" charset="0"/>
              </a:rPr>
              <a:t>1st Party Native App development</a:t>
            </a:r>
          </a:p>
          <a:p>
            <a:pPr fontAlgn="base">
              <a:lnSpc>
                <a:spcPct val="200000"/>
              </a:lnSpc>
              <a:buFont typeface="Wingdings" pitchFamily="2" charset="2"/>
              <a:buChar char="Ø"/>
            </a:pPr>
            <a:r>
              <a:rPr lang="en-US" dirty="0">
                <a:latin typeface="Times New Roman" pitchFamily="18" charset="0"/>
                <a:cs typeface="Times New Roman" pitchFamily="18" charset="0"/>
              </a:rPr>
              <a:t>Progressive web Application</a:t>
            </a:r>
          </a:p>
          <a:p>
            <a:pPr fontAlgn="base">
              <a:lnSpc>
                <a:spcPct val="200000"/>
              </a:lnSpc>
              <a:buFont typeface="Wingdings" pitchFamily="2" charset="2"/>
              <a:buChar char="Ø"/>
            </a:pPr>
            <a:r>
              <a:rPr lang="en-US" dirty="0">
                <a:latin typeface="Times New Roman" pitchFamily="18" charset="0"/>
                <a:cs typeface="Times New Roman" pitchFamily="18" charset="0"/>
              </a:rPr>
              <a:t>Cross-Platform Application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Concept</a:t>
            </a:r>
            <a:endParaRPr lang="en-US" dirty="0"/>
          </a:p>
        </p:txBody>
      </p:sp>
      <p:sp>
        <p:nvSpPr>
          <p:cNvPr id="3" name="Rectangle 2"/>
          <p:cNvSpPr/>
          <p:nvPr/>
        </p:nvSpPr>
        <p:spPr>
          <a:xfrm>
            <a:off x="714348" y="1714488"/>
            <a:ext cx="7786742" cy="923330"/>
          </a:xfrm>
          <a:prstGeom prst="rect">
            <a:avLst/>
          </a:prstGeom>
        </p:spPr>
        <p:txBody>
          <a:bodyPr wrap="square">
            <a:spAutoFit/>
          </a:bodyPr>
          <a:lstStyle/>
          <a:p>
            <a:r>
              <a:rPr lang="en-US" b="1" dirty="0">
                <a:latin typeface="Times New Roman" pitchFamily="18" charset="0"/>
                <a:cs typeface="Times New Roman" pitchFamily="18" charset="0"/>
              </a:rPr>
              <a:t>Platforms:</a:t>
            </a:r>
            <a:r>
              <a:rPr lang="en-US" dirty="0">
                <a:latin typeface="Times New Roman" pitchFamily="18" charset="0"/>
                <a:cs typeface="Times New Roman" pitchFamily="18" charset="0"/>
              </a:rPr>
              <a:t> Primarily Apple's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 Google's Android, each with its own SDK (Software Development Kit) and tools</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Types of Apps</a:t>
            </a:r>
            <a:br>
              <a:rPr lang="en-US" b="1" dirty="0" smtClean="0">
                <a:latin typeface="Times New Roman" pitchFamily="18" charset="0"/>
                <a:cs typeface="Times New Roman" pitchFamily="18" charset="0"/>
              </a:rPr>
            </a:br>
            <a:endParaRPr lang="en-US" dirty="0"/>
          </a:p>
        </p:txBody>
      </p:sp>
      <p:sp>
        <p:nvSpPr>
          <p:cNvPr id="3" name="Rectangle 2"/>
          <p:cNvSpPr/>
          <p:nvPr/>
        </p:nvSpPr>
        <p:spPr>
          <a:xfrm>
            <a:off x="428596" y="928670"/>
            <a:ext cx="7572428" cy="5632311"/>
          </a:xfrm>
          <a:prstGeom prst="rect">
            <a:avLst/>
          </a:prstGeom>
        </p:spPr>
        <p:txBody>
          <a:bodyPr wrap="square">
            <a:spAutoFit/>
          </a:bodyPr>
          <a:lstStyle/>
          <a:p>
            <a:pPr algn="just">
              <a:lnSpc>
                <a:spcPct val="200000"/>
              </a:lnSpc>
            </a:pPr>
            <a:r>
              <a:rPr lang="en-US" b="1" dirty="0" smtClean="0">
                <a:latin typeface="Times New Roman" pitchFamily="18" charset="0"/>
                <a:cs typeface="Times New Roman" pitchFamily="18" charset="0"/>
              </a:rPr>
              <a:t>Native Apps:</a:t>
            </a:r>
            <a:r>
              <a:rPr lang="en-US" dirty="0" smtClean="0">
                <a:latin typeface="Times New Roman" pitchFamily="18" charset="0"/>
                <a:cs typeface="Times New Roman" pitchFamily="18" charset="0"/>
              </a:rPr>
              <a:t> Built for a single platform (e.g., Swift for </a:t>
            </a:r>
            <a:r>
              <a:rPr lang="en-US" dirty="0" err="1" smtClean="0">
                <a:latin typeface="Times New Roman" pitchFamily="18" charset="0"/>
                <a:cs typeface="Times New Roman" pitchFamily="18" charset="0"/>
              </a:rPr>
              <a:t>iOS</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Kotlin</a:t>
            </a:r>
            <a:r>
              <a:rPr lang="en-US" dirty="0" smtClean="0">
                <a:latin typeface="Times New Roman" pitchFamily="18" charset="0"/>
                <a:cs typeface="Times New Roman" pitchFamily="18" charset="0"/>
              </a:rPr>
              <a:t> for Android).These types of apps normally run in the native devices, that is, it runs only in the OS that it is specifically designed for it. These apps cannot be used on different devices using a different OS. </a:t>
            </a:r>
          </a:p>
          <a:p>
            <a:pPr algn="just">
              <a:lnSpc>
                <a:spcPct val="200000"/>
              </a:lnSpc>
            </a:pPr>
            <a:r>
              <a:rPr lang="en-US" dirty="0" smtClean="0">
                <a:latin typeface="Times New Roman" pitchFamily="18" charset="0"/>
                <a:cs typeface="Times New Roman" pitchFamily="18" charset="0"/>
              </a:rPr>
              <a:t>The apps that are developed for android are normally coded using </a:t>
            </a:r>
            <a:r>
              <a:rPr lang="en-US" b="1" dirty="0" smtClean="0">
                <a:latin typeface="Times New Roman" pitchFamily="18" charset="0"/>
                <a:cs typeface="Times New Roman" pitchFamily="18" charset="0"/>
              </a:rPr>
              <a:t>Java or </a:t>
            </a:r>
            <a:r>
              <a:rPr lang="en-US" b="1" dirty="0" err="1" smtClean="0">
                <a:latin typeface="Times New Roman" pitchFamily="18" charset="0"/>
                <a:cs typeface="Times New Roman" pitchFamily="18" charset="0"/>
              </a:rPr>
              <a:t>Kotlin</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languages. </a:t>
            </a:r>
          </a:p>
          <a:p>
            <a:pPr algn="just">
              <a:lnSpc>
                <a:spcPct val="200000"/>
              </a:lnSpc>
            </a:pPr>
            <a:r>
              <a:rPr lang="en-US" dirty="0" smtClean="0">
                <a:latin typeface="Times New Roman" pitchFamily="18" charset="0"/>
                <a:cs typeface="Times New Roman" pitchFamily="18" charset="0"/>
              </a:rPr>
              <a:t>The IDE normally used for android app development is </a:t>
            </a:r>
            <a:r>
              <a:rPr lang="en-US" b="1" dirty="0" smtClean="0">
                <a:latin typeface="Times New Roman" pitchFamily="18" charset="0"/>
                <a:cs typeface="Times New Roman" pitchFamily="18" charset="0"/>
              </a:rPr>
              <a:t>Android Studio </a:t>
            </a:r>
            <a:r>
              <a:rPr lang="en-US" dirty="0" smtClean="0">
                <a:latin typeface="Times New Roman" pitchFamily="18" charset="0"/>
                <a:cs typeface="Times New Roman" pitchFamily="18" charset="0"/>
              </a:rPr>
              <a:t>which provides all features and the apps that are developed for IOS are generally coded in </a:t>
            </a:r>
            <a:r>
              <a:rPr lang="en-US" b="1" dirty="0" smtClean="0">
                <a:latin typeface="Times New Roman" pitchFamily="18" charset="0"/>
                <a:cs typeface="Times New Roman" pitchFamily="18" charset="0"/>
              </a:rPr>
              <a:t>Swift language or Objective-C</a:t>
            </a:r>
            <a:r>
              <a:rPr lang="en-US" dirty="0" smtClean="0">
                <a:latin typeface="Times New Roman" pitchFamily="18" charset="0"/>
                <a:cs typeface="Times New Roman" pitchFamily="18" charset="0"/>
              </a:rPr>
              <a:t>. </a:t>
            </a:r>
          </a:p>
          <a:p>
            <a:pPr algn="just">
              <a:lnSpc>
                <a:spcPct val="200000"/>
              </a:lnSpc>
            </a:pPr>
            <a:r>
              <a:rPr lang="en-US" dirty="0" smtClean="0">
                <a:latin typeface="Times New Roman" pitchFamily="18" charset="0"/>
                <a:cs typeface="Times New Roman" pitchFamily="18" charset="0"/>
              </a:rPr>
              <a:t>The IDE suggested for IOS App Development is </a:t>
            </a:r>
            <a:r>
              <a:rPr lang="en-US" b="1" dirty="0" err="1" smtClean="0">
                <a:latin typeface="Times New Roman" pitchFamily="18" charset="0"/>
                <a:cs typeface="Times New Roman" pitchFamily="18" charset="0"/>
              </a:rPr>
              <a:t>XCode</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Advantages </a:t>
            </a:r>
            <a:r>
              <a:rPr lang="en-US" b="1" dirty="0" smtClean="0"/>
              <a:t>Native </a:t>
            </a:r>
            <a:r>
              <a:rPr lang="en-US" b="1" dirty="0"/>
              <a:t>App </a:t>
            </a:r>
            <a:r>
              <a:rPr lang="en-US" b="1" dirty="0" smtClean="0"/>
              <a:t>development</a:t>
            </a:r>
            <a:r>
              <a:rPr lang="en-US" dirty="0"/>
              <a:t> </a:t>
            </a:r>
          </a:p>
        </p:txBody>
      </p:sp>
      <p:sp>
        <p:nvSpPr>
          <p:cNvPr id="3" name="Rectangle 2"/>
          <p:cNvSpPr/>
          <p:nvPr/>
        </p:nvSpPr>
        <p:spPr>
          <a:xfrm>
            <a:off x="714348" y="1643050"/>
            <a:ext cx="8072494" cy="3416320"/>
          </a:xfrm>
          <a:prstGeom prst="rect">
            <a:avLst/>
          </a:prstGeom>
        </p:spPr>
        <p:txBody>
          <a:bodyPr wrap="square">
            <a:spAutoFit/>
          </a:bodyPr>
          <a:lstStyle/>
          <a:p>
            <a:pPr marL="342900" indent="-342900" fontAlgn="base">
              <a:lnSpc>
                <a:spcPct val="200000"/>
              </a:lnSpc>
              <a:buFont typeface="+mj-lt"/>
              <a:buAutoNum type="arabicPeriod"/>
            </a:pPr>
            <a:r>
              <a:rPr lang="en-US" dirty="0">
                <a:latin typeface="Times New Roman" pitchFamily="18" charset="0"/>
                <a:cs typeface="Times New Roman" pitchFamily="18" charset="0"/>
              </a:rPr>
              <a:t>The performances of these apps are very high these apps very fast compared to any other apps.</a:t>
            </a:r>
          </a:p>
          <a:p>
            <a:pPr marL="342900" indent="-342900" fontAlgn="base">
              <a:lnSpc>
                <a:spcPct val="200000"/>
              </a:lnSpc>
              <a:buFont typeface="+mj-lt"/>
              <a:buAutoNum type="arabicPeriod"/>
            </a:pPr>
            <a:r>
              <a:rPr lang="en-US" dirty="0">
                <a:latin typeface="Times New Roman" pitchFamily="18" charset="0"/>
                <a:cs typeface="Times New Roman" pitchFamily="18" charset="0"/>
              </a:rPr>
              <a:t> We have easy access to all the features and APIs.</a:t>
            </a:r>
          </a:p>
          <a:p>
            <a:pPr marL="342900" indent="-342900" fontAlgn="base">
              <a:lnSpc>
                <a:spcPct val="200000"/>
              </a:lnSpc>
              <a:buFont typeface="+mj-lt"/>
              <a:buAutoNum type="arabicPeriod"/>
            </a:pPr>
            <a:r>
              <a:rPr lang="en-US" dirty="0">
                <a:latin typeface="Times New Roman" pitchFamily="18" charset="0"/>
                <a:cs typeface="Times New Roman" pitchFamily="18" charset="0"/>
              </a:rPr>
              <a:t> The community is widespread so all your doubts and errors can be discussed and solved easily.</a:t>
            </a:r>
          </a:p>
          <a:p>
            <a:pPr marL="342900" indent="-342900" fontAlgn="base">
              <a:lnSpc>
                <a:spcPct val="200000"/>
              </a:lnSpc>
              <a:buFont typeface="+mj-lt"/>
              <a:buAutoNum type="arabicPeriod"/>
            </a:pPr>
            <a:r>
              <a:rPr lang="en-US" dirty="0">
                <a:latin typeface="Times New Roman" pitchFamily="18" charset="0"/>
                <a:cs typeface="Times New Roman" pitchFamily="18" charset="0"/>
              </a:rPr>
              <a:t> Updates are available on the same day.</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a:t>
            </a:r>
            <a:endParaRPr lang="en-US" dirty="0"/>
          </a:p>
        </p:txBody>
      </p:sp>
      <p:sp>
        <p:nvSpPr>
          <p:cNvPr id="3" name="Rectangle 2"/>
          <p:cNvSpPr/>
          <p:nvPr/>
        </p:nvSpPr>
        <p:spPr>
          <a:xfrm>
            <a:off x="500034" y="1714488"/>
            <a:ext cx="8429684" cy="1200329"/>
          </a:xfrm>
          <a:prstGeom prst="rect">
            <a:avLst/>
          </a:prstGeom>
        </p:spPr>
        <p:txBody>
          <a:bodyPr wrap="square">
            <a:spAutoFit/>
          </a:bodyPr>
          <a:lstStyle/>
          <a:p>
            <a:pPr marL="342900" indent="-342900" fontAlgn="base">
              <a:lnSpc>
                <a:spcPct val="200000"/>
              </a:lnSpc>
              <a:buFont typeface="+mj-lt"/>
              <a:buAutoNum type="arabicPeriod"/>
            </a:pPr>
            <a:r>
              <a:rPr lang="en-US" dirty="0"/>
              <a:t> The development speed is too slow as we have to code it again for different OS.</a:t>
            </a:r>
          </a:p>
          <a:p>
            <a:pPr marL="342900" indent="-342900" fontAlgn="base">
              <a:lnSpc>
                <a:spcPct val="200000"/>
              </a:lnSpc>
              <a:buFont typeface="+mj-lt"/>
              <a:buAutoNum type="arabicPeriod"/>
            </a:pPr>
            <a:r>
              <a:rPr lang="en-US" dirty="0"/>
              <a:t> And this category doesn’t support open source.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r>
              <a:rPr lang="en-US" b="1" u="sng" dirty="0"/>
              <a:t>Progressive web </a:t>
            </a:r>
            <a:r>
              <a:rPr lang="en-US" b="1" u="sng" dirty="0" smtClean="0"/>
              <a:t>Application</a:t>
            </a:r>
            <a:endParaRPr lang="en-US" dirty="0"/>
          </a:p>
        </p:txBody>
      </p:sp>
      <p:sp>
        <p:nvSpPr>
          <p:cNvPr id="3" name="Rectangle 2"/>
          <p:cNvSpPr/>
          <p:nvPr/>
        </p:nvSpPr>
        <p:spPr>
          <a:xfrm>
            <a:off x="142844" y="1997839"/>
            <a:ext cx="8286808" cy="1754326"/>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Progressive web apps are essentially a website which runs locally on your device. The technologies used are Microsoft </a:t>
            </a:r>
            <a:r>
              <a:rPr lang="en-US" dirty="0" err="1">
                <a:latin typeface="Times New Roman" pitchFamily="18" charset="0"/>
                <a:cs typeface="Times New Roman" pitchFamily="18" charset="0"/>
              </a:rPr>
              <a:t>Blazor</a:t>
            </a:r>
            <a:r>
              <a:rPr lang="en-US" dirty="0">
                <a:latin typeface="Times New Roman" pitchFamily="18" charset="0"/>
                <a:cs typeface="Times New Roman" pitchFamily="18" charset="0"/>
              </a:rPr>
              <a:t>, React, Angular JS, Native Script, Iconic</a:t>
            </a:r>
            <a:r>
              <a:rPr lang="en-US" dirty="0" smtClean="0">
                <a:latin typeface="Times New Roman" pitchFamily="18" charset="0"/>
                <a:cs typeface="Times New Roman" pitchFamily="18" charset="0"/>
              </a:rPr>
              <a:t>.</a:t>
            </a:r>
          </a:p>
          <a:p>
            <a:pPr algn="just">
              <a:lnSpc>
                <a:spcPct val="150000"/>
              </a:lnSpc>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These technologies normally used for web development propose. The apps’ UI is developed the same way as they are developed while developing the website.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0034" y="197346"/>
            <a:ext cx="8215370" cy="4662815"/>
          </a:xfrm>
          <a:prstGeom prst="rect">
            <a:avLst/>
          </a:prstGeom>
        </p:spPr>
        <p:txBody>
          <a:bodyPr wrap="square">
            <a:spAutoFit/>
          </a:bodyPr>
          <a:lstStyle/>
          <a:p>
            <a:pPr algn="just" fontAlgn="base">
              <a:lnSpc>
                <a:spcPct val="150000"/>
              </a:lnSpc>
            </a:pPr>
            <a:r>
              <a:rPr lang="en-US" b="1" dirty="0">
                <a:latin typeface="Times New Roman" pitchFamily="18" charset="0"/>
                <a:cs typeface="Times New Roman" pitchFamily="18" charset="0"/>
              </a:rPr>
              <a:t>Advantages of Progressive web Application: </a:t>
            </a:r>
            <a:endParaRPr lang="en-US" dirty="0">
              <a:latin typeface="Times New Roman" pitchFamily="18" charset="0"/>
              <a:cs typeface="Times New Roman" pitchFamily="18" charset="0"/>
            </a:endParaRPr>
          </a:p>
          <a:p>
            <a:pPr marL="342900" indent="-342900" algn="just" fontAlgn="base">
              <a:lnSpc>
                <a:spcPct val="150000"/>
              </a:lnSpc>
              <a:buFont typeface="+mj-lt"/>
              <a:buAutoNum type="arabicPeriod"/>
            </a:pPr>
            <a:r>
              <a:rPr lang="en-US" dirty="0">
                <a:latin typeface="Times New Roman" pitchFamily="18" charset="0"/>
                <a:cs typeface="Times New Roman" pitchFamily="18" charset="0"/>
              </a:rPr>
              <a:t>The main advantage of this process is that its development speed is fast the same code base is used for IOS, Android, web applications.</a:t>
            </a:r>
          </a:p>
          <a:p>
            <a:pPr marL="342900" indent="-342900" algn="just" fontAlgn="base">
              <a:lnSpc>
                <a:spcPct val="150000"/>
              </a:lnSpc>
              <a:buFont typeface="+mj-lt"/>
              <a:buAutoNum type="arabicPeriod"/>
            </a:pPr>
            <a:r>
              <a:rPr lang="en-US" dirty="0">
                <a:latin typeface="Times New Roman" pitchFamily="18" charset="0"/>
                <a:cs typeface="Times New Roman" pitchFamily="18" charset="0"/>
              </a:rPr>
              <a:t>The web development team can be repurposed to develop the mobile application.</a:t>
            </a:r>
          </a:p>
          <a:p>
            <a:pPr marL="342900" indent="-342900" algn="just" fontAlgn="base">
              <a:lnSpc>
                <a:spcPct val="150000"/>
              </a:lnSpc>
              <a:buFont typeface="+mj-lt"/>
              <a:buAutoNum type="arabicPeriod"/>
            </a:pPr>
            <a:r>
              <a:rPr lang="en-US" dirty="0">
                <a:latin typeface="Times New Roman" pitchFamily="18" charset="0"/>
                <a:cs typeface="Times New Roman" pitchFamily="18" charset="0"/>
              </a:rPr>
              <a:t>No installation required.</a:t>
            </a:r>
          </a:p>
          <a:p>
            <a:pPr algn="just" fontAlgn="base">
              <a:lnSpc>
                <a:spcPct val="150000"/>
              </a:lnSpc>
            </a:pPr>
            <a:r>
              <a:rPr lang="en-US" b="1" dirty="0">
                <a:latin typeface="Times New Roman" pitchFamily="18" charset="0"/>
                <a:cs typeface="Times New Roman" pitchFamily="18" charset="0"/>
              </a:rPr>
              <a:t>Disadvantages</a:t>
            </a:r>
            <a:r>
              <a:rPr lang="en-US" i="1" dirty="0">
                <a:latin typeface="Times New Roman" pitchFamily="18" charset="0"/>
                <a:cs typeface="Times New Roman" pitchFamily="18" charset="0"/>
              </a:rPr>
              <a:t> </a:t>
            </a:r>
            <a:r>
              <a:rPr lang="en-US" b="1" dirty="0">
                <a:latin typeface="Times New Roman" pitchFamily="18" charset="0"/>
                <a:cs typeface="Times New Roman" pitchFamily="18" charset="0"/>
              </a:rPr>
              <a:t>of Progressive web </a:t>
            </a:r>
            <a:r>
              <a:rPr lang="en-US" b="1" dirty="0" smtClean="0">
                <a:latin typeface="Times New Roman" pitchFamily="18" charset="0"/>
                <a:cs typeface="Times New Roman" pitchFamily="18" charset="0"/>
              </a:rPr>
              <a:t>Application(PWA):</a:t>
            </a:r>
            <a:r>
              <a:rPr lang="en-US" b="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342900" indent="-342900" algn="just" fontAlgn="base">
              <a:lnSpc>
                <a:spcPct val="150000"/>
              </a:lnSpc>
              <a:buFont typeface="+mj-lt"/>
              <a:buAutoNum type="arabicPeriod"/>
            </a:pPr>
            <a:r>
              <a:rPr lang="en-US" dirty="0">
                <a:latin typeface="Times New Roman" pitchFamily="18" charset="0"/>
                <a:cs typeface="Times New Roman" pitchFamily="18" charset="0"/>
              </a:rPr>
              <a:t>The major disadvantage is that PWA don’t have access to all the feature and so the user experience is not that good IOS does not support all the features of PWA  </a:t>
            </a:r>
          </a:p>
          <a:p>
            <a:pPr marL="342900" indent="-342900" algn="just" fontAlgn="base">
              <a:lnSpc>
                <a:spcPct val="150000"/>
              </a:lnSpc>
              <a:buFont typeface="+mj-lt"/>
              <a:buAutoNum type="arabicPeriod"/>
            </a:pPr>
            <a:r>
              <a:rPr lang="en-US" dirty="0">
                <a:latin typeface="Times New Roman" pitchFamily="18" charset="0"/>
                <a:cs typeface="Times New Roman" pitchFamily="18" charset="0"/>
              </a:rPr>
              <a:t>The UI for development is bespoke i.e. the buttons, edit texts need to be programmed which was not necessary for the 1st party native Apps.</a:t>
            </a:r>
          </a:p>
          <a:p>
            <a:pPr marL="342900" indent="-342900" algn="just" fontAlgn="base">
              <a:lnSpc>
                <a:spcPct val="150000"/>
              </a:lnSpc>
              <a:buFont typeface="+mj-lt"/>
              <a:buAutoNum type="arabicPeriod"/>
            </a:pPr>
            <a:r>
              <a:rPr lang="en-US" dirty="0">
                <a:latin typeface="Times New Roman" pitchFamily="18" charset="0"/>
                <a:cs typeface="Times New Roman" pitchFamily="18" charset="0"/>
              </a:rPr>
              <a:t>The community is not that wide spread</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Cross-Platform Application</a:t>
            </a:r>
            <a:endParaRPr lang="en-US" dirty="0"/>
          </a:p>
        </p:txBody>
      </p:sp>
      <p:sp>
        <p:nvSpPr>
          <p:cNvPr id="3" name="Rectangle 2"/>
          <p:cNvSpPr/>
          <p:nvPr/>
        </p:nvSpPr>
        <p:spPr>
          <a:xfrm>
            <a:off x="71406" y="1214422"/>
            <a:ext cx="8643966" cy="5170646"/>
          </a:xfrm>
          <a:prstGeom prst="rect">
            <a:avLst/>
          </a:prstGeom>
        </p:spPr>
        <p:txBody>
          <a:bodyPr wrap="square">
            <a:spAutoFit/>
          </a:bodyPr>
          <a:lstStyle/>
          <a:p>
            <a:pPr fontAlgn="base"/>
            <a:r>
              <a:rPr lang="en-US" b="1" dirty="0"/>
              <a:t> </a:t>
            </a:r>
            <a:r>
              <a:rPr lang="en-US" dirty="0"/>
              <a:t> </a:t>
            </a:r>
          </a:p>
          <a:p>
            <a:pPr algn="just" fontAlgn="base">
              <a:lnSpc>
                <a:spcPct val="200000"/>
              </a:lnSpc>
            </a:pPr>
            <a:r>
              <a:rPr lang="en-US" sz="1200" dirty="0">
                <a:latin typeface="Times New Roman" pitchFamily="18" charset="0"/>
                <a:cs typeface="Times New Roman" pitchFamily="18" charset="0"/>
              </a:rPr>
              <a:t>These are frameworks that allow developing total native applications which have access to all the native features of IOS and Android but with the same code base. </a:t>
            </a:r>
            <a:r>
              <a:rPr lang="en-US" sz="1200" dirty="0" smtClean="0">
                <a:latin typeface="Times New Roman" pitchFamily="18" charset="0"/>
                <a:cs typeface="Times New Roman" pitchFamily="18" charset="0"/>
              </a:rPr>
              <a:t>These </a:t>
            </a:r>
            <a:r>
              <a:rPr lang="en-US" sz="1200" dirty="0">
                <a:latin typeface="Times New Roman" pitchFamily="18" charset="0"/>
                <a:cs typeface="Times New Roman" pitchFamily="18" charset="0"/>
              </a:rPr>
              <a:t>apps run on both Android and </a:t>
            </a:r>
            <a:r>
              <a:rPr lang="en-US" sz="1200" dirty="0" smtClean="0">
                <a:latin typeface="Times New Roman" pitchFamily="18" charset="0"/>
                <a:cs typeface="Times New Roman" pitchFamily="18" charset="0"/>
              </a:rPr>
              <a:t>IOS.</a:t>
            </a:r>
          </a:p>
          <a:p>
            <a:pPr algn="just" fontAlgn="base">
              <a:lnSpc>
                <a:spcPct val="200000"/>
              </a:lnSpc>
            </a:pPr>
            <a:r>
              <a:rPr lang="en-US" sz="1200" dirty="0" smtClean="0">
                <a:latin typeface="Times New Roman" pitchFamily="18" charset="0"/>
                <a:cs typeface="Times New Roman" pitchFamily="18" charset="0"/>
              </a:rPr>
              <a:t>The </a:t>
            </a:r>
            <a:r>
              <a:rPr lang="en-US" sz="1200" dirty="0">
                <a:latin typeface="Times New Roman" pitchFamily="18" charset="0"/>
                <a:cs typeface="Times New Roman" pitchFamily="18" charset="0"/>
              </a:rPr>
              <a:t>performance speed is comparatively low to 1st party native apps but faster than PWA. </a:t>
            </a:r>
            <a:br>
              <a:rPr lang="en-US" sz="1200" dirty="0">
                <a:latin typeface="Times New Roman" pitchFamily="18" charset="0"/>
                <a:cs typeface="Times New Roman" pitchFamily="18" charset="0"/>
              </a:rPr>
            </a:br>
            <a:r>
              <a:rPr lang="en-US" sz="1200" b="1" dirty="0" err="1">
                <a:latin typeface="Times New Roman" pitchFamily="18" charset="0"/>
                <a:cs typeface="Times New Roman" pitchFamily="18" charset="0"/>
              </a:rPr>
              <a:t>Xamarin</a:t>
            </a:r>
            <a:r>
              <a:rPr lang="en-US" sz="1200" b="1" dirty="0">
                <a:latin typeface="Times New Roman" pitchFamily="18" charset="0"/>
                <a:cs typeface="Times New Roman" pitchFamily="18" charset="0"/>
              </a:rPr>
              <a:t> is Microsoft cross-platform solution that uses the programming languages </a:t>
            </a:r>
            <a:r>
              <a:rPr lang="en-US" sz="1200" dirty="0">
                <a:latin typeface="Times New Roman" pitchFamily="18" charset="0"/>
                <a:cs typeface="Times New Roman" pitchFamily="18" charset="0"/>
              </a:rPr>
              <a:t>like .NET, C#, F#. The IDE preferred is Visual Studio. </a:t>
            </a:r>
            <a:endParaRPr lang="en-US" sz="1200" dirty="0" smtClean="0">
              <a:latin typeface="Times New Roman" pitchFamily="18" charset="0"/>
              <a:cs typeface="Times New Roman" pitchFamily="18" charset="0"/>
            </a:endParaRPr>
          </a:p>
          <a:p>
            <a:pPr algn="just" fontAlgn="base">
              <a:lnSpc>
                <a:spcPct val="200000"/>
              </a:lnSpc>
            </a:pPr>
            <a:r>
              <a:rPr lang="en-US" sz="1200" dirty="0" smtClean="0">
                <a:latin typeface="Times New Roman" pitchFamily="18" charset="0"/>
                <a:cs typeface="Times New Roman" pitchFamily="18" charset="0"/>
              </a:rPr>
              <a:t>The </a:t>
            </a:r>
            <a:r>
              <a:rPr lang="en-US" sz="1200" dirty="0">
                <a:latin typeface="Times New Roman" pitchFamily="18" charset="0"/>
                <a:cs typeface="Times New Roman" pitchFamily="18" charset="0"/>
              </a:rPr>
              <a:t>UI/UX is totally native giving access to all features. </a:t>
            </a:r>
            <a:r>
              <a:rPr lang="en-US" sz="1200" dirty="0" smtClean="0">
                <a:latin typeface="Times New Roman" pitchFamily="18" charset="0"/>
                <a:cs typeface="Times New Roman" pitchFamily="18" charset="0"/>
              </a:rPr>
              <a:t>whenever </a:t>
            </a:r>
            <a:r>
              <a:rPr lang="en-US" sz="1200" dirty="0">
                <a:latin typeface="Times New Roman" pitchFamily="18" charset="0"/>
                <a:cs typeface="Times New Roman" pitchFamily="18" charset="0"/>
              </a:rPr>
              <a:t>an update is released by Android and IOS the same updates are released by Microsoft through Visual Studio. </a:t>
            </a:r>
          </a:p>
          <a:p>
            <a:pPr algn="just" fontAlgn="base">
              <a:lnSpc>
                <a:spcPct val="200000"/>
              </a:lnSpc>
            </a:pPr>
            <a:r>
              <a:rPr lang="en-US" sz="1200" b="1" dirty="0">
                <a:latin typeface="Times New Roman" pitchFamily="18" charset="0"/>
                <a:cs typeface="Times New Roman" pitchFamily="18" charset="0"/>
              </a:rPr>
              <a:t>React Native is </a:t>
            </a:r>
            <a:r>
              <a:rPr lang="en-US" sz="1200" b="1" dirty="0" err="1">
                <a:latin typeface="Times New Roman" pitchFamily="18" charset="0"/>
                <a:cs typeface="Times New Roman" pitchFamily="18" charset="0"/>
              </a:rPr>
              <a:t>Facebook’s</a:t>
            </a:r>
            <a:r>
              <a:rPr lang="en-US" sz="1200" b="1" dirty="0">
                <a:latin typeface="Times New Roman" pitchFamily="18" charset="0"/>
                <a:cs typeface="Times New Roman" pitchFamily="18" charset="0"/>
              </a:rPr>
              <a:t> cross-platform solution which uses the language JavaScript And the preferred IDE is </a:t>
            </a:r>
            <a:r>
              <a:rPr lang="en-US" sz="1200" b="1" dirty="0" err="1">
                <a:latin typeface="Times New Roman" pitchFamily="18" charset="0"/>
                <a:cs typeface="Times New Roman" pitchFamily="18" charset="0"/>
              </a:rPr>
              <a:t>WebStrome</a:t>
            </a:r>
            <a:r>
              <a:rPr lang="en-US" sz="1200" b="1" dirty="0">
                <a:latin typeface="Times New Roman" pitchFamily="18" charset="0"/>
                <a:cs typeface="Times New Roman" pitchFamily="18" charset="0"/>
              </a:rPr>
              <a:t> &amp; Visual Studio Code. </a:t>
            </a:r>
            <a:r>
              <a:rPr lang="en-US" sz="1200" dirty="0">
                <a:latin typeface="Times New Roman" pitchFamily="18" charset="0"/>
                <a:cs typeface="Times New Roman" pitchFamily="18" charset="0"/>
              </a:rPr>
              <a:t>Same like </a:t>
            </a:r>
            <a:r>
              <a:rPr lang="en-US" sz="1200" dirty="0" err="1">
                <a:latin typeface="Times New Roman" pitchFamily="18" charset="0"/>
                <a:cs typeface="Times New Roman" pitchFamily="18" charset="0"/>
              </a:rPr>
              <a:t>Xamarin</a:t>
            </a:r>
            <a:r>
              <a:rPr lang="en-US" sz="1200" dirty="0">
                <a:latin typeface="Times New Roman" pitchFamily="18" charset="0"/>
                <a:cs typeface="Times New Roman" pitchFamily="18" charset="0"/>
              </a:rPr>
              <a:t> React Native has totally native UI/UX and gives access to all features. And the updates are released the same day by </a:t>
            </a:r>
            <a:r>
              <a:rPr lang="en-US" sz="1200" dirty="0" err="1">
                <a:latin typeface="Times New Roman" pitchFamily="18" charset="0"/>
                <a:cs typeface="Times New Roman" pitchFamily="18" charset="0"/>
              </a:rPr>
              <a:t>Facebook</a:t>
            </a:r>
            <a:r>
              <a:rPr lang="en-US" sz="1200" dirty="0">
                <a:latin typeface="Times New Roman" pitchFamily="18" charset="0"/>
                <a:cs typeface="Times New Roman" pitchFamily="18" charset="0"/>
              </a:rPr>
              <a:t> as Android and IOS. </a:t>
            </a:r>
            <a:br>
              <a:rPr lang="en-US" sz="1200" dirty="0">
                <a:latin typeface="Times New Roman" pitchFamily="18" charset="0"/>
                <a:cs typeface="Times New Roman" pitchFamily="18" charset="0"/>
              </a:rPr>
            </a:br>
            <a:r>
              <a:rPr lang="en-US" sz="1200" b="1" dirty="0">
                <a:latin typeface="Times New Roman" pitchFamily="18" charset="0"/>
                <a:cs typeface="Times New Roman" pitchFamily="18" charset="0"/>
              </a:rPr>
              <a:t>Flutter is Google’s cross-platform solution which uses the language, Dart. </a:t>
            </a:r>
            <a:r>
              <a:rPr lang="en-US" sz="1200" dirty="0">
                <a:latin typeface="Times New Roman" pitchFamily="18" charset="0"/>
                <a:cs typeface="Times New Roman" pitchFamily="18" charset="0"/>
              </a:rPr>
              <a:t>The IDE preferred is Android Studio, </a:t>
            </a:r>
            <a:r>
              <a:rPr lang="en-US" sz="1200" dirty="0" err="1">
                <a:latin typeface="Times New Roman" pitchFamily="18" charset="0"/>
                <a:cs typeface="Times New Roman" pitchFamily="18" charset="0"/>
              </a:rPr>
              <a:t>IntelliJ</a:t>
            </a:r>
            <a:r>
              <a:rPr lang="en-US" sz="1200" dirty="0">
                <a:latin typeface="Times New Roman" pitchFamily="18" charset="0"/>
                <a:cs typeface="Times New Roman" pitchFamily="18" charset="0"/>
              </a:rPr>
              <a:t> IDE, and Visual Studio Code. The UI/UX is bespoke and Flutters has to come up with their new libraries whenever Android and IOS comes up with an update to mimic those update. The community is fast growing.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4282" y="214290"/>
            <a:ext cx="8643998" cy="5214974"/>
          </a:xfrm>
          <a:prstGeom prst="rect">
            <a:avLst/>
          </a:prstGeom>
        </p:spPr>
        <p:txBody>
          <a:bodyPr wrap="square">
            <a:spAutoFit/>
          </a:bodyPr>
          <a:lstStyle/>
          <a:p>
            <a:pPr algn="just" fontAlgn="base">
              <a:lnSpc>
                <a:spcPct val="200000"/>
              </a:lnSpc>
            </a:pPr>
            <a:r>
              <a:rPr lang="en-US" b="1" dirty="0">
                <a:latin typeface="Times New Roman" pitchFamily="18" charset="0"/>
                <a:cs typeface="Times New Roman" pitchFamily="18" charset="0"/>
              </a:rPr>
              <a:t>Advantages of Cross-Platform Application:  </a:t>
            </a:r>
            <a:endParaRPr lang="en-US" dirty="0">
              <a:latin typeface="Times New Roman" pitchFamily="18" charset="0"/>
              <a:cs typeface="Times New Roman" pitchFamily="18" charset="0"/>
            </a:endParaRPr>
          </a:p>
          <a:p>
            <a:pPr marL="342900" indent="-342900" algn="just" fontAlgn="base">
              <a:lnSpc>
                <a:spcPct val="200000"/>
              </a:lnSpc>
              <a:buFont typeface="+mj-lt"/>
              <a:buAutoNum type="arabicPeriod"/>
            </a:pPr>
            <a:r>
              <a:rPr lang="en-US" dirty="0">
                <a:latin typeface="Times New Roman" pitchFamily="18" charset="0"/>
                <a:cs typeface="Times New Roman" pitchFamily="18" charset="0"/>
              </a:rPr>
              <a:t>The apps' development speed is very high as they use the same code base for both Android and IOS.</a:t>
            </a:r>
          </a:p>
          <a:p>
            <a:pPr marL="342900" indent="-342900" algn="just" fontAlgn="base">
              <a:lnSpc>
                <a:spcPct val="200000"/>
              </a:lnSpc>
              <a:buFont typeface="+mj-lt"/>
              <a:buAutoNum type="arabicPeriod"/>
            </a:pPr>
            <a:r>
              <a:rPr lang="en-US" dirty="0">
                <a:latin typeface="Times New Roman" pitchFamily="18" charset="0"/>
                <a:cs typeface="Times New Roman" pitchFamily="18" charset="0"/>
              </a:rPr>
              <a:t>The apps' maintenance cost is low as the errors and updates as to be countered only once</a:t>
            </a:r>
            <a:r>
              <a:rPr lang="en-US" dirty="0" smtClean="0">
                <a:latin typeface="Times New Roman" pitchFamily="18" charset="0"/>
                <a:cs typeface="Times New Roman" pitchFamily="18" charset="0"/>
              </a:rPr>
              <a:t>.</a:t>
            </a:r>
          </a:p>
          <a:p>
            <a:pPr algn="just" fontAlgn="base">
              <a:lnSpc>
                <a:spcPct val="200000"/>
              </a:lnSpc>
            </a:pPr>
            <a:r>
              <a:rPr lang="en-US" b="1" dirty="0" smtClean="0">
                <a:latin typeface="Times New Roman" pitchFamily="18" charset="0"/>
                <a:cs typeface="Times New Roman" pitchFamily="18" charset="0"/>
              </a:rPr>
              <a:t>Disadvantages</a:t>
            </a:r>
            <a:r>
              <a:rPr lang="en-US" i="1" dirty="0">
                <a:latin typeface="Times New Roman" pitchFamily="18" charset="0"/>
                <a:cs typeface="Times New Roman" pitchFamily="18" charset="0"/>
              </a:rPr>
              <a:t> </a:t>
            </a:r>
            <a:r>
              <a:rPr lang="en-US" b="1" dirty="0">
                <a:latin typeface="Times New Roman" pitchFamily="18" charset="0"/>
                <a:cs typeface="Times New Roman" pitchFamily="18" charset="0"/>
              </a:rPr>
              <a:t>of Cross-Platform Application: </a:t>
            </a:r>
            <a:endParaRPr lang="en-US" dirty="0">
              <a:latin typeface="Times New Roman" pitchFamily="18" charset="0"/>
              <a:cs typeface="Times New Roman" pitchFamily="18" charset="0"/>
            </a:endParaRPr>
          </a:p>
          <a:p>
            <a:pPr marL="342900" indent="-342900" algn="just" fontAlgn="base">
              <a:lnSpc>
                <a:spcPct val="200000"/>
              </a:lnSpc>
              <a:buFont typeface="+mj-lt"/>
              <a:buAutoNum type="arabicPeriod"/>
            </a:pPr>
            <a:r>
              <a:rPr lang="en-US" dirty="0">
                <a:latin typeface="Times New Roman" pitchFamily="18" charset="0"/>
                <a:cs typeface="Times New Roman" pitchFamily="18" charset="0"/>
              </a:rPr>
              <a:t>Slow Code Performance With Limited Tool Availability.</a:t>
            </a:r>
          </a:p>
          <a:p>
            <a:pPr marL="342900" indent="-342900" algn="just" fontAlgn="base">
              <a:lnSpc>
                <a:spcPct val="200000"/>
              </a:lnSpc>
              <a:buFont typeface="+mj-lt"/>
              <a:buAutoNum type="arabicPeriod"/>
            </a:pPr>
            <a:r>
              <a:rPr lang="en-US" dirty="0">
                <a:latin typeface="Times New Roman" pitchFamily="18" charset="0"/>
                <a:cs typeface="Times New Roman" pitchFamily="18" charset="0"/>
              </a:rPr>
              <a:t>Limited User Experience i.e. these apps does not have access to Native only features.</a:t>
            </a:r>
          </a:p>
          <a:p>
            <a:pPr fontAlgn="base">
              <a:lnSpc>
                <a:spcPct val="200000"/>
              </a:lnSpc>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
            </a:r>
            <a:r>
              <a:rPr lang="en-US" dirty="0" smtClean="0"/>
              <a:t>obile application development platform (MADP)</a:t>
            </a:r>
            <a:endParaRPr lang="en-US" dirty="0"/>
          </a:p>
        </p:txBody>
      </p:sp>
      <p:sp>
        <p:nvSpPr>
          <p:cNvPr id="3" name="Rectangle 2"/>
          <p:cNvSpPr/>
          <p:nvPr/>
        </p:nvSpPr>
        <p:spPr>
          <a:xfrm>
            <a:off x="428596" y="1857364"/>
            <a:ext cx="8286808" cy="2862322"/>
          </a:xfrm>
          <a:prstGeom prst="rect">
            <a:avLst/>
          </a:prstGeom>
        </p:spPr>
        <p:txBody>
          <a:bodyPr wrap="square">
            <a:spAutoFit/>
          </a:bodyPr>
          <a:lstStyle/>
          <a:p>
            <a:endParaRPr lang="en-US" dirty="0"/>
          </a:p>
          <a:p>
            <a:pPr algn="just"/>
            <a:r>
              <a:rPr lang="en-US" dirty="0">
                <a:latin typeface="Times New Roman" pitchFamily="18" charset="0"/>
                <a:cs typeface="Times New Roman" pitchFamily="18" charset="0"/>
              </a:rPr>
              <a:t>A mobile application development platform (MADP) is a type of software that allows a business to rapidly build, test and deploy mobile </a:t>
            </a:r>
            <a:r>
              <a:rPr lang="en-US" u="sng" dirty="0" smtClean="0">
                <a:latin typeface="Times New Roman" pitchFamily="18" charset="0"/>
                <a:cs typeface="Times New Roman" pitchFamily="18" charset="0"/>
              </a:rPr>
              <a:t>apps</a:t>
            </a:r>
            <a:r>
              <a:rPr lang="en-US" dirty="0">
                <a:latin typeface="Times New Roman" pitchFamily="18" charset="0"/>
                <a:cs typeface="Times New Roman" pitchFamily="18" charset="0"/>
              </a:rPr>
              <a:t> for </a:t>
            </a:r>
            <a:r>
              <a:rPr lang="en-US" dirty="0" err="1">
                <a:latin typeface="Times New Roman" pitchFamily="18" charset="0"/>
                <a:cs typeface="Times New Roman" pitchFamily="18" charset="0"/>
              </a:rPr>
              <a:t>smartphones</a:t>
            </a:r>
            <a:r>
              <a:rPr lang="en-US" dirty="0">
                <a:latin typeface="Times New Roman" pitchFamily="18" charset="0"/>
                <a:cs typeface="Times New Roman" pitchFamily="18" charset="0"/>
              </a:rPr>
              <a:t> or tablets</a:t>
            </a:r>
            <a:r>
              <a:rPr lang="en-US" dirty="0" smtClean="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An organization can either build its own mobile application development platform or buy one of the many third-party products available on the market</a:t>
            </a:r>
            <a:r>
              <a:rPr lang="en-US" dirty="0" smtClean="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en-US" dirty="0">
                <a:latin typeface="Times New Roman" pitchFamily="18" charset="0"/>
                <a:cs typeface="Times New Roman" pitchFamily="18" charset="0"/>
              </a:rPr>
              <a:t>MADP providers include </a:t>
            </a:r>
            <a:r>
              <a:rPr lang="en-US" dirty="0" err="1">
                <a:latin typeface="Times New Roman" pitchFamily="18" charset="0"/>
                <a:cs typeface="Times New Roman" pitchFamily="18" charset="0"/>
              </a:rPr>
              <a:t>Appzillon</a:t>
            </a:r>
            <a:r>
              <a:rPr lang="en-US" dirty="0">
                <a:latin typeface="Times New Roman" pitchFamily="18" charset="0"/>
                <a:cs typeface="Times New Roman" pitchFamily="18" charset="0"/>
              </a:rPr>
              <a:t>, Flutter, Progress </a:t>
            </a:r>
            <a:r>
              <a:rPr lang="en-US" dirty="0" err="1">
                <a:latin typeface="Times New Roman" pitchFamily="18" charset="0"/>
                <a:cs typeface="Times New Roman" pitchFamily="18" charset="0"/>
              </a:rPr>
              <a:t>Kinvey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OutSystems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Salesforce</a:t>
            </a:r>
            <a:r>
              <a:rPr lang="en-US" dirty="0">
                <a:latin typeface="Times New Roman" pitchFamily="18" charset="0"/>
                <a:cs typeface="Times New Roman" pitchFamily="18" charset="0"/>
              </a:rPr>
              <a:t>, Apple </a:t>
            </a:r>
            <a:r>
              <a:rPr lang="en-US" dirty="0" err="1">
                <a:latin typeface="Times New Roman" pitchFamily="18" charset="0"/>
                <a:cs typeface="Times New Roman" pitchFamily="18" charset="0"/>
              </a:rPr>
              <a:t>Xcode</a:t>
            </a:r>
            <a:r>
              <a:rPr lang="en-US" dirty="0">
                <a:latin typeface="Times New Roman" pitchFamily="18" charset="0"/>
                <a:cs typeface="Times New Roman" pitchFamily="18" charset="0"/>
              </a:rPr>
              <a:t>, Android Studio and Microsoft's </a:t>
            </a:r>
            <a:r>
              <a:rPr lang="en-US" dirty="0" err="1">
                <a:latin typeface="Times New Roman" pitchFamily="18" charset="0"/>
                <a:cs typeface="Times New Roman" pitchFamily="18" charset="0"/>
              </a:rPr>
              <a:t>Xamarin</a:t>
            </a:r>
            <a:r>
              <a:rPr lang="en-US" dirty="0">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Plateform</a:t>
            </a:r>
            <a:endParaRPr lang="en-US" dirty="0"/>
          </a:p>
        </p:txBody>
      </p:sp>
      <p:sp>
        <p:nvSpPr>
          <p:cNvPr id="17410" name="AutoShape 2" descr="Top Mobile App Development Platforms: Pros and C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2" name="AutoShape 4" descr="Mobile App Development Platfor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7413" name="Picture 5"/>
          <p:cNvPicPr>
            <a:picLocks noChangeAspect="1" noChangeArrowheads="1"/>
          </p:cNvPicPr>
          <p:nvPr/>
        </p:nvPicPr>
        <p:blipFill>
          <a:blip r:embed="rId2"/>
          <a:srcRect/>
          <a:stretch>
            <a:fillRect/>
          </a:stretch>
        </p:blipFill>
        <p:spPr bwMode="auto">
          <a:xfrm>
            <a:off x="428596" y="1714488"/>
            <a:ext cx="8502390" cy="45720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Android App Development Platforms</a:t>
            </a:r>
            <a:br>
              <a:rPr lang="en-US" dirty="0"/>
            </a:br>
            <a:endParaRPr lang="en-US" dirty="0"/>
          </a:p>
        </p:txBody>
      </p:sp>
      <p:sp>
        <p:nvSpPr>
          <p:cNvPr id="3" name="Rectangle 2"/>
          <p:cNvSpPr/>
          <p:nvPr/>
        </p:nvSpPr>
        <p:spPr>
          <a:xfrm>
            <a:off x="142844" y="928670"/>
            <a:ext cx="8643998" cy="5724644"/>
          </a:xfrm>
          <a:prstGeom prst="rect">
            <a:avLst/>
          </a:prstGeom>
        </p:spPr>
        <p:txBody>
          <a:bodyPr wrap="square">
            <a:spAutoFit/>
          </a:bodyPr>
          <a:lstStyle/>
          <a:p>
            <a:pPr algn="just" fontAlgn="base">
              <a:lnSpc>
                <a:spcPct val="150000"/>
              </a:lnSpc>
            </a:pPr>
            <a:r>
              <a:rPr lang="en-US" sz="1400" b="1" dirty="0">
                <a:latin typeface="Times New Roman" pitchFamily="18" charset="0"/>
                <a:cs typeface="Times New Roman" pitchFamily="18" charset="0"/>
              </a:rPr>
              <a:t>Android Studio: </a:t>
            </a:r>
            <a:r>
              <a:rPr lang="en-US" sz="1400" dirty="0">
                <a:latin typeface="Times New Roman" pitchFamily="18" charset="0"/>
                <a:cs typeface="Times New Roman" pitchFamily="18" charset="0"/>
              </a:rPr>
              <a:t>Developers of Android apps should use Android Studio, Google’s official IDE (Integrated Development Environment). Has a visual layout editor, code editor, and debugging tools, among its many other capabilities. </a:t>
            </a:r>
            <a:endParaRPr lang="en-US" sz="1400" dirty="0" smtClean="0">
              <a:latin typeface="Times New Roman" pitchFamily="18" charset="0"/>
              <a:cs typeface="Times New Roman" pitchFamily="18" charset="0"/>
            </a:endParaRPr>
          </a:p>
          <a:p>
            <a:pPr algn="just" fontAlgn="base">
              <a:lnSpc>
                <a:spcPct val="150000"/>
              </a:lnSpc>
            </a:pPr>
            <a:r>
              <a:rPr lang="en-US" sz="1400" dirty="0" smtClean="0">
                <a:latin typeface="Times New Roman" pitchFamily="18" charset="0"/>
                <a:cs typeface="Times New Roman" pitchFamily="18" charset="0"/>
              </a:rPr>
              <a:t>The </a:t>
            </a:r>
            <a:r>
              <a:rPr lang="en-US" sz="1400" dirty="0">
                <a:latin typeface="Times New Roman" pitchFamily="18" charset="0"/>
                <a:cs typeface="Times New Roman" pitchFamily="18" charset="0"/>
              </a:rPr>
              <a:t>most recent versions of Android’s software development kits (SDKs) and application programming interfaces (APIs) may all be found within Android Studio, which is free</a:t>
            </a:r>
            <a:r>
              <a:rPr lang="en-US" sz="1400" dirty="0" smtClean="0">
                <a:latin typeface="Times New Roman" pitchFamily="18" charset="0"/>
                <a:cs typeface="Times New Roman" pitchFamily="18" charset="0"/>
              </a:rPr>
              <a:t>.</a:t>
            </a:r>
          </a:p>
          <a:p>
            <a:pPr algn="just" fontAlgn="base">
              <a:lnSpc>
                <a:spcPct val="150000"/>
              </a:lnSpc>
            </a:pPr>
            <a:r>
              <a:rPr lang="en-US" sz="1400" b="1" dirty="0" smtClean="0">
                <a:latin typeface="Times New Roman" pitchFamily="18" charset="0"/>
                <a:cs typeface="Times New Roman" pitchFamily="18" charset="0"/>
              </a:rPr>
              <a:t>Eclipse</a:t>
            </a:r>
            <a:r>
              <a:rPr lang="en-US" sz="1400" b="1" dirty="0">
                <a:latin typeface="Times New Roman" pitchFamily="18" charset="0"/>
                <a:cs typeface="Times New Roman" pitchFamily="18" charset="0"/>
              </a:rPr>
              <a:t>: </a:t>
            </a:r>
            <a:r>
              <a:rPr lang="en-US" sz="1400" dirty="0" smtClean="0">
                <a:latin typeface="Times New Roman" pitchFamily="18" charset="0"/>
                <a:cs typeface="Times New Roman" pitchFamily="18" charset="0"/>
              </a:rPr>
              <a:t>Eclipse </a:t>
            </a:r>
            <a:r>
              <a:rPr lang="en-US" sz="1400" dirty="0">
                <a:latin typeface="Times New Roman" pitchFamily="18" charset="0"/>
                <a:cs typeface="Times New Roman" pitchFamily="18" charset="0"/>
              </a:rPr>
              <a:t>is also widely used for creating Android applications. Eclipse isn’t designed for Android development but provides </a:t>
            </a:r>
            <a:r>
              <a:rPr lang="en-US" sz="1400" dirty="0" err="1">
                <a:latin typeface="Times New Roman" pitchFamily="18" charset="0"/>
                <a:cs typeface="Times New Roman" pitchFamily="18" charset="0"/>
              </a:rPr>
              <a:t>plugins</a:t>
            </a:r>
            <a:r>
              <a:rPr lang="en-US" sz="1400" dirty="0">
                <a:latin typeface="Times New Roman" pitchFamily="18" charset="0"/>
                <a:cs typeface="Times New Roman" pitchFamily="18" charset="0"/>
              </a:rPr>
              <a:t> and extensions to streamline the process. Eclipse is free and can be used with several different programming languages.</a:t>
            </a:r>
          </a:p>
          <a:p>
            <a:pPr algn="just" fontAlgn="base">
              <a:lnSpc>
                <a:spcPct val="150000"/>
              </a:lnSpc>
            </a:pPr>
            <a:r>
              <a:rPr lang="en-US" sz="1400" b="1" dirty="0" err="1">
                <a:latin typeface="Times New Roman" pitchFamily="18" charset="0"/>
                <a:cs typeface="Times New Roman" pitchFamily="18" charset="0"/>
              </a:rPr>
              <a:t>Xamarin</a:t>
            </a:r>
            <a:r>
              <a:rPr lang="en-US" sz="1400" b="1" dirty="0">
                <a:latin typeface="Times New Roman" pitchFamily="18" charset="0"/>
                <a:cs typeface="Times New Roman" pitchFamily="18" charset="0"/>
              </a:rPr>
              <a:t>: </a:t>
            </a:r>
            <a:r>
              <a:rPr lang="en-US" sz="1400" dirty="0">
                <a:latin typeface="Times New Roman" pitchFamily="18" charset="0"/>
                <a:cs typeface="Times New Roman" pitchFamily="18" charset="0"/>
              </a:rPr>
              <a:t>The </a:t>
            </a:r>
            <a:r>
              <a:rPr lang="en-US" sz="1400" dirty="0" err="1">
                <a:latin typeface="Times New Roman" pitchFamily="18" charset="0"/>
                <a:cs typeface="Times New Roman" pitchFamily="18" charset="0"/>
              </a:rPr>
              <a:t>Xamarin</a:t>
            </a:r>
            <a:r>
              <a:rPr lang="en-US" sz="1400" dirty="0">
                <a:latin typeface="Times New Roman" pitchFamily="18" charset="0"/>
                <a:cs typeface="Times New Roman" pitchFamily="18" charset="0"/>
              </a:rPr>
              <a:t> platform is a cross-platform development tool that enables programmers to write apps for several platforms from a single set of source codes. </a:t>
            </a:r>
            <a:endParaRPr lang="en-US" sz="1400" dirty="0" smtClean="0">
              <a:latin typeface="Times New Roman" pitchFamily="18" charset="0"/>
              <a:cs typeface="Times New Roman" pitchFamily="18" charset="0"/>
            </a:endParaRPr>
          </a:p>
          <a:p>
            <a:pPr algn="just" fontAlgn="base">
              <a:lnSpc>
                <a:spcPct val="150000"/>
              </a:lnSpc>
            </a:pPr>
            <a:r>
              <a:rPr lang="en-US" sz="1400" dirty="0">
                <a:latin typeface="Times New Roman" pitchFamily="18" charset="0"/>
                <a:cs typeface="Times New Roman" pitchFamily="18" charset="0"/>
              </a:rPr>
              <a:t>When developing native apps, </a:t>
            </a:r>
            <a:r>
              <a:rPr lang="en-US" sz="1400" dirty="0" err="1">
                <a:latin typeface="Times New Roman" pitchFamily="18" charset="0"/>
                <a:cs typeface="Times New Roman" pitchFamily="18" charset="0"/>
              </a:rPr>
              <a:t>Xamarin</a:t>
            </a:r>
            <a:r>
              <a:rPr lang="en-US" sz="1400" dirty="0">
                <a:latin typeface="Times New Roman" pitchFamily="18" charset="0"/>
                <a:cs typeface="Times New Roman" pitchFamily="18" charset="0"/>
              </a:rPr>
              <a:t> uses C# and .NET to allow for platform-specific adaptation. </a:t>
            </a:r>
            <a:endParaRPr lang="en-US" sz="1400" dirty="0" smtClean="0">
              <a:latin typeface="Times New Roman" pitchFamily="18" charset="0"/>
              <a:cs typeface="Times New Roman" pitchFamily="18" charset="0"/>
            </a:endParaRPr>
          </a:p>
          <a:p>
            <a:pPr algn="just" fontAlgn="base">
              <a:lnSpc>
                <a:spcPct val="150000"/>
              </a:lnSpc>
            </a:pPr>
            <a:endParaRPr lang="en-US" sz="1400" b="1" dirty="0" smtClean="0">
              <a:latin typeface="Times New Roman" pitchFamily="18" charset="0"/>
              <a:cs typeface="Times New Roman" pitchFamily="18" charset="0"/>
            </a:endParaRPr>
          </a:p>
          <a:p>
            <a:pPr algn="just" fontAlgn="base">
              <a:lnSpc>
                <a:spcPct val="150000"/>
              </a:lnSpc>
            </a:pPr>
            <a:r>
              <a:rPr lang="en-US" sz="1400" b="1" dirty="0" smtClean="0">
                <a:latin typeface="Times New Roman" pitchFamily="18" charset="0"/>
                <a:cs typeface="Times New Roman" pitchFamily="18" charset="0"/>
              </a:rPr>
              <a:t>React </a:t>
            </a:r>
            <a:r>
              <a:rPr lang="en-US" sz="1400" b="1" dirty="0">
                <a:latin typeface="Times New Roman" pitchFamily="18" charset="0"/>
                <a:cs typeface="Times New Roman" pitchFamily="18" charset="0"/>
              </a:rPr>
              <a:t>Native: </a:t>
            </a:r>
            <a:r>
              <a:rPr lang="en-US" sz="1400" dirty="0">
                <a:latin typeface="Times New Roman" pitchFamily="18" charset="0"/>
                <a:cs typeface="Times New Roman" pitchFamily="18" charset="0"/>
              </a:rPr>
              <a:t>To construct native apps for Android and </a:t>
            </a:r>
            <a:r>
              <a:rPr lang="en-US" sz="1400" dirty="0" err="1">
                <a:latin typeface="Times New Roman" pitchFamily="18" charset="0"/>
                <a:cs typeface="Times New Roman" pitchFamily="18" charset="0"/>
              </a:rPr>
              <a:t>iOS</a:t>
            </a:r>
            <a:r>
              <a:rPr lang="en-US" sz="1400" dirty="0">
                <a:latin typeface="Times New Roman" pitchFamily="18" charset="0"/>
                <a:cs typeface="Times New Roman" pitchFamily="18" charset="0"/>
              </a:rPr>
              <a:t> with JavaScript and React, developers frequently turn to the widely-used cross-platform development tool React Native. </a:t>
            </a:r>
            <a:endParaRPr lang="en-US" sz="1400" dirty="0" smtClean="0">
              <a:latin typeface="Times New Roman" pitchFamily="18" charset="0"/>
              <a:cs typeface="Times New Roman" pitchFamily="18" charset="0"/>
            </a:endParaRPr>
          </a:p>
          <a:p>
            <a:pPr algn="just" fontAlgn="base">
              <a:lnSpc>
                <a:spcPct val="150000"/>
              </a:lnSpc>
            </a:pPr>
            <a:r>
              <a:rPr lang="en-US" sz="1400" dirty="0">
                <a:latin typeface="Times New Roman" pitchFamily="18" charset="0"/>
                <a:cs typeface="Times New Roman" pitchFamily="18" charset="0"/>
              </a:rPr>
              <a:t>With React Native, programmers can make apps that look and feel native while still reusing existing code. Among the many features and tools available in React Native are a visual designer, code editor, and debugging utilities.</a:t>
            </a:r>
          </a:p>
          <a:p>
            <a:pPr algn="just" fontAlgn="base">
              <a:lnSpc>
                <a:spcPct val="150000"/>
              </a:lnSpc>
            </a:pPr>
            <a:endParaRPr lang="en-US" sz="1200" dirty="0" smtClean="0">
              <a:latin typeface="Times New Roman" pitchFamily="18" charset="0"/>
              <a:cs typeface="Times New Roman" pitchFamily="18" charset="0"/>
            </a:endParaRPr>
          </a:p>
          <a:p>
            <a:pPr fontAlgn="base"/>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latin typeface="Times New Roman" pitchFamily="18" charset="0"/>
                <a:cs typeface="Times New Roman" pitchFamily="18" charset="0"/>
              </a:rPr>
              <a:t>Pros and Cons of </a:t>
            </a:r>
            <a:r>
              <a:rPr lang="en-US" dirty="0">
                <a:latin typeface="Times New Roman" pitchFamily="18" charset="0"/>
                <a:cs typeface="Times New Roman" pitchFamily="18" charset="0"/>
              </a:rPr>
              <a:t>Android app development</a:t>
            </a:r>
            <a:r>
              <a:rPr lang="en-US" dirty="0"/>
              <a:t/>
            </a:r>
            <a:br>
              <a:rPr lang="en-US" dirty="0"/>
            </a:br>
            <a:endParaRPr lang="en-US" dirty="0"/>
          </a:p>
        </p:txBody>
      </p:sp>
      <p:sp>
        <p:nvSpPr>
          <p:cNvPr id="3" name="Rectangle 2"/>
          <p:cNvSpPr/>
          <p:nvPr/>
        </p:nvSpPr>
        <p:spPr>
          <a:xfrm>
            <a:off x="285720" y="1714488"/>
            <a:ext cx="8358246" cy="4247317"/>
          </a:xfrm>
          <a:prstGeom prst="rect">
            <a:avLst/>
          </a:prstGeom>
        </p:spPr>
        <p:txBody>
          <a:bodyPr wrap="square">
            <a:spAutoFit/>
          </a:bodyPr>
          <a:lstStyle/>
          <a:p>
            <a:pPr algn="just" fontAlgn="base">
              <a:lnSpc>
                <a:spcPct val="200000"/>
              </a:lnSpc>
            </a:pPr>
            <a:r>
              <a:rPr lang="en-US" b="1" dirty="0">
                <a:latin typeface="Times New Roman" pitchFamily="18" charset="0"/>
                <a:cs typeface="Times New Roman" pitchFamily="18" charset="0"/>
              </a:rPr>
              <a:t>Large user base: </a:t>
            </a:r>
            <a:r>
              <a:rPr lang="en-US" dirty="0">
                <a:latin typeface="Times New Roman" pitchFamily="18" charset="0"/>
                <a:cs typeface="Times New Roman" pitchFamily="18" charset="0"/>
              </a:rPr>
              <a:t>Many people could use your app, making it a good investment. There are more than 2.5 billion monthly active Android users, giving app makers a huge potential audience</a:t>
            </a:r>
            <a:r>
              <a:rPr lang="en-US" dirty="0" smtClean="0">
                <a:latin typeface="Times New Roman" pitchFamily="18" charset="0"/>
                <a:cs typeface="Times New Roman" pitchFamily="18" charset="0"/>
              </a:rPr>
              <a:t>.</a:t>
            </a:r>
          </a:p>
          <a:p>
            <a:pPr algn="just" fontAlgn="base">
              <a:lnSpc>
                <a:spcPct val="200000"/>
              </a:lnSpc>
            </a:pPr>
            <a:r>
              <a:rPr lang="en-US" b="1" dirty="0">
                <a:latin typeface="Times New Roman" pitchFamily="18" charset="0"/>
                <a:cs typeface="Times New Roman" pitchFamily="18" charset="0"/>
              </a:rPr>
              <a:t>Open-source platform: </a:t>
            </a:r>
            <a:r>
              <a:rPr lang="en-US" dirty="0" smtClean="0">
                <a:latin typeface="Times New Roman" pitchFamily="18" charset="0"/>
                <a:cs typeface="Times New Roman" pitchFamily="18" charset="0"/>
              </a:rPr>
              <a:t>Android’s </a:t>
            </a:r>
            <a:r>
              <a:rPr lang="en-US" dirty="0">
                <a:latin typeface="Times New Roman" pitchFamily="18" charset="0"/>
                <a:cs typeface="Times New Roman" pitchFamily="18" charset="0"/>
              </a:rPr>
              <a:t>source code is openly shared with the world. Because of this, the operating system may be tailored to the specific demands of each developer. </a:t>
            </a:r>
            <a:endParaRPr lang="en-US" dirty="0" smtClean="0">
              <a:latin typeface="Times New Roman" pitchFamily="18" charset="0"/>
              <a:cs typeface="Times New Roman" pitchFamily="18" charset="0"/>
            </a:endParaRPr>
          </a:p>
          <a:p>
            <a:pPr algn="just" fontAlgn="base">
              <a:lnSpc>
                <a:spcPct val="200000"/>
              </a:lnSpc>
            </a:pPr>
            <a:r>
              <a:rPr lang="en-US" b="1" dirty="0">
                <a:latin typeface="Times New Roman" pitchFamily="18" charset="0"/>
                <a:cs typeface="Times New Roman" pitchFamily="18" charset="0"/>
              </a:rPr>
              <a:t>Easy </a:t>
            </a:r>
            <a:r>
              <a:rPr lang="en-US" b="1" dirty="0" err="1">
                <a:latin typeface="Times New Roman" pitchFamily="18" charset="0"/>
                <a:cs typeface="Times New Roman" pitchFamily="18" charset="0"/>
              </a:rPr>
              <a:t>customisation</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Android’s adaptability means the system’s UI and user experience can be modified easily. </a:t>
            </a:r>
          </a:p>
          <a:p>
            <a:pPr fontAlgn="base"/>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a:t>
            </a:r>
            <a:endParaRPr lang="en-US" dirty="0"/>
          </a:p>
        </p:txBody>
      </p:sp>
      <p:sp>
        <p:nvSpPr>
          <p:cNvPr id="3" name="Rectangle 2"/>
          <p:cNvSpPr/>
          <p:nvPr/>
        </p:nvSpPr>
        <p:spPr>
          <a:xfrm>
            <a:off x="285720" y="1225689"/>
            <a:ext cx="8572560" cy="5632311"/>
          </a:xfrm>
          <a:prstGeom prst="rect">
            <a:avLst/>
          </a:prstGeom>
        </p:spPr>
        <p:txBody>
          <a:bodyPr wrap="square">
            <a:spAutoFit/>
          </a:bodyPr>
          <a:lstStyle/>
          <a:p>
            <a:pPr algn="just" fontAlgn="base">
              <a:lnSpc>
                <a:spcPct val="200000"/>
              </a:lnSpc>
            </a:pPr>
            <a:r>
              <a:rPr lang="en-US" b="1" dirty="0">
                <a:latin typeface="Times New Roman" pitchFamily="18" charset="0"/>
                <a:cs typeface="Times New Roman" pitchFamily="18" charset="0"/>
              </a:rPr>
              <a:t>Fragmentation issues: </a:t>
            </a:r>
            <a:r>
              <a:rPr lang="en-US" dirty="0">
                <a:latin typeface="Times New Roman" pitchFamily="18" charset="0"/>
                <a:cs typeface="Times New Roman" pitchFamily="18" charset="0"/>
              </a:rPr>
              <a:t>Problems with fragmentation arise because of the huge variety of Android </a:t>
            </a:r>
            <a:r>
              <a:rPr lang="en-US" dirty="0" err="1">
                <a:latin typeface="Times New Roman" pitchFamily="18" charset="0"/>
                <a:cs typeface="Times New Roman" pitchFamily="18" charset="0"/>
              </a:rPr>
              <a:t>smartphones</a:t>
            </a:r>
            <a:r>
              <a:rPr lang="en-US" dirty="0">
                <a:latin typeface="Times New Roman" pitchFamily="18" charset="0"/>
                <a:cs typeface="Times New Roman" pitchFamily="18" charset="0"/>
              </a:rPr>
              <a:t> available on the market today, each with its own screen size, resolution, and hardware specs. </a:t>
            </a:r>
            <a:endParaRPr lang="en-US" dirty="0" smtClean="0">
              <a:latin typeface="Times New Roman" pitchFamily="18" charset="0"/>
              <a:cs typeface="Times New Roman" pitchFamily="18" charset="0"/>
            </a:endParaRPr>
          </a:p>
          <a:p>
            <a:pPr algn="just" fontAlgn="base">
              <a:lnSpc>
                <a:spcPct val="200000"/>
              </a:lnSpc>
            </a:pPr>
            <a:r>
              <a:rPr lang="en-US" b="1" dirty="0">
                <a:latin typeface="Times New Roman" pitchFamily="18" charset="0"/>
                <a:cs typeface="Times New Roman" pitchFamily="18" charset="0"/>
              </a:rPr>
              <a:t>Security concerns: </a:t>
            </a:r>
            <a:r>
              <a:rPr lang="en-US" dirty="0">
                <a:latin typeface="Times New Roman" pitchFamily="18" charset="0"/>
                <a:cs typeface="Times New Roman" pitchFamily="18" charset="0"/>
              </a:rPr>
              <a:t>Safety concerns can also arise from Android’s open-source nature. It’s easier for bad guys to find and exploit security flaws when the source code is open. </a:t>
            </a:r>
            <a:endParaRPr lang="en-US" dirty="0" smtClean="0">
              <a:latin typeface="Times New Roman" pitchFamily="18" charset="0"/>
              <a:cs typeface="Times New Roman" pitchFamily="18" charset="0"/>
            </a:endParaRPr>
          </a:p>
          <a:p>
            <a:pPr algn="just" fontAlgn="base">
              <a:lnSpc>
                <a:spcPct val="200000"/>
              </a:lnSpc>
            </a:pPr>
            <a:r>
              <a:rPr lang="en-US" b="1" dirty="0">
                <a:latin typeface="Times New Roman" pitchFamily="18" charset="0"/>
                <a:cs typeface="Times New Roman" pitchFamily="18" charset="0"/>
              </a:rPr>
              <a:t>Compatibility issues: </a:t>
            </a:r>
            <a:r>
              <a:rPr lang="en-US" dirty="0">
                <a:latin typeface="Times New Roman" pitchFamily="18" charset="0"/>
                <a:cs typeface="Times New Roman" pitchFamily="18" charset="0"/>
              </a:rPr>
              <a:t>Although a wide variety of Android devices are available on the market, compatibility concerns may emerge during app development. This can make it harder for programmers to test their apps extensively on various devices, potentially leading to a subpar end-user experience.</a:t>
            </a:r>
          </a:p>
          <a:p>
            <a:pPr fontAlgn="base"/>
            <a:endParaRPr lang="en-US" dirty="0" smtClean="0"/>
          </a:p>
          <a:p>
            <a:pPr fontAlgn="base"/>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iOS</a:t>
            </a:r>
            <a:r>
              <a:rPr lang="en-US" dirty="0"/>
              <a:t> App Development Platforms</a:t>
            </a:r>
            <a:br>
              <a:rPr lang="en-US" dirty="0"/>
            </a:br>
            <a:endParaRPr lang="en-US" dirty="0"/>
          </a:p>
        </p:txBody>
      </p:sp>
      <p:sp>
        <p:nvSpPr>
          <p:cNvPr id="3" name="Rectangle 2"/>
          <p:cNvSpPr/>
          <p:nvPr/>
        </p:nvSpPr>
        <p:spPr>
          <a:xfrm>
            <a:off x="0" y="1000108"/>
            <a:ext cx="8929718" cy="5444054"/>
          </a:xfrm>
          <a:prstGeom prst="rect">
            <a:avLst/>
          </a:prstGeom>
        </p:spPr>
        <p:txBody>
          <a:bodyPr wrap="square">
            <a:spAutoFit/>
          </a:bodyPr>
          <a:lstStyle/>
          <a:p>
            <a:pPr algn="just">
              <a:lnSpc>
                <a:spcPct val="150000"/>
              </a:lnSpc>
            </a:pPr>
            <a:r>
              <a:rPr lang="en-US" b="1" dirty="0" err="1">
                <a:latin typeface="Times New Roman" pitchFamily="18" charset="0"/>
                <a:cs typeface="Times New Roman" pitchFamily="18" charset="0"/>
              </a:rPr>
              <a:t>Xcode</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Apple’s IDE (Integrated Development Environment) for making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apps is called </a:t>
            </a:r>
            <a:r>
              <a:rPr lang="en-US" dirty="0" err="1">
                <a:latin typeface="Times New Roman" pitchFamily="18" charset="0"/>
                <a:cs typeface="Times New Roman" pitchFamily="18" charset="0"/>
              </a:rPr>
              <a:t>Xcode</a:t>
            </a:r>
            <a:r>
              <a:rPr lang="en-US" dirty="0">
                <a:latin typeface="Times New Roman" pitchFamily="18" charset="0"/>
                <a:cs typeface="Times New Roman" pitchFamily="18" charset="0"/>
              </a:rPr>
              <a:t>. It has everything you need to create and debug your app, from a visual editor to a code editor and debugger. </a:t>
            </a:r>
            <a:endParaRPr lang="en-US" dirty="0" smtClean="0">
              <a:latin typeface="Times New Roman" pitchFamily="18" charset="0"/>
              <a:cs typeface="Times New Roman" pitchFamily="18" charset="0"/>
            </a:endParaRPr>
          </a:p>
          <a:p>
            <a:pPr algn="just">
              <a:lnSpc>
                <a:spcPct val="150000"/>
              </a:lnSpc>
            </a:pPr>
            <a:endParaRPr lang="en-US" dirty="0">
              <a:latin typeface="Times New Roman" pitchFamily="18" charset="0"/>
              <a:cs typeface="Times New Roman" pitchFamily="18" charset="0"/>
            </a:endParaRPr>
          </a:p>
          <a:p>
            <a:pPr algn="just">
              <a:lnSpc>
                <a:spcPct val="150000"/>
              </a:lnSpc>
            </a:pPr>
            <a:r>
              <a:rPr lang="en-US" b="1" dirty="0">
                <a:latin typeface="Times New Roman" pitchFamily="18" charset="0"/>
                <a:cs typeface="Times New Roman" pitchFamily="18" charset="0"/>
              </a:rPr>
              <a:t>Swift: </a:t>
            </a:r>
            <a:r>
              <a:rPr lang="en-US" dirty="0">
                <a:latin typeface="Times New Roman" pitchFamily="18" charset="0"/>
                <a:cs typeface="Times New Roman" pitchFamily="18" charset="0"/>
              </a:rPr>
              <a:t>Apple’s Swift is a new programming language made just for making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apps. Swift provides the power and flexibility required to build sophisticated apps while simultaneously being user- and learner-friendly</a:t>
            </a:r>
            <a:r>
              <a:rPr lang="en-US" dirty="0" smtClean="0">
                <a:latin typeface="Times New Roman" pitchFamily="18" charset="0"/>
                <a:cs typeface="Times New Roman" pitchFamily="18" charset="0"/>
              </a:rPr>
              <a:t>.</a:t>
            </a:r>
          </a:p>
          <a:p>
            <a:pPr algn="just">
              <a:lnSpc>
                <a:spcPct val="150000"/>
              </a:lnSpc>
            </a:pPr>
            <a:endParaRPr lang="en-US" dirty="0">
              <a:latin typeface="Times New Roman" pitchFamily="18" charset="0"/>
              <a:cs typeface="Times New Roman" pitchFamily="18" charset="0"/>
            </a:endParaRPr>
          </a:p>
          <a:p>
            <a:pPr algn="just">
              <a:lnSpc>
                <a:spcPct val="150000"/>
              </a:lnSpc>
            </a:pPr>
            <a:r>
              <a:rPr lang="en-US" b="1" dirty="0">
                <a:latin typeface="Times New Roman" pitchFamily="18" charset="0"/>
                <a:cs typeface="Times New Roman" pitchFamily="18" charset="0"/>
              </a:rPr>
              <a:t>React Native: </a:t>
            </a:r>
            <a:r>
              <a:rPr lang="en-US" dirty="0">
                <a:latin typeface="Times New Roman" pitchFamily="18" charset="0"/>
                <a:cs typeface="Times New Roman" pitchFamily="18" charset="0"/>
              </a:rPr>
              <a:t>Using JavaScript and React, </a:t>
            </a:r>
            <a:r>
              <a:rPr lang="en-US" dirty="0" smtClean="0">
                <a:latin typeface="Times New Roman" pitchFamily="18" charset="0"/>
                <a:cs typeface="Times New Roman" pitchFamily="18" charset="0"/>
              </a:rPr>
              <a:t>React Native is </a:t>
            </a:r>
            <a:r>
              <a:rPr lang="en-US" dirty="0">
                <a:latin typeface="Times New Roman" pitchFamily="18" charset="0"/>
                <a:cs typeface="Times New Roman" pitchFamily="18" charset="0"/>
              </a:rPr>
              <a:t>a well-liked cross-platform development framework for making native apps for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 Android. Using React Native, developers can create native-looking apps with a unified codebase. </a:t>
            </a:r>
            <a:endParaRPr lang="en-US" dirty="0" smtClean="0">
              <a:latin typeface="Times New Roman" pitchFamily="18" charset="0"/>
              <a:cs typeface="Times New Roman" pitchFamily="18" charset="0"/>
            </a:endParaRPr>
          </a:p>
          <a:p>
            <a:pPr algn="just">
              <a:lnSpc>
                <a:spcPct val="150000"/>
              </a:lnSpc>
            </a:pPr>
            <a:r>
              <a:rPr lang="en-US" b="1" dirty="0" err="1">
                <a:latin typeface="Times New Roman" pitchFamily="18" charset="0"/>
                <a:cs typeface="Times New Roman" pitchFamily="18" charset="0"/>
              </a:rPr>
              <a:t>Xamarin</a:t>
            </a:r>
            <a:r>
              <a:rPr lang="en-US" b="1" dirty="0">
                <a:latin typeface="Times New Roman" pitchFamily="18" charset="0"/>
                <a:cs typeface="Times New Roman" pitchFamily="18" charset="0"/>
              </a:rPr>
              <a:t>: </a:t>
            </a:r>
            <a:r>
              <a:rPr lang="en-US" dirty="0" err="1">
                <a:latin typeface="Times New Roman" pitchFamily="18" charset="0"/>
                <a:cs typeface="Times New Roman" pitchFamily="18" charset="0"/>
              </a:rPr>
              <a:t>Xamarin</a:t>
            </a:r>
            <a:r>
              <a:rPr lang="en-US" dirty="0">
                <a:latin typeface="Times New Roman" pitchFamily="18" charset="0"/>
                <a:cs typeface="Times New Roman" pitchFamily="18" charset="0"/>
              </a:rPr>
              <a:t> is a cross-platform development solution that makes it easy to write apps once and deploy them on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Android, and Windows.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654032"/>
          </a:xfrm>
        </p:spPr>
        <p:txBody>
          <a:bodyPr>
            <a:normAutofit fontScale="90000"/>
          </a:bodyPr>
          <a:lstStyle/>
          <a:p>
            <a:r>
              <a:rPr lang="en-US" dirty="0" smtClean="0"/>
              <a:t/>
            </a:r>
            <a:br>
              <a:rPr lang="en-US" dirty="0" smtClean="0"/>
            </a:br>
            <a:r>
              <a:rPr lang="en-US" sz="4000" dirty="0" smtClean="0">
                <a:latin typeface="Times New Roman" pitchFamily="18" charset="0"/>
                <a:cs typeface="Times New Roman" pitchFamily="18" charset="0"/>
              </a:rPr>
              <a:t>Pros  and Cons of </a:t>
            </a:r>
            <a:r>
              <a:rPr lang="en-US" sz="4000" dirty="0" err="1">
                <a:latin typeface="Times New Roman" pitchFamily="18" charset="0"/>
                <a:cs typeface="Times New Roman" pitchFamily="18" charset="0"/>
              </a:rPr>
              <a:t>iOS</a:t>
            </a:r>
            <a:r>
              <a:rPr lang="en-US" sz="4000" dirty="0">
                <a:latin typeface="Times New Roman" pitchFamily="18" charset="0"/>
                <a:cs typeface="Times New Roman" pitchFamily="18" charset="0"/>
              </a:rPr>
              <a:t> app development</a:t>
            </a:r>
            <a:r>
              <a:rPr lang="en-US" dirty="0"/>
              <a:t/>
            </a:r>
            <a:br>
              <a:rPr lang="en-US" dirty="0"/>
            </a:br>
            <a:endParaRPr lang="en-US" dirty="0"/>
          </a:p>
        </p:txBody>
      </p:sp>
      <p:sp>
        <p:nvSpPr>
          <p:cNvPr id="3" name="Rectangle 2"/>
          <p:cNvSpPr/>
          <p:nvPr/>
        </p:nvSpPr>
        <p:spPr>
          <a:xfrm>
            <a:off x="285720" y="1142984"/>
            <a:ext cx="8715436" cy="5078313"/>
          </a:xfrm>
          <a:prstGeom prst="rect">
            <a:avLst/>
          </a:prstGeom>
        </p:spPr>
        <p:txBody>
          <a:bodyPr wrap="square">
            <a:spAutoFit/>
          </a:bodyPr>
          <a:lstStyle/>
          <a:p>
            <a:pPr algn="just"/>
            <a:r>
              <a:rPr lang="en-US" b="1" dirty="0" err="1" smtClean="0">
                <a:latin typeface="Times New Roman" pitchFamily="18" charset="0"/>
                <a:cs typeface="Times New Roman" pitchFamily="18" charset="0"/>
              </a:rPr>
              <a:t>Prons</a:t>
            </a:r>
            <a:r>
              <a:rPr lang="en-US" b="1"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High-quality </a:t>
            </a:r>
            <a:r>
              <a:rPr lang="en-US" b="1" dirty="0">
                <a:latin typeface="Times New Roman" pitchFamily="18" charset="0"/>
                <a:cs typeface="Times New Roman" pitchFamily="18" charset="0"/>
              </a:rPr>
              <a:t>user experience: </a:t>
            </a:r>
            <a:r>
              <a:rPr lang="en-US" dirty="0">
                <a:latin typeface="Times New Roman" pitchFamily="18" charset="0"/>
                <a:cs typeface="Times New Roman" pitchFamily="18" charset="0"/>
              </a:rPr>
              <a:t>One of the main benefits of making an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app is that it provides a top-notch user </a:t>
            </a:r>
            <a:r>
              <a:rPr lang="en-US" dirty="0" smtClean="0">
                <a:latin typeface="Times New Roman" pitchFamily="18" charset="0"/>
                <a:cs typeface="Times New Roman" pitchFamily="18" charset="0"/>
              </a:rPr>
              <a:t>experience</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Consistent hardware and software: </a:t>
            </a:r>
            <a:r>
              <a:rPr lang="en-US" dirty="0">
                <a:latin typeface="Times New Roman" pitchFamily="18" charset="0"/>
                <a:cs typeface="Times New Roman" pitchFamily="18" charset="0"/>
              </a:rPr>
              <a:t>Apple’s hardware and software are tightly integrated, creating a more stable and consistent user experience. </a:t>
            </a:r>
            <a:endParaRPr lang="en-US"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High revenue potential: </a:t>
            </a:r>
            <a:r>
              <a:rPr lang="en-US" dirty="0">
                <a:latin typeface="Times New Roman" pitchFamily="18" charset="0"/>
                <a:cs typeface="Times New Roman" pitchFamily="18" charset="0"/>
              </a:rPr>
              <a:t>Developers have a better chance of making money from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customers because they spend more on apps and in-app </a:t>
            </a:r>
            <a:r>
              <a:rPr lang="en-US" dirty="0" smtClean="0">
                <a:latin typeface="Times New Roman" pitchFamily="18" charset="0"/>
                <a:cs typeface="Times New Roman" pitchFamily="18" charset="0"/>
              </a:rPr>
              <a:t>purchases.</a:t>
            </a:r>
          </a:p>
          <a:p>
            <a:pPr algn="just"/>
            <a:r>
              <a:rPr lang="en-US" b="1" dirty="0" smtClean="0">
                <a:latin typeface="Times New Roman" pitchFamily="18" charset="0"/>
                <a:cs typeface="Times New Roman" pitchFamily="18" charset="0"/>
              </a:rPr>
              <a:t>Cons:</a:t>
            </a:r>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Limited market share: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has a significant user base, but its market share is lower than Android. </a:t>
            </a:r>
            <a:endParaRPr lang="en-US"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Strict App Store guidelines: </a:t>
            </a:r>
            <a:r>
              <a:rPr lang="en-US" dirty="0">
                <a:latin typeface="Times New Roman" pitchFamily="18" charset="0"/>
                <a:cs typeface="Times New Roman" pitchFamily="18" charset="0"/>
              </a:rPr>
              <a:t>Developing for the App Store might be difficult due to Apple’s stringent </a:t>
            </a:r>
            <a:r>
              <a:rPr lang="en-US" dirty="0" smtClean="0">
                <a:latin typeface="Times New Roman" pitchFamily="18" charset="0"/>
                <a:cs typeface="Times New Roman" pitchFamily="18" charset="0"/>
              </a:rPr>
              <a:t>restrictions. </a:t>
            </a:r>
            <a:r>
              <a:rPr lang="en-US" dirty="0">
                <a:latin typeface="Times New Roman" pitchFamily="18" charset="0"/>
                <a:cs typeface="Times New Roman" pitchFamily="18" charset="0"/>
              </a:rPr>
              <a:t>Before an app can be released on the App </a:t>
            </a:r>
            <a:r>
              <a:rPr lang="en-US" dirty="0" smtClean="0">
                <a:latin typeface="Times New Roman" pitchFamily="18" charset="0"/>
                <a:cs typeface="Times New Roman" pitchFamily="18" charset="0"/>
              </a:rPr>
              <a:t>Store,</a:t>
            </a:r>
            <a:r>
              <a:rPr lang="en-US" dirty="0">
                <a:latin typeface="Times New Roman" pitchFamily="18" charset="0"/>
                <a:cs typeface="Times New Roman" pitchFamily="18" charset="0"/>
              </a:rPr>
              <a:t> it must first be reviewed by Apple and </a:t>
            </a:r>
            <a:r>
              <a:rPr lang="en-US" dirty="0" err="1">
                <a:latin typeface="Times New Roman" pitchFamily="18" charset="0"/>
                <a:cs typeface="Times New Roman" pitchFamily="18" charset="0"/>
              </a:rPr>
              <a:t>authorised</a:t>
            </a:r>
            <a:r>
              <a:rPr lang="en-US" dirty="0">
                <a:latin typeface="Times New Roman" pitchFamily="18" charset="0"/>
                <a:cs typeface="Times New Roman" pitchFamily="18" charset="0"/>
              </a:rPr>
              <a:t> based on a set of criteria relating to its design and functionality</a:t>
            </a:r>
            <a:r>
              <a:rPr lang="en-US" dirty="0" smtClean="0">
                <a:latin typeface="Times New Roman" pitchFamily="18" charset="0"/>
                <a:cs typeface="Times New Roman" pitchFamily="18" charset="0"/>
              </a:rPr>
              <a:t>.</a:t>
            </a:r>
          </a:p>
          <a:p>
            <a:pPr algn="just"/>
            <a:r>
              <a:rPr lang="en-US" b="1" dirty="0">
                <a:latin typeface="Times New Roman" pitchFamily="18" charset="0"/>
                <a:cs typeface="Times New Roman" pitchFamily="18" charset="0"/>
              </a:rPr>
              <a:t>Higher development costs: </a:t>
            </a:r>
            <a:r>
              <a:rPr lang="en-US" dirty="0">
                <a:latin typeface="Times New Roman" pitchFamily="18" charset="0"/>
                <a:cs typeface="Times New Roman" pitchFamily="18" charset="0"/>
              </a:rPr>
              <a:t>Due to the necessity for </a:t>
            </a:r>
            <a:r>
              <a:rPr lang="en-US" dirty="0" err="1">
                <a:latin typeface="Times New Roman" pitchFamily="18" charset="0"/>
                <a:cs typeface="Times New Roman" pitchFamily="18" charset="0"/>
              </a:rPr>
              <a:t>specialised</a:t>
            </a:r>
            <a:r>
              <a:rPr lang="en-US" dirty="0">
                <a:latin typeface="Times New Roman" pitchFamily="18" charset="0"/>
                <a:cs typeface="Times New Roman" pitchFamily="18" charset="0"/>
              </a:rPr>
              <a:t> gear and software, such as a Mac computer and the </a:t>
            </a:r>
            <a:r>
              <a:rPr lang="en-US" dirty="0" err="1">
                <a:latin typeface="Times New Roman" pitchFamily="18" charset="0"/>
                <a:cs typeface="Times New Roman" pitchFamily="18" charset="0"/>
              </a:rPr>
              <a:t>Xcode</a:t>
            </a:r>
            <a:r>
              <a:rPr lang="en-US" dirty="0">
                <a:latin typeface="Times New Roman" pitchFamily="18" charset="0"/>
                <a:cs typeface="Times New Roman" pitchFamily="18" charset="0"/>
              </a:rPr>
              <a:t> IDE,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development is sometimes more expensive than Android development.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Cross-Platform </a:t>
            </a:r>
            <a:r>
              <a:rPr lang="en-US" dirty="0"/>
              <a:t>App Development Platforms</a:t>
            </a:r>
            <a:br>
              <a:rPr lang="en-US" dirty="0"/>
            </a:br>
            <a:endParaRPr lang="en-US" dirty="0"/>
          </a:p>
        </p:txBody>
      </p:sp>
      <p:sp>
        <p:nvSpPr>
          <p:cNvPr id="3" name="Rectangle 2"/>
          <p:cNvSpPr/>
          <p:nvPr/>
        </p:nvSpPr>
        <p:spPr>
          <a:xfrm>
            <a:off x="285720" y="1785926"/>
            <a:ext cx="8429684" cy="4000528"/>
          </a:xfrm>
          <a:prstGeom prst="rect">
            <a:avLst/>
          </a:prstGeom>
        </p:spPr>
        <p:txBody>
          <a:bodyPr wrap="square">
            <a:spAutoFit/>
          </a:bodyPr>
          <a:lstStyle/>
          <a:p>
            <a:pPr algn="just" fontAlgn="base"/>
            <a:r>
              <a:rPr lang="en-US" b="1" dirty="0">
                <a:latin typeface="Times New Roman" pitchFamily="18" charset="0"/>
                <a:cs typeface="Times New Roman" pitchFamily="18" charset="0"/>
              </a:rPr>
              <a:t>React Native: </a:t>
            </a:r>
            <a:r>
              <a:rPr lang="en-US" dirty="0">
                <a:latin typeface="Times New Roman" pitchFamily="18" charset="0"/>
                <a:cs typeface="Times New Roman" pitchFamily="18" charset="0"/>
              </a:rPr>
              <a:t>As a popular cross-platform development tool, </a:t>
            </a:r>
            <a:r>
              <a:rPr lang="en-US" dirty="0" err="1">
                <a:latin typeface="Times New Roman" pitchFamily="18" charset="0"/>
                <a:cs typeface="Times New Roman" pitchFamily="18" charset="0"/>
              </a:rPr>
              <a:t>Facebook’s</a:t>
            </a:r>
            <a:r>
              <a:rPr lang="en-US" dirty="0">
                <a:latin typeface="Times New Roman" pitchFamily="18" charset="0"/>
                <a:cs typeface="Times New Roman" pitchFamily="18" charset="0"/>
              </a:rPr>
              <a:t> React Native has gained much traction in recent years. </a:t>
            </a: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enables programmers to use JavaScript and React to build native apps for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 Android</a:t>
            </a:r>
            <a:r>
              <a:rPr lang="en-US" dirty="0" smtClean="0">
                <a:latin typeface="Times New Roman" pitchFamily="18" charset="0"/>
                <a:cs typeface="Times New Roman" pitchFamily="18" charset="0"/>
              </a:rPr>
              <a:t>.</a:t>
            </a:r>
          </a:p>
          <a:p>
            <a:pPr algn="just" fontAlgn="base"/>
            <a:endParaRPr lang="en-US" dirty="0">
              <a:latin typeface="Times New Roman" pitchFamily="18" charset="0"/>
              <a:cs typeface="Times New Roman" pitchFamily="18" charset="0"/>
            </a:endParaRPr>
          </a:p>
          <a:p>
            <a:pPr algn="just" fontAlgn="base"/>
            <a:r>
              <a:rPr lang="en-US" b="1" dirty="0" err="1">
                <a:latin typeface="Times New Roman" pitchFamily="18" charset="0"/>
                <a:cs typeface="Times New Roman" pitchFamily="18" charset="0"/>
              </a:rPr>
              <a:t>Xamarin</a:t>
            </a:r>
            <a:r>
              <a:rPr lang="en-US" b="1" dirty="0">
                <a:latin typeface="Times New Roman" pitchFamily="18" charset="0"/>
                <a:cs typeface="Times New Roman" pitchFamily="18" charset="0"/>
              </a:rPr>
              <a:t>: </a:t>
            </a:r>
            <a:r>
              <a:rPr lang="en-US" dirty="0" err="1">
                <a:latin typeface="Times New Roman" pitchFamily="18" charset="0"/>
                <a:cs typeface="Times New Roman" pitchFamily="18" charset="0"/>
              </a:rPr>
              <a:t>Xamarin</a:t>
            </a:r>
            <a:r>
              <a:rPr lang="en-US" dirty="0">
                <a:latin typeface="Times New Roman" pitchFamily="18" charset="0"/>
                <a:cs typeface="Times New Roman" pitchFamily="18" charset="0"/>
              </a:rPr>
              <a:t> is a cross-platform development solution that makes it easy to write apps once and deploy them on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Android, and Windows. </a:t>
            </a:r>
          </a:p>
          <a:p>
            <a:pPr algn="just" fontAlgn="base"/>
            <a:r>
              <a:rPr lang="en-US" dirty="0">
                <a:latin typeface="Times New Roman" pitchFamily="18" charset="0"/>
                <a:cs typeface="Times New Roman" pitchFamily="18" charset="0"/>
              </a:rPr>
              <a:t>To make native apps run smoothly across several platforms, </a:t>
            </a:r>
            <a:r>
              <a:rPr lang="en-US" dirty="0" err="1">
                <a:latin typeface="Times New Roman" pitchFamily="18" charset="0"/>
                <a:cs typeface="Times New Roman" pitchFamily="18" charset="0"/>
              </a:rPr>
              <a:t>Xamarin</a:t>
            </a:r>
            <a:r>
              <a:rPr lang="en-US" dirty="0">
                <a:latin typeface="Times New Roman" pitchFamily="18" charset="0"/>
                <a:cs typeface="Times New Roman" pitchFamily="18" charset="0"/>
              </a:rPr>
              <a:t> uses C# and.NET. </a:t>
            </a:r>
            <a:endParaRPr lang="en-US" dirty="0" smtClean="0">
              <a:latin typeface="Times New Roman" pitchFamily="18" charset="0"/>
              <a:cs typeface="Times New Roman" pitchFamily="18" charset="0"/>
            </a:endParaRPr>
          </a:p>
          <a:p>
            <a:pPr algn="just" fontAlgn="base"/>
            <a:endParaRPr lang="en-US" dirty="0">
              <a:latin typeface="Times New Roman" pitchFamily="18" charset="0"/>
              <a:cs typeface="Times New Roman" pitchFamily="18" charset="0"/>
            </a:endParaRPr>
          </a:p>
          <a:p>
            <a:pPr algn="just" fontAlgn="base"/>
            <a:r>
              <a:rPr lang="en-US" b="1" dirty="0">
                <a:latin typeface="Times New Roman" pitchFamily="18" charset="0"/>
                <a:cs typeface="Times New Roman" pitchFamily="18" charset="0"/>
              </a:rPr>
              <a:t>Flutter: </a:t>
            </a:r>
            <a:r>
              <a:rPr lang="en-US" dirty="0">
                <a:latin typeface="Times New Roman" pitchFamily="18" charset="0"/>
                <a:cs typeface="Times New Roman" pitchFamily="18" charset="0"/>
              </a:rPr>
              <a:t>Google’s Flutter is a cross-platform development tool. Dart is a programming language used to build native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Android, and web apps. </a:t>
            </a:r>
            <a:endParaRPr lang="en-US" dirty="0" smtClean="0">
              <a:latin typeface="Times New Roman" pitchFamily="18" charset="0"/>
              <a:cs typeface="Times New Roman" pitchFamily="18" charset="0"/>
            </a:endParaRPr>
          </a:p>
          <a:p>
            <a:pPr algn="just" fontAlgn="base"/>
            <a:endParaRPr lang="en-US" dirty="0">
              <a:latin typeface="Times New Roman" pitchFamily="18" charset="0"/>
              <a:cs typeface="Times New Roman" pitchFamily="18" charset="0"/>
            </a:endParaRPr>
          </a:p>
          <a:p>
            <a:pPr algn="just" fontAlgn="base"/>
            <a:r>
              <a:rPr lang="en-US" b="1" dirty="0" err="1">
                <a:latin typeface="Times New Roman" pitchFamily="18" charset="0"/>
                <a:cs typeface="Times New Roman" pitchFamily="18" charset="0"/>
              </a:rPr>
              <a:t>PhoneGap</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PhoneGap</a:t>
            </a:r>
            <a:r>
              <a:rPr lang="en-US" dirty="0">
                <a:latin typeface="Times New Roman" pitchFamily="18" charset="0"/>
                <a:cs typeface="Times New Roman" pitchFamily="18" charset="0"/>
              </a:rPr>
              <a:t> is a cross-platform development tool that lets programmers write apps in HTML, CSS, and JavaScript and deploy them to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Android, and other platforms.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796908"/>
          </a:xfrm>
        </p:spPr>
        <p:txBody>
          <a:bodyPr>
            <a:normAutofit fontScale="90000"/>
          </a:bodyPr>
          <a:lstStyle/>
          <a:p>
            <a:r>
              <a:rPr lang="en-US" dirty="0" smtClean="0"/>
              <a:t/>
            </a:r>
            <a:br>
              <a:rPr lang="en-US" dirty="0" smtClean="0"/>
            </a:br>
            <a:r>
              <a:rPr lang="en-US" sz="3100" b="1" dirty="0" smtClean="0">
                <a:latin typeface="Times New Roman" pitchFamily="18" charset="0"/>
                <a:cs typeface="Times New Roman" pitchFamily="18" charset="0"/>
              </a:rPr>
              <a:t>Pros</a:t>
            </a:r>
            <a:r>
              <a:rPr lang="en-US" sz="3100" dirty="0" smtClean="0">
                <a:latin typeface="Times New Roman" pitchFamily="18" charset="0"/>
                <a:cs typeface="Times New Roman" pitchFamily="18" charset="0"/>
              </a:rPr>
              <a:t> </a:t>
            </a:r>
            <a:r>
              <a:rPr lang="en-US" sz="3100" dirty="0">
                <a:latin typeface="Times New Roman" pitchFamily="18" charset="0"/>
                <a:cs typeface="Times New Roman" pitchFamily="18" charset="0"/>
              </a:rPr>
              <a:t>of Cross-Platform app development</a:t>
            </a:r>
            <a:br>
              <a:rPr lang="en-US" sz="3100" dirty="0">
                <a:latin typeface="Times New Roman" pitchFamily="18" charset="0"/>
                <a:cs typeface="Times New Roman" pitchFamily="18" charset="0"/>
              </a:rPr>
            </a:br>
            <a:endParaRPr lang="en-US" sz="3100" dirty="0">
              <a:latin typeface="Times New Roman" pitchFamily="18" charset="0"/>
              <a:cs typeface="Times New Roman" pitchFamily="18" charset="0"/>
            </a:endParaRPr>
          </a:p>
        </p:txBody>
      </p:sp>
      <p:sp>
        <p:nvSpPr>
          <p:cNvPr id="3" name="Rectangle 2"/>
          <p:cNvSpPr/>
          <p:nvPr/>
        </p:nvSpPr>
        <p:spPr>
          <a:xfrm>
            <a:off x="71406" y="1142984"/>
            <a:ext cx="8858312" cy="5909310"/>
          </a:xfrm>
          <a:prstGeom prst="rect">
            <a:avLst/>
          </a:prstGeom>
        </p:spPr>
        <p:txBody>
          <a:bodyPr wrap="square">
            <a:spAutoFit/>
          </a:bodyPr>
          <a:lstStyle/>
          <a:p>
            <a:pPr algn="just">
              <a:lnSpc>
                <a:spcPct val="150000"/>
              </a:lnSpc>
            </a:pPr>
            <a:r>
              <a:rPr lang="en-US" b="1" dirty="0">
                <a:latin typeface="Times New Roman" pitchFamily="18" charset="0"/>
                <a:cs typeface="Times New Roman" pitchFamily="18" charset="0"/>
              </a:rPr>
              <a:t>Code reusability: </a:t>
            </a:r>
            <a:r>
              <a:rPr lang="en-US" dirty="0">
                <a:latin typeface="Times New Roman" pitchFamily="18" charset="0"/>
                <a:cs typeface="Times New Roman" pitchFamily="18" charset="0"/>
              </a:rPr>
              <a:t>Reusing code is a major benefit of developing for several platforms</a:t>
            </a:r>
            <a:r>
              <a:rPr lang="en-US" dirty="0" smtClean="0">
                <a:latin typeface="Times New Roman" pitchFamily="18" charset="0"/>
                <a:cs typeface="Times New Roman" pitchFamily="18" charset="0"/>
              </a:rPr>
              <a:t>.</a:t>
            </a:r>
          </a:p>
          <a:p>
            <a:pPr algn="just">
              <a:lnSpc>
                <a:spcPct val="150000"/>
              </a:lnSpc>
            </a:pPr>
            <a:r>
              <a:rPr lang="en-US" b="1" dirty="0">
                <a:latin typeface="Times New Roman" pitchFamily="18" charset="0"/>
                <a:cs typeface="Times New Roman" pitchFamily="18" charset="0"/>
              </a:rPr>
              <a:t>Faster time-to-market: </a:t>
            </a:r>
            <a:r>
              <a:rPr lang="en-US" dirty="0">
                <a:latin typeface="Times New Roman" pitchFamily="18" charset="0"/>
                <a:cs typeface="Times New Roman" pitchFamily="18" charset="0"/>
              </a:rPr>
              <a:t>Cross-platform development’s ability to allow developers to write code once and </a:t>
            </a:r>
            <a:r>
              <a:rPr lang="en-US" dirty="0" err="1">
                <a:latin typeface="Times New Roman" pitchFamily="18" charset="0"/>
                <a:cs typeface="Times New Roman" pitchFamily="18" charset="0"/>
              </a:rPr>
              <a:t>utilise</a:t>
            </a:r>
            <a:r>
              <a:rPr lang="en-US" dirty="0">
                <a:latin typeface="Times New Roman" pitchFamily="18" charset="0"/>
                <a:cs typeface="Times New Roman" pitchFamily="18" charset="0"/>
              </a:rPr>
              <a:t> it across numerous platforms means it can drastically cut the time it takes to bring an app to market</a:t>
            </a:r>
            <a:r>
              <a:rPr lang="en-US" dirty="0" smtClean="0">
                <a:latin typeface="Times New Roman" pitchFamily="18" charset="0"/>
                <a:cs typeface="Times New Roman" pitchFamily="18" charset="0"/>
              </a:rPr>
              <a:t>.</a:t>
            </a:r>
          </a:p>
          <a:p>
            <a:pPr algn="just">
              <a:lnSpc>
                <a:spcPct val="150000"/>
              </a:lnSpc>
            </a:pPr>
            <a:r>
              <a:rPr lang="en-US" b="1" dirty="0">
                <a:latin typeface="Times New Roman" pitchFamily="18" charset="0"/>
                <a:cs typeface="Times New Roman" pitchFamily="18" charset="0"/>
              </a:rPr>
              <a:t>Cost-effective: </a:t>
            </a:r>
            <a:r>
              <a:rPr lang="en-US" dirty="0">
                <a:latin typeface="Times New Roman" pitchFamily="18" charset="0"/>
                <a:cs typeface="Times New Roman" pitchFamily="18" charset="0"/>
              </a:rPr>
              <a:t>The ability to build code once and deploy it to numerous systems means that cross-platform development can save a lot of money</a:t>
            </a:r>
            <a:r>
              <a:rPr lang="en-US" dirty="0" smtClean="0">
                <a:latin typeface="Times New Roman" pitchFamily="18" charset="0"/>
                <a:cs typeface="Times New Roman" pitchFamily="18" charset="0"/>
              </a:rPr>
              <a:t>.</a:t>
            </a:r>
          </a:p>
          <a:p>
            <a:pPr algn="just">
              <a:lnSpc>
                <a:spcPct val="150000"/>
              </a:lnSpc>
            </a:pPr>
            <a:r>
              <a:rPr lang="en-US" dirty="0">
                <a:latin typeface="Times New Roman" pitchFamily="18" charset="0"/>
                <a:cs typeface="Times New Roman" pitchFamily="18" charset="0"/>
              </a:rPr>
              <a:t> </a:t>
            </a:r>
            <a:r>
              <a:rPr lang="en-US" b="1" dirty="0" smtClean="0">
                <a:latin typeface="Times New Roman" pitchFamily="18" charset="0"/>
                <a:cs typeface="Times New Roman" pitchFamily="18" charset="0"/>
              </a:rPr>
              <a:t>Cons:</a:t>
            </a:r>
          </a:p>
          <a:p>
            <a:pPr algn="just" fontAlgn="base">
              <a:lnSpc>
                <a:spcPct val="150000"/>
              </a:lnSpc>
            </a:pPr>
            <a:r>
              <a:rPr lang="en-US" b="1" dirty="0">
                <a:latin typeface="Times New Roman" pitchFamily="18" charset="0"/>
                <a:cs typeface="Times New Roman" pitchFamily="18" charset="0"/>
              </a:rPr>
              <a:t>Performance issues: </a:t>
            </a:r>
            <a:r>
              <a:rPr lang="en-US" dirty="0">
                <a:latin typeface="Times New Roman" pitchFamily="18" charset="0"/>
                <a:cs typeface="Times New Roman" pitchFamily="18" charset="0"/>
              </a:rPr>
              <a:t>The cross-platform development platform must interpret the code, which can slow down the development </a:t>
            </a:r>
            <a:r>
              <a:rPr lang="en-US" dirty="0" smtClean="0">
                <a:latin typeface="Times New Roman" pitchFamily="18" charset="0"/>
                <a:cs typeface="Times New Roman" pitchFamily="18" charset="0"/>
              </a:rPr>
              <a:t>process</a:t>
            </a:r>
            <a:endParaRPr lang="en-US" dirty="0">
              <a:latin typeface="Times New Roman" pitchFamily="18" charset="0"/>
              <a:cs typeface="Times New Roman" pitchFamily="18" charset="0"/>
            </a:endParaRPr>
          </a:p>
          <a:p>
            <a:pPr algn="just" fontAlgn="base">
              <a:lnSpc>
                <a:spcPct val="150000"/>
              </a:lnSpc>
            </a:pPr>
            <a:r>
              <a:rPr lang="en-US" b="1" dirty="0">
                <a:latin typeface="Times New Roman" pitchFamily="18" charset="0"/>
                <a:cs typeface="Times New Roman" pitchFamily="18" charset="0"/>
              </a:rPr>
              <a:t>Limited access to native features: </a:t>
            </a:r>
            <a:r>
              <a:rPr lang="en-US" dirty="0">
                <a:latin typeface="Times New Roman" pitchFamily="18" charset="0"/>
                <a:cs typeface="Times New Roman" pitchFamily="18" charset="0"/>
              </a:rPr>
              <a:t>Cross-platform development platforms may not have full access to native functionalities, which can reduce an app’s usefulness. Developers may need to use add-ons and </a:t>
            </a:r>
            <a:r>
              <a:rPr lang="en-US" dirty="0" err="1">
                <a:latin typeface="Times New Roman" pitchFamily="18" charset="0"/>
                <a:cs typeface="Times New Roman" pitchFamily="18" charset="0"/>
              </a:rPr>
              <a:t>plugins</a:t>
            </a:r>
            <a:r>
              <a:rPr lang="en-US" dirty="0">
                <a:latin typeface="Times New Roman" pitchFamily="18" charset="0"/>
                <a:cs typeface="Times New Roman" pitchFamily="18" charset="0"/>
              </a:rPr>
              <a:t> made by other companies to use certain capabilities.</a:t>
            </a:r>
          </a:p>
          <a:p>
            <a:pPr algn="just" fontAlgn="base">
              <a:lnSpc>
                <a:spcPct val="150000"/>
              </a:lnSpc>
            </a:pPr>
            <a:r>
              <a:rPr lang="en-US" b="1" dirty="0">
                <a:latin typeface="Times New Roman" pitchFamily="18" charset="0"/>
                <a:cs typeface="Times New Roman" pitchFamily="18" charset="0"/>
              </a:rPr>
              <a:t>Fewer </a:t>
            </a:r>
            <a:r>
              <a:rPr lang="en-US" b="1" dirty="0" err="1">
                <a:latin typeface="Times New Roman" pitchFamily="18" charset="0"/>
                <a:cs typeface="Times New Roman" pitchFamily="18" charset="0"/>
              </a:rPr>
              <a:t>customisation</a:t>
            </a:r>
            <a:r>
              <a:rPr lang="en-US" b="1" dirty="0">
                <a:latin typeface="Times New Roman" pitchFamily="18" charset="0"/>
                <a:cs typeface="Times New Roman" pitchFamily="18" charset="0"/>
              </a:rPr>
              <a:t> options: </a:t>
            </a:r>
            <a:r>
              <a:rPr lang="en-US" dirty="0">
                <a:latin typeface="Times New Roman" pitchFamily="18" charset="0"/>
                <a:cs typeface="Times New Roman" pitchFamily="18" charset="0"/>
              </a:rPr>
              <a:t>Cross-platform development platforms may provide fewer opportunities for </a:t>
            </a:r>
            <a:r>
              <a:rPr lang="en-US" dirty="0" err="1">
                <a:latin typeface="Times New Roman" pitchFamily="18" charset="0"/>
                <a:cs typeface="Times New Roman" pitchFamily="18" charset="0"/>
              </a:rPr>
              <a:t>personalisation</a:t>
            </a:r>
            <a:r>
              <a:rPr lang="en-US" dirty="0">
                <a:latin typeface="Times New Roman" pitchFamily="18" charset="0"/>
                <a:cs typeface="Times New Roman" pitchFamily="18" charset="0"/>
              </a:rPr>
              <a:t> than their native counterparts</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796908"/>
          </a:xfrm>
        </p:spPr>
        <p:txBody>
          <a:bodyPr/>
          <a:lstStyle/>
          <a:p>
            <a:r>
              <a:rPr lang="en-US" dirty="0" smtClean="0">
                <a:latin typeface="Times New Roman" pitchFamily="18" charset="0"/>
                <a:cs typeface="Times New Roman" pitchFamily="18" charset="0"/>
              </a:rPr>
              <a:t>Cost Of mobile App Development</a:t>
            </a:r>
            <a:endParaRPr lang="en-US" dirty="0">
              <a:latin typeface="Times New Roman" pitchFamily="18" charset="0"/>
              <a:cs typeface="Times New Roman" pitchFamily="18" charset="0"/>
            </a:endParaRPr>
          </a:p>
        </p:txBody>
      </p:sp>
      <p:sp>
        <p:nvSpPr>
          <p:cNvPr id="3" name="Rectangle 2"/>
          <p:cNvSpPr/>
          <p:nvPr/>
        </p:nvSpPr>
        <p:spPr>
          <a:xfrm>
            <a:off x="142844" y="1214422"/>
            <a:ext cx="9001156" cy="5775187"/>
          </a:xfrm>
          <a:prstGeom prst="rect">
            <a:avLst/>
          </a:prstGeom>
        </p:spPr>
        <p:txBody>
          <a:bodyPr wrap="square">
            <a:spAutoFit/>
          </a:bodyPr>
          <a:lstStyle/>
          <a:p>
            <a:pPr algn="just">
              <a:lnSpc>
                <a:spcPct val="150000"/>
              </a:lnSpc>
            </a:pPr>
            <a:r>
              <a:rPr lang="en-US" sz="1600" dirty="0">
                <a:latin typeface="Times New Roman" pitchFamily="18" charset="0"/>
                <a:cs typeface="Times New Roman" pitchFamily="18" charset="0"/>
              </a:rPr>
              <a:t>The cost of developing an app can vary depending on several factors, such as the app’s complexity, the platforms it will run on, and the features and functionalities </a:t>
            </a:r>
            <a:r>
              <a:rPr lang="en-US" sz="1600" dirty="0" smtClean="0">
                <a:latin typeface="Times New Roman" pitchFamily="18" charset="0"/>
                <a:cs typeface="Times New Roman" pitchFamily="18" charset="0"/>
              </a:rPr>
              <a:t>required.</a:t>
            </a:r>
          </a:p>
          <a:p>
            <a:pPr algn="just">
              <a:lnSpc>
                <a:spcPct val="150000"/>
              </a:lnSpc>
            </a:pPr>
            <a:r>
              <a:rPr lang="en-US" sz="1600" b="1" dirty="0" smtClean="0">
                <a:latin typeface="Times New Roman" pitchFamily="18" charset="0"/>
                <a:cs typeface="Times New Roman" pitchFamily="18" charset="0"/>
              </a:rPr>
              <a:t>A </a:t>
            </a:r>
            <a:r>
              <a:rPr lang="en-US" sz="1600" b="1" dirty="0">
                <a:latin typeface="Times New Roman" pitchFamily="18" charset="0"/>
                <a:cs typeface="Times New Roman" pitchFamily="18" charset="0"/>
              </a:rPr>
              <a:t>basic AI-powered app</a:t>
            </a:r>
            <a:r>
              <a:rPr lang="en-US" sz="1600" dirty="0">
                <a:latin typeface="Times New Roman" pitchFamily="18" charset="0"/>
                <a:cs typeface="Times New Roman" pitchFamily="18" charset="0"/>
              </a:rPr>
              <a:t>, such as a </a:t>
            </a:r>
            <a:r>
              <a:rPr lang="en-US" sz="1600" dirty="0" err="1">
                <a:latin typeface="Times New Roman" pitchFamily="18" charset="0"/>
                <a:cs typeface="Times New Roman" pitchFamily="18" charset="0"/>
              </a:rPr>
              <a:t>chatbot</a:t>
            </a:r>
            <a:r>
              <a:rPr lang="en-US" sz="1600" dirty="0">
                <a:latin typeface="Times New Roman" pitchFamily="18" charset="0"/>
                <a:cs typeface="Times New Roman" pitchFamily="18" charset="0"/>
              </a:rPr>
              <a:t> or a simple image recognition tool, typically costs between $10,000 and $50,000</a:t>
            </a: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 The main expenses for such applications include UI/UX design, API integration, and basic testing</a:t>
            </a:r>
            <a:r>
              <a:rPr lang="en-US" sz="1600" dirty="0" smtClean="0">
                <a:latin typeface="Times New Roman" pitchFamily="18" charset="0"/>
                <a:cs typeface="Times New Roman" pitchFamily="18" charset="0"/>
              </a:rPr>
              <a:t>.</a:t>
            </a:r>
          </a:p>
          <a:p>
            <a:pPr algn="just">
              <a:lnSpc>
                <a:spcPct val="150000"/>
              </a:lnSpc>
            </a:pPr>
            <a:r>
              <a:rPr lang="en-US" sz="1600" dirty="0" smtClean="0">
                <a:latin typeface="Times New Roman" pitchFamily="18" charset="0"/>
                <a:cs typeface="Times New Roman" pitchFamily="18" charset="0"/>
              </a:rPr>
              <a:t>Development </a:t>
            </a:r>
            <a:r>
              <a:rPr lang="en-US" sz="1600" b="1" dirty="0">
                <a:latin typeface="Times New Roman" pitchFamily="18" charset="0"/>
                <a:cs typeface="Times New Roman" pitchFamily="18" charset="0"/>
              </a:rPr>
              <a:t>costs for mid-range AI applications </a:t>
            </a:r>
            <a:r>
              <a:rPr lang="en-US" sz="1600" dirty="0">
                <a:latin typeface="Times New Roman" pitchFamily="18" charset="0"/>
                <a:cs typeface="Times New Roman" pitchFamily="18" charset="0"/>
              </a:rPr>
              <a:t>that require custom machine learning models, more advanced natural language processing (NLP), or predictive </a:t>
            </a:r>
            <a:r>
              <a:rPr lang="en-US" sz="1600" dirty="0" smtClean="0">
                <a:latin typeface="Times New Roman" pitchFamily="18" charset="0"/>
                <a:cs typeface="Times New Roman" pitchFamily="18" charset="0"/>
              </a:rPr>
              <a:t>analytics generally </a:t>
            </a:r>
            <a:r>
              <a:rPr lang="en-US" sz="1600" dirty="0">
                <a:latin typeface="Times New Roman" pitchFamily="18" charset="0"/>
                <a:cs typeface="Times New Roman" pitchFamily="18" charset="0"/>
              </a:rPr>
              <a:t>range from $50,000 to $200,000</a:t>
            </a: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 Additionally, cloud computing services such as Amazon Web Services (AWS), Google Cloud Platform (GCP), or Microsoft Azure may be needed to handle large datasets and AI model deployments, adding additional server costs and scaling </a:t>
            </a:r>
            <a:r>
              <a:rPr lang="en-US" sz="1600" dirty="0" smtClean="0">
                <a:latin typeface="Times New Roman" pitchFamily="18" charset="0"/>
                <a:cs typeface="Times New Roman" pitchFamily="18" charset="0"/>
              </a:rPr>
              <a:t>expenses.</a:t>
            </a:r>
          </a:p>
          <a:p>
            <a:pPr algn="just">
              <a:lnSpc>
                <a:spcPct val="150000"/>
              </a:lnSpc>
            </a:pPr>
            <a:r>
              <a:rPr lang="en-US" sz="1600" dirty="0" smtClean="0">
                <a:latin typeface="Times New Roman" pitchFamily="18" charset="0"/>
                <a:cs typeface="Times New Roman" pitchFamily="18" charset="0"/>
              </a:rPr>
              <a:t>A </a:t>
            </a:r>
            <a:r>
              <a:rPr lang="en-US" sz="1600" b="1" dirty="0">
                <a:latin typeface="Times New Roman" pitchFamily="18" charset="0"/>
                <a:cs typeface="Times New Roman" pitchFamily="18" charset="0"/>
              </a:rPr>
              <a:t>highly advanced AI app </a:t>
            </a:r>
            <a:r>
              <a:rPr lang="en-US" sz="1600" dirty="0">
                <a:latin typeface="Times New Roman" pitchFamily="18" charset="0"/>
                <a:cs typeface="Times New Roman" pitchFamily="18" charset="0"/>
              </a:rPr>
              <a:t>with deep learning, real-time </a:t>
            </a:r>
            <a:r>
              <a:rPr lang="en-US" sz="1600" dirty="0" smtClean="0">
                <a:latin typeface="Times New Roman" pitchFamily="18" charset="0"/>
                <a:cs typeface="Times New Roman" pitchFamily="18" charset="0"/>
              </a:rPr>
              <a:t>processing, </a:t>
            </a:r>
            <a:r>
              <a:rPr lang="en-US" sz="1600" dirty="0">
                <a:latin typeface="Times New Roman" pitchFamily="18" charset="0"/>
                <a:cs typeface="Times New Roman" pitchFamily="18" charset="0"/>
              </a:rPr>
              <a:t>or sophisticated automation can cost between $200,000 and $500,000+. These applications often involve extensive R&amp;D, ongoing model improvements, and large-scale infrastructure support. AI-powered healthcare, finance, or autonomous </a:t>
            </a:r>
            <a:r>
              <a:rPr lang="en-US" sz="1600" dirty="0" smtClean="0">
                <a:latin typeface="Times New Roman" pitchFamily="18" charset="0"/>
                <a:cs typeface="Times New Roman" pitchFamily="18" charset="0"/>
              </a:rPr>
              <a:t>applications ,require </a:t>
            </a:r>
            <a:r>
              <a:rPr lang="en-US" sz="1600" dirty="0">
                <a:latin typeface="Times New Roman" pitchFamily="18" charset="0"/>
                <a:cs typeface="Times New Roman" pitchFamily="18" charset="0"/>
              </a:rPr>
              <a:t>high precision, compliance with regulations, and continuous maintenance, all driving up costs.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a:t>
            </a:r>
            <a:endParaRPr lang="en-US" dirty="0"/>
          </a:p>
        </p:txBody>
      </p:sp>
      <p:graphicFrame>
        <p:nvGraphicFramePr>
          <p:cNvPr id="3" name="Table 2"/>
          <p:cNvGraphicFramePr>
            <a:graphicFrameLocks noGrp="1"/>
          </p:cNvGraphicFramePr>
          <p:nvPr/>
        </p:nvGraphicFramePr>
        <p:xfrm>
          <a:off x="571470" y="1397001"/>
          <a:ext cx="8215371" cy="4889518"/>
        </p:xfrm>
        <a:graphic>
          <a:graphicData uri="http://schemas.openxmlformats.org/drawingml/2006/table">
            <a:tbl>
              <a:tblPr/>
              <a:tblGrid>
                <a:gridCol w="2738457"/>
                <a:gridCol w="2738457"/>
                <a:gridCol w="2738457"/>
              </a:tblGrid>
              <a:tr h="293244">
                <a:tc gridSpan="3">
                  <a:txBody>
                    <a:bodyPr/>
                    <a:lstStyle/>
                    <a:p>
                      <a:pPr algn="ctr" fontAlgn="t"/>
                      <a:r>
                        <a:rPr lang="en-US" sz="1400" dirty="0">
                          <a:solidFill>
                            <a:srgbClr val="FFFFFF"/>
                          </a:solidFill>
                          <a:latin typeface="Times New Roman" pitchFamily="18" charset="0"/>
                          <a:cs typeface="Times New Roman" pitchFamily="18" charset="0"/>
                        </a:rPr>
                        <a:t>What are the Cost Factors for Building a Mobile App in 2026?</a:t>
                      </a:r>
                    </a:p>
                  </a:txBody>
                  <a:tcPr marL="26493" marR="26493" marT="26493" marB="26493">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2E7D32"/>
                    </a:solidFill>
                  </a:tcPr>
                </a:tc>
                <a:tc hMerge="1">
                  <a:txBody>
                    <a:bodyPr/>
                    <a:lstStyle/>
                    <a:p>
                      <a:endParaRPr lang="en-US"/>
                    </a:p>
                  </a:txBody>
                  <a:tcPr/>
                </a:tc>
                <a:tc hMerge="1">
                  <a:txBody>
                    <a:bodyPr/>
                    <a:lstStyle/>
                    <a:p>
                      <a:endParaRPr lang="en-US"/>
                    </a:p>
                  </a:txBody>
                  <a:tcPr/>
                </a:tc>
              </a:tr>
              <a:tr h="407991">
                <a:tc>
                  <a:txBody>
                    <a:bodyPr/>
                    <a:lstStyle/>
                    <a:p>
                      <a:pPr algn="ctr" fontAlgn="t"/>
                      <a:r>
                        <a:rPr lang="en-US" sz="1400">
                          <a:solidFill>
                            <a:srgbClr val="FFFFFF"/>
                          </a:solidFill>
                          <a:latin typeface="Times New Roman" pitchFamily="18" charset="0"/>
                          <a:cs typeface="Times New Roman" pitchFamily="18" charset="0"/>
                        </a:rPr>
                        <a:t>Cost category</a:t>
                      </a:r>
                    </a:p>
                  </a:txBody>
                  <a:tcPr marL="26493" marR="26493" marT="26493" marB="26493">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2E7D32"/>
                    </a:solidFill>
                  </a:tcPr>
                </a:tc>
                <a:tc>
                  <a:txBody>
                    <a:bodyPr/>
                    <a:lstStyle/>
                    <a:p>
                      <a:pPr algn="ctr" fontAlgn="t"/>
                      <a:r>
                        <a:rPr lang="en-US" sz="1400">
                          <a:solidFill>
                            <a:srgbClr val="FFFFFF"/>
                          </a:solidFill>
                          <a:latin typeface="Times New Roman" pitchFamily="18" charset="0"/>
                          <a:cs typeface="Times New Roman" pitchFamily="18" charset="0"/>
                        </a:rPr>
                        <a:t>Description</a:t>
                      </a:r>
                    </a:p>
                  </a:txBody>
                  <a:tcPr marL="26493" marR="26493" marT="26493" marB="26493">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2E7D32"/>
                    </a:solidFill>
                  </a:tcPr>
                </a:tc>
                <a:tc>
                  <a:txBody>
                    <a:bodyPr/>
                    <a:lstStyle/>
                    <a:p>
                      <a:pPr algn="ctr" fontAlgn="t"/>
                      <a:r>
                        <a:rPr lang="en-US" sz="1400">
                          <a:solidFill>
                            <a:srgbClr val="FFFFFF"/>
                          </a:solidFill>
                          <a:latin typeface="Times New Roman" pitchFamily="18" charset="0"/>
                          <a:cs typeface="Times New Roman" pitchFamily="18" charset="0"/>
                        </a:rPr>
                        <a:t>Typical range (USD)</a:t>
                      </a:r>
                    </a:p>
                  </a:txBody>
                  <a:tcPr marL="26493" marR="26493" marT="26493" marB="26493">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2E7D32"/>
                    </a:solidFill>
                  </a:tcPr>
                </a:tc>
              </a:tr>
              <a:tr h="851044">
                <a:tc>
                  <a:txBody>
                    <a:bodyPr/>
                    <a:lstStyle/>
                    <a:p>
                      <a:pPr algn="l" fontAlgn="t"/>
                      <a:r>
                        <a:rPr lang="en-US" sz="1400" dirty="0">
                          <a:latin typeface="Times New Roman" pitchFamily="18" charset="0"/>
                          <a:cs typeface="Times New Roman" pitchFamily="18" charset="0"/>
                        </a:rPr>
                        <a:t>Discovery and planning</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Market research, UI/UX wireframes, feature mapping</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$640–$4,500</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r>
              <a:tr h="621549">
                <a:tc>
                  <a:txBody>
                    <a:bodyPr/>
                    <a:lstStyle/>
                    <a:p>
                      <a:pPr algn="l" fontAlgn="t"/>
                      <a:r>
                        <a:rPr lang="en-US" sz="1400">
                          <a:latin typeface="Times New Roman" pitchFamily="18" charset="0"/>
                          <a:cs typeface="Times New Roman" pitchFamily="18" charset="0"/>
                        </a:rPr>
                        <a:t>App design and prototype</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Interface design, branding, and mock-ups</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$1,280–$9,000</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r>
              <a:tr h="736296">
                <a:tc>
                  <a:txBody>
                    <a:bodyPr/>
                    <a:lstStyle/>
                    <a:p>
                      <a:pPr algn="l" fontAlgn="t"/>
                      <a:r>
                        <a:rPr lang="en-US" sz="1400">
                          <a:latin typeface="Times New Roman" pitchFamily="18" charset="0"/>
                          <a:cs typeface="Times New Roman" pitchFamily="18" charset="0"/>
                        </a:rPr>
                        <a:t>Front-end and back-end development</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dirty="0">
                          <a:latin typeface="Times New Roman" pitchFamily="18" charset="0"/>
                          <a:cs typeface="Times New Roman" pitchFamily="18" charset="0"/>
                        </a:rPr>
                        <a:t>Core coding and feature implementation</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$6,400–$56,000</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r>
              <a:tr h="621549">
                <a:tc>
                  <a:txBody>
                    <a:bodyPr/>
                    <a:lstStyle/>
                    <a:p>
                      <a:pPr algn="l" fontAlgn="t"/>
                      <a:r>
                        <a:rPr lang="en-US" sz="1400">
                          <a:latin typeface="Times New Roman" pitchFamily="18" charset="0"/>
                          <a:cs typeface="Times New Roman" pitchFamily="18" charset="0"/>
                        </a:rPr>
                        <a:t>Third-party integrations and APIs</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dirty="0">
                          <a:latin typeface="Times New Roman" pitchFamily="18" charset="0"/>
                          <a:cs typeface="Times New Roman" pitchFamily="18" charset="0"/>
                        </a:rPr>
                        <a:t>Payment gateways, analytics, maps, etc.</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$640–$4,200</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r>
              <a:tr h="736296">
                <a:tc>
                  <a:txBody>
                    <a:bodyPr/>
                    <a:lstStyle/>
                    <a:p>
                      <a:pPr algn="l" fontAlgn="t"/>
                      <a:r>
                        <a:rPr lang="en-US" sz="1400">
                          <a:latin typeface="Times New Roman" pitchFamily="18" charset="0"/>
                          <a:cs typeface="Times New Roman" pitchFamily="18" charset="0"/>
                        </a:rPr>
                        <a:t>Testing and quality assurance</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dirty="0">
                          <a:latin typeface="Times New Roman" pitchFamily="18" charset="0"/>
                          <a:cs typeface="Times New Roman" pitchFamily="18" charset="0"/>
                        </a:rPr>
                        <a:t>Manual and automated testing, debugging</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a:latin typeface="Times New Roman" pitchFamily="18" charset="0"/>
                          <a:cs typeface="Times New Roman" pitchFamily="18" charset="0"/>
                        </a:rPr>
                        <a:t>$960–$9,000</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r>
              <a:tr h="621549">
                <a:tc>
                  <a:txBody>
                    <a:bodyPr/>
                    <a:lstStyle/>
                    <a:p>
                      <a:pPr algn="l" fontAlgn="t"/>
                      <a:r>
                        <a:rPr lang="en-US" sz="1400">
                          <a:latin typeface="Times New Roman" pitchFamily="18" charset="0"/>
                          <a:cs typeface="Times New Roman" pitchFamily="18" charset="0"/>
                        </a:rPr>
                        <a:t>Post-launch maintenance</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dirty="0">
                          <a:latin typeface="Times New Roman" pitchFamily="18" charset="0"/>
                          <a:cs typeface="Times New Roman" pitchFamily="18" charset="0"/>
                        </a:rPr>
                        <a:t>Bug fixes, updates, scalability improvements</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c>
                  <a:txBody>
                    <a:bodyPr/>
                    <a:lstStyle/>
                    <a:p>
                      <a:pPr algn="l" fontAlgn="t"/>
                      <a:r>
                        <a:rPr lang="en-US" sz="1400" dirty="0">
                          <a:latin typeface="Times New Roman" pitchFamily="18" charset="0"/>
                          <a:cs typeface="Times New Roman" pitchFamily="18" charset="0"/>
                        </a:rPr>
                        <a:t>$160–$4,500/month</a:t>
                      </a:r>
                    </a:p>
                  </a:txBody>
                  <a:tcPr marL="19870" marR="19870" marT="19870" marB="19870">
                    <a:lnL w="4763" cap="flat" cmpd="sng" algn="ctr">
                      <a:solidFill>
                        <a:srgbClr val="333333"/>
                      </a:solidFill>
                      <a:prstDash val="solid"/>
                      <a:round/>
                      <a:headEnd type="none" w="med" len="med"/>
                      <a:tailEnd type="none" w="med" len="med"/>
                    </a:lnL>
                    <a:lnR w="4763" cap="flat" cmpd="sng" algn="ctr">
                      <a:solidFill>
                        <a:srgbClr val="333333"/>
                      </a:solidFill>
                      <a:prstDash val="solid"/>
                      <a:round/>
                      <a:headEnd type="none" w="med" len="med"/>
                      <a:tailEnd type="none" w="med" len="med"/>
                    </a:lnR>
                    <a:lnT w="4763" cap="flat" cmpd="sng" algn="ctr">
                      <a:solidFill>
                        <a:srgbClr val="333333"/>
                      </a:solidFill>
                      <a:prstDash val="solid"/>
                      <a:round/>
                      <a:headEnd type="none" w="med" len="med"/>
                      <a:tailEnd type="none" w="med" len="med"/>
                    </a:lnT>
                    <a:lnB w="4763" cap="flat" cmpd="sng" algn="ctr">
                      <a:solidFill>
                        <a:srgbClr val="333333"/>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582594"/>
          </a:xfrm>
        </p:spPr>
        <p:txBody>
          <a:bodyPr>
            <a:normAutofit fontScale="90000"/>
          </a:bodyPr>
          <a:lstStyle/>
          <a:p>
            <a:r>
              <a:rPr lang="en-US" dirty="0" smtClean="0"/>
              <a:t/>
            </a:r>
            <a:br>
              <a:rPr lang="en-US" dirty="0" smtClean="0"/>
            </a:br>
            <a:r>
              <a:rPr lang="en-US" dirty="0" smtClean="0"/>
              <a:t>App </a:t>
            </a:r>
            <a:r>
              <a:rPr lang="en-US" dirty="0"/>
              <a:t>type</a:t>
            </a:r>
            <a:r>
              <a:rPr lang="en-US" b="1" dirty="0"/>
              <a:t/>
            </a:r>
            <a:br>
              <a:rPr lang="en-US" b="1" dirty="0"/>
            </a:br>
            <a:endParaRPr lang="en-US" dirty="0"/>
          </a:p>
        </p:txBody>
      </p:sp>
      <p:sp>
        <p:nvSpPr>
          <p:cNvPr id="3" name="Rectangle 2"/>
          <p:cNvSpPr/>
          <p:nvPr/>
        </p:nvSpPr>
        <p:spPr>
          <a:xfrm>
            <a:off x="571472" y="1166843"/>
            <a:ext cx="8143932" cy="4439933"/>
          </a:xfrm>
          <a:prstGeom prst="rect">
            <a:avLst/>
          </a:prstGeom>
        </p:spPr>
        <p:txBody>
          <a:bodyPr wrap="square">
            <a:spAutoFit/>
          </a:bodyPr>
          <a:lstStyle/>
          <a:p>
            <a:pPr>
              <a:lnSpc>
                <a:spcPct val="200000"/>
              </a:lnSpc>
            </a:pPr>
            <a:r>
              <a:rPr lang="en-US" b="1" dirty="0" smtClean="0">
                <a:latin typeface="Times New Roman" pitchFamily="18" charset="0"/>
                <a:cs typeface="Times New Roman" pitchFamily="18" charset="0"/>
              </a:rPr>
              <a:t>Social </a:t>
            </a:r>
            <a:r>
              <a:rPr lang="en-US" b="1" dirty="0">
                <a:latin typeface="Times New Roman" pitchFamily="18" charset="0"/>
                <a:cs typeface="Times New Roman" pitchFamily="18" charset="0"/>
              </a:rPr>
              <a:t>media apps</a:t>
            </a:r>
            <a:r>
              <a:rPr lang="en-US" dirty="0">
                <a:latin typeface="Times New Roman" pitchFamily="18" charset="0"/>
                <a:cs typeface="Times New Roman" pitchFamily="18" charset="0"/>
              </a:rPr>
              <a:t>: such as </a:t>
            </a:r>
            <a:r>
              <a:rPr lang="en-US" dirty="0" err="1">
                <a:latin typeface="Times New Roman" pitchFamily="18" charset="0"/>
                <a:cs typeface="Times New Roman" pitchFamily="18" charset="0"/>
              </a:rPr>
              <a:t>Facebook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Instagram</a:t>
            </a:r>
            <a:r>
              <a:rPr lang="en-US" dirty="0">
                <a:latin typeface="Times New Roman" pitchFamily="18" charset="0"/>
                <a:cs typeface="Times New Roman" pitchFamily="18" charset="0"/>
              </a:rPr>
              <a:t>, and Twitter.</a:t>
            </a:r>
          </a:p>
          <a:p>
            <a:pPr>
              <a:lnSpc>
                <a:spcPct val="200000"/>
              </a:lnSpc>
            </a:pPr>
            <a:r>
              <a:rPr lang="en-US" b="1" dirty="0">
                <a:latin typeface="Times New Roman" pitchFamily="18" charset="0"/>
                <a:cs typeface="Times New Roman" pitchFamily="18" charset="0"/>
              </a:rPr>
              <a:t>E-commerce apps</a:t>
            </a:r>
            <a:r>
              <a:rPr lang="en-US" dirty="0">
                <a:latin typeface="Times New Roman" pitchFamily="18" charset="0"/>
                <a:cs typeface="Times New Roman" pitchFamily="18" charset="0"/>
              </a:rPr>
              <a:t>: such as Amazon, </a:t>
            </a:r>
            <a:r>
              <a:rPr lang="en-US" dirty="0" err="1">
                <a:latin typeface="Times New Roman" pitchFamily="18" charset="0"/>
                <a:cs typeface="Times New Roman" pitchFamily="18" charset="0"/>
              </a:rPr>
              <a:t>Sephora</a:t>
            </a:r>
            <a:r>
              <a:rPr lang="en-US" dirty="0">
                <a:latin typeface="Times New Roman" pitchFamily="18" charset="0"/>
                <a:cs typeface="Times New Roman" pitchFamily="18" charset="0"/>
              </a:rPr>
              <a:t>, and eBay.</a:t>
            </a:r>
          </a:p>
          <a:p>
            <a:pPr>
              <a:lnSpc>
                <a:spcPct val="200000"/>
              </a:lnSpc>
            </a:pPr>
            <a:r>
              <a:rPr lang="en-US" b="1" dirty="0">
                <a:latin typeface="Times New Roman" pitchFamily="18" charset="0"/>
                <a:cs typeface="Times New Roman" pitchFamily="18" charset="0"/>
              </a:rPr>
              <a:t>Gaming apps</a:t>
            </a:r>
            <a:r>
              <a:rPr lang="en-US" dirty="0">
                <a:latin typeface="Times New Roman" pitchFamily="18" charset="0"/>
                <a:cs typeface="Times New Roman" pitchFamily="18" charset="0"/>
              </a:rPr>
              <a:t>: such as PUBG Mobile, Among Us, and Candy Crush Saga.</a:t>
            </a:r>
          </a:p>
          <a:p>
            <a:pPr>
              <a:lnSpc>
                <a:spcPct val="200000"/>
              </a:lnSpc>
            </a:pPr>
            <a:r>
              <a:rPr lang="en-US" b="1" dirty="0">
                <a:latin typeface="Times New Roman" pitchFamily="18" charset="0"/>
                <a:cs typeface="Times New Roman" pitchFamily="18" charset="0"/>
              </a:rPr>
              <a:t>Education apps</a:t>
            </a:r>
            <a:r>
              <a:rPr lang="en-US" dirty="0">
                <a:latin typeface="Times New Roman" pitchFamily="18" charset="0"/>
                <a:cs typeface="Times New Roman" pitchFamily="18" charset="0"/>
              </a:rPr>
              <a:t>: such as </a:t>
            </a:r>
            <a:r>
              <a:rPr lang="en-US" dirty="0" err="1">
                <a:latin typeface="Times New Roman" pitchFamily="18" charset="0"/>
                <a:cs typeface="Times New Roman" pitchFamily="18" charset="0"/>
              </a:rPr>
              <a:t>Duolingo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Coursera</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Udemy</a:t>
            </a:r>
            <a:r>
              <a:rPr lang="en-US" dirty="0">
                <a:latin typeface="Times New Roman" pitchFamily="18" charset="0"/>
                <a:cs typeface="Times New Roman" pitchFamily="18" charset="0"/>
              </a:rPr>
              <a:t>.</a:t>
            </a:r>
          </a:p>
          <a:p>
            <a:pPr>
              <a:lnSpc>
                <a:spcPct val="200000"/>
              </a:lnSpc>
            </a:pPr>
            <a:r>
              <a:rPr lang="en-US" b="1" dirty="0">
                <a:latin typeface="Times New Roman" pitchFamily="18" charset="0"/>
                <a:cs typeface="Times New Roman" pitchFamily="18" charset="0"/>
              </a:rPr>
              <a:t>Healthcare and fitness apps</a:t>
            </a:r>
            <a:r>
              <a:rPr lang="en-US" dirty="0">
                <a:latin typeface="Times New Roman" pitchFamily="18" charset="0"/>
                <a:cs typeface="Times New Roman" pitchFamily="18" charset="0"/>
              </a:rPr>
              <a:t>: such as </a:t>
            </a:r>
            <a:r>
              <a:rPr lang="en-US" dirty="0" err="1">
                <a:latin typeface="Times New Roman" pitchFamily="18" charset="0"/>
                <a:cs typeface="Times New Roman" pitchFamily="18" charset="0"/>
              </a:rPr>
              <a:t>ZocDoc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Medscape</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MyFitnessPal</a:t>
            </a:r>
            <a:r>
              <a:rPr lang="en-US" dirty="0">
                <a:latin typeface="Times New Roman" pitchFamily="18" charset="0"/>
                <a:cs typeface="Times New Roman" pitchFamily="18" charset="0"/>
              </a:rPr>
              <a:t>.</a:t>
            </a:r>
          </a:p>
          <a:p>
            <a:pPr>
              <a:lnSpc>
                <a:spcPct val="200000"/>
              </a:lnSpc>
            </a:pPr>
            <a:r>
              <a:rPr lang="en-US" b="1" dirty="0">
                <a:latin typeface="Times New Roman" pitchFamily="18" charset="0"/>
                <a:cs typeface="Times New Roman" pitchFamily="18" charset="0"/>
              </a:rPr>
              <a:t>Travel apps</a:t>
            </a:r>
            <a:r>
              <a:rPr lang="en-US" dirty="0">
                <a:latin typeface="Times New Roman" pitchFamily="18" charset="0"/>
                <a:cs typeface="Times New Roman" pitchFamily="18" charset="0"/>
              </a:rPr>
              <a:t>: such as </a:t>
            </a:r>
            <a:r>
              <a:rPr lang="en-US" dirty="0" err="1">
                <a:latin typeface="Times New Roman" pitchFamily="18" charset="0"/>
                <a:cs typeface="Times New Roman" pitchFamily="18" charset="0"/>
              </a:rPr>
              <a:t>Airbnb</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TripAdvisor</a:t>
            </a:r>
            <a:r>
              <a:rPr lang="en-US" dirty="0">
                <a:latin typeface="Times New Roman" pitchFamily="18" charset="0"/>
                <a:cs typeface="Times New Roman" pitchFamily="18" charset="0"/>
              </a:rPr>
              <a:t>, and Google Maps.</a:t>
            </a:r>
          </a:p>
          <a:p>
            <a:pPr>
              <a:lnSpc>
                <a:spcPct val="200000"/>
              </a:lnSpc>
            </a:pPr>
            <a:r>
              <a:rPr lang="en-US" b="1" dirty="0">
                <a:latin typeface="Times New Roman" pitchFamily="18" charset="0"/>
                <a:cs typeface="Times New Roman" pitchFamily="18" charset="0"/>
              </a:rPr>
              <a:t>Productivity apps</a:t>
            </a:r>
            <a:r>
              <a:rPr lang="en-US" dirty="0">
                <a:latin typeface="Times New Roman" pitchFamily="18" charset="0"/>
                <a:cs typeface="Times New Roman" pitchFamily="18" charset="0"/>
              </a:rPr>
              <a:t>: such as </a:t>
            </a:r>
            <a:r>
              <a:rPr lang="en-US" dirty="0" err="1">
                <a:latin typeface="Times New Roman" pitchFamily="18" charset="0"/>
                <a:cs typeface="Times New Roman" pitchFamily="18" charset="0"/>
              </a:rPr>
              <a:t>Trello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Evernote</a:t>
            </a:r>
            <a:r>
              <a:rPr lang="en-US" dirty="0">
                <a:latin typeface="Times New Roman" pitchFamily="18" charset="0"/>
                <a:cs typeface="Times New Roman" pitchFamily="18" charset="0"/>
              </a:rPr>
              <a:t>, and Asana.</a:t>
            </a:r>
          </a:p>
          <a:p>
            <a:pPr>
              <a:lnSpc>
                <a:spcPct val="200000"/>
              </a:lnSpc>
            </a:pPr>
            <a:r>
              <a:rPr lang="en-US" b="1" dirty="0">
                <a:latin typeface="Times New Roman" pitchFamily="18" charset="0"/>
                <a:cs typeface="Times New Roman" pitchFamily="18" charset="0"/>
              </a:rPr>
              <a:t>On-demand apps</a:t>
            </a:r>
            <a:r>
              <a:rPr lang="en-US" dirty="0">
                <a:latin typeface="Times New Roman" pitchFamily="18" charset="0"/>
                <a:cs typeface="Times New Roman" pitchFamily="18" charset="0"/>
              </a:rPr>
              <a:t>: such as </a:t>
            </a:r>
            <a:r>
              <a:rPr lang="en-US" dirty="0" err="1">
                <a:latin typeface="Times New Roman" pitchFamily="18" charset="0"/>
                <a:cs typeface="Times New Roman" pitchFamily="18" charset="0"/>
              </a:rPr>
              <a:t>Uber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Lyft</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Postmates</a:t>
            </a:r>
            <a:r>
              <a:rPr lang="en-US" dirty="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Estimated </a:t>
            </a:r>
            <a:r>
              <a:rPr lang="en-US" dirty="0"/>
              <a:t>time and cost </a:t>
            </a:r>
          </a:p>
        </p:txBody>
      </p:sp>
      <p:graphicFrame>
        <p:nvGraphicFramePr>
          <p:cNvPr id="3" name="Table 2"/>
          <p:cNvGraphicFramePr>
            <a:graphicFrameLocks noGrp="1"/>
          </p:cNvGraphicFramePr>
          <p:nvPr/>
        </p:nvGraphicFramePr>
        <p:xfrm>
          <a:off x="142844" y="1928802"/>
          <a:ext cx="8215371" cy="4064004"/>
        </p:xfrm>
        <a:graphic>
          <a:graphicData uri="http://schemas.openxmlformats.org/drawingml/2006/table">
            <a:tbl>
              <a:tblPr/>
              <a:tblGrid>
                <a:gridCol w="2738457"/>
                <a:gridCol w="2738457"/>
                <a:gridCol w="2738457"/>
              </a:tblGrid>
              <a:tr h="451556">
                <a:tc>
                  <a:txBody>
                    <a:bodyPr/>
                    <a:lstStyle/>
                    <a:p>
                      <a:r>
                        <a:rPr lang="en-US" sz="1300" b="1">
                          <a:latin typeface="Open Sans"/>
                        </a:rPr>
                        <a:t>App Type</a:t>
                      </a:r>
                      <a:endParaRPr lang="en-US" sz="1300" b="0">
                        <a:latin typeface="Open Sans"/>
                      </a:endParaRPr>
                    </a:p>
                  </a:txBody>
                  <a:tcPr marL="64508" marR="64508" marT="32254" marB="32254" anchor="ctr">
                    <a:lnL>
                      <a:noFill/>
                    </a:lnL>
                    <a:lnR>
                      <a:noFill/>
                    </a:lnR>
                    <a:lnT>
                      <a:noFill/>
                    </a:lnT>
                    <a:lnB>
                      <a:noFill/>
                    </a:lnB>
                  </a:tcPr>
                </a:tc>
                <a:tc>
                  <a:txBody>
                    <a:bodyPr/>
                    <a:lstStyle/>
                    <a:p>
                      <a:r>
                        <a:rPr lang="en-US" sz="1300" b="1">
                          <a:latin typeface="Open Sans"/>
                        </a:rPr>
                        <a:t>Estimated Time to Develop</a:t>
                      </a:r>
                      <a:endParaRPr lang="en-US" sz="1300" b="0">
                        <a:latin typeface="Open Sans"/>
                      </a:endParaRPr>
                    </a:p>
                  </a:txBody>
                  <a:tcPr marL="64508" marR="64508" marT="32254" marB="32254" anchor="ctr">
                    <a:lnL>
                      <a:noFill/>
                    </a:lnL>
                    <a:lnR>
                      <a:noFill/>
                    </a:lnR>
                    <a:lnT>
                      <a:noFill/>
                    </a:lnT>
                    <a:lnB>
                      <a:noFill/>
                    </a:lnB>
                  </a:tcPr>
                </a:tc>
                <a:tc>
                  <a:txBody>
                    <a:bodyPr/>
                    <a:lstStyle/>
                    <a:p>
                      <a:r>
                        <a:rPr lang="en-US" sz="1300" b="1">
                          <a:latin typeface="Open Sans"/>
                        </a:rPr>
                        <a:t>Estimated Cost</a:t>
                      </a:r>
                      <a:endParaRPr lang="en-US" sz="1300" b="0">
                        <a:latin typeface="Open Sans"/>
                      </a:endParaRPr>
                    </a:p>
                  </a:txBody>
                  <a:tcPr marL="64508" marR="64508" marT="32254" marB="32254" anchor="ctr">
                    <a:lnL>
                      <a:noFill/>
                    </a:lnL>
                    <a:lnR>
                      <a:noFill/>
                    </a:lnR>
                    <a:lnT>
                      <a:noFill/>
                    </a:lnT>
                    <a:lnB>
                      <a:noFill/>
                    </a:lnB>
                  </a:tcPr>
                </a:tc>
              </a:tr>
              <a:tr h="451556">
                <a:tc>
                  <a:txBody>
                    <a:bodyPr/>
                    <a:lstStyle/>
                    <a:p>
                      <a:r>
                        <a:rPr lang="en-US" sz="1300" b="0">
                          <a:latin typeface="Open Sans"/>
                        </a:rPr>
                        <a:t>Social Media</a:t>
                      </a:r>
                    </a:p>
                  </a:txBody>
                  <a:tcPr marL="64508" marR="64508" marT="32254" marB="32254" anchor="ctr">
                    <a:lnL>
                      <a:noFill/>
                    </a:lnL>
                    <a:lnR>
                      <a:noFill/>
                    </a:lnR>
                    <a:lnT>
                      <a:noFill/>
                    </a:lnT>
                    <a:lnB>
                      <a:noFill/>
                    </a:lnB>
                  </a:tcPr>
                </a:tc>
                <a:tc>
                  <a:txBody>
                    <a:bodyPr/>
                    <a:lstStyle/>
                    <a:p>
                      <a:r>
                        <a:rPr lang="en-US" sz="1300" b="0">
                          <a:latin typeface="Open Sans"/>
                        </a:rPr>
                        <a:t>6-12 months</a:t>
                      </a:r>
                    </a:p>
                  </a:txBody>
                  <a:tcPr marL="64508" marR="64508" marT="32254" marB="32254" anchor="ctr">
                    <a:lnL>
                      <a:noFill/>
                    </a:lnL>
                    <a:lnR>
                      <a:noFill/>
                    </a:lnR>
                    <a:lnT>
                      <a:noFill/>
                    </a:lnT>
                    <a:lnB>
                      <a:noFill/>
                    </a:lnB>
                  </a:tcPr>
                </a:tc>
                <a:tc>
                  <a:txBody>
                    <a:bodyPr/>
                    <a:lstStyle/>
                    <a:p>
                      <a:r>
                        <a:rPr lang="en-US" sz="1300" b="0">
                          <a:latin typeface="Open Sans"/>
                        </a:rPr>
                        <a:t>$50,000-$500,000</a:t>
                      </a:r>
                    </a:p>
                  </a:txBody>
                  <a:tcPr marL="64508" marR="64508" marT="32254" marB="32254" anchor="ctr">
                    <a:lnL>
                      <a:noFill/>
                    </a:lnL>
                    <a:lnR>
                      <a:noFill/>
                    </a:lnR>
                    <a:lnT>
                      <a:noFill/>
                    </a:lnT>
                    <a:lnB>
                      <a:noFill/>
                    </a:lnB>
                  </a:tcPr>
                </a:tc>
              </a:tr>
              <a:tr h="451556">
                <a:tc>
                  <a:txBody>
                    <a:bodyPr/>
                    <a:lstStyle/>
                    <a:p>
                      <a:r>
                        <a:rPr lang="en-US" sz="1300" b="0">
                          <a:latin typeface="Open Sans"/>
                        </a:rPr>
                        <a:t>E-commerce</a:t>
                      </a:r>
                    </a:p>
                  </a:txBody>
                  <a:tcPr marL="64508" marR="64508" marT="32254" marB="32254" anchor="ctr">
                    <a:lnL>
                      <a:noFill/>
                    </a:lnL>
                    <a:lnR>
                      <a:noFill/>
                    </a:lnR>
                    <a:lnT>
                      <a:noFill/>
                    </a:lnT>
                    <a:lnB>
                      <a:noFill/>
                    </a:lnB>
                  </a:tcPr>
                </a:tc>
                <a:tc>
                  <a:txBody>
                    <a:bodyPr/>
                    <a:lstStyle/>
                    <a:p>
                      <a:r>
                        <a:rPr lang="en-US" sz="1300" b="0">
                          <a:latin typeface="Open Sans"/>
                        </a:rPr>
                        <a:t>4-12 months</a:t>
                      </a:r>
                    </a:p>
                  </a:txBody>
                  <a:tcPr marL="64508" marR="64508" marT="32254" marB="32254" anchor="ctr">
                    <a:lnL>
                      <a:noFill/>
                    </a:lnL>
                    <a:lnR>
                      <a:noFill/>
                    </a:lnR>
                    <a:lnT>
                      <a:noFill/>
                    </a:lnT>
                    <a:lnB>
                      <a:noFill/>
                    </a:lnB>
                  </a:tcPr>
                </a:tc>
                <a:tc>
                  <a:txBody>
                    <a:bodyPr/>
                    <a:lstStyle/>
                    <a:p>
                      <a:r>
                        <a:rPr lang="en-US" sz="1300" b="0">
                          <a:latin typeface="Open Sans"/>
                        </a:rPr>
                        <a:t>$30,000-$500,000</a:t>
                      </a:r>
                    </a:p>
                  </a:txBody>
                  <a:tcPr marL="64508" marR="64508" marT="32254" marB="32254" anchor="ctr">
                    <a:lnL>
                      <a:noFill/>
                    </a:lnL>
                    <a:lnR>
                      <a:noFill/>
                    </a:lnR>
                    <a:lnT>
                      <a:noFill/>
                    </a:lnT>
                    <a:lnB>
                      <a:noFill/>
                    </a:lnB>
                  </a:tcPr>
                </a:tc>
              </a:tr>
              <a:tr h="451556">
                <a:tc>
                  <a:txBody>
                    <a:bodyPr/>
                    <a:lstStyle/>
                    <a:p>
                      <a:r>
                        <a:rPr lang="en-US" sz="1300" b="0">
                          <a:latin typeface="Open Sans"/>
                        </a:rPr>
                        <a:t>Gaming</a:t>
                      </a:r>
                    </a:p>
                  </a:txBody>
                  <a:tcPr marL="64508" marR="64508" marT="32254" marB="32254" anchor="ctr">
                    <a:lnL>
                      <a:noFill/>
                    </a:lnL>
                    <a:lnR>
                      <a:noFill/>
                    </a:lnR>
                    <a:lnT>
                      <a:noFill/>
                    </a:lnT>
                    <a:lnB>
                      <a:noFill/>
                    </a:lnB>
                  </a:tcPr>
                </a:tc>
                <a:tc>
                  <a:txBody>
                    <a:bodyPr/>
                    <a:lstStyle/>
                    <a:p>
                      <a:r>
                        <a:rPr lang="en-US" sz="1300" b="0">
                          <a:latin typeface="Open Sans"/>
                        </a:rPr>
                        <a:t>2-12 months or more</a:t>
                      </a:r>
                    </a:p>
                  </a:txBody>
                  <a:tcPr marL="64508" marR="64508" marT="32254" marB="32254" anchor="ctr">
                    <a:lnL>
                      <a:noFill/>
                    </a:lnL>
                    <a:lnR>
                      <a:noFill/>
                    </a:lnR>
                    <a:lnT>
                      <a:noFill/>
                    </a:lnT>
                    <a:lnB>
                      <a:noFill/>
                    </a:lnB>
                  </a:tcPr>
                </a:tc>
                <a:tc>
                  <a:txBody>
                    <a:bodyPr/>
                    <a:lstStyle/>
                    <a:p>
                      <a:r>
                        <a:rPr lang="en-US" sz="1300" b="0">
                          <a:latin typeface="Open Sans"/>
                        </a:rPr>
                        <a:t>$10,000-$500,000 or more</a:t>
                      </a:r>
                    </a:p>
                  </a:txBody>
                  <a:tcPr marL="64508" marR="64508" marT="32254" marB="32254" anchor="ctr">
                    <a:lnL>
                      <a:noFill/>
                    </a:lnL>
                    <a:lnR>
                      <a:noFill/>
                    </a:lnR>
                    <a:lnT>
                      <a:noFill/>
                    </a:lnT>
                    <a:lnB>
                      <a:noFill/>
                    </a:lnB>
                  </a:tcPr>
                </a:tc>
              </a:tr>
              <a:tr h="451556">
                <a:tc>
                  <a:txBody>
                    <a:bodyPr/>
                    <a:lstStyle/>
                    <a:p>
                      <a:r>
                        <a:rPr lang="en-US" sz="1300" b="0">
                          <a:latin typeface="Open Sans"/>
                        </a:rPr>
                        <a:t>Education</a:t>
                      </a:r>
                    </a:p>
                  </a:txBody>
                  <a:tcPr marL="64508" marR="64508" marT="32254" marB="32254" anchor="ctr">
                    <a:lnL>
                      <a:noFill/>
                    </a:lnL>
                    <a:lnR>
                      <a:noFill/>
                    </a:lnR>
                    <a:lnT>
                      <a:noFill/>
                    </a:lnT>
                    <a:lnB>
                      <a:noFill/>
                    </a:lnB>
                  </a:tcPr>
                </a:tc>
                <a:tc>
                  <a:txBody>
                    <a:bodyPr/>
                    <a:lstStyle/>
                    <a:p>
                      <a:r>
                        <a:rPr lang="en-US" sz="1300" b="0">
                          <a:latin typeface="Open Sans"/>
                        </a:rPr>
                        <a:t>3-6 months</a:t>
                      </a:r>
                    </a:p>
                  </a:txBody>
                  <a:tcPr marL="64508" marR="64508" marT="32254" marB="32254" anchor="ctr">
                    <a:lnL>
                      <a:noFill/>
                    </a:lnL>
                    <a:lnR>
                      <a:noFill/>
                    </a:lnR>
                    <a:lnT>
                      <a:noFill/>
                    </a:lnT>
                    <a:lnB>
                      <a:noFill/>
                    </a:lnB>
                  </a:tcPr>
                </a:tc>
                <a:tc>
                  <a:txBody>
                    <a:bodyPr/>
                    <a:lstStyle/>
                    <a:p>
                      <a:r>
                        <a:rPr lang="en-US" sz="1300" b="0">
                          <a:latin typeface="Open Sans"/>
                        </a:rPr>
                        <a:t>$25,000-$250,000</a:t>
                      </a:r>
                    </a:p>
                  </a:txBody>
                  <a:tcPr marL="64508" marR="64508" marT="32254" marB="32254" anchor="ctr">
                    <a:lnL>
                      <a:noFill/>
                    </a:lnL>
                    <a:lnR>
                      <a:noFill/>
                    </a:lnR>
                    <a:lnT>
                      <a:noFill/>
                    </a:lnT>
                    <a:lnB>
                      <a:noFill/>
                    </a:lnB>
                  </a:tcPr>
                </a:tc>
              </a:tr>
              <a:tr h="451556">
                <a:tc>
                  <a:txBody>
                    <a:bodyPr/>
                    <a:lstStyle/>
                    <a:p>
                      <a:r>
                        <a:rPr lang="en-US" sz="1300" b="0">
                          <a:latin typeface="Open Sans"/>
                        </a:rPr>
                        <a:t>Health and Fitness</a:t>
                      </a:r>
                    </a:p>
                  </a:txBody>
                  <a:tcPr marL="64508" marR="64508" marT="32254" marB="32254" anchor="ctr">
                    <a:lnL>
                      <a:noFill/>
                    </a:lnL>
                    <a:lnR>
                      <a:noFill/>
                    </a:lnR>
                    <a:lnT>
                      <a:noFill/>
                    </a:lnT>
                    <a:lnB>
                      <a:noFill/>
                    </a:lnB>
                  </a:tcPr>
                </a:tc>
                <a:tc>
                  <a:txBody>
                    <a:bodyPr/>
                    <a:lstStyle/>
                    <a:p>
                      <a:r>
                        <a:rPr lang="en-US" sz="1300" b="0">
                          <a:latin typeface="Open Sans"/>
                        </a:rPr>
                        <a:t>4-6 months</a:t>
                      </a:r>
                    </a:p>
                  </a:txBody>
                  <a:tcPr marL="64508" marR="64508" marT="32254" marB="32254" anchor="ctr">
                    <a:lnL>
                      <a:noFill/>
                    </a:lnL>
                    <a:lnR>
                      <a:noFill/>
                    </a:lnR>
                    <a:lnT>
                      <a:noFill/>
                    </a:lnT>
                    <a:lnB>
                      <a:noFill/>
                    </a:lnB>
                  </a:tcPr>
                </a:tc>
                <a:tc>
                  <a:txBody>
                    <a:bodyPr/>
                    <a:lstStyle/>
                    <a:p>
                      <a:r>
                        <a:rPr lang="en-US" sz="1300" b="0">
                          <a:latin typeface="Open Sans"/>
                        </a:rPr>
                        <a:t>$50,000-$250,000</a:t>
                      </a:r>
                    </a:p>
                  </a:txBody>
                  <a:tcPr marL="64508" marR="64508" marT="32254" marB="32254" anchor="ctr">
                    <a:lnL>
                      <a:noFill/>
                    </a:lnL>
                    <a:lnR>
                      <a:noFill/>
                    </a:lnR>
                    <a:lnT>
                      <a:noFill/>
                    </a:lnT>
                    <a:lnB>
                      <a:noFill/>
                    </a:lnB>
                  </a:tcPr>
                </a:tc>
              </a:tr>
              <a:tr h="451556">
                <a:tc>
                  <a:txBody>
                    <a:bodyPr/>
                    <a:lstStyle/>
                    <a:p>
                      <a:r>
                        <a:rPr lang="en-US" sz="1300" b="0">
                          <a:latin typeface="Open Sans"/>
                        </a:rPr>
                        <a:t>Travel and Hospitality</a:t>
                      </a:r>
                    </a:p>
                  </a:txBody>
                  <a:tcPr marL="64508" marR="64508" marT="32254" marB="32254" anchor="ctr">
                    <a:lnL>
                      <a:noFill/>
                    </a:lnL>
                    <a:lnR>
                      <a:noFill/>
                    </a:lnR>
                    <a:lnT>
                      <a:noFill/>
                    </a:lnT>
                    <a:lnB>
                      <a:noFill/>
                    </a:lnB>
                  </a:tcPr>
                </a:tc>
                <a:tc>
                  <a:txBody>
                    <a:bodyPr/>
                    <a:lstStyle/>
                    <a:p>
                      <a:r>
                        <a:rPr lang="en-US" sz="1300" b="0">
                          <a:latin typeface="Open Sans"/>
                        </a:rPr>
                        <a:t>3-8 months</a:t>
                      </a:r>
                    </a:p>
                  </a:txBody>
                  <a:tcPr marL="64508" marR="64508" marT="32254" marB="32254" anchor="ctr">
                    <a:lnL>
                      <a:noFill/>
                    </a:lnL>
                    <a:lnR>
                      <a:noFill/>
                    </a:lnR>
                    <a:lnT>
                      <a:noFill/>
                    </a:lnT>
                    <a:lnB>
                      <a:noFill/>
                    </a:lnB>
                  </a:tcPr>
                </a:tc>
                <a:tc>
                  <a:txBody>
                    <a:bodyPr/>
                    <a:lstStyle/>
                    <a:p>
                      <a:r>
                        <a:rPr lang="en-US" sz="1300" b="0">
                          <a:latin typeface="Open Sans"/>
                        </a:rPr>
                        <a:t>$25,000-$300,000</a:t>
                      </a:r>
                    </a:p>
                  </a:txBody>
                  <a:tcPr marL="64508" marR="64508" marT="32254" marB="32254" anchor="ctr">
                    <a:lnL>
                      <a:noFill/>
                    </a:lnL>
                    <a:lnR>
                      <a:noFill/>
                    </a:lnR>
                    <a:lnT>
                      <a:noFill/>
                    </a:lnT>
                    <a:lnB>
                      <a:noFill/>
                    </a:lnB>
                  </a:tcPr>
                </a:tc>
              </a:tr>
              <a:tr h="451556">
                <a:tc>
                  <a:txBody>
                    <a:bodyPr/>
                    <a:lstStyle/>
                    <a:p>
                      <a:r>
                        <a:rPr lang="en-US" sz="1300" b="0">
                          <a:latin typeface="Open Sans"/>
                        </a:rPr>
                        <a:t>Productivity</a:t>
                      </a:r>
                    </a:p>
                  </a:txBody>
                  <a:tcPr marL="64508" marR="64508" marT="32254" marB="32254" anchor="ctr">
                    <a:lnL>
                      <a:noFill/>
                    </a:lnL>
                    <a:lnR>
                      <a:noFill/>
                    </a:lnR>
                    <a:lnT>
                      <a:noFill/>
                    </a:lnT>
                    <a:lnB>
                      <a:noFill/>
                    </a:lnB>
                  </a:tcPr>
                </a:tc>
                <a:tc>
                  <a:txBody>
                    <a:bodyPr/>
                    <a:lstStyle/>
                    <a:p>
                      <a:r>
                        <a:rPr lang="en-US" sz="1300" b="0">
                          <a:latin typeface="Open Sans"/>
                        </a:rPr>
                        <a:t>3-6 months</a:t>
                      </a:r>
                    </a:p>
                  </a:txBody>
                  <a:tcPr marL="64508" marR="64508" marT="32254" marB="32254" anchor="ctr">
                    <a:lnL>
                      <a:noFill/>
                    </a:lnL>
                    <a:lnR>
                      <a:noFill/>
                    </a:lnR>
                    <a:lnT>
                      <a:noFill/>
                    </a:lnT>
                    <a:lnB>
                      <a:noFill/>
                    </a:lnB>
                  </a:tcPr>
                </a:tc>
                <a:tc>
                  <a:txBody>
                    <a:bodyPr/>
                    <a:lstStyle/>
                    <a:p>
                      <a:r>
                        <a:rPr lang="en-US" sz="1300" b="0">
                          <a:latin typeface="Open Sans"/>
                        </a:rPr>
                        <a:t>$25,000-$250,000</a:t>
                      </a:r>
                    </a:p>
                  </a:txBody>
                  <a:tcPr marL="64508" marR="64508" marT="32254" marB="32254" anchor="ctr">
                    <a:lnL>
                      <a:noFill/>
                    </a:lnL>
                    <a:lnR>
                      <a:noFill/>
                    </a:lnR>
                    <a:lnT>
                      <a:noFill/>
                    </a:lnT>
                    <a:lnB>
                      <a:noFill/>
                    </a:lnB>
                  </a:tcPr>
                </a:tc>
              </a:tr>
              <a:tr h="451556">
                <a:tc>
                  <a:txBody>
                    <a:bodyPr/>
                    <a:lstStyle/>
                    <a:p>
                      <a:r>
                        <a:rPr lang="en-US" sz="1300" b="0">
                          <a:latin typeface="Open Sans"/>
                        </a:rPr>
                        <a:t>On-demand</a:t>
                      </a:r>
                    </a:p>
                  </a:txBody>
                  <a:tcPr marL="64508" marR="64508" marT="32254" marB="32254" anchor="ctr">
                    <a:lnL>
                      <a:noFill/>
                    </a:lnL>
                    <a:lnR>
                      <a:noFill/>
                    </a:lnR>
                    <a:lnT>
                      <a:noFill/>
                    </a:lnT>
                    <a:lnB>
                      <a:noFill/>
                    </a:lnB>
                  </a:tcPr>
                </a:tc>
                <a:tc>
                  <a:txBody>
                    <a:bodyPr/>
                    <a:lstStyle/>
                    <a:p>
                      <a:r>
                        <a:rPr lang="en-US" sz="1300" b="0">
                          <a:latin typeface="Open Sans"/>
                        </a:rPr>
                        <a:t>4-8 months</a:t>
                      </a:r>
                    </a:p>
                  </a:txBody>
                  <a:tcPr marL="64508" marR="64508" marT="32254" marB="32254" anchor="ctr">
                    <a:lnL>
                      <a:noFill/>
                    </a:lnL>
                    <a:lnR>
                      <a:noFill/>
                    </a:lnR>
                    <a:lnT>
                      <a:noFill/>
                    </a:lnT>
                    <a:lnB>
                      <a:noFill/>
                    </a:lnB>
                  </a:tcPr>
                </a:tc>
                <a:tc>
                  <a:txBody>
                    <a:bodyPr/>
                    <a:lstStyle/>
                    <a:p>
                      <a:r>
                        <a:rPr lang="en-US" sz="1300" b="0" dirty="0">
                          <a:latin typeface="Open Sans"/>
                        </a:rPr>
                        <a:t>$50,000-$300,000</a:t>
                      </a:r>
                    </a:p>
                  </a:txBody>
                  <a:tcPr marL="64508" marR="64508" marT="32254" marB="32254"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Myth of mobile Application: Common </a:t>
            </a:r>
            <a:r>
              <a:rPr lang="en-US" b="1" dirty="0">
                <a:latin typeface="Times New Roman" pitchFamily="18" charset="0"/>
                <a:cs typeface="Times New Roman" pitchFamily="18" charset="0"/>
              </a:rPr>
              <a:t>Myths</a:t>
            </a:r>
            <a:endParaRPr lang="en-US" dirty="0">
              <a:latin typeface="Times New Roman" pitchFamily="18" charset="0"/>
              <a:cs typeface="Times New Roman" pitchFamily="18" charset="0"/>
            </a:endParaRPr>
          </a:p>
        </p:txBody>
      </p:sp>
      <p:sp>
        <p:nvSpPr>
          <p:cNvPr id="3" name="Rectangle 2"/>
          <p:cNvSpPr/>
          <p:nvPr/>
        </p:nvSpPr>
        <p:spPr>
          <a:xfrm>
            <a:off x="428596" y="1928802"/>
            <a:ext cx="7286676" cy="4197559"/>
          </a:xfrm>
          <a:prstGeom prst="rect">
            <a:avLst/>
          </a:prstGeom>
        </p:spPr>
        <p:txBody>
          <a:bodyPr wrap="square">
            <a:spAutoFit/>
          </a:bodyPr>
          <a:lstStyle/>
          <a:p>
            <a:pPr marL="342900" indent="-342900">
              <a:lnSpc>
                <a:spcPct val="150000"/>
              </a:lnSpc>
              <a:buFont typeface="+mj-lt"/>
              <a:buAutoNum type="arabicPeriod"/>
            </a:pPr>
            <a:r>
              <a:rPr lang="en-US" b="1" dirty="0" smtClean="0">
                <a:latin typeface="Times New Roman" pitchFamily="18" charset="0"/>
                <a:cs typeface="Times New Roman" pitchFamily="18" charset="0"/>
              </a:rPr>
              <a:t>App </a:t>
            </a:r>
            <a:r>
              <a:rPr lang="en-US" b="1" dirty="0">
                <a:latin typeface="Times New Roman" pitchFamily="18" charset="0"/>
                <a:cs typeface="Times New Roman" pitchFamily="18" charset="0"/>
              </a:rPr>
              <a:t>development is cheap and </a:t>
            </a:r>
            <a:r>
              <a:rPr lang="en-US" b="1" dirty="0" smtClean="0">
                <a:latin typeface="Times New Roman" pitchFamily="18" charset="0"/>
                <a:cs typeface="Times New Roman" pitchFamily="18" charset="0"/>
              </a:rPr>
              <a:t>fast.</a:t>
            </a:r>
          </a:p>
          <a:p>
            <a:pPr marL="342900" indent="-342900">
              <a:lnSpc>
                <a:spcPct val="150000"/>
              </a:lnSpc>
              <a:buFont typeface="+mj-lt"/>
              <a:buAutoNum type="arabicPeriod"/>
            </a:pPr>
            <a:r>
              <a:rPr lang="en-US" b="1" dirty="0" smtClean="0">
                <a:latin typeface="Times New Roman" pitchFamily="18" charset="0"/>
                <a:cs typeface="Times New Roman" pitchFamily="18" charset="0"/>
              </a:rPr>
              <a:t>More </a:t>
            </a:r>
            <a:r>
              <a:rPr lang="en-US" b="1" dirty="0">
                <a:latin typeface="Times New Roman" pitchFamily="18" charset="0"/>
                <a:cs typeface="Times New Roman" pitchFamily="18" charset="0"/>
              </a:rPr>
              <a:t>features make a better </a:t>
            </a:r>
            <a:r>
              <a:rPr lang="en-US" b="1" dirty="0" smtClean="0">
                <a:latin typeface="Times New Roman" pitchFamily="18" charset="0"/>
                <a:cs typeface="Times New Roman" pitchFamily="18" charset="0"/>
              </a:rPr>
              <a:t>app.</a:t>
            </a:r>
          </a:p>
          <a:p>
            <a:pPr marL="342900" indent="-342900">
              <a:lnSpc>
                <a:spcPct val="150000"/>
              </a:lnSpc>
              <a:buFont typeface="+mj-lt"/>
              <a:buAutoNum type="arabicPeriod"/>
            </a:pPr>
            <a:r>
              <a:rPr lang="en-US" b="1" dirty="0">
                <a:latin typeface="Times New Roman" pitchFamily="18" charset="0"/>
                <a:cs typeface="Times New Roman" pitchFamily="18" charset="0"/>
              </a:rPr>
              <a:t>The job is done after </a:t>
            </a:r>
            <a:r>
              <a:rPr lang="en-US" b="1" dirty="0" smtClean="0">
                <a:latin typeface="Times New Roman" pitchFamily="18" charset="0"/>
                <a:cs typeface="Times New Roman" pitchFamily="18" charset="0"/>
              </a:rPr>
              <a:t>launch.</a:t>
            </a:r>
          </a:p>
          <a:p>
            <a:pPr marL="342900" indent="-342900">
              <a:lnSpc>
                <a:spcPct val="150000"/>
              </a:lnSpc>
              <a:buFont typeface="+mj-lt"/>
              <a:buAutoNum type="arabicPeriod"/>
            </a:pPr>
            <a:r>
              <a:rPr lang="en-US" b="1" dirty="0">
                <a:latin typeface="Times New Roman" pitchFamily="18" charset="0"/>
                <a:cs typeface="Times New Roman" pitchFamily="18" charset="0"/>
              </a:rPr>
              <a:t>Marketing isn't </a:t>
            </a:r>
            <a:r>
              <a:rPr lang="en-US" b="1" dirty="0" smtClean="0">
                <a:latin typeface="Times New Roman" pitchFamily="18" charset="0"/>
                <a:cs typeface="Times New Roman" pitchFamily="18" charset="0"/>
              </a:rPr>
              <a:t>necessary.</a:t>
            </a:r>
          </a:p>
          <a:p>
            <a:pPr marL="342900" indent="-342900">
              <a:lnSpc>
                <a:spcPct val="150000"/>
              </a:lnSpc>
              <a:buFont typeface="+mj-lt"/>
              <a:buAutoNum type="arabicPeriod"/>
            </a:pPr>
            <a:r>
              <a:rPr lang="en-US" b="1" dirty="0">
                <a:latin typeface="Times New Roman" pitchFamily="18" charset="0"/>
                <a:cs typeface="Times New Roman" pitchFamily="18" charset="0"/>
              </a:rPr>
              <a:t>You only need to build for </a:t>
            </a:r>
            <a:r>
              <a:rPr lang="en-US" b="1" dirty="0" err="1">
                <a:latin typeface="Times New Roman" pitchFamily="18" charset="0"/>
                <a:cs typeface="Times New Roman" pitchFamily="18" charset="0"/>
              </a:rPr>
              <a:t>iOS</a:t>
            </a:r>
            <a:r>
              <a:rPr lang="en-US" b="1" dirty="0">
                <a:latin typeface="Times New Roman" pitchFamily="18" charset="0"/>
                <a:cs typeface="Times New Roman" pitchFamily="18" charset="0"/>
              </a:rPr>
              <a:t> or </a:t>
            </a:r>
            <a:r>
              <a:rPr lang="en-US" b="1" dirty="0" smtClean="0">
                <a:latin typeface="Times New Roman" pitchFamily="18" charset="0"/>
                <a:cs typeface="Times New Roman" pitchFamily="18" charset="0"/>
              </a:rPr>
              <a:t>Android</a:t>
            </a:r>
          </a:p>
          <a:p>
            <a:pPr marL="342900" indent="-342900">
              <a:lnSpc>
                <a:spcPct val="150000"/>
              </a:lnSpc>
              <a:buFont typeface="+mj-lt"/>
              <a:buAutoNum type="arabicPeriod"/>
            </a:pPr>
            <a:r>
              <a:rPr lang="en-US" b="1" dirty="0">
                <a:latin typeface="Times New Roman" pitchFamily="18" charset="0"/>
                <a:cs typeface="Times New Roman" pitchFamily="18" charset="0"/>
              </a:rPr>
              <a:t>Security can wait until </a:t>
            </a:r>
            <a:r>
              <a:rPr lang="en-US" b="1" dirty="0" smtClean="0">
                <a:latin typeface="Times New Roman" pitchFamily="18" charset="0"/>
                <a:cs typeface="Times New Roman" pitchFamily="18" charset="0"/>
              </a:rPr>
              <a:t>later:</a:t>
            </a:r>
          </a:p>
          <a:p>
            <a:pPr marL="342900" indent="-342900">
              <a:lnSpc>
                <a:spcPct val="150000"/>
              </a:lnSpc>
              <a:buFont typeface="+mj-lt"/>
              <a:buAutoNum type="arabicPeriod"/>
            </a:pPr>
            <a:r>
              <a:rPr lang="en-US" b="1" dirty="0">
                <a:latin typeface="Times New Roman" pitchFamily="18" charset="0"/>
                <a:cs typeface="Times New Roman" pitchFamily="18" charset="0"/>
              </a:rPr>
              <a:t>An app is only for B2C (Business-to-Consumer</a:t>
            </a:r>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Reality:</a:t>
            </a:r>
            <a:r>
              <a:rPr lang="en-US" dirty="0">
                <a:latin typeface="Times New Roman" pitchFamily="18" charset="0"/>
                <a:cs typeface="Times New Roman" pitchFamily="18" charset="0"/>
              </a:rPr>
              <a:t> B2B (Business-to-Business) apps can be highly profitable and </a:t>
            </a:r>
            <a:r>
              <a:rPr lang="en-US" dirty="0" smtClean="0">
                <a:latin typeface="Times New Roman" pitchFamily="18" charset="0"/>
                <a:cs typeface="Times New Roman" pitchFamily="18" charset="0"/>
              </a:rPr>
              <a:t>useful.</a:t>
            </a:r>
          </a:p>
          <a:p>
            <a:pPr marL="342900" indent="-342900">
              <a:lnSpc>
                <a:spcPct val="150000"/>
              </a:lnSpc>
              <a:buFont typeface="+mj-lt"/>
              <a:buAutoNum type="arabicPeriod"/>
            </a:pPr>
            <a:r>
              <a:rPr lang="en-US" b="1" dirty="0">
                <a:latin typeface="Times New Roman" pitchFamily="18" charset="0"/>
                <a:cs typeface="Times New Roman" pitchFamily="18" charset="0"/>
              </a:rPr>
              <a:t>Myth: In-house development is the only </a:t>
            </a:r>
            <a:r>
              <a:rPr lang="en-US" b="1" dirty="0" smtClean="0">
                <a:latin typeface="Times New Roman" pitchFamily="18" charset="0"/>
                <a:cs typeface="Times New Roman" pitchFamily="18" charset="0"/>
              </a:rPr>
              <a:t>way.</a:t>
            </a:r>
          </a:p>
          <a:p>
            <a:pPr>
              <a:lnSpc>
                <a:spcPct val="150000"/>
              </a:lnSpc>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Benefits of Mobile app for Business</a:t>
            </a:r>
            <a:endParaRPr lang="en-US" dirty="0">
              <a:latin typeface="Times New Roman" pitchFamily="18" charset="0"/>
              <a:cs typeface="Times New Roman" pitchFamily="18" charset="0"/>
            </a:endParaRPr>
          </a:p>
        </p:txBody>
      </p:sp>
      <p:sp>
        <p:nvSpPr>
          <p:cNvPr id="3" name="Rectangle 2"/>
          <p:cNvSpPr/>
          <p:nvPr/>
        </p:nvSpPr>
        <p:spPr>
          <a:xfrm>
            <a:off x="0" y="1142984"/>
            <a:ext cx="8929718" cy="5909310"/>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1.</a:t>
            </a:r>
            <a:r>
              <a:rPr lang="en-US" b="1" dirty="0">
                <a:latin typeface="Times New Roman" pitchFamily="18" charset="0"/>
                <a:cs typeface="Times New Roman" pitchFamily="18" charset="0"/>
              </a:rPr>
              <a:t> Increased Sale and profits:</a:t>
            </a:r>
            <a:r>
              <a:rPr lang="en-US" dirty="0">
                <a:latin typeface="Times New Roman" pitchFamily="18" charset="0"/>
                <a:cs typeface="Times New Roman" pitchFamily="18" charset="0"/>
              </a:rPr>
              <a:t> T</a:t>
            </a:r>
            <a:r>
              <a:rPr lang="en-US" dirty="0" smtClean="0">
                <a:latin typeface="Times New Roman" pitchFamily="18" charset="0"/>
                <a:cs typeface="Times New Roman" pitchFamily="18" charset="0"/>
              </a:rPr>
              <a:t>he </a:t>
            </a:r>
            <a:r>
              <a:rPr lang="en-US" dirty="0">
                <a:latin typeface="Times New Roman" pitchFamily="18" charset="0"/>
                <a:cs typeface="Times New Roman" pitchFamily="18" charset="0"/>
              </a:rPr>
              <a:t>goal of any business is to have more sales and increased profit. Whether you are a restaurant, gym, retailer, or you have any other business, </a:t>
            </a: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2</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Simplified buying experience:</a:t>
            </a:r>
            <a:r>
              <a:rPr lang="en-US" dirty="0">
                <a:latin typeface="Times New Roman" pitchFamily="18" charset="0"/>
                <a:cs typeface="Times New Roman" pitchFamily="18" charset="0"/>
              </a:rPr>
              <a:t> Purchases have become so much easier with the launch of e-commerce websites. Instead of having to go to a physical store, customers can browse products online with just a computer from the comfort of their </a:t>
            </a:r>
            <a:r>
              <a:rPr lang="en-US" dirty="0" smtClean="0">
                <a:latin typeface="Times New Roman" pitchFamily="18" charset="0"/>
                <a:cs typeface="Times New Roman" pitchFamily="18" charset="0"/>
              </a:rPr>
              <a:t>homes.</a:t>
            </a:r>
          </a:p>
          <a:p>
            <a:pPr algn="just">
              <a:lnSpc>
                <a:spcPct val="150000"/>
              </a:lnSpc>
            </a:pPr>
            <a:r>
              <a:rPr lang="en-US" dirty="0" smtClean="0">
                <a:latin typeface="Times New Roman" pitchFamily="18" charset="0"/>
                <a:cs typeface="Times New Roman" pitchFamily="18" charset="0"/>
              </a:rPr>
              <a:t>3</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Product navigation and payment:</a:t>
            </a:r>
            <a:r>
              <a:rPr lang="en-US" dirty="0">
                <a:latin typeface="Times New Roman" pitchFamily="18" charset="0"/>
                <a:cs typeface="Times New Roman" pitchFamily="18" charset="0"/>
              </a:rPr>
              <a:t> Mobile apps encourage customers to make purchases as apps are easier to navigate than websites. Payments over phone are also convenient and faster.</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4</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Communication:</a:t>
            </a:r>
            <a:r>
              <a:rPr lang="en-US" dirty="0">
                <a:latin typeface="Times New Roman" pitchFamily="18" charset="0"/>
                <a:cs typeface="Times New Roman" pitchFamily="18" charset="0"/>
              </a:rPr>
              <a:t> An app helps connect a business with its customers mainly via push notification feature. It can alert customers to new offers and products available. Direct messaging also helps communicate with the customer by answering any questions they may have about the product they are considering buying</a:t>
            </a:r>
            <a:r>
              <a:rPr lang="en-US" dirty="0" smtClean="0">
                <a:latin typeface="Times New Roman" pitchFamily="18" charset="0"/>
                <a:cs typeface="Times New Roman" pitchFamily="18" charset="0"/>
              </a:rPr>
              <a:t>.</a:t>
            </a:r>
          </a:p>
          <a:p>
            <a:pPr algn="just">
              <a:lnSpc>
                <a:spcPct val="150000"/>
              </a:lnSpc>
            </a:pPr>
            <a:r>
              <a:rPr lang="en-US" b="1" dirty="0" smtClean="0">
                <a:latin typeface="Times New Roman" pitchFamily="18" charset="0"/>
                <a:cs typeface="Times New Roman" pitchFamily="18" charset="0"/>
              </a:rPr>
              <a:t>5. Data </a:t>
            </a:r>
            <a:r>
              <a:rPr lang="en-US" b="1" dirty="0">
                <a:latin typeface="Times New Roman" pitchFamily="18" charset="0"/>
                <a:cs typeface="Times New Roman" pitchFamily="18" charset="0"/>
              </a:rPr>
              <a:t>Collection:</a:t>
            </a:r>
            <a:r>
              <a:rPr lang="en-US" dirty="0">
                <a:latin typeface="Times New Roman" pitchFamily="18" charset="0"/>
                <a:cs typeface="Times New Roman" pitchFamily="18" charset="0"/>
              </a:rPr>
              <a:t> Gather valuable insights into customer behavior to refine strategies and personalize experiences. </a:t>
            </a:r>
          </a:p>
          <a:p>
            <a:pPr algn="just">
              <a:lnSpc>
                <a:spcPct val="150000"/>
              </a:lnSpc>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0963" name="Picture 3"/>
          <p:cNvPicPr>
            <a:picLocks noChangeAspect="1" noChangeArrowheads="1"/>
          </p:cNvPicPr>
          <p:nvPr/>
        </p:nvPicPr>
        <p:blipFill>
          <a:blip r:embed="rId2"/>
          <a:srcRect/>
          <a:stretch>
            <a:fillRect/>
          </a:stretch>
        </p:blipFill>
        <p:spPr bwMode="auto">
          <a:xfrm>
            <a:off x="71406" y="142852"/>
            <a:ext cx="8786874" cy="65008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654032"/>
          </a:xfrm>
        </p:spPr>
        <p:txBody>
          <a:bodyPr>
            <a:normAutofit fontScale="90000"/>
          </a:bodyPr>
          <a:lstStyle/>
          <a:p>
            <a:r>
              <a:rPr lang="en-US" dirty="0" smtClean="0"/>
              <a:t/>
            </a:r>
            <a:br>
              <a:rPr lang="en-US" dirty="0" smtClean="0"/>
            </a:br>
            <a:r>
              <a:rPr lang="en-US" dirty="0" smtClean="0"/>
              <a:t>Mobile </a:t>
            </a:r>
            <a:r>
              <a:rPr lang="en-US" dirty="0"/>
              <a:t>User Interface Design</a:t>
            </a:r>
            <a:br>
              <a:rPr lang="en-US" dirty="0"/>
            </a:br>
            <a:endParaRPr lang="en-US" dirty="0"/>
          </a:p>
        </p:txBody>
      </p:sp>
      <p:sp>
        <p:nvSpPr>
          <p:cNvPr id="3" name="Rectangle 2"/>
          <p:cNvSpPr/>
          <p:nvPr/>
        </p:nvSpPr>
        <p:spPr>
          <a:xfrm>
            <a:off x="500034" y="1785926"/>
            <a:ext cx="7858180" cy="4662815"/>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Effective mobile UI design </a:t>
            </a:r>
            <a:r>
              <a:rPr lang="en-US" dirty="0" smtClean="0">
                <a:latin typeface="Times New Roman" pitchFamily="18" charset="0"/>
                <a:cs typeface="Times New Roman" pitchFamily="18" charset="0"/>
              </a:rPr>
              <a:t>maximizes limited screen space through simplicity, clear visuals, and intuitive navigation, requiring deep understanding of users' context, needs, and platform-specific behaviors.</a:t>
            </a:r>
          </a:p>
          <a:p>
            <a:pPr algn="just">
              <a:lnSpc>
                <a:spcPct val="150000"/>
              </a:lnSpc>
            </a:pPr>
            <a:endParaRPr lang="en-US" dirty="0">
              <a:latin typeface="Times New Roman" pitchFamily="18" charset="0"/>
              <a:cs typeface="Times New Roman" pitchFamily="18" charset="0"/>
            </a:endParaRPr>
          </a:p>
          <a:p>
            <a:pPr>
              <a:lnSpc>
                <a:spcPct val="150000"/>
              </a:lnSpc>
              <a:buFont typeface="Arial" pitchFamily="34" charset="0"/>
              <a:buChar char="•"/>
            </a:pPr>
            <a:r>
              <a:rPr lang="en-US" dirty="0">
                <a:latin typeface="Times New Roman" pitchFamily="18" charset="0"/>
                <a:cs typeface="Times New Roman" pitchFamily="18" charset="0"/>
              </a:rPr>
              <a:t>Using the screen real estate efficiently</a:t>
            </a:r>
          </a:p>
          <a:p>
            <a:pPr>
              <a:lnSpc>
                <a:spcPct val="150000"/>
              </a:lnSpc>
              <a:buFont typeface="Arial" pitchFamily="34" charset="0"/>
              <a:buChar char="•"/>
            </a:pPr>
            <a:r>
              <a:rPr lang="en-US" dirty="0">
                <a:latin typeface="Times New Roman" pitchFamily="18" charset="0"/>
                <a:cs typeface="Times New Roman" pitchFamily="18" charset="0"/>
              </a:rPr>
              <a:t>How the user perceives design elements</a:t>
            </a:r>
          </a:p>
          <a:p>
            <a:pPr>
              <a:lnSpc>
                <a:spcPct val="150000"/>
              </a:lnSpc>
              <a:buFont typeface="Arial" pitchFamily="34" charset="0"/>
              <a:buChar char="•"/>
            </a:pPr>
            <a:r>
              <a:rPr lang="en-US" dirty="0">
                <a:latin typeface="Times New Roman" pitchFamily="18" charset="0"/>
                <a:cs typeface="Times New Roman" pitchFamily="18" charset="0"/>
              </a:rPr>
              <a:t>Social aspect of mobile interfaces</a:t>
            </a:r>
          </a:p>
          <a:p>
            <a:pPr>
              <a:lnSpc>
                <a:spcPct val="150000"/>
              </a:lnSpc>
              <a:buFont typeface="Arial" pitchFamily="34" charset="0"/>
              <a:buChar char="•"/>
            </a:pPr>
            <a:r>
              <a:rPr lang="en-US" dirty="0">
                <a:latin typeface="Times New Roman" pitchFamily="18" charset="0"/>
                <a:cs typeface="Times New Roman" pitchFamily="18" charset="0"/>
              </a:rPr>
              <a:t>Accessibility</a:t>
            </a:r>
          </a:p>
          <a:p>
            <a:pPr>
              <a:lnSpc>
                <a:spcPct val="150000"/>
              </a:lnSpc>
              <a:buFont typeface="Arial" pitchFamily="34" charset="0"/>
              <a:buChar char="•"/>
            </a:pPr>
            <a:r>
              <a:rPr lang="en-US" dirty="0">
                <a:latin typeface="Times New Roman" pitchFamily="18" charset="0"/>
                <a:cs typeface="Times New Roman" pitchFamily="18" charset="0"/>
              </a:rPr>
              <a:t>Design patterns</a:t>
            </a:r>
          </a:p>
          <a:p>
            <a:pPr>
              <a:lnSpc>
                <a:spcPct val="150000"/>
              </a:lnSpc>
              <a:buFont typeface="Arial" pitchFamily="34" charset="0"/>
              <a:buChar char="•"/>
            </a:pPr>
            <a:r>
              <a:rPr lang="en-US" dirty="0">
                <a:latin typeface="Times New Roman" pitchFamily="18" charset="0"/>
                <a:cs typeface="Times New Roman" pitchFamily="18" charset="0"/>
              </a:rPr>
              <a:t>Designing for the platforms</a:t>
            </a:r>
          </a:p>
          <a:p>
            <a:pPr algn="just">
              <a:lnSpc>
                <a:spcPct val="150000"/>
              </a:lnSpc>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Effective use of screen and estate</a:t>
            </a:r>
            <a:endParaRPr lang="en-US" dirty="0"/>
          </a:p>
        </p:txBody>
      </p:sp>
      <p:sp>
        <p:nvSpPr>
          <p:cNvPr id="4" name="Rectangle 3"/>
          <p:cNvSpPr/>
          <p:nvPr/>
        </p:nvSpPr>
        <p:spPr>
          <a:xfrm>
            <a:off x="714348" y="1166843"/>
            <a:ext cx="7858180" cy="5632311"/>
          </a:xfrm>
          <a:prstGeom prst="rect">
            <a:avLst/>
          </a:prstGeom>
        </p:spPr>
        <p:txBody>
          <a:bodyPr wrap="square">
            <a:spAutoFit/>
          </a:bodyPr>
          <a:lstStyle/>
          <a:p>
            <a:pPr marL="342900" indent="-342900" algn="just">
              <a:lnSpc>
                <a:spcPct val="200000"/>
              </a:lnSpc>
              <a:buFont typeface="+mj-lt"/>
              <a:buAutoNum type="arabicPeriod"/>
            </a:pPr>
            <a:r>
              <a:rPr lang="en-US" b="1" dirty="0">
                <a:latin typeface="Times New Roman" pitchFamily="18" charset="0"/>
                <a:cs typeface="Times New Roman" pitchFamily="18" charset="0"/>
              </a:rPr>
              <a:t>Prioritize Content:</a:t>
            </a:r>
            <a:r>
              <a:rPr lang="en-US" dirty="0">
                <a:latin typeface="Times New Roman" pitchFamily="18" charset="0"/>
                <a:cs typeface="Times New Roman" pitchFamily="18" charset="0"/>
              </a:rPr>
              <a:t> Display only essential information and actions, using visual hierarchy to guide the user's eye.</a:t>
            </a:r>
          </a:p>
          <a:p>
            <a:pPr marL="342900" indent="-342900" algn="just">
              <a:lnSpc>
                <a:spcPct val="200000"/>
              </a:lnSpc>
              <a:buFont typeface="+mj-lt"/>
              <a:buAutoNum type="arabicPeriod"/>
            </a:pPr>
            <a:r>
              <a:rPr lang="en-US" b="1" dirty="0">
                <a:latin typeface="Times New Roman" pitchFamily="18" charset="0"/>
                <a:cs typeface="Times New Roman" pitchFamily="18" charset="0"/>
              </a:rPr>
              <a:t>Simplify Navigation:</a:t>
            </a:r>
            <a:r>
              <a:rPr lang="en-US" dirty="0">
                <a:latin typeface="Times New Roman" pitchFamily="18" charset="0"/>
                <a:cs typeface="Times New Roman" pitchFamily="18" charset="0"/>
              </a:rPr>
              <a:t> Use familiar patterns like tabs, bottom navigation, or hamburger menus, keeping them accessible and consistent.</a:t>
            </a:r>
          </a:p>
          <a:p>
            <a:pPr marL="342900" indent="-342900" algn="just">
              <a:lnSpc>
                <a:spcPct val="200000"/>
              </a:lnSpc>
              <a:buFont typeface="+mj-lt"/>
              <a:buAutoNum type="arabicPeriod"/>
            </a:pPr>
            <a:r>
              <a:rPr lang="en-US" b="1" dirty="0">
                <a:latin typeface="Times New Roman" pitchFamily="18" charset="0"/>
                <a:cs typeface="Times New Roman" pitchFamily="18" charset="0"/>
              </a:rPr>
              <a:t>Whitespace:</a:t>
            </a:r>
            <a:r>
              <a:rPr lang="en-US" dirty="0">
                <a:latin typeface="Times New Roman" pitchFamily="18" charset="0"/>
                <a:cs typeface="Times New Roman" pitchFamily="18" charset="0"/>
              </a:rPr>
              <a:t> Utilize negative space effectively to reduce clutter and improve readability, making elements stand out.</a:t>
            </a:r>
          </a:p>
          <a:p>
            <a:pPr marL="342900" indent="-342900" algn="just">
              <a:lnSpc>
                <a:spcPct val="200000"/>
              </a:lnSpc>
              <a:buFont typeface="+mj-lt"/>
              <a:buAutoNum type="arabicPeriod"/>
            </a:pPr>
            <a:r>
              <a:rPr lang="en-US" b="1" dirty="0">
                <a:latin typeface="Times New Roman" pitchFamily="18" charset="0"/>
                <a:cs typeface="Times New Roman" pitchFamily="18" charset="0"/>
              </a:rPr>
              <a:t>Legible Typography:</a:t>
            </a:r>
            <a:r>
              <a:rPr lang="en-US" dirty="0">
                <a:latin typeface="Times New Roman" pitchFamily="18" charset="0"/>
                <a:cs typeface="Times New Roman" pitchFamily="18" charset="0"/>
              </a:rPr>
              <a:t> Choose clear, sans-serif fonts with sufficient size and weight, avoiding overly decorative or thin fonts.</a:t>
            </a:r>
          </a:p>
          <a:p>
            <a:pPr marL="342900" indent="-342900" algn="just">
              <a:lnSpc>
                <a:spcPct val="200000"/>
              </a:lnSpc>
              <a:buFont typeface="+mj-lt"/>
              <a:buAutoNum type="arabicPeriod"/>
            </a:pPr>
            <a:r>
              <a:rPr lang="en-US" b="1" dirty="0">
                <a:latin typeface="Times New Roman" pitchFamily="18" charset="0"/>
                <a:cs typeface="Times New Roman" pitchFamily="18" charset="0"/>
              </a:rPr>
              <a:t>Minimize Text:</a:t>
            </a:r>
            <a:r>
              <a:rPr lang="en-US" dirty="0">
                <a:latin typeface="Times New Roman" pitchFamily="18" charset="0"/>
                <a:cs typeface="Times New Roman" pitchFamily="18" charset="0"/>
              </a:rPr>
              <a:t> Rely on clear icons with comprehensible symbols or concise labels where necessary, as text takes up valuable space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b="1" dirty="0" smtClean="0">
                <a:latin typeface="Times New Roman" pitchFamily="18" charset="0"/>
                <a:cs typeface="Times New Roman" pitchFamily="18" charset="0"/>
              </a:rPr>
              <a:t>Understanding </a:t>
            </a:r>
            <a:r>
              <a:rPr lang="en-US" b="1" dirty="0">
                <a:latin typeface="Times New Roman" pitchFamily="18" charset="0"/>
                <a:cs typeface="Times New Roman" pitchFamily="18" charset="0"/>
              </a:rPr>
              <a:t>Mobile Users &amp; Context</a:t>
            </a:r>
            <a:br>
              <a:rPr lang="en-US" b="1" dirty="0">
                <a:latin typeface="Times New Roman" pitchFamily="18" charset="0"/>
                <a:cs typeface="Times New Roman" pitchFamily="18" charset="0"/>
              </a:rPr>
            </a:br>
            <a:r>
              <a:rPr lang="en-US" dirty="0"/>
              <a:t/>
            </a:r>
            <a:br>
              <a:rPr lang="en-US" dirty="0"/>
            </a:br>
            <a:endParaRPr lang="en-US" dirty="0"/>
          </a:p>
        </p:txBody>
      </p:sp>
      <p:sp>
        <p:nvSpPr>
          <p:cNvPr id="3" name="Rectangle 2"/>
          <p:cNvSpPr/>
          <p:nvPr/>
        </p:nvSpPr>
        <p:spPr>
          <a:xfrm>
            <a:off x="357158" y="1643050"/>
            <a:ext cx="8072494" cy="4247317"/>
          </a:xfrm>
          <a:prstGeom prst="rect">
            <a:avLst/>
          </a:prstGeom>
        </p:spPr>
        <p:txBody>
          <a:bodyPr wrap="square">
            <a:spAutoFit/>
          </a:bodyPr>
          <a:lstStyle/>
          <a:p>
            <a:pPr algn="just">
              <a:lnSpc>
                <a:spcPct val="150000"/>
              </a:lnSpc>
            </a:pPr>
            <a:r>
              <a:rPr lang="en-US" b="1" dirty="0">
                <a:latin typeface="Times New Roman" pitchFamily="18" charset="0"/>
                <a:cs typeface="Times New Roman" pitchFamily="18" charset="0"/>
              </a:rPr>
              <a:t>Small Screens &amp; Touch Targets:</a:t>
            </a:r>
            <a:r>
              <a:rPr lang="en-US" dirty="0">
                <a:latin typeface="Times New Roman" pitchFamily="18" charset="0"/>
                <a:cs typeface="Times New Roman" pitchFamily="18" charset="0"/>
              </a:rPr>
              <a:t> Design large enough touch targets (buttons, links) for fingers, acknowledging the limitations of small screens.</a:t>
            </a:r>
          </a:p>
          <a:p>
            <a:pPr algn="just">
              <a:lnSpc>
                <a:spcPct val="150000"/>
              </a:lnSpc>
            </a:pPr>
            <a:r>
              <a:rPr lang="en-US" b="1" dirty="0">
                <a:latin typeface="Times New Roman" pitchFamily="18" charset="0"/>
                <a:cs typeface="Times New Roman" pitchFamily="18" charset="0"/>
              </a:rPr>
              <a:t>Context Awareness:</a:t>
            </a:r>
            <a:r>
              <a:rPr lang="en-US" dirty="0">
                <a:latin typeface="Times New Roman" pitchFamily="18" charset="0"/>
                <a:cs typeface="Times New Roman" pitchFamily="18" charset="0"/>
              </a:rPr>
              <a:t> Consider how users interact (on the go, distracted), their environment (bandwidth, lighting), and their primary goals.</a:t>
            </a:r>
          </a:p>
          <a:p>
            <a:pPr algn="just">
              <a:lnSpc>
                <a:spcPct val="150000"/>
              </a:lnSpc>
            </a:pPr>
            <a:r>
              <a:rPr lang="en-US" b="1" dirty="0">
                <a:latin typeface="Times New Roman" pitchFamily="18" charset="0"/>
                <a:cs typeface="Times New Roman" pitchFamily="18" charset="0"/>
              </a:rPr>
              <a:t>Platform Conventions:</a:t>
            </a:r>
            <a:r>
              <a:rPr lang="en-US" dirty="0">
                <a:latin typeface="Times New Roman" pitchFamily="18" charset="0"/>
                <a:cs typeface="Times New Roman" pitchFamily="18" charset="0"/>
              </a:rPr>
              <a:t> Adhere to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 (Human Interface Guidelines) and Android (Material Design) standards for native feel, making apps intuitive for platform users.</a:t>
            </a:r>
          </a:p>
          <a:p>
            <a:pPr algn="just">
              <a:lnSpc>
                <a:spcPct val="150000"/>
              </a:lnSpc>
            </a:pPr>
            <a:r>
              <a:rPr lang="en-US" b="1" dirty="0">
                <a:latin typeface="Times New Roman" pitchFamily="18" charset="0"/>
                <a:cs typeface="Times New Roman" pitchFamily="18" charset="0"/>
              </a:rPr>
              <a:t>Minimize Input:</a:t>
            </a:r>
            <a:r>
              <a:rPr lang="en-US" dirty="0">
                <a:latin typeface="Times New Roman" pitchFamily="18" charset="0"/>
                <a:cs typeface="Times New Roman" pitchFamily="18" charset="0"/>
              </a:rPr>
              <a:t> Reduce typing by using smart defaults, auto-fill, and simple selections; data entry is harder on mobile.</a:t>
            </a:r>
          </a:p>
          <a:p>
            <a:pPr algn="just">
              <a:lnSpc>
                <a:spcPct val="150000"/>
              </a:lnSpc>
            </a:pPr>
            <a:r>
              <a:rPr lang="en-US" b="1" dirty="0">
                <a:latin typeface="Times New Roman" pitchFamily="18" charset="0"/>
                <a:cs typeface="Times New Roman" pitchFamily="18" charset="0"/>
              </a:rPr>
              <a:t>Accessibility:</a:t>
            </a:r>
            <a:r>
              <a:rPr lang="en-US" dirty="0">
                <a:latin typeface="Times New Roman" pitchFamily="18" charset="0"/>
                <a:cs typeface="Times New Roman" pitchFamily="18" charset="0"/>
              </a:rPr>
              <a:t> Design for users with low vision or motor impairments by ensuring high contrast, clear text, and easy interaction.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Accessibility to differently –</a:t>
            </a:r>
            <a:r>
              <a:rPr lang="en-US" dirty="0" err="1" smtClean="0"/>
              <a:t>abled</a:t>
            </a:r>
            <a:r>
              <a:rPr lang="en-US" dirty="0" smtClean="0"/>
              <a:t> user</a:t>
            </a:r>
            <a:endParaRPr lang="en-US" dirty="0"/>
          </a:p>
        </p:txBody>
      </p:sp>
      <p:sp>
        <p:nvSpPr>
          <p:cNvPr id="3" name="Rectangle 2"/>
          <p:cNvSpPr/>
          <p:nvPr/>
        </p:nvSpPr>
        <p:spPr>
          <a:xfrm>
            <a:off x="571472" y="1857364"/>
            <a:ext cx="8001056" cy="2535566"/>
          </a:xfrm>
          <a:prstGeom prst="rect">
            <a:avLst/>
          </a:prstGeom>
        </p:spPr>
        <p:txBody>
          <a:bodyPr wrap="square">
            <a:spAutoFit/>
          </a:bodyPr>
          <a:lstStyle/>
          <a:p>
            <a:pPr marL="342900" indent="-342900" algn="just">
              <a:lnSpc>
                <a:spcPct val="150000"/>
              </a:lnSpc>
              <a:buFont typeface="+mj-lt"/>
              <a:buAutoNum type="arabicPeriod"/>
            </a:pPr>
            <a:r>
              <a:rPr lang="en-US" b="1" dirty="0">
                <a:latin typeface="Times New Roman" pitchFamily="18" charset="0"/>
                <a:cs typeface="Times New Roman" pitchFamily="18" charset="0"/>
              </a:rPr>
              <a:t>High Contrast &amp; Resizable Text:</a:t>
            </a:r>
            <a:r>
              <a:rPr lang="en-US" dirty="0">
                <a:latin typeface="Times New Roman" pitchFamily="18" charset="0"/>
                <a:cs typeface="Times New Roman" pitchFamily="18" charset="0"/>
              </a:rPr>
              <a:t> Ensure strong contrast, support dynamic type/font scaling, and avoid embedding text in images.</a:t>
            </a:r>
          </a:p>
          <a:p>
            <a:pPr marL="342900" indent="-342900" algn="just">
              <a:lnSpc>
                <a:spcPct val="150000"/>
              </a:lnSpc>
              <a:buFont typeface="+mj-lt"/>
              <a:buAutoNum type="arabicPeriod"/>
            </a:pPr>
            <a:r>
              <a:rPr lang="en-US" b="1" dirty="0">
                <a:latin typeface="Times New Roman" pitchFamily="18" charset="0"/>
                <a:cs typeface="Times New Roman" pitchFamily="18" charset="0"/>
              </a:rPr>
              <a:t>Screen Readers:</a:t>
            </a:r>
            <a:r>
              <a:rPr lang="en-US" dirty="0">
                <a:latin typeface="Times New Roman" pitchFamily="18" charset="0"/>
                <a:cs typeface="Times New Roman" pitchFamily="18" charset="0"/>
              </a:rPr>
              <a:t> Use proper labels, semantic HTML, and group interactive elements for easier navigation by screen readers.</a:t>
            </a:r>
          </a:p>
          <a:p>
            <a:pPr marL="342900" indent="-342900" algn="just">
              <a:lnSpc>
                <a:spcPct val="150000"/>
              </a:lnSpc>
              <a:buFont typeface="+mj-lt"/>
              <a:buAutoNum type="arabicPeriod"/>
            </a:pPr>
            <a:r>
              <a:rPr lang="en-US" b="1" dirty="0">
                <a:latin typeface="Times New Roman" pitchFamily="18" charset="0"/>
                <a:cs typeface="Times New Roman" pitchFamily="18" charset="0"/>
              </a:rPr>
              <a:t>Color Blindness:</a:t>
            </a:r>
            <a:r>
              <a:rPr lang="en-US" dirty="0">
                <a:latin typeface="Times New Roman" pitchFamily="18" charset="0"/>
                <a:cs typeface="Times New Roman" pitchFamily="18" charset="0"/>
              </a:rPr>
              <a:t> Don't rely on color alone to convey information; use icons or text too.</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Understanding Mobile information design</a:t>
            </a:r>
            <a:endParaRPr lang="en-US" dirty="0"/>
          </a:p>
        </p:txBody>
      </p:sp>
      <p:sp>
        <p:nvSpPr>
          <p:cNvPr id="3" name="Rectangle 2"/>
          <p:cNvSpPr/>
          <p:nvPr/>
        </p:nvSpPr>
        <p:spPr>
          <a:xfrm>
            <a:off x="357158" y="1571612"/>
            <a:ext cx="8143932" cy="5028556"/>
          </a:xfrm>
          <a:prstGeom prst="rect">
            <a:avLst/>
          </a:prstGeom>
        </p:spPr>
        <p:txBody>
          <a:bodyPr wrap="square">
            <a:spAutoFit/>
          </a:bodyPr>
          <a:lstStyle/>
          <a:p>
            <a:pPr algn="just">
              <a:lnSpc>
                <a:spcPct val="150000"/>
              </a:lnSpc>
            </a:pPr>
            <a:r>
              <a:rPr lang="en-US" b="1" dirty="0">
                <a:latin typeface="Times New Roman" pitchFamily="18" charset="0"/>
                <a:cs typeface="Times New Roman" pitchFamily="18" charset="0"/>
              </a:rPr>
              <a:t>Prioritize Content &amp; Clarity:</a:t>
            </a:r>
            <a:r>
              <a:rPr lang="en-US" dirty="0">
                <a:latin typeface="Times New Roman" pitchFamily="18" charset="0"/>
                <a:cs typeface="Times New Roman" pitchFamily="18" charset="0"/>
              </a:rPr>
              <a:t> Display essential information first, using whitespace and clear visual hierarchy; avoid clutter.</a:t>
            </a:r>
          </a:p>
          <a:p>
            <a:pPr algn="just">
              <a:lnSpc>
                <a:spcPct val="150000"/>
              </a:lnSpc>
            </a:pPr>
            <a:r>
              <a:rPr lang="en-US" b="1" dirty="0">
                <a:latin typeface="Times New Roman" pitchFamily="18" charset="0"/>
                <a:cs typeface="Times New Roman" pitchFamily="18" charset="0"/>
              </a:rPr>
              <a:t>Optimize for Touch:</a:t>
            </a:r>
            <a:r>
              <a:rPr lang="en-US" dirty="0">
                <a:latin typeface="Times New Roman" pitchFamily="18" charset="0"/>
                <a:cs typeface="Times New Roman" pitchFamily="18" charset="0"/>
              </a:rPr>
              <a:t> Ensure buttons and interactive elements are large enough (min 44x44pt) for easy tapping, preventing </a:t>
            </a:r>
            <a:r>
              <a:rPr lang="en-US" dirty="0" err="1">
                <a:latin typeface="Times New Roman" pitchFamily="18" charset="0"/>
                <a:cs typeface="Times New Roman" pitchFamily="18" charset="0"/>
              </a:rPr>
              <a:t>misclicks</a:t>
            </a:r>
            <a:r>
              <a:rPr lang="en-US" dirty="0">
                <a:latin typeface="Times New Roman" pitchFamily="18" charset="0"/>
                <a:cs typeface="Times New Roman" pitchFamily="18" charset="0"/>
              </a:rPr>
              <a:t>.</a:t>
            </a:r>
          </a:p>
          <a:p>
            <a:pPr algn="just">
              <a:lnSpc>
                <a:spcPct val="150000"/>
              </a:lnSpc>
            </a:pPr>
            <a:r>
              <a:rPr lang="en-US" b="1" dirty="0">
                <a:latin typeface="Times New Roman" pitchFamily="18" charset="0"/>
                <a:cs typeface="Times New Roman" pitchFamily="18" charset="0"/>
              </a:rPr>
              <a:t>Simplify Navigation:</a:t>
            </a:r>
            <a:r>
              <a:rPr lang="en-US" dirty="0">
                <a:latin typeface="Times New Roman" pitchFamily="18" charset="0"/>
                <a:cs typeface="Times New Roman" pitchFamily="18" charset="0"/>
              </a:rPr>
              <a:t> Use standard patterns (tabs, hamburger menus) and clearly labeled icons to help users find their way.</a:t>
            </a:r>
          </a:p>
          <a:p>
            <a:pPr algn="just">
              <a:lnSpc>
                <a:spcPct val="150000"/>
              </a:lnSpc>
            </a:pPr>
            <a:r>
              <a:rPr lang="en-US" b="1" dirty="0">
                <a:latin typeface="Times New Roman" pitchFamily="18" charset="0"/>
                <a:cs typeface="Times New Roman" pitchFamily="18" charset="0"/>
              </a:rPr>
              <a:t>Maintain Consistency:</a:t>
            </a:r>
            <a:r>
              <a:rPr lang="en-US" dirty="0">
                <a:latin typeface="Times New Roman" pitchFamily="18" charset="0"/>
                <a:cs typeface="Times New Roman" pitchFamily="18" charset="0"/>
              </a:rPr>
              <a:t> Follow platform-specific (</a:t>
            </a:r>
            <a:r>
              <a:rPr lang="en-US" dirty="0" err="1">
                <a:latin typeface="Times New Roman" pitchFamily="18" charset="0"/>
                <a:cs typeface="Times New Roman" pitchFamily="18" charset="0"/>
              </a:rPr>
              <a:t>iOS</a:t>
            </a:r>
            <a:r>
              <a:rPr lang="en-US" dirty="0">
                <a:latin typeface="Times New Roman" pitchFamily="18" charset="0"/>
                <a:cs typeface="Times New Roman" pitchFamily="18" charset="0"/>
              </a:rPr>
              <a:t>/Android) design guidelines for a familiar feel and predictable behavior.</a:t>
            </a:r>
          </a:p>
          <a:p>
            <a:pPr algn="just">
              <a:lnSpc>
                <a:spcPct val="150000"/>
              </a:lnSpc>
            </a:pPr>
            <a:r>
              <a:rPr lang="en-US" b="1" dirty="0">
                <a:latin typeface="Times New Roman" pitchFamily="18" charset="0"/>
                <a:cs typeface="Times New Roman" pitchFamily="18" charset="0"/>
              </a:rPr>
              <a:t>Reduce Cognitive Load:</a:t>
            </a:r>
            <a:r>
              <a:rPr lang="en-US" dirty="0">
                <a:latin typeface="Times New Roman" pitchFamily="18" charset="0"/>
                <a:cs typeface="Times New Roman" pitchFamily="18" charset="0"/>
              </a:rPr>
              <a:t> Keep designs clean, use concise language, and offer informative feedback to make interactions effortless.</a:t>
            </a:r>
          </a:p>
          <a:p>
            <a:pPr algn="just">
              <a:lnSpc>
                <a:spcPct val="150000"/>
              </a:lnSpc>
            </a:pPr>
            <a:r>
              <a:rPr lang="en-US" b="1" dirty="0">
                <a:latin typeface="Times New Roman" pitchFamily="18" charset="0"/>
                <a:cs typeface="Times New Roman" pitchFamily="18" charset="0"/>
              </a:rPr>
              <a:t>Design for Context:</a:t>
            </a:r>
            <a:r>
              <a:rPr lang="en-US" dirty="0">
                <a:latin typeface="Times New Roman" pitchFamily="18" charset="0"/>
                <a:cs typeface="Times New Roman" pitchFamily="18" charset="0"/>
              </a:rPr>
              <a:t> Consider how users interact on the go (one-handed use, distractions).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143240" y="3000372"/>
            <a:ext cx="3852349" cy="769441"/>
          </a:xfrm>
          <a:prstGeom prst="rect">
            <a:avLst/>
          </a:prstGeom>
        </p:spPr>
        <p:txBody>
          <a:bodyPr wrap="square">
            <a:spAutoFit/>
          </a:bodyPr>
          <a:lstStyle/>
          <a:p>
            <a:r>
              <a:rPr lang="en-US" sz="4400" dirty="0" smtClean="0">
                <a:latin typeface="Times New Roman" pitchFamily="18" charset="0"/>
                <a:cs typeface="Times New Roman" pitchFamily="18" charset="0"/>
              </a:rPr>
              <a:t>Thank you </a:t>
            </a:r>
            <a:endParaRPr lang="en-US" sz="4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3194</TotalTime>
  <Words>710</Words>
  <Application>Microsoft Office PowerPoint</Application>
  <PresentationFormat>On-screen Show (4:3)</PresentationFormat>
  <Paragraphs>225</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Unit-1</vt:lpstr>
      <vt:lpstr>Introduction</vt:lpstr>
      <vt:lpstr>Introduction</vt:lpstr>
      <vt:lpstr>Process </vt:lpstr>
      <vt:lpstr>Slide 5</vt:lpstr>
      <vt:lpstr>Key Concept</vt:lpstr>
      <vt:lpstr>Types of Apps </vt:lpstr>
      <vt:lpstr>Advantages Native App development </vt:lpstr>
      <vt:lpstr>Disadvantage</vt:lpstr>
      <vt:lpstr> Progressive web Application</vt:lpstr>
      <vt:lpstr>Slide 11</vt:lpstr>
      <vt:lpstr>Cross-Platform Application</vt:lpstr>
      <vt:lpstr>Slide 13</vt:lpstr>
      <vt:lpstr>Mobile application development platform (MADP)</vt:lpstr>
      <vt:lpstr>Plateform</vt:lpstr>
      <vt:lpstr>Android App Development Platforms </vt:lpstr>
      <vt:lpstr> Pros and Cons of Android app development </vt:lpstr>
      <vt:lpstr>Cons</vt:lpstr>
      <vt:lpstr>iOS App Development Platforms </vt:lpstr>
      <vt:lpstr> Pros  and Cons of iOS app development </vt:lpstr>
      <vt:lpstr> Cross-Platform App Development Platforms </vt:lpstr>
      <vt:lpstr> Pros of Cross-Platform app development </vt:lpstr>
      <vt:lpstr>Cost Of mobile App Development</vt:lpstr>
      <vt:lpstr>Factor</vt:lpstr>
      <vt:lpstr> App type </vt:lpstr>
      <vt:lpstr>Estimated time and cost </vt:lpstr>
      <vt:lpstr>Myth of mobile Application: Common Myths</vt:lpstr>
      <vt:lpstr>Benefits of Mobile app for Business</vt:lpstr>
      <vt:lpstr>Slide 29</vt:lpstr>
      <vt:lpstr> Mobile User Interface Design </vt:lpstr>
      <vt:lpstr>Effective use of screen and estate</vt:lpstr>
      <vt:lpstr>  Understanding Mobile Users &amp; Context  </vt:lpstr>
      <vt:lpstr>Accessibility to differently –abled user</vt:lpstr>
      <vt:lpstr> Understanding Mobile information design</vt:lpstr>
      <vt:lpstr>Slide 35</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dc:title>
  <dc:creator>ANUJ KUMAR</dc:creator>
  <cp:lastModifiedBy>ANUJ KUMAR</cp:lastModifiedBy>
  <cp:revision>62</cp:revision>
  <dcterms:created xsi:type="dcterms:W3CDTF">2026-01-21T06:50:38Z</dcterms:created>
  <dcterms:modified xsi:type="dcterms:W3CDTF">2026-01-28T08:15:32Z</dcterms:modified>
</cp:coreProperties>
</file>