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9" r:id="rId13"/>
    <p:sldId id="267" r:id="rId14"/>
    <p:sldId id="268" r:id="rId15"/>
    <p:sldId id="282" r:id="rId16"/>
    <p:sldId id="283" r:id="rId17"/>
    <p:sldId id="271" r:id="rId18"/>
    <p:sldId id="270" r:id="rId19"/>
    <p:sldId id="284" r:id="rId20"/>
    <p:sldId id="285" r:id="rId21"/>
    <p:sldId id="272" r:id="rId22"/>
    <p:sldId id="275" r:id="rId23"/>
    <p:sldId id="273" r:id="rId24"/>
    <p:sldId id="276" r:id="rId25"/>
    <p:sldId id="274" r:id="rId26"/>
    <p:sldId id="277" r:id="rId27"/>
    <p:sldId id="286" r:id="rId28"/>
    <p:sldId id="278" r:id="rId29"/>
    <p:sldId id="279" r:id="rId30"/>
    <p:sldId id="280"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5" r:id="rId49"/>
    <p:sldId id="306" r:id="rId50"/>
    <p:sldId id="307" r:id="rId51"/>
    <p:sldId id="308" r:id="rId52"/>
    <p:sldId id="309" r:id="rId53"/>
    <p:sldId id="304" r:id="rId5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90" d="100"/>
          <a:sy n="90" d="100"/>
        </p:scale>
        <p:origin x="-924" y="5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9190C24-802F-474A-8602-65296D9483C6}"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7EC247-E025-45B6-9454-5DA4137AF57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9190C24-802F-474A-8602-65296D9483C6}"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7EC247-E025-45B6-9454-5DA4137AF57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9190C24-802F-474A-8602-65296D9483C6}"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7EC247-E025-45B6-9454-5DA4137AF57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9190C24-802F-474A-8602-65296D9483C6}"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7EC247-E025-45B6-9454-5DA4137AF57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9190C24-802F-474A-8602-65296D9483C6}" type="datetimeFigureOut">
              <a:rPr lang="en-US" smtClean="0"/>
              <a:pPr/>
              <a:t>3/18/2026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B7EC247-E025-45B6-9454-5DA4137AF57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9190C24-802F-474A-8602-65296D9483C6}" type="datetimeFigureOut">
              <a:rPr lang="en-US" smtClean="0"/>
              <a:pPr/>
              <a:t>3/18/2026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B7EC247-E025-45B6-9454-5DA4137AF57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190C24-802F-474A-8602-65296D9483C6}" type="datetimeFigureOut">
              <a:rPr lang="en-US" smtClean="0"/>
              <a:pPr/>
              <a:t>3/18/2026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B7EC247-E025-45B6-9454-5DA4137AF57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9190C24-802F-474A-8602-65296D9483C6}"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7EC247-E025-45B6-9454-5DA4137AF57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9190C24-802F-474A-8602-65296D9483C6}"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7EC247-E025-45B6-9454-5DA4137AF57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9190C24-802F-474A-8602-65296D9483C6}"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7EC247-E025-45B6-9454-5DA4137AF57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9190C24-802F-474A-8602-65296D9483C6}"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7EC247-E025-45B6-9454-5DA4137AF57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190C24-802F-474A-8602-65296D9483C6}" type="datetimeFigureOut">
              <a:rPr lang="en-US" smtClean="0"/>
              <a:pPr/>
              <a:t>3/18/2026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7EC247-E025-45B6-9454-5DA4137AF57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google.com/search?cs=0&amp;sca_esv=552fb68e3d08662a&amp;sxsrf=AE3TifPOav8S8v2hFDVAQLbcrvCHaXHkAA:1760511189464&amp;q=context+menu&amp;sa=X&amp;ved=2ahUKEwjKysagz6WQAxWT7zgGHXThEyQQxccNegQIAxAC&amp;mstk=AUtExfBYlf9PC4zGt7je0mBpFP12hLp9ik4qYUTK9NFJweBZa7fFzNcBha52e_f3U7uI24AELD8JL1wM705PAGVDk1be_aFPLnV-F0bpUPCtnbeO5hDr8rFZG025IkoHMXscx3VAcqpUD978Soc6wJKA-WI2fBxoJ8r0KLA1wookwULQCEA&amp;csui=3" TargetMode="External"/><Relationship Id="rId2" Type="http://schemas.openxmlformats.org/officeDocument/2006/relationships/hyperlink" Target="https://www.google.com/search?cs=0&amp;sca_esv=552fb68e3d08662a&amp;sxsrf=AE3TifPOav8S8v2hFDVAQLbcrvCHaXHkAA:1760511189464&amp;q=options+menu&amp;sa=X&amp;ved=2ahUKEwjKysagz6WQAxWT7zgGHXThEyQQxccNegQIAxAB&amp;mstk=AUtExfBYlf9PC4zGt7je0mBpFP12hLp9ik4qYUTK9NFJweBZa7fFzNcBha52e_f3U7uI24AELD8JL1wM705PAGVDk1be_aFPLnV-F0bpUPCtnbeO5hDr8rFZG025IkoHMXscx3VAcqpUD978Soc6wJKA-WI2fBxoJ8r0KLA1wookwULQCEA&amp;csui=3" TargetMode="External"/><Relationship Id="rId1" Type="http://schemas.openxmlformats.org/officeDocument/2006/relationships/slideLayout" Target="../slideLayouts/slideLayout2.xml"/><Relationship Id="rId4" Type="http://schemas.openxmlformats.org/officeDocument/2006/relationships/hyperlink" Target="https://www.google.com/search?cs=0&amp;sca_esv=552fb68e3d08662a&amp;sxsrf=AE3TifPOav8S8v2hFDVAQLbcrvCHaXHkAA:1760511189464&amp;q=pop-up+menu&amp;sa=X&amp;ved=2ahUKEwjKysagz6WQAxWT7zgGHXThEyQQxccNegQIAxAD&amp;mstk=AUtExfBYlf9PC4zGt7je0mBpFP12hLp9ik4qYUTK9NFJweBZa7fFzNcBha52e_f3U7uI24AELD8JL1wM705PAGVDk1be_aFPLnV-F0bpUPCtnbeO5hDr8rFZG025IkoHMXscx3VAcqpUD978Soc6wJKA-WI2fBxoJ8r0KLA1wookwULQCEA&amp;csui=3"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www.geeksforgeeks.org/android/android-how-to-add-radio-buttons-in-an-android-application/" TargetMode="External"/><Relationship Id="rId2" Type="http://schemas.openxmlformats.org/officeDocument/2006/relationships/hyperlink" Target="https://www.geeksforgeeks.org/kotlin/checkbox-in-kotlin/"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Unit- 3</a:t>
            </a:r>
            <a:endParaRPr lang="en-US" dirty="0"/>
          </a:p>
        </p:txBody>
      </p:sp>
      <p:sp>
        <p:nvSpPr>
          <p:cNvPr id="3" name="Subtitle 2"/>
          <p:cNvSpPr>
            <a:spLocks noGrp="1"/>
          </p:cNvSpPr>
          <p:nvPr>
            <p:ph type="subTitle" idx="1"/>
          </p:nvPr>
        </p:nvSpPr>
        <p:spPr/>
        <p:txBody>
          <a:bodyPr/>
          <a:lstStyle/>
          <a:p>
            <a:r>
              <a:rPr lang="en-IN" b="1" dirty="0" smtClean="0"/>
              <a:t>Android Menus, Event Handling, Graphics, Multimedia</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92500" lnSpcReduction="10000"/>
          </a:bodyPr>
          <a:lstStyle/>
          <a:p>
            <a:r>
              <a:rPr lang="en-IN" b="1" dirty="0"/>
              <a:t>UNIT- III</a:t>
            </a:r>
            <a:endParaRPr lang="en-US" dirty="0"/>
          </a:p>
          <a:p>
            <a:r>
              <a:rPr lang="en-IN" b="1" dirty="0"/>
              <a:t>Android Menus, Event Handling, Graphics, Multimedia</a:t>
            </a:r>
            <a:endParaRPr lang="en-US" dirty="0"/>
          </a:p>
          <a:p>
            <a:r>
              <a:rPr lang="en-IN" b="1" dirty="0" err="1"/>
              <a:t>Menus:</a:t>
            </a:r>
            <a:r>
              <a:rPr lang="en-IN" dirty="0" err="1"/>
              <a:t>Menus</a:t>
            </a:r>
            <a:r>
              <a:rPr lang="en-IN" dirty="0"/>
              <a:t> and Action Bar, Alert Dialog</a:t>
            </a:r>
            <a:endParaRPr lang="en-US" dirty="0"/>
          </a:p>
          <a:p>
            <a:r>
              <a:rPr lang="en-IN" b="1" dirty="0"/>
              <a:t>Event Handling: Events, Event Handler, Event Handling, and Listeners,  displaying messages and errors using toast		</a:t>
            </a:r>
            <a:endParaRPr lang="en-US" dirty="0"/>
          </a:p>
          <a:p>
            <a:r>
              <a:rPr lang="en-IN" b="1" dirty="0"/>
              <a:t>Graphics:</a:t>
            </a:r>
            <a:r>
              <a:rPr lang="en-IN" dirty="0"/>
              <a:t> Android Graphics and Animation</a:t>
            </a:r>
            <a:endParaRPr lang="en-US" dirty="0"/>
          </a:p>
          <a:p>
            <a:r>
              <a:rPr lang="en-US" b="1" dirty="0"/>
              <a:t>Multimedia:</a:t>
            </a:r>
            <a:r>
              <a:rPr lang="en-US" dirty="0"/>
              <a:t> Playing audio, and video files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Android Menus</a:t>
            </a:r>
            <a:endParaRPr lang="en-US" dirty="0"/>
          </a:p>
        </p:txBody>
      </p:sp>
      <p:sp>
        <p:nvSpPr>
          <p:cNvPr id="3" name="Content Placeholder 2"/>
          <p:cNvSpPr>
            <a:spLocks noGrp="1"/>
          </p:cNvSpPr>
          <p:nvPr>
            <p:ph idx="1"/>
          </p:nvPr>
        </p:nvSpPr>
        <p:spPr>
          <a:xfrm>
            <a:off x="457200" y="1428736"/>
            <a:ext cx="8401080" cy="4697427"/>
          </a:xfrm>
        </p:spPr>
        <p:txBody>
          <a:bodyPr/>
          <a:lstStyle/>
          <a:p>
            <a:pPr algn="just">
              <a:buNone/>
            </a:pPr>
            <a:r>
              <a:rPr lang="en-US" dirty="0" smtClean="0">
                <a:latin typeface="Times New Roman" pitchFamily="18" charset="0"/>
                <a:cs typeface="Times New Roman" pitchFamily="18" charset="0"/>
              </a:rPr>
              <a:t>	Android </a:t>
            </a:r>
            <a:r>
              <a:rPr lang="en-US" dirty="0">
                <a:latin typeface="Times New Roman" pitchFamily="18" charset="0"/>
                <a:cs typeface="Times New Roman" pitchFamily="18" charset="0"/>
              </a:rPr>
              <a:t>menus are defined in XML resource </a:t>
            </a:r>
            <a:r>
              <a:rPr lang="en-US" dirty="0" smtClean="0">
                <a:latin typeface="Times New Roman" pitchFamily="18" charset="0"/>
                <a:cs typeface="Times New Roman" pitchFamily="18" charset="0"/>
              </a:rPr>
              <a:t>files and </a:t>
            </a:r>
            <a:r>
              <a:rPr lang="en-US" dirty="0">
                <a:latin typeface="Times New Roman" pitchFamily="18" charset="0"/>
                <a:cs typeface="Times New Roman" pitchFamily="18" charset="0"/>
              </a:rPr>
              <a:t>can be implemented using </a:t>
            </a:r>
            <a:r>
              <a:rPr lang="en-US" dirty="0" smtClean="0">
                <a:latin typeface="Times New Roman" pitchFamily="18" charset="0"/>
                <a:cs typeface="Times New Roman" pitchFamily="18" charset="0"/>
              </a:rPr>
              <a:t>–</a:t>
            </a:r>
          </a:p>
          <a:p>
            <a:pPr algn="just">
              <a:buNone/>
            </a:pPr>
            <a:r>
              <a:rPr lang="en-US" dirty="0">
                <a:latin typeface="Times New Roman" pitchFamily="18" charset="0"/>
                <a:cs typeface="Times New Roman" pitchFamily="18" charset="0"/>
              </a:rPr>
              <a:t>-</a:t>
            </a:r>
            <a:r>
              <a:rPr lang="en-US" dirty="0" smtClean="0">
                <a:latin typeface="Times New Roman" pitchFamily="18" charset="0"/>
                <a:cs typeface="Times New Roman" pitchFamily="18" charset="0"/>
              </a:rPr>
              <a:t>options </a:t>
            </a:r>
            <a:r>
              <a:rPr lang="en-US" dirty="0">
                <a:latin typeface="Times New Roman" pitchFamily="18" charset="0"/>
                <a:cs typeface="Times New Roman" pitchFamily="18" charset="0"/>
              </a:rPr>
              <a:t>menus, </a:t>
            </a:r>
            <a:endParaRPr lang="en-US" dirty="0" smtClean="0">
              <a:latin typeface="Times New Roman" pitchFamily="18" charset="0"/>
              <a:cs typeface="Times New Roman" pitchFamily="18" charset="0"/>
            </a:endParaRPr>
          </a:p>
          <a:p>
            <a:pPr algn="just">
              <a:buNone/>
            </a:pPr>
            <a:r>
              <a:rPr lang="en-US" dirty="0">
                <a:latin typeface="Times New Roman" pitchFamily="18" charset="0"/>
                <a:cs typeface="Times New Roman" pitchFamily="18" charset="0"/>
              </a:rPr>
              <a:t>-</a:t>
            </a:r>
            <a:r>
              <a:rPr lang="en-US" dirty="0" smtClean="0">
                <a:latin typeface="Times New Roman" pitchFamily="18" charset="0"/>
                <a:cs typeface="Times New Roman" pitchFamily="18" charset="0"/>
              </a:rPr>
              <a:t>context </a:t>
            </a:r>
            <a:r>
              <a:rPr lang="en-US" dirty="0">
                <a:latin typeface="Times New Roman" pitchFamily="18" charset="0"/>
                <a:cs typeface="Times New Roman" pitchFamily="18" charset="0"/>
              </a:rPr>
              <a:t>menus, </a:t>
            </a:r>
            <a:endParaRPr lang="en-US" dirty="0" smtClean="0">
              <a:latin typeface="Times New Roman" pitchFamily="18" charset="0"/>
              <a:cs typeface="Times New Roman" pitchFamily="18" charset="0"/>
            </a:endParaRPr>
          </a:p>
          <a:p>
            <a:pPr algn="just">
              <a:buNone/>
            </a:pPr>
            <a:r>
              <a:rPr lang="en-US" dirty="0">
                <a:latin typeface="Times New Roman" pitchFamily="18" charset="0"/>
                <a:cs typeface="Times New Roman" pitchFamily="18" charset="0"/>
              </a:rPr>
              <a:t>-</a:t>
            </a:r>
            <a:r>
              <a:rPr lang="en-US" dirty="0" smtClean="0">
                <a:latin typeface="Times New Roman" pitchFamily="18" charset="0"/>
                <a:cs typeface="Times New Roman" pitchFamily="18" charset="0"/>
              </a:rPr>
              <a:t>and pop-up </a:t>
            </a:r>
            <a:r>
              <a:rPr lang="en-US" dirty="0">
                <a:latin typeface="Times New Roman" pitchFamily="18" charset="0"/>
                <a:cs typeface="Times New Roman" pitchFamily="18" charset="0"/>
              </a:rPr>
              <a:t>menus</a:t>
            </a:r>
            <a:r>
              <a:rPr lang="en-US" dirty="0"/>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 of Menus</a:t>
            </a:r>
            <a:endParaRPr lang="en-US" dirty="0"/>
          </a:p>
        </p:txBody>
      </p:sp>
      <p:sp>
        <p:nvSpPr>
          <p:cNvPr id="3" name="Content Placeholder 2"/>
          <p:cNvSpPr>
            <a:spLocks noGrp="1"/>
          </p:cNvSpPr>
          <p:nvPr>
            <p:ph idx="1"/>
          </p:nvPr>
        </p:nvSpPr>
        <p:spPr/>
        <p:txBody>
          <a:bodyPr/>
          <a:lstStyle/>
          <a:p>
            <a:pPr>
              <a:buNone/>
            </a:pPr>
            <a:r>
              <a:rPr lang="en-US" dirty="0" smtClean="0"/>
              <a:t>-An</a:t>
            </a:r>
            <a:r>
              <a:rPr lang="en-US" dirty="0"/>
              <a:t> </a:t>
            </a:r>
            <a:r>
              <a:rPr lang="en-US" dirty="0">
                <a:hlinkClick r:id="rId2"/>
              </a:rPr>
              <a:t>options menu</a:t>
            </a:r>
            <a:r>
              <a:rPr lang="en-US" dirty="0"/>
              <a:t> is a primary collection of menu items for an </a:t>
            </a:r>
            <a:r>
              <a:rPr lang="en-US" dirty="0" smtClean="0"/>
              <a:t>activity.</a:t>
            </a:r>
          </a:p>
          <a:p>
            <a:pPr>
              <a:buNone/>
            </a:pPr>
            <a:r>
              <a:rPr lang="en-US" dirty="0" smtClean="0"/>
              <a:t>-a</a:t>
            </a:r>
            <a:r>
              <a:rPr lang="en-US" dirty="0"/>
              <a:t> </a:t>
            </a:r>
            <a:r>
              <a:rPr lang="en-US" dirty="0">
                <a:hlinkClick r:id="rId3"/>
              </a:rPr>
              <a:t>context menu</a:t>
            </a:r>
            <a:r>
              <a:rPr lang="en-US" dirty="0"/>
              <a:t> appears when a user long-clicks an </a:t>
            </a:r>
            <a:r>
              <a:rPr lang="en-US" dirty="0" smtClean="0"/>
              <a:t>element</a:t>
            </a:r>
          </a:p>
          <a:p>
            <a:pPr>
              <a:buNone/>
            </a:pPr>
            <a:r>
              <a:rPr lang="en-US" dirty="0"/>
              <a:t>-</a:t>
            </a:r>
            <a:r>
              <a:rPr lang="en-US" dirty="0" smtClean="0"/>
              <a:t>a</a:t>
            </a:r>
            <a:r>
              <a:rPr lang="en-US" dirty="0"/>
              <a:t> </a:t>
            </a:r>
            <a:r>
              <a:rPr lang="en-US" dirty="0">
                <a:hlinkClick r:id="rId4"/>
              </a:rPr>
              <a:t>pop-up menu</a:t>
            </a:r>
            <a:r>
              <a:rPr lang="en-US" dirty="0"/>
              <a:t> is a floating, vertical list of items anchored to a specific view</a:t>
            </a:r>
            <a:endParaRPr lang="en-US" dirty="0" smtClean="0"/>
          </a:p>
          <a:p>
            <a:pPr>
              <a:buNone/>
            </a:pPr>
            <a:endParaRPr lang="en-US" dirty="0" smtClean="0"/>
          </a:p>
          <a:p>
            <a:pPr>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Option Menus</a:t>
            </a:r>
            <a:endParaRPr lang="en-US" dirty="0"/>
          </a:p>
        </p:txBody>
      </p:sp>
      <p:sp>
        <p:nvSpPr>
          <p:cNvPr id="3" name="Content Placeholder 2"/>
          <p:cNvSpPr>
            <a:spLocks noGrp="1"/>
          </p:cNvSpPr>
          <p:nvPr>
            <p:ph idx="1"/>
          </p:nvPr>
        </p:nvSpPr>
        <p:spPr/>
        <p:txBody>
          <a:bodyPr/>
          <a:lstStyle/>
          <a:p>
            <a:r>
              <a:rPr lang="en-US" dirty="0">
                <a:latin typeface="Times New Roman" pitchFamily="18" charset="0"/>
                <a:cs typeface="Times New Roman" pitchFamily="18" charset="0"/>
              </a:rPr>
              <a:t>An Android options menu is the primary menu for an activity, typically used for actions that have a global impact on the application, such as "Settings," "Search," or "Compose email."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create</a:t>
            </a:r>
            <a:endParaRPr lang="en-US" dirty="0"/>
          </a:p>
        </p:txBody>
      </p:sp>
      <p:sp>
        <p:nvSpPr>
          <p:cNvPr id="3" name="Content Placeholder 2"/>
          <p:cNvSpPr>
            <a:spLocks noGrp="1"/>
          </p:cNvSpPr>
          <p:nvPr>
            <p:ph idx="1"/>
          </p:nvPr>
        </p:nvSpPr>
        <p:spPr/>
        <p:txBody>
          <a:bodyPr>
            <a:normAutofit fontScale="85000" lnSpcReduction="20000"/>
          </a:bodyPr>
          <a:lstStyle/>
          <a:p>
            <a:pPr algn="just" fontAlgn="base"/>
            <a:r>
              <a:rPr lang="en-US" dirty="0">
                <a:latin typeface="Times New Roman" pitchFamily="18" charset="0"/>
                <a:cs typeface="Times New Roman" pitchFamily="18" charset="0"/>
              </a:rPr>
              <a:t>To create the menu directory just right-click on </a:t>
            </a:r>
            <a:r>
              <a:rPr lang="en-US" b="1" dirty="0">
                <a:latin typeface="Times New Roman" pitchFamily="18" charset="0"/>
                <a:cs typeface="Times New Roman" pitchFamily="18" charset="0"/>
              </a:rPr>
              <a:t>res</a:t>
            </a:r>
            <a:r>
              <a:rPr lang="en-US" dirty="0">
                <a:latin typeface="Times New Roman" pitchFamily="18" charset="0"/>
                <a:cs typeface="Times New Roman" pitchFamily="18" charset="0"/>
              </a:rPr>
              <a:t> folder and navigate to </a:t>
            </a:r>
            <a:r>
              <a:rPr lang="en-US" b="1" dirty="0">
                <a:latin typeface="Times New Roman" pitchFamily="18" charset="0"/>
                <a:cs typeface="Times New Roman" pitchFamily="18" charset="0"/>
              </a:rPr>
              <a:t>res &gt; New &gt; Android Resource Directory.</a:t>
            </a:r>
            <a:r>
              <a:rPr lang="en-US" dirty="0">
                <a:latin typeface="Times New Roman" pitchFamily="18" charset="0"/>
                <a:cs typeface="Times New Roman" pitchFamily="18" charset="0"/>
              </a:rPr>
              <a:t> </a:t>
            </a:r>
            <a:endParaRPr lang="en-US" dirty="0" smtClean="0">
              <a:latin typeface="Times New Roman" pitchFamily="18" charset="0"/>
              <a:cs typeface="Times New Roman" pitchFamily="18" charset="0"/>
            </a:endParaRPr>
          </a:p>
          <a:p>
            <a:pPr algn="just" fontAlgn="base"/>
            <a:r>
              <a:rPr lang="en-US" dirty="0" smtClean="0">
                <a:latin typeface="Times New Roman" pitchFamily="18" charset="0"/>
                <a:cs typeface="Times New Roman" pitchFamily="18" charset="0"/>
              </a:rPr>
              <a:t>Give </a:t>
            </a:r>
            <a:r>
              <a:rPr lang="en-US" dirty="0">
                <a:latin typeface="Times New Roman" pitchFamily="18" charset="0"/>
                <a:cs typeface="Times New Roman" pitchFamily="18" charset="0"/>
              </a:rPr>
              <a:t>R</a:t>
            </a:r>
            <a:r>
              <a:rPr lang="en-US" b="1" dirty="0">
                <a:latin typeface="Times New Roman" pitchFamily="18" charset="0"/>
                <a:cs typeface="Times New Roman" pitchFamily="18" charset="0"/>
              </a:rPr>
              <a:t>esource type</a:t>
            </a:r>
            <a:r>
              <a:rPr lang="en-US" dirty="0">
                <a:latin typeface="Times New Roman" pitchFamily="18" charset="0"/>
                <a:cs typeface="Times New Roman" pitchFamily="18" charset="0"/>
              </a:rPr>
              <a:t> and </a:t>
            </a:r>
            <a:r>
              <a:rPr lang="en-US" b="1" dirty="0">
                <a:latin typeface="Times New Roman" pitchFamily="18" charset="0"/>
                <a:cs typeface="Times New Roman" pitchFamily="18" charset="0"/>
              </a:rPr>
              <a:t>Directory name</a:t>
            </a:r>
            <a:r>
              <a:rPr lang="en-US" dirty="0">
                <a:latin typeface="Times New Roman" pitchFamily="18" charset="0"/>
                <a:cs typeface="Times New Roman" pitchFamily="18" charset="0"/>
              </a:rPr>
              <a:t> as </a:t>
            </a:r>
            <a:r>
              <a:rPr lang="en-US" b="1" dirty="0">
                <a:latin typeface="Times New Roman" pitchFamily="18" charset="0"/>
                <a:cs typeface="Times New Roman" pitchFamily="18" charset="0"/>
              </a:rPr>
              <a:t>menu</a:t>
            </a:r>
            <a:r>
              <a:rPr lang="en-US" dirty="0">
                <a:latin typeface="Times New Roman" pitchFamily="18" charset="0"/>
                <a:cs typeface="Times New Roman" pitchFamily="18" charset="0"/>
              </a:rPr>
              <a:t>. </a:t>
            </a:r>
            <a:endParaRPr lang="en-US" dirty="0" smtClean="0">
              <a:latin typeface="Times New Roman" pitchFamily="18" charset="0"/>
              <a:cs typeface="Times New Roman" pitchFamily="18" charset="0"/>
            </a:endParaRPr>
          </a:p>
          <a:p>
            <a:pPr algn="just" fontAlgn="base"/>
            <a:r>
              <a:rPr lang="en-US" dirty="0" smtClean="0">
                <a:latin typeface="Times New Roman" pitchFamily="18" charset="0"/>
                <a:cs typeface="Times New Roman" pitchFamily="18" charset="0"/>
              </a:rPr>
              <a:t>One </a:t>
            </a:r>
            <a:r>
              <a:rPr lang="en-US" dirty="0">
                <a:latin typeface="Times New Roman" pitchFamily="18" charset="0"/>
                <a:cs typeface="Times New Roman" pitchFamily="18" charset="0"/>
              </a:rPr>
              <a:t>directory will be created under res folder under the name of </a:t>
            </a:r>
            <a:r>
              <a:rPr lang="en-US" b="1" dirty="0">
                <a:latin typeface="Times New Roman" pitchFamily="18" charset="0"/>
                <a:cs typeface="Times New Roman" pitchFamily="18" charset="0"/>
              </a:rPr>
              <a:t>menu</a:t>
            </a:r>
            <a:r>
              <a:rPr lang="en-US" dirty="0">
                <a:latin typeface="Times New Roman" pitchFamily="18" charset="0"/>
                <a:cs typeface="Times New Roman" pitchFamily="18" charset="0"/>
              </a:rPr>
              <a:t>.</a:t>
            </a:r>
          </a:p>
          <a:p>
            <a:pPr algn="just" fontAlgn="base"/>
            <a:r>
              <a:rPr lang="en-US" dirty="0">
                <a:latin typeface="Times New Roman" pitchFamily="18" charset="0"/>
                <a:cs typeface="Times New Roman" pitchFamily="18" charset="0"/>
              </a:rPr>
              <a:t>To create xml resource file simply right-click on </a:t>
            </a:r>
            <a:r>
              <a:rPr lang="en-US" b="1" dirty="0">
                <a:latin typeface="Times New Roman" pitchFamily="18" charset="0"/>
                <a:cs typeface="Times New Roman" pitchFamily="18" charset="0"/>
              </a:rPr>
              <a:t>menu</a:t>
            </a:r>
            <a:r>
              <a:rPr lang="en-US" dirty="0">
                <a:latin typeface="Times New Roman" pitchFamily="18" charset="0"/>
                <a:cs typeface="Times New Roman" pitchFamily="18" charset="0"/>
              </a:rPr>
              <a:t> folder and navigate to </a:t>
            </a:r>
            <a:r>
              <a:rPr lang="en-US" b="1" dirty="0">
                <a:latin typeface="Times New Roman" pitchFamily="18" charset="0"/>
                <a:cs typeface="Times New Roman" pitchFamily="18" charset="0"/>
              </a:rPr>
              <a:t>New &gt; Menu Resource File. </a:t>
            </a:r>
            <a:endParaRPr lang="en-US" b="1" dirty="0" smtClean="0">
              <a:latin typeface="Times New Roman" pitchFamily="18" charset="0"/>
              <a:cs typeface="Times New Roman" pitchFamily="18" charset="0"/>
            </a:endParaRPr>
          </a:p>
          <a:p>
            <a:pPr algn="just" fontAlgn="base"/>
            <a:r>
              <a:rPr lang="en-US" dirty="0" smtClean="0">
                <a:latin typeface="Times New Roman" pitchFamily="18" charset="0"/>
                <a:cs typeface="Times New Roman" pitchFamily="18" charset="0"/>
              </a:rPr>
              <a:t>Give </a:t>
            </a:r>
            <a:r>
              <a:rPr lang="en-US" dirty="0">
                <a:latin typeface="Times New Roman" pitchFamily="18" charset="0"/>
                <a:cs typeface="Times New Roman" pitchFamily="18" charset="0"/>
              </a:rPr>
              <a:t>name of file as </a:t>
            </a:r>
            <a:r>
              <a:rPr lang="en-US" b="1" dirty="0" err="1">
                <a:latin typeface="Times New Roman" pitchFamily="18" charset="0"/>
                <a:cs typeface="Times New Roman" pitchFamily="18" charset="0"/>
              </a:rPr>
              <a:t>menu_example</a:t>
            </a:r>
            <a:r>
              <a:rPr lang="en-US" dirty="0">
                <a:latin typeface="Times New Roman" pitchFamily="18" charset="0"/>
                <a:cs typeface="Times New Roman" pitchFamily="18" charset="0"/>
              </a:rPr>
              <a:t>. One </a:t>
            </a:r>
            <a:r>
              <a:rPr lang="en-US" b="1" dirty="0">
                <a:latin typeface="Times New Roman" pitchFamily="18" charset="0"/>
                <a:cs typeface="Times New Roman" pitchFamily="18" charset="0"/>
              </a:rPr>
              <a:t>menu_example.xml</a:t>
            </a:r>
            <a:r>
              <a:rPr lang="en-US" dirty="0">
                <a:latin typeface="Times New Roman" pitchFamily="18" charset="0"/>
                <a:cs typeface="Times New Roman" pitchFamily="18" charset="0"/>
              </a:rPr>
              <a:t> file will be created under </a:t>
            </a:r>
            <a:r>
              <a:rPr lang="en-US" b="1" dirty="0">
                <a:latin typeface="Times New Roman" pitchFamily="18" charset="0"/>
                <a:cs typeface="Times New Roman" pitchFamily="18" charset="0"/>
              </a:rPr>
              <a:t>menu </a:t>
            </a:r>
            <a:r>
              <a:rPr lang="en-US" dirty="0">
                <a:latin typeface="Times New Roman" pitchFamily="18" charset="0"/>
                <a:cs typeface="Times New Roman" pitchFamily="18" charset="0"/>
              </a:rPr>
              <a:t>folder.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menu_example.xml</a:t>
            </a:r>
            <a:r>
              <a:rPr lang="en-US" dirty="0"/>
              <a:t>:</a:t>
            </a:r>
          </a:p>
        </p:txBody>
      </p:sp>
      <p:sp>
        <p:nvSpPr>
          <p:cNvPr id="3" name="Content Placeholder 2"/>
          <p:cNvSpPr>
            <a:spLocks noGrp="1"/>
          </p:cNvSpPr>
          <p:nvPr>
            <p:ph idx="1"/>
          </p:nvPr>
        </p:nvSpPr>
        <p:spPr>
          <a:xfrm>
            <a:off x="142844" y="1571612"/>
            <a:ext cx="8858312" cy="4554551"/>
          </a:xfrm>
        </p:spPr>
        <p:txBody>
          <a:bodyPr>
            <a:normAutofit/>
          </a:bodyPr>
          <a:lstStyle/>
          <a:p>
            <a:pPr>
              <a:buNone/>
            </a:pPr>
            <a:r>
              <a:rPr lang="en-US" sz="2000" dirty="0">
                <a:latin typeface="Times New Roman" pitchFamily="18" charset="0"/>
                <a:cs typeface="Times New Roman" pitchFamily="18" charset="0"/>
              </a:rPr>
              <a:t>&lt;?xml version="1.0" encoding="utf-8</a:t>
            </a:r>
            <a:r>
              <a:rPr lang="en-US" sz="2000" dirty="0" smtClean="0">
                <a:latin typeface="Times New Roman" pitchFamily="18" charset="0"/>
                <a:cs typeface="Times New Roman" pitchFamily="18" charset="0"/>
              </a:rPr>
              <a:t>"?&gt;</a:t>
            </a:r>
          </a:p>
          <a:p>
            <a:pPr>
              <a:buNone/>
            </a:pPr>
            <a:r>
              <a:rPr lang="en-US" sz="2000" dirty="0" smtClean="0">
                <a:latin typeface="Times New Roman" pitchFamily="18" charset="0"/>
                <a:cs typeface="Times New Roman" pitchFamily="18" charset="0"/>
              </a:rPr>
              <a:t> </a:t>
            </a:r>
            <a:r>
              <a:rPr lang="en-US" sz="2000" b="1" dirty="0">
                <a:latin typeface="Times New Roman" pitchFamily="18" charset="0"/>
                <a:cs typeface="Times New Roman" pitchFamily="18" charset="0"/>
              </a:rPr>
              <a:t>&lt;menu</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xmlns:android</a:t>
            </a:r>
            <a:r>
              <a:rPr lang="en-US" sz="2000" dirty="0">
                <a:latin typeface="Times New Roman" pitchFamily="18" charset="0"/>
                <a:cs typeface="Times New Roman" pitchFamily="18" charset="0"/>
              </a:rPr>
              <a:t>="http://schemas.android.com/apk/res/android"</a:t>
            </a:r>
            <a:r>
              <a:rPr lang="en-US" sz="2000" b="1" dirty="0">
                <a:latin typeface="Times New Roman" pitchFamily="18" charset="0"/>
                <a:cs typeface="Times New Roman" pitchFamily="18" charset="0"/>
              </a:rPr>
              <a:t>&gt;</a:t>
            </a:r>
            <a:r>
              <a:rPr lang="en-US" sz="2000" dirty="0" smtClean="0">
                <a:latin typeface="Times New Roman" pitchFamily="18" charset="0"/>
                <a:cs typeface="Times New Roman" pitchFamily="18" charset="0"/>
              </a:rPr>
              <a:t> </a:t>
            </a:r>
          </a:p>
          <a:p>
            <a:pPr>
              <a:buNone/>
            </a:pPr>
            <a:r>
              <a:rPr lang="en-US" sz="2000" b="1" dirty="0" smtClean="0">
                <a:latin typeface="Times New Roman" pitchFamily="18" charset="0"/>
                <a:cs typeface="Times New Roman" pitchFamily="18" charset="0"/>
              </a:rPr>
              <a:t>&lt;</a:t>
            </a:r>
            <a:r>
              <a:rPr lang="en-US" sz="2000" b="1" dirty="0">
                <a:latin typeface="Times New Roman" pitchFamily="18" charset="0"/>
                <a:cs typeface="Times New Roman" pitchFamily="18" charset="0"/>
              </a:rPr>
              <a:t>item</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android:id</a:t>
            </a:r>
            <a:r>
              <a:rPr lang="en-US" sz="2000" dirty="0">
                <a:latin typeface="Times New Roman" pitchFamily="18" charset="0"/>
                <a:cs typeface="Times New Roman" pitchFamily="18" charset="0"/>
              </a:rPr>
              <a:t>="@+id/mail"</a:t>
            </a:r>
            <a:r>
              <a:rPr lang="en-US" sz="2000" dirty="0" smtClean="0">
                <a:latin typeface="Times New Roman" pitchFamily="18" charset="0"/>
                <a:cs typeface="Times New Roman" pitchFamily="18" charset="0"/>
              </a:rPr>
              <a:t> </a:t>
            </a:r>
            <a:r>
              <a:rPr lang="en-US" sz="2000" dirty="0" err="1">
                <a:latin typeface="Times New Roman" pitchFamily="18" charset="0"/>
                <a:cs typeface="Times New Roman" pitchFamily="18" charset="0"/>
              </a:rPr>
              <a:t>android:icon</a:t>
            </a:r>
            <a:r>
              <a:rPr lang="en-US" sz="2000" dirty="0">
                <a:latin typeface="Times New Roman" pitchFamily="18" charset="0"/>
                <a:cs typeface="Times New Roman" pitchFamily="18" charset="0"/>
              </a:rPr>
              <a:t>="@</a:t>
            </a:r>
            <a:r>
              <a:rPr lang="en-US" sz="2000" dirty="0" err="1">
                <a:latin typeface="Times New Roman" pitchFamily="18" charset="0"/>
                <a:cs typeface="Times New Roman" pitchFamily="18" charset="0"/>
              </a:rPr>
              <a:t>drawable</a:t>
            </a:r>
            <a:r>
              <a:rPr lang="en-US" sz="2000" dirty="0">
                <a:latin typeface="Times New Roman" pitchFamily="18" charset="0"/>
                <a:cs typeface="Times New Roman" pitchFamily="18" charset="0"/>
              </a:rPr>
              <a:t>/mail"</a:t>
            </a:r>
            <a:r>
              <a:rPr lang="en-US" sz="2000" dirty="0" smtClean="0">
                <a:latin typeface="Times New Roman" pitchFamily="18" charset="0"/>
                <a:cs typeface="Times New Roman" pitchFamily="18" charset="0"/>
              </a:rPr>
              <a:t> </a:t>
            </a:r>
            <a:r>
              <a:rPr lang="en-US" sz="2000" dirty="0" err="1">
                <a:latin typeface="Times New Roman" pitchFamily="18" charset="0"/>
                <a:cs typeface="Times New Roman" pitchFamily="18" charset="0"/>
              </a:rPr>
              <a:t>android:title</a:t>
            </a:r>
            <a:r>
              <a:rPr lang="en-US" sz="2000" dirty="0">
                <a:latin typeface="Times New Roman" pitchFamily="18" charset="0"/>
                <a:cs typeface="Times New Roman" pitchFamily="18" charset="0"/>
              </a:rPr>
              <a:t>="Mail" </a:t>
            </a:r>
            <a:r>
              <a:rPr lang="en-US" sz="2000" b="1" dirty="0">
                <a:latin typeface="Times New Roman" pitchFamily="18" charset="0"/>
                <a:cs typeface="Times New Roman" pitchFamily="18" charset="0"/>
              </a:rPr>
              <a:t>/&gt;</a:t>
            </a:r>
            <a:r>
              <a:rPr lang="en-US" sz="2000" dirty="0" smtClean="0">
                <a:latin typeface="Times New Roman" pitchFamily="18" charset="0"/>
                <a:cs typeface="Times New Roman" pitchFamily="18" charset="0"/>
              </a:rPr>
              <a:t> </a:t>
            </a:r>
          </a:p>
          <a:p>
            <a:pPr>
              <a:buNone/>
            </a:pPr>
            <a:r>
              <a:rPr lang="en-US" sz="2000" b="1" dirty="0" smtClean="0">
                <a:latin typeface="Times New Roman" pitchFamily="18" charset="0"/>
                <a:cs typeface="Times New Roman" pitchFamily="18" charset="0"/>
              </a:rPr>
              <a:t>&lt;</a:t>
            </a:r>
            <a:r>
              <a:rPr lang="en-US" sz="2000" b="1" dirty="0">
                <a:latin typeface="Times New Roman" pitchFamily="18" charset="0"/>
                <a:cs typeface="Times New Roman" pitchFamily="18" charset="0"/>
              </a:rPr>
              <a:t>item</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android:id</a:t>
            </a:r>
            <a:r>
              <a:rPr lang="en-US" sz="2000" dirty="0">
                <a:latin typeface="Times New Roman" pitchFamily="18" charset="0"/>
                <a:cs typeface="Times New Roman" pitchFamily="18" charset="0"/>
              </a:rPr>
              <a:t>="@+id/upload"</a:t>
            </a:r>
            <a:r>
              <a:rPr lang="en-US" sz="2000" dirty="0" smtClean="0">
                <a:latin typeface="Times New Roman" pitchFamily="18" charset="0"/>
                <a:cs typeface="Times New Roman" pitchFamily="18" charset="0"/>
              </a:rPr>
              <a:t> </a:t>
            </a:r>
            <a:r>
              <a:rPr lang="en-US" sz="2000" dirty="0" err="1">
                <a:latin typeface="Times New Roman" pitchFamily="18" charset="0"/>
                <a:cs typeface="Times New Roman" pitchFamily="18" charset="0"/>
              </a:rPr>
              <a:t>android:icon</a:t>
            </a:r>
            <a:r>
              <a:rPr lang="en-US" sz="2000" dirty="0">
                <a:latin typeface="Times New Roman" pitchFamily="18" charset="0"/>
                <a:cs typeface="Times New Roman" pitchFamily="18" charset="0"/>
              </a:rPr>
              <a:t>="@</a:t>
            </a:r>
            <a:r>
              <a:rPr lang="en-US" sz="2000" dirty="0" err="1">
                <a:latin typeface="Times New Roman" pitchFamily="18" charset="0"/>
                <a:cs typeface="Times New Roman" pitchFamily="18" charset="0"/>
              </a:rPr>
              <a:t>drawable</a:t>
            </a:r>
            <a:r>
              <a:rPr lang="en-US" sz="2000" dirty="0">
                <a:latin typeface="Times New Roman" pitchFamily="18" charset="0"/>
                <a:cs typeface="Times New Roman" pitchFamily="18" charset="0"/>
              </a:rPr>
              <a:t>/upload"</a:t>
            </a:r>
            <a:r>
              <a:rPr lang="en-US" sz="2000" dirty="0" smtClean="0">
                <a:latin typeface="Times New Roman" pitchFamily="18" charset="0"/>
                <a:cs typeface="Times New Roman" pitchFamily="18" charset="0"/>
              </a:rPr>
              <a:t> </a:t>
            </a:r>
            <a:r>
              <a:rPr lang="en-US" sz="2000" dirty="0" err="1">
                <a:latin typeface="Times New Roman" pitchFamily="18" charset="0"/>
                <a:cs typeface="Times New Roman" pitchFamily="18" charset="0"/>
              </a:rPr>
              <a:t>android:title</a:t>
            </a:r>
            <a:r>
              <a:rPr lang="en-US" sz="2000" dirty="0">
                <a:latin typeface="Times New Roman" pitchFamily="18" charset="0"/>
                <a:cs typeface="Times New Roman" pitchFamily="18" charset="0"/>
              </a:rPr>
              <a:t>="Upload"</a:t>
            </a:r>
            <a:r>
              <a:rPr lang="en-US" sz="2000" dirty="0" smtClean="0">
                <a:latin typeface="Times New Roman" pitchFamily="18" charset="0"/>
                <a:cs typeface="Times New Roman" pitchFamily="18" charset="0"/>
              </a:rPr>
              <a:t> </a:t>
            </a:r>
            <a:r>
              <a:rPr lang="en-US" sz="2000" b="1" dirty="0">
                <a:latin typeface="Times New Roman" pitchFamily="18" charset="0"/>
                <a:cs typeface="Times New Roman" pitchFamily="18" charset="0"/>
              </a:rPr>
              <a:t>/&gt;</a:t>
            </a:r>
            <a:r>
              <a:rPr lang="en-US" sz="2000" dirty="0" smtClean="0">
                <a:latin typeface="Times New Roman" pitchFamily="18" charset="0"/>
                <a:cs typeface="Times New Roman" pitchFamily="18" charset="0"/>
              </a:rPr>
              <a:t> </a:t>
            </a:r>
          </a:p>
          <a:p>
            <a:pPr>
              <a:buNone/>
            </a:pPr>
            <a:r>
              <a:rPr lang="en-US" sz="2000" b="1" dirty="0" smtClean="0">
                <a:latin typeface="Times New Roman" pitchFamily="18" charset="0"/>
                <a:cs typeface="Times New Roman" pitchFamily="18" charset="0"/>
              </a:rPr>
              <a:t>&lt;</a:t>
            </a:r>
            <a:r>
              <a:rPr lang="en-US" sz="2000" b="1" dirty="0">
                <a:latin typeface="Times New Roman" pitchFamily="18" charset="0"/>
                <a:cs typeface="Times New Roman" pitchFamily="18" charset="0"/>
              </a:rPr>
              <a:t>item</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android:id</a:t>
            </a:r>
            <a:r>
              <a:rPr lang="en-US" sz="2000" dirty="0">
                <a:latin typeface="Times New Roman" pitchFamily="18" charset="0"/>
                <a:cs typeface="Times New Roman" pitchFamily="18" charset="0"/>
              </a:rPr>
              <a:t>="@+id/share"</a:t>
            </a:r>
            <a:r>
              <a:rPr lang="en-US" sz="2000" dirty="0" smtClean="0">
                <a:latin typeface="Times New Roman" pitchFamily="18" charset="0"/>
                <a:cs typeface="Times New Roman" pitchFamily="18" charset="0"/>
              </a:rPr>
              <a:t> </a:t>
            </a:r>
            <a:r>
              <a:rPr lang="en-US" sz="2000" dirty="0" err="1">
                <a:latin typeface="Times New Roman" pitchFamily="18" charset="0"/>
                <a:cs typeface="Times New Roman" pitchFamily="18" charset="0"/>
              </a:rPr>
              <a:t>android:icon</a:t>
            </a:r>
            <a:r>
              <a:rPr lang="en-US" sz="2000" dirty="0">
                <a:latin typeface="Times New Roman" pitchFamily="18" charset="0"/>
                <a:cs typeface="Times New Roman" pitchFamily="18" charset="0"/>
              </a:rPr>
              <a:t>="@</a:t>
            </a:r>
            <a:r>
              <a:rPr lang="en-US" sz="2000" dirty="0" err="1" smtClean="0">
                <a:latin typeface="Times New Roman" pitchFamily="18" charset="0"/>
                <a:cs typeface="Times New Roman" pitchFamily="18" charset="0"/>
              </a:rPr>
              <a:t>drawable</a:t>
            </a:r>
            <a:r>
              <a:rPr lang="en-US" sz="2000" dirty="0" smtClean="0">
                <a:latin typeface="Times New Roman" pitchFamily="18" charset="0"/>
                <a:cs typeface="Times New Roman" pitchFamily="18" charset="0"/>
              </a:rPr>
              <a:t>/share" </a:t>
            </a:r>
            <a:r>
              <a:rPr lang="en-US" sz="2000" dirty="0" err="1" smtClean="0">
                <a:latin typeface="Times New Roman" pitchFamily="18" charset="0"/>
                <a:cs typeface="Times New Roman" pitchFamily="18" charset="0"/>
              </a:rPr>
              <a:t>android:title</a:t>
            </a:r>
            <a:r>
              <a:rPr lang="en-US" sz="2000" dirty="0">
                <a:latin typeface="Times New Roman" pitchFamily="18" charset="0"/>
                <a:cs typeface="Times New Roman" pitchFamily="18" charset="0"/>
              </a:rPr>
              <a:t>="Share" </a:t>
            </a:r>
            <a:r>
              <a:rPr lang="en-US" sz="2000" b="1" dirty="0">
                <a:latin typeface="Times New Roman" pitchFamily="18" charset="0"/>
                <a:cs typeface="Times New Roman" pitchFamily="18" charset="0"/>
              </a:rPr>
              <a:t>/&gt;</a:t>
            </a:r>
            <a:r>
              <a:rPr lang="en-US" sz="2000" dirty="0" smtClean="0">
                <a:latin typeface="Times New Roman" pitchFamily="18" charset="0"/>
                <a:cs typeface="Times New Roman" pitchFamily="18" charset="0"/>
              </a:rPr>
              <a:t> </a:t>
            </a:r>
          </a:p>
          <a:p>
            <a:pPr>
              <a:buNone/>
            </a:pPr>
            <a:r>
              <a:rPr lang="en-US" sz="2000" b="1" dirty="0" smtClean="0">
                <a:latin typeface="Times New Roman" pitchFamily="18" charset="0"/>
                <a:cs typeface="Times New Roman" pitchFamily="18" charset="0"/>
              </a:rPr>
              <a:t>&lt;/</a:t>
            </a:r>
            <a:r>
              <a:rPr lang="en-US" sz="2000" b="1" dirty="0">
                <a:latin typeface="Times New Roman" pitchFamily="18" charset="0"/>
                <a:cs typeface="Times New Roman" pitchFamily="18" charset="0"/>
              </a:rPr>
              <a:t>menu&gt;</a:t>
            </a:r>
            <a:endParaRPr lang="en-US" sz="2000"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Different type of tags:</a:t>
            </a:r>
            <a:br>
              <a:rPr lang="en-US" b="1" dirty="0" smtClean="0"/>
            </a:br>
            <a:endParaRPr lang="en-US" dirty="0"/>
          </a:p>
        </p:txBody>
      </p:sp>
      <p:sp>
        <p:nvSpPr>
          <p:cNvPr id="3" name="Content Placeholder 2"/>
          <p:cNvSpPr>
            <a:spLocks noGrp="1"/>
          </p:cNvSpPr>
          <p:nvPr>
            <p:ph idx="1"/>
          </p:nvPr>
        </p:nvSpPr>
        <p:spPr/>
        <p:txBody>
          <a:bodyPr>
            <a:normAutofit fontScale="92500"/>
          </a:bodyPr>
          <a:lstStyle/>
          <a:p>
            <a:pPr algn="just" fontAlgn="base"/>
            <a:r>
              <a:rPr lang="en-US" b="1" dirty="0" smtClean="0">
                <a:latin typeface="Times New Roman" pitchFamily="18" charset="0"/>
                <a:cs typeface="Times New Roman" pitchFamily="18" charset="0"/>
              </a:rPr>
              <a:t>&lt;</a:t>
            </a:r>
            <a:r>
              <a:rPr lang="en-US" b="1" dirty="0">
                <a:latin typeface="Times New Roman" pitchFamily="18" charset="0"/>
                <a:cs typeface="Times New Roman" pitchFamily="18" charset="0"/>
              </a:rPr>
              <a:t>menu&gt;: </a:t>
            </a:r>
            <a:r>
              <a:rPr lang="en-US" dirty="0">
                <a:latin typeface="Times New Roman" pitchFamily="18" charset="0"/>
                <a:cs typeface="Times New Roman" pitchFamily="18" charset="0"/>
              </a:rPr>
              <a:t>It is the root element that helps in defining Menu in XML file and it also holds multiple elements.</a:t>
            </a:r>
          </a:p>
          <a:p>
            <a:pPr algn="just" fontAlgn="base"/>
            <a:r>
              <a:rPr lang="en-US" b="1" dirty="0">
                <a:latin typeface="Times New Roman" pitchFamily="18" charset="0"/>
                <a:cs typeface="Times New Roman" pitchFamily="18" charset="0"/>
              </a:rPr>
              <a:t>&lt;item&gt;: </a:t>
            </a:r>
            <a:r>
              <a:rPr lang="en-US" dirty="0">
                <a:latin typeface="Times New Roman" pitchFamily="18" charset="0"/>
                <a:cs typeface="Times New Roman" pitchFamily="18" charset="0"/>
              </a:rPr>
              <a:t>It is used to create a single item in the menu. It also contains nested &lt;menu&gt; element in order to create a submenu.</a:t>
            </a:r>
          </a:p>
          <a:p>
            <a:pPr algn="just" fontAlgn="base"/>
            <a:r>
              <a:rPr lang="en-US" b="1" dirty="0">
                <a:latin typeface="Times New Roman" pitchFamily="18" charset="0"/>
                <a:cs typeface="Times New Roman" pitchFamily="18" charset="0"/>
              </a:rPr>
              <a:t>&lt;group&gt;: </a:t>
            </a:r>
            <a:r>
              <a:rPr lang="en-US" dirty="0">
                <a:latin typeface="Times New Roman" pitchFamily="18" charset="0"/>
                <a:cs typeface="Times New Roman" pitchFamily="18" charset="0"/>
              </a:rPr>
              <a:t>It is optional and invisible for &lt;item&gt; elements to categorize the menu items so they can share properties like active state, and visibility.</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Sub Menu</a:t>
            </a:r>
            <a:br>
              <a:rPr lang="en-US" b="1" dirty="0" smtClean="0"/>
            </a:br>
            <a:endParaRPr lang="en-US" dirty="0"/>
          </a:p>
        </p:txBody>
      </p:sp>
      <p:sp>
        <p:nvSpPr>
          <p:cNvPr id="3" name="Content Placeholder 2"/>
          <p:cNvSpPr>
            <a:spLocks noGrp="1"/>
          </p:cNvSpPr>
          <p:nvPr>
            <p:ph idx="1"/>
          </p:nvPr>
        </p:nvSpPr>
        <p:spPr>
          <a:xfrm>
            <a:off x="285720" y="1000108"/>
            <a:ext cx="8401080" cy="5126055"/>
          </a:xfrm>
        </p:spPr>
        <p:txBody>
          <a:bodyPr>
            <a:normAutofit fontScale="47500" lnSpcReduction="20000"/>
          </a:bodyPr>
          <a:lstStyle/>
          <a:p>
            <a:pPr fontAlgn="base"/>
            <a:r>
              <a:rPr lang="en-US" b="1" dirty="0" smtClean="0"/>
              <a:t>To </a:t>
            </a:r>
            <a:r>
              <a:rPr lang="en-US" b="1" dirty="0"/>
              <a:t>add a submenu in menu item, we need to add a &lt;menu&gt; element as the child of an &lt;</a:t>
            </a:r>
            <a:r>
              <a:rPr lang="en-US" b="1" dirty="0" smtClean="0"/>
              <a:t>item&gt;</a:t>
            </a:r>
          </a:p>
          <a:p>
            <a:pPr fontAlgn="base">
              <a:buNone/>
            </a:pPr>
            <a:endParaRPr lang="en-US" b="1" dirty="0" smtClean="0"/>
          </a:p>
          <a:p>
            <a:pPr fontAlgn="base">
              <a:buNone/>
            </a:pPr>
            <a:r>
              <a:rPr lang="en-US" b="1" dirty="0" smtClean="0"/>
              <a:t>&lt;?xml version="1.0" encoding="utf-8"?&gt;</a:t>
            </a:r>
          </a:p>
          <a:p>
            <a:pPr fontAlgn="base">
              <a:buNone/>
            </a:pPr>
            <a:r>
              <a:rPr lang="en-US" b="1" dirty="0" smtClean="0"/>
              <a:t>&lt;menu </a:t>
            </a:r>
          </a:p>
          <a:p>
            <a:pPr fontAlgn="base">
              <a:buNone/>
            </a:pPr>
            <a:r>
              <a:rPr lang="en-US" b="1" dirty="0" smtClean="0"/>
              <a:t>    </a:t>
            </a:r>
            <a:r>
              <a:rPr lang="en-US" b="1" dirty="0" err="1" smtClean="0"/>
              <a:t>xmlns:android</a:t>
            </a:r>
            <a:r>
              <a:rPr lang="en-US" b="1" dirty="0" smtClean="0"/>
              <a:t>="http://schemas.android.com/apk/res/android"&gt;</a:t>
            </a:r>
          </a:p>
          <a:p>
            <a:pPr fontAlgn="base">
              <a:buNone/>
            </a:pPr>
            <a:r>
              <a:rPr lang="en-US" b="1" dirty="0" smtClean="0"/>
              <a:t>    &lt;item </a:t>
            </a:r>
          </a:p>
          <a:p>
            <a:pPr fontAlgn="base">
              <a:buNone/>
            </a:pPr>
            <a:r>
              <a:rPr lang="en-US" b="1" dirty="0" smtClean="0"/>
              <a:t>        </a:t>
            </a:r>
            <a:r>
              <a:rPr lang="en-US" b="1" dirty="0" err="1" smtClean="0"/>
              <a:t>android:id</a:t>
            </a:r>
            <a:r>
              <a:rPr lang="en-US" b="1" dirty="0" smtClean="0"/>
              <a:t>="@+id/file"</a:t>
            </a:r>
          </a:p>
          <a:p>
            <a:pPr fontAlgn="base">
              <a:buNone/>
            </a:pPr>
            <a:r>
              <a:rPr lang="en-US" b="1" dirty="0" smtClean="0"/>
              <a:t>        </a:t>
            </a:r>
            <a:r>
              <a:rPr lang="en-US" b="1" dirty="0" err="1" smtClean="0"/>
              <a:t>android:title</a:t>
            </a:r>
            <a:r>
              <a:rPr lang="en-US" b="1" dirty="0" smtClean="0"/>
              <a:t>="File" &gt;</a:t>
            </a:r>
          </a:p>
          <a:p>
            <a:pPr fontAlgn="base">
              <a:buNone/>
            </a:pPr>
            <a:r>
              <a:rPr lang="en-US" b="1" dirty="0" smtClean="0"/>
              <a:t>        </a:t>
            </a:r>
          </a:p>
          <a:p>
            <a:pPr fontAlgn="base">
              <a:buNone/>
            </a:pPr>
            <a:r>
              <a:rPr lang="en-US" b="1" dirty="0" smtClean="0"/>
              <a:t>        &lt;!-- "File" submenu --&gt;</a:t>
            </a:r>
          </a:p>
          <a:p>
            <a:pPr fontAlgn="base">
              <a:buNone/>
            </a:pPr>
            <a:r>
              <a:rPr lang="en-US" b="1" dirty="0" smtClean="0"/>
              <a:t>        &lt;menu&gt;</a:t>
            </a:r>
          </a:p>
          <a:p>
            <a:pPr fontAlgn="base">
              <a:buNone/>
            </a:pPr>
            <a:r>
              <a:rPr lang="en-US" b="1" dirty="0" smtClean="0"/>
              <a:t>            &lt;item </a:t>
            </a:r>
          </a:p>
          <a:p>
            <a:pPr fontAlgn="base">
              <a:buNone/>
            </a:pPr>
            <a:r>
              <a:rPr lang="en-US" b="1" dirty="0" smtClean="0"/>
              <a:t>                </a:t>
            </a:r>
            <a:r>
              <a:rPr lang="en-US" b="1" dirty="0" err="1" smtClean="0"/>
              <a:t>android:id</a:t>
            </a:r>
            <a:r>
              <a:rPr lang="en-US" b="1" dirty="0" smtClean="0"/>
              <a:t>="@+id/</a:t>
            </a:r>
            <a:r>
              <a:rPr lang="en-US" b="1" dirty="0" err="1" smtClean="0"/>
              <a:t>create_new</a:t>
            </a:r>
            <a:r>
              <a:rPr lang="en-US" b="1" dirty="0" smtClean="0"/>
              <a:t>"</a:t>
            </a:r>
          </a:p>
          <a:p>
            <a:pPr fontAlgn="base">
              <a:buNone/>
            </a:pPr>
            <a:r>
              <a:rPr lang="en-US" b="1" dirty="0" smtClean="0"/>
              <a:t>                </a:t>
            </a:r>
            <a:r>
              <a:rPr lang="en-US" b="1" dirty="0" err="1" smtClean="0"/>
              <a:t>android:title</a:t>
            </a:r>
            <a:r>
              <a:rPr lang="en-US" b="1" dirty="0" smtClean="0"/>
              <a:t>="Create New" </a:t>
            </a:r>
          </a:p>
          <a:p>
            <a:pPr fontAlgn="base">
              <a:buNone/>
            </a:pPr>
            <a:r>
              <a:rPr lang="en-US" b="1" dirty="0" smtClean="0"/>
              <a:t>                /&gt;</a:t>
            </a:r>
          </a:p>
          <a:p>
            <a:pPr fontAlgn="base">
              <a:buNone/>
            </a:pPr>
            <a:r>
              <a:rPr lang="en-US" b="1" dirty="0" smtClean="0"/>
              <a:t>            &lt;item </a:t>
            </a:r>
          </a:p>
          <a:p>
            <a:pPr fontAlgn="base">
              <a:buNone/>
            </a:pPr>
            <a:r>
              <a:rPr lang="en-US" b="1" dirty="0" smtClean="0"/>
              <a:t>                </a:t>
            </a:r>
            <a:r>
              <a:rPr lang="en-US" b="1" dirty="0" err="1" smtClean="0"/>
              <a:t>android:id</a:t>
            </a:r>
            <a:r>
              <a:rPr lang="en-US" b="1" dirty="0" smtClean="0"/>
              <a:t>="@+id/open"</a:t>
            </a:r>
          </a:p>
          <a:p>
            <a:pPr fontAlgn="base">
              <a:buNone/>
            </a:pPr>
            <a:r>
              <a:rPr lang="en-US" b="1" dirty="0" smtClean="0"/>
              <a:t>                </a:t>
            </a:r>
            <a:r>
              <a:rPr lang="en-US" b="1" dirty="0" err="1" smtClean="0"/>
              <a:t>android:title</a:t>
            </a:r>
            <a:r>
              <a:rPr lang="en-US" b="1" dirty="0" smtClean="0"/>
              <a:t>="Open" </a:t>
            </a:r>
          </a:p>
          <a:p>
            <a:pPr fontAlgn="base">
              <a:buNone/>
            </a:pPr>
            <a:r>
              <a:rPr lang="en-US" b="1" dirty="0" smtClean="0"/>
              <a:t>                /&gt;</a:t>
            </a:r>
          </a:p>
          <a:p>
            <a:pPr fontAlgn="base">
              <a:buNone/>
            </a:pPr>
            <a:r>
              <a:rPr lang="en-US" b="1" dirty="0" smtClean="0"/>
              <a:t>        &lt;/menu&gt;</a:t>
            </a:r>
          </a:p>
          <a:p>
            <a:pPr fontAlgn="base">
              <a:buNone/>
            </a:pPr>
            <a:r>
              <a:rPr lang="en-US" b="1" dirty="0" smtClean="0"/>
              <a:t>    &lt;/item&gt;</a:t>
            </a:r>
          </a:p>
          <a:p>
            <a:pPr fontAlgn="base">
              <a:buNone/>
            </a:pPr>
            <a:r>
              <a:rPr lang="en-US" b="1" dirty="0" smtClean="0"/>
              <a:t>&lt;/menu&gt;</a:t>
            </a:r>
            <a:endParaRPr lang="en-US"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Inflate the Menu in your </a:t>
            </a:r>
            <a:r>
              <a:rPr lang="en-US" dirty="0" smtClean="0"/>
              <a:t>Activity</a:t>
            </a:r>
            <a:endParaRPr lang="en-US" dirty="0"/>
          </a:p>
        </p:txBody>
      </p:sp>
      <p:sp>
        <p:nvSpPr>
          <p:cNvPr id="3" name="Content Placeholder 2"/>
          <p:cNvSpPr>
            <a:spLocks noGrp="1"/>
          </p:cNvSpPr>
          <p:nvPr>
            <p:ph idx="1"/>
          </p:nvPr>
        </p:nvSpPr>
        <p:spPr/>
        <p:txBody>
          <a:bodyPr>
            <a:normAutofit fontScale="47500" lnSpcReduction="20000"/>
          </a:bodyPr>
          <a:lstStyle/>
          <a:p>
            <a:pPr>
              <a:buNone/>
            </a:pPr>
            <a:r>
              <a:rPr lang="en-US" dirty="0">
                <a:latin typeface="Times New Roman" pitchFamily="18" charset="0"/>
                <a:cs typeface="Times New Roman" pitchFamily="18" charset="0"/>
              </a:rPr>
              <a:t>Override the </a:t>
            </a:r>
            <a:r>
              <a:rPr lang="en-US" b="1" dirty="0" err="1" smtClean="0">
                <a:latin typeface="Times New Roman" pitchFamily="18" charset="0"/>
                <a:cs typeface="Times New Roman" pitchFamily="18" charset="0"/>
              </a:rPr>
              <a:t>onCreateOptionsMenu</a:t>
            </a:r>
            <a:r>
              <a:rPr lang="en-US" b="1" dirty="0" smtClean="0">
                <a:latin typeface="Times New Roman" pitchFamily="18" charset="0"/>
                <a:cs typeface="Times New Roman" pitchFamily="18" charset="0"/>
              </a:rPr>
              <a:t>()</a:t>
            </a:r>
            <a:r>
              <a:rPr lang="en-US" dirty="0">
                <a:latin typeface="Times New Roman" pitchFamily="18" charset="0"/>
                <a:cs typeface="Times New Roman" pitchFamily="18" charset="0"/>
              </a:rPr>
              <a:t> method in your activity to inflate the menu </a:t>
            </a:r>
            <a:r>
              <a:rPr lang="en-US" dirty="0" smtClean="0">
                <a:latin typeface="Times New Roman" pitchFamily="18" charset="0"/>
                <a:cs typeface="Times New Roman" pitchFamily="18" charset="0"/>
              </a:rPr>
              <a:t>resource</a:t>
            </a:r>
            <a:r>
              <a:rPr lang="en-US" dirty="0" smtClean="0"/>
              <a:t>.</a:t>
            </a:r>
          </a:p>
          <a:p>
            <a:pPr>
              <a:buNone/>
            </a:pPr>
            <a:endParaRPr lang="en-US" dirty="0"/>
          </a:p>
          <a:p>
            <a:pPr>
              <a:lnSpc>
                <a:spcPct val="170000"/>
              </a:lnSpc>
              <a:buNone/>
            </a:pPr>
            <a:r>
              <a:rPr lang="en-US" dirty="0">
                <a:latin typeface="Times New Roman" pitchFamily="18" charset="0"/>
                <a:cs typeface="Times New Roman" pitchFamily="18" charset="0"/>
              </a:rPr>
              <a:t>import </a:t>
            </a:r>
            <a:r>
              <a:rPr lang="en-US" dirty="0" err="1">
                <a:latin typeface="Times New Roman" pitchFamily="18" charset="0"/>
                <a:cs typeface="Times New Roman" pitchFamily="18" charset="0"/>
              </a:rPr>
              <a:t>android.view.Menu</a:t>
            </a:r>
            <a:r>
              <a:rPr lang="en-US" dirty="0">
                <a:latin typeface="Times New Roman" pitchFamily="18" charset="0"/>
                <a:cs typeface="Times New Roman" pitchFamily="18" charset="0"/>
              </a:rPr>
              <a:t>;</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a:latin typeface="Times New Roman" pitchFamily="18" charset="0"/>
                <a:cs typeface="Times New Roman" pitchFamily="18" charset="0"/>
              </a:rPr>
              <a:t>import </a:t>
            </a:r>
            <a:r>
              <a:rPr lang="en-US" dirty="0" err="1">
                <a:latin typeface="Times New Roman" pitchFamily="18" charset="0"/>
                <a:cs typeface="Times New Roman" pitchFamily="18" charset="0"/>
              </a:rPr>
              <a:t>android.view.MenuInflater</a:t>
            </a:r>
            <a:r>
              <a:rPr lang="en-US" dirty="0">
                <a:latin typeface="Times New Roman" pitchFamily="18" charset="0"/>
                <a:cs typeface="Times New Roman" pitchFamily="18" charset="0"/>
              </a:rPr>
              <a:t>;</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i="1" dirty="0">
                <a:latin typeface="Times New Roman" pitchFamily="18" charset="0"/>
                <a:cs typeface="Times New Roman" pitchFamily="18" charset="0"/>
              </a:rPr>
              <a:t>// ... inside your Activity class</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a:latin typeface="Times New Roman" pitchFamily="18" charset="0"/>
                <a:cs typeface="Times New Roman" pitchFamily="18" charset="0"/>
              </a:rPr>
              <a:t>@Override</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a:latin typeface="Times New Roman" pitchFamily="18" charset="0"/>
                <a:cs typeface="Times New Roman" pitchFamily="18" charset="0"/>
              </a:rPr>
              <a:t>public </a:t>
            </a:r>
            <a:r>
              <a:rPr lang="en-US" dirty="0" err="1">
                <a:latin typeface="Times New Roman" pitchFamily="18" charset="0"/>
                <a:cs typeface="Times New Roman" pitchFamily="18" charset="0"/>
              </a:rPr>
              <a:t>boolean</a:t>
            </a:r>
            <a:r>
              <a:rPr lang="en-US" dirty="0">
                <a:latin typeface="Times New Roman" pitchFamily="18" charset="0"/>
                <a:cs typeface="Times New Roman" pitchFamily="18" charset="0"/>
              </a:rPr>
              <a:t> </a:t>
            </a:r>
            <a:r>
              <a:rPr lang="en-US" b="1" dirty="0" err="1">
                <a:latin typeface="Times New Roman" pitchFamily="18" charset="0"/>
                <a:cs typeface="Times New Roman" pitchFamily="18" charset="0"/>
              </a:rPr>
              <a:t>onCreateOptionsMenu</a:t>
            </a:r>
            <a:r>
              <a:rPr lang="en-US" dirty="0">
                <a:latin typeface="Times New Roman" pitchFamily="18" charset="0"/>
                <a:cs typeface="Times New Roman" pitchFamily="18" charset="0"/>
              </a:rPr>
              <a:t>(Menu </a:t>
            </a:r>
            <a:r>
              <a:rPr lang="en-US" dirty="0" err="1">
                <a:latin typeface="Times New Roman" pitchFamily="18" charset="0"/>
                <a:cs typeface="Times New Roman" pitchFamily="18" charset="0"/>
              </a:rPr>
              <a:t>menu</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err="1">
                <a:latin typeface="Times New Roman" pitchFamily="18" charset="0"/>
                <a:cs typeface="Times New Roman" pitchFamily="18" charset="0"/>
              </a:rPr>
              <a:t>MenuInflater</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inflater</a:t>
            </a:r>
            <a:r>
              <a:rPr lang="en-US" dirty="0">
                <a:latin typeface="Times New Roman" pitchFamily="18" charset="0"/>
                <a:cs typeface="Times New Roman" pitchFamily="18" charset="0"/>
              </a:rPr>
              <a:t> = </a:t>
            </a:r>
            <a:r>
              <a:rPr lang="en-US" b="1" dirty="0" err="1">
                <a:latin typeface="Times New Roman" pitchFamily="18" charset="0"/>
                <a:cs typeface="Times New Roman" pitchFamily="18" charset="0"/>
              </a:rPr>
              <a:t>getMenuInflater</a:t>
            </a:r>
            <a:r>
              <a:rPr lang="en-US" b="1" dirty="0">
                <a:latin typeface="Times New Roman" pitchFamily="18" charset="0"/>
                <a:cs typeface="Times New Roman" pitchFamily="18" charset="0"/>
              </a:rPr>
              <a:t>();</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err="1">
                <a:latin typeface="Times New Roman" pitchFamily="18" charset="0"/>
                <a:cs typeface="Times New Roman" pitchFamily="18" charset="0"/>
              </a:rPr>
              <a:t>inflater.</a:t>
            </a:r>
            <a:r>
              <a:rPr lang="en-US" b="1" dirty="0" err="1">
                <a:latin typeface="Times New Roman" pitchFamily="18" charset="0"/>
                <a:cs typeface="Times New Roman" pitchFamily="18" charset="0"/>
              </a:rPr>
              <a:t>inflate</a:t>
            </a:r>
            <a:r>
              <a:rPr lang="en-US" dirty="0">
                <a:latin typeface="Times New Roman" pitchFamily="18" charset="0"/>
                <a:cs typeface="Times New Roman" pitchFamily="18" charset="0"/>
              </a:rPr>
              <a:t>(</a:t>
            </a:r>
            <a:r>
              <a:rPr lang="en-US" dirty="0" err="1">
                <a:latin typeface="Times New Roman" pitchFamily="18" charset="0"/>
                <a:cs typeface="Times New Roman" pitchFamily="18" charset="0"/>
              </a:rPr>
              <a:t>R.menu.main_menu</a:t>
            </a:r>
            <a:r>
              <a:rPr lang="en-US" dirty="0">
                <a:latin typeface="Times New Roman" pitchFamily="18" charset="0"/>
                <a:cs typeface="Times New Roman" pitchFamily="18" charset="0"/>
              </a:rPr>
              <a:t>, menu);</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a:latin typeface="Times New Roman" pitchFamily="18" charset="0"/>
                <a:cs typeface="Times New Roman" pitchFamily="18" charset="0"/>
              </a:rPr>
              <a:t>return true;</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a:latin typeface="Times New Roman" pitchFamily="18" charset="0"/>
                <a:cs typeface="Times New Roman" pitchFamily="18" charset="0"/>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Handle Menu Item Clicks</a:t>
            </a:r>
          </a:p>
        </p:txBody>
      </p:sp>
      <p:sp>
        <p:nvSpPr>
          <p:cNvPr id="3" name="Content Placeholder 2"/>
          <p:cNvSpPr>
            <a:spLocks noGrp="1"/>
          </p:cNvSpPr>
          <p:nvPr>
            <p:ph idx="1"/>
          </p:nvPr>
        </p:nvSpPr>
        <p:spPr>
          <a:xfrm>
            <a:off x="214282" y="1643050"/>
            <a:ext cx="8715436" cy="5000660"/>
          </a:xfrm>
        </p:spPr>
        <p:txBody>
          <a:bodyPr>
            <a:normAutofit fontScale="55000" lnSpcReduction="20000"/>
          </a:bodyPr>
          <a:lstStyle/>
          <a:p>
            <a:pPr>
              <a:buNone/>
            </a:pPr>
            <a:r>
              <a:rPr lang="en-US" dirty="0" smtClean="0">
                <a:latin typeface="Times New Roman" pitchFamily="18" charset="0"/>
                <a:cs typeface="Times New Roman" pitchFamily="18" charset="0"/>
              </a:rPr>
              <a:t>Override the</a:t>
            </a:r>
            <a:r>
              <a:rPr lang="en-US" b="1" dirty="0">
                <a:latin typeface="Times New Roman" pitchFamily="18" charset="0"/>
                <a:cs typeface="Times New Roman" pitchFamily="18" charset="0"/>
              </a:rPr>
              <a:t> </a:t>
            </a:r>
            <a:r>
              <a:rPr lang="en-US" b="1" dirty="0" err="1" smtClean="0">
                <a:latin typeface="Times New Roman" pitchFamily="18" charset="0"/>
                <a:cs typeface="Times New Roman" pitchFamily="18" charset="0"/>
              </a:rPr>
              <a:t>onOptionsItemSelected</a:t>
            </a:r>
            <a:r>
              <a:rPr lang="en-US" b="1" dirty="0" smtClean="0">
                <a:latin typeface="Times New Roman" pitchFamily="18" charset="0"/>
                <a:cs typeface="Times New Roman" pitchFamily="18" charset="0"/>
              </a:rPr>
              <a:t>()</a:t>
            </a:r>
            <a:r>
              <a:rPr lang="en-US" dirty="0">
                <a:latin typeface="Times New Roman" pitchFamily="18" charset="0"/>
                <a:cs typeface="Times New Roman" pitchFamily="18" charset="0"/>
              </a:rPr>
              <a:t> method to respond to user selections from the options menu</a:t>
            </a:r>
            <a:r>
              <a:rPr lang="en-US" dirty="0" smtClean="0">
                <a:latin typeface="Times New Roman" pitchFamily="18" charset="0"/>
                <a:cs typeface="Times New Roman" pitchFamily="18" charset="0"/>
              </a:rPr>
              <a:t>.</a:t>
            </a:r>
          </a:p>
          <a:p>
            <a:pPr>
              <a:buNone/>
            </a:pPr>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 import </a:t>
            </a:r>
            <a:r>
              <a:rPr lang="en-US" dirty="0" err="1" smtClean="0">
                <a:latin typeface="Times New Roman" pitchFamily="18" charset="0"/>
                <a:cs typeface="Times New Roman" pitchFamily="18" charset="0"/>
              </a:rPr>
              <a:t>android.view.MenuItem</a:t>
            </a: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   // ... inside your Activity class </a:t>
            </a:r>
          </a:p>
          <a:p>
            <a:pPr>
              <a:buNone/>
            </a:pPr>
            <a:r>
              <a:rPr lang="en-US" b="1" dirty="0" smtClean="0">
                <a:latin typeface="Times New Roman" pitchFamily="18" charset="0"/>
                <a:cs typeface="Times New Roman" pitchFamily="18" charset="0"/>
              </a:rPr>
              <a:t>   @Override    </a:t>
            </a:r>
          </a:p>
          <a:p>
            <a:pPr>
              <a:buNone/>
            </a:pPr>
            <a:r>
              <a:rPr lang="en-US" dirty="0" smtClean="0">
                <a:latin typeface="Times New Roman" pitchFamily="18" charset="0"/>
                <a:cs typeface="Times New Roman" pitchFamily="18" charset="0"/>
              </a:rPr>
              <a:t>public </a:t>
            </a:r>
            <a:r>
              <a:rPr lang="en-US" dirty="0" err="1" smtClean="0">
                <a:latin typeface="Times New Roman" pitchFamily="18" charset="0"/>
                <a:cs typeface="Times New Roman" pitchFamily="18" charset="0"/>
              </a:rPr>
              <a:t>boolean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onOptionsItemSelected</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MenuItem</a:t>
            </a:r>
            <a:r>
              <a:rPr lang="en-US" dirty="0" smtClean="0">
                <a:latin typeface="Times New Roman" pitchFamily="18" charset="0"/>
                <a:cs typeface="Times New Roman" pitchFamily="18" charset="0"/>
              </a:rPr>
              <a:t> item) </a:t>
            </a:r>
          </a:p>
          <a:p>
            <a:pPr>
              <a:buNone/>
            </a:pP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 if (</a:t>
            </a:r>
            <a:r>
              <a:rPr lang="en-US" dirty="0" err="1" smtClean="0">
                <a:latin typeface="Times New Roman" pitchFamily="18" charset="0"/>
                <a:cs typeface="Times New Roman" pitchFamily="18" charset="0"/>
              </a:rPr>
              <a:t>item.getItemId</a:t>
            </a:r>
            <a:r>
              <a:rPr lang="en-US" dirty="0" smtClean="0">
                <a:latin typeface="Times New Roman" pitchFamily="18" charset="0"/>
                <a:cs typeface="Times New Roman" pitchFamily="18" charset="0"/>
              </a:rPr>
              <a:t>() == </a:t>
            </a:r>
            <a:r>
              <a:rPr lang="en-US" dirty="0" err="1" smtClean="0">
                <a:latin typeface="Times New Roman" pitchFamily="18" charset="0"/>
                <a:cs typeface="Times New Roman" pitchFamily="18" charset="0"/>
              </a:rPr>
              <a:t>R.id.action_settings</a:t>
            </a:r>
            <a:r>
              <a:rPr lang="en-US" dirty="0" smtClean="0">
                <a:latin typeface="Times New Roman" pitchFamily="18" charset="0"/>
                <a:cs typeface="Times New Roman" pitchFamily="18" charset="0"/>
              </a:rPr>
              <a:t>){          </a:t>
            </a:r>
          </a:p>
          <a:p>
            <a:pPr>
              <a:buNone/>
            </a:pPr>
            <a:r>
              <a:rPr lang="en-US" b="1" dirty="0" smtClean="0">
                <a:latin typeface="Times New Roman" pitchFamily="18" charset="0"/>
                <a:cs typeface="Times New Roman" pitchFamily="18" charset="0"/>
              </a:rPr>
              <a:t>  // Handle settings action          </a:t>
            </a:r>
          </a:p>
          <a:p>
            <a:pPr>
              <a:buNone/>
            </a:pPr>
            <a:r>
              <a:rPr lang="en-US" dirty="0" smtClean="0">
                <a:latin typeface="Times New Roman" pitchFamily="18" charset="0"/>
                <a:cs typeface="Times New Roman" pitchFamily="18" charset="0"/>
              </a:rPr>
              <a:t>     return true;        </a:t>
            </a:r>
          </a:p>
          <a:p>
            <a:pPr>
              <a:buNone/>
            </a:pP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else if (</a:t>
            </a:r>
            <a:r>
              <a:rPr lang="en-US" dirty="0" err="1" smtClean="0">
                <a:latin typeface="Times New Roman" pitchFamily="18" charset="0"/>
                <a:cs typeface="Times New Roman" pitchFamily="18" charset="0"/>
              </a:rPr>
              <a:t>item.getItemId</a:t>
            </a:r>
            <a:r>
              <a:rPr lang="en-US" dirty="0" smtClean="0">
                <a:latin typeface="Times New Roman" pitchFamily="18" charset="0"/>
                <a:cs typeface="Times New Roman" pitchFamily="18" charset="0"/>
              </a:rPr>
              <a:t>() == </a:t>
            </a:r>
            <a:r>
              <a:rPr lang="en-US" dirty="0" err="1" smtClean="0">
                <a:latin typeface="Times New Roman" pitchFamily="18" charset="0"/>
                <a:cs typeface="Times New Roman" pitchFamily="18" charset="0"/>
              </a:rPr>
              <a:t>R.id.action_search</a:t>
            </a:r>
            <a:r>
              <a:rPr lang="en-US" dirty="0" smtClean="0">
                <a:latin typeface="Times New Roman" pitchFamily="18" charset="0"/>
                <a:cs typeface="Times New Roman" pitchFamily="18" charset="0"/>
              </a:rPr>
              <a:t>) {          </a:t>
            </a:r>
          </a:p>
          <a:p>
            <a:pPr>
              <a:buNone/>
            </a:pPr>
            <a:r>
              <a:rPr lang="en-US"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 Handle search action          </a:t>
            </a:r>
          </a:p>
          <a:p>
            <a:pPr>
              <a:buNone/>
            </a:pPr>
            <a:r>
              <a:rPr lang="en-US" dirty="0" smtClean="0">
                <a:latin typeface="Times New Roman" pitchFamily="18" charset="0"/>
                <a:cs typeface="Times New Roman" pitchFamily="18" charset="0"/>
              </a:rPr>
              <a:t>  return true;      </a:t>
            </a:r>
          </a:p>
          <a:p>
            <a:pPr>
              <a:buNone/>
            </a:pPr>
            <a:r>
              <a:rPr lang="en-US" dirty="0" smtClean="0">
                <a:latin typeface="Times New Roman" pitchFamily="18" charset="0"/>
                <a:cs typeface="Times New Roman" pitchFamily="18" charset="0"/>
              </a:rPr>
              <a:t>  }      </a:t>
            </a:r>
          </a:p>
          <a:p>
            <a:pPr>
              <a:buNone/>
            </a:pPr>
            <a:r>
              <a:rPr lang="en-US" dirty="0" smtClean="0">
                <a:latin typeface="Times New Roman" pitchFamily="18" charset="0"/>
                <a:cs typeface="Times New Roman" pitchFamily="18" charset="0"/>
              </a:rPr>
              <a:t>  return </a:t>
            </a:r>
            <a:r>
              <a:rPr lang="en-US" dirty="0" err="1" smtClean="0">
                <a:latin typeface="Times New Roman" pitchFamily="18" charset="0"/>
                <a:cs typeface="Times New Roman" pitchFamily="18" charset="0"/>
              </a:rPr>
              <a:t>super.onOptionsItemSelected</a:t>
            </a:r>
            <a:r>
              <a:rPr lang="en-US" dirty="0" smtClean="0">
                <a:latin typeface="Times New Roman" pitchFamily="18" charset="0"/>
                <a:cs typeface="Times New Roman" pitchFamily="18" charset="0"/>
              </a:rPr>
              <a:t>(item);   </a:t>
            </a:r>
          </a:p>
          <a:p>
            <a:pPr>
              <a:buNone/>
            </a:pPr>
            <a:r>
              <a:rPr lang="en-US"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normAutofit fontScale="40000" lnSpcReduction="20000"/>
          </a:bodyPr>
          <a:lstStyle/>
          <a:p>
            <a:pPr>
              <a:buNone/>
            </a:pPr>
            <a:r>
              <a:rPr lang="en-US" dirty="0" smtClean="0"/>
              <a:t>public class </a:t>
            </a:r>
            <a:r>
              <a:rPr lang="en-US" dirty="0" err="1" smtClean="0"/>
              <a:t>MainActivity</a:t>
            </a:r>
            <a:r>
              <a:rPr lang="en-US" dirty="0" smtClean="0"/>
              <a:t> extends </a:t>
            </a:r>
            <a:r>
              <a:rPr lang="en-US" dirty="0" err="1" smtClean="0"/>
              <a:t>AppCompatActivity</a:t>
            </a:r>
            <a:r>
              <a:rPr lang="en-US" dirty="0" smtClean="0"/>
              <a:t> {</a:t>
            </a:r>
          </a:p>
          <a:p>
            <a:pPr>
              <a:buNone/>
            </a:pPr>
            <a:r>
              <a:rPr lang="en-US" dirty="0" smtClean="0"/>
              <a:t>    @Override</a:t>
            </a:r>
          </a:p>
          <a:p>
            <a:pPr>
              <a:buNone/>
            </a:pPr>
            <a:r>
              <a:rPr lang="en-US" dirty="0" smtClean="0"/>
              <a:t>    public </a:t>
            </a:r>
            <a:r>
              <a:rPr lang="en-US" dirty="0" err="1" smtClean="0"/>
              <a:t>boolean</a:t>
            </a:r>
            <a:r>
              <a:rPr lang="en-US" dirty="0" smtClean="0"/>
              <a:t> </a:t>
            </a:r>
            <a:r>
              <a:rPr lang="en-US" dirty="0" err="1" smtClean="0"/>
              <a:t>onCreateOptionsMenu</a:t>
            </a:r>
            <a:r>
              <a:rPr lang="en-US" dirty="0" smtClean="0"/>
              <a:t>(Menu </a:t>
            </a:r>
            <a:r>
              <a:rPr lang="en-US" dirty="0" err="1" smtClean="0"/>
              <a:t>menu</a:t>
            </a:r>
            <a:r>
              <a:rPr lang="en-US" dirty="0" smtClean="0"/>
              <a:t>) {</a:t>
            </a:r>
          </a:p>
          <a:p>
            <a:pPr>
              <a:buNone/>
            </a:pPr>
            <a:r>
              <a:rPr lang="en-US" dirty="0" smtClean="0"/>
              <a:t>        </a:t>
            </a:r>
            <a:r>
              <a:rPr lang="en-US" dirty="0" err="1" smtClean="0"/>
              <a:t>getMenuInflater</a:t>
            </a:r>
            <a:r>
              <a:rPr lang="en-US" dirty="0" smtClean="0"/>
              <a:t>().inflate(</a:t>
            </a:r>
            <a:r>
              <a:rPr lang="en-US" dirty="0" err="1" smtClean="0"/>
              <a:t>R.menu.example</a:t>
            </a:r>
            <a:r>
              <a:rPr lang="en-US" dirty="0" smtClean="0"/>
              <a:t>, menu);// example is a .xml file</a:t>
            </a:r>
          </a:p>
          <a:p>
            <a:pPr>
              <a:buNone/>
            </a:pPr>
            <a:r>
              <a:rPr lang="en-US" dirty="0" smtClean="0"/>
              <a:t>        return true; // tells Android: "Yes, I have a menu"</a:t>
            </a:r>
          </a:p>
          <a:p>
            <a:pPr>
              <a:buNone/>
            </a:pPr>
            <a:r>
              <a:rPr lang="en-US" dirty="0" smtClean="0"/>
              <a:t>    }</a:t>
            </a:r>
          </a:p>
          <a:p>
            <a:pPr>
              <a:buNone/>
            </a:pPr>
            <a:endParaRPr lang="en-US" dirty="0" smtClean="0"/>
          </a:p>
          <a:p>
            <a:pPr>
              <a:buNone/>
            </a:pPr>
            <a:r>
              <a:rPr lang="en-US" dirty="0" smtClean="0"/>
              <a:t>    @Override</a:t>
            </a:r>
          </a:p>
          <a:p>
            <a:pPr>
              <a:buNone/>
            </a:pPr>
            <a:r>
              <a:rPr lang="en-US" dirty="0" smtClean="0"/>
              <a:t>    public </a:t>
            </a:r>
            <a:r>
              <a:rPr lang="en-US" dirty="0" err="1" smtClean="0"/>
              <a:t>boolean</a:t>
            </a:r>
            <a:r>
              <a:rPr lang="en-US" dirty="0" smtClean="0"/>
              <a:t> </a:t>
            </a:r>
            <a:r>
              <a:rPr lang="en-US" dirty="0" err="1" smtClean="0"/>
              <a:t>onOptionsItemSelected</a:t>
            </a:r>
            <a:r>
              <a:rPr lang="en-US" dirty="0"/>
              <a:t>(</a:t>
            </a:r>
            <a:r>
              <a:rPr lang="en-US" dirty="0" err="1" smtClean="0"/>
              <a:t>MenuItem</a:t>
            </a:r>
            <a:r>
              <a:rPr lang="en-US" dirty="0" smtClean="0"/>
              <a:t> item) {</a:t>
            </a:r>
          </a:p>
          <a:p>
            <a:pPr>
              <a:buNone/>
            </a:pPr>
            <a:r>
              <a:rPr lang="en-US" dirty="0" smtClean="0"/>
              <a:t>        </a:t>
            </a:r>
            <a:r>
              <a:rPr lang="en-US" dirty="0" err="1" smtClean="0"/>
              <a:t>int</a:t>
            </a:r>
            <a:r>
              <a:rPr lang="en-US" dirty="0" smtClean="0"/>
              <a:t> id = </a:t>
            </a:r>
            <a:r>
              <a:rPr lang="en-US" dirty="0" err="1" smtClean="0"/>
              <a:t>item.getItemId</a:t>
            </a:r>
            <a:r>
              <a:rPr lang="en-US" dirty="0" smtClean="0"/>
              <a:t>(); // which item was tapped?</a:t>
            </a:r>
          </a:p>
          <a:p>
            <a:pPr>
              <a:buNone/>
            </a:pPr>
            <a:r>
              <a:rPr lang="en-US" dirty="0" smtClean="0"/>
              <a:t>        if (id == </a:t>
            </a:r>
            <a:r>
              <a:rPr lang="en-US" dirty="0" err="1" smtClean="0"/>
              <a:t>R.id.mail</a:t>
            </a:r>
            <a:r>
              <a:rPr lang="en-US" dirty="0" smtClean="0"/>
              <a:t>) {</a:t>
            </a:r>
          </a:p>
          <a:p>
            <a:pPr>
              <a:buNone/>
            </a:pPr>
            <a:r>
              <a:rPr lang="en-US" dirty="0" smtClean="0"/>
              <a:t>            </a:t>
            </a:r>
            <a:r>
              <a:rPr lang="en-US" dirty="0" err="1" smtClean="0"/>
              <a:t>Toast.makeText</a:t>
            </a:r>
            <a:r>
              <a:rPr lang="en-US" dirty="0" smtClean="0"/>
              <a:t>(this, “Sending mailing…", </a:t>
            </a:r>
            <a:r>
              <a:rPr lang="en-US" dirty="0" err="1" smtClean="0"/>
              <a:t>Toast.LENGTH_SHORT</a:t>
            </a:r>
            <a:r>
              <a:rPr lang="en-US" dirty="0" smtClean="0"/>
              <a:t>).show();</a:t>
            </a:r>
          </a:p>
          <a:p>
            <a:pPr>
              <a:buNone/>
            </a:pPr>
            <a:r>
              <a:rPr lang="en-US" dirty="0" smtClean="0"/>
              <a:t>            return true; // event consumed</a:t>
            </a:r>
          </a:p>
          <a:p>
            <a:pPr>
              <a:buNone/>
            </a:pPr>
            <a:r>
              <a:rPr lang="en-US" dirty="0" smtClean="0"/>
              <a:t>        } else if (id == </a:t>
            </a:r>
            <a:r>
              <a:rPr lang="en-US" dirty="0" err="1" smtClean="0"/>
              <a:t>R.id.upload</a:t>
            </a:r>
            <a:r>
              <a:rPr lang="en-US" dirty="0" smtClean="0"/>
              <a:t>) {</a:t>
            </a:r>
          </a:p>
          <a:p>
            <a:pPr>
              <a:buNone/>
            </a:pPr>
            <a:r>
              <a:rPr lang="en-US" dirty="0" smtClean="0"/>
              <a:t>            </a:t>
            </a:r>
            <a:r>
              <a:rPr lang="en-US" dirty="0" err="1" smtClean="0"/>
              <a:t>startActivity</a:t>
            </a:r>
            <a:r>
              <a:rPr lang="en-US" dirty="0" smtClean="0"/>
              <a:t>(new Intent(this, </a:t>
            </a:r>
            <a:r>
              <a:rPr lang="en-US" dirty="0" err="1" smtClean="0"/>
              <a:t>SettingsActivity.class</a:t>
            </a:r>
            <a:r>
              <a:rPr lang="en-US" dirty="0" smtClean="0"/>
              <a:t>)); // open another screen</a:t>
            </a:r>
          </a:p>
          <a:p>
            <a:pPr>
              <a:buNone/>
            </a:pPr>
            <a:r>
              <a:rPr lang="en-US" dirty="0" smtClean="0"/>
              <a:t>            return true;</a:t>
            </a:r>
          </a:p>
          <a:p>
            <a:pPr>
              <a:buNone/>
            </a:pPr>
            <a:r>
              <a:rPr lang="en-US" dirty="0" smtClean="0"/>
              <a:t>        }</a:t>
            </a:r>
          </a:p>
          <a:p>
            <a:pPr>
              <a:buNone/>
            </a:pPr>
            <a:r>
              <a:rPr lang="en-US" dirty="0" smtClean="0"/>
              <a:t>        return </a:t>
            </a:r>
            <a:r>
              <a:rPr lang="en-US" dirty="0" err="1" smtClean="0"/>
              <a:t>super.onOptionsItemSelected</a:t>
            </a:r>
            <a:r>
              <a:rPr lang="en-US" dirty="0" smtClean="0"/>
              <a:t>(item); // let the system handle anything else</a:t>
            </a:r>
          </a:p>
          <a:p>
            <a:pPr>
              <a:buNone/>
            </a:pPr>
            <a:r>
              <a:rPr lang="en-US" dirty="0" smtClean="0"/>
              <a:t>    }</a:t>
            </a:r>
          </a:p>
          <a:p>
            <a:pPr>
              <a:buNone/>
            </a:pPr>
            <a:r>
              <a:rPr lang="en-US" dirty="0" smtClean="0"/>
              <a:t>}</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context menu</a:t>
            </a:r>
          </a:p>
        </p:txBody>
      </p:sp>
      <p:sp>
        <p:nvSpPr>
          <p:cNvPr id="3" name="Content Placeholder 2"/>
          <p:cNvSpPr>
            <a:spLocks noGrp="1"/>
          </p:cNvSpPr>
          <p:nvPr>
            <p:ph idx="1"/>
          </p:nvPr>
        </p:nvSpPr>
        <p:spPr>
          <a:xfrm>
            <a:off x="357158" y="1600200"/>
            <a:ext cx="8329642" cy="4900634"/>
          </a:xfrm>
        </p:spPr>
        <p:txBody>
          <a:bodyPr>
            <a:normAutofit/>
          </a:bodyPr>
          <a:lstStyle/>
          <a:p>
            <a:pPr algn="just">
              <a:lnSpc>
                <a:spcPct val="200000"/>
              </a:lnSpc>
              <a:buNone/>
            </a:pPr>
            <a:r>
              <a:rPr lang="en-US" sz="2400" dirty="0" smtClean="0">
                <a:latin typeface="Times New Roman" pitchFamily="18" charset="0"/>
                <a:cs typeface="Times New Roman" pitchFamily="18" charset="0"/>
              </a:rPr>
              <a:t>	A </a:t>
            </a:r>
            <a:r>
              <a:rPr lang="en-US" sz="2400" dirty="0">
                <a:latin typeface="Times New Roman" pitchFamily="18" charset="0"/>
                <a:cs typeface="Times New Roman" pitchFamily="18" charset="0"/>
              </a:rPr>
              <a:t>context menu in Android is a short, floating menu that appears when </a:t>
            </a:r>
            <a:r>
              <a:rPr lang="en-US" sz="2400" dirty="0" smtClean="0">
                <a:latin typeface="Times New Roman" pitchFamily="18" charset="0"/>
                <a:cs typeface="Times New Roman" pitchFamily="18" charset="0"/>
              </a:rPr>
              <a:t>user </a:t>
            </a:r>
            <a:r>
              <a:rPr lang="en-US" sz="2400" dirty="0">
                <a:latin typeface="Times New Roman" pitchFamily="18" charset="0"/>
                <a:cs typeface="Times New Roman" pitchFamily="18" charset="0"/>
              </a:rPr>
              <a:t>performs a long press </a:t>
            </a:r>
            <a:r>
              <a:rPr lang="en-US" sz="2000" dirty="0" smtClean="0"/>
              <a:t>(press and hold) on a view </a:t>
            </a:r>
            <a:r>
              <a:rPr lang="en-US" sz="2400" dirty="0" smtClean="0">
                <a:latin typeface="Times New Roman" pitchFamily="18" charset="0"/>
                <a:cs typeface="Times New Roman" pitchFamily="18" charset="0"/>
              </a:rPr>
              <a:t>within </a:t>
            </a:r>
            <a:r>
              <a:rPr lang="en-US" sz="2400" dirty="0">
                <a:latin typeface="Times New Roman" pitchFamily="18" charset="0"/>
                <a:cs typeface="Times New Roman" pitchFamily="18" charset="0"/>
              </a:rPr>
              <a:t>an application. </a:t>
            </a:r>
            <a:endParaRPr lang="en-US" sz="2400" dirty="0" smtClean="0">
              <a:latin typeface="Times New Roman" pitchFamily="18" charset="0"/>
              <a:cs typeface="Times New Roman" pitchFamily="18" charset="0"/>
            </a:endParaRPr>
          </a:p>
          <a:p>
            <a:pPr algn="just">
              <a:lnSpc>
                <a:spcPct val="200000"/>
              </a:lnSpc>
              <a:buNone/>
            </a:pPr>
            <a:r>
              <a:rPr lang="en-US" sz="2400" dirty="0" smtClean="0">
                <a:latin typeface="Times New Roman" pitchFamily="18" charset="0"/>
                <a:cs typeface="Times New Roman" pitchFamily="18" charset="0"/>
              </a:rPr>
              <a:t>     </a:t>
            </a:r>
            <a:r>
              <a:rPr lang="en-US" sz="2000" dirty="0" smtClean="0"/>
              <a:t>It provides actions that affect the </a:t>
            </a:r>
            <a:r>
              <a:rPr lang="en-US" sz="2000" b="1" dirty="0" smtClean="0"/>
              <a:t>selected content or context frame</a:t>
            </a:r>
            <a:r>
              <a:rPr lang="en-US" sz="2000" dirty="0" smtClean="0"/>
              <a:t>.</a:t>
            </a:r>
          </a:p>
          <a:p>
            <a:pPr algn="just">
              <a:lnSpc>
                <a:spcPct val="200000"/>
              </a:lnSpc>
              <a:buNone/>
            </a:pPr>
            <a:r>
              <a:rPr lang="en-US" sz="2400" dirty="0" smtClean="0">
                <a:latin typeface="Times New Roman" pitchFamily="18" charset="0"/>
                <a:cs typeface="Times New Roman" pitchFamily="18" charset="0"/>
              </a:rPr>
              <a:t>	It is similar </a:t>
            </a:r>
            <a:r>
              <a:rPr lang="en-US" sz="2400" dirty="0">
                <a:latin typeface="Times New Roman" pitchFamily="18" charset="0"/>
                <a:cs typeface="Times New Roman" pitchFamily="18" charset="0"/>
              </a:rPr>
              <a:t>to a right-click menu in a desktop environment</a:t>
            </a:r>
            <a:r>
              <a:rPr lang="en-US" dirty="0"/>
              <a:t>. </a:t>
            </a:r>
            <a:endParaRPr lang="en-US" dirty="0" smtClean="0"/>
          </a:p>
          <a:p>
            <a:pPr algn="just">
              <a:lnSpc>
                <a:spcPct val="200000"/>
              </a:lnSpc>
              <a:buNone/>
            </a:pPr>
            <a:endParaRPr lang="en-US" dirty="0" smtClean="0"/>
          </a:p>
          <a:p>
            <a:pPr algn="just">
              <a:lnSpc>
                <a:spcPct val="200000"/>
              </a:lnSpc>
              <a:buNone/>
            </a:pP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Context Menu</a:t>
            </a:r>
            <a:endParaRPr lang="en-US" dirty="0"/>
          </a:p>
        </p:txBody>
      </p:sp>
      <p:sp>
        <p:nvSpPr>
          <p:cNvPr id="3" name="Content Placeholder 2"/>
          <p:cNvSpPr>
            <a:spLocks noGrp="1"/>
          </p:cNvSpPr>
          <p:nvPr>
            <p:ph idx="1"/>
          </p:nvPr>
        </p:nvSpPr>
        <p:spPr/>
        <p:txBody>
          <a:bodyPr/>
          <a:lstStyle/>
          <a:p>
            <a:pPr algn="just">
              <a:lnSpc>
                <a:spcPct val="200000"/>
              </a:lnSpc>
              <a:buNone/>
            </a:pPr>
            <a:r>
              <a:rPr lang="en-US" sz="1600" dirty="0" smtClean="0">
                <a:latin typeface="Times New Roman" pitchFamily="18" charset="0"/>
                <a:cs typeface="Times New Roman" pitchFamily="18" charset="0"/>
              </a:rPr>
              <a:t>	To </a:t>
            </a:r>
            <a:r>
              <a:rPr lang="en-US" sz="1600" dirty="0">
                <a:latin typeface="Times New Roman" pitchFamily="18" charset="0"/>
                <a:cs typeface="Times New Roman" pitchFamily="18" charset="0"/>
              </a:rPr>
              <a:t>implement a context menu in Android, the following steps are typically </a:t>
            </a:r>
            <a:r>
              <a:rPr lang="en-US" sz="1600" dirty="0" smtClean="0">
                <a:latin typeface="Times New Roman" pitchFamily="18" charset="0"/>
                <a:cs typeface="Times New Roman" pitchFamily="18" charset="0"/>
              </a:rPr>
              <a:t>involved:</a:t>
            </a:r>
          </a:p>
          <a:p>
            <a:pPr algn="just">
              <a:lnSpc>
                <a:spcPct val="200000"/>
              </a:lnSpc>
              <a:buNone/>
            </a:pPr>
            <a:r>
              <a:rPr lang="en-US" sz="1600" b="1" dirty="0" smtClean="0">
                <a:latin typeface="Times New Roman" pitchFamily="18" charset="0"/>
                <a:cs typeface="Times New Roman" pitchFamily="18" charset="0"/>
              </a:rPr>
              <a:t>	Register </a:t>
            </a:r>
            <a:r>
              <a:rPr lang="en-US" sz="1600" b="1" dirty="0">
                <a:latin typeface="Times New Roman" pitchFamily="18" charset="0"/>
                <a:cs typeface="Times New Roman" pitchFamily="18" charset="0"/>
              </a:rPr>
              <a:t>the View for Context Menu:</a:t>
            </a:r>
            <a:r>
              <a:rPr lang="en-US" sz="1600" dirty="0">
                <a:latin typeface="Times New Roman" pitchFamily="18" charset="0"/>
                <a:cs typeface="Times New Roman" pitchFamily="18" charset="0"/>
              </a:rPr>
              <a:t> The view that should trigger the context menu on a long press needs to be registered using </a:t>
            </a:r>
            <a:r>
              <a:rPr lang="en-US" sz="1600" b="1" dirty="0" err="1">
                <a:latin typeface="Times New Roman" pitchFamily="18" charset="0"/>
                <a:cs typeface="Times New Roman" pitchFamily="18" charset="0"/>
              </a:rPr>
              <a:t>registerForContextMenu</a:t>
            </a:r>
            <a:r>
              <a:rPr lang="en-US" sz="1600" b="1" dirty="0">
                <a:latin typeface="Times New Roman" pitchFamily="18" charset="0"/>
                <a:cs typeface="Times New Roman" pitchFamily="18" charset="0"/>
              </a:rPr>
              <a:t>()</a:t>
            </a:r>
            <a:r>
              <a:rPr lang="en-US" sz="1600" dirty="0">
                <a:latin typeface="Times New Roman" pitchFamily="18" charset="0"/>
                <a:cs typeface="Times New Roman" pitchFamily="18" charset="0"/>
              </a:rPr>
              <a:t> within the activity or fragment</a:t>
            </a:r>
            <a:r>
              <a:rPr lang="en-US" sz="1600" dirty="0" smtClean="0">
                <a:latin typeface="Times New Roman" pitchFamily="18" charset="0"/>
                <a:cs typeface="Times New Roman" pitchFamily="18" charset="0"/>
              </a:rPr>
              <a:t>.</a:t>
            </a:r>
          </a:p>
          <a:p>
            <a:pPr>
              <a:lnSpc>
                <a:spcPct val="200000"/>
              </a:lnSpc>
            </a:pPr>
            <a:r>
              <a:rPr lang="en-US" sz="1600" dirty="0" err="1" smtClean="0">
                <a:latin typeface="Times New Roman" pitchFamily="18" charset="0"/>
                <a:cs typeface="Times New Roman" pitchFamily="18" charset="0"/>
              </a:rPr>
              <a:t>registerForContextMenu</a:t>
            </a:r>
            <a:r>
              <a:rPr lang="en-US" sz="1600" dirty="0" smtClean="0">
                <a:latin typeface="Times New Roman" pitchFamily="18" charset="0"/>
                <a:cs typeface="Times New Roman" pitchFamily="18" charset="0"/>
              </a:rPr>
              <a:t>(view): hooks long-press on that view.</a:t>
            </a:r>
          </a:p>
          <a:p>
            <a:pPr>
              <a:lnSpc>
                <a:spcPct val="200000"/>
              </a:lnSpc>
            </a:pPr>
            <a:r>
              <a:rPr lang="en-US" sz="1600" dirty="0" err="1" smtClean="0">
                <a:latin typeface="Times New Roman" pitchFamily="18" charset="0"/>
                <a:cs typeface="Times New Roman" pitchFamily="18" charset="0"/>
              </a:rPr>
              <a:t>onCreateContextMenu</a:t>
            </a:r>
            <a:r>
              <a:rPr lang="en-US" sz="1600" dirty="0" smtClean="0">
                <a:latin typeface="Times New Roman" pitchFamily="18" charset="0"/>
                <a:cs typeface="Times New Roman" pitchFamily="18" charset="0"/>
              </a:rPr>
              <a:t>: builds the context menu when needed.</a:t>
            </a:r>
          </a:p>
          <a:p>
            <a:pPr>
              <a:lnSpc>
                <a:spcPct val="200000"/>
              </a:lnSpc>
            </a:pPr>
            <a:r>
              <a:rPr lang="en-US" sz="1600" dirty="0" err="1" smtClean="0">
                <a:latin typeface="Times New Roman" pitchFamily="18" charset="0"/>
                <a:cs typeface="Times New Roman" pitchFamily="18" charset="0"/>
              </a:rPr>
              <a:t>onContextItemSelected</a:t>
            </a:r>
            <a:r>
              <a:rPr lang="en-US" sz="1600" dirty="0" smtClean="0">
                <a:latin typeface="Times New Roman" pitchFamily="18" charset="0"/>
                <a:cs typeface="Times New Roman" pitchFamily="18" charset="0"/>
              </a:rPr>
              <a:t>: handles the selection.</a:t>
            </a:r>
          </a:p>
          <a:p>
            <a:pPr>
              <a:lnSpc>
                <a:spcPct val="200000"/>
              </a:lnSpc>
              <a:buNone/>
            </a:pPr>
            <a:r>
              <a:rPr lang="en-US" sz="1600" dirty="0" smtClean="0">
                <a:latin typeface="Times New Roman" pitchFamily="18" charset="0"/>
                <a:cs typeface="Times New Roman" pitchFamily="18" charset="0"/>
              </a:rPr>
              <a:t>Example:   </a:t>
            </a:r>
            <a:r>
              <a:rPr lang="en-US" sz="1600" b="1" dirty="0" err="1" smtClean="0">
                <a:latin typeface="Times New Roman" pitchFamily="18" charset="0"/>
                <a:cs typeface="Times New Roman" pitchFamily="18" charset="0"/>
              </a:rPr>
              <a:t>registerForContextMenu</a:t>
            </a:r>
            <a:r>
              <a:rPr lang="en-US" sz="1600" b="1" dirty="0" smtClean="0">
                <a:latin typeface="Times New Roman" pitchFamily="18" charset="0"/>
                <a:cs typeface="Times New Roman" pitchFamily="18" charset="0"/>
              </a:rPr>
              <a:t>(</a:t>
            </a:r>
            <a:r>
              <a:rPr lang="en-US" sz="1600" b="1" dirty="0" err="1" smtClean="0">
                <a:latin typeface="Times New Roman" pitchFamily="18" charset="0"/>
                <a:cs typeface="Times New Roman" pitchFamily="18" charset="0"/>
              </a:rPr>
              <a:t>myTextView</a:t>
            </a:r>
            <a:r>
              <a:rPr lang="en-US" sz="1600" b="1" dirty="0" smtClean="0">
                <a:latin typeface="Times New Roman" pitchFamily="18" charset="0"/>
                <a:cs typeface="Times New Roman" pitchFamily="18" charset="0"/>
              </a:rPr>
              <a:t>);</a:t>
            </a:r>
          </a:p>
          <a:p>
            <a:pPr algn="just">
              <a:lnSpc>
                <a:spcPct val="200000"/>
              </a:lnSpc>
              <a:buNone/>
            </a:pPr>
            <a:endParaRPr lang="en-US" sz="1600" dirty="0">
              <a:latin typeface="Times New Roman" pitchFamily="18" charset="0"/>
              <a:cs typeface="Times New Roman" pitchFamily="18" charset="0"/>
            </a:endParaRP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472" y="274638"/>
            <a:ext cx="8115328" cy="654032"/>
          </a:xfrm>
        </p:spPr>
        <p:txBody>
          <a:bodyPr>
            <a:normAutofit fontScale="90000"/>
          </a:bodyPr>
          <a:lstStyle/>
          <a:p>
            <a:r>
              <a:rPr lang="en-US" dirty="0" smtClean="0"/>
              <a:t>Example</a:t>
            </a:r>
            <a:endParaRPr lang="en-US" dirty="0"/>
          </a:p>
        </p:txBody>
      </p:sp>
      <p:sp>
        <p:nvSpPr>
          <p:cNvPr id="3" name="Content Placeholder 2"/>
          <p:cNvSpPr>
            <a:spLocks noGrp="1"/>
          </p:cNvSpPr>
          <p:nvPr>
            <p:ph idx="1"/>
          </p:nvPr>
        </p:nvSpPr>
        <p:spPr>
          <a:xfrm>
            <a:off x="285720" y="1428736"/>
            <a:ext cx="4929222" cy="4697427"/>
          </a:xfrm>
        </p:spPr>
        <p:txBody>
          <a:bodyPr>
            <a:normAutofit fontScale="40000" lnSpcReduction="20000"/>
          </a:bodyPr>
          <a:lstStyle/>
          <a:p>
            <a:pPr>
              <a:buNone/>
            </a:pPr>
            <a:r>
              <a:rPr lang="en-US" dirty="0" smtClean="0"/>
              <a:t>public class </a:t>
            </a:r>
            <a:r>
              <a:rPr lang="en-US" dirty="0" err="1" smtClean="0"/>
              <a:t>MainActivity</a:t>
            </a:r>
            <a:r>
              <a:rPr lang="en-US" dirty="0" smtClean="0"/>
              <a:t> extends </a:t>
            </a:r>
            <a:r>
              <a:rPr lang="en-US" b="1" dirty="0" err="1" smtClean="0"/>
              <a:t>AppCompatActivity</a:t>
            </a:r>
            <a:r>
              <a:rPr lang="en-US" dirty="0" smtClean="0"/>
              <a:t> {</a:t>
            </a:r>
          </a:p>
          <a:p>
            <a:pPr>
              <a:buNone/>
            </a:pPr>
            <a:endParaRPr lang="en-US" dirty="0" smtClean="0"/>
          </a:p>
          <a:p>
            <a:pPr>
              <a:buNone/>
            </a:pPr>
            <a:r>
              <a:rPr lang="en-US" dirty="0" smtClean="0"/>
              <a:t>    </a:t>
            </a:r>
            <a:r>
              <a:rPr lang="en-US" dirty="0" err="1" smtClean="0"/>
              <a:t>TextView</a:t>
            </a:r>
            <a:r>
              <a:rPr lang="en-US" dirty="0" smtClean="0"/>
              <a:t> </a:t>
            </a:r>
            <a:r>
              <a:rPr lang="en-US" dirty="0" err="1" smtClean="0"/>
              <a:t>textView</a:t>
            </a:r>
            <a:r>
              <a:rPr lang="en-US" dirty="0" smtClean="0"/>
              <a:t>;</a:t>
            </a:r>
          </a:p>
          <a:p>
            <a:pPr>
              <a:buNone/>
            </a:pPr>
            <a:endParaRPr lang="en-US" dirty="0" smtClean="0"/>
          </a:p>
          <a:p>
            <a:pPr>
              <a:buNone/>
            </a:pPr>
            <a:r>
              <a:rPr lang="en-US" dirty="0" smtClean="0"/>
              <a:t>    @Override</a:t>
            </a:r>
          </a:p>
          <a:p>
            <a:pPr>
              <a:buNone/>
            </a:pPr>
            <a:r>
              <a:rPr lang="en-US" dirty="0" smtClean="0"/>
              <a:t>    protected void </a:t>
            </a:r>
            <a:r>
              <a:rPr lang="en-US" dirty="0" err="1" smtClean="0"/>
              <a:t>onCreate</a:t>
            </a:r>
            <a:r>
              <a:rPr lang="en-US" dirty="0" smtClean="0"/>
              <a:t>(Bundle </a:t>
            </a:r>
            <a:r>
              <a:rPr lang="en-US" dirty="0" err="1" smtClean="0"/>
              <a:t>savedInstanceState</a:t>
            </a:r>
            <a:r>
              <a:rPr lang="en-US" dirty="0" smtClean="0"/>
              <a:t>) {</a:t>
            </a:r>
          </a:p>
          <a:p>
            <a:pPr>
              <a:buNone/>
            </a:pPr>
            <a:r>
              <a:rPr lang="en-US" dirty="0" smtClean="0"/>
              <a:t>        </a:t>
            </a:r>
            <a:r>
              <a:rPr lang="en-US" dirty="0" err="1" smtClean="0"/>
              <a:t>super.onCreate</a:t>
            </a:r>
            <a:r>
              <a:rPr lang="en-US" dirty="0" smtClean="0"/>
              <a:t>(</a:t>
            </a:r>
            <a:r>
              <a:rPr lang="en-US" dirty="0" err="1" smtClean="0"/>
              <a:t>savedInstanceState</a:t>
            </a:r>
            <a:r>
              <a:rPr lang="en-US" dirty="0" smtClean="0"/>
              <a:t>);</a:t>
            </a:r>
          </a:p>
          <a:p>
            <a:pPr>
              <a:buNone/>
            </a:pPr>
            <a:r>
              <a:rPr lang="en-US" dirty="0" smtClean="0"/>
              <a:t>        </a:t>
            </a:r>
            <a:r>
              <a:rPr lang="en-US" dirty="0" err="1" smtClean="0"/>
              <a:t>setContentView</a:t>
            </a:r>
            <a:r>
              <a:rPr lang="en-US" dirty="0" smtClean="0"/>
              <a:t>(</a:t>
            </a:r>
            <a:r>
              <a:rPr lang="en-US" dirty="0" err="1" smtClean="0"/>
              <a:t>R.layout.activity_main</a:t>
            </a:r>
            <a:r>
              <a:rPr lang="en-US" dirty="0" smtClean="0"/>
              <a:t>);</a:t>
            </a:r>
          </a:p>
          <a:p>
            <a:pPr>
              <a:buNone/>
            </a:pPr>
            <a:endParaRPr lang="en-US" dirty="0" smtClean="0"/>
          </a:p>
          <a:p>
            <a:pPr>
              <a:buNone/>
            </a:pPr>
            <a:r>
              <a:rPr lang="en-US" dirty="0" smtClean="0"/>
              <a:t>        </a:t>
            </a:r>
            <a:r>
              <a:rPr lang="en-US" dirty="0" err="1" smtClean="0"/>
              <a:t>textView</a:t>
            </a:r>
            <a:r>
              <a:rPr lang="en-US" dirty="0" smtClean="0"/>
              <a:t> = </a:t>
            </a:r>
            <a:r>
              <a:rPr lang="en-US" dirty="0" err="1" smtClean="0"/>
              <a:t>findViewById</a:t>
            </a:r>
            <a:r>
              <a:rPr lang="en-US" dirty="0" smtClean="0"/>
              <a:t>(</a:t>
            </a:r>
            <a:r>
              <a:rPr lang="en-US" dirty="0" err="1" smtClean="0"/>
              <a:t>R.id.textView</a:t>
            </a:r>
            <a:r>
              <a:rPr lang="en-US" dirty="0" smtClean="0"/>
              <a:t>);</a:t>
            </a:r>
          </a:p>
          <a:p>
            <a:pPr>
              <a:buNone/>
            </a:pPr>
            <a:r>
              <a:rPr lang="en-US" dirty="0" smtClean="0"/>
              <a:t>        </a:t>
            </a:r>
            <a:r>
              <a:rPr lang="en-US" b="1" dirty="0" err="1" smtClean="0"/>
              <a:t>registerForContextMenu</a:t>
            </a:r>
            <a:r>
              <a:rPr lang="en-US" dirty="0" smtClean="0"/>
              <a:t>(</a:t>
            </a:r>
            <a:r>
              <a:rPr lang="en-US" dirty="0" err="1" smtClean="0"/>
              <a:t>textView</a:t>
            </a:r>
            <a:r>
              <a:rPr lang="en-US" dirty="0" smtClean="0"/>
              <a:t>); </a:t>
            </a:r>
            <a:r>
              <a:rPr lang="en-US" b="1" dirty="0" smtClean="0"/>
              <a:t>// Step 1</a:t>
            </a:r>
          </a:p>
          <a:p>
            <a:pPr>
              <a:buNone/>
            </a:pPr>
            <a:r>
              <a:rPr lang="en-US" dirty="0" smtClean="0"/>
              <a:t>    }</a:t>
            </a:r>
          </a:p>
          <a:p>
            <a:pPr>
              <a:buNone/>
            </a:pPr>
            <a:endParaRPr lang="en-US" dirty="0" smtClean="0"/>
          </a:p>
          <a:p>
            <a:pPr>
              <a:buNone/>
            </a:pPr>
            <a:r>
              <a:rPr lang="en-US" b="1" dirty="0" smtClean="0"/>
              <a:t>    // Step 2: Create the menu</a:t>
            </a:r>
          </a:p>
          <a:p>
            <a:pPr>
              <a:buNone/>
            </a:pPr>
            <a:r>
              <a:rPr lang="en-US" dirty="0" smtClean="0"/>
              <a:t>    @Override</a:t>
            </a:r>
          </a:p>
          <a:p>
            <a:pPr>
              <a:buNone/>
            </a:pPr>
            <a:r>
              <a:rPr lang="en-US" dirty="0" smtClean="0"/>
              <a:t>    public void </a:t>
            </a:r>
            <a:r>
              <a:rPr lang="en-US" dirty="0" err="1" smtClean="0"/>
              <a:t>onCreateContextMenu</a:t>
            </a:r>
            <a:r>
              <a:rPr lang="en-US" dirty="0" smtClean="0"/>
              <a:t>(</a:t>
            </a:r>
            <a:r>
              <a:rPr lang="en-US" dirty="0" err="1" smtClean="0"/>
              <a:t>ContextMenu</a:t>
            </a:r>
            <a:r>
              <a:rPr lang="en-US" dirty="0" smtClean="0"/>
              <a:t> menu, View v,</a:t>
            </a:r>
          </a:p>
          <a:p>
            <a:pPr>
              <a:buNone/>
            </a:pPr>
            <a:r>
              <a:rPr lang="en-US" dirty="0" smtClean="0"/>
              <a:t>                                    </a:t>
            </a:r>
            <a:r>
              <a:rPr lang="en-US" dirty="0" err="1" smtClean="0"/>
              <a:t>ContextMenu.ContextMenuInfo</a:t>
            </a:r>
            <a:r>
              <a:rPr lang="en-US" dirty="0" smtClean="0"/>
              <a:t> </a:t>
            </a:r>
            <a:r>
              <a:rPr lang="en-US" dirty="0" err="1" smtClean="0"/>
              <a:t>menuInfo</a:t>
            </a:r>
            <a:r>
              <a:rPr lang="en-US" dirty="0" smtClean="0"/>
              <a:t>) {</a:t>
            </a:r>
          </a:p>
          <a:p>
            <a:pPr>
              <a:buNone/>
            </a:pPr>
            <a:r>
              <a:rPr lang="en-US" dirty="0" smtClean="0"/>
              <a:t>       </a:t>
            </a:r>
          </a:p>
          <a:p>
            <a:pPr>
              <a:buNone/>
            </a:pPr>
            <a:r>
              <a:rPr lang="en-US" dirty="0" smtClean="0"/>
              <a:t> </a:t>
            </a:r>
            <a:r>
              <a:rPr lang="en-US" dirty="0" err="1" smtClean="0"/>
              <a:t>super.onCreateContextMenu</a:t>
            </a:r>
            <a:r>
              <a:rPr lang="en-US" dirty="0" smtClean="0"/>
              <a:t>(menu, v, </a:t>
            </a:r>
            <a:r>
              <a:rPr lang="en-US" dirty="0" err="1" smtClean="0"/>
              <a:t>menuInfo</a:t>
            </a:r>
            <a:r>
              <a:rPr lang="en-US" dirty="0" smtClean="0"/>
              <a:t>);</a:t>
            </a:r>
          </a:p>
          <a:p>
            <a:pPr>
              <a:buNone/>
            </a:pPr>
            <a:r>
              <a:rPr lang="en-US" dirty="0" smtClean="0"/>
              <a:t>       </a:t>
            </a:r>
          </a:p>
          <a:p>
            <a:pPr>
              <a:buNone/>
            </a:pPr>
            <a:r>
              <a:rPr lang="en-US" dirty="0" smtClean="0"/>
              <a:t> </a:t>
            </a:r>
            <a:r>
              <a:rPr lang="en-US" dirty="0" err="1" smtClean="0"/>
              <a:t>getMenuInflater</a:t>
            </a:r>
            <a:r>
              <a:rPr lang="en-US" dirty="0" smtClean="0"/>
              <a:t>().inflate(</a:t>
            </a:r>
            <a:r>
              <a:rPr lang="en-US" dirty="0" err="1" smtClean="0"/>
              <a:t>R.menu.context_menu</a:t>
            </a:r>
            <a:r>
              <a:rPr lang="en-US" dirty="0" smtClean="0"/>
              <a:t>, menu);</a:t>
            </a:r>
          </a:p>
          <a:p>
            <a:pPr>
              <a:buNone/>
            </a:pPr>
            <a:r>
              <a:rPr lang="en-US" dirty="0" smtClean="0"/>
              <a:t>        </a:t>
            </a:r>
            <a:r>
              <a:rPr lang="en-US" dirty="0" err="1" smtClean="0"/>
              <a:t>menu.setHeaderTitle</a:t>
            </a:r>
            <a:r>
              <a:rPr lang="en-US" dirty="0" smtClean="0"/>
              <a:t>("Select Action");</a:t>
            </a:r>
          </a:p>
          <a:p>
            <a:pPr>
              <a:buNone/>
            </a:pPr>
            <a:r>
              <a:rPr lang="en-US" dirty="0" smtClean="0"/>
              <a:t>    }</a:t>
            </a:r>
          </a:p>
          <a:p>
            <a:pPr>
              <a:buNone/>
            </a:pPr>
            <a:endParaRPr lang="en-US" dirty="0" smtClean="0"/>
          </a:p>
        </p:txBody>
      </p:sp>
      <p:sp>
        <p:nvSpPr>
          <p:cNvPr id="4" name="Rectangle 3"/>
          <p:cNvSpPr/>
          <p:nvPr/>
        </p:nvSpPr>
        <p:spPr>
          <a:xfrm>
            <a:off x="4929190" y="1357298"/>
            <a:ext cx="4214810" cy="4801314"/>
          </a:xfrm>
          <a:prstGeom prst="rect">
            <a:avLst/>
          </a:prstGeom>
        </p:spPr>
        <p:txBody>
          <a:bodyPr wrap="square">
            <a:spAutoFit/>
          </a:bodyPr>
          <a:lstStyle/>
          <a:p>
            <a:pPr>
              <a:buNone/>
            </a:pPr>
            <a:r>
              <a:rPr lang="en-US" dirty="0" smtClean="0"/>
              <a:t> </a:t>
            </a:r>
            <a:r>
              <a:rPr lang="en-US" b="1" dirty="0" smtClean="0"/>
              <a:t>// </a:t>
            </a:r>
            <a:r>
              <a:rPr lang="en-US" sz="1200" b="1" dirty="0" smtClean="0"/>
              <a:t>Step 3: Handle menu clicks</a:t>
            </a:r>
          </a:p>
          <a:p>
            <a:pPr>
              <a:buNone/>
            </a:pPr>
            <a:r>
              <a:rPr lang="en-US" sz="1200" dirty="0" smtClean="0"/>
              <a:t>    @Override</a:t>
            </a:r>
          </a:p>
          <a:p>
            <a:pPr>
              <a:buNone/>
            </a:pPr>
            <a:r>
              <a:rPr lang="en-US" sz="1200" dirty="0" smtClean="0"/>
              <a:t>    public </a:t>
            </a:r>
            <a:r>
              <a:rPr lang="en-US" sz="1200" dirty="0" err="1" smtClean="0"/>
              <a:t>boolean</a:t>
            </a:r>
            <a:r>
              <a:rPr lang="en-US" sz="1200" dirty="0" smtClean="0"/>
              <a:t> </a:t>
            </a:r>
            <a:r>
              <a:rPr lang="en-US" sz="1200" dirty="0" err="1" smtClean="0"/>
              <a:t>onContextItemSelected</a:t>
            </a:r>
            <a:r>
              <a:rPr lang="en-US" sz="1200" dirty="0" smtClean="0"/>
              <a:t>(</a:t>
            </a:r>
            <a:r>
              <a:rPr lang="en-US" sz="1200" dirty="0" err="1" smtClean="0"/>
              <a:t>MenuItem</a:t>
            </a:r>
            <a:r>
              <a:rPr lang="en-US" sz="1200" dirty="0" smtClean="0"/>
              <a:t> item) {</a:t>
            </a:r>
          </a:p>
          <a:p>
            <a:pPr>
              <a:buNone/>
            </a:pPr>
            <a:r>
              <a:rPr lang="en-US" sz="1200" dirty="0" smtClean="0"/>
              <a:t>        switch (</a:t>
            </a:r>
            <a:r>
              <a:rPr lang="en-US" sz="1200" dirty="0" err="1" smtClean="0"/>
              <a:t>item.getItemId</a:t>
            </a:r>
            <a:r>
              <a:rPr lang="en-US" sz="1200" dirty="0" smtClean="0"/>
              <a:t>()) </a:t>
            </a:r>
          </a:p>
          <a:p>
            <a:pPr>
              <a:buNone/>
            </a:pPr>
            <a:r>
              <a:rPr lang="en-US" sz="1200" dirty="0" smtClean="0"/>
              <a:t>        {</a:t>
            </a:r>
          </a:p>
          <a:p>
            <a:pPr>
              <a:buNone/>
            </a:pPr>
            <a:r>
              <a:rPr lang="en-US" sz="1200" dirty="0" smtClean="0"/>
              <a:t>            case </a:t>
            </a:r>
            <a:r>
              <a:rPr lang="en-US" sz="1200" dirty="0" err="1" smtClean="0"/>
              <a:t>R.id.edit</a:t>
            </a:r>
            <a:r>
              <a:rPr lang="en-US" sz="1200" dirty="0" smtClean="0"/>
              <a:t>:</a:t>
            </a:r>
          </a:p>
          <a:p>
            <a:pPr>
              <a:buNone/>
            </a:pPr>
            <a:endParaRPr lang="en-US" sz="1200" dirty="0" smtClean="0"/>
          </a:p>
          <a:p>
            <a:pPr>
              <a:buNone/>
            </a:pPr>
            <a:r>
              <a:rPr lang="en-US" sz="1200" dirty="0" smtClean="0"/>
              <a:t>                </a:t>
            </a:r>
            <a:r>
              <a:rPr lang="en-US" sz="1200" dirty="0" err="1" smtClean="0"/>
              <a:t>Toast.makeText</a:t>
            </a:r>
            <a:r>
              <a:rPr lang="en-US" sz="1200" dirty="0" smtClean="0"/>
              <a:t>(this, "Edit selected", </a:t>
            </a:r>
            <a:r>
              <a:rPr lang="en-US" sz="1200" dirty="0" err="1" smtClean="0"/>
              <a:t>Toast.LENGTH_SHORT</a:t>
            </a:r>
            <a:r>
              <a:rPr lang="en-US" sz="1200" dirty="0" smtClean="0"/>
              <a:t>).show();</a:t>
            </a:r>
          </a:p>
          <a:p>
            <a:pPr>
              <a:buNone/>
            </a:pPr>
            <a:r>
              <a:rPr lang="en-US" sz="1200" dirty="0" smtClean="0"/>
              <a:t>                return true;</a:t>
            </a:r>
          </a:p>
          <a:p>
            <a:pPr>
              <a:buNone/>
            </a:pPr>
            <a:endParaRPr lang="en-US" sz="1200" dirty="0" smtClean="0"/>
          </a:p>
          <a:p>
            <a:pPr>
              <a:buNone/>
            </a:pPr>
            <a:r>
              <a:rPr lang="en-US" sz="1200" dirty="0" smtClean="0"/>
              <a:t>            case </a:t>
            </a:r>
            <a:r>
              <a:rPr lang="en-US" sz="1200" dirty="0" err="1" smtClean="0"/>
              <a:t>R.id.delete</a:t>
            </a:r>
            <a:r>
              <a:rPr lang="en-US" sz="1200" dirty="0" smtClean="0"/>
              <a:t>:</a:t>
            </a:r>
          </a:p>
          <a:p>
            <a:pPr>
              <a:buNone/>
            </a:pPr>
            <a:endParaRPr lang="en-US" sz="1200" dirty="0" smtClean="0"/>
          </a:p>
          <a:p>
            <a:pPr>
              <a:buNone/>
            </a:pPr>
            <a:r>
              <a:rPr lang="en-US" sz="1200" dirty="0" smtClean="0"/>
              <a:t>                </a:t>
            </a:r>
            <a:r>
              <a:rPr lang="en-US" sz="1200" dirty="0" err="1" smtClean="0"/>
              <a:t>Toast.makeText</a:t>
            </a:r>
            <a:r>
              <a:rPr lang="en-US" sz="1200" dirty="0" smtClean="0"/>
              <a:t>(this, "Delete selected", </a:t>
            </a:r>
            <a:r>
              <a:rPr lang="en-US" sz="1200" dirty="0" err="1" smtClean="0"/>
              <a:t>Toast.LENGTH_SHORT</a:t>
            </a:r>
            <a:r>
              <a:rPr lang="en-US" sz="1200" dirty="0" smtClean="0"/>
              <a:t>).show();</a:t>
            </a:r>
          </a:p>
          <a:p>
            <a:pPr>
              <a:buNone/>
            </a:pPr>
            <a:r>
              <a:rPr lang="en-US" sz="1200" dirty="0" smtClean="0"/>
              <a:t>                return true;</a:t>
            </a:r>
          </a:p>
          <a:p>
            <a:pPr>
              <a:buNone/>
            </a:pPr>
            <a:endParaRPr lang="en-US" sz="1200" dirty="0" smtClean="0"/>
          </a:p>
          <a:p>
            <a:pPr>
              <a:buNone/>
            </a:pPr>
            <a:r>
              <a:rPr lang="en-US" sz="1200" dirty="0" smtClean="0"/>
              <a:t>            default:</a:t>
            </a:r>
          </a:p>
          <a:p>
            <a:pPr>
              <a:buNone/>
            </a:pPr>
            <a:r>
              <a:rPr lang="en-US" sz="1200" dirty="0" smtClean="0"/>
              <a:t>                return </a:t>
            </a:r>
            <a:r>
              <a:rPr lang="en-US" sz="1200" dirty="0" err="1" smtClean="0"/>
              <a:t>super.onContextItemSelected</a:t>
            </a:r>
            <a:r>
              <a:rPr lang="en-US" sz="1200" dirty="0" smtClean="0"/>
              <a:t>(item);</a:t>
            </a:r>
          </a:p>
          <a:p>
            <a:pPr>
              <a:buNone/>
            </a:pPr>
            <a:r>
              <a:rPr lang="en-US" sz="1200" dirty="0" smtClean="0"/>
              <a:t>        }</a:t>
            </a:r>
          </a:p>
          <a:p>
            <a:pPr>
              <a:buNone/>
            </a:pPr>
            <a:r>
              <a:rPr lang="en-US" sz="1200" dirty="0" smtClean="0"/>
              <a:t>    }</a:t>
            </a:r>
          </a:p>
          <a:p>
            <a:pPr>
              <a:buNone/>
            </a:pPr>
            <a:r>
              <a:rPr lang="en-US" sz="1200" dirty="0" smtClean="0"/>
              <a:t>}</a:t>
            </a:r>
          </a:p>
          <a:p>
            <a:pPr>
              <a:buNone/>
            </a:pPr>
            <a:endParaRPr lang="en-US" sz="1200" dirty="0" smtClean="0"/>
          </a:p>
          <a:p>
            <a:pPr>
              <a:buNone/>
            </a:pPr>
            <a:r>
              <a:rPr lang="en-US" sz="1200" dirty="0" smtClean="0"/>
              <a:t>When you long-press the </a:t>
            </a:r>
            <a:r>
              <a:rPr lang="en-US" sz="1200" dirty="0" err="1" smtClean="0"/>
              <a:t>TextView</a:t>
            </a:r>
            <a:r>
              <a:rPr lang="en-US" sz="1200" dirty="0" smtClean="0"/>
              <a:t> → a floating list appears with “Edit” and “Delete”.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Step 3: Create res/menu/context_menu.xml</a:t>
            </a:r>
            <a:endParaRPr lang="en-US" dirty="0"/>
          </a:p>
        </p:txBody>
      </p:sp>
      <p:sp>
        <p:nvSpPr>
          <p:cNvPr id="3" name="Content Placeholder 2"/>
          <p:cNvSpPr>
            <a:spLocks noGrp="1"/>
          </p:cNvSpPr>
          <p:nvPr>
            <p:ph idx="1"/>
          </p:nvPr>
        </p:nvSpPr>
        <p:spPr/>
        <p:txBody>
          <a:bodyPr/>
          <a:lstStyle/>
          <a:p>
            <a:pPr>
              <a:buNone/>
            </a:pPr>
            <a:r>
              <a:rPr lang="en-US" dirty="0" smtClean="0"/>
              <a:t>&lt;menu </a:t>
            </a:r>
            <a:r>
              <a:rPr lang="en-US" dirty="0" err="1" smtClean="0"/>
              <a:t>xmlns:android</a:t>
            </a:r>
            <a:r>
              <a:rPr lang="en-US" dirty="0" smtClean="0"/>
              <a:t>="http://schemas.android.com/apk/res/android"&gt;</a:t>
            </a:r>
          </a:p>
          <a:p>
            <a:pPr>
              <a:buNone/>
            </a:pPr>
            <a:r>
              <a:rPr lang="en-US" dirty="0" smtClean="0"/>
              <a:t>    &lt;item </a:t>
            </a:r>
            <a:r>
              <a:rPr lang="en-US" dirty="0" err="1" smtClean="0"/>
              <a:t>android:id</a:t>
            </a:r>
            <a:r>
              <a:rPr lang="en-US" dirty="0" smtClean="0"/>
              <a:t>="@+id/edit"</a:t>
            </a:r>
          </a:p>
          <a:p>
            <a:pPr>
              <a:buNone/>
            </a:pPr>
            <a:r>
              <a:rPr lang="en-US" dirty="0" smtClean="0"/>
              <a:t>        </a:t>
            </a:r>
            <a:r>
              <a:rPr lang="en-US" dirty="0" err="1" smtClean="0"/>
              <a:t>android:title</a:t>
            </a:r>
            <a:r>
              <a:rPr lang="en-US" dirty="0" smtClean="0"/>
              <a:t>="Edit" /&gt;</a:t>
            </a:r>
          </a:p>
          <a:p>
            <a:pPr>
              <a:buNone/>
            </a:pPr>
            <a:r>
              <a:rPr lang="en-US" dirty="0" smtClean="0"/>
              <a:t>    &lt;item </a:t>
            </a:r>
            <a:r>
              <a:rPr lang="en-US" dirty="0" err="1" smtClean="0"/>
              <a:t>android:id</a:t>
            </a:r>
            <a:r>
              <a:rPr lang="en-US" dirty="0" smtClean="0"/>
              <a:t>="@+id/delete"</a:t>
            </a:r>
          </a:p>
          <a:p>
            <a:pPr>
              <a:buNone/>
            </a:pPr>
            <a:r>
              <a:rPr lang="en-US" dirty="0" smtClean="0"/>
              <a:t>        </a:t>
            </a:r>
            <a:r>
              <a:rPr lang="en-US" dirty="0" err="1" smtClean="0"/>
              <a:t>android:title</a:t>
            </a:r>
            <a:r>
              <a:rPr lang="en-US" dirty="0" smtClean="0"/>
              <a:t>="Delete" /&gt;</a:t>
            </a:r>
          </a:p>
          <a:p>
            <a:pPr>
              <a:buNone/>
            </a:pPr>
            <a:r>
              <a:rPr lang="en-US" dirty="0" smtClean="0"/>
              <a:t>&lt;/menu&gt;</a:t>
            </a:r>
          </a:p>
          <a:p>
            <a:pPr>
              <a:buNone/>
            </a:pPr>
            <a:endParaRPr lang="en-US" dirty="0" smtClean="0"/>
          </a:p>
          <a:p>
            <a:pPr>
              <a:buNone/>
            </a:pPr>
            <a:endParaRPr lang="en-US" dirty="0" smtClean="0"/>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Popup</a:t>
            </a:r>
            <a:endParaRPr lang="en-US" dirty="0"/>
          </a:p>
        </p:txBody>
      </p:sp>
      <p:sp>
        <p:nvSpPr>
          <p:cNvPr id="3" name="Content Placeholder 2"/>
          <p:cNvSpPr>
            <a:spLocks noGrp="1"/>
          </p:cNvSpPr>
          <p:nvPr>
            <p:ph idx="1"/>
          </p:nvPr>
        </p:nvSpPr>
        <p:spPr/>
        <p:txBody>
          <a:bodyPr/>
          <a:lstStyle/>
          <a:p>
            <a:pPr algn="just"/>
            <a:r>
              <a:rPr lang="en-US" sz="1600" dirty="0" smtClean="0">
                <a:latin typeface="Times New Roman" pitchFamily="18" charset="0"/>
                <a:cs typeface="Times New Roman" pitchFamily="18" charset="0"/>
              </a:rPr>
              <a:t>Displays </a:t>
            </a:r>
            <a:r>
              <a:rPr lang="en-US" sz="1600" dirty="0">
                <a:latin typeface="Times New Roman" pitchFamily="18" charset="0"/>
                <a:cs typeface="Times New Roman" pitchFamily="18" charset="0"/>
              </a:rPr>
              <a:t>a list of items in a vertical list which presents the view that invoked the menu and is useful to provide an overflow of actions related to specific content</a:t>
            </a:r>
            <a:r>
              <a:rPr lang="en-US" sz="1600" dirty="0" smtClean="0">
                <a:latin typeface="Times New Roman" pitchFamily="18" charset="0"/>
                <a:cs typeface="Times New Roman" pitchFamily="18" charset="0"/>
              </a:rPr>
              <a:t>.</a:t>
            </a:r>
          </a:p>
          <a:p>
            <a:r>
              <a:rPr lang="en-US" sz="1600" dirty="0" smtClean="0"/>
              <a:t>A </a:t>
            </a:r>
            <a:r>
              <a:rPr lang="en-US" sz="1600" b="1" dirty="0" smtClean="0"/>
              <a:t>Popup Menu</a:t>
            </a:r>
            <a:r>
              <a:rPr lang="en-US" sz="1600" dirty="0" smtClean="0"/>
              <a:t> is a small menu that anchors to a specific </a:t>
            </a:r>
            <a:r>
              <a:rPr lang="en-US" sz="1600" b="1" dirty="0" smtClean="0"/>
              <a:t>View</a:t>
            </a:r>
            <a:r>
              <a:rPr lang="en-US" sz="1600" dirty="0" smtClean="0"/>
              <a:t> (often a button) and shows </a:t>
            </a:r>
            <a:r>
              <a:rPr lang="en-US" sz="1600" b="1" dirty="0" smtClean="0"/>
              <a:t>a list of actions</a:t>
            </a:r>
            <a:r>
              <a:rPr lang="en-US" sz="1600" dirty="0" smtClean="0"/>
              <a:t> that the user can perform.</a:t>
            </a:r>
          </a:p>
          <a:p>
            <a:r>
              <a:rPr lang="en-US" sz="1600" dirty="0" smtClean="0"/>
              <a:t>It’s like the mini “three-dot” menu you see in Android apps — quick, elegant, and great for modern UI.</a:t>
            </a:r>
          </a:p>
          <a:p>
            <a:pPr algn="just">
              <a:buNone/>
            </a:pPr>
            <a:endParaRPr lang="en-US" sz="1600" dirty="0">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74638"/>
            <a:ext cx="8258204" cy="439718"/>
          </a:xfrm>
        </p:spPr>
        <p:txBody>
          <a:bodyPr>
            <a:noAutofit/>
          </a:bodyPr>
          <a:lstStyle/>
          <a:p>
            <a:r>
              <a:rPr lang="en-US" sz="2800" dirty="0" err="1" smtClean="0"/>
              <a:t>Example:How</a:t>
            </a:r>
            <a:r>
              <a:rPr lang="en-US" sz="2800" dirty="0" smtClean="0"/>
              <a:t> to Create a Popup Menu</a:t>
            </a:r>
            <a:endParaRPr lang="en-US" sz="2800" dirty="0"/>
          </a:p>
        </p:txBody>
      </p:sp>
      <p:sp>
        <p:nvSpPr>
          <p:cNvPr id="3" name="Content Placeholder 2"/>
          <p:cNvSpPr>
            <a:spLocks noGrp="1"/>
          </p:cNvSpPr>
          <p:nvPr>
            <p:ph idx="1"/>
          </p:nvPr>
        </p:nvSpPr>
        <p:spPr>
          <a:xfrm>
            <a:off x="285720" y="785794"/>
            <a:ext cx="8401080" cy="5857916"/>
          </a:xfrm>
        </p:spPr>
        <p:txBody>
          <a:bodyPr>
            <a:normAutofit fontScale="70000" lnSpcReduction="20000"/>
          </a:bodyPr>
          <a:lstStyle/>
          <a:p>
            <a:pPr>
              <a:buNone/>
            </a:pPr>
            <a:r>
              <a:rPr lang="en-US" sz="1400" dirty="0" smtClean="0">
                <a:latin typeface="Times New Roman" pitchFamily="18" charset="0"/>
                <a:cs typeface="Times New Roman" pitchFamily="18" charset="0"/>
              </a:rPr>
              <a:t>public class </a:t>
            </a:r>
            <a:r>
              <a:rPr lang="en-US" sz="1400" dirty="0" err="1" smtClean="0">
                <a:latin typeface="Times New Roman" pitchFamily="18" charset="0"/>
                <a:cs typeface="Times New Roman" pitchFamily="18" charset="0"/>
              </a:rPr>
              <a:t>MainActivity</a:t>
            </a:r>
            <a:r>
              <a:rPr lang="en-US" sz="1400" dirty="0" smtClean="0">
                <a:latin typeface="Times New Roman" pitchFamily="18" charset="0"/>
                <a:cs typeface="Times New Roman" pitchFamily="18" charset="0"/>
              </a:rPr>
              <a:t> extends </a:t>
            </a:r>
            <a:r>
              <a:rPr lang="en-US" sz="1400" dirty="0" err="1" smtClean="0">
                <a:latin typeface="Times New Roman" pitchFamily="18" charset="0"/>
                <a:cs typeface="Times New Roman" pitchFamily="18" charset="0"/>
              </a:rPr>
              <a:t>AppCompatActivity</a:t>
            </a:r>
            <a:r>
              <a:rPr lang="en-US" sz="1400" dirty="0" smtClean="0">
                <a:latin typeface="Times New Roman" pitchFamily="18" charset="0"/>
                <a:cs typeface="Times New Roman" pitchFamily="18" charset="0"/>
              </a:rPr>
              <a:t> {</a:t>
            </a:r>
          </a:p>
          <a:p>
            <a:pPr>
              <a:buNone/>
            </a:pPr>
            <a:endParaRPr lang="en-US" sz="1400" dirty="0" smtClean="0">
              <a:latin typeface="Times New Roman" pitchFamily="18" charset="0"/>
              <a:cs typeface="Times New Roman" pitchFamily="18" charset="0"/>
            </a:endParaRPr>
          </a:p>
          <a:p>
            <a:pPr>
              <a:buNone/>
            </a:pPr>
            <a:r>
              <a:rPr lang="en-US" sz="1400" dirty="0" smtClean="0">
                <a:latin typeface="Times New Roman" pitchFamily="18" charset="0"/>
                <a:cs typeface="Times New Roman" pitchFamily="18" charset="0"/>
              </a:rPr>
              <a:t>    Button </a:t>
            </a:r>
            <a:r>
              <a:rPr lang="en-US" sz="1400" dirty="0" err="1" smtClean="0">
                <a:latin typeface="Times New Roman" pitchFamily="18" charset="0"/>
                <a:cs typeface="Times New Roman" pitchFamily="18" charset="0"/>
              </a:rPr>
              <a:t>buttonShowMenu</a:t>
            </a:r>
            <a:r>
              <a:rPr lang="en-US" sz="1400" dirty="0" smtClean="0">
                <a:latin typeface="Times New Roman" pitchFamily="18" charset="0"/>
                <a:cs typeface="Times New Roman" pitchFamily="18" charset="0"/>
              </a:rPr>
              <a:t>;</a:t>
            </a:r>
          </a:p>
          <a:p>
            <a:pPr>
              <a:buNone/>
            </a:pPr>
            <a:endParaRPr lang="en-US" sz="1400" dirty="0" smtClean="0">
              <a:latin typeface="Times New Roman" pitchFamily="18" charset="0"/>
              <a:cs typeface="Times New Roman" pitchFamily="18" charset="0"/>
            </a:endParaRPr>
          </a:p>
          <a:p>
            <a:pPr>
              <a:buNone/>
            </a:pPr>
            <a:r>
              <a:rPr lang="en-US" sz="1400" dirty="0" smtClean="0">
                <a:latin typeface="Times New Roman" pitchFamily="18" charset="0"/>
                <a:cs typeface="Times New Roman" pitchFamily="18" charset="0"/>
              </a:rPr>
              <a:t>    @Override</a:t>
            </a:r>
          </a:p>
          <a:p>
            <a:pPr>
              <a:buNone/>
            </a:pPr>
            <a:r>
              <a:rPr lang="en-US" sz="1400" dirty="0" smtClean="0">
                <a:latin typeface="Times New Roman" pitchFamily="18" charset="0"/>
                <a:cs typeface="Times New Roman" pitchFamily="18" charset="0"/>
              </a:rPr>
              <a:t>    protected void </a:t>
            </a:r>
            <a:r>
              <a:rPr lang="en-US" sz="1400" dirty="0" err="1" smtClean="0">
                <a:latin typeface="Times New Roman" pitchFamily="18" charset="0"/>
                <a:cs typeface="Times New Roman" pitchFamily="18" charset="0"/>
              </a:rPr>
              <a:t>onCreate</a:t>
            </a:r>
            <a:r>
              <a:rPr lang="en-US" sz="1400" dirty="0" smtClean="0">
                <a:latin typeface="Times New Roman" pitchFamily="18" charset="0"/>
                <a:cs typeface="Times New Roman" pitchFamily="18" charset="0"/>
              </a:rPr>
              <a:t>(Bundle </a:t>
            </a:r>
            <a:r>
              <a:rPr lang="en-US" sz="1400" dirty="0" err="1" smtClean="0">
                <a:latin typeface="Times New Roman" pitchFamily="18" charset="0"/>
                <a:cs typeface="Times New Roman" pitchFamily="18" charset="0"/>
              </a:rPr>
              <a:t>savedInstanceState</a:t>
            </a:r>
            <a:r>
              <a:rPr lang="en-US" sz="1400" dirty="0" smtClean="0">
                <a:latin typeface="Times New Roman" pitchFamily="18" charset="0"/>
                <a:cs typeface="Times New Roman" pitchFamily="18" charset="0"/>
              </a:rPr>
              <a:t>) {</a:t>
            </a:r>
          </a:p>
          <a:p>
            <a:pPr>
              <a:buNone/>
            </a:pP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super.onCreate</a:t>
            </a:r>
            <a:r>
              <a:rPr lang="en-US" sz="1400" dirty="0" smtClean="0">
                <a:latin typeface="Times New Roman" pitchFamily="18" charset="0"/>
                <a:cs typeface="Times New Roman" pitchFamily="18" charset="0"/>
              </a:rPr>
              <a:t>(</a:t>
            </a:r>
            <a:r>
              <a:rPr lang="en-US" sz="1400" dirty="0" err="1" smtClean="0">
                <a:latin typeface="Times New Roman" pitchFamily="18" charset="0"/>
                <a:cs typeface="Times New Roman" pitchFamily="18" charset="0"/>
              </a:rPr>
              <a:t>savedInstanceState</a:t>
            </a:r>
            <a:r>
              <a:rPr lang="en-US" sz="1400" dirty="0" smtClean="0">
                <a:latin typeface="Times New Roman" pitchFamily="18" charset="0"/>
                <a:cs typeface="Times New Roman" pitchFamily="18" charset="0"/>
              </a:rPr>
              <a:t>);</a:t>
            </a:r>
          </a:p>
          <a:p>
            <a:pPr>
              <a:buNone/>
            </a:pP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setContentView</a:t>
            </a:r>
            <a:r>
              <a:rPr lang="en-US" sz="1400" dirty="0" smtClean="0">
                <a:latin typeface="Times New Roman" pitchFamily="18" charset="0"/>
                <a:cs typeface="Times New Roman" pitchFamily="18" charset="0"/>
              </a:rPr>
              <a:t>(</a:t>
            </a:r>
            <a:r>
              <a:rPr lang="en-US" sz="1400" dirty="0" err="1" smtClean="0">
                <a:latin typeface="Times New Roman" pitchFamily="18" charset="0"/>
                <a:cs typeface="Times New Roman" pitchFamily="18" charset="0"/>
              </a:rPr>
              <a:t>R.layout.activity_main</a:t>
            </a:r>
            <a:r>
              <a:rPr lang="en-US" sz="1400" dirty="0" smtClean="0">
                <a:latin typeface="Times New Roman" pitchFamily="18" charset="0"/>
                <a:cs typeface="Times New Roman" pitchFamily="18" charset="0"/>
              </a:rPr>
              <a:t>);</a:t>
            </a:r>
          </a:p>
          <a:p>
            <a:pPr>
              <a:buNone/>
            </a:pPr>
            <a:endParaRPr lang="en-US" sz="1400" dirty="0" smtClean="0">
              <a:latin typeface="Times New Roman" pitchFamily="18" charset="0"/>
              <a:cs typeface="Times New Roman" pitchFamily="18" charset="0"/>
            </a:endParaRPr>
          </a:p>
          <a:p>
            <a:pPr>
              <a:buNone/>
            </a:pP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buttonShowMenu</a:t>
            </a:r>
            <a:r>
              <a:rPr lang="en-US" sz="1400" dirty="0" smtClean="0">
                <a:latin typeface="Times New Roman" pitchFamily="18" charset="0"/>
                <a:cs typeface="Times New Roman" pitchFamily="18" charset="0"/>
              </a:rPr>
              <a:t> = </a:t>
            </a:r>
            <a:r>
              <a:rPr lang="en-US" sz="1400" dirty="0" err="1" smtClean="0">
                <a:latin typeface="Times New Roman" pitchFamily="18" charset="0"/>
                <a:cs typeface="Times New Roman" pitchFamily="18" charset="0"/>
              </a:rPr>
              <a:t>findViewById</a:t>
            </a:r>
            <a:r>
              <a:rPr lang="en-US" sz="1400" dirty="0" smtClean="0">
                <a:latin typeface="Times New Roman" pitchFamily="18" charset="0"/>
                <a:cs typeface="Times New Roman" pitchFamily="18" charset="0"/>
              </a:rPr>
              <a:t>(</a:t>
            </a:r>
            <a:r>
              <a:rPr lang="en-US" sz="1400" dirty="0" err="1" smtClean="0">
                <a:latin typeface="Times New Roman" pitchFamily="18" charset="0"/>
                <a:cs typeface="Times New Roman" pitchFamily="18" charset="0"/>
              </a:rPr>
              <a:t>R.id.buttonShowMenu</a:t>
            </a:r>
            <a:r>
              <a:rPr lang="en-US" sz="1400" dirty="0" smtClean="0">
                <a:latin typeface="Times New Roman" pitchFamily="18" charset="0"/>
                <a:cs typeface="Times New Roman" pitchFamily="18" charset="0"/>
              </a:rPr>
              <a:t>);</a:t>
            </a:r>
          </a:p>
          <a:p>
            <a:pPr>
              <a:buNone/>
            </a:pPr>
            <a:endParaRPr lang="en-US" sz="1400" dirty="0" smtClean="0">
              <a:latin typeface="Times New Roman" pitchFamily="18" charset="0"/>
              <a:cs typeface="Times New Roman" pitchFamily="18" charset="0"/>
            </a:endParaRPr>
          </a:p>
          <a:p>
            <a:pPr>
              <a:buNone/>
            </a:pP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buttonShowMenu.setOnClickListener</a:t>
            </a:r>
            <a:r>
              <a:rPr lang="en-US" sz="1400" dirty="0" smtClean="0">
                <a:latin typeface="Times New Roman" pitchFamily="18" charset="0"/>
                <a:cs typeface="Times New Roman" pitchFamily="18" charset="0"/>
              </a:rPr>
              <a:t>(v -&gt; {</a:t>
            </a:r>
          </a:p>
          <a:p>
            <a:pPr>
              <a:buNone/>
            </a:pP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PopupMenu</a:t>
            </a:r>
            <a:r>
              <a:rPr lang="en-US" sz="1400" dirty="0" smtClean="0">
                <a:latin typeface="Times New Roman" pitchFamily="18" charset="0"/>
                <a:cs typeface="Times New Roman" pitchFamily="18" charset="0"/>
              </a:rPr>
              <a:t> popup = new </a:t>
            </a:r>
            <a:r>
              <a:rPr lang="en-US" sz="1400" dirty="0" err="1" smtClean="0">
                <a:latin typeface="Times New Roman" pitchFamily="18" charset="0"/>
                <a:cs typeface="Times New Roman" pitchFamily="18" charset="0"/>
              </a:rPr>
              <a:t>PopupMenu</a:t>
            </a:r>
            <a:r>
              <a:rPr lang="en-US" sz="1400" dirty="0" smtClean="0">
                <a:latin typeface="Times New Roman" pitchFamily="18" charset="0"/>
                <a:cs typeface="Times New Roman" pitchFamily="18" charset="0"/>
              </a:rPr>
              <a:t>(</a:t>
            </a:r>
            <a:r>
              <a:rPr lang="en-US" sz="1400" dirty="0" err="1" smtClean="0">
                <a:latin typeface="Times New Roman" pitchFamily="18" charset="0"/>
                <a:cs typeface="Times New Roman" pitchFamily="18" charset="0"/>
              </a:rPr>
              <a:t>MainActivity.this</a:t>
            </a:r>
            <a:r>
              <a:rPr lang="en-US" sz="1400" dirty="0" smtClean="0">
                <a:latin typeface="Times New Roman" pitchFamily="18" charset="0"/>
                <a:cs typeface="Times New Roman" pitchFamily="18" charset="0"/>
              </a:rPr>
              <a:t>, v);</a:t>
            </a:r>
          </a:p>
          <a:p>
            <a:pPr>
              <a:buNone/>
            </a:pP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popup.getMenuInflater</a:t>
            </a:r>
            <a:r>
              <a:rPr lang="en-US" sz="1400" dirty="0" smtClean="0">
                <a:latin typeface="Times New Roman" pitchFamily="18" charset="0"/>
                <a:cs typeface="Times New Roman" pitchFamily="18" charset="0"/>
              </a:rPr>
              <a:t>().inflate(</a:t>
            </a:r>
            <a:r>
              <a:rPr lang="en-US" sz="1400" dirty="0" err="1" smtClean="0">
                <a:latin typeface="Times New Roman" pitchFamily="18" charset="0"/>
                <a:cs typeface="Times New Roman" pitchFamily="18" charset="0"/>
              </a:rPr>
              <a:t>R.menu.popup_menu</a:t>
            </a: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popup.getMenu</a:t>
            </a:r>
            <a:r>
              <a:rPr lang="en-US" sz="1400" dirty="0" smtClean="0">
                <a:latin typeface="Times New Roman" pitchFamily="18" charset="0"/>
                <a:cs typeface="Times New Roman" pitchFamily="18" charset="0"/>
              </a:rPr>
              <a:t>());</a:t>
            </a:r>
          </a:p>
          <a:p>
            <a:pPr>
              <a:buNone/>
            </a:pPr>
            <a:endParaRPr lang="en-US" sz="1400" dirty="0" smtClean="0">
              <a:latin typeface="Times New Roman" pitchFamily="18" charset="0"/>
              <a:cs typeface="Times New Roman" pitchFamily="18" charset="0"/>
            </a:endParaRPr>
          </a:p>
          <a:p>
            <a:pPr>
              <a:buNone/>
            </a:pPr>
            <a:r>
              <a:rPr lang="en-US" sz="1400" dirty="0" smtClean="0">
                <a:latin typeface="Times New Roman" pitchFamily="18" charset="0"/>
                <a:cs typeface="Times New Roman" pitchFamily="18" charset="0"/>
              </a:rPr>
              <a:t>            // Handle click events</a:t>
            </a:r>
          </a:p>
          <a:p>
            <a:pPr>
              <a:buNone/>
            </a:pP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popup.setOnMenuItemClickListener</a:t>
            </a:r>
            <a:r>
              <a:rPr lang="en-US" sz="1400" dirty="0" smtClean="0">
                <a:latin typeface="Times New Roman" pitchFamily="18" charset="0"/>
                <a:cs typeface="Times New Roman" pitchFamily="18" charset="0"/>
              </a:rPr>
              <a:t>(item -&gt; {</a:t>
            </a:r>
          </a:p>
          <a:p>
            <a:pPr>
              <a:buNone/>
            </a:pPr>
            <a:r>
              <a:rPr lang="en-US" sz="1400" dirty="0" smtClean="0">
                <a:latin typeface="Times New Roman" pitchFamily="18" charset="0"/>
                <a:cs typeface="Times New Roman" pitchFamily="18" charset="0"/>
              </a:rPr>
              <a:t>                switch (</a:t>
            </a:r>
            <a:r>
              <a:rPr lang="en-US" sz="1400" dirty="0" err="1" smtClean="0">
                <a:latin typeface="Times New Roman" pitchFamily="18" charset="0"/>
                <a:cs typeface="Times New Roman" pitchFamily="18" charset="0"/>
              </a:rPr>
              <a:t>item.getItemId</a:t>
            </a:r>
            <a:r>
              <a:rPr lang="en-US" sz="1400" dirty="0" smtClean="0">
                <a:latin typeface="Times New Roman" pitchFamily="18" charset="0"/>
                <a:cs typeface="Times New Roman" pitchFamily="18" charset="0"/>
              </a:rPr>
              <a:t>()) {</a:t>
            </a:r>
          </a:p>
          <a:p>
            <a:pPr>
              <a:buNone/>
            </a:pPr>
            <a:r>
              <a:rPr lang="en-US" sz="1400" dirty="0" smtClean="0">
                <a:latin typeface="Times New Roman" pitchFamily="18" charset="0"/>
                <a:cs typeface="Times New Roman" pitchFamily="18" charset="0"/>
              </a:rPr>
              <a:t>                    case </a:t>
            </a:r>
            <a:r>
              <a:rPr lang="en-US" sz="1400" dirty="0" err="1" smtClean="0">
                <a:latin typeface="Times New Roman" pitchFamily="18" charset="0"/>
                <a:cs typeface="Times New Roman" pitchFamily="18" charset="0"/>
              </a:rPr>
              <a:t>R.id.copy</a:t>
            </a:r>
            <a:r>
              <a:rPr lang="en-US" sz="1400" dirty="0" smtClean="0">
                <a:latin typeface="Times New Roman" pitchFamily="18" charset="0"/>
                <a:cs typeface="Times New Roman" pitchFamily="18" charset="0"/>
              </a:rPr>
              <a:t>:</a:t>
            </a:r>
          </a:p>
          <a:p>
            <a:pPr>
              <a:buNone/>
            </a:pP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Toast.makeText</a:t>
            </a:r>
            <a:r>
              <a:rPr lang="en-US" sz="1400" dirty="0" smtClean="0">
                <a:latin typeface="Times New Roman" pitchFamily="18" charset="0"/>
                <a:cs typeface="Times New Roman" pitchFamily="18" charset="0"/>
              </a:rPr>
              <a:t>(</a:t>
            </a:r>
            <a:r>
              <a:rPr lang="en-US" sz="1400" dirty="0" err="1" smtClean="0">
                <a:latin typeface="Times New Roman" pitchFamily="18" charset="0"/>
                <a:cs typeface="Times New Roman" pitchFamily="18" charset="0"/>
              </a:rPr>
              <a:t>MainActivity.this</a:t>
            </a:r>
            <a:r>
              <a:rPr lang="en-US" sz="1400" dirty="0" smtClean="0">
                <a:latin typeface="Times New Roman" pitchFamily="18" charset="0"/>
                <a:cs typeface="Times New Roman" pitchFamily="18" charset="0"/>
              </a:rPr>
              <a:t>, "Copy clicked", </a:t>
            </a:r>
            <a:r>
              <a:rPr lang="en-US" sz="1400" dirty="0" err="1" smtClean="0">
                <a:latin typeface="Times New Roman" pitchFamily="18" charset="0"/>
                <a:cs typeface="Times New Roman" pitchFamily="18" charset="0"/>
              </a:rPr>
              <a:t>Toast.LENGTH_SHORT</a:t>
            </a:r>
            <a:r>
              <a:rPr lang="en-US" sz="1400" dirty="0" smtClean="0">
                <a:latin typeface="Times New Roman" pitchFamily="18" charset="0"/>
                <a:cs typeface="Times New Roman" pitchFamily="18" charset="0"/>
              </a:rPr>
              <a:t>).show();</a:t>
            </a:r>
          </a:p>
          <a:p>
            <a:pPr>
              <a:buNone/>
            </a:pPr>
            <a:r>
              <a:rPr lang="en-US" sz="1400" dirty="0" smtClean="0">
                <a:latin typeface="Times New Roman" pitchFamily="18" charset="0"/>
                <a:cs typeface="Times New Roman" pitchFamily="18" charset="0"/>
              </a:rPr>
              <a:t>                        return true;</a:t>
            </a:r>
          </a:p>
          <a:p>
            <a:pPr>
              <a:buNone/>
            </a:pPr>
            <a:r>
              <a:rPr lang="en-US" sz="1400" dirty="0" smtClean="0">
                <a:latin typeface="Times New Roman" pitchFamily="18" charset="0"/>
                <a:cs typeface="Times New Roman" pitchFamily="18" charset="0"/>
              </a:rPr>
              <a:t>                    case </a:t>
            </a:r>
            <a:r>
              <a:rPr lang="en-US" sz="1400" dirty="0" err="1" smtClean="0">
                <a:latin typeface="Times New Roman" pitchFamily="18" charset="0"/>
                <a:cs typeface="Times New Roman" pitchFamily="18" charset="0"/>
              </a:rPr>
              <a:t>R.id.share</a:t>
            </a:r>
            <a:r>
              <a:rPr lang="en-US" sz="1400" dirty="0" smtClean="0">
                <a:latin typeface="Times New Roman" pitchFamily="18" charset="0"/>
                <a:cs typeface="Times New Roman" pitchFamily="18" charset="0"/>
              </a:rPr>
              <a:t>:</a:t>
            </a:r>
          </a:p>
          <a:p>
            <a:pPr>
              <a:buNone/>
            </a:pP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Toast.makeText</a:t>
            </a:r>
            <a:r>
              <a:rPr lang="en-US" sz="1400" dirty="0" smtClean="0">
                <a:latin typeface="Times New Roman" pitchFamily="18" charset="0"/>
                <a:cs typeface="Times New Roman" pitchFamily="18" charset="0"/>
              </a:rPr>
              <a:t>(</a:t>
            </a:r>
            <a:r>
              <a:rPr lang="en-US" sz="1400" dirty="0" err="1" smtClean="0">
                <a:latin typeface="Times New Roman" pitchFamily="18" charset="0"/>
                <a:cs typeface="Times New Roman" pitchFamily="18" charset="0"/>
              </a:rPr>
              <a:t>MainActivity.this</a:t>
            </a:r>
            <a:r>
              <a:rPr lang="en-US" sz="1400" dirty="0" smtClean="0">
                <a:latin typeface="Times New Roman" pitchFamily="18" charset="0"/>
                <a:cs typeface="Times New Roman" pitchFamily="18" charset="0"/>
              </a:rPr>
              <a:t>, "Share clicked", </a:t>
            </a:r>
            <a:r>
              <a:rPr lang="en-US" sz="1400" dirty="0" err="1" smtClean="0">
                <a:latin typeface="Times New Roman" pitchFamily="18" charset="0"/>
                <a:cs typeface="Times New Roman" pitchFamily="18" charset="0"/>
              </a:rPr>
              <a:t>Toast.LENGTH_SHORT</a:t>
            </a:r>
            <a:r>
              <a:rPr lang="en-US" sz="1400" dirty="0" smtClean="0">
                <a:latin typeface="Times New Roman" pitchFamily="18" charset="0"/>
                <a:cs typeface="Times New Roman" pitchFamily="18" charset="0"/>
              </a:rPr>
              <a:t>).show();</a:t>
            </a:r>
          </a:p>
          <a:p>
            <a:pPr>
              <a:buNone/>
            </a:pPr>
            <a:r>
              <a:rPr lang="en-US" sz="1400" dirty="0" smtClean="0">
                <a:latin typeface="Times New Roman" pitchFamily="18" charset="0"/>
                <a:cs typeface="Times New Roman" pitchFamily="18" charset="0"/>
              </a:rPr>
              <a:t>                        return true;</a:t>
            </a:r>
          </a:p>
          <a:p>
            <a:pPr>
              <a:buNone/>
            </a:pPr>
            <a:r>
              <a:rPr lang="en-US" sz="1400" dirty="0" smtClean="0">
                <a:latin typeface="Times New Roman" pitchFamily="18" charset="0"/>
                <a:cs typeface="Times New Roman" pitchFamily="18" charset="0"/>
              </a:rPr>
              <a:t>                    case </a:t>
            </a:r>
            <a:r>
              <a:rPr lang="en-US" sz="1400" dirty="0" err="1" smtClean="0">
                <a:latin typeface="Times New Roman" pitchFamily="18" charset="0"/>
                <a:cs typeface="Times New Roman" pitchFamily="18" charset="0"/>
              </a:rPr>
              <a:t>R.id.delete</a:t>
            </a:r>
            <a:r>
              <a:rPr lang="en-US" sz="1400" dirty="0" smtClean="0">
                <a:latin typeface="Times New Roman" pitchFamily="18" charset="0"/>
                <a:cs typeface="Times New Roman" pitchFamily="18" charset="0"/>
              </a:rPr>
              <a:t>:</a:t>
            </a:r>
          </a:p>
          <a:p>
            <a:pPr>
              <a:buNone/>
            </a:pP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Toast.makeText</a:t>
            </a:r>
            <a:r>
              <a:rPr lang="en-US" sz="1400" dirty="0" smtClean="0">
                <a:latin typeface="Times New Roman" pitchFamily="18" charset="0"/>
                <a:cs typeface="Times New Roman" pitchFamily="18" charset="0"/>
              </a:rPr>
              <a:t>(</a:t>
            </a:r>
            <a:r>
              <a:rPr lang="en-US" sz="1400" dirty="0" err="1" smtClean="0">
                <a:latin typeface="Times New Roman" pitchFamily="18" charset="0"/>
                <a:cs typeface="Times New Roman" pitchFamily="18" charset="0"/>
              </a:rPr>
              <a:t>MainActivity.this</a:t>
            </a:r>
            <a:r>
              <a:rPr lang="en-US" sz="1400" dirty="0" smtClean="0">
                <a:latin typeface="Times New Roman" pitchFamily="18" charset="0"/>
                <a:cs typeface="Times New Roman" pitchFamily="18" charset="0"/>
              </a:rPr>
              <a:t>, "Delete clicked", </a:t>
            </a:r>
            <a:r>
              <a:rPr lang="en-US" sz="1400" dirty="0" err="1" smtClean="0">
                <a:latin typeface="Times New Roman" pitchFamily="18" charset="0"/>
                <a:cs typeface="Times New Roman" pitchFamily="18" charset="0"/>
              </a:rPr>
              <a:t>Toast.LENGTH_SHORT</a:t>
            </a:r>
            <a:r>
              <a:rPr lang="en-US" sz="1400" dirty="0" smtClean="0">
                <a:latin typeface="Times New Roman" pitchFamily="18" charset="0"/>
                <a:cs typeface="Times New Roman" pitchFamily="18" charset="0"/>
              </a:rPr>
              <a:t>).show();</a:t>
            </a:r>
          </a:p>
          <a:p>
            <a:pPr>
              <a:buNone/>
            </a:pPr>
            <a:r>
              <a:rPr lang="en-US" sz="1400" dirty="0" smtClean="0">
                <a:latin typeface="Times New Roman" pitchFamily="18" charset="0"/>
                <a:cs typeface="Times New Roman" pitchFamily="18" charset="0"/>
              </a:rPr>
              <a:t>                        return true;</a:t>
            </a:r>
          </a:p>
          <a:p>
            <a:pPr>
              <a:buNone/>
            </a:pPr>
            <a:r>
              <a:rPr lang="en-US" sz="1400" dirty="0" smtClean="0">
                <a:latin typeface="Times New Roman" pitchFamily="18" charset="0"/>
                <a:cs typeface="Times New Roman" pitchFamily="18" charset="0"/>
              </a:rPr>
              <a:t>                    default:</a:t>
            </a:r>
          </a:p>
          <a:p>
            <a:pPr>
              <a:buNone/>
            </a:pPr>
            <a:r>
              <a:rPr lang="en-US" sz="1400" dirty="0" smtClean="0">
                <a:latin typeface="Times New Roman" pitchFamily="18" charset="0"/>
                <a:cs typeface="Times New Roman" pitchFamily="18" charset="0"/>
              </a:rPr>
              <a:t>                        return false;</a:t>
            </a:r>
          </a:p>
          <a:p>
            <a:pPr>
              <a:buNone/>
            </a:pPr>
            <a:r>
              <a:rPr lang="en-US" sz="1400" dirty="0" smtClean="0">
                <a:latin typeface="Times New Roman" pitchFamily="18" charset="0"/>
                <a:cs typeface="Times New Roman" pitchFamily="18" charset="0"/>
              </a:rPr>
              <a:t>                }</a:t>
            </a:r>
          </a:p>
          <a:p>
            <a:pPr>
              <a:buNone/>
            </a:pPr>
            <a:r>
              <a:rPr lang="en-US" sz="1400" dirty="0" smtClean="0">
                <a:latin typeface="Times New Roman" pitchFamily="18" charset="0"/>
                <a:cs typeface="Times New Roman" pitchFamily="18" charset="0"/>
              </a:rPr>
              <a:t>            });</a:t>
            </a:r>
          </a:p>
          <a:p>
            <a:pPr>
              <a:buNone/>
            </a:pP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popup.show</a:t>
            </a:r>
            <a:r>
              <a:rPr lang="en-US" sz="1400" dirty="0" smtClean="0">
                <a:latin typeface="Times New Roman" pitchFamily="18" charset="0"/>
                <a:cs typeface="Times New Roman" pitchFamily="18" charset="0"/>
              </a:rPr>
              <a:t>();</a:t>
            </a:r>
          </a:p>
          <a:p>
            <a:pPr>
              <a:buNone/>
            </a:pPr>
            <a:r>
              <a:rPr lang="en-US" sz="1400" dirty="0" smtClean="0">
                <a:latin typeface="Times New Roman" pitchFamily="18" charset="0"/>
                <a:cs typeface="Times New Roman" pitchFamily="18" charset="0"/>
              </a:rPr>
              <a:t>        });</a:t>
            </a:r>
          </a:p>
          <a:p>
            <a:pPr>
              <a:buNone/>
            </a:pPr>
            <a:r>
              <a:rPr lang="en-US" sz="1400" dirty="0" smtClean="0">
                <a:latin typeface="Times New Roman" pitchFamily="18" charset="0"/>
                <a:cs typeface="Times New Roman" pitchFamily="18" charset="0"/>
              </a:rPr>
              <a:t>    }</a:t>
            </a:r>
          </a:p>
          <a:p>
            <a:pPr>
              <a:buNone/>
            </a:pPr>
            <a:r>
              <a:rPr lang="en-US" sz="1400" dirty="0" smtClean="0">
                <a:latin typeface="Times New Roman" pitchFamily="18" charset="0"/>
                <a:cs typeface="Times New Roman" pitchFamily="18" charset="0"/>
              </a:rPr>
              <a:t>}</a:t>
            </a:r>
          </a:p>
          <a:p>
            <a:pPr>
              <a:buNone/>
            </a:pPr>
            <a:endParaRPr lang="en-US" sz="1400" dirty="0">
              <a:latin typeface="Times New Roman" pitchFamily="18" charset="0"/>
              <a:cs typeface="Times New Roman"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74638"/>
            <a:ext cx="8258204" cy="868346"/>
          </a:xfrm>
        </p:spPr>
        <p:txBody>
          <a:bodyPr/>
          <a:lstStyle/>
          <a:p>
            <a:r>
              <a:rPr lang="en-US" dirty="0" smtClean="0"/>
              <a:t>res/menu/popup_menu.xml</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dirty="0" smtClean="0"/>
              <a:t>&lt;menu </a:t>
            </a:r>
            <a:r>
              <a:rPr lang="en-US" dirty="0" err="1" smtClean="0"/>
              <a:t>xmlns:android</a:t>
            </a:r>
            <a:r>
              <a:rPr lang="en-US" dirty="0" smtClean="0"/>
              <a:t>="http://schemas.android.com/apk/res/android"&gt;</a:t>
            </a:r>
          </a:p>
          <a:p>
            <a:pPr>
              <a:buNone/>
            </a:pPr>
            <a:r>
              <a:rPr lang="en-US" dirty="0" smtClean="0"/>
              <a:t>    &lt;item </a:t>
            </a:r>
            <a:r>
              <a:rPr lang="en-US" dirty="0" err="1" smtClean="0"/>
              <a:t>android:id</a:t>
            </a:r>
            <a:r>
              <a:rPr lang="en-US" dirty="0" smtClean="0"/>
              <a:t>="@+id/copy"</a:t>
            </a:r>
          </a:p>
          <a:p>
            <a:pPr>
              <a:buNone/>
            </a:pPr>
            <a:r>
              <a:rPr lang="en-US" dirty="0" smtClean="0"/>
              <a:t>        </a:t>
            </a:r>
            <a:r>
              <a:rPr lang="en-US" dirty="0" err="1" smtClean="0"/>
              <a:t>android:title</a:t>
            </a:r>
            <a:r>
              <a:rPr lang="en-US" dirty="0" smtClean="0"/>
              <a:t>="Copy" /&gt;</a:t>
            </a:r>
          </a:p>
          <a:p>
            <a:pPr>
              <a:buNone/>
            </a:pPr>
            <a:r>
              <a:rPr lang="en-US" dirty="0" smtClean="0"/>
              <a:t>    &lt;item </a:t>
            </a:r>
            <a:r>
              <a:rPr lang="en-US" dirty="0" err="1" smtClean="0"/>
              <a:t>android:id</a:t>
            </a:r>
            <a:r>
              <a:rPr lang="en-US" dirty="0" smtClean="0"/>
              <a:t>="@+id/share"</a:t>
            </a:r>
          </a:p>
          <a:p>
            <a:pPr>
              <a:buNone/>
            </a:pPr>
            <a:r>
              <a:rPr lang="en-US" dirty="0" smtClean="0"/>
              <a:t>        </a:t>
            </a:r>
            <a:r>
              <a:rPr lang="en-US" dirty="0" err="1" smtClean="0"/>
              <a:t>android:title</a:t>
            </a:r>
            <a:r>
              <a:rPr lang="en-US" dirty="0" smtClean="0"/>
              <a:t>="Share" /&gt;</a:t>
            </a:r>
          </a:p>
          <a:p>
            <a:pPr>
              <a:buNone/>
            </a:pPr>
            <a:r>
              <a:rPr lang="en-US" dirty="0" smtClean="0"/>
              <a:t>    &lt;item </a:t>
            </a:r>
            <a:r>
              <a:rPr lang="en-US" dirty="0" err="1" smtClean="0"/>
              <a:t>android:id</a:t>
            </a:r>
            <a:r>
              <a:rPr lang="en-US" dirty="0" smtClean="0"/>
              <a:t>="@+id/delete"</a:t>
            </a:r>
          </a:p>
          <a:p>
            <a:pPr>
              <a:buNone/>
            </a:pPr>
            <a:r>
              <a:rPr lang="en-US" dirty="0" smtClean="0"/>
              <a:t>        </a:t>
            </a:r>
            <a:r>
              <a:rPr lang="en-US" dirty="0" err="1" smtClean="0"/>
              <a:t>android:title</a:t>
            </a:r>
            <a:r>
              <a:rPr lang="en-US" dirty="0" smtClean="0"/>
              <a:t>="Delete" /&gt;</a:t>
            </a:r>
          </a:p>
          <a:p>
            <a:pPr>
              <a:buNone/>
            </a:pPr>
            <a:r>
              <a:rPr lang="en-US" dirty="0" smtClean="0"/>
              <a:t>&lt;/menu&gt;</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74638"/>
            <a:ext cx="8186766" cy="725470"/>
          </a:xfrm>
        </p:spPr>
        <p:txBody>
          <a:bodyPr>
            <a:normAutofit fontScale="90000"/>
          </a:bodyPr>
          <a:lstStyle/>
          <a:p>
            <a:r>
              <a:rPr lang="en-US" dirty="0" smtClean="0"/>
              <a:t>activity_main.xml</a:t>
            </a:r>
            <a:endParaRPr lang="en-US" dirty="0"/>
          </a:p>
        </p:txBody>
      </p:sp>
      <p:sp>
        <p:nvSpPr>
          <p:cNvPr id="3" name="Content Placeholder 2"/>
          <p:cNvSpPr>
            <a:spLocks noGrp="1"/>
          </p:cNvSpPr>
          <p:nvPr>
            <p:ph idx="1"/>
          </p:nvPr>
        </p:nvSpPr>
        <p:spPr>
          <a:xfrm>
            <a:off x="357158" y="1142984"/>
            <a:ext cx="8329642" cy="4983179"/>
          </a:xfrm>
        </p:spPr>
        <p:txBody>
          <a:bodyPr/>
          <a:lstStyle/>
          <a:p>
            <a:pPr>
              <a:buNone/>
            </a:pPr>
            <a:r>
              <a:rPr lang="en-US" dirty="0" smtClean="0"/>
              <a:t>&lt;Button</a:t>
            </a:r>
          </a:p>
          <a:p>
            <a:pPr>
              <a:buNone/>
            </a:pPr>
            <a:r>
              <a:rPr lang="en-US" dirty="0" smtClean="0"/>
              <a:t>    </a:t>
            </a:r>
            <a:r>
              <a:rPr lang="en-US" dirty="0" err="1" smtClean="0"/>
              <a:t>android:id</a:t>
            </a:r>
            <a:r>
              <a:rPr lang="en-US" dirty="0" smtClean="0"/>
              <a:t>="@+id/</a:t>
            </a:r>
            <a:r>
              <a:rPr lang="en-US" dirty="0" err="1" smtClean="0"/>
              <a:t>buttonShowMenu</a:t>
            </a:r>
            <a:r>
              <a:rPr lang="en-US" dirty="0" smtClean="0"/>
              <a:t>"</a:t>
            </a:r>
          </a:p>
          <a:p>
            <a:pPr>
              <a:buNone/>
            </a:pPr>
            <a:r>
              <a:rPr lang="en-US" dirty="0" smtClean="0"/>
              <a:t>    </a:t>
            </a:r>
            <a:r>
              <a:rPr lang="en-US" dirty="0" err="1" smtClean="0"/>
              <a:t>android:layout_width</a:t>
            </a:r>
            <a:r>
              <a:rPr lang="en-US" dirty="0" smtClean="0"/>
              <a:t>="</a:t>
            </a:r>
            <a:r>
              <a:rPr lang="en-US" dirty="0" err="1" smtClean="0"/>
              <a:t>wrap_content</a:t>
            </a:r>
            <a:r>
              <a:rPr lang="en-US" dirty="0" smtClean="0"/>
              <a:t>"</a:t>
            </a:r>
          </a:p>
          <a:p>
            <a:pPr>
              <a:buNone/>
            </a:pPr>
            <a:r>
              <a:rPr lang="en-US" dirty="0" smtClean="0"/>
              <a:t>    </a:t>
            </a:r>
            <a:r>
              <a:rPr lang="en-US" dirty="0" err="1" smtClean="0"/>
              <a:t>android:layout_height</a:t>
            </a:r>
            <a:r>
              <a:rPr lang="en-US" dirty="0" smtClean="0"/>
              <a:t>="</a:t>
            </a:r>
            <a:r>
              <a:rPr lang="en-US" dirty="0" err="1" smtClean="0"/>
              <a:t>wrap_content</a:t>
            </a:r>
            <a:r>
              <a:rPr lang="en-US" dirty="0" smtClean="0"/>
              <a:t>"</a:t>
            </a:r>
          </a:p>
          <a:p>
            <a:pPr>
              <a:buNone/>
            </a:pPr>
            <a:r>
              <a:rPr lang="en-US" dirty="0" smtClean="0"/>
              <a:t>    </a:t>
            </a:r>
            <a:r>
              <a:rPr lang="en-US" dirty="0" err="1" smtClean="0"/>
              <a:t>android:text</a:t>
            </a:r>
            <a:r>
              <a:rPr lang="en-US" dirty="0" smtClean="0"/>
              <a:t>="Show Popup Menu"</a:t>
            </a:r>
          </a:p>
          <a:p>
            <a:pPr>
              <a:buNone/>
            </a:pPr>
            <a:r>
              <a:rPr lang="en-US" dirty="0" smtClean="0"/>
              <a:t>    </a:t>
            </a:r>
            <a:r>
              <a:rPr lang="en-US" dirty="0" err="1" smtClean="0"/>
              <a:t>android:layout_gravity</a:t>
            </a:r>
            <a:r>
              <a:rPr lang="en-US" dirty="0" smtClean="0"/>
              <a:t>="center" /&gt;</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74638"/>
            <a:ext cx="8258204" cy="868346"/>
          </a:xfrm>
        </p:spPr>
        <p:txBody>
          <a:bodyPr/>
          <a:lstStyle/>
          <a:p>
            <a:r>
              <a:rPr lang="en-US" dirty="0" smtClean="0"/>
              <a:t>Alert dialog box</a:t>
            </a:r>
            <a:endParaRPr lang="en-US" dirty="0"/>
          </a:p>
        </p:txBody>
      </p:sp>
      <p:sp>
        <p:nvSpPr>
          <p:cNvPr id="3" name="Content Placeholder 2"/>
          <p:cNvSpPr>
            <a:spLocks noGrp="1"/>
          </p:cNvSpPr>
          <p:nvPr>
            <p:ph idx="1"/>
          </p:nvPr>
        </p:nvSpPr>
        <p:spPr>
          <a:xfrm>
            <a:off x="71406" y="1071546"/>
            <a:ext cx="8615394" cy="5054617"/>
          </a:xfrm>
        </p:spPr>
        <p:txBody>
          <a:bodyPr>
            <a:normAutofit fontScale="70000" lnSpcReduction="20000"/>
          </a:bodyPr>
          <a:lstStyle/>
          <a:p>
            <a:pPr algn="just" fontAlgn="base">
              <a:lnSpc>
                <a:spcPct val="150000"/>
              </a:lnSpc>
              <a:buNone/>
            </a:pPr>
            <a:r>
              <a:rPr lang="en-US" sz="2300" dirty="0" smtClean="0">
                <a:latin typeface="Times New Roman" pitchFamily="18" charset="0"/>
                <a:cs typeface="Times New Roman" pitchFamily="18" charset="0"/>
              </a:rPr>
              <a:t>     An</a:t>
            </a:r>
            <a:r>
              <a:rPr lang="en-US" sz="2300" dirty="0">
                <a:latin typeface="Times New Roman" pitchFamily="18" charset="0"/>
                <a:cs typeface="Times New Roman" pitchFamily="18" charset="0"/>
              </a:rPr>
              <a:t> </a:t>
            </a:r>
            <a:r>
              <a:rPr lang="en-US" sz="2300" b="1" dirty="0">
                <a:latin typeface="Times New Roman" pitchFamily="18" charset="0"/>
                <a:cs typeface="Times New Roman" pitchFamily="18" charset="0"/>
              </a:rPr>
              <a:t>Android Alert Dialog</a:t>
            </a:r>
            <a:r>
              <a:rPr lang="en-US" sz="2300" dirty="0">
                <a:latin typeface="Times New Roman" pitchFamily="18" charset="0"/>
                <a:cs typeface="Times New Roman" pitchFamily="18" charset="0"/>
              </a:rPr>
              <a:t> is a UI element that displays a warning or </a:t>
            </a:r>
            <a:r>
              <a:rPr lang="en-US" sz="2300" dirty="0" smtClean="0">
                <a:latin typeface="Times New Roman" pitchFamily="18" charset="0"/>
                <a:cs typeface="Times New Roman" pitchFamily="18" charset="0"/>
              </a:rPr>
              <a:t>notification message </a:t>
            </a:r>
            <a:r>
              <a:rPr lang="en-US" sz="2300" dirty="0">
                <a:latin typeface="Times New Roman" pitchFamily="18" charset="0"/>
                <a:cs typeface="Times New Roman" pitchFamily="18" charset="0"/>
              </a:rPr>
              <a:t>and asks the user to respond with options such as </a:t>
            </a:r>
            <a:r>
              <a:rPr lang="en-US" sz="2300" b="1" dirty="0">
                <a:latin typeface="Times New Roman" pitchFamily="18" charset="0"/>
                <a:cs typeface="Times New Roman" pitchFamily="18" charset="0"/>
              </a:rPr>
              <a:t>Yes</a:t>
            </a:r>
            <a:r>
              <a:rPr lang="en-US" sz="2300" dirty="0">
                <a:latin typeface="Times New Roman" pitchFamily="18" charset="0"/>
                <a:cs typeface="Times New Roman" pitchFamily="18" charset="0"/>
              </a:rPr>
              <a:t> or </a:t>
            </a:r>
            <a:r>
              <a:rPr lang="en-US" sz="2300" b="1" dirty="0">
                <a:latin typeface="Times New Roman" pitchFamily="18" charset="0"/>
                <a:cs typeface="Times New Roman" pitchFamily="18" charset="0"/>
              </a:rPr>
              <a:t>No</a:t>
            </a:r>
            <a:r>
              <a:rPr lang="en-US" sz="2300" dirty="0">
                <a:latin typeface="Times New Roman" pitchFamily="18" charset="0"/>
                <a:cs typeface="Times New Roman" pitchFamily="18" charset="0"/>
              </a:rPr>
              <a:t>. </a:t>
            </a:r>
            <a:endParaRPr lang="en-US" sz="2300" dirty="0" smtClean="0">
              <a:latin typeface="Times New Roman" pitchFamily="18" charset="0"/>
              <a:cs typeface="Times New Roman" pitchFamily="18" charset="0"/>
            </a:endParaRPr>
          </a:p>
          <a:p>
            <a:pPr algn="just" fontAlgn="base">
              <a:lnSpc>
                <a:spcPct val="150000"/>
              </a:lnSpc>
              <a:buNone/>
            </a:pPr>
            <a:r>
              <a:rPr lang="en-US" sz="2300" dirty="0" smtClean="0">
                <a:latin typeface="Times New Roman" pitchFamily="18" charset="0"/>
                <a:cs typeface="Times New Roman" pitchFamily="18" charset="0"/>
              </a:rPr>
              <a:t>     Based </a:t>
            </a:r>
            <a:r>
              <a:rPr lang="en-US" sz="2300" dirty="0">
                <a:latin typeface="Times New Roman" pitchFamily="18" charset="0"/>
                <a:cs typeface="Times New Roman" pitchFamily="18" charset="0"/>
              </a:rPr>
              <a:t>on the user's response, appropriate actions are executed. Android Alert Dialog is built with the use of three fields: </a:t>
            </a:r>
            <a:r>
              <a:rPr lang="en-US" sz="2300" b="1" dirty="0">
                <a:latin typeface="Times New Roman" pitchFamily="18" charset="0"/>
                <a:cs typeface="Times New Roman" pitchFamily="18" charset="0"/>
              </a:rPr>
              <a:t>Title, Message area, and Action Button</a:t>
            </a:r>
            <a:r>
              <a:rPr lang="en-US" sz="2300" b="1" dirty="0" smtClean="0">
                <a:latin typeface="Times New Roman" pitchFamily="18" charset="0"/>
                <a:cs typeface="Times New Roman" pitchFamily="18" charset="0"/>
              </a:rPr>
              <a:t>.</a:t>
            </a:r>
          </a:p>
          <a:p>
            <a:pPr algn="just" fontAlgn="base">
              <a:lnSpc>
                <a:spcPct val="150000"/>
              </a:lnSpc>
              <a:buNone/>
            </a:pPr>
            <a:endParaRPr lang="en-US" sz="2300" dirty="0">
              <a:latin typeface="Times New Roman" pitchFamily="18" charset="0"/>
              <a:cs typeface="Times New Roman" pitchFamily="18" charset="0"/>
            </a:endParaRPr>
          </a:p>
          <a:p>
            <a:pPr algn="just" fontAlgn="base">
              <a:lnSpc>
                <a:spcPct val="150000"/>
              </a:lnSpc>
              <a:buNone/>
            </a:pPr>
            <a:r>
              <a:rPr lang="en-US" sz="2300" b="1" dirty="0">
                <a:latin typeface="Times New Roman" pitchFamily="18" charset="0"/>
                <a:cs typeface="Times New Roman" pitchFamily="18" charset="0"/>
              </a:rPr>
              <a:t>Alert Dialog code has three methods </a:t>
            </a:r>
            <a:r>
              <a:rPr lang="en-US" sz="2300" b="1" dirty="0" smtClean="0">
                <a:latin typeface="Times New Roman" pitchFamily="18" charset="0"/>
                <a:cs typeface="Times New Roman" pitchFamily="18" charset="0"/>
              </a:rPr>
              <a:t>:</a:t>
            </a:r>
          </a:p>
          <a:p>
            <a:pPr algn="just" fontAlgn="base">
              <a:lnSpc>
                <a:spcPct val="150000"/>
              </a:lnSpc>
              <a:buNone/>
            </a:pPr>
            <a:endParaRPr lang="en-US" sz="2300" b="1" dirty="0">
              <a:latin typeface="Times New Roman" pitchFamily="18" charset="0"/>
              <a:cs typeface="Times New Roman" pitchFamily="18" charset="0"/>
            </a:endParaRPr>
          </a:p>
          <a:p>
            <a:pPr algn="just" fontAlgn="base">
              <a:lnSpc>
                <a:spcPct val="150000"/>
              </a:lnSpc>
              <a:buNone/>
            </a:pPr>
            <a:r>
              <a:rPr lang="en-US" sz="2300" b="1" dirty="0" err="1">
                <a:latin typeface="Times New Roman" pitchFamily="18" charset="0"/>
                <a:cs typeface="Times New Roman" pitchFamily="18" charset="0"/>
              </a:rPr>
              <a:t>setTitle</a:t>
            </a:r>
            <a:r>
              <a:rPr lang="en-US" sz="2300" b="1" dirty="0">
                <a:latin typeface="Times New Roman" pitchFamily="18" charset="0"/>
                <a:cs typeface="Times New Roman" pitchFamily="18" charset="0"/>
              </a:rPr>
              <a:t>():</a:t>
            </a:r>
            <a:r>
              <a:rPr lang="en-US" sz="2300" dirty="0">
                <a:latin typeface="Times New Roman" pitchFamily="18" charset="0"/>
                <a:cs typeface="Times New Roman" pitchFamily="18" charset="0"/>
              </a:rPr>
              <a:t> method for displaying the Alert Dialog box Title</a:t>
            </a:r>
          </a:p>
          <a:p>
            <a:pPr algn="just" fontAlgn="base">
              <a:lnSpc>
                <a:spcPct val="150000"/>
              </a:lnSpc>
              <a:buNone/>
            </a:pPr>
            <a:r>
              <a:rPr lang="en-US" sz="2300" b="1" dirty="0" err="1">
                <a:latin typeface="Times New Roman" pitchFamily="18" charset="0"/>
                <a:cs typeface="Times New Roman" pitchFamily="18" charset="0"/>
              </a:rPr>
              <a:t>setMessage</a:t>
            </a:r>
            <a:r>
              <a:rPr lang="en-US" sz="2300" b="1" dirty="0">
                <a:latin typeface="Times New Roman" pitchFamily="18" charset="0"/>
                <a:cs typeface="Times New Roman" pitchFamily="18" charset="0"/>
              </a:rPr>
              <a:t>(): </a:t>
            </a:r>
            <a:r>
              <a:rPr lang="en-US" sz="2300" dirty="0">
                <a:latin typeface="Times New Roman" pitchFamily="18" charset="0"/>
                <a:cs typeface="Times New Roman" pitchFamily="18" charset="0"/>
              </a:rPr>
              <a:t>method for displaying the message</a:t>
            </a:r>
          </a:p>
          <a:p>
            <a:pPr algn="just" fontAlgn="base">
              <a:lnSpc>
                <a:spcPct val="150000"/>
              </a:lnSpc>
              <a:buNone/>
            </a:pPr>
            <a:r>
              <a:rPr lang="en-US" sz="2300" b="1" dirty="0" err="1">
                <a:latin typeface="Times New Roman" pitchFamily="18" charset="0"/>
                <a:cs typeface="Times New Roman" pitchFamily="18" charset="0"/>
              </a:rPr>
              <a:t>setIcon</a:t>
            </a:r>
            <a:r>
              <a:rPr lang="en-US" sz="2300" b="1" dirty="0">
                <a:latin typeface="Times New Roman" pitchFamily="18" charset="0"/>
                <a:cs typeface="Times New Roman" pitchFamily="18" charset="0"/>
              </a:rPr>
              <a:t>(): </a:t>
            </a:r>
            <a:r>
              <a:rPr lang="en-US" sz="2300" dirty="0">
                <a:latin typeface="Times New Roman" pitchFamily="18" charset="0"/>
                <a:cs typeface="Times New Roman" pitchFamily="18" charset="0"/>
              </a:rPr>
              <a:t>method is used to set the icon on the Alert dialog box</a:t>
            </a:r>
            <a:r>
              <a:rPr lang="en-US" sz="2300" dirty="0" smtClean="0">
                <a:latin typeface="Times New Roman" pitchFamily="18" charset="0"/>
                <a:cs typeface="Times New Roman" pitchFamily="18" charset="0"/>
              </a:rPr>
              <a:t>.</a:t>
            </a:r>
          </a:p>
          <a:p>
            <a:pPr algn="just" fontAlgn="base">
              <a:lnSpc>
                <a:spcPct val="150000"/>
              </a:lnSpc>
              <a:buNone/>
            </a:pPr>
            <a:endParaRPr lang="en-US" sz="2300" dirty="0">
              <a:latin typeface="Times New Roman" pitchFamily="18" charset="0"/>
              <a:cs typeface="Times New Roman" pitchFamily="18" charset="0"/>
            </a:endParaRPr>
          </a:p>
          <a:p>
            <a:pPr algn="just" fontAlgn="base">
              <a:lnSpc>
                <a:spcPct val="150000"/>
              </a:lnSpc>
              <a:buNone/>
            </a:pPr>
            <a:r>
              <a:rPr lang="en-US" sz="2300" dirty="0">
                <a:latin typeface="Times New Roman" pitchFamily="18" charset="0"/>
                <a:cs typeface="Times New Roman" pitchFamily="18" charset="0"/>
              </a:rPr>
              <a:t>Then we add the two Buttons, </a:t>
            </a:r>
            <a:r>
              <a:rPr lang="en-US" sz="2300" b="1" dirty="0" err="1">
                <a:latin typeface="Times New Roman" pitchFamily="18" charset="0"/>
                <a:cs typeface="Times New Roman" pitchFamily="18" charset="0"/>
              </a:rPr>
              <a:t>setPositiveButton</a:t>
            </a:r>
            <a:r>
              <a:rPr lang="en-US" sz="2300" b="1" dirty="0">
                <a:latin typeface="Times New Roman" pitchFamily="18" charset="0"/>
                <a:cs typeface="Times New Roman" pitchFamily="18" charset="0"/>
              </a:rPr>
              <a:t> </a:t>
            </a:r>
            <a:r>
              <a:rPr lang="en-US" sz="2300" dirty="0">
                <a:latin typeface="Times New Roman" pitchFamily="18" charset="0"/>
                <a:cs typeface="Times New Roman" pitchFamily="18" charset="0"/>
              </a:rPr>
              <a:t>and </a:t>
            </a:r>
            <a:r>
              <a:rPr lang="en-US" sz="2300" b="1" dirty="0" err="1">
                <a:latin typeface="Times New Roman" pitchFamily="18" charset="0"/>
                <a:cs typeface="Times New Roman" pitchFamily="18" charset="0"/>
              </a:rPr>
              <a:t>setNegativeButton</a:t>
            </a:r>
            <a:r>
              <a:rPr lang="en-US" sz="2300" b="1" dirty="0">
                <a:latin typeface="Times New Roman" pitchFamily="18" charset="0"/>
                <a:cs typeface="Times New Roman" pitchFamily="18" charset="0"/>
              </a:rPr>
              <a:t> </a:t>
            </a:r>
            <a:r>
              <a:rPr lang="en-US" sz="2300" dirty="0">
                <a:latin typeface="Times New Roman" pitchFamily="18" charset="0"/>
                <a:cs typeface="Times New Roman" pitchFamily="18" charset="0"/>
              </a:rPr>
              <a:t>to our Alert Dialog Box as shown below.</a:t>
            </a: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Diagram</a:t>
            </a: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457200" y="1724923"/>
            <a:ext cx="8229600" cy="4276517"/>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74638"/>
            <a:ext cx="8258204" cy="725470"/>
          </a:xfrm>
        </p:spPr>
        <p:txBody>
          <a:bodyPr>
            <a:normAutofit fontScale="90000"/>
          </a:bodyPr>
          <a:lstStyle/>
          <a:p>
            <a:r>
              <a:rPr lang="en-US" dirty="0" smtClean="0"/>
              <a:t>Alert</a:t>
            </a:r>
            <a:endParaRPr lang="en-US" dirty="0"/>
          </a:p>
        </p:txBody>
      </p:sp>
      <p:sp>
        <p:nvSpPr>
          <p:cNvPr id="3" name="Content Placeholder 2"/>
          <p:cNvSpPr>
            <a:spLocks noGrp="1"/>
          </p:cNvSpPr>
          <p:nvPr>
            <p:ph idx="1"/>
          </p:nvPr>
        </p:nvSpPr>
        <p:spPr>
          <a:xfrm>
            <a:off x="428596" y="1142985"/>
            <a:ext cx="3643338" cy="4357718"/>
          </a:xfrm>
        </p:spPr>
        <p:txBody>
          <a:bodyPr>
            <a:normAutofit fontScale="32500" lnSpcReduction="20000"/>
          </a:bodyPr>
          <a:lstStyle/>
          <a:p>
            <a:pPr>
              <a:lnSpc>
                <a:spcPct val="170000"/>
              </a:lnSpc>
              <a:buNone/>
            </a:pPr>
            <a:r>
              <a:rPr lang="en-US" b="1" dirty="0" err="1" smtClean="0">
                <a:latin typeface="Times New Roman" pitchFamily="18" charset="0"/>
                <a:cs typeface="Times New Roman" pitchFamily="18" charset="0"/>
              </a:rPr>
              <a:t>AlertDialog.Builder</a:t>
            </a:r>
            <a:r>
              <a:rPr lang="en-US" b="1" dirty="0" smtClean="0">
                <a:latin typeface="Times New Roman" pitchFamily="18" charset="0"/>
                <a:cs typeface="Times New Roman" pitchFamily="18" charset="0"/>
              </a:rPr>
              <a:t> builder = new </a:t>
            </a:r>
            <a:r>
              <a:rPr lang="en-US" b="1" dirty="0" err="1" smtClean="0">
                <a:latin typeface="Times New Roman" pitchFamily="18" charset="0"/>
                <a:cs typeface="Times New Roman" pitchFamily="18" charset="0"/>
              </a:rPr>
              <a:t>AlertDialog.Builder</a:t>
            </a:r>
            <a:r>
              <a:rPr lang="en-US" b="1" dirty="0" smtClean="0">
                <a:latin typeface="Times New Roman" pitchFamily="18" charset="0"/>
                <a:cs typeface="Times New Roman" pitchFamily="18" charset="0"/>
              </a:rPr>
              <a:t>(this);</a:t>
            </a:r>
          </a:p>
          <a:p>
            <a:pPr>
              <a:lnSpc>
                <a:spcPct val="170000"/>
              </a:lnSpc>
              <a:buNone/>
            </a:pPr>
            <a:r>
              <a:rPr lang="en-US" dirty="0" err="1" smtClean="0">
                <a:latin typeface="Times New Roman" pitchFamily="18" charset="0"/>
                <a:cs typeface="Times New Roman" pitchFamily="18" charset="0"/>
              </a:rPr>
              <a:t>builder.setTitle</a:t>
            </a:r>
            <a:r>
              <a:rPr lang="en-US" dirty="0" smtClean="0">
                <a:latin typeface="Times New Roman" pitchFamily="18" charset="0"/>
                <a:cs typeface="Times New Roman" pitchFamily="18" charset="0"/>
              </a:rPr>
              <a:t>("Delete item"); // Title at the top</a:t>
            </a:r>
          </a:p>
          <a:p>
            <a:pPr>
              <a:lnSpc>
                <a:spcPct val="170000"/>
              </a:lnSpc>
              <a:buNone/>
            </a:pPr>
            <a:r>
              <a:rPr lang="en-US" dirty="0" err="1" smtClean="0">
                <a:latin typeface="Times New Roman" pitchFamily="18" charset="0"/>
                <a:cs typeface="Times New Roman" pitchFamily="18" charset="0"/>
              </a:rPr>
              <a:t>builder.setMessage</a:t>
            </a:r>
            <a:r>
              <a:rPr lang="en-US" dirty="0" smtClean="0">
                <a:latin typeface="Times New Roman" pitchFamily="18" charset="0"/>
                <a:cs typeface="Times New Roman" pitchFamily="18" charset="0"/>
              </a:rPr>
              <a:t>("Are you sure you want to delete?"); // Main message</a:t>
            </a:r>
          </a:p>
          <a:p>
            <a:pPr>
              <a:lnSpc>
                <a:spcPct val="170000"/>
              </a:lnSpc>
              <a:buNone/>
            </a:pPr>
            <a:endParaRPr lang="en-US" dirty="0" smtClean="0">
              <a:latin typeface="Times New Roman" pitchFamily="18" charset="0"/>
              <a:cs typeface="Times New Roman" pitchFamily="18" charset="0"/>
            </a:endParaRPr>
          </a:p>
          <a:p>
            <a:pPr>
              <a:lnSpc>
                <a:spcPct val="170000"/>
              </a:lnSpc>
              <a:buNone/>
            </a:pPr>
            <a:r>
              <a:rPr lang="en-US" dirty="0" smtClean="0">
                <a:latin typeface="Times New Roman" pitchFamily="18" charset="0"/>
                <a:cs typeface="Times New Roman" pitchFamily="18" charset="0"/>
              </a:rPr>
              <a:t>// Positive Button (Yes / Delete)</a:t>
            </a:r>
          </a:p>
          <a:p>
            <a:pPr>
              <a:lnSpc>
                <a:spcPct val="170000"/>
              </a:lnSpc>
              <a:buNone/>
            </a:pPr>
            <a:r>
              <a:rPr lang="en-US" dirty="0" err="1" smtClean="0">
                <a:latin typeface="Times New Roman" pitchFamily="18" charset="0"/>
                <a:cs typeface="Times New Roman" pitchFamily="18" charset="0"/>
              </a:rPr>
              <a:t>builder.setPositiveButton</a:t>
            </a:r>
            <a:r>
              <a:rPr lang="en-US" dirty="0" smtClean="0">
                <a:latin typeface="Times New Roman" pitchFamily="18" charset="0"/>
                <a:cs typeface="Times New Roman" pitchFamily="18" charset="0"/>
              </a:rPr>
              <a:t>("Delete", new </a:t>
            </a:r>
            <a:r>
              <a:rPr lang="en-US" dirty="0" err="1" smtClean="0">
                <a:latin typeface="Times New Roman" pitchFamily="18" charset="0"/>
                <a:cs typeface="Times New Roman" pitchFamily="18" charset="0"/>
              </a:rPr>
              <a:t>DialogInterface.OnClickListener</a:t>
            </a:r>
            <a:r>
              <a:rPr lang="en-US" dirty="0" smtClean="0">
                <a:latin typeface="Times New Roman" pitchFamily="18" charset="0"/>
                <a:cs typeface="Times New Roman" pitchFamily="18" charset="0"/>
              </a:rPr>
              <a:t>() {</a:t>
            </a:r>
          </a:p>
          <a:p>
            <a:pPr>
              <a:lnSpc>
                <a:spcPct val="170000"/>
              </a:lnSpc>
              <a:buNone/>
            </a:pPr>
            <a:r>
              <a:rPr lang="en-US" dirty="0" smtClean="0">
                <a:latin typeface="Times New Roman" pitchFamily="18" charset="0"/>
                <a:cs typeface="Times New Roman" pitchFamily="18" charset="0"/>
              </a:rPr>
              <a:t>    @Override</a:t>
            </a:r>
          </a:p>
          <a:p>
            <a:pPr>
              <a:lnSpc>
                <a:spcPct val="170000"/>
              </a:lnSpc>
              <a:buNone/>
            </a:pPr>
            <a:r>
              <a:rPr lang="en-US" dirty="0" smtClean="0">
                <a:latin typeface="Times New Roman" pitchFamily="18" charset="0"/>
                <a:cs typeface="Times New Roman" pitchFamily="18" charset="0"/>
              </a:rPr>
              <a:t>    public void </a:t>
            </a:r>
            <a:r>
              <a:rPr lang="en-US" dirty="0" err="1" smtClean="0">
                <a:latin typeface="Times New Roman" pitchFamily="18" charset="0"/>
                <a:cs typeface="Times New Roman" pitchFamily="18" charset="0"/>
              </a:rPr>
              <a:t>onClick</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DialogInterface</a:t>
            </a:r>
            <a:r>
              <a:rPr lang="en-US" dirty="0" smtClean="0">
                <a:latin typeface="Times New Roman" pitchFamily="18" charset="0"/>
                <a:cs typeface="Times New Roman" pitchFamily="18" charset="0"/>
              </a:rPr>
              <a:t> dialog, </a:t>
            </a:r>
            <a:r>
              <a:rPr lang="en-US" dirty="0" err="1" smtClean="0">
                <a:latin typeface="Times New Roman" pitchFamily="18" charset="0"/>
                <a:cs typeface="Times New Roman" pitchFamily="18" charset="0"/>
              </a:rPr>
              <a:t>int</a:t>
            </a:r>
            <a:r>
              <a:rPr lang="en-US" dirty="0" smtClean="0">
                <a:latin typeface="Times New Roman" pitchFamily="18" charset="0"/>
                <a:cs typeface="Times New Roman" pitchFamily="18" charset="0"/>
              </a:rPr>
              <a:t> which) {</a:t>
            </a:r>
          </a:p>
          <a:p>
            <a:pPr>
              <a:lnSpc>
                <a:spcPct val="170000"/>
              </a:lnSpc>
              <a:buNone/>
            </a:pP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Toast.makeText</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MainActivity.this</a:t>
            </a:r>
            <a:r>
              <a:rPr lang="en-US" dirty="0" smtClean="0">
                <a:latin typeface="Times New Roman" pitchFamily="18" charset="0"/>
                <a:cs typeface="Times New Roman" pitchFamily="18" charset="0"/>
              </a:rPr>
              <a:t>, "Deleted", </a:t>
            </a:r>
            <a:r>
              <a:rPr lang="en-US" dirty="0" err="1" smtClean="0">
                <a:latin typeface="Times New Roman" pitchFamily="18" charset="0"/>
                <a:cs typeface="Times New Roman" pitchFamily="18" charset="0"/>
              </a:rPr>
              <a:t>Toast.LENGTH_SHORT</a:t>
            </a:r>
            <a:r>
              <a:rPr lang="en-US" dirty="0" smtClean="0">
                <a:latin typeface="Times New Roman" pitchFamily="18" charset="0"/>
                <a:cs typeface="Times New Roman" pitchFamily="18" charset="0"/>
              </a:rPr>
              <a:t>).show();</a:t>
            </a:r>
          </a:p>
          <a:p>
            <a:pPr>
              <a:lnSpc>
                <a:spcPct val="170000"/>
              </a:lnSpc>
              <a:buNone/>
            </a:pPr>
            <a:r>
              <a:rPr lang="en-US" dirty="0" smtClean="0">
                <a:latin typeface="Times New Roman" pitchFamily="18" charset="0"/>
                <a:cs typeface="Times New Roman" pitchFamily="18" charset="0"/>
              </a:rPr>
              <a:t>    }</a:t>
            </a:r>
          </a:p>
          <a:p>
            <a:pPr>
              <a:lnSpc>
                <a:spcPct val="170000"/>
              </a:lnSpc>
              <a:buNone/>
            </a:pPr>
            <a:r>
              <a:rPr lang="en-US" dirty="0" smtClean="0">
                <a:latin typeface="Times New Roman" pitchFamily="18" charset="0"/>
                <a:cs typeface="Times New Roman" pitchFamily="18" charset="0"/>
              </a:rPr>
              <a:t>});</a:t>
            </a:r>
          </a:p>
          <a:p>
            <a:pPr>
              <a:lnSpc>
                <a:spcPct val="170000"/>
              </a:lnSpc>
              <a:buNone/>
            </a:pPr>
            <a:endParaRPr lang="en-US" dirty="0" smtClean="0">
              <a:latin typeface="Times New Roman" pitchFamily="18" charset="0"/>
              <a:cs typeface="Times New Roman" pitchFamily="18" charset="0"/>
            </a:endParaRPr>
          </a:p>
        </p:txBody>
      </p:sp>
      <p:sp>
        <p:nvSpPr>
          <p:cNvPr id="4" name="Rectangle 3"/>
          <p:cNvSpPr/>
          <p:nvPr/>
        </p:nvSpPr>
        <p:spPr>
          <a:xfrm>
            <a:off x="4286248" y="1285860"/>
            <a:ext cx="4000528" cy="3859518"/>
          </a:xfrm>
          <a:prstGeom prst="rect">
            <a:avLst/>
          </a:prstGeom>
        </p:spPr>
        <p:txBody>
          <a:bodyPr wrap="square">
            <a:spAutoFit/>
          </a:bodyPr>
          <a:lstStyle/>
          <a:p>
            <a:pPr>
              <a:lnSpc>
                <a:spcPct val="170000"/>
              </a:lnSpc>
              <a:buNone/>
            </a:pPr>
            <a:r>
              <a:rPr lang="en-US" sz="1200" dirty="0" smtClean="0">
                <a:latin typeface="Times New Roman" pitchFamily="18" charset="0"/>
                <a:cs typeface="Times New Roman" pitchFamily="18" charset="0"/>
              </a:rPr>
              <a:t>// Negative Button (No / Cancel)</a:t>
            </a:r>
          </a:p>
          <a:p>
            <a:pPr>
              <a:lnSpc>
                <a:spcPct val="170000"/>
              </a:lnSpc>
              <a:buNone/>
            </a:pPr>
            <a:r>
              <a:rPr lang="en-US" sz="1200" dirty="0" err="1" smtClean="0">
                <a:latin typeface="Times New Roman" pitchFamily="18" charset="0"/>
                <a:cs typeface="Times New Roman" pitchFamily="18" charset="0"/>
              </a:rPr>
              <a:t>builder.setNegativeButton</a:t>
            </a:r>
            <a:r>
              <a:rPr lang="en-US" sz="1200" dirty="0" smtClean="0">
                <a:latin typeface="Times New Roman" pitchFamily="18" charset="0"/>
                <a:cs typeface="Times New Roman" pitchFamily="18" charset="0"/>
              </a:rPr>
              <a:t>("Cancel", new </a:t>
            </a:r>
            <a:r>
              <a:rPr lang="en-US" sz="1200" dirty="0" err="1" smtClean="0">
                <a:latin typeface="Times New Roman" pitchFamily="18" charset="0"/>
                <a:cs typeface="Times New Roman" pitchFamily="18" charset="0"/>
              </a:rPr>
              <a:t>DialogInterface.OnClickListener</a:t>
            </a:r>
            <a:r>
              <a:rPr lang="en-US" sz="1200" dirty="0" smtClean="0">
                <a:latin typeface="Times New Roman" pitchFamily="18" charset="0"/>
                <a:cs typeface="Times New Roman" pitchFamily="18" charset="0"/>
              </a:rPr>
              <a:t>() {</a:t>
            </a:r>
          </a:p>
          <a:p>
            <a:pPr>
              <a:lnSpc>
                <a:spcPct val="170000"/>
              </a:lnSpc>
              <a:buNone/>
            </a:pPr>
            <a:r>
              <a:rPr lang="en-US" sz="1200" dirty="0" smtClean="0">
                <a:latin typeface="Times New Roman" pitchFamily="18" charset="0"/>
                <a:cs typeface="Times New Roman" pitchFamily="18" charset="0"/>
              </a:rPr>
              <a:t>    @Override</a:t>
            </a:r>
          </a:p>
          <a:p>
            <a:pPr>
              <a:lnSpc>
                <a:spcPct val="170000"/>
              </a:lnSpc>
              <a:buNone/>
            </a:pPr>
            <a:r>
              <a:rPr lang="en-US" sz="1200" dirty="0" smtClean="0">
                <a:latin typeface="Times New Roman" pitchFamily="18" charset="0"/>
                <a:cs typeface="Times New Roman" pitchFamily="18" charset="0"/>
              </a:rPr>
              <a:t>    public void </a:t>
            </a:r>
            <a:r>
              <a:rPr lang="en-US" sz="1200" dirty="0" err="1" smtClean="0">
                <a:latin typeface="Times New Roman" pitchFamily="18" charset="0"/>
                <a:cs typeface="Times New Roman" pitchFamily="18" charset="0"/>
              </a:rPr>
              <a:t>onClick</a:t>
            </a:r>
            <a:r>
              <a:rPr lang="en-US" sz="1200" dirty="0" smtClean="0">
                <a:latin typeface="Times New Roman" pitchFamily="18" charset="0"/>
                <a:cs typeface="Times New Roman" pitchFamily="18" charset="0"/>
              </a:rPr>
              <a:t>(</a:t>
            </a:r>
            <a:r>
              <a:rPr lang="en-US" sz="1200" dirty="0" err="1" smtClean="0">
                <a:latin typeface="Times New Roman" pitchFamily="18" charset="0"/>
                <a:cs typeface="Times New Roman" pitchFamily="18" charset="0"/>
              </a:rPr>
              <a:t>DialogInterface</a:t>
            </a:r>
            <a:r>
              <a:rPr lang="en-US" sz="1200" dirty="0" smtClean="0">
                <a:latin typeface="Times New Roman" pitchFamily="18" charset="0"/>
                <a:cs typeface="Times New Roman" pitchFamily="18" charset="0"/>
              </a:rPr>
              <a:t> dialog, </a:t>
            </a:r>
            <a:r>
              <a:rPr lang="en-US" sz="1200" dirty="0" err="1" smtClean="0">
                <a:latin typeface="Times New Roman" pitchFamily="18" charset="0"/>
                <a:cs typeface="Times New Roman" pitchFamily="18" charset="0"/>
              </a:rPr>
              <a:t>int</a:t>
            </a:r>
            <a:r>
              <a:rPr lang="en-US" sz="1200" dirty="0" smtClean="0">
                <a:latin typeface="Times New Roman" pitchFamily="18" charset="0"/>
                <a:cs typeface="Times New Roman" pitchFamily="18" charset="0"/>
              </a:rPr>
              <a:t> which) {</a:t>
            </a:r>
          </a:p>
          <a:p>
            <a:pPr>
              <a:lnSpc>
                <a:spcPct val="170000"/>
              </a:lnSpc>
              <a:buNone/>
            </a:pP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dialog.dismiss</a:t>
            </a:r>
            <a:r>
              <a:rPr lang="en-US" sz="1200" dirty="0" smtClean="0">
                <a:latin typeface="Times New Roman" pitchFamily="18" charset="0"/>
                <a:cs typeface="Times New Roman" pitchFamily="18" charset="0"/>
              </a:rPr>
              <a:t>(); // just close the dialog</a:t>
            </a:r>
          </a:p>
          <a:p>
            <a:pPr>
              <a:lnSpc>
                <a:spcPct val="170000"/>
              </a:lnSpc>
              <a:buNone/>
            </a:pPr>
            <a:r>
              <a:rPr lang="en-US" sz="1200" dirty="0" smtClean="0">
                <a:latin typeface="Times New Roman" pitchFamily="18" charset="0"/>
                <a:cs typeface="Times New Roman" pitchFamily="18" charset="0"/>
              </a:rPr>
              <a:t>    }</a:t>
            </a:r>
          </a:p>
          <a:p>
            <a:pPr>
              <a:lnSpc>
                <a:spcPct val="170000"/>
              </a:lnSpc>
              <a:buNone/>
            </a:pPr>
            <a:r>
              <a:rPr lang="en-US" sz="1200" dirty="0" smtClean="0">
                <a:latin typeface="Times New Roman" pitchFamily="18" charset="0"/>
                <a:cs typeface="Times New Roman" pitchFamily="18" charset="0"/>
              </a:rPr>
              <a:t>});</a:t>
            </a:r>
          </a:p>
          <a:p>
            <a:pPr>
              <a:lnSpc>
                <a:spcPct val="170000"/>
              </a:lnSpc>
              <a:buNone/>
            </a:pPr>
            <a:r>
              <a:rPr lang="en-US" sz="1200" dirty="0" smtClean="0">
                <a:latin typeface="Times New Roman" pitchFamily="18" charset="0"/>
                <a:cs typeface="Times New Roman" pitchFamily="18" charset="0"/>
              </a:rPr>
              <a:t>// Show the dialog</a:t>
            </a:r>
          </a:p>
          <a:p>
            <a:pPr>
              <a:lnSpc>
                <a:spcPct val="170000"/>
              </a:lnSpc>
              <a:buNone/>
            </a:pPr>
            <a:r>
              <a:rPr lang="en-US" sz="1200" dirty="0" err="1" smtClean="0">
                <a:latin typeface="Times New Roman" pitchFamily="18" charset="0"/>
                <a:cs typeface="Times New Roman" pitchFamily="18" charset="0"/>
              </a:rPr>
              <a:t>builder.setCancelable</a:t>
            </a:r>
            <a:r>
              <a:rPr lang="en-US" sz="1200" dirty="0" smtClean="0">
                <a:latin typeface="Times New Roman" pitchFamily="18" charset="0"/>
                <a:cs typeface="Times New Roman" pitchFamily="18" charset="0"/>
              </a:rPr>
              <a:t>(true); // allow closing by back button / outside tap</a:t>
            </a:r>
          </a:p>
          <a:p>
            <a:pPr>
              <a:lnSpc>
                <a:spcPct val="170000"/>
              </a:lnSpc>
              <a:buNone/>
            </a:pPr>
            <a:r>
              <a:rPr lang="en-US" sz="1200" dirty="0" err="1" smtClean="0">
                <a:latin typeface="Times New Roman" pitchFamily="18" charset="0"/>
                <a:cs typeface="Times New Roman" pitchFamily="18" charset="0"/>
              </a:rPr>
              <a:t>builder.show</a:t>
            </a:r>
            <a:r>
              <a:rPr lang="en-US" sz="1200" dirty="0" smtClean="0">
                <a:latin typeface="Times New Roman" pitchFamily="18" charset="0"/>
                <a:cs typeface="Times New Roman" pitchFamily="18" charset="0"/>
              </a:rPr>
              <a:t>();</a:t>
            </a:r>
            <a:endParaRPr lang="en-US" sz="1200" dirty="0">
              <a:latin typeface="Times New Roman" pitchFamily="18" charset="0"/>
              <a:cs typeface="Times New Roman"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Alert</a:t>
            </a:r>
            <a:endParaRPr lang="en-US" dirty="0"/>
          </a:p>
        </p:txBody>
      </p:sp>
      <p:graphicFrame>
        <p:nvGraphicFramePr>
          <p:cNvPr id="4" name="Content Placeholder 3"/>
          <p:cNvGraphicFramePr>
            <a:graphicFrameLocks noGrp="1"/>
          </p:cNvGraphicFramePr>
          <p:nvPr>
            <p:ph idx="1"/>
          </p:nvPr>
        </p:nvGraphicFramePr>
        <p:xfrm>
          <a:off x="457200" y="1600200"/>
          <a:ext cx="8229600" cy="4587240"/>
        </p:xfrm>
        <a:graphic>
          <a:graphicData uri="http://schemas.openxmlformats.org/drawingml/2006/table">
            <a:tbl>
              <a:tblPr firstRow="1" bandRow="1">
                <a:tableStyleId>{2D5ABB26-0587-4C30-8999-92F81FD0307C}</a:tableStyleId>
              </a:tblPr>
              <a:tblGrid>
                <a:gridCol w="4114800"/>
                <a:gridCol w="4114800"/>
              </a:tblGrid>
              <a:tr h="370840">
                <a:tc>
                  <a:txBody>
                    <a:bodyPr/>
                    <a:lstStyle/>
                    <a:p>
                      <a:r>
                        <a:rPr lang="en-US" dirty="0" err="1">
                          <a:latin typeface="Times New Roman" pitchFamily="18" charset="0"/>
                          <a:cs typeface="Times New Roman" pitchFamily="18" charset="0"/>
                        </a:rPr>
                        <a:t>AlertDialog.Builder</a:t>
                      </a:r>
                      <a:r>
                        <a:rPr lang="en-US" dirty="0">
                          <a:latin typeface="Times New Roman" pitchFamily="18" charset="0"/>
                          <a:cs typeface="Times New Roman" pitchFamily="18" charset="0"/>
                        </a:rPr>
                        <a:t> builder = new </a:t>
                      </a:r>
                      <a:r>
                        <a:rPr lang="en-US" dirty="0" err="1">
                          <a:latin typeface="Times New Roman" pitchFamily="18" charset="0"/>
                          <a:cs typeface="Times New Roman" pitchFamily="18" charset="0"/>
                        </a:rPr>
                        <a:t>AlertDialog.Builder</a:t>
                      </a:r>
                      <a:r>
                        <a:rPr lang="en-US" dirty="0">
                          <a:latin typeface="Times New Roman" pitchFamily="18" charset="0"/>
                          <a:cs typeface="Times New Roman" pitchFamily="18" charset="0"/>
                        </a:rPr>
                        <a:t>(this);</a:t>
                      </a:r>
                    </a:p>
                  </a:txBody>
                  <a:tcPr anchor="ctr"/>
                </a:tc>
                <a:tc>
                  <a:txBody>
                    <a:bodyPr/>
                    <a:lstStyle/>
                    <a:p>
                      <a:r>
                        <a:rPr lang="en-US" dirty="0">
                          <a:latin typeface="Times New Roman" pitchFamily="18" charset="0"/>
                          <a:cs typeface="Times New Roman" pitchFamily="18" charset="0"/>
                        </a:rPr>
                        <a:t>Makes a new alert box builder. this means current Activity context.</a:t>
                      </a:r>
                    </a:p>
                  </a:txBody>
                  <a:tcPr anchor="ctr"/>
                </a:tc>
              </a:tr>
              <a:tr h="370840">
                <a:tc>
                  <a:txBody>
                    <a:bodyPr/>
                    <a:lstStyle/>
                    <a:p>
                      <a:r>
                        <a:rPr lang="en-US" dirty="0" err="1">
                          <a:latin typeface="Times New Roman" pitchFamily="18" charset="0"/>
                          <a:cs typeface="Times New Roman" pitchFamily="18" charset="0"/>
                        </a:rPr>
                        <a:t>setTitle</a:t>
                      </a:r>
                      <a:r>
                        <a:rPr lang="en-US" dirty="0">
                          <a:latin typeface="Times New Roman" pitchFamily="18" charset="0"/>
                          <a:cs typeface="Times New Roman" pitchFamily="18" charset="0"/>
                        </a:rPr>
                        <a:t>("Delete item");</a:t>
                      </a:r>
                    </a:p>
                  </a:txBody>
                  <a:tcPr anchor="ctr"/>
                </a:tc>
                <a:tc>
                  <a:txBody>
                    <a:bodyPr/>
                    <a:lstStyle/>
                    <a:p>
                      <a:r>
                        <a:rPr lang="en-US" dirty="0" smtClean="0">
                          <a:latin typeface="Times New Roman" pitchFamily="18" charset="0"/>
                          <a:cs typeface="Times New Roman" pitchFamily="18" charset="0"/>
                        </a:rPr>
                        <a:t>Adds a </a:t>
                      </a:r>
                      <a:r>
                        <a:rPr lang="en-US" b="1" dirty="0" smtClean="0">
                          <a:latin typeface="Times New Roman" pitchFamily="18" charset="0"/>
                          <a:cs typeface="Times New Roman" pitchFamily="18" charset="0"/>
                        </a:rPr>
                        <a:t>title</a:t>
                      </a:r>
                      <a:r>
                        <a:rPr lang="en-US" dirty="0" smtClean="0">
                          <a:latin typeface="Times New Roman" pitchFamily="18" charset="0"/>
                          <a:cs typeface="Times New Roman" pitchFamily="18" charset="0"/>
                        </a:rPr>
                        <a:t> on top of the dialog.</a:t>
                      </a:r>
                      <a:endParaRPr lang="en-US" dirty="0">
                        <a:latin typeface="Times New Roman" pitchFamily="18" charset="0"/>
                        <a:cs typeface="Times New Roman" pitchFamily="18" charset="0"/>
                      </a:endParaRPr>
                    </a:p>
                  </a:txBody>
                  <a:tcPr/>
                </a:tc>
              </a:tr>
              <a:tr h="370840">
                <a:tc>
                  <a:txBody>
                    <a:bodyPr/>
                    <a:lstStyle/>
                    <a:p>
                      <a:r>
                        <a:rPr lang="en-US" dirty="0" err="1" smtClean="0">
                          <a:latin typeface="Times New Roman" pitchFamily="18" charset="0"/>
                          <a:cs typeface="Times New Roman" pitchFamily="18" charset="0"/>
                        </a:rPr>
                        <a:t>setMessage</a:t>
                      </a:r>
                      <a:r>
                        <a:rPr lang="en-US" dirty="0" smtClean="0">
                          <a:latin typeface="Times New Roman" pitchFamily="18" charset="0"/>
                          <a:cs typeface="Times New Roman" pitchFamily="18" charset="0"/>
                        </a:rPr>
                        <a:t>("Are you sure you want to delete?");</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Adds the </a:t>
                      </a:r>
                      <a:r>
                        <a:rPr lang="en-US" b="1" dirty="0" smtClean="0">
                          <a:latin typeface="Times New Roman" pitchFamily="18" charset="0"/>
                          <a:cs typeface="Times New Roman" pitchFamily="18" charset="0"/>
                        </a:rPr>
                        <a:t>main message/question</a:t>
                      </a:r>
                      <a:r>
                        <a:rPr lang="en-US" dirty="0" smtClean="0">
                          <a:latin typeface="Times New Roman" pitchFamily="18" charset="0"/>
                          <a:cs typeface="Times New Roman" pitchFamily="18" charset="0"/>
                        </a:rPr>
                        <a:t> inside the box.</a:t>
                      </a:r>
                      <a:endParaRPr lang="en-US" dirty="0">
                        <a:latin typeface="Times New Roman" pitchFamily="18" charset="0"/>
                        <a:cs typeface="Times New Roman" pitchFamily="18" charset="0"/>
                      </a:endParaRPr>
                    </a:p>
                  </a:txBody>
                  <a:tcPr/>
                </a:tc>
              </a:tr>
              <a:tr h="370840">
                <a:tc>
                  <a:txBody>
                    <a:bodyPr/>
                    <a:lstStyle/>
                    <a:p>
                      <a:r>
                        <a:rPr lang="en-US" dirty="0" err="1" smtClean="0">
                          <a:latin typeface="Times New Roman" pitchFamily="18" charset="0"/>
                          <a:cs typeface="Times New Roman" pitchFamily="18" charset="0"/>
                        </a:rPr>
                        <a:t>setPositiveButton</a:t>
                      </a:r>
                      <a:r>
                        <a:rPr lang="en-US" dirty="0" smtClean="0">
                          <a:latin typeface="Times New Roman" pitchFamily="18" charset="0"/>
                          <a:cs typeface="Times New Roman" pitchFamily="18" charset="0"/>
                        </a:rPr>
                        <a:t>("Delete", ...)</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Adds a </a:t>
                      </a:r>
                      <a:r>
                        <a:rPr lang="en-US" b="1" dirty="0" smtClean="0">
                          <a:latin typeface="Times New Roman" pitchFamily="18" charset="0"/>
                          <a:cs typeface="Times New Roman" pitchFamily="18" charset="0"/>
                        </a:rPr>
                        <a:t>YES / DELETE</a:t>
                      </a:r>
                      <a:r>
                        <a:rPr lang="en-US" dirty="0" smtClean="0">
                          <a:latin typeface="Times New Roman" pitchFamily="18" charset="0"/>
                          <a:cs typeface="Times New Roman" pitchFamily="18" charset="0"/>
                        </a:rPr>
                        <a:t> button and tells it what to do when clicked (here it shows a Toast message).</a:t>
                      </a:r>
                      <a:endParaRPr lang="en-US" dirty="0">
                        <a:latin typeface="Times New Roman" pitchFamily="18" charset="0"/>
                        <a:cs typeface="Times New Roman" pitchFamily="18" charset="0"/>
                      </a:endParaRPr>
                    </a:p>
                  </a:txBody>
                  <a:tcPr/>
                </a:tc>
              </a:tr>
              <a:tr h="370840">
                <a:tc>
                  <a:txBody>
                    <a:bodyPr/>
                    <a:lstStyle/>
                    <a:p>
                      <a:r>
                        <a:rPr lang="en-US" dirty="0" err="1" smtClean="0">
                          <a:latin typeface="Times New Roman" pitchFamily="18" charset="0"/>
                          <a:cs typeface="Times New Roman" pitchFamily="18" charset="0"/>
                        </a:rPr>
                        <a:t>setNegativeButton</a:t>
                      </a:r>
                      <a:r>
                        <a:rPr lang="en-US" dirty="0" smtClean="0">
                          <a:latin typeface="Times New Roman" pitchFamily="18" charset="0"/>
                          <a:cs typeface="Times New Roman" pitchFamily="18" charset="0"/>
                        </a:rPr>
                        <a:t>("Cancel", ...)</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Adds a </a:t>
                      </a:r>
                      <a:r>
                        <a:rPr lang="en-US" b="1" dirty="0" smtClean="0">
                          <a:latin typeface="Times New Roman" pitchFamily="18" charset="0"/>
                          <a:cs typeface="Times New Roman" pitchFamily="18" charset="0"/>
                        </a:rPr>
                        <a:t>NO / CANCEL</a:t>
                      </a:r>
                      <a:r>
                        <a:rPr lang="en-US" dirty="0" smtClean="0">
                          <a:latin typeface="Times New Roman" pitchFamily="18" charset="0"/>
                          <a:cs typeface="Times New Roman" pitchFamily="18" charset="0"/>
                        </a:rPr>
                        <a:t> button and closes the dialog when clicked.</a:t>
                      </a:r>
                      <a:endParaRPr lang="en-US" dirty="0">
                        <a:latin typeface="Times New Roman" pitchFamily="18" charset="0"/>
                        <a:cs typeface="Times New Roman" pitchFamily="18" charset="0"/>
                      </a:endParaRPr>
                    </a:p>
                  </a:txBody>
                  <a:tcPr/>
                </a:tc>
              </a:tr>
              <a:tr h="370840">
                <a:tc>
                  <a:txBody>
                    <a:bodyPr/>
                    <a:lstStyle/>
                    <a:p>
                      <a:r>
                        <a:rPr lang="en-US" dirty="0" err="1" smtClean="0">
                          <a:latin typeface="Times New Roman" pitchFamily="18" charset="0"/>
                          <a:cs typeface="Times New Roman" pitchFamily="18" charset="0"/>
                        </a:rPr>
                        <a:t>setCancelable</a:t>
                      </a:r>
                      <a:r>
                        <a:rPr lang="en-US" dirty="0" smtClean="0">
                          <a:latin typeface="Times New Roman" pitchFamily="18" charset="0"/>
                          <a:cs typeface="Times New Roman" pitchFamily="18" charset="0"/>
                        </a:rPr>
                        <a:t>(true);</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Allows user to cancel by pressing the back button or tapping outside.</a:t>
                      </a:r>
                      <a:endParaRPr lang="en-US" dirty="0">
                        <a:latin typeface="Times New Roman" pitchFamily="18" charset="0"/>
                        <a:cs typeface="Times New Roman" pitchFamily="18" charset="0"/>
                      </a:endParaRPr>
                    </a:p>
                  </a:txBody>
                  <a:tcPr/>
                </a:tc>
              </a:tr>
              <a:tr h="370840">
                <a:tc>
                  <a:txBody>
                    <a:bodyPr/>
                    <a:lstStyle/>
                    <a:p>
                      <a:r>
                        <a:rPr lang="en-US" dirty="0" smtClean="0">
                          <a:latin typeface="Times New Roman" pitchFamily="18" charset="0"/>
                          <a:cs typeface="Times New Roman" pitchFamily="18" charset="0"/>
                        </a:rPr>
                        <a:t>show();</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Finally, shows the alert box on the screen.</a:t>
                      </a:r>
                      <a:endParaRPr lang="en-US" dirty="0">
                        <a:latin typeface="Times New Roman" pitchFamily="18" charset="0"/>
                        <a:cs typeface="Times New Roman" pitchFamily="18" charset="0"/>
                      </a:endParaRPr>
                    </a:p>
                  </a:txBody>
                  <a:tcPr/>
                </a:tc>
              </a:tr>
              <a:tr h="370840">
                <a:tc>
                  <a:txBody>
                    <a:bodyPr/>
                    <a:lstStyle/>
                    <a:p>
                      <a:endParaRPr lang="en-US"/>
                    </a:p>
                  </a:txBody>
                  <a:tcPr/>
                </a:tc>
                <a:tc>
                  <a:txBody>
                    <a:bodyPr/>
                    <a:lstStyle/>
                    <a:p>
                      <a:endParaRPr lang="en-US" dirty="0"/>
                    </a:p>
                  </a:txBody>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4348" y="274638"/>
            <a:ext cx="7972452" cy="582594"/>
          </a:xfrm>
        </p:spPr>
        <p:txBody>
          <a:bodyPr>
            <a:normAutofit fontScale="90000"/>
          </a:bodyPr>
          <a:lstStyle/>
          <a:p>
            <a:r>
              <a:rPr lang="en-US" dirty="0" smtClean="0"/>
              <a:t>Example</a:t>
            </a:r>
            <a:endParaRPr lang="en-US" dirty="0"/>
          </a:p>
        </p:txBody>
      </p:sp>
      <p:sp>
        <p:nvSpPr>
          <p:cNvPr id="3" name="Content Placeholder 2"/>
          <p:cNvSpPr>
            <a:spLocks noGrp="1"/>
          </p:cNvSpPr>
          <p:nvPr>
            <p:ph idx="1"/>
          </p:nvPr>
        </p:nvSpPr>
        <p:spPr>
          <a:xfrm>
            <a:off x="0" y="785794"/>
            <a:ext cx="4214810" cy="5340369"/>
          </a:xfrm>
        </p:spPr>
        <p:txBody>
          <a:bodyPr>
            <a:normAutofit fontScale="25000" lnSpcReduction="20000"/>
          </a:bodyPr>
          <a:lstStyle/>
          <a:p>
            <a:pPr>
              <a:buNone/>
            </a:pPr>
            <a:r>
              <a:rPr lang="en-US" sz="4800" dirty="0" smtClean="0">
                <a:latin typeface="Times New Roman" pitchFamily="18" charset="0"/>
                <a:cs typeface="Times New Roman" pitchFamily="18" charset="0"/>
              </a:rPr>
              <a:t>import </a:t>
            </a:r>
            <a:r>
              <a:rPr lang="en-US" sz="4800" dirty="0" err="1" smtClean="0">
                <a:latin typeface="Times New Roman" pitchFamily="18" charset="0"/>
                <a:cs typeface="Times New Roman" pitchFamily="18" charset="0"/>
              </a:rPr>
              <a:t>android.content.DialogInterface</a:t>
            </a:r>
            <a:r>
              <a:rPr lang="en-US" sz="4800" dirty="0" smtClean="0">
                <a:latin typeface="Times New Roman" pitchFamily="18" charset="0"/>
                <a:cs typeface="Times New Roman" pitchFamily="18" charset="0"/>
              </a:rPr>
              <a:t>;</a:t>
            </a:r>
          </a:p>
          <a:p>
            <a:pPr>
              <a:buNone/>
            </a:pPr>
            <a:r>
              <a:rPr lang="en-US" sz="4800" dirty="0" smtClean="0">
                <a:latin typeface="Times New Roman" pitchFamily="18" charset="0"/>
                <a:cs typeface="Times New Roman" pitchFamily="18" charset="0"/>
              </a:rPr>
              <a:t>import </a:t>
            </a:r>
            <a:r>
              <a:rPr lang="en-US" sz="4800" dirty="0" err="1" smtClean="0">
                <a:latin typeface="Times New Roman" pitchFamily="18" charset="0"/>
                <a:cs typeface="Times New Roman" pitchFamily="18" charset="0"/>
              </a:rPr>
              <a:t>android.os.Bundle</a:t>
            </a:r>
            <a:r>
              <a:rPr lang="en-US" sz="4800" dirty="0" smtClean="0">
                <a:latin typeface="Times New Roman" pitchFamily="18" charset="0"/>
                <a:cs typeface="Times New Roman" pitchFamily="18" charset="0"/>
              </a:rPr>
              <a:t>;</a:t>
            </a:r>
          </a:p>
          <a:p>
            <a:pPr>
              <a:buNone/>
            </a:pPr>
            <a:r>
              <a:rPr lang="en-US" sz="4800" dirty="0" smtClean="0">
                <a:latin typeface="Times New Roman" pitchFamily="18" charset="0"/>
                <a:cs typeface="Times New Roman" pitchFamily="18" charset="0"/>
              </a:rPr>
              <a:t>import </a:t>
            </a:r>
            <a:r>
              <a:rPr lang="en-US" sz="4800" dirty="0" err="1" smtClean="0">
                <a:latin typeface="Times New Roman" pitchFamily="18" charset="0"/>
                <a:cs typeface="Times New Roman" pitchFamily="18" charset="0"/>
              </a:rPr>
              <a:t>androidx.appcompat.app.AlertDialog</a:t>
            </a:r>
            <a:r>
              <a:rPr lang="en-US" sz="4800" dirty="0" smtClean="0">
                <a:latin typeface="Times New Roman" pitchFamily="18" charset="0"/>
                <a:cs typeface="Times New Roman" pitchFamily="18" charset="0"/>
              </a:rPr>
              <a:t>;</a:t>
            </a:r>
          </a:p>
          <a:p>
            <a:pPr>
              <a:buNone/>
            </a:pPr>
            <a:r>
              <a:rPr lang="en-US" sz="4800" dirty="0" smtClean="0">
                <a:latin typeface="Times New Roman" pitchFamily="18" charset="0"/>
                <a:cs typeface="Times New Roman" pitchFamily="18" charset="0"/>
              </a:rPr>
              <a:t>import </a:t>
            </a:r>
            <a:r>
              <a:rPr lang="en-US" sz="4800" dirty="0" err="1" smtClean="0">
                <a:latin typeface="Times New Roman" pitchFamily="18" charset="0"/>
                <a:cs typeface="Times New Roman" pitchFamily="18" charset="0"/>
              </a:rPr>
              <a:t>androidx.appcompat.app.AppCompatActivity</a:t>
            </a:r>
            <a:r>
              <a:rPr lang="en-US" sz="4800" dirty="0" smtClean="0">
                <a:latin typeface="Times New Roman" pitchFamily="18" charset="0"/>
                <a:cs typeface="Times New Roman" pitchFamily="18" charset="0"/>
              </a:rPr>
              <a:t>;</a:t>
            </a:r>
          </a:p>
          <a:p>
            <a:pPr>
              <a:buNone/>
            </a:pPr>
            <a:endParaRPr lang="en-US" sz="4800" dirty="0" smtClean="0">
              <a:latin typeface="Times New Roman" pitchFamily="18" charset="0"/>
              <a:cs typeface="Times New Roman" pitchFamily="18" charset="0"/>
            </a:endParaRPr>
          </a:p>
          <a:p>
            <a:pPr>
              <a:buNone/>
            </a:pPr>
            <a:r>
              <a:rPr lang="en-US" sz="4800" dirty="0" smtClean="0">
                <a:latin typeface="Times New Roman" pitchFamily="18" charset="0"/>
                <a:cs typeface="Times New Roman" pitchFamily="18" charset="0"/>
              </a:rPr>
              <a:t>public class </a:t>
            </a:r>
            <a:r>
              <a:rPr lang="en-US" sz="4800" dirty="0" err="1" smtClean="0">
                <a:latin typeface="Times New Roman" pitchFamily="18" charset="0"/>
                <a:cs typeface="Times New Roman" pitchFamily="18" charset="0"/>
              </a:rPr>
              <a:t>MainActivity</a:t>
            </a:r>
            <a:r>
              <a:rPr lang="en-US" sz="4800" dirty="0" smtClean="0">
                <a:latin typeface="Times New Roman" pitchFamily="18" charset="0"/>
                <a:cs typeface="Times New Roman" pitchFamily="18" charset="0"/>
              </a:rPr>
              <a:t> extends </a:t>
            </a:r>
            <a:r>
              <a:rPr lang="en-US" sz="4800" dirty="0" err="1" smtClean="0">
                <a:latin typeface="Times New Roman" pitchFamily="18" charset="0"/>
                <a:cs typeface="Times New Roman" pitchFamily="18" charset="0"/>
              </a:rPr>
              <a:t>AppCompatActivity</a:t>
            </a:r>
            <a:r>
              <a:rPr lang="en-US" sz="4800" dirty="0" smtClean="0">
                <a:latin typeface="Times New Roman" pitchFamily="18" charset="0"/>
                <a:cs typeface="Times New Roman" pitchFamily="18" charset="0"/>
              </a:rPr>
              <a:t> </a:t>
            </a:r>
          </a:p>
          <a:p>
            <a:pPr>
              <a:buNone/>
            </a:pPr>
            <a:r>
              <a:rPr lang="en-US" sz="4800" dirty="0" smtClean="0">
                <a:latin typeface="Times New Roman" pitchFamily="18" charset="0"/>
                <a:cs typeface="Times New Roman" pitchFamily="18" charset="0"/>
              </a:rPr>
              <a:t>{</a:t>
            </a:r>
          </a:p>
          <a:p>
            <a:pPr>
              <a:buNone/>
            </a:pPr>
            <a:endParaRPr lang="en-US" sz="4800" dirty="0" smtClean="0">
              <a:latin typeface="Times New Roman" pitchFamily="18" charset="0"/>
              <a:cs typeface="Times New Roman" pitchFamily="18" charset="0"/>
            </a:endParaRPr>
          </a:p>
          <a:p>
            <a:pPr>
              <a:buNone/>
            </a:pPr>
            <a:r>
              <a:rPr lang="en-US" sz="4800" dirty="0" smtClean="0">
                <a:latin typeface="Times New Roman" pitchFamily="18" charset="0"/>
                <a:cs typeface="Times New Roman" pitchFamily="18" charset="0"/>
              </a:rPr>
              <a:t>    @Override</a:t>
            </a:r>
          </a:p>
          <a:p>
            <a:pPr>
              <a:buNone/>
            </a:pPr>
            <a:r>
              <a:rPr lang="en-US" sz="4800" dirty="0" smtClean="0">
                <a:latin typeface="Times New Roman" pitchFamily="18" charset="0"/>
                <a:cs typeface="Times New Roman" pitchFamily="18" charset="0"/>
              </a:rPr>
              <a:t>    protected void </a:t>
            </a:r>
            <a:r>
              <a:rPr lang="en-US" sz="4800" dirty="0" err="1" smtClean="0">
                <a:latin typeface="Times New Roman" pitchFamily="18" charset="0"/>
                <a:cs typeface="Times New Roman" pitchFamily="18" charset="0"/>
              </a:rPr>
              <a:t>onCreate</a:t>
            </a:r>
            <a:r>
              <a:rPr lang="en-US" sz="4800" dirty="0" smtClean="0">
                <a:latin typeface="Times New Roman" pitchFamily="18" charset="0"/>
                <a:cs typeface="Times New Roman" pitchFamily="18" charset="0"/>
              </a:rPr>
              <a:t>(Bundle </a:t>
            </a:r>
            <a:r>
              <a:rPr lang="en-US" sz="4800" dirty="0" err="1" smtClean="0">
                <a:latin typeface="Times New Roman" pitchFamily="18" charset="0"/>
                <a:cs typeface="Times New Roman" pitchFamily="18" charset="0"/>
              </a:rPr>
              <a:t>savedInstanceState</a:t>
            </a:r>
            <a:r>
              <a:rPr lang="en-US" sz="4800" dirty="0" smtClean="0">
                <a:latin typeface="Times New Roman" pitchFamily="18" charset="0"/>
                <a:cs typeface="Times New Roman" pitchFamily="18" charset="0"/>
              </a:rPr>
              <a:t>) {</a:t>
            </a:r>
          </a:p>
          <a:p>
            <a:pPr>
              <a:buNone/>
            </a:pPr>
            <a:r>
              <a:rPr lang="en-US" sz="4800" dirty="0" smtClean="0">
                <a:latin typeface="Times New Roman" pitchFamily="18" charset="0"/>
                <a:cs typeface="Times New Roman" pitchFamily="18" charset="0"/>
              </a:rPr>
              <a:t>        </a:t>
            </a:r>
            <a:r>
              <a:rPr lang="en-US" sz="4800" dirty="0" err="1" smtClean="0">
                <a:latin typeface="Times New Roman" pitchFamily="18" charset="0"/>
                <a:cs typeface="Times New Roman" pitchFamily="18" charset="0"/>
              </a:rPr>
              <a:t>super.onCreate</a:t>
            </a:r>
            <a:r>
              <a:rPr lang="en-US" sz="4800" dirty="0" smtClean="0">
                <a:latin typeface="Times New Roman" pitchFamily="18" charset="0"/>
                <a:cs typeface="Times New Roman" pitchFamily="18" charset="0"/>
              </a:rPr>
              <a:t>(</a:t>
            </a:r>
            <a:r>
              <a:rPr lang="en-US" sz="4800" dirty="0" err="1" smtClean="0">
                <a:latin typeface="Times New Roman" pitchFamily="18" charset="0"/>
                <a:cs typeface="Times New Roman" pitchFamily="18" charset="0"/>
              </a:rPr>
              <a:t>savedInstanceState</a:t>
            </a:r>
            <a:r>
              <a:rPr lang="en-US" sz="4800" dirty="0" smtClean="0">
                <a:latin typeface="Times New Roman" pitchFamily="18" charset="0"/>
                <a:cs typeface="Times New Roman" pitchFamily="18" charset="0"/>
              </a:rPr>
              <a:t>);</a:t>
            </a:r>
          </a:p>
          <a:p>
            <a:pPr>
              <a:buNone/>
            </a:pPr>
            <a:r>
              <a:rPr lang="en-US" sz="4800" dirty="0" smtClean="0">
                <a:latin typeface="Times New Roman" pitchFamily="18" charset="0"/>
                <a:cs typeface="Times New Roman" pitchFamily="18" charset="0"/>
              </a:rPr>
              <a:t>        </a:t>
            </a:r>
            <a:r>
              <a:rPr lang="en-US" sz="4800" dirty="0" err="1" smtClean="0">
                <a:latin typeface="Times New Roman" pitchFamily="18" charset="0"/>
                <a:cs typeface="Times New Roman" pitchFamily="18" charset="0"/>
              </a:rPr>
              <a:t>setContentView</a:t>
            </a:r>
            <a:r>
              <a:rPr lang="en-US" sz="4800" dirty="0" smtClean="0">
                <a:latin typeface="Times New Roman" pitchFamily="18" charset="0"/>
                <a:cs typeface="Times New Roman" pitchFamily="18" charset="0"/>
              </a:rPr>
              <a:t>(</a:t>
            </a:r>
            <a:r>
              <a:rPr lang="en-US" sz="4800" dirty="0" err="1" smtClean="0">
                <a:latin typeface="Times New Roman" pitchFamily="18" charset="0"/>
                <a:cs typeface="Times New Roman" pitchFamily="18" charset="0"/>
              </a:rPr>
              <a:t>R.layout.activity_main</a:t>
            </a:r>
            <a:r>
              <a:rPr lang="en-US" sz="4800" dirty="0" smtClean="0">
                <a:latin typeface="Times New Roman" pitchFamily="18" charset="0"/>
                <a:cs typeface="Times New Roman" pitchFamily="18" charset="0"/>
              </a:rPr>
              <a:t>);</a:t>
            </a:r>
          </a:p>
          <a:p>
            <a:pPr>
              <a:buNone/>
            </a:pPr>
            <a:r>
              <a:rPr lang="en-US" sz="4800" dirty="0" smtClean="0">
                <a:latin typeface="Times New Roman" pitchFamily="18" charset="0"/>
                <a:cs typeface="Times New Roman" pitchFamily="18" charset="0"/>
              </a:rPr>
              <a:t>    }</a:t>
            </a:r>
          </a:p>
          <a:p>
            <a:pPr>
              <a:buNone/>
            </a:pPr>
            <a:endParaRPr lang="en-US" sz="4800" dirty="0" smtClean="0">
              <a:latin typeface="Times New Roman" pitchFamily="18" charset="0"/>
              <a:cs typeface="Times New Roman" pitchFamily="18" charset="0"/>
            </a:endParaRPr>
          </a:p>
          <a:p>
            <a:pPr>
              <a:buNone/>
            </a:pPr>
            <a:r>
              <a:rPr lang="en-US" sz="4800" dirty="0" smtClean="0">
                <a:latin typeface="Times New Roman" pitchFamily="18" charset="0"/>
                <a:cs typeface="Times New Roman" pitchFamily="18" charset="0"/>
              </a:rPr>
              <a:t>    // Declare the </a:t>
            </a:r>
            <a:r>
              <a:rPr lang="en-US" sz="4800" dirty="0" err="1" smtClean="0">
                <a:latin typeface="Times New Roman" pitchFamily="18" charset="0"/>
                <a:cs typeface="Times New Roman" pitchFamily="18" charset="0"/>
              </a:rPr>
              <a:t>onBackPressed</a:t>
            </a:r>
            <a:r>
              <a:rPr lang="en-US" sz="4800" dirty="0" smtClean="0">
                <a:latin typeface="Times New Roman" pitchFamily="18" charset="0"/>
                <a:cs typeface="Times New Roman" pitchFamily="18" charset="0"/>
              </a:rPr>
              <a:t> method when the</a:t>
            </a:r>
          </a:p>
          <a:p>
            <a:pPr>
              <a:buNone/>
            </a:pPr>
            <a:r>
              <a:rPr lang="en-US" sz="4800" dirty="0" smtClean="0">
                <a:latin typeface="Times New Roman" pitchFamily="18" charset="0"/>
                <a:cs typeface="Times New Roman" pitchFamily="18" charset="0"/>
              </a:rPr>
              <a:t>    // back button is pressed this method will call</a:t>
            </a:r>
          </a:p>
          <a:p>
            <a:pPr>
              <a:buNone/>
            </a:pPr>
            <a:r>
              <a:rPr lang="en-US" sz="4800" dirty="0" smtClean="0">
                <a:latin typeface="Times New Roman" pitchFamily="18" charset="0"/>
                <a:cs typeface="Times New Roman" pitchFamily="18" charset="0"/>
              </a:rPr>
              <a:t>    @Override</a:t>
            </a:r>
          </a:p>
          <a:p>
            <a:pPr>
              <a:buNone/>
            </a:pPr>
            <a:r>
              <a:rPr lang="en-US" sz="4800" dirty="0" smtClean="0">
                <a:latin typeface="Times New Roman" pitchFamily="18" charset="0"/>
                <a:cs typeface="Times New Roman" pitchFamily="18" charset="0"/>
              </a:rPr>
              <a:t>    public void </a:t>
            </a:r>
            <a:r>
              <a:rPr lang="en-US" sz="4800" dirty="0" err="1" smtClean="0">
                <a:latin typeface="Times New Roman" pitchFamily="18" charset="0"/>
                <a:cs typeface="Times New Roman" pitchFamily="18" charset="0"/>
              </a:rPr>
              <a:t>onBackPressed</a:t>
            </a:r>
            <a:r>
              <a:rPr lang="en-US" sz="4800" dirty="0" smtClean="0">
                <a:latin typeface="Times New Roman" pitchFamily="18" charset="0"/>
                <a:cs typeface="Times New Roman" pitchFamily="18" charset="0"/>
              </a:rPr>
              <a:t>() {</a:t>
            </a:r>
          </a:p>
          <a:p>
            <a:pPr>
              <a:buNone/>
            </a:pPr>
            <a:r>
              <a:rPr lang="en-US" sz="4800" dirty="0" smtClean="0">
                <a:latin typeface="Times New Roman" pitchFamily="18" charset="0"/>
                <a:cs typeface="Times New Roman" pitchFamily="18" charset="0"/>
              </a:rPr>
              <a:t>        </a:t>
            </a:r>
          </a:p>
          <a:p>
            <a:pPr>
              <a:buNone/>
            </a:pPr>
            <a:r>
              <a:rPr lang="en-US" sz="4800" dirty="0" smtClean="0">
                <a:latin typeface="Times New Roman" pitchFamily="18" charset="0"/>
                <a:cs typeface="Times New Roman" pitchFamily="18" charset="0"/>
              </a:rPr>
              <a:t>        // Create the object of </a:t>
            </a:r>
            <a:r>
              <a:rPr lang="en-US" sz="4800" dirty="0" err="1" smtClean="0">
                <a:latin typeface="Times New Roman" pitchFamily="18" charset="0"/>
                <a:cs typeface="Times New Roman" pitchFamily="18" charset="0"/>
              </a:rPr>
              <a:t>AlertDialog</a:t>
            </a:r>
            <a:r>
              <a:rPr lang="en-US" sz="4800" dirty="0" smtClean="0">
                <a:latin typeface="Times New Roman" pitchFamily="18" charset="0"/>
                <a:cs typeface="Times New Roman" pitchFamily="18" charset="0"/>
              </a:rPr>
              <a:t> Builder class</a:t>
            </a:r>
          </a:p>
          <a:p>
            <a:pPr>
              <a:buNone/>
            </a:pPr>
            <a:r>
              <a:rPr lang="en-US" sz="4800" dirty="0" smtClean="0">
                <a:latin typeface="Times New Roman" pitchFamily="18" charset="0"/>
                <a:cs typeface="Times New Roman" pitchFamily="18" charset="0"/>
              </a:rPr>
              <a:t>        </a:t>
            </a:r>
            <a:r>
              <a:rPr lang="en-US" sz="4800" dirty="0" err="1" smtClean="0">
                <a:latin typeface="Times New Roman" pitchFamily="18" charset="0"/>
                <a:cs typeface="Times New Roman" pitchFamily="18" charset="0"/>
              </a:rPr>
              <a:t>AlertDialog.Builder</a:t>
            </a:r>
            <a:r>
              <a:rPr lang="en-US" sz="4800" dirty="0" smtClean="0">
                <a:latin typeface="Times New Roman" pitchFamily="18" charset="0"/>
                <a:cs typeface="Times New Roman" pitchFamily="18" charset="0"/>
              </a:rPr>
              <a:t> builder = new </a:t>
            </a:r>
            <a:r>
              <a:rPr lang="en-US" sz="4800" dirty="0" err="1" smtClean="0">
                <a:latin typeface="Times New Roman" pitchFamily="18" charset="0"/>
                <a:cs typeface="Times New Roman" pitchFamily="18" charset="0"/>
              </a:rPr>
              <a:t>AlertDialog.Builder</a:t>
            </a:r>
            <a:r>
              <a:rPr lang="en-US" sz="4800" dirty="0" smtClean="0">
                <a:latin typeface="Times New Roman" pitchFamily="18" charset="0"/>
                <a:cs typeface="Times New Roman" pitchFamily="18" charset="0"/>
              </a:rPr>
              <a:t>(</a:t>
            </a:r>
            <a:r>
              <a:rPr lang="en-US" sz="4800" dirty="0" err="1" smtClean="0">
                <a:latin typeface="Times New Roman" pitchFamily="18" charset="0"/>
                <a:cs typeface="Times New Roman" pitchFamily="18" charset="0"/>
              </a:rPr>
              <a:t>MainActivity.this</a:t>
            </a:r>
            <a:r>
              <a:rPr lang="en-US" sz="4800" dirty="0" smtClean="0">
                <a:latin typeface="Times New Roman" pitchFamily="18" charset="0"/>
                <a:cs typeface="Times New Roman" pitchFamily="18" charset="0"/>
              </a:rPr>
              <a:t>);</a:t>
            </a:r>
          </a:p>
          <a:p>
            <a:pPr>
              <a:buNone/>
            </a:pPr>
            <a:endParaRPr lang="en-US" sz="4800" dirty="0" smtClean="0">
              <a:latin typeface="Times New Roman" pitchFamily="18" charset="0"/>
              <a:cs typeface="Times New Roman" pitchFamily="18" charset="0"/>
            </a:endParaRPr>
          </a:p>
          <a:p>
            <a:pPr>
              <a:buNone/>
            </a:pPr>
            <a:r>
              <a:rPr lang="en-US" sz="4800" dirty="0" smtClean="0">
                <a:latin typeface="Times New Roman" pitchFamily="18" charset="0"/>
                <a:cs typeface="Times New Roman" pitchFamily="18" charset="0"/>
              </a:rPr>
              <a:t>        // Set the message show for the Alert time</a:t>
            </a:r>
          </a:p>
          <a:p>
            <a:pPr>
              <a:buNone/>
            </a:pPr>
            <a:r>
              <a:rPr lang="en-US" sz="4800" dirty="0" smtClean="0">
                <a:latin typeface="Times New Roman" pitchFamily="18" charset="0"/>
                <a:cs typeface="Times New Roman" pitchFamily="18" charset="0"/>
              </a:rPr>
              <a:t>        </a:t>
            </a:r>
            <a:r>
              <a:rPr lang="en-US" sz="4800" dirty="0" err="1" smtClean="0">
                <a:latin typeface="Times New Roman" pitchFamily="18" charset="0"/>
                <a:cs typeface="Times New Roman" pitchFamily="18" charset="0"/>
              </a:rPr>
              <a:t>builder.setMessage</a:t>
            </a:r>
            <a:r>
              <a:rPr lang="en-US" sz="4800" dirty="0" smtClean="0">
                <a:latin typeface="Times New Roman" pitchFamily="18" charset="0"/>
                <a:cs typeface="Times New Roman" pitchFamily="18" charset="0"/>
              </a:rPr>
              <a:t>("Do you want to exit ?");</a:t>
            </a:r>
          </a:p>
          <a:p>
            <a:pPr>
              <a:buNone/>
            </a:pPr>
            <a:endParaRPr lang="en-US" sz="4800" dirty="0" smtClean="0">
              <a:latin typeface="Times New Roman" pitchFamily="18" charset="0"/>
              <a:cs typeface="Times New Roman" pitchFamily="18" charset="0"/>
            </a:endParaRPr>
          </a:p>
          <a:p>
            <a:pPr>
              <a:buNone/>
            </a:pPr>
            <a:r>
              <a:rPr lang="en-US" sz="4800" dirty="0" smtClean="0">
                <a:latin typeface="Times New Roman" pitchFamily="18" charset="0"/>
                <a:cs typeface="Times New Roman" pitchFamily="18" charset="0"/>
              </a:rPr>
              <a:t>        // Set Alert Title</a:t>
            </a:r>
          </a:p>
          <a:p>
            <a:pPr>
              <a:buNone/>
            </a:pPr>
            <a:r>
              <a:rPr lang="en-US" sz="4800" dirty="0" smtClean="0">
                <a:latin typeface="Times New Roman" pitchFamily="18" charset="0"/>
                <a:cs typeface="Times New Roman" pitchFamily="18" charset="0"/>
              </a:rPr>
              <a:t>        </a:t>
            </a:r>
            <a:r>
              <a:rPr lang="en-US" sz="4800" dirty="0" err="1" smtClean="0">
                <a:latin typeface="Times New Roman" pitchFamily="18" charset="0"/>
                <a:cs typeface="Times New Roman" pitchFamily="18" charset="0"/>
              </a:rPr>
              <a:t>builder.setTitle</a:t>
            </a:r>
            <a:r>
              <a:rPr lang="en-US" sz="4800" dirty="0" smtClean="0">
                <a:latin typeface="Times New Roman" pitchFamily="18" charset="0"/>
                <a:cs typeface="Times New Roman" pitchFamily="18" charset="0"/>
              </a:rPr>
              <a:t>("Alert !");</a:t>
            </a:r>
          </a:p>
          <a:p>
            <a:pPr>
              <a:buNone/>
            </a:pPr>
            <a:endParaRPr lang="en-US" dirty="0" smtClean="0"/>
          </a:p>
          <a:p>
            <a:pPr>
              <a:buNone/>
            </a:pPr>
            <a:r>
              <a:rPr lang="en-US" dirty="0" smtClean="0"/>
              <a:t>        </a:t>
            </a:r>
            <a:endParaRPr lang="en-US" dirty="0"/>
          </a:p>
        </p:txBody>
      </p:sp>
      <p:sp>
        <p:nvSpPr>
          <p:cNvPr id="4" name="Rectangle 3"/>
          <p:cNvSpPr/>
          <p:nvPr/>
        </p:nvSpPr>
        <p:spPr>
          <a:xfrm>
            <a:off x="4429124" y="785794"/>
            <a:ext cx="4572000" cy="5447645"/>
          </a:xfrm>
          <a:prstGeom prst="rect">
            <a:avLst/>
          </a:prstGeom>
        </p:spPr>
        <p:txBody>
          <a:bodyPr>
            <a:spAutoFit/>
          </a:bodyPr>
          <a:lstStyle/>
          <a:p>
            <a:pPr>
              <a:buNone/>
            </a:pPr>
            <a:r>
              <a:rPr lang="en-US" sz="1200" dirty="0" smtClean="0">
                <a:latin typeface="Times New Roman" pitchFamily="18" charset="0"/>
                <a:cs typeface="Times New Roman" pitchFamily="18" charset="0"/>
              </a:rPr>
              <a:t>// Set Cancelable false for when the user clicks</a:t>
            </a:r>
          </a:p>
          <a:p>
            <a:pPr>
              <a:buNone/>
            </a:pPr>
            <a:r>
              <a:rPr lang="en-US" sz="1200" dirty="0" smtClean="0">
                <a:latin typeface="Times New Roman" pitchFamily="18" charset="0"/>
                <a:cs typeface="Times New Roman" pitchFamily="18" charset="0"/>
              </a:rPr>
              <a:t>        // on the outside the Dialog Box then it will remain show</a:t>
            </a:r>
          </a:p>
          <a:p>
            <a:pPr>
              <a:buNone/>
            </a:pP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builder.setCancelable</a:t>
            </a:r>
            <a:r>
              <a:rPr lang="en-US" sz="1200" dirty="0" smtClean="0">
                <a:latin typeface="Times New Roman" pitchFamily="18" charset="0"/>
                <a:cs typeface="Times New Roman" pitchFamily="18" charset="0"/>
              </a:rPr>
              <a:t>(false);</a:t>
            </a:r>
          </a:p>
          <a:p>
            <a:pPr>
              <a:buNone/>
            </a:pPr>
            <a:endParaRPr lang="en-US" sz="1200" dirty="0" smtClean="0">
              <a:latin typeface="Times New Roman" pitchFamily="18" charset="0"/>
              <a:cs typeface="Times New Roman" pitchFamily="18" charset="0"/>
            </a:endParaRPr>
          </a:p>
          <a:p>
            <a:pPr>
              <a:buNone/>
            </a:pPr>
            <a:r>
              <a:rPr lang="en-US" sz="1200" dirty="0" smtClean="0">
                <a:latin typeface="Times New Roman" pitchFamily="18" charset="0"/>
                <a:cs typeface="Times New Roman" pitchFamily="18" charset="0"/>
              </a:rPr>
              <a:t>        // Set the positive button with yes name Lambda</a:t>
            </a:r>
          </a:p>
          <a:p>
            <a:pPr>
              <a:buNone/>
            </a:pPr>
            <a:r>
              <a:rPr lang="en-US" sz="1200" dirty="0" smtClean="0">
                <a:latin typeface="Times New Roman" pitchFamily="18" charset="0"/>
                <a:cs typeface="Times New Roman" pitchFamily="18" charset="0"/>
              </a:rPr>
              <a:t>        // </a:t>
            </a:r>
            <a:r>
              <a:rPr lang="en-US" sz="1200" dirty="0" err="1" smtClean="0">
                <a:latin typeface="Times New Roman" pitchFamily="18" charset="0"/>
                <a:cs typeface="Times New Roman" pitchFamily="18" charset="0"/>
              </a:rPr>
              <a:t>OnClickListener</a:t>
            </a:r>
            <a:r>
              <a:rPr lang="en-US" sz="1200" dirty="0" smtClean="0">
                <a:latin typeface="Times New Roman" pitchFamily="18" charset="0"/>
                <a:cs typeface="Times New Roman" pitchFamily="18" charset="0"/>
              </a:rPr>
              <a:t> method is use of </a:t>
            </a:r>
            <a:r>
              <a:rPr lang="en-US" sz="1200" dirty="0" err="1" smtClean="0">
                <a:latin typeface="Times New Roman" pitchFamily="18" charset="0"/>
                <a:cs typeface="Times New Roman" pitchFamily="18" charset="0"/>
              </a:rPr>
              <a:t>DialogInterface</a:t>
            </a:r>
            <a:r>
              <a:rPr lang="en-US" sz="1200" dirty="0" smtClean="0">
                <a:latin typeface="Times New Roman" pitchFamily="18" charset="0"/>
                <a:cs typeface="Times New Roman" pitchFamily="18" charset="0"/>
              </a:rPr>
              <a:t> interface.</a:t>
            </a:r>
          </a:p>
          <a:p>
            <a:pPr>
              <a:buNone/>
            </a:pP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builder.setPositiveButton</a:t>
            </a:r>
            <a:r>
              <a:rPr lang="en-US" sz="1200" dirty="0" smtClean="0">
                <a:latin typeface="Times New Roman" pitchFamily="18" charset="0"/>
                <a:cs typeface="Times New Roman" pitchFamily="18" charset="0"/>
              </a:rPr>
              <a:t>("Yes", (</a:t>
            </a:r>
            <a:r>
              <a:rPr lang="en-US" sz="1200" dirty="0" err="1" smtClean="0">
                <a:latin typeface="Times New Roman" pitchFamily="18" charset="0"/>
                <a:cs typeface="Times New Roman" pitchFamily="18" charset="0"/>
              </a:rPr>
              <a:t>DialogInterface.OnClickListener</a:t>
            </a:r>
            <a:r>
              <a:rPr lang="en-US" sz="1200" dirty="0" smtClean="0">
                <a:latin typeface="Times New Roman" pitchFamily="18" charset="0"/>
                <a:cs typeface="Times New Roman" pitchFamily="18" charset="0"/>
              </a:rPr>
              <a:t>) (dialog, which) -&gt; {</a:t>
            </a:r>
          </a:p>
          <a:p>
            <a:pPr>
              <a:buNone/>
            </a:pPr>
            <a:r>
              <a:rPr lang="en-US" sz="1200" dirty="0" smtClean="0">
                <a:latin typeface="Times New Roman" pitchFamily="18" charset="0"/>
                <a:cs typeface="Times New Roman" pitchFamily="18" charset="0"/>
              </a:rPr>
              <a:t>            </a:t>
            </a:r>
          </a:p>
          <a:p>
            <a:pPr>
              <a:buNone/>
            </a:pPr>
            <a:r>
              <a:rPr lang="en-US" sz="1200" dirty="0" smtClean="0">
                <a:latin typeface="Times New Roman" pitchFamily="18" charset="0"/>
                <a:cs typeface="Times New Roman" pitchFamily="18" charset="0"/>
              </a:rPr>
              <a:t>            // When the user click yes button then app will close</a:t>
            </a:r>
          </a:p>
          <a:p>
            <a:pPr>
              <a:buNone/>
            </a:pPr>
            <a:r>
              <a:rPr lang="en-US" sz="1200" dirty="0" smtClean="0">
                <a:latin typeface="Times New Roman" pitchFamily="18" charset="0"/>
                <a:cs typeface="Times New Roman" pitchFamily="18" charset="0"/>
              </a:rPr>
              <a:t>            finish();</a:t>
            </a:r>
          </a:p>
          <a:p>
            <a:pPr>
              <a:buNone/>
            </a:pPr>
            <a:r>
              <a:rPr lang="en-US" sz="1200" dirty="0" smtClean="0">
                <a:latin typeface="Times New Roman" pitchFamily="18" charset="0"/>
                <a:cs typeface="Times New Roman" pitchFamily="18" charset="0"/>
              </a:rPr>
              <a:t>        });</a:t>
            </a:r>
          </a:p>
          <a:p>
            <a:pPr>
              <a:buNone/>
            </a:pPr>
            <a:endParaRPr lang="en-US" sz="1200" dirty="0" smtClean="0">
              <a:latin typeface="Times New Roman" pitchFamily="18" charset="0"/>
              <a:cs typeface="Times New Roman" pitchFamily="18" charset="0"/>
            </a:endParaRPr>
          </a:p>
          <a:p>
            <a:pPr>
              <a:buNone/>
            </a:pPr>
            <a:r>
              <a:rPr lang="en-US" sz="1200" dirty="0" smtClean="0">
                <a:latin typeface="Times New Roman" pitchFamily="18" charset="0"/>
                <a:cs typeface="Times New Roman" pitchFamily="18" charset="0"/>
              </a:rPr>
              <a:t>        // Set the Negative button with No name Lambda</a:t>
            </a:r>
          </a:p>
          <a:p>
            <a:pPr>
              <a:buNone/>
            </a:pPr>
            <a:r>
              <a:rPr lang="en-US" sz="1200" dirty="0" smtClean="0">
                <a:latin typeface="Times New Roman" pitchFamily="18" charset="0"/>
                <a:cs typeface="Times New Roman" pitchFamily="18" charset="0"/>
              </a:rPr>
              <a:t>        // </a:t>
            </a:r>
            <a:r>
              <a:rPr lang="en-US" sz="1200" dirty="0" err="1" smtClean="0">
                <a:latin typeface="Times New Roman" pitchFamily="18" charset="0"/>
                <a:cs typeface="Times New Roman" pitchFamily="18" charset="0"/>
              </a:rPr>
              <a:t>OnClickListener</a:t>
            </a:r>
            <a:r>
              <a:rPr lang="en-US" sz="1200" dirty="0" smtClean="0">
                <a:latin typeface="Times New Roman" pitchFamily="18" charset="0"/>
                <a:cs typeface="Times New Roman" pitchFamily="18" charset="0"/>
              </a:rPr>
              <a:t> method is use of </a:t>
            </a:r>
            <a:r>
              <a:rPr lang="en-US" sz="1200" dirty="0" err="1" smtClean="0">
                <a:latin typeface="Times New Roman" pitchFamily="18" charset="0"/>
                <a:cs typeface="Times New Roman" pitchFamily="18" charset="0"/>
              </a:rPr>
              <a:t>DialogInterface</a:t>
            </a:r>
            <a:r>
              <a:rPr lang="en-US" sz="1200" dirty="0" smtClean="0">
                <a:latin typeface="Times New Roman" pitchFamily="18" charset="0"/>
                <a:cs typeface="Times New Roman" pitchFamily="18" charset="0"/>
              </a:rPr>
              <a:t> interface.</a:t>
            </a:r>
          </a:p>
          <a:p>
            <a:pPr>
              <a:buNone/>
            </a:pP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builder.setNegativeButton</a:t>
            </a:r>
            <a:r>
              <a:rPr lang="en-US" sz="1200" dirty="0" smtClean="0">
                <a:latin typeface="Times New Roman" pitchFamily="18" charset="0"/>
                <a:cs typeface="Times New Roman" pitchFamily="18" charset="0"/>
              </a:rPr>
              <a:t>("No", (</a:t>
            </a:r>
            <a:r>
              <a:rPr lang="en-US" sz="1200" dirty="0" err="1" smtClean="0">
                <a:latin typeface="Times New Roman" pitchFamily="18" charset="0"/>
                <a:cs typeface="Times New Roman" pitchFamily="18" charset="0"/>
              </a:rPr>
              <a:t>DialogInterface.OnClickListener</a:t>
            </a:r>
            <a:r>
              <a:rPr lang="en-US" sz="1200" dirty="0" smtClean="0">
                <a:latin typeface="Times New Roman" pitchFamily="18" charset="0"/>
                <a:cs typeface="Times New Roman" pitchFamily="18" charset="0"/>
              </a:rPr>
              <a:t>) (dialog, which) -&gt; {</a:t>
            </a:r>
          </a:p>
          <a:p>
            <a:pPr>
              <a:buNone/>
            </a:pPr>
            <a:r>
              <a:rPr lang="en-US" sz="1200" dirty="0" smtClean="0">
                <a:latin typeface="Times New Roman" pitchFamily="18" charset="0"/>
                <a:cs typeface="Times New Roman" pitchFamily="18" charset="0"/>
              </a:rPr>
              <a:t>            </a:t>
            </a:r>
          </a:p>
          <a:p>
            <a:pPr>
              <a:buNone/>
            </a:pPr>
            <a:r>
              <a:rPr lang="en-US" sz="1200" dirty="0" smtClean="0">
                <a:latin typeface="Times New Roman" pitchFamily="18" charset="0"/>
                <a:cs typeface="Times New Roman" pitchFamily="18" charset="0"/>
              </a:rPr>
              <a:t>            // If user click no then dialog box is canceled.</a:t>
            </a:r>
          </a:p>
          <a:p>
            <a:pPr>
              <a:buNone/>
            </a:pP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dialog.cancel</a:t>
            </a:r>
            <a:r>
              <a:rPr lang="en-US" sz="1200" dirty="0" smtClean="0">
                <a:latin typeface="Times New Roman" pitchFamily="18" charset="0"/>
                <a:cs typeface="Times New Roman" pitchFamily="18" charset="0"/>
              </a:rPr>
              <a:t>();</a:t>
            </a:r>
          </a:p>
          <a:p>
            <a:pPr>
              <a:buNone/>
            </a:pPr>
            <a:r>
              <a:rPr lang="en-US" sz="1200" dirty="0" smtClean="0">
                <a:latin typeface="Times New Roman" pitchFamily="18" charset="0"/>
                <a:cs typeface="Times New Roman" pitchFamily="18" charset="0"/>
              </a:rPr>
              <a:t>        });</a:t>
            </a:r>
          </a:p>
          <a:p>
            <a:pPr>
              <a:buNone/>
            </a:pPr>
            <a:endParaRPr lang="en-US" sz="1200" dirty="0" smtClean="0">
              <a:latin typeface="Times New Roman" pitchFamily="18" charset="0"/>
              <a:cs typeface="Times New Roman" pitchFamily="18" charset="0"/>
            </a:endParaRPr>
          </a:p>
          <a:p>
            <a:pPr>
              <a:buNone/>
            </a:pPr>
            <a:r>
              <a:rPr lang="en-US" sz="1200" dirty="0" smtClean="0">
                <a:latin typeface="Times New Roman" pitchFamily="18" charset="0"/>
                <a:cs typeface="Times New Roman" pitchFamily="18" charset="0"/>
              </a:rPr>
              <a:t>        // Create the Alert dialog</a:t>
            </a:r>
          </a:p>
          <a:p>
            <a:pPr>
              <a:buNone/>
            </a:pP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AlertDialog</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alertDialog</a:t>
            </a:r>
            <a:r>
              <a:rPr lang="en-US" sz="1200" dirty="0" smtClean="0">
                <a:latin typeface="Times New Roman" pitchFamily="18" charset="0"/>
                <a:cs typeface="Times New Roman" pitchFamily="18" charset="0"/>
              </a:rPr>
              <a:t> = </a:t>
            </a:r>
            <a:r>
              <a:rPr lang="en-US" sz="1200" dirty="0" err="1" smtClean="0">
                <a:latin typeface="Times New Roman" pitchFamily="18" charset="0"/>
                <a:cs typeface="Times New Roman" pitchFamily="18" charset="0"/>
              </a:rPr>
              <a:t>builder.create</a:t>
            </a:r>
            <a:r>
              <a:rPr lang="en-US" sz="1200" dirty="0" smtClean="0">
                <a:latin typeface="Times New Roman" pitchFamily="18" charset="0"/>
                <a:cs typeface="Times New Roman" pitchFamily="18" charset="0"/>
              </a:rPr>
              <a:t>();</a:t>
            </a:r>
          </a:p>
          <a:p>
            <a:pPr>
              <a:buNone/>
            </a:pPr>
            <a:r>
              <a:rPr lang="en-US" sz="1200" dirty="0" smtClean="0">
                <a:latin typeface="Times New Roman" pitchFamily="18" charset="0"/>
                <a:cs typeface="Times New Roman" pitchFamily="18" charset="0"/>
              </a:rPr>
              <a:t>        </a:t>
            </a:r>
          </a:p>
          <a:p>
            <a:pPr>
              <a:buNone/>
            </a:pPr>
            <a:r>
              <a:rPr lang="en-US" sz="1200" dirty="0" smtClean="0">
                <a:latin typeface="Times New Roman" pitchFamily="18" charset="0"/>
                <a:cs typeface="Times New Roman" pitchFamily="18" charset="0"/>
              </a:rPr>
              <a:t>        // Show the Alert Dialog box</a:t>
            </a:r>
          </a:p>
          <a:p>
            <a:pPr>
              <a:buNone/>
            </a:pP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alertDialog.show</a:t>
            </a:r>
            <a:r>
              <a:rPr lang="en-US" sz="1200" dirty="0" smtClean="0">
                <a:latin typeface="Times New Roman" pitchFamily="18" charset="0"/>
                <a:cs typeface="Times New Roman" pitchFamily="18" charset="0"/>
              </a:rPr>
              <a:t>();</a:t>
            </a:r>
          </a:p>
          <a:p>
            <a:pPr>
              <a:buNone/>
            </a:pPr>
            <a:r>
              <a:rPr lang="en-US" sz="1200" dirty="0" smtClean="0">
                <a:latin typeface="Times New Roman" pitchFamily="18" charset="0"/>
                <a:cs typeface="Times New Roman" pitchFamily="18" charset="0"/>
              </a:rPr>
              <a:t>    }</a:t>
            </a:r>
          </a:p>
          <a:p>
            <a:pPr>
              <a:buNone/>
            </a:pPr>
            <a:r>
              <a:rPr lang="en-US" sz="1200" dirty="0" smtClean="0">
                <a:latin typeface="Times New Roman" pitchFamily="18" charset="0"/>
                <a:cs typeface="Times New Roman" pitchFamily="18" charset="0"/>
              </a:rPr>
              <a:t>}</a:t>
            </a:r>
            <a:endParaRPr lang="en-US" sz="1200" dirty="0">
              <a:latin typeface="Times New Roman" pitchFamily="18" charset="0"/>
              <a:cs typeface="Times New Roman"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Event Handling</a:t>
            </a:r>
            <a:endParaRPr lang="en-US" dirty="0"/>
          </a:p>
        </p:txBody>
      </p:sp>
      <p:sp>
        <p:nvSpPr>
          <p:cNvPr id="3" name="Content Placeholder 2"/>
          <p:cNvSpPr>
            <a:spLocks noGrp="1"/>
          </p:cNvSpPr>
          <p:nvPr>
            <p:ph idx="1"/>
          </p:nvPr>
        </p:nvSpPr>
        <p:spPr/>
        <p:txBody>
          <a:bodyPr>
            <a:normAutofit/>
          </a:bodyPr>
          <a:lstStyle/>
          <a:p>
            <a:pPr algn="just">
              <a:lnSpc>
                <a:spcPct val="200000"/>
              </a:lnSpc>
              <a:buNone/>
            </a:pPr>
            <a:r>
              <a:rPr lang="en-US" sz="1200" b="1" dirty="0">
                <a:latin typeface="Times New Roman" pitchFamily="18" charset="0"/>
                <a:cs typeface="Times New Roman" pitchFamily="18" charset="0"/>
              </a:rPr>
              <a:t>Events </a:t>
            </a:r>
            <a:r>
              <a:rPr lang="en-US" sz="1200" dirty="0">
                <a:latin typeface="Times New Roman" pitchFamily="18" charset="0"/>
                <a:cs typeface="Times New Roman" pitchFamily="18" charset="0"/>
              </a:rPr>
              <a:t>are the actions performed by the user in order to interact with the application, for e.g. pressing a button or touching the screen. The events are managed by the android framework in the </a:t>
            </a:r>
            <a:r>
              <a:rPr lang="en-US" sz="1200" b="1" dirty="0">
                <a:latin typeface="Times New Roman" pitchFamily="18" charset="0"/>
                <a:cs typeface="Times New Roman" pitchFamily="18" charset="0"/>
              </a:rPr>
              <a:t>FIFO </a:t>
            </a:r>
            <a:r>
              <a:rPr lang="en-US" sz="1200" dirty="0">
                <a:latin typeface="Times New Roman" pitchFamily="18" charset="0"/>
                <a:cs typeface="Times New Roman" pitchFamily="18" charset="0"/>
              </a:rPr>
              <a:t>manner i.e. First In - First Out. Handling such actions or events by performing the desired task is called </a:t>
            </a:r>
            <a:r>
              <a:rPr lang="en-US" sz="1200" b="1" dirty="0">
                <a:latin typeface="Times New Roman" pitchFamily="18" charset="0"/>
                <a:cs typeface="Times New Roman" pitchFamily="18" charset="0"/>
              </a:rPr>
              <a:t>Event Handling</a:t>
            </a:r>
            <a:r>
              <a:rPr lang="en-US" sz="1200" b="1" dirty="0" smtClean="0">
                <a:latin typeface="Times New Roman" pitchFamily="18" charset="0"/>
                <a:cs typeface="Times New Roman" pitchFamily="18" charset="0"/>
              </a:rPr>
              <a:t>.</a:t>
            </a:r>
          </a:p>
          <a:p>
            <a:pPr>
              <a:lnSpc>
                <a:spcPct val="200000"/>
              </a:lnSpc>
              <a:buNone/>
            </a:pPr>
            <a:endParaRPr lang="en-US" sz="1200" dirty="0" smtClean="0"/>
          </a:p>
          <a:p>
            <a:pPr>
              <a:lnSpc>
                <a:spcPct val="200000"/>
              </a:lnSpc>
              <a:buNone/>
            </a:pPr>
            <a:r>
              <a:rPr lang="en-US" sz="1200" dirty="0" smtClean="0"/>
              <a:t>An </a:t>
            </a:r>
            <a:r>
              <a:rPr lang="en-US" sz="1200" b="1" dirty="0" smtClean="0"/>
              <a:t>Event</a:t>
            </a:r>
            <a:r>
              <a:rPr lang="en-US" sz="1200" dirty="0" smtClean="0"/>
              <a:t> is any user interaction or system-generated action that occurs during an app’s lifecycle — like tapping a button, touching the screen, typing text, or changing focus.</a:t>
            </a:r>
          </a:p>
          <a:p>
            <a:pPr>
              <a:lnSpc>
                <a:spcPct val="200000"/>
              </a:lnSpc>
              <a:buNone/>
            </a:pPr>
            <a:r>
              <a:rPr lang="en-US" sz="1200" b="1" dirty="0" smtClean="0"/>
              <a:t>Examples of events:</a:t>
            </a:r>
            <a:endParaRPr lang="en-US" sz="1200" dirty="0" smtClean="0"/>
          </a:p>
          <a:p>
            <a:pPr>
              <a:lnSpc>
                <a:spcPct val="200000"/>
              </a:lnSpc>
              <a:buNone/>
            </a:pPr>
            <a:r>
              <a:rPr lang="en-US" sz="1200" dirty="0" smtClean="0"/>
              <a:t>Clicking a button → </a:t>
            </a:r>
            <a:r>
              <a:rPr lang="en-US" sz="1200" dirty="0" err="1" smtClean="0"/>
              <a:t>onClick</a:t>
            </a:r>
            <a:r>
              <a:rPr lang="en-US" sz="1200" dirty="0" smtClean="0"/>
              <a:t>()</a:t>
            </a:r>
          </a:p>
          <a:p>
            <a:pPr>
              <a:lnSpc>
                <a:spcPct val="200000"/>
              </a:lnSpc>
              <a:buNone/>
            </a:pPr>
            <a:r>
              <a:rPr lang="en-US" sz="1200" dirty="0" smtClean="0"/>
              <a:t>Typing in </a:t>
            </a:r>
            <a:r>
              <a:rPr lang="en-US" sz="1200" dirty="0" err="1" smtClean="0"/>
              <a:t>EditText</a:t>
            </a:r>
            <a:r>
              <a:rPr lang="en-US" sz="1200" dirty="0" smtClean="0"/>
              <a:t> → </a:t>
            </a:r>
            <a:r>
              <a:rPr lang="en-US" sz="1200" dirty="0" err="1" smtClean="0"/>
              <a:t>onTextChanged</a:t>
            </a:r>
            <a:r>
              <a:rPr lang="en-US" sz="1200" dirty="0" smtClean="0"/>
              <a:t>()</a:t>
            </a:r>
          </a:p>
          <a:p>
            <a:pPr>
              <a:lnSpc>
                <a:spcPct val="200000"/>
              </a:lnSpc>
              <a:buNone/>
            </a:pPr>
            <a:r>
              <a:rPr lang="en-US" sz="1200" dirty="0" smtClean="0"/>
              <a:t>Touch gestures → </a:t>
            </a:r>
            <a:r>
              <a:rPr lang="en-US" sz="1200" dirty="0" err="1" smtClean="0"/>
              <a:t>onTouchEvent</a:t>
            </a:r>
            <a:r>
              <a:rPr lang="en-US" sz="1200" dirty="0" smtClean="0"/>
              <a:t>()</a:t>
            </a:r>
          </a:p>
          <a:p>
            <a:pPr algn="just">
              <a:lnSpc>
                <a:spcPct val="200000"/>
              </a:lnSpc>
              <a:buNone/>
            </a:pPr>
            <a:endParaRPr lang="en-US" sz="1200" b="1" dirty="0" smtClean="0">
              <a:latin typeface="Times New Roman" pitchFamily="18" charset="0"/>
              <a:cs typeface="Times New Roman" pitchFamily="18" charset="0"/>
            </a:endParaRPr>
          </a:p>
          <a:p>
            <a:pPr algn="just"/>
            <a:endParaRPr lang="en-US" sz="1200" dirty="0">
              <a:latin typeface="Times New Roman" pitchFamily="18" charset="0"/>
              <a:cs typeface="Times New Roman"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Event</a:t>
            </a:r>
            <a:endParaRPr lang="en-US" dirty="0"/>
          </a:p>
        </p:txBody>
      </p:sp>
      <p:sp>
        <p:nvSpPr>
          <p:cNvPr id="3" name="Content Placeholder 2"/>
          <p:cNvSpPr>
            <a:spLocks noGrp="1"/>
          </p:cNvSpPr>
          <p:nvPr>
            <p:ph idx="1"/>
          </p:nvPr>
        </p:nvSpPr>
        <p:spPr/>
        <p:txBody>
          <a:bodyPr/>
          <a:lstStyle/>
          <a:p>
            <a:pPr algn="just"/>
            <a:r>
              <a:rPr lang="en-US" b="1" dirty="0" smtClean="0"/>
              <a:t>Event Handler: </a:t>
            </a:r>
            <a:r>
              <a:rPr lang="en-US" sz="2800" dirty="0" smtClean="0">
                <a:latin typeface="Times New Roman" pitchFamily="18" charset="0"/>
                <a:cs typeface="Times New Roman" pitchFamily="18" charset="0"/>
              </a:rPr>
              <a:t>An </a:t>
            </a:r>
            <a:r>
              <a:rPr lang="en-US" sz="2800" b="1" dirty="0" smtClean="0">
                <a:latin typeface="Times New Roman" pitchFamily="18" charset="0"/>
                <a:cs typeface="Times New Roman" pitchFamily="18" charset="0"/>
              </a:rPr>
              <a:t>Event Handler</a:t>
            </a:r>
            <a:r>
              <a:rPr lang="en-US" sz="2800" dirty="0" smtClean="0">
                <a:latin typeface="Times New Roman" pitchFamily="18" charset="0"/>
                <a:cs typeface="Times New Roman" pitchFamily="18" charset="0"/>
              </a:rPr>
              <a:t> is the </a:t>
            </a:r>
            <a:r>
              <a:rPr lang="en-US" sz="2800" b="1" dirty="0" smtClean="0">
                <a:latin typeface="Times New Roman" pitchFamily="18" charset="0"/>
                <a:cs typeface="Times New Roman" pitchFamily="18" charset="0"/>
              </a:rPr>
              <a:t>method or block of code</a:t>
            </a:r>
            <a:r>
              <a:rPr lang="en-US" sz="2800" dirty="0" smtClean="0">
                <a:latin typeface="Times New Roman" pitchFamily="18" charset="0"/>
                <a:cs typeface="Times New Roman" pitchFamily="18" charset="0"/>
              </a:rPr>
              <a:t> that executes in response to an event.</a:t>
            </a:r>
          </a:p>
          <a:p>
            <a:pPr algn="just">
              <a:buNone/>
            </a:pPr>
            <a:r>
              <a:rPr lang="en-US" sz="2800" dirty="0" smtClean="0">
                <a:latin typeface="Times New Roman" pitchFamily="18" charset="0"/>
                <a:cs typeface="Times New Roman" pitchFamily="18" charset="0"/>
              </a:rPr>
              <a:t>public void </a:t>
            </a:r>
            <a:r>
              <a:rPr lang="en-US" sz="2800" dirty="0" err="1" smtClean="0">
                <a:latin typeface="Times New Roman" pitchFamily="18" charset="0"/>
                <a:cs typeface="Times New Roman" pitchFamily="18" charset="0"/>
              </a:rPr>
              <a:t>onClick</a:t>
            </a:r>
            <a:r>
              <a:rPr lang="en-US" sz="2800" dirty="0" smtClean="0">
                <a:latin typeface="Times New Roman" pitchFamily="18" charset="0"/>
                <a:cs typeface="Times New Roman" pitchFamily="18" charset="0"/>
              </a:rPr>
              <a:t>(View v) {</a:t>
            </a:r>
          </a:p>
          <a:p>
            <a:pPr algn="just">
              <a:buNone/>
            </a:pPr>
            <a:r>
              <a:rPr lang="en-US" sz="2800" dirty="0" smtClean="0">
                <a:latin typeface="Times New Roman" pitchFamily="18" charset="0"/>
                <a:cs typeface="Times New Roman" pitchFamily="18" charset="0"/>
              </a:rPr>
              <a:t>    // Code to handle click</a:t>
            </a:r>
          </a:p>
          <a:p>
            <a:pPr algn="just">
              <a:buNone/>
            </a:pPr>
            <a:r>
              <a:rPr lang="en-US" sz="2800" dirty="0" smtClean="0">
                <a:latin typeface="Times New Roman" pitchFamily="18" charset="0"/>
                <a:cs typeface="Times New Roman" pitchFamily="18" charset="0"/>
              </a:rPr>
              <a:t>}</a:t>
            </a:r>
          </a:p>
          <a:p>
            <a:pPr algn="just">
              <a:buNone/>
            </a:pPr>
            <a:r>
              <a:rPr lang="en-US" sz="2800" b="1" dirty="0" smtClean="0"/>
              <a:t>Event Handling Mechanisms</a:t>
            </a:r>
          </a:p>
          <a:p>
            <a:pPr algn="just">
              <a:buNone/>
            </a:pPr>
            <a:r>
              <a:rPr lang="en-US" sz="2800" dirty="0" smtClean="0"/>
              <a:t>1- Using Anonymous Inner Class</a:t>
            </a:r>
          </a:p>
          <a:p>
            <a:pPr algn="just">
              <a:buNone/>
            </a:pPr>
            <a:r>
              <a:rPr lang="en-US" sz="2800" dirty="0" smtClean="0">
                <a:latin typeface="Times New Roman" pitchFamily="18" charset="0"/>
                <a:cs typeface="Times New Roman" pitchFamily="18" charset="0"/>
              </a:rPr>
              <a:t>2-</a:t>
            </a:r>
            <a:r>
              <a:rPr lang="en-US" sz="2800" dirty="0" smtClean="0"/>
              <a:t>Using Implemented Listener Interface</a:t>
            </a:r>
            <a:endParaRPr lang="en-US" sz="2800" dirty="0" smtClean="0">
              <a:latin typeface="Times New Roman" pitchFamily="18" charset="0"/>
              <a:cs typeface="Times New Roman" pitchFamily="18" charset="0"/>
            </a:endParaRPr>
          </a:p>
          <a:p>
            <a:pPr algn="just"/>
            <a:endParaRPr lang="en-US" sz="2800" dirty="0">
              <a:latin typeface="Times New Roman" pitchFamily="18" charset="0"/>
              <a:cs typeface="Times New Roman"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Overview </a:t>
            </a:r>
            <a:r>
              <a:rPr lang="en-US" b="1" dirty="0"/>
              <a:t>of the input event management</a:t>
            </a:r>
            <a:br>
              <a:rPr lang="en-US" b="1" dirty="0"/>
            </a:br>
            <a:endParaRPr lang="en-US" dirty="0"/>
          </a:p>
        </p:txBody>
      </p:sp>
      <p:sp>
        <p:nvSpPr>
          <p:cNvPr id="3" name="Content Placeholder 2"/>
          <p:cNvSpPr>
            <a:spLocks noGrp="1"/>
          </p:cNvSpPr>
          <p:nvPr>
            <p:ph idx="1"/>
          </p:nvPr>
        </p:nvSpPr>
        <p:spPr/>
        <p:txBody>
          <a:bodyPr>
            <a:normAutofit fontScale="92500" lnSpcReduction="10000"/>
          </a:bodyPr>
          <a:lstStyle/>
          <a:p>
            <a:pPr algn="just" fontAlgn="base">
              <a:lnSpc>
                <a:spcPct val="200000"/>
              </a:lnSpc>
              <a:buNone/>
            </a:pPr>
            <a:r>
              <a:rPr lang="en-US" sz="1400" b="1" dirty="0">
                <a:latin typeface="Times New Roman" pitchFamily="18" charset="0"/>
                <a:cs typeface="Times New Roman" pitchFamily="18" charset="0"/>
              </a:rPr>
              <a:t>Event Listeners:</a:t>
            </a:r>
            <a:r>
              <a:rPr lang="en-US" sz="1400" dirty="0">
                <a:latin typeface="Times New Roman" pitchFamily="18" charset="0"/>
                <a:cs typeface="Times New Roman" pitchFamily="18" charset="0"/>
              </a:rPr>
              <a:t> It is an interface in the View class. It contains a single callback method. Once the view to which the listener is associated is triggered due to user interaction, the callback methods are called. </a:t>
            </a:r>
          </a:p>
          <a:p>
            <a:pPr algn="just" fontAlgn="base">
              <a:lnSpc>
                <a:spcPct val="200000"/>
              </a:lnSpc>
              <a:buNone/>
            </a:pPr>
            <a:r>
              <a:rPr lang="en-US" sz="1400" b="1" dirty="0">
                <a:latin typeface="Times New Roman" pitchFamily="18" charset="0"/>
                <a:cs typeface="Times New Roman" pitchFamily="18" charset="0"/>
              </a:rPr>
              <a:t>Event Handlers: </a:t>
            </a:r>
            <a:r>
              <a:rPr lang="en-US" sz="1400" dirty="0">
                <a:latin typeface="Times New Roman" pitchFamily="18" charset="0"/>
                <a:cs typeface="Times New Roman" pitchFamily="18" charset="0"/>
              </a:rPr>
              <a:t>It is responsible for dealing with the event that the event listeners registered for and performing the desired action for that respective event.</a:t>
            </a:r>
          </a:p>
          <a:p>
            <a:pPr algn="just" fontAlgn="base">
              <a:lnSpc>
                <a:spcPct val="200000"/>
              </a:lnSpc>
              <a:buNone/>
            </a:pPr>
            <a:r>
              <a:rPr lang="en-US" sz="1400" b="1" dirty="0">
                <a:latin typeface="Times New Roman" pitchFamily="18" charset="0"/>
                <a:cs typeface="Times New Roman" pitchFamily="18" charset="0"/>
              </a:rPr>
              <a:t>Event Listeners Registration</a:t>
            </a:r>
            <a:r>
              <a:rPr lang="en-US" sz="1400" dirty="0">
                <a:latin typeface="Times New Roman" pitchFamily="18" charset="0"/>
                <a:cs typeface="Times New Roman" pitchFamily="18" charset="0"/>
              </a:rPr>
              <a:t>: Event Registration is the process in which an Event Handler gets associated with an Event Listener so that this handler is called when the respective Event Listener fires the event.</a:t>
            </a:r>
          </a:p>
          <a:p>
            <a:pPr algn="just" fontAlgn="base">
              <a:lnSpc>
                <a:spcPct val="200000"/>
              </a:lnSpc>
              <a:buNone/>
            </a:pPr>
            <a:r>
              <a:rPr lang="en-US" sz="1400" b="1" dirty="0">
                <a:latin typeface="Times New Roman" pitchFamily="18" charset="0"/>
                <a:cs typeface="Times New Roman" pitchFamily="18" charset="0"/>
              </a:rPr>
              <a:t>Touch Mode:</a:t>
            </a:r>
            <a:r>
              <a:rPr lang="en-US" sz="1400" dirty="0">
                <a:latin typeface="Times New Roman" pitchFamily="18" charset="0"/>
                <a:cs typeface="Times New Roman" pitchFamily="18" charset="0"/>
              </a:rPr>
              <a:t> When using an app with physical keys it becomes necessary to give focus to buttons on which the user wants to perform the action but if the device is touch-enabled and the user interacts with the interface by touching it, then it is no longer necessary to highlight items or give focus to particular View. In such cases, the device enters touch mode and in such scenarios, only those views for which the </a:t>
            </a:r>
            <a:r>
              <a:rPr lang="en-US" sz="1400" dirty="0" err="1">
                <a:latin typeface="Times New Roman" pitchFamily="18" charset="0"/>
                <a:cs typeface="Times New Roman" pitchFamily="18" charset="0"/>
              </a:rPr>
              <a:t>isFocusableInTouchMode</a:t>
            </a:r>
            <a:r>
              <a:rPr lang="en-US" sz="1400" dirty="0">
                <a:latin typeface="Times New Roman" pitchFamily="18" charset="0"/>
                <a:cs typeface="Times New Roman" pitchFamily="18" charset="0"/>
              </a:rPr>
              <a:t>() is true will be focusable, e.g. plain text widget.</a:t>
            </a:r>
          </a:p>
          <a:p>
            <a:pPr>
              <a:buNone/>
            </a:pP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Event </a:t>
            </a:r>
            <a:r>
              <a:rPr lang="en-US" b="1" dirty="0"/>
              <a:t>Listeners and their respective event handlers</a:t>
            </a:r>
            <a:br>
              <a:rPr lang="en-US" b="1" dirty="0"/>
            </a:br>
            <a:endParaRPr lang="en-US" dirty="0"/>
          </a:p>
        </p:txBody>
      </p:sp>
      <p:sp>
        <p:nvSpPr>
          <p:cNvPr id="3" name="Content Placeholder 2"/>
          <p:cNvSpPr>
            <a:spLocks noGrp="1"/>
          </p:cNvSpPr>
          <p:nvPr>
            <p:ph idx="1"/>
          </p:nvPr>
        </p:nvSpPr>
        <p:spPr/>
        <p:txBody>
          <a:bodyPr>
            <a:normAutofit/>
          </a:bodyPr>
          <a:lstStyle/>
          <a:p>
            <a:pPr algn="just" fontAlgn="base">
              <a:lnSpc>
                <a:spcPct val="250000"/>
              </a:lnSpc>
              <a:buNone/>
            </a:pPr>
            <a:r>
              <a:rPr lang="en-US" sz="1400" b="1" dirty="0" err="1">
                <a:latin typeface="Times New Roman" pitchFamily="18" charset="0"/>
                <a:cs typeface="Times New Roman" pitchFamily="18" charset="0"/>
              </a:rPr>
              <a:t>OnClickListener</a:t>
            </a:r>
            <a:r>
              <a:rPr lang="en-US" sz="1400" b="1" dirty="0">
                <a:latin typeface="Times New Roman" pitchFamily="18" charset="0"/>
                <a:cs typeface="Times New Roman" pitchFamily="18" charset="0"/>
              </a:rPr>
              <a:t>()</a:t>
            </a:r>
            <a:r>
              <a:rPr lang="en-US" sz="1400" dirty="0">
                <a:latin typeface="Times New Roman" pitchFamily="18" charset="0"/>
                <a:cs typeface="Times New Roman" pitchFamily="18" charset="0"/>
              </a:rPr>
              <a:t> - This method is called when the user clicks, touches, or focuses on any view (widget) like Button, </a:t>
            </a:r>
            <a:r>
              <a:rPr lang="en-US" sz="1400" dirty="0" err="1">
                <a:latin typeface="Times New Roman" pitchFamily="18" charset="0"/>
                <a:cs typeface="Times New Roman" pitchFamily="18" charset="0"/>
              </a:rPr>
              <a:t>ImageButton</a:t>
            </a:r>
            <a:r>
              <a:rPr lang="en-US" sz="1400" dirty="0">
                <a:latin typeface="Times New Roman" pitchFamily="18" charset="0"/>
                <a:cs typeface="Times New Roman" pitchFamily="18" charset="0"/>
              </a:rPr>
              <a:t>, Image, etc. </a:t>
            </a:r>
            <a:r>
              <a:rPr lang="en-US" sz="1400" b="1" dirty="0">
                <a:latin typeface="Times New Roman" pitchFamily="18" charset="0"/>
                <a:cs typeface="Times New Roman" pitchFamily="18" charset="0"/>
              </a:rPr>
              <a:t>Event handler used for this is </a:t>
            </a:r>
            <a:r>
              <a:rPr lang="en-US" sz="1400" b="1" dirty="0" err="1">
                <a:latin typeface="Times New Roman" pitchFamily="18" charset="0"/>
                <a:cs typeface="Times New Roman" pitchFamily="18" charset="0"/>
              </a:rPr>
              <a:t>onClick</a:t>
            </a:r>
            <a:r>
              <a:rPr lang="en-US" sz="1400" b="1" dirty="0">
                <a:latin typeface="Times New Roman" pitchFamily="18" charset="0"/>
                <a:cs typeface="Times New Roman" pitchFamily="18" charset="0"/>
              </a:rPr>
              <a:t>().</a:t>
            </a:r>
            <a:endParaRPr lang="en-US" sz="1400" dirty="0">
              <a:latin typeface="Times New Roman" pitchFamily="18" charset="0"/>
              <a:cs typeface="Times New Roman" pitchFamily="18" charset="0"/>
            </a:endParaRPr>
          </a:p>
          <a:p>
            <a:pPr algn="just" fontAlgn="base">
              <a:lnSpc>
                <a:spcPct val="250000"/>
              </a:lnSpc>
              <a:buNone/>
            </a:pPr>
            <a:r>
              <a:rPr lang="en-US" sz="1400" b="1" dirty="0" err="1">
                <a:latin typeface="Times New Roman" pitchFamily="18" charset="0"/>
                <a:cs typeface="Times New Roman" pitchFamily="18" charset="0"/>
              </a:rPr>
              <a:t>OnLongClickListener</a:t>
            </a:r>
            <a:r>
              <a:rPr lang="en-US" sz="1400" b="1" dirty="0">
                <a:latin typeface="Times New Roman" pitchFamily="18" charset="0"/>
                <a:cs typeface="Times New Roman" pitchFamily="18" charset="0"/>
              </a:rPr>
              <a:t>()</a:t>
            </a:r>
            <a:r>
              <a:rPr lang="en-US" sz="1400" dirty="0">
                <a:latin typeface="Times New Roman" pitchFamily="18" charset="0"/>
                <a:cs typeface="Times New Roman" pitchFamily="18" charset="0"/>
              </a:rPr>
              <a:t> - This method is called when the user presses and holds a particular widget for one or more seconds. </a:t>
            </a:r>
            <a:r>
              <a:rPr lang="en-US" sz="1400" b="1" dirty="0">
                <a:latin typeface="Times New Roman" pitchFamily="18" charset="0"/>
                <a:cs typeface="Times New Roman" pitchFamily="18" charset="0"/>
              </a:rPr>
              <a:t>Event handler used for this is </a:t>
            </a:r>
            <a:r>
              <a:rPr lang="en-US" sz="1400" b="1" dirty="0" err="1">
                <a:latin typeface="Times New Roman" pitchFamily="18" charset="0"/>
                <a:cs typeface="Times New Roman" pitchFamily="18" charset="0"/>
              </a:rPr>
              <a:t>onLongClick</a:t>
            </a:r>
            <a:r>
              <a:rPr lang="en-US" sz="1400" b="1" dirty="0">
                <a:latin typeface="Times New Roman" pitchFamily="18" charset="0"/>
                <a:cs typeface="Times New Roman" pitchFamily="18" charset="0"/>
              </a:rPr>
              <a:t>().</a:t>
            </a:r>
            <a:endParaRPr lang="en-US" sz="1400" dirty="0">
              <a:latin typeface="Times New Roman" pitchFamily="18" charset="0"/>
              <a:cs typeface="Times New Roman" pitchFamily="18" charset="0"/>
            </a:endParaRPr>
          </a:p>
          <a:p>
            <a:pPr algn="just" fontAlgn="base">
              <a:lnSpc>
                <a:spcPct val="250000"/>
              </a:lnSpc>
              <a:buNone/>
            </a:pPr>
            <a:r>
              <a:rPr lang="en-US" sz="1400" b="1" dirty="0" err="1">
                <a:latin typeface="Times New Roman" pitchFamily="18" charset="0"/>
                <a:cs typeface="Times New Roman" pitchFamily="18" charset="0"/>
              </a:rPr>
              <a:t>OnMenuItemClickListener</a:t>
            </a:r>
            <a:r>
              <a:rPr lang="en-US" sz="1400" b="1" dirty="0">
                <a:latin typeface="Times New Roman" pitchFamily="18" charset="0"/>
                <a:cs typeface="Times New Roman" pitchFamily="18" charset="0"/>
              </a:rPr>
              <a:t>()</a:t>
            </a:r>
            <a:r>
              <a:rPr lang="en-US" sz="1400" dirty="0">
                <a:latin typeface="Times New Roman" pitchFamily="18" charset="0"/>
                <a:cs typeface="Times New Roman" pitchFamily="18" charset="0"/>
              </a:rPr>
              <a:t> - This method is called when the user selects a menu item. </a:t>
            </a:r>
            <a:r>
              <a:rPr lang="en-US" sz="1400" b="1" dirty="0">
                <a:latin typeface="Times New Roman" pitchFamily="18" charset="0"/>
                <a:cs typeface="Times New Roman" pitchFamily="18" charset="0"/>
              </a:rPr>
              <a:t>Event handler used for this is </a:t>
            </a:r>
            <a:r>
              <a:rPr lang="en-US" sz="1400" b="1" dirty="0" err="1">
                <a:latin typeface="Times New Roman" pitchFamily="18" charset="0"/>
                <a:cs typeface="Times New Roman" pitchFamily="18" charset="0"/>
              </a:rPr>
              <a:t>onMenuItemClick</a:t>
            </a:r>
            <a:r>
              <a:rPr lang="en-US" sz="1400" b="1" dirty="0">
                <a:latin typeface="Times New Roman" pitchFamily="18" charset="0"/>
                <a:cs typeface="Times New Roman" pitchFamily="18" charset="0"/>
              </a:rPr>
              <a:t>().</a:t>
            </a:r>
            <a:endParaRPr lang="en-US" sz="1400" dirty="0">
              <a:latin typeface="Times New Roman" pitchFamily="18" charset="0"/>
              <a:cs typeface="Times New Roman" pitchFamily="18" charset="0"/>
            </a:endParaRPr>
          </a:p>
          <a:p>
            <a:pPr algn="just" fontAlgn="base">
              <a:lnSpc>
                <a:spcPct val="250000"/>
              </a:lnSpc>
              <a:buNone/>
            </a:pPr>
            <a:r>
              <a:rPr lang="en-US" sz="1400" b="1" dirty="0" err="1">
                <a:latin typeface="Times New Roman" pitchFamily="18" charset="0"/>
                <a:cs typeface="Times New Roman" pitchFamily="18" charset="0"/>
              </a:rPr>
              <a:t>OnTouch</a:t>
            </a:r>
            <a:r>
              <a:rPr lang="en-US" sz="1400" b="1" dirty="0">
                <a:latin typeface="Times New Roman" pitchFamily="18" charset="0"/>
                <a:cs typeface="Times New Roman" pitchFamily="18" charset="0"/>
              </a:rPr>
              <a:t>() </a:t>
            </a:r>
            <a:r>
              <a:rPr lang="en-US" sz="1400" dirty="0">
                <a:latin typeface="Times New Roman" pitchFamily="18" charset="0"/>
                <a:cs typeface="Times New Roman" pitchFamily="18" charset="0"/>
              </a:rPr>
              <a:t>-</a:t>
            </a:r>
            <a:r>
              <a:rPr lang="en-US" sz="1400" b="1" dirty="0">
                <a:latin typeface="Times New Roman" pitchFamily="18" charset="0"/>
                <a:cs typeface="Times New Roman" pitchFamily="18" charset="0"/>
              </a:rPr>
              <a:t> </a:t>
            </a:r>
            <a:r>
              <a:rPr lang="en-US" sz="1400" dirty="0">
                <a:latin typeface="Times New Roman" pitchFamily="18" charset="0"/>
                <a:cs typeface="Times New Roman" pitchFamily="18" charset="0"/>
              </a:rPr>
              <a:t>This method is called either for a movement gesture on the screen or a press and release of an on-screen key.</a:t>
            </a:r>
            <a:r>
              <a:rPr lang="en-US" sz="1400" b="1" dirty="0">
                <a:latin typeface="Times New Roman" pitchFamily="18" charset="0"/>
                <a:cs typeface="Times New Roman" pitchFamily="18" charset="0"/>
              </a:rPr>
              <a:t> Event handler used for this is </a:t>
            </a:r>
            <a:r>
              <a:rPr lang="en-US" sz="1400" b="1" dirty="0" err="1">
                <a:latin typeface="Times New Roman" pitchFamily="18" charset="0"/>
                <a:cs typeface="Times New Roman" pitchFamily="18" charset="0"/>
              </a:rPr>
              <a:t>onTouch</a:t>
            </a:r>
            <a:r>
              <a:rPr lang="en-US" sz="1400" b="1" dirty="0">
                <a:latin typeface="Times New Roman" pitchFamily="18" charset="0"/>
                <a:cs typeface="Times New Roman" pitchFamily="18" charset="0"/>
              </a:rPr>
              <a:t>().</a:t>
            </a:r>
            <a:endParaRPr lang="en-US" sz="1400" dirty="0">
              <a:latin typeface="Times New Roman" pitchFamily="18" charset="0"/>
              <a:cs typeface="Times New Roman" pitchFamily="18" charset="0"/>
            </a:endParaRPr>
          </a:p>
          <a:p>
            <a:pPr>
              <a:buNone/>
            </a:pP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a:xfrm>
            <a:off x="428596" y="1285860"/>
            <a:ext cx="8258204" cy="4840303"/>
          </a:xfrm>
        </p:spPr>
        <p:txBody>
          <a:bodyPr>
            <a:normAutofit/>
          </a:bodyPr>
          <a:lstStyle/>
          <a:p>
            <a:pPr>
              <a:buNone/>
            </a:pPr>
            <a:r>
              <a:rPr lang="en-US" dirty="0" smtClean="0"/>
              <a:t>Java file:</a:t>
            </a:r>
          </a:p>
          <a:p>
            <a:pPr>
              <a:buNone/>
            </a:pPr>
            <a:r>
              <a:rPr lang="en-US" sz="1500" dirty="0" smtClean="0">
                <a:latin typeface="Times New Roman" pitchFamily="18" charset="0"/>
                <a:cs typeface="Times New Roman" pitchFamily="18" charset="0"/>
              </a:rPr>
              <a:t>Button </a:t>
            </a:r>
            <a:r>
              <a:rPr lang="en-US" sz="1500" dirty="0" err="1" smtClean="0">
                <a:latin typeface="Times New Roman" pitchFamily="18" charset="0"/>
                <a:cs typeface="Times New Roman" pitchFamily="18" charset="0"/>
              </a:rPr>
              <a:t>btn</a:t>
            </a:r>
            <a:r>
              <a:rPr lang="en-US" sz="1500" dirty="0" smtClean="0">
                <a:latin typeface="Times New Roman" pitchFamily="18" charset="0"/>
                <a:cs typeface="Times New Roman" pitchFamily="18" charset="0"/>
              </a:rPr>
              <a:t> = </a:t>
            </a:r>
            <a:r>
              <a:rPr lang="en-US" sz="1500" dirty="0" err="1" smtClean="0">
                <a:latin typeface="Times New Roman" pitchFamily="18" charset="0"/>
                <a:cs typeface="Times New Roman" pitchFamily="18" charset="0"/>
              </a:rPr>
              <a:t>findViewById</a:t>
            </a:r>
            <a:r>
              <a:rPr lang="en-US" sz="1500" dirty="0" smtClean="0">
                <a:latin typeface="Times New Roman" pitchFamily="18" charset="0"/>
                <a:cs typeface="Times New Roman" pitchFamily="18" charset="0"/>
              </a:rPr>
              <a:t>(</a:t>
            </a:r>
            <a:r>
              <a:rPr lang="en-US" sz="1500" dirty="0" err="1" smtClean="0">
                <a:latin typeface="Times New Roman" pitchFamily="18" charset="0"/>
                <a:cs typeface="Times New Roman" pitchFamily="18" charset="0"/>
              </a:rPr>
              <a:t>R.id.btnGo</a:t>
            </a:r>
            <a:r>
              <a:rPr lang="en-US" sz="1500" dirty="0" smtClean="0">
                <a:latin typeface="Times New Roman" pitchFamily="18" charset="0"/>
                <a:cs typeface="Times New Roman" pitchFamily="18" charset="0"/>
              </a:rPr>
              <a:t>);</a:t>
            </a:r>
          </a:p>
          <a:p>
            <a:pPr>
              <a:buNone/>
            </a:pPr>
            <a:r>
              <a:rPr lang="en-US" sz="1500" dirty="0" err="1" smtClean="0">
                <a:latin typeface="Times New Roman" pitchFamily="18" charset="0"/>
                <a:cs typeface="Times New Roman" pitchFamily="18" charset="0"/>
              </a:rPr>
              <a:t>btn.setOnClickListener</a:t>
            </a:r>
            <a:r>
              <a:rPr lang="en-US" sz="1500" dirty="0" smtClean="0">
                <a:latin typeface="Times New Roman" pitchFamily="18" charset="0"/>
                <a:cs typeface="Times New Roman" pitchFamily="18" charset="0"/>
              </a:rPr>
              <a:t>(new </a:t>
            </a:r>
            <a:r>
              <a:rPr lang="en-US" sz="1500" dirty="0" err="1" smtClean="0">
                <a:latin typeface="Times New Roman" pitchFamily="18" charset="0"/>
                <a:cs typeface="Times New Roman" pitchFamily="18" charset="0"/>
              </a:rPr>
              <a:t>View.OnClickListener</a:t>
            </a:r>
            <a:r>
              <a:rPr lang="en-US" sz="1500" dirty="0" smtClean="0">
                <a:latin typeface="Times New Roman" pitchFamily="18" charset="0"/>
                <a:cs typeface="Times New Roman" pitchFamily="18" charset="0"/>
              </a:rPr>
              <a:t>() {</a:t>
            </a:r>
          </a:p>
          <a:p>
            <a:pPr>
              <a:buNone/>
            </a:pPr>
            <a:r>
              <a:rPr lang="en-US" sz="1500" dirty="0" smtClean="0">
                <a:latin typeface="Times New Roman" pitchFamily="18" charset="0"/>
                <a:cs typeface="Times New Roman" pitchFamily="18" charset="0"/>
              </a:rPr>
              <a:t>    @Override</a:t>
            </a:r>
          </a:p>
          <a:p>
            <a:pPr>
              <a:buNone/>
            </a:pPr>
            <a:r>
              <a:rPr lang="en-US" sz="1500" dirty="0" smtClean="0">
                <a:latin typeface="Times New Roman" pitchFamily="18" charset="0"/>
                <a:cs typeface="Times New Roman" pitchFamily="18" charset="0"/>
              </a:rPr>
              <a:t>    public void </a:t>
            </a:r>
            <a:r>
              <a:rPr lang="en-US" sz="1500" dirty="0" err="1" smtClean="0">
                <a:latin typeface="Times New Roman" pitchFamily="18" charset="0"/>
                <a:cs typeface="Times New Roman" pitchFamily="18" charset="0"/>
              </a:rPr>
              <a:t>onClick</a:t>
            </a:r>
            <a:r>
              <a:rPr lang="en-US" sz="1500" dirty="0" smtClean="0">
                <a:latin typeface="Times New Roman" pitchFamily="18" charset="0"/>
                <a:cs typeface="Times New Roman" pitchFamily="18" charset="0"/>
              </a:rPr>
              <a:t>(View v) {</a:t>
            </a:r>
          </a:p>
          <a:p>
            <a:pPr>
              <a:buNone/>
            </a:pPr>
            <a:r>
              <a:rPr lang="en-US" sz="1500" dirty="0" smtClean="0">
                <a:latin typeface="Times New Roman" pitchFamily="18" charset="0"/>
                <a:cs typeface="Times New Roman" pitchFamily="18" charset="0"/>
              </a:rPr>
              <a:t>        </a:t>
            </a:r>
            <a:r>
              <a:rPr lang="en-US" sz="1500" dirty="0" err="1" smtClean="0">
                <a:latin typeface="Times New Roman" pitchFamily="18" charset="0"/>
                <a:cs typeface="Times New Roman" pitchFamily="18" charset="0"/>
              </a:rPr>
              <a:t>Toast.makeText</a:t>
            </a:r>
            <a:r>
              <a:rPr lang="en-US" sz="1500" dirty="0" smtClean="0">
                <a:latin typeface="Times New Roman" pitchFamily="18" charset="0"/>
                <a:cs typeface="Times New Roman" pitchFamily="18" charset="0"/>
              </a:rPr>
              <a:t>(</a:t>
            </a:r>
            <a:r>
              <a:rPr lang="en-US" sz="1500" dirty="0" err="1" smtClean="0">
                <a:latin typeface="Times New Roman" pitchFamily="18" charset="0"/>
                <a:cs typeface="Times New Roman" pitchFamily="18" charset="0"/>
              </a:rPr>
              <a:t>MainActivity.this</a:t>
            </a:r>
            <a:r>
              <a:rPr lang="en-US" sz="1500" dirty="0" smtClean="0">
                <a:latin typeface="Times New Roman" pitchFamily="18" charset="0"/>
                <a:cs typeface="Times New Roman" pitchFamily="18" charset="0"/>
              </a:rPr>
              <a:t>, "Clicked!", </a:t>
            </a:r>
            <a:r>
              <a:rPr lang="en-US" sz="1500" dirty="0" err="1" smtClean="0">
                <a:latin typeface="Times New Roman" pitchFamily="18" charset="0"/>
                <a:cs typeface="Times New Roman" pitchFamily="18" charset="0"/>
              </a:rPr>
              <a:t>Toast.LENGTH_SHORT</a:t>
            </a:r>
            <a:r>
              <a:rPr lang="en-US" sz="1500" dirty="0" smtClean="0">
                <a:latin typeface="Times New Roman" pitchFamily="18" charset="0"/>
                <a:cs typeface="Times New Roman" pitchFamily="18" charset="0"/>
              </a:rPr>
              <a:t>).show();</a:t>
            </a:r>
          </a:p>
          <a:p>
            <a:pPr>
              <a:buNone/>
            </a:pPr>
            <a:r>
              <a:rPr lang="en-US" sz="1500" dirty="0" smtClean="0">
                <a:latin typeface="Times New Roman" pitchFamily="18" charset="0"/>
                <a:cs typeface="Times New Roman" pitchFamily="18" charset="0"/>
              </a:rPr>
              <a:t>    }</a:t>
            </a:r>
          </a:p>
          <a:p>
            <a:pPr>
              <a:buNone/>
            </a:pPr>
            <a:r>
              <a:rPr lang="en-US" sz="1500" dirty="0" smtClean="0">
                <a:latin typeface="Times New Roman" pitchFamily="18" charset="0"/>
                <a:cs typeface="Times New Roman" pitchFamily="18" charset="0"/>
              </a:rPr>
              <a:t>});</a:t>
            </a:r>
          </a:p>
          <a:p>
            <a:pPr>
              <a:buNone/>
            </a:pPr>
            <a:r>
              <a:rPr lang="en-US" sz="1500" b="1" dirty="0" smtClean="0">
                <a:latin typeface="Times New Roman" pitchFamily="18" charset="0"/>
                <a:cs typeface="Times New Roman" pitchFamily="18" charset="0"/>
              </a:rPr>
              <a:t>Xml file:</a:t>
            </a:r>
          </a:p>
          <a:p>
            <a:pPr>
              <a:buNone/>
            </a:pPr>
            <a:r>
              <a:rPr lang="en-US" sz="1600" dirty="0" smtClean="0">
                <a:latin typeface="Times New Roman" pitchFamily="18" charset="0"/>
                <a:cs typeface="Times New Roman" pitchFamily="18" charset="0"/>
              </a:rPr>
              <a:t>&lt;Button</a:t>
            </a:r>
          </a:p>
          <a:p>
            <a:pPr>
              <a:buNone/>
            </a:pP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android:id</a:t>
            </a:r>
            <a:r>
              <a:rPr lang="en-US" sz="1600" dirty="0" smtClean="0">
                <a:latin typeface="Times New Roman" pitchFamily="18" charset="0"/>
                <a:cs typeface="Times New Roman" pitchFamily="18" charset="0"/>
              </a:rPr>
              <a:t>="@+id/</a:t>
            </a:r>
            <a:r>
              <a:rPr lang="en-US" sz="1600" dirty="0" err="1" smtClean="0">
                <a:latin typeface="Times New Roman" pitchFamily="18" charset="0"/>
                <a:cs typeface="Times New Roman" pitchFamily="18" charset="0"/>
              </a:rPr>
              <a:t>btnGo</a:t>
            </a:r>
            <a:r>
              <a:rPr lang="en-US" sz="1600" dirty="0" smtClean="0">
                <a:latin typeface="Times New Roman" pitchFamily="18" charset="0"/>
                <a:cs typeface="Times New Roman" pitchFamily="18" charset="0"/>
              </a:rPr>
              <a:t>"</a:t>
            </a:r>
          </a:p>
          <a:p>
            <a:pPr>
              <a:buNone/>
            </a:pP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android:onClick</a:t>
            </a:r>
            <a:r>
              <a:rPr lang="en-US" sz="1600" dirty="0" smtClean="0">
                <a:latin typeface="Times New Roman" pitchFamily="18" charset="0"/>
                <a:cs typeface="Times New Roman" pitchFamily="18" charset="0"/>
              </a:rPr>
              <a:t>="</a:t>
            </a:r>
            <a:r>
              <a:rPr lang="en-US" sz="1600" dirty="0" err="1" smtClean="0">
                <a:latin typeface="Times New Roman" pitchFamily="18" charset="0"/>
                <a:cs typeface="Times New Roman" pitchFamily="18" charset="0"/>
              </a:rPr>
              <a:t>onGoClicked</a:t>
            </a:r>
            <a:r>
              <a:rPr lang="en-US" sz="1600" dirty="0" smtClean="0">
                <a:latin typeface="Times New Roman" pitchFamily="18" charset="0"/>
                <a:cs typeface="Times New Roman" pitchFamily="18" charset="0"/>
              </a:rPr>
              <a:t>" ... /&gt;</a:t>
            </a:r>
          </a:p>
          <a:p>
            <a:pPr>
              <a:buNone/>
            </a:pPr>
            <a:r>
              <a:rPr lang="en-US" sz="1600" b="1" dirty="0" smtClean="0">
                <a:latin typeface="Times New Roman" pitchFamily="18" charset="0"/>
                <a:cs typeface="Times New Roman" pitchFamily="18" charset="0"/>
              </a:rPr>
              <a:t>Java file:</a:t>
            </a:r>
          </a:p>
          <a:p>
            <a:pPr>
              <a:buNone/>
            </a:pPr>
            <a:r>
              <a:rPr lang="en-US" sz="1600" dirty="0" smtClean="0">
                <a:latin typeface="Times New Roman" pitchFamily="18" charset="0"/>
                <a:cs typeface="Times New Roman" pitchFamily="18" charset="0"/>
              </a:rPr>
              <a:t>public void </a:t>
            </a:r>
            <a:r>
              <a:rPr lang="en-US" sz="1600" dirty="0" err="1" smtClean="0">
                <a:latin typeface="Times New Roman" pitchFamily="18" charset="0"/>
                <a:cs typeface="Times New Roman" pitchFamily="18" charset="0"/>
              </a:rPr>
              <a:t>onGoClicked</a:t>
            </a:r>
            <a:r>
              <a:rPr lang="en-US" sz="1600" dirty="0" smtClean="0">
                <a:latin typeface="Times New Roman" pitchFamily="18" charset="0"/>
                <a:cs typeface="Times New Roman" pitchFamily="18" charset="0"/>
              </a:rPr>
              <a:t>(View v) {</a:t>
            </a:r>
          </a:p>
          <a:p>
            <a:pPr>
              <a:buNone/>
            </a:pP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Toast.makeText</a:t>
            </a:r>
            <a:r>
              <a:rPr lang="en-US" sz="1600" dirty="0" smtClean="0">
                <a:latin typeface="Times New Roman" pitchFamily="18" charset="0"/>
                <a:cs typeface="Times New Roman" pitchFamily="18" charset="0"/>
              </a:rPr>
              <a:t>(this, "Go clicked!", </a:t>
            </a:r>
            <a:r>
              <a:rPr lang="en-US" sz="1600" dirty="0" err="1" smtClean="0">
                <a:latin typeface="Times New Roman" pitchFamily="18" charset="0"/>
                <a:cs typeface="Times New Roman" pitchFamily="18" charset="0"/>
              </a:rPr>
              <a:t>Toast.LENGTH_SHORT</a:t>
            </a:r>
            <a:r>
              <a:rPr lang="en-US" sz="1600" dirty="0" smtClean="0">
                <a:latin typeface="Times New Roman" pitchFamily="18" charset="0"/>
                <a:cs typeface="Times New Roman" pitchFamily="18" charset="0"/>
              </a:rPr>
              <a:t>).show();</a:t>
            </a:r>
          </a:p>
          <a:p>
            <a:pPr>
              <a:buNone/>
            </a:pPr>
            <a:r>
              <a:rPr lang="en-US" sz="1600" dirty="0" smtClean="0">
                <a:latin typeface="Times New Roman" pitchFamily="18" charset="0"/>
                <a:cs typeface="Times New Roman" pitchFamily="18" charset="0"/>
              </a:rPr>
              <a:t>}</a:t>
            </a:r>
          </a:p>
          <a:p>
            <a:pPr>
              <a:buNone/>
            </a:pPr>
            <a:endParaRPr lang="en-US" sz="1600" dirty="0" smtClean="0">
              <a:latin typeface="Times New Roman" pitchFamily="18" charset="0"/>
              <a:cs typeface="Times New Roman" pitchFamily="18" charset="0"/>
            </a:endParaRPr>
          </a:p>
          <a:p>
            <a:pPr>
              <a:buNone/>
            </a:pP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74638"/>
            <a:ext cx="8186766" cy="582594"/>
          </a:xfrm>
        </p:spPr>
        <p:txBody>
          <a:bodyPr>
            <a:normAutofit fontScale="90000"/>
          </a:bodyPr>
          <a:lstStyle/>
          <a:p>
            <a:r>
              <a:rPr lang="en-US" dirty="0" err="1" smtClean="0"/>
              <a:t>Grahpics</a:t>
            </a:r>
            <a:endParaRPr lang="en-US" dirty="0"/>
          </a:p>
        </p:txBody>
      </p:sp>
      <p:sp>
        <p:nvSpPr>
          <p:cNvPr id="3" name="Content Placeholder 2"/>
          <p:cNvSpPr>
            <a:spLocks noGrp="1"/>
          </p:cNvSpPr>
          <p:nvPr>
            <p:ph idx="1"/>
          </p:nvPr>
        </p:nvSpPr>
        <p:spPr>
          <a:xfrm>
            <a:off x="357158" y="1000108"/>
            <a:ext cx="6572296" cy="5643602"/>
          </a:xfrm>
        </p:spPr>
        <p:txBody>
          <a:bodyPr>
            <a:normAutofit fontScale="32500" lnSpcReduction="20000"/>
          </a:bodyPr>
          <a:lstStyle/>
          <a:p>
            <a:pPr>
              <a:buNone/>
            </a:pPr>
            <a:r>
              <a:rPr lang="en-US" sz="3400" dirty="0" smtClean="0"/>
              <a:t>package </a:t>
            </a:r>
            <a:r>
              <a:rPr lang="en-US" sz="3400" dirty="0" err="1" smtClean="0"/>
              <a:t>com.example.graphics</a:t>
            </a:r>
            <a:r>
              <a:rPr lang="en-US" sz="3400" dirty="0" smtClean="0"/>
              <a:t>;</a:t>
            </a:r>
          </a:p>
          <a:p>
            <a:pPr>
              <a:buNone/>
            </a:pPr>
            <a:endParaRPr lang="en-US" sz="3400" dirty="0" smtClean="0"/>
          </a:p>
          <a:p>
            <a:pPr>
              <a:buNone/>
            </a:pPr>
            <a:r>
              <a:rPr lang="en-US" sz="3400" dirty="0" smtClean="0"/>
              <a:t>import </a:t>
            </a:r>
            <a:r>
              <a:rPr lang="en-US" sz="3400" dirty="0" err="1" smtClean="0"/>
              <a:t>android.graphics.Bitmap</a:t>
            </a:r>
            <a:r>
              <a:rPr lang="en-US" sz="3400" dirty="0" smtClean="0"/>
              <a:t>;</a:t>
            </a:r>
          </a:p>
          <a:p>
            <a:pPr>
              <a:buNone/>
            </a:pPr>
            <a:r>
              <a:rPr lang="en-US" sz="3400" dirty="0" smtClean="0"/>
              <a:t>import </a:t>
            </a:r>
            <a:r>
              <a:rPr lang="en-US" sz="3400" dirty="0" err="1" smtClean="0"/>
              <a:t>android.graphics.Canvas</a:t>
            </a:r>
            <a:r>
              <a:rPr lang="en-US" sz="3400" dirty="0" smtClean="0"/>
              <a:t>;</a:t>
            </a:r>
          </a:p>
          <a:p>
            <a:pPr>
              <a:buNone/>
            </a:pPr>
            <a:r>
              <a:rPr lang="en-US" sz="3400" dirty="0" smtClean="0"/>
              <a:t>import </a:t>
            </a:r>
            <a:r>
              <a:rPr lang="en-US" sz="3400" dirty="0" err="1" smtClean="0"/>
              <a:t>android.graphics.Color</a:t>
            </a:r>
            <a:r>
              <a:rPr lang="en-US" sz="3400" dirty="0" smtClean="0"/>
              <a:t>;</a:t>
            </a:r>
          </a:p>
          <a:p>
            <a:pPr>
              <a:buNone/>
            </a:pPr>
            <a:r>
              <a:rPr lang="en-US" sz="3400" dirty="0" smtClean="0"/>
              <a:t>import </a:t>
            </a:r>
            <a:r>
              <a:rPr lang="en-US" sz="3400" dirty="0" err="1" smtClean="0"/>
              <a:t>android.graphics.Paint</a:t>
            </a:r>
            <a:r>
              <a:rPr lang="en-US" sz="3400" dirty="0" smtClean="0"/>
              <a:t>;</a:t>
            </a:r>
          </a:p>
          <a:p>
            <a:pPr>
              <a:buNone/>
            </a:pPr>
            <a:r>
              <a:rPr lang="en-US" sz="3400" dirty="0" smtClean="0"/>
              <a:t>import </a:t>
            </a:r>
            <a:r>
              <a:rPr lang="en-US" sz="3400" dirty="0" err="1" smtClean="0"/>
              <a:t>android.graphics.Path</a:t>
            </a:r>
            <a:r>
              <a:rPr lang="en-US" sz="3400" dirty="0" smtClean="0"/>
              <a:t>;</a:t>
            </a:r>
          </a:p>
          <a:p>
            <a:pPr>
              <a:buNone/>
            </a:pPr>
            <a:r>
              <a:rPr lang="en-US" sz="3400" dirty="0" smtClean="0"/>
              <a:t>import </a:t>
            </a:r>
            <a:r>
              <a:rPr lang="en-US" sz="3400" dirty="0" err="1" smtClean="0"/>
              <a:t>android.os.Bundle</a:t>
            </a:r>
            <a:r>
              <a:rPr lang="en-US" sz="3400" dirty="0" smtClean="0"/>
              <a:t>;</a:t>
            </a:r>
          </a:p>
          <a:p>
            <a:pPr>
              <a:buNone/>
            </a:pPr>
            <a:r>
              <a:rPr lang="en-US" sz="3400" dirty="0" smtClean="0"/>
              <a:t>import </a:t>
            </a:r>
            <a:r>
              <a:rPr lang="en-US" sz="3400" dirty="0" err="1" smtClean="0"/>
              <a:t>android.widget.Button</a:t>
            </a:r>
            <a:r>
              <a:rPr lang="en-US" sz="3400" dirty="0" smtClean="0"/>
              <a:t>;</a:t>
            </a:r>
          </a:p>
          <a:p>
            <a:pPr>
              <a:buNone/>
            </a:pPr>
            <a:r>
              <a:rPr lang="en-US" sz="3400" dirty="0" smtClean="0"/>
              <a:t>import </a:t>
            </a:r>
            <a:r>
              <a:rPr lang="en-US" sz="3400" dirty="0" err="1" smtClean="0"/>
              <a:t>android.widget.ImageView</a:t>
            </a:r>
            <a:r>
              <a:rPr lang="en-US" sz="3400" dirty="0" smtClean="0"/>
              <a:t>;</a:t>
            </a:r>
          </a:p>
          <a:p>
            <a:pPr>
              <a:buNone/>
            </a:pPr>
            <a:endParaRPr lang="en-US" sz="3400" dirty="0" smtClean="0"/>
          </a:p>
          <a:p>
            <a:pPr>
              <a:buNone/>
            </a:pPr>
            <a:r>
              <a:rPr lang="en-US" sz="3400" dirty="0" smtClean="0"/>
              <a:t>import </a:t>
            </a:r>
            <a:r>
              <a:rPr lang="en-US" sz="3400" dirty="0" err="1" smtClean="0"/>
              <a:t>androidx.appcompat.app.AppCompatActivity</a:t>
            </a:r>
            <a:r>
              <a:rPr lang="en-US" sz="3400" dirty="0" smtClean="0"/>
              <a:t>;</a:t>
            </a:r>
          </a:p>
          <a:p>
            <a:pPr>
              <a:buNone/>
            </a:pPr>
            <a:endParaRPr lang="en-US" sz="3400" dirty="0" smtClean="0"/>
          </a:p>
          <a:p>
            <a:pPr>
              <a:buNone/>
            </a:pPr>
            <a:r>
              <a:rPr lang="en-US" sz="3400" dirty="0" smtClean="0"/>
              <a:t>public class </a:t>
            </a:r>
            <a:r>
              <a:rPr lang="en-US" sz="3400" dirty="0" err="1" smtClean="0"/>
              <a:t>MainActivity</a:t>
            </a:r>
            <a:r>
              <a:rPr lang="en-US" sz="3400" dirty="0" smtClean="0"/>
              <a:t> extends </a:t>
            </a:r>
            <a:r>
              <a:rPr lang="en-US" sz="3400" dirty="0" err="1" smtClean="0"/>
              <a:t>AppCompatActivity</a:t>
            </a:r>
            <a:r>
              <a:rPr lang="en-US" sz="3400" dirty="0" smtClean="0"/>
              <a:t> {</a:t>
            </a:r>
          </a:p>
          <a:p>
            <a:pPr>
              <a:buNone/>
            </a:pPr>
            <a:endParaRPr lang="en-US" sz="3400" dirty="0" smtClean="0"/>
          </a:p>
          <a:p>
            <a:pPr>
              <a:buNone/>
            </a:pPr>
            <a:r>
              <a:rPr lang="en-US" sz="3400" dirty="0" smtClean="0"/>
              <a:t>    private </a:t>
            </a:r>
            <a:r>
              <a:rPr lang="en-US" sz="3400" dirty="0" err="1" smtClean="0"/>
              <a:t>ImageView</a:t>
            </a:r>
            <a:r>
              <a:rPr lang="en-US" sz="3400" dirty="0" smtClean="0"/>
              <a:t> </a:t>
            </a:r>
            <a:r>
              <a:rPr lang="en-US" sz="3400" dirty="0" err="1" smtClean="0"/>
              <a:t>imageView</a:t>
            </a:r>
            <a:r>
              <a:rPr lang="en-US" sz="3400" dirty="0" smtClean="0"/>
              <a:t>;</a:t>
            </a:r>
          </a:p>
          <a:p>
            <a:pPr>
              <a:buNone/>
            </a:pPr>
            <a:r>
              <a:rPr lang="en-US" sz="3400" dirty="0" smtClean="0"/>
              <a:t>    private Bitmap </a:t>
            </a:r>
            <a:r>
              <a:rPr lang="en-US" sz="3400" dirty="0" err="1" smtClean="0"/>
              <a:t>bitmap</a:t>
            </a:r>
            <a:r>
              <a:rPr lang="en-US" sz="3400" dirty="0" smtClean="0"/>
              <a:t>;</a:t>
            </a:r>
          </a:p>
          <a:p>
            <a:pPr>
              <a:buNone/>
            </a:pPr>
            <a:r>
              <a:rPr lang="en-US" sz="3400" dirty="0" smtClean="0"/>
              <a:t>    private Canvas </a:t>
            </a:r>
            <a:r>
              <a:rPr lang="en-US" sz="3400" dirty="0" err="1" smtClean="0"/>
              <a:t>canvas</a:t>
            </a:r>
            <a:r>
              <a:rPr lang="en-US" sz="3400" dirty="0" smtClean="0"/>
              <a:t>;</a:t>
            </a:r>
          </a:p>
          <a:p>
            <a:pPr>
              <a:buNone/>
            </a:pPr>
            <a:r>
              <a:rPr lang="en-US" sz="3400" dirty="0" smtClean="0"/>
              <a:t>    private Paint </a:t>
            </a:r>
            <a:r>
              <a:rPr lang="en-US" sz="3400" dirty="0" err="1" smtClean="0"/>
              <a:t>paint</a:t>
            </a:r>
            <a:r>
              <a:rPr lang="en-US" sz="3400" dirty="0" smtClean="0"/>
              <a:t>;</a:t>
            </a:r>
          </a:p>
          <a:p>
            <a:pPr>
              <a:buNone/>
            </a:pPr>
            <a:endParaRPr lang="en-US" sz="3400" dirty="0" smtClean="0"/>
          </a:p>
          <a:p>
            <a:pPr>
              <a:buNone/>
            </a:pPr>
            <a:r>
              <a:rPr lang="en-US" sz="3400" dirty="0" smtClean="0"/>
              <a:t>    @Override</a:t>
            </a:r>
          </a:p>
          <a:p>
            <a:pPr>
              <a:buNone/>
            </a:pPr>
            <a:r>
              <a:rPr lang="en-US" sz="3400" b="1" dirty="0" smtClean="0">
                <a:latin typeface="Times New Roman" pitchFamily="18" charset="0"/>
                <a:cs typeface="Times New Roman" pitchFamily="18" charset="0"/>
              </a:rPr>
              <a:t>    protected void </a:t>
            </a:r>
            <a:r>
              <a:rPr lang="en-US" sz="3400" b="1" dirty="0" err="1" smtClean="0">
                <a:latin typeface="Times New Roman" pitchFamily="18" charset="0"/>
                <a:cs typeface="Times New Roman" pitchFamily="18" charset="0"/>
              </a:rPr>
              <a:t>onCreate</a:t>
            </a:r>
            <a:r>
              <a:rPr lang="en-US" sz="3400" b="1" dirty="0" smtClean="0">
                <a:latin typeface="Times New Roman" pitchFamily="18" charset="0"/>
                <a:cs typeface="Times New Roman" pitchFamily="18" charset="0"/>
              </a:rPr>
              <a:t>(Bundle </a:t>
            </a:r>
            <a:r>
              <a:rPr lang="en-US" sz="3400" b="1" dirty="0" err="1" smtClean="0">
                <a:latin typeface="Times New Roman" pitchFamily="18" charset="0"/>
                <a:cs typeface="Times New Roman" pitchFamily="18" charset="0"/>
              </a:rPr>
              <a:t>savedInstanceState</a:t>
            </a:r>
            <a:r>
              <a:rPr lang="en-US" sz="3400" b="1" dirty="0" smtClean="0">
                <a:latin typeface="Times New Roman" pitchFamily="18" charset="0"/>
                <a:cs typeface="Times New Roman" pitchFamily="18" charset="0"/>
              </a:rPr>
              <a:t>) {</a:t>
            </a:r>
          </a:p>
          <a:p>
            <a:pPr>
              <a:buNone/>
            </a:pPr>
            <a:r>
              <a:rPr lang="en-US" sz="3400" b="1" dirty="0" smtClean="0">
                <a:latin typeface="Times New Roman" pitchFamily="18" charset="0"/>
                <a:cs typeface="Times New Roman" pitchFamily="18" charset="0"/>
              </a:rPr>
              <a:t>        </a:t>
            </a:r>
            <a:r>
              <a:rPr lang="en-US" sz="3400" b="1" dirty="0" err="1" smtClean="0">
                <a:latin typeface="Times New Roman" pitchFamily="18" charset="0"/>
                <a:cs typeface="Times New Roman" pitchFamily="18" charset="0"/>
              </a:rPr>
              <a:t>super.onCreate</a:t>
            </a:r>
            <a:r>
              <a:rPr lang="en-US" sz="3400" b="1" dirty="0" smtClean="0">
                <a:latin typeface="Times New Roman" pitchFamily="18" charset="0"/>
                <a:cs typeface="Times New Roman" pitchFamily="18" charset="0"/>
              </a:rPr>
              <a:t>(</a:t>
            </a:r>
            <a:r>
              <a:rPr lang="en-US" sz="3400" b="1" dirty="0" err="1" smtClean="0">
                <a:latin typeface="Times New Roman" pitchFamily="18" charset="0"/>
                <a:cs typeface="Times New Roman" pitchFamily="18" charset="0"/>
              </a:rPr>
              <a:t>savedInstanceState</a:t>
            </a:r>
            <a:r>
              <a:rPr lang="en-US" sz="3400" b="1" dirty="0" smtClean="0">
                <a:latin typeface="Times New Roman" pitchFamily="18" charset="0"/>
                <a:cs typeface="Times New Roman" pitchFamily="18" charset="0"/>
              </a:rPr>
              <a:t>);</a:t>
            </a:r>
          </a:p>
          <a:p>
            <a:pPr>
              <a:buNone/>
            </a:pPr>
            <a:r>
              <a:rPr lang="en-US" sz="3400" b="1" dirty="0" smtClean="0">
                <a:latin typeface="Times New Roman" pitchFamily="18" charset="0"/>
                <a:cs typeface="Times New Roman" pitchFamily="18" charset="0"/>
              </a:rPr>
              <a:t>        </a:t>
            </a:r>
            <a:r>
              <a:rPr lang="en-US" sz="3400" b="1" dirty="0" err="1" smtClean="0">
                <a:latin typeface="Times New Roman" pitchFamily="18" charset="0"/>
                <a:cs typeface="Times New Roman" pitchFamily="18" charset="0"/>
              </a:rPr>
              <a:t>setContentView</a:t>
            </a:r>
            <a:r>
              <a:rPr lang="en-US" sz="3400" b="1" dirty="0" smtClean="0">
                <a:latin typeface="Times New Roman" pitchFamily="18" charset="0"/>
                <a:cs typeface="Times New Roman" pitchFamily="18" charset="0"/>
              </a:rPr>
              <a:t>(</a:t>
            </a:r>
            <a:r>
              <a:rPr lang="en-US" sz="3400" b="1" dirty="0" err="1" smtClean="0">
                <a:latin typeface="Times New Roman" pitchFamily="18" charset="0"/>
                <a:cs typeface="Times New Roman" pitchFamily="18" charset="0"/>
              </a:rPr>
              <a:t>R.layout.activity_main</a:t>
            </a:r>
            <a:r>
              <a:rPr lang="en-US" sz="3400" b="1" dirty="0" smtClean="0">
                <a:latin typeface="Times New Roman" pitchFamily="18" charset="0"/>
                <a:cs typeface="Times New Roman" pitchFamily="18" charset="0"/>
              </a:rPr>
              <a:t>);</a:t>
            </a:r>
          </a:p>
          <a:p>
            <a:pPr>
              <a:buNone/>
            </a:pPr>
            <a:endParaRPr lang="en-US" sz="3400" b="1" dirty="0" smtClean="0">
              <a:latin typeface="Times New Roman" pitchFamily="18" charset="0"/>
              <a:cs typeface="Times New Roman" pitchFamily="18" charset="0"/>
            </a:endParaRPr>
          </a:p>
          <a:p>
            <a:pPr>
              <a:buNone/>
            </a:pPr>
            <a:r>
              <a:rPr lang="en-US" sz="3400" b="1" dirty="0" smtClean="0">
                <a:latin typeface="Times New Roman" pitchFamily="18" charset="0"/>
                <a:cs typeface="Times New Roman" pitchFamily="18" charset="0"/>
              </a:rPr>
              <a:t>        </a:t>
            </a:r>
            <a:r>
              <a:rPr lang="en-US" sz="3400" b="1" dirty="0" err="1" smtClean="0">
                <a:latin typeface="Times New Roman" pitchFamily="18" charset="0"/>
                <a:cs typeface="Times New Roman" pitchFamily="18" charset="0"/>
              </a:rPr>
              <a:t>imageView</a:t>
            </a:r>
            <a:r>
              <a:rPr lang="en-US" sz="3400" b="1" dirty="0" smtClean="0">
                <a:latin typeface="Times New Roman" pitchFamily="18" charset="0"/>
                <a:cs typeface="Times New Roman" pitchFamily="18" charset="0"/>
              </a:rPr>
              <a:t> = </a:t>
            </a:r>
            <a:r>
              <a:rPr lang="en-US" sz="3400" b="1" dirty="0" err="1" smtClean="0">
                <a:latin typeface="Times New Roman" pitchFamily="18" charset="0"/>
                <a:cs typeface="Times New Roman" pitchFamily="18" charset="0"/>
              </a:rPr>
              <a:t>findViewById</a:t>
            </a:r>
            <a:r>
              <a:rPr lang="en-US" sz="3400" b="1" dirty="0" smtClean="0">
                <a:latin typeface="Times New Roman" pitchFamily="18" charset="0"/>
                <a:cs typeface="Times New Roman" pitchFamily="18" charset="0"/>
              </a:rPr>
              <a:t>(</a:t>
            </a:r>
            <a:r>
              <a:rPr lang="en-US" sz="3400" b="1" dirty="0" err="1" smtClean="0">
                <a:latin typeface="Times New Roman" pitchFamily="18" charset="0"/>
                <a:cs typeface="Times New Roman" pitchFamily="18" charset="0"/>
              </a:rPr>
              <a:t>R.id.imageView</a:t>
            </a:r>
            <a:r>
              <a:rPr lang="en-US" sz="3400" b="1" dirty="0" smtClean="0">
                <a:latin typeface="Times New Roman" pitchFamily="18" charset="0"/>
                <a:cs typeface="Times New Roman" pitchFamily="18" charset="0"/>
              </a:rPr>
              <a:t>);</a:t>
            </a:r>
          </a:p>
          <a:p>
            <a:pPr>
              <a:buNone/>
            </a:pPr>
            <a:endParaRPr lang="en-US" sz="3400" b="1" dirty="0" smtClean="0">
              <a:latin typeface="Times New Roman" pitchFamily="18" charset="0"/>
              <a:cs typeface="Times New Roman" pitchFamily="18" charset="0"/>
            </a:endParaRPr>
          </a:p>
          <a:p>
            <a:pPr>
              <a:buNone/>
            </a:pPr>
            <a:r>
              <a:rPr lang="en-US" sz="3400" b="1" dirty="0" smtClean="0">
                <a:latin typeface="Times New Roman" pitchFamily="18" charset="0"/>
                <a:cs typeface="Times New Roman" pitchFamily="18" charset="0"/>
              </a:rPr>
              <a:t>        // Create bitmap and canvas to draw on</a:t>
            </a:r>
          </a:p>
          <a:p>
            <a:pPr>
              <a:buNone/>
            </a:pPr>
            <a:r>
              <a:rPr lang="en-US" sz="3400" b="1" dirty="0" smtClean="0">
                <a:latin typeface="Times New Roman" pitchFamily="18" charset="0"/>
                <a:cs typeface="Times New Roman" pitchFamily="18" charset="0"/>
              </a:rPr>
              <a:t>        bitmap = </a:t>
            </a:r>
            <a:r>
              <a:rPr lang="en-US" sz="3400" b="1" dirty="0" err="1" smtClean="0">
                <a:latin typeface="Times New Roman" pitchFamily="18" charset="0"/>
                <a:cs typeface="Times New Roman" pitchFamily="18" charset="0"/>
              </a:rPr>
              <a:t>Bitmap.createBitmap</a:t>
            </a:r>
            <a:r>
              <a:rPr lang="en-US" sz="3400" b="1" dirty="0" smtClean="0">
                <a:latin typeface="Times New Roman" pitchFamily="18" charset="0"/>
                <a:cs typeface="Times New Roman" pitchFamily="18" charset="0"/>
              </a:rPr>
              <a:t>(300, 300, Bitmap.Config.ARGB_8888);</a:t>
            </a:r>
          </a:p>
          <a:p>
            <a:pPr>
              <a:buNone/>
            </a:pPr>
            <a:r>
              <a:rPr lang="en-US" sz="3400" b="1" dirty="0" smtClean="0">
                <a:latin typeface="Times New Roman" pitchFamily="18" charset="0"/>
                <a:cs typeface="Times New Roman" pitchFamily="18" charset="0"/>
              </a:rPr>
              <a:t>        canvas = new Canvas(bitmap);</a:t>
            </a:r>
          </a:p>
          <a:p>
            <a:pPr>
              <a:buNone/>
            </a:pPr>
            <a:r>
              <a:rPr lang="en-US" sz="3400" b="1" dirty="0" smtClean="0">
                <a:latin typeface="Times New Roman" pitchFamily="18" charset="0"/>
                <a:cs typeface="Times New Roman" pitchFamily="18" charset="0"/>
              </a:rPr>
              <a:t>        </a:t>
            </a:r>
            <a:r>
              <a:rPr lang="en-US" sz="3400" b="1" dirty="0" err="1" smtClean="0">
                <a:latin typeface="Times New Roman" pitchFamily="18" charset="0"/>
                <a:cs typeface="Times New Roman" pitchFamily="18" charset="0"/>
              </a:rPr>
              <a:t>imageView.setImageBitmap</a:t>
            </a:r>
            <a:r>
              <a:rPr lang="en-US" sz="3400" b="1" dirty="0" smtClean="0">
                <a:latin typeface="Times New Roman" pitchFamily="18" charset="0"/>
                <a:cs typeface="Times New Roman" pitchFamily="18" charset="0"/>
              </a:rPr>
              <a:t>(bitmap);</a:t>
            </a:r>
          </a:p>
          <a:p>
            <a:pPr>
              <a:buNone/>
            </a:pPr>
            <a:endParaRPr lang="en-US" dirty="0" smtClean="0"/>
          </a:p>
          <a:p>
            <a:pPr>
              <a:buNone/>
            </a:pPr>
            <a:endParaRPr lang="en-US" dirty="0"/>
          </a:p>
        </p:txBody>
      </p:sp>
      <p:sp>
        <p:nvSpPr>
          <p:cNvPr id="4" name="Rectangle 3"/>
          <p:cNvSpPr/>
          <p:nvPr/>
        </p:nvSpPr>
        <p:spPr>
          <a:xfrm>
            <a:off x="4429124" y="948690"/>
            <a:ext cx="4500562" cy="4352602"/>
          </a:xfrm>
          <a:prstGeom prst="rect">
            <a:avLst/>
          </a:prstGeom>
        </p:spPr>
        <p:txBody>
          <a:bodyPr wrap="square">
            <a:spAutoFit/>
          </a:bodyPr>
          <a:lstStyle/>
          <a:p>
            <a:pPr>
              <a:lnSpc>
                <a:spcPct val="150000"/>
              </a:lnSpc>
              <a:buNone/>
            </a:pPr>
            <a:r>
              <a:rPr lang="en-US" dirty="0" smtClean="0"/>
              <a:t> </a:t>
            </a:r>
            <a:r>
              <a:rPr lang="en-US" sz="1100" dirty="0" smtClean="0"/>
              <a:t>// </a:t>
            </a:r>
            <a:r>
              <a:rPr lang="en-US" sz="1200" dirty="0" smtClean="0">
                <a:latin typeface="Times New Roman" pitchFamily="18" charset="0"/>
                <a:cs typeface="Times New Roman" pitchFamily="18" charset="0"/>
              </a:rPr>
              <a:t>Paint setup</a:t>
            </a:r>
          </a:p>
          <a:p>
            <a:pPr>
              <a:lnSpc>
                <a:spcPct val="150000"/>
              </a:lnSpc>
              <a:buNone/>
            </a:pPr>
            <a:r>
              <a:rPr lang="en-US" sz="1200" dirty="0" smtClean="0">
                <a:latin typeface="Times New Roman" pitchFamily="18" charset="0"/>
                <a:cs typeface="Times New Roman" pitchFamily="18" charset="0"/>
              </a:rPr>
              <a:t>        paint = new Paint();</a:t>
            </a:r>
          </a:p>
          <a:p>
            <a:pPr>
              <a:lnSpc>
                <a:spcPct val="150000"/>
              </a:lnSpc>
              <a:buNone/>
            </a:pP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paint.setColor</a:t>
            </a:r>
            <a:r>
              <a:rPr lang="en-US" sz="1200" dirty="0" smtClean="0">
                <a:latin typeface="Times New Roman" pitchFamily="18" charset="0"/>
                <a:cs typeface="Times New Roman" pitchFamily="18" charset="0"/>
              </a:rPr>
              <a:t>(</a:t>
            </a:r>
            <a:r>
              <a:rPr lang="en-US" sz="1200" dirty="0" err="1" smtClean="0">
                <a:latin typeface="Times New Roman" pitchFamily="18" charset="0"/>
                <a:cs typeface="Times New Roman" pitchFamily="18" charset="0"/>
              </a:rPr>
              <a:t>Color.BLUE</a:t>
            </a:r>
            <a:r>
              <a:rPr lang="en-US" sz="1200" dirty="0" smtClean="0">
                <a:latin typeface="Times New Roman" pitchFamily="18" charset="0"/>
                <a:cs typeface="Times New Roman" pitchFamily="18" charset="0"/>
              </a:rPr>
              <a:t>);</a:t>
            </a:r>
          </a:p>
          <a:p>
            <a:pPr>
              <a:lnSpc>
                <a:spcPct val="150000"/>
              </a:lnSpc>
              <a:buNone/>
            </a:pP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paint.setStyle</a:t>
            </a:r>
            <a:r>
              <a:rPr lang="en-US" sz="1200" dirty="0" smtClean="0">
                <a:latin typeface="Times New Roman" pitchFamily="18" charset="0"/>
                <a:cs typeface="Times New Roman" pitchFamily="18" charset="0"/>
              </a:rPr>
              <a:t>(</a:t>
            </a:r>
            <a:r>
              <a:rPr lang="en-US" sz="1200" dirty="0" err="1" smtClean="0">
                <a:latin typeface="Times New Roman" pitchFamily="18" charset="0"/>
                <a:cs typeface="Times New Roman" pitchFamily="18" charset="0"/>
              </a:rPr>
              <a:t>Paint.Style.FILL</a:t>
            </a:r>
            <a:r>
              <a:rPr lang="en-US" sz="1200" dirty="0" smtClean="0">
                <a:latin typeface="Times New Roman" pitchFamily="18" charset="0"/>
                <a:cs typeface="Times New Roman" pitchFamily="18" charset="0"/>
              </a:rPr>
              <a:t>);</a:t>
            </a:r>
          </a:p>
          <a:p>
            <a:pPr>
              <a:lnSpc>
                <a:spcPct val="150000"/>
              </a:lnSpc>
              <a:buNone/>
            </a:pP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paint.setAntiAlias</a:t>
            </a:r>
            <a:r>
              <a:rPr lang="en-US" sz="1200" dirty="0" smtClean="0">
                <a:latin typeface="Times New Roman" pitchFamily="18" charset="0"/>
                <a:cs typeface="Times New Roman" pitchFamily="18" charset="0"/>
              </a:rPr>
              <a:t>(true);</a:t>
            </a:r>
          </a:p>
          <a:p>
            <a:pPr>
              <a:lnSpc>
                <a:spcPct val="150000"/>
              </a:lnSpc>
              <a:buNone/>
            </a:pPr>
            <a:endParaRPr lang="en-US" sz="1200" dirty="0" smtClean="0">
              <a:latin typeface="Times New Roman" pitchFamily="18" charset="0"/>
              <a:cs typeface="Times New Roman" pitchFamily="18" charset="0"/>
            </a:endParaRPr>
          </a:p>
          <a:p>
            <a:pPr>
              <a:lnSpc>
                <a:spcPct val="150000"/>
              </a:lnSpc>
              <a:buNone/>
            </a:pPr>
            <a:r>
              <a:rPr lang="en-US" sz="1200" dirty="0" smtClean="0">
                <a:latin typeface="Times New Roman" pitchFamily="18" charset="0"/>
                <a:cs typeface="Times New Roman" pitchFamily="18" charset="0"/>
              </a:rPr>
              <a:t>        // Buttons</a:t>
            </a:r>
          </a:p>
          <a:p>
            <a:pPr>
              <a:lnSpc>
                <a:spcPct val="150000"/>
              </a:lnSpc>
              <a:buNone/>
            </a:pPr>
            <a:r>
              <a:rPr lang="en-US" sz="1200" dirty="0" smtClean="0">
                <a:latin typeface="Times New Roman" pitchFamily="18" charset="0"/>
                <a:cs typeface="Times New Roman" pitchFamily="18" charset="0"/>
              </a:rPr>
              <a:t>        Button </a:t>
            </a:r>
            <a:r>
              <a:rPr lang="en-US" sz="1200" dirty="0" err="1" smtClean="0">
                <a:latin typeface="Times New Roman" pitchFamily="18" charset="0"/>
                <a:cs typeface="Times New Roman" pitchFamily="18" charset="0"/>
              </a:rPr>
              <a:t>btnCircle</a:t>
            </a:r>
            <a:r>
              <a:rPr lang="en-US" sz="1200" dirty="0" smtClean="0">
                <a:latin typeface="Times New Roman" pitchFamily="18" charset="0"/>
                <a:cs typeface="Times New Roman" pitchFamily="18" charset="0"/>
              </a:rPr>
              <a:t> = </a:t>
            </a:r>
            <a:r>
              <a:rPr lang="en-US" sz="1200" dirty="0" err="1" smtClean="0">
                <a:latin typeface="Times New Roman" pitchFamily="18" charset="0"/>
                <a:cs typeface="Times New Roman" pitchFamily="18" charset="0"/>
              </a:rPr>
              <a:t>findViewById</a:t>
            </a:r>
            <a:r>
              <a:rPr lang="en-US" sz="1200" dirty="0" smtClean="0">
                <a:latin typeface="Times New Roman" pitchFamily="18" charset="0"/>
                <a:cs typeface="Times New Roman" pitchFamily="18" charset="0"/>
              </a:rPr>
              <a:t>(</a:t>
            </a:r>
            <a:r>
              <a:rPr lang="en-US" sz="1200" dirty="0" err="1" smtClean="0">
                <a:latin typeface="Times New Roman" pitchFamily="18" charset="0"/>
                <a:cs typeface="Times New Roman" pitchFamily="18" charset="0"/>
              </a:rPr>
              <a:t>R.id.btnCircle</a:t>
            </a:r>
            <a:r>
              <a:rPr lang="en-US" sz="1200" dirty="0" smtClean="0">
                <a:latin typeface="Times New Roman" pitchFamily="18" charset="0"/>
                <a:cs typeface="Times New Roman" pitchFamily="18" charset="0"/>
              </a:rPr>
              <a:t>);</a:t>
            </a:r>
          </a:p>
          <a:p>
            <a:pPr>
              <a:lnSpc>
                <a:spcPct val="150000"/>
              </a:lnSpc>
              <a:buNone/>
            </a:pPr>
            <a:r>
              <a:rPr lang="en-US" sz="1200" dirty="0" smtClean="0">
                <a:latin typeface="Times New Roman" pitchFamily="18" charset="0"/>
                <a:cs typeface="Times New Roman" pitchFamily="18" charset="0"/>
              </a:rPr>
              <a:t>        Button </a:t>
            </a:r>
            <a:r>
              <a:rPr lang="en-US" sz="1200" dirty="0" err="1" smtClean="0">
                <a:latin typeface="Times New Roman" pitchFamily="18" charset="0"/>
                <a:cs typeface="Times New Roman" pitchFamily="18" charset="0"/>
              </a:rPr>
              <a:t>btnTriangle</a:t>
            </a:r>
            <a:r>
              <a:rPr lang="en-US" sz="1200" dirty="0" smtClean="0">
                <a:latin typeface="Times New Roman" pitchFamily="18" charset="0"/>
                <a:cs typeface="Times New Roman" pitchFamily="18" charset="0"/>
              </a:rPr>
              <a:t> = </a:t>
            </a:r>
            <a:r>
              <a:rPr lang="en-US" sz="1200" dirty="0" err="1" smtClean="0">
                <a:latin typeface="Times New Roman" pitchFamily="18" charset="0"/>
                <a:cs typeface="Times New Roman" pitchFamily="18" charset="0"/>
              </a:rPr>
              <a:t>findViewById</a:t>
            </a:r>
            <a:r>
              <a:rPr lang="en-US" sz="1200" dirty="0" smtClean="0">
                <a:latin typeface="Times New Roman" pitchFamily="18" charset="0"/>
                <a:cs typeface="Times New Roman" pitchFamily="18" charset="0"/>
              </a:rPr>
              <a:t>(</a:t>
            </a:r>
            <a:r>
              <a:rPr lang="en-US" sz="1200" dirty="0" err="1" smtClean="0">
                <a:latin typeface="Times New Roman" pitchFamily="18" charset="0"/>
                <a:cs typeface="Times New Roman" pitchFamily="18" charset="0"/>
              </a:rPr>
              <a:t>R.id.btnTriangle</a:t>
            </a:r>
            <a:r>
              <a:rPr lang="en-US" sz="1200" dirty="0" smtClean="0">
                <a:latin typeface="Times New Roman" pitchFamily="18" charset="0"/>
                <a:cs typeface="Times New Roman" pitchFamily="18" charset="0"/>
              </a:rPr>
              <a:t>);</a:t>
            </a:r>
          </a:p>
          <a:p>
            <a:pPr>
              <a:lnSpc>
                <a:spcPct val="150000"/>
              </a:lnSpc>
              <a:buNone/>
            </a:pPr>
            <a:r>
              <a:rPr lang="en-US" sz="1200" dirty="0" smtClean="0">
                <a:latin typeface="Times New Roman" pitchFamily="18" charset="0"/>
                <a:cs typeface="Times New Roman" pitchFamily="18" charset="0"/>
              </a:rPr>
              <a:t>        Button </a:t>
            </a:r>
            <a:r>
              <a:rPr lang="en-US" sz="1200" dirty="0" err="1" smtClean="0">
                <a:latin typeface="Times New Roman" pitchFamily="18" charset="0"/>
                <a:cs typeface="Times New Roman" pitchFamily="18" charset="0"/>
              </a:rPr>
              <a:t>btnRectangle</a:t>
            </a:r>
            <a:r>
              <a:rPr lang="en-US" sz="1200" dirty="0" smtClean="0">
                <a:latin typeface="Times New Roman" pitchFamily="18" charset="0"/>
                <a:cs typeface="Times New Roman" pitchFamily="18" charset="0"/>
              </a:rPr>
              <a:t> = </a:t>
            </a:r>
            <a:r>
              <a:rPr lang="en-US" sz="1200" dirty="0" err="1" smtClean="0">
                <a:latin typeface="Times New Roman" pitchFamily="18" charset="0"/>
                <a:cs typeface="Times New Roman" pitchFamily="18" charset="0"/>
              </a:rPr>
              <a:t>findViewById</a:t>
            </a:r>
            <a:r>
              <a:rPr lang="en-US" sz="1200" dirty="0" smtClean="0">
                <a:latin typeface="Times New Roman" pitchFamily="18" charset="0"/>
                <a:cs typeface="Times New Roman" pitchFamily="18" charset="0"/>
              </a:rPr>
              <a:t>(</a:t>
            </a:r>
            <a:r>
              <a:rPr lang="en-US" sz="1200" dirty="0" err="1" smtClean="0">
                <a:latin typeface="Times New Roman" pitchFamily="18" charset="0"/>
                <a:cs typeface="Times New Roman" pitchFamily="18" charset="0"/>
              </a:rPr>
              <a:t>R.id.btnRectangle</a:t>
            </a:r>
            <a:r>
              <a:rPr lang="en-US" sz="1200" dirty="0" smtClean="0">
                <a:latin typeface="Times New Roman" pitchFamily="18" charset="0"/>
                <a:cs typeface="Times New Roman" pitchFamily="18" charset="0"/>
              </a:rPr>
              <a:t>);</a:t>
            </a:r>
          </a:p>
          <a:p>
            <a:pPr>
              <a:lnSpc>
                <a:spcPct val="150000"/>
              </a:lnSpc>
              <a:buNone/>
            </a:pPr>
            <a:endParaRPr lang="en-US" sz="1200" dirty="0" smtClean="0">
              <a:latin typeface="Times New Roman" pitchFamily="18" charset="0"/>
              <a:cs typeface="Times New Roman" pitchFamily="18" charset="0"/>
            </a:endParaRPr>
          </a:p>
          <a:p>
            <a:pPr>
              <a:lnSpc>
                <a:spcPct val="150000"/>
              </a:lnSpc>
              <a:buNone/>
            </a:pP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btnCircle.setOnClickListener</a:t>
            </a:r>
            <a:r>
              <a:rPr lang="en-US" sz="1200" dirty="0" smtClean="0">
                <a:latin typeface="Times New Roman" pitchFamily="18" charset="0"/>
                <a:cs typeface="Times New Roman" pitchFamily="18" charset="0"/>
              </a:rPr>
              <a:t>(v -&gt; </a:t>
            </a:r>
            <a:r>
              <a:rPr lang="en-US" sz="1200" dirty="0" err="1" smtClean="0">
                <a:latin typeface="Times New Roman" pitchFamily="18" charset="0"/>
                <a:cs typeface="Times New Roman" pitchFamily="18" charset="0"/>
              </a:rPr>
              <a:t>drawCircle</a:t>
            </a:r>
            <a:r>
              <a:rPr lang="en-US" sz="1200" dirty="0" smtClean="0">
                <a:latin typeface="Times New Roman" pitchFamily="18" charset="0"/>
                <a:cs typeface="Times New Roman" pitchFamily="18" charset="0"/>
              </a:rPr>
              <a:t>());</a:t>
            </a:r>
          </a:p>
          <a:p>
            <a:pPr>
              <a:lnSpc>
                <a:spcPct val="150000"/>
              </a:lnSpc>
              <a:buNone/>
            </a:pP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btnTriangle.setOnClickListener</a:t>
            </a:r>
            <a:r>
              <a:rPr lang="en-US" sz="1200" dirty="0" smtClean="0">
                <a:latin typeface="Times New Roman" pitchFamily="18" charset="0"/>
                <a:cs typeface="Times New Roman" pitchFamily="18" charset="0"/>
              </a:rPr>
              <a:t>(v -&gt; </a:t>
            </a:r>
            <a:r>
              <a:rPr lang="en-US" sz="1200" dirty="0" err="1" smtClean="0">
                <a:latin typeface="Times New Roman" pitchFamily="18" charset="0"/>
                <a:cs typeface="Times New Roman" pitchFamily="18" charset="0"/>
              </a:rPr>
              <a:t>drawTriangle</a:t>
            </a:r>
            <a:r>
              <a:rPr lang="en-US" sz="1200" dirty="0" smtClean="0">
                <a:latin typeface="Times New Roman" pitchFamily="18" charset="0"/>
                <a:cs typeface="Times New Roman" pitchFamily="18" charset="0"/>
              </a:rPr>
              <a:t>());</a:t>
            </a:r>
          </a:p>
          <a:p>
            <a:pPr>
              <a:lnSpc>
                <a:spcPct val="150000"/>
              </a:lnSpc>
              <a:buNone/>
            </a:pP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btnRectangle.setOnClickListener</a:t>
            </a:r>
            <a:r>
              <a:rPr lang="en-US" sz="1200" dirty="0" smtClean="0">
                <a:latin typeface="Times New Roman" pitchFamily="18" charset="0"/>
                <a:cs typeface="Times New Roman" pitchFamily="18" charset="0"/>
              </a:rPr>
              <a:t>(v -&gt; </a:t>
            </a:r>
            <a:r>
              <a:rPr lang="en-US" sz="1200" dirty="0" err="1" smtClean="0">
                <a:latin typeface="Times New Roman" pitchFamily="18" charset="0"/>
                <a:cs typeface="Times New Roman" pitchFamily="18" charset="0"/>
              </a:rPr>
              <a:t>drawRectangle</a:t>
            </a:r>
            <a:r>
              <a:rPr lang="en-US" sz="1200" dirty="0" smtClean="0">
                <a:latin typeface="Times New Roman" pitchFamily="18" charset="0"/>
                <a:cs typeface="Times New Roman" pitchFamily="18" charset="0"/>
              </a:rPr>
              <a:t>());</a:t>
            </a:r>
          </a:p>
          <a:p>
            <a:pPr>
              <a:lnSpc>
                <a:spcPct val="150000"/>
              </a:lnSpc>
              <a:buNone/>
            </a:pPr>
            <a:r>
              <a:rPr lang="en-US" sz="1200" dirty="0" smtClean="0">
                <a:latin typeface="Times New Roman" pitchFamily="18" charset="0"/>
                <a:cs typeface="Times New Roman" pitchFamily="18" charset="0"/>
              </a:rPr>
              <a:t>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74638"/>
            <a:ext cx="8186766" cy="654032"/>
          </a:xfrm>
        </p:spPr>
        <p:txBody>
          <a:bodyPr>
            <a:normAutofit fontScale="90000"/>
          </a:bodyPr>
          <a:lstStyle/>
          <a:p>
            <a:r>
              <a:rPr lang="en-US" dirty="0" smtClean="0"/>
              <a:t>Graphics</a:t>
            </a:r>
            <a:endParaRPr lang="en-US" dirty="0"/>
          </a:p>
        </p:txBody>
      </p:sp>
      <p:sp>
        <p:nvSpPr>
          <p:cNvPr id="3" name="Content Placeholder 2"/>
          <p:cNvSpPr>
            <a:spLocks noGrp="1"/>
          </p:cNvSpPr>
          <p:nvPr>
            <p:ph idx="1"/>
          </p:nvPr>
        </p:nvSpPr>
        <p:spPr>
          <a:xfrm>
            <a:off x="285720" y="1000108"/>
            <a:ext cx="4143404" cy="5126055"/>
          </a:xfrm>
        </p:spPr>
        <p:txBody>
          <a:bodyPr>
            <a:normAutofit fontScale="47500" lnSpcReduction="20000"/>
          </a:bodyPr>
          <a:lstStyle/>
          <a:p>
            <a:pPr>
              <a:buNone/>
            </a:pPr>
            <a:r>
              <a:rPr lang="en-US" dirty="0" smtClean="0"/>
              <a:t>private void </a:t>
            </a:r>
            <a:r>
              <a:rPr lang="en-US" dirty="0" err="1" smtClean="0"/>
              <a:t>clearCanvas</a:t>
            </a:r>
            <a:r>
              <a:rPr lang="en-US" dirty="0" smtClean="0"/>
              <a:t>() {</a:t>
            </a:r>
          </a:p>
          <a:p>
            <a:pPr>
              <a:buNone/>
            </a:pPr>
            <a:r>
              <a:rPr lang="en-US" dirty="0" smtClean="0"/>
              <a:t>        </a:t>
            </a:r>
            <a:r>
              <a:rPr lang="en-US" dirty="0" err="1" smtClean="0"/>
              <a:t>canvas.drawColor</a:t>
            </a:r>
            <a:r>
              <a:rPr lang="en-US" dirty="0" smtClean="0"/>
              <a:t>(</a:t>
            </a:r>
            <a:r>
              <a:rPr lang="en-US" dirty="0" err="1" smtClean="0"/>
              <a:t>Color.WHITE</a:t>
            </a:r>
            <a:r>
              <a:rPr lang="en-US" dirty="0" smtClean="0"/>
              <a:t>);</a:t>
            </a:r>
          </a:p>
          <a:p>
            <a:pPr>
              <a:buNone/>
            </a:pPr>
            <a:r>
              <a:rPr lang="en-US" dirty="0" smtClean="0"/>
              <a:t>    }</a:t>
            </a:r>
          </a:p>
          <a:p>
            <a:pPr>
              <a:buNone/>
            </a:pPr>
            <a:endParaRPr lang="en-US" dirty="0" smtClean="0"/>
          </a:p>
          <a:p>
            <a:pPr>
              <a:buNone/>
            </a:pPr>
            <a:r>
              <a:rPr lang="en-US" dirty="0" smtClean="0"/>
              <a:t>    private void </a:t>
            </a:r>
            <a:r>
              <a:rPr lang="en-US" dirty="0" err="1" smtClean="0"/>
              <a:t>drawCircle</a:t>
            </a:r>
            <a:r>
              <a:rPr lang="en-US" dirty="0" smtClean="0"/>
              <a:t>() {</a:t>
            </a:r>
          </a:p>
          <a:p>
            <a:pPr>
              <a:buNone/>
            </a:pPr>
            <a:r>
              <a:rPr lang="en-US" dirty="0" smtClean="0"/>
              <a:t>        </a:t>
            </a:r>
            <a:r>
              <a:rPr lang="en-US" dirty="0" err="1" smtClean="0"/>
              <a:t>clearCanvas</a:t>
            </a:r>
            <a:r>
              <a:rPr lang="en-US" dirty="0" smtClean="0"/>
              <a:t>();</a:t>
            </a:r>
          </a:p>
          <a:p>
            <a:pPr>
              <a:buNone/>
            </a:pPr>
            <a:r>
              <a:rPr lang="en-US" dirty="0" smtClean="0"/>
              <a:t>        </a:t>
            </a:r>
            <a:r>
              <a:rPr lang="en-US" dirty="0" err="1" smtClean="0"/>
              <a:t>paint.setColor</a:t>
            </a:r>
            <a:r>
              <a:rPr lang="en-US" dirty="0" smtClean="0"/>
              <a:t>(</a:t>
            </a:r>
            <a:r>
              <a:rPr lang="en-US" dirty="0" err="1" smtClean="0"/>
              <a:t>Color.RED</a:t>
            </a:r>
            <a:r>
              <a:rPr lang="en-US" dirty="0" smtClean="0"/>
              <a:t>);</a:t>
            </a:r>
          </a:p>
          <a:p>
            <a:pPr>
              <a:buNone/>
            </a:pPr>
            <a:r>
              <a:rPr lang="en-US" dirty="0" smtClean="0"/>
              <a:t>        </a:t>
            </a:r>
            <a:r>
              <a:rPr lang="en-US" dirty="0" err="1" smtClean="0"/>
              <a:t>canvas.drawCircle</a:t>
            </a:r>
            <a:r>
              <a:rPr lang="en-US" dirty="0" smtClean="0"/>
              <a:t>(150f, 150f, 100f, paint);</a:t>
            </a:r>
          </a:p>
          <a:p>
            <a:pPr>
              <a:buNone/>
            </a:pPr>
            <a:r>
              <a:rPr lang="en-US" dirty="0" smtClean="0"/>
              <a:t>        </a:t>
            </a:r>
            <a:r>
              <a:rPr lang="en-US" dirty="0" err="1" smtClean="0"/>
              <a:t>imageView.invalidate</a:t>
            </a:r>
            <a:r>
              <a:rPr lang="en-US" dirty="0" smtClean="0"/>
              <a:t>();</a:t>
            </a:r>
          </a:p>
          <a:p>
            <a:pPr>
              <a:buNone/>
            </a:pPr>
            <a:r>
              <a:rPr lang="en-US" dirty="0" smtClean="0"/>
              <a:t>    }</a:t>
            </a:r>
          </a:p>
          <a:p>
            <a:pPr>
              <a:buNone/>
            </a:pPr>
            <a:endParaRPr lang="en-US" dirty="0" smtClean="0"/>
          </a:p>
          <a:p>
            <a:pPr>
              <a:buNone/>
            </a:pPr>
            <a:r>
              <a:rPr lang="en-US" dirty="0" smtClean="0"/>
              <a:t>    private void </a:t>
            </a:r>
            <a:r>
              <a:rPr lang="en-US" dirty="0" err="1" smtClean="0"/>
              <a:t>drawTriangle</a:t>
            </a:r>
            <a:r>
              <a:rPr lang="en-US" dirty="0" smtClean="0"/>
              <a:t>() {</a:t>
            </a:r>
          </a:p>
          <a:p>
            <a:pPr>
              <a:buNone/>
            </a:pPr>
            <a:r>
              <a:rPr lang="en-US" dirty="0" smtClean="0"/>
              <a:t>        </a:t>
            </a:r>
            <a:r>
              <a:rPr lang="en-US" dirty="0" err="1" smtClean="0"/>
              <a:t>clearCanvas</a:t>
            </a:r>
            <a:r>
              <a:rPr lang="en-US" dirty="0" smtClean="0"/>
              <a:t>();</a:t>
            </a:r>
          </a:p>
          <a:p>
            <a:pPr>
              <a:buNone/>
            </a:pPr>
            <a:r>
              <a:rPr lang="en-US" dirty="0" smtClean="0"/>
              <a:t>        </a:t>
            </a:r>
            <a:r>
              <a:rPr lang="en-US" dirty="0" err="1" smtClean="0"/>
              <a:t>paint.setColor</a:t>
            </a:r>
            <a:r>
              <a:rPr lang="en-US" dirty="0" smtClean="0"/>
              <a:t>(</a:t>
            </a:r>
            <a:r>
              <a:rPr lang="en-US" dirty="0" err="1" smtClean="0"/>
              <a:t>Color.GREEN</a:t>
            </a:r>
            <a:r>
              <a:rPr lang="en-US" dirty="0" smtClean="0"/>
              <a:t>);</a:t>
            </a:r>
          </a:p>
          <a:p>
            <a:pPr>
              <a:buNone/>
            </a:pPr>
            <a:endParaRPr lang="en-US" dirty="0" smtClean="0"/>
          </a:p>
          <a:p>
            <a:pPr>
              <a:buNone/>
            </a:pPr>
            <a:r>
              <a:rPr lang="en-US" dirty="0" smtClean="0"/>
              <a:t>        Path </a:t>
            </a:r>
            <a:r>
              <a:rPr lang="en-US" dirty="0" err="1" smtClean="0"/>
              <a:t>path</a:t>
            </a:r>
            <a:r>
              <a:rPr lang="en-US" dirty="0" smtClean="0"/>
              <a:t> = new Path();</a:t>
            </a:r>
          </a:p>
          <a:p>
            <a:pPr>
              <a:buNone/>
            </a:pPr>
            <a:r>
              <a:rPr lang="en-US" dirty="0" smtClean="0"/>
              <a:t>        </a:t>
            </a:r>
            <a:r>
              <a:rPr lang="en-US" dirty="0" err="1" smtClean="0"/>
              <a:t>path.moveTo</a:t>
            </a:r>
            <a:r>
              <a:rPr lang="en-US" dirty="0" smtClean="0"/>
              <a:t>(150f, 50f);</a:t>
            </a:r>
          </a:p>
          <a:p>
            <a:pPr>
              <a:buNone/>
            </a:pPr>
            <a:r>
              <a:rPr lang="en-US" dirty="0" smtClean="0"/>
              <a:t>        </a:t>
            </a:r>
            <a:r>
              <a:rPr lang="en-US" dirty="0" err="1" smtClean="0"/>
              <a:t>path.lineTo</a:t>
            </a:r>
            <a:r>
              <a:rPr lang="en-US" dirty="0" smtClean="0"/>
              <a:t>(50f, 250f);</a:t>
            </a:r>
          </a:p>
          <a:p>
            <a:pPr>
              <a:buNone/>
            </a:pPr>
            <a:r>
              <a:rPr lang="en-US" dirty="0" smtClean="0"/>
              <a:t>        </a:t>
            </a:r>
            <a:r>
              <a:rPr lang="en-US" dirty="0" err="1" smtClean="0"/>
              <a:t>path.lineTo</a:t>
            </a:r>
            <a:r>
              <a:rPr lang="en-US" dirty="0" smtClean="0"/>
              <a:t>(250f, 250f);</a:t>
            </a:r>
          </a:p>
          <a:p>
            <a:pPr>
              <a:buNone/>
            </a:pPr>
            <a:r>
              <a:rPr lang="en-US" dirty="0" smtClean="0"/>
              <a:t>        </a:t>
            </a:r>
            <a:r>
              <a:rPr lang="en-US" dirty="0" err="1" smtClean="0"/>
              <a:t>path.close</a:t>
            </a:r>
            <a:r>
              <a:rPr lang="en-US" dirty="0" smtClean="0"/>
              <a:t>();</a:t>
            </a:r>
          </a:p>
          <a:p>
            <a:pPr>
              <a:buNone/>
            </a:pPr>
            <a:endParaRPr lang="en-US" dirty="0" smtClean="0"/>
          </a:p>
        </p:txBody>
      </p:sp>
      <p:sp>
        <p:nvSpPr>
          <p:cNvPr id="4" name="Rectangle 3"/>
          <p:cNvSpPr/>
          <p:nvPr/>
        </p:nvSpPr>
        <p:spPr>
          <a:xfrm>
            <a:off x="4429124" y="1142984"/>
            <a:ext cx="4572000" cy="3416320"/>
          </a:xfrm>
          <a:prstGeom prst="rect">
            <a:avLst/>
          </a:prstGeom>
        </p:spPr>
        <p:txBody>
          <a:bodyPr>
            <a:spAutoFit/>
          </a:bodyPr>
          <a:lstStyle/>
          <a:p>
            <a:pPr>
              <a:buNone/>
            </a:pPr>
            <a:r>
              <a:rPr lang="en-US" dirty="0" smtClean="0"/>
              <a:t> </a:t>
            </a:r>
            <a:r>
              <a:rPr lang="en-US" dirty="0" err="1" smtClean="0"/>
              <a:t>canvas.drawPath</a:t>
            </a:r>
            <a:r>
              <a:rPr lang="en-US" dirty="0" smtClean="0"/>
              <a:t>(path, paint);</a:t>
            </a:r>
          </a:p>
          <a:p>
            <a:pPr>
              <a:buNone/>
            </a:pPr>
            <a:r>
              <a:rPr lang="en-US" dirty="0" smtClean="0"/>
              <a:t>        </a:t>
            </a:r>
            <a:r>
              <a:rPr lang="en-US" dirty="0" err="1" smtClean="0"/>
              <a:t>imageView.invalidate</a:t>
            </a:r>
            <a:r>
              <a:rPr lang="en-US" dirty="0" smtClean="0"/>
              <a:t>();</a:t>
            </a:r>
          </a:p>
          <a:p>
            <a:pPr>
              <a:buNone/>
            </a:pPr>
            <a:r>
              <a:rPr lang="en-US" dirty="0" smtClean="0"/>
              <a:t>    }</a:t>
            </a:r>
          </a:p>
          <a:p>
            <a:pPr>
              <a:buNone/>
            </a:pPr>
            <a:endParaRPr lang="en-US" dirty="0" smtClean="0"/>
          </a:p>
          <a:p>
            <a:pPr>
              <a:buNone/>
            </a:pPr>
            <a:r>
              <a:rPr lang="en-US" dirty="0" smtClean="0"/>
              <a:t>    private void </a:t>
            </a:r>
            <a:r>
              <a:rPr lang="en-US" dirty="0" err="1" smtClean="0"/>
              <a:t>drawRectangle</a:t>
            </a:r>
            <a:r>
              <a:rPr lang="en-US" dirty="0" smtClean="0"/>
              <a:t>() {</a:t>
            </a:r>
          </a:p>
          <a:p>
            <a:pPr>
              <a:buNone/>
            </a:pPr>
            <a:r>
              <a:rPr lang="en-US" dirty="0" smtClean="0"/>
              <a:t>        </a:t>
            </a:r>
            <a:r>
              <a:rPr lang="en-US" dirty="0" err="1" smtClean="0"/>
              <a:t>clearCanvas</a:t>
            </a:r>
            <a:r>
              <a:rPr lang="en-US" dirty="0" smtClean="0"/>
              <a:t>();</a:t>
            </a:r>
          </a:p>
          <a:p>
            <a:pPr>
              <a:buNone/>
            </a:pPr>
            <a:r>
              <a:rPr lang="en-US" dirty="0" smtClean="0"/>
              <a:t>        </a:t>
            </a:r>
            <a:r>
              <a:rPr lang="en-US" dirty="0" err="1" smtClean="0"/>
              <a:t>paint.setColor</a:t>
            </a:r>
            <a:r>
              <a:rPr lang="en-US" dirty="0" smtClean="0"/>
              <a:t>(</a:t>
            </a:r>
            <a:r>
              <a:rPr lang="en-US" dirty="0" err="1" smtClean="0"/>
              <a:t>Color.BLUE</a:t>
            </a:r>
            <a:r>
              <a:rPr lang="en-US" dirty="0" smtClean="0"/>
              <a:t>);</a:t>
            </a:r>
          </a:p>
          <a:p>
            <a:pPr>
              <a:buNone/>
            </a:pPr>
            <a:r>
              <a:rPr lang="en-US" dirty="0" smtClean="0"/>
              <a:t>        </a:t>
            </a:r>
            <a:r>
              <a:rPr lang="en-US" dirty="0" err="1" smtClean="0"/>
              <a:t>canvas.drawRect</a:t>
            </a:r>
            <a:r>
              <a:rPr lang="en-US" dirty="0" smtClean="0"/>
              <a:t>(50f, 50f, 250f, 250f, paint);</a:t>
            </a:r>
          </a:p>
          <a:p>
            <a:pPr>
              <a:buNone/>
            </a:pPr>
            <a:r>
              <a:rPr lang="en-US" dirty="0" smtClean="0"/>
              <a:t>        </a:t>
            </a:r>
            <a:r>
              <a:rPr lang="en-US" dirty="0" err="1" smtClean="0"/>
              <a:t>imageView.invalidate</a:t>
            </a:r>
            <a:r>
              <a:rPr lang="en-US" dirty="0" smtClean="0"/>
              <a:t>();</a:t>
            </a:r>
          </a:p>
          <a:p>
            <a:pPr>
              <a:buNone/>
            </a:pPr>
            <a:r>
              <a:rPr lang="en-US" dirty="0" smtClean="0"/>
              <a:t>    }</a:t>
            </a:r>
          </a:p>
          <a:p>
            <a:pPr>
              <a:buNone/>
            </a:pPr>
            <a:r>
              <a:rPr lang="en-US" dirty="0" smtClean="0"/>
              <a:t>}</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74638"/>
            <a:ext cx="8186766" cy="725470"/>
          </a:xfrm>
        </p:spPr>
        <p:txBody>
          <a:bodyPr>
            <a:normAutofit fontScale="90000"/>
          </a:bodyPr>
          <a:lstStyle/>
          <a:p>
            <a:r>
              <a:rPr lang="en-US" dirty="0" smtClean="0"/>
              <a:t>.XML</a:t>
            </a:r>
            <a:endParaRPr lang="en-US" dirty="0"/>
          </a:p>
        </p:txBody>
      </p:sp>
      <p:sp>
        <p:nvSpPr>
          <p:cNvPr id="3" name="Content Placeholder 2"/>
          <p:cNvSpPr>
            <a:spLocks noGrp="1"/>
          </p:cNvSpPr>
          <p:nvPr>
            <p:ph idx="1"/>
          </p:nvPr>
        </p:nvSpPr>
        <p:spPr>
          <a:xfrm>
            <a:off x="285720" y="1071546"/>
            <a:ext cx="5857916" cy="5054617"/>
          </a:xfrm>
        </p:spPr>
        <p:txBody>
          <a:bodyPr>
            <a:normAutofit fontScale="40000" lnSpcReduction="20000"/>
          </a:bodyPr>
          <a:lstStyle/>
          <a:p>
            <a:pPr>
              <a:buNone/>
            </a:pPr>
            <a:r>
              <a:rPr lang="en-US" dirty="0" smtClean="0"/>
              <a:t>&lt;?xml version="1.0" encoding="utf-8"?&gt;</a:t>
            </a:r>
          </a:p>
          <a:p>
            <a:pPr>
              <a:buNone/>
            </a:pPr>
            <a:r>
              <a:rPr lang="en-US" dirty="0" smtClean="0"/>
              <a:t>&lt;</a:t>
            </a:r>
            <a:r>
              <a:rPr lang="en-US" dirty="0" err="1" smtClean="0"/>
              <a:t>LinearLayout</a:t>
            </a:r>
            <a:r>
              <a:rPr lang="en-US" dirty="0" smtClean="0"/>
              <a:t> </a:t>
            </a:r>
            <a:r>
              <a:rPr lang="en-US" dirty="0" err="1" smtClean="0"/>
              <a:t>xmlns:android</a:t>
            </a:r>
            <a:r>
              <a:rPr lang="en-US" dirty="0" smtClean="0"/>
              <a:t>="http://schemas.android.com/apk/res/android"</a:t>
            </a:r>
          </a:p>
          <a:p>
            <a:pPr>
              <a:buNone/>
            </a:pPr>
            <a:r>
              <a:rPr lang="en-US" dirty="0" smtClean="0"/>
              <a:t>    </a:t>
            </a:r>
            <a:r>
              <a:rPr lang="en-US" dirty="0" err="1" smtClean="0"/>
              <a:t>android:id</a:t>
            </a:r>
            <a:r>
              <a:rPr lang="en-US" dirty="0" smtClean="0"/>
              <a:t>="@+id/</a:t>
            </a:r>
            <a:r>
              <a:rPr lang="en-US" dirty="0" err="1" smtClean="0"/>
              <a:t>rootLayout</a:t>
            </a:r>
            <a:r>
              <a:rPr lang="en-US" dirty="0" smtClean="0"/>
              <a:t>"</a:t>
            </a:r>
          </a:p>
          <a:p>
            <a:pPr>
              <a:buNone/>
            </a:pPr>
            <a:r>
              <a:rPr lang="en-US" dirty="0" smtClean="0"/>
              <a:t>    </a:t>
            </a:r>
            <a:r>
              <a:rPr lang="en-US" dirty="0" err="1" smtClean="0"/>
              <a:t>android:orientation</a:t>
            </a:r>
            <a:r>
              <a:rPr lang="en-US" dirty="0" smtClean="0"/>
              <a:t>="vertical"</a:t>
            </a:r>
          </a:p>
          <a:p>
            <a:pPr>
              <a:buNone/>
            </a:pPr>
            <a:r>
              <a:rPr lang="en-US" dirty="0" smtClean="0"/>
              <a:t>    </a:t>
            </a:r>
            <a:r>
              <a:rPr lang="en-US" dirty="0" err="1" smtClean="0"/>
              <a:t>android:padding</a:t>
            </a:r>
            <a:r>
              <a:rPr lang="en-US" dirty="0" smtClean="0"/>
              <a:t>="16dp"</a:t>
            </a:r>
          </a:p>
          <a:p>
            <a:pPr>
              <a:buNone/>
            </a:pPr>
            <a:r>
              <a:rPr lang="en-US" dirty="0" smtClean="0"/>
              <a:t>    </a:t>
            </a:r>
            <a:r>
              <a:rPr lang="en-US" dirty="0" err="1" smtClean="0"/>
              <a:t>android:layout_width</a:t>
            </a:r>
            <a:r>
              <a:rPr lang="en-US" dirty="0" smtClean="0"/>
              <a:t>="</a:t>
            </a:r>
            <a:r>
              <a:rPr lang="en-US" dirty="0" err="1" smtClean="0"/>
              <a:t>match_parent</a:t>
            </a:r>
            <a:r>
              <a:rPr lang="en-US" dirty="0" smtClean="0"/>
              <a:t>"</a:t>
            </a:r>
          </a:p>
          <a:p>
            <a:pPr>
              <a:buNone/>
            </a:pPr>
            <a:r>
              <a:rPr lang="en-US" dirty="0" smtClean="0"/>
              <a:t>    </a:t>
            </a:r>
            <a:r>
              <a:rPr lang="en-US" dirty="0" err="1" smtClean="0"/>
              <a:t>android:layout_height</a:t>
            </a:r>
            <a:r>
              <a:rPr lang="en-US" dirty="0" smtClean="0"/>
              <a:t>="</a:t>
            </a:r>
            <a:r>
              <a:rPr lang="en-US" dirty="0" err="1" smtClean="0"/>
              <a:t>match_parent</a:t>
            </a:r>
            <a:r>
              <a:rPr lang="en-US" dirty="0" smtClean="0"/>
              <a:t>"</a:t>
            </a:r>
          </a:p>
          <a:p>
            <a:pPr>
              <a:buNone/>
            </a:pPr>
            <a:r>
              <a:rPr lang="en-US" dirty="0" smtClean="0"/>
              <a:t>    </a:t>
            </a:r>
            <a:r>
              <a:rPr lang="en-US" dirty="0" err="1" smtClean="0"/>
              <a:t>android:gravity</a:t>
            </a:r>
            <a:r>
              <a:rPr lang="en-US" dirty="0" smtClean="0"/>
              <a:t>="</a:t>
            </a:r>
            <a:r>
              <a:rPr lang="en-US" dirty="0" err="1" smtClean="0"/>
              <a:t>center_horizontal</a:t>
            </a:r>
            <a:r>
              <a:rPr lang="en-US" dirty="0" smtClean="0"/>
              <a:t>"</a:t>
            </a:r>
          </a:p>
          <a:p>
            <a:pPr>
              <a:buNone/>
            </a:pPr>
            <a:r>
              <a:rPr lang="en-US" dirty="0" smtClean="0"/>
              <a:t>    </a:t>
            </a:r>
            <a:r>
              <a:rPr lang="en-US" dirty="0" err="1" smtClean="0"/>
              <a:t>android:background</a:t>
            </a:r>
            <a:r>
              <a:rPr lang="en-US" dirty="0" smtClean="0"/>
              <a:t>="#EEEEEE"&gt;</a:t>
            </a:r>
          </a:p>
          <a:p>
            <a:pPr>
              <a:buNone/>
            </a:pPr>
            <a:endParaRPr lang="en-US" dirty="0" smtClean="0"/>
          </a:p>
          <a:p>
            <a:pPr>
              <a:buNone/>
            </a:pPr>
            <a:r>
              <a:rPr lang="en-US" dirty="0" smtClean="0"/>
              <a:t>    &lt;</a:t>
            </a:r>
            <a:r>
              <a:rPr lang="en-US" dirty="0" err="1" smtClean="0"/>
              <a:t>ImageView</a:t>
            </a:r>
            <a:endParaRPr lang="en-US" dirty="0" smtClean="0"/>
          </a:p>
          <a:p>
            <a:pPr>
              <a:buNone/>
            </a:pPr>
            <a:r>
              <a:rPr lang="en-US" dirty="0" smtClean="0"/>
              <a:t>        </a:t>
            </a:r>
            <a:r>
              <a:rPr lang="en-US" dirty="0" err="1" smtClean="0"/>
              <a:t>android:id</a:t>
            </a:r>
            <a:r>
              <a:rPr lang="en-US" dirty="0" smtClean="0"/>
              <a:t>="@+id/</a:t>
            </a:r>
            <a:r>
              <a:rPr lang="en-US" dirty="0" err="1" smtClean="0"/>
              <a:t>imageView</a:t>
            </a:r>
            <a:r>
              <a:rPr lang="en-US" dirty="0" smtClean="0"/>
              <a:t>"</a:t>
            </a:r>
          </a:p>
          <a:p>
            <a:pPr>
              <a:buNone/>
            </a:pPr>
            <a:r>
              <a:rPr lang="en-US" dirty="0" smtClean="0"/>
              <a:t>        </a:t>
            </a:r>
            <a:r>
              <a:rPr lang="en-US" dirty="0" err="1" smtClean="0"/>
              <a:t>android:layout_width</a:t>
            </a:r>
            <a:r>
              <a:rPr lang="en-US" dirty="0" smtClean="0"/>
              <a:t>="300dp"</a:t>
            </a:r>
          </a:p>
          <a:p>
            <a:pPr>
              <a:buNone/>
            </a:pPr>
            <a:r>
              <a:rPr lang="en-US" dirty="0" smtClean="0"/>
              <a:t>        </a:t>
            </a:r>
            <a:r>
              <a:rPr lang="en-US" dirty="0" err="1" smtClean="0"/>
              <a:t>android:layout_height</a:t>
            </a:r>
            <a:r>
              <a:rPr lang="en-US" dirty="0" smtClean="0"/>
              <a:t>="300dp"</a:t>
            </a:r>
          </a:p>
          <a:p>
            <a:pPr>
              <a:buNone/>
            </a:pPr>
            <a:r>
              <a:rPr lang="en-US" dirty="0" smtClean="0"/>
              <a:t>        </a:t>
            </a:r>
            <a:r>
              <a:rPr lang="en-US" dirty="0" err="1" smtClean="0"/>
              <a:t>android:background</a:t>
            </a:r>
            <a:r>
              <a:rPr lang="en-US" dirty="0" smtClean="0"/>
              <a:t>="#FFFFFF"</a:t>
            </a:r>
          </a:p>
          <a:p>
            <a:pPr>
              <a:buNone/>
            </a:pPr>
            <a:r>
              <a:rPr lang="en-US" dirty="0" smtClean="0"/>
              <a:t>        </a:t>
            </a:r>
            <a:r>
              <a:rPr lang="en-US" dirty="0" err="1" smtClean="0"/>
              <a:t>android:layout_marginBottom</a:t>
            </a:r>
            <a:r>
              <a:rPr lang="en-US" dirty="0" smtClean="0"/>
              <a:t>="24dp"</a:t>
            </a:r>
          </a:p>
          <a:p>
            <a:pPr>
              <a:buNone/>
            </a:pPr>
            <a:r>
              <a:rPr lang="en-US" dirty="0" smtClean="0"/>
              <a:t>        </a:t>
            </a:r>
            <a:r>
              <a:rPr lang="en-US" dirty="0" err="1" smtClean="0"/>
              <a:t>android:layout_marginTop</a:t>
            </a:r>
            <a:r>
              <a:rPr lang="en-US" dirty="0" smtClean="0"/>
              <a:t>="100dp"</a:t>
            </a:r>
          </a:p>
          <a:p>
            <a:pPr>
              <a:buNone/>
            </a:pPr>
            <a:r>
              <a:rPr lang="en-US" dirty="0" smtClean="0"/>
              <a:t>        </a:t>
            </a:r>
            <a:r>
              <a:rPr lang="en-US" dirty="0" err="1" smtClean="0"/>
              <a:t>android:contentDescription</a:t>
            </a:r>
            <a:r>
              <a:rPr lang="en-US" dirty="0" smtClean="0"/>
              <a:t>="Canvas Preview" /&gt;</a:t>
            </a:r>
          </a:p>
          <a:p>
            <a:pPr>
              <a:buNone/>
            </a:pPr>
            <a:endParaRPr lang="en-US" dirty="0" smtClean="0"/>
          </a:p>
          <a:p>
            <a:pPr>
              <a:buNone/>
            </a:pPr>
            <a:r>
              <a:rPr lang="en-US" dirty="0" smtClean="0"/>
              <a:t>    &lt;</a:t>
            </a:r>
            <a:r>
              <a:rPr lang="en-US" dirty="0" err="1" smtClean="0"/>
              <a:t>LinearLayout</a:t>
            </a:r>
            <a:endParaRPr lang="en-US" dirty="0" smtClean="0"/>
          </a:p>
          <a:p>
            <a:pPr>
              <a:buNone/>
            </a:pPr>
            <a:r>
              <a:rPr lang="en-US" dirty="0" smtClean="0"/>
              <a:t>        </a:t>
            </a:r>
            <a:r>
              <a:rPr lang="en-US" dirty="0" err="1" smtClean="0"/>
              <a:t>android:orientation</a:t>
            </a:r>
            <a:r>
              <a:rPr lang="en-US" dirty="0" smtClean="0"/>
              <a:t>="vertical"</a:t>
            </a:r>
          </a:p>
          <a:p>
            <a:pPr>
              <a:buNone/>
            </a:pPr>
            <a:r>
              <a:rPr lang="en-US" dirty="0" smtClean="0"/>
              <a:t>        </a:t>
            </a:r>
            <a:r>
              <a:rPr lang="en-US" dirty="0" err="1" smtClean="0"/>
              <a:t>android:layout_width</a:t>
            </a:r>
            <a:r>
              <a:rPr lang="en-US" dirty="0" smtClean="0"/>
              <a:t>="</a:t>
            </a:r>
            <a:r>
              <a:rPr lang="en-US" dirty="0" err="1" smtClean="0"/>
              <a:t>wrap_content</a:t>
            </a:r>
            <a:r>
              <a:rPr lang="en-US" dirty="0" smtClean="0"/>
              <a:t>"</a:t>
            </a:r>
          </a:p>
          <a:p>
            <a:pPr>
              <a:buNone/>
            </a:pPr>
            <a:r>
              <a:rPr lang="en-US" dirty="0" smtClean="0"/>
              <a:t>        </a:t>
            </a:r>
            <a:r>
              <a:rPr lang="en-US" dirty="0" err="1" smtClean="0"/>
              <a:t>android:layout_height</a:t>
            </a:r>
            <a:r>
              <a:rPr lang="en-US" dirty="0" smtClean="0"/>
              <a:t>="</a:t>
            </a:r>
            <a:r>
              <a:rPr lang="en-US" dirty="0" err="1" smtClean="0"/>
              <a:t>wrap_content</a:t>
            </a:r>
            <a:r>
              <a:rPr lang="en-US" dirty="0" smtClean="0"/>
              <a:t>"</a:t>
            </a:r>
          </a:p>
          <a:p>
            <a:pPr>
              <a:buNone/>
            </a:pPr>
            <a:r>
              <a:rPr lang="en-US" dirty="0" smtClean="0"/>
              <a:t>        </a:t>
            </a:r>
            <a:r>
              <a:rPr lang="en-US" dirty="0" err="1" smtClean="0"/>
              <a:t>android:gravity</a:t>
            </a:r>
            <a:r>
              <a:rPr lang="en-US" dirty="0" smtClean="0"/>
              <a:t>="center"&gt;</a:t>
            </a:r>
          </a:p>
          <a:p>
            <a:pPr>
              <a:buNone/>
            </a:pPr>
            <a:endParaRPr lang="en-US" dirty="0" smtClean="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74638"/>
            <a:ext cx="8258204" cy="796908"/>
          </a:xfrm>
        </p:spPr>
        <p:txBody>
          <a:bodyPr/>
          <a:lstStyle/>
          <a:p>
            <a:r>
              <a:rPr lang="en-US" dirty="0" smtClean="0"/>
              <a:t>.XML</a:t>
            </a:r>
            <a:endParaRPr lang="en-US" dirty="0"/>
          </a:p>
        </p:txBody>
      </p:sp>
      <p:sp>
        <p:nvSpPr>
          <p:cNvPr id="3" name="Content Placeholder 2"/>
          <p:cNvSpPr>
            <a:spLocks noGrp="1"/>
          </p:cNvSpPr>
          <p:nvPr>
            <p:ph idx="1"/>
          </p:nvPr>
        </p:nvSpPr>
        <p:spPr>
          <a:xfrm>
            <a:off x="357158" y="1000108"/>
            <a:ext cx="8329642" cy="5126055"/>
          </a:xfrm>
        </p:spPr>
        <p:txBody>
          <a:bodyPr>
            <a:normAutofit fontScale="40000" lnSpcReduction="20000"/>
          </a:bodyPr>
          <a:lstStyle/>
          <a:p>
            <a:pPr>
              <a:buNone/>
            </a:pPr>
            <a:r>
              <a:rPr lang="en-US" dirty="0" smtClean="0"/>
              <a:t> &lt;Button</a:t>
            </a:r>
          </a:p>
          <a:p>
            <a:pPr>
              <a:buNone/>
            </a:pPr>
            <a:r>
              <a:rPr lang="en-US" dirty="0" smtClean="0"/>
              <a:t>            </a:t>
            </a:r>
            <a:r>
              <a:rPr lang="en-US" dirty="0" err="1" smtClean="0"/>
              <a:t>android:id</a:t>
            </a:r>
            <a:r>
              <a:rPr lang="en-US" dirty="0" smtClean="0"/>
              <a:t>="@+id/</a:t>
            </a:r>
            <a:r>
              <a:rPr lang="en-US" dirty="0" err="1" smtClean="0"/>
              <a:t>btnCircle</a:t>
            </a:r>
            <a:r>
              <a:rPr lang="en-US" dirty="0" smtClean="0"/>
              <a:t>"</a:t>
            </a:r>
          </a:p>
          <a:p>
            <a:pPr>
              <a:buNone/>
            </a:pPr>
            <a:r>
              <a:rPr lang="en-US" dirty="0" smtClean="0"/>
              <a:t>            </a:t>
            </a:r>
            <a:r>
              <a:rPr lang="en-US" dirty="0" err="1" smtClean="0"/>
              <a:t>android:layout_width</a:t>
            </a:r>
            <a:r>
              <a:rPr lang="en-US" dirty="0" smtClean="0"/>
              <a:t>="</a:t>
            </a:r>
            <a:r>
              <a:rPr lang="en-US" dirty="0" err="1" smtClean="0"/>
              <a:t>wrap_content</a:t>
            </a:r>
            <a:r>
              <a:rPr lang="en-US" dirty="0" smtClean="0"/>
              <a:t>"</a:t>
            </a:r>
          </a:p>
          <a:p>
            <a:pPr>
              <a:buNone/>
            </a:pPr>
            <a:r>
              <a:rPr lang="en-US" dirty="0" smtClean="0"/>
              <a:t>            </a:t>
            </a:r>
            <a:r>
              <a:rPr lang="en-US" dirty="0" err="1" smtClean="0"/>
              <a:t>android:layout_height</a:t>
            </a:r>
            <a:r>
              <a:rPr lang="en-US" dirty="0" smtClean="0"/>
              <a:t>="</a:t>
            </a:r>
            <a:r>
              <a:rPr lang="en-US" dirty="0" err="1" smtClean="0"/>
              <a:t>wrap_content</a:t>
            </a:r>
            <a:r>
              <a:rPr lang="en-US" dirty="0" smtClean="0"/>
              <a:t>"</a:t>
            </a:r>
          </a:p>
          <a:p>
            <a:pPr>
              <a:buNone/>
            </a:pPr>
            <a:r>
              <a:rPr lang="en-US" dirty="0" smtClean="0"/>
              <a:t>            </a:t>
            </a:r>
            <a:r>
              <a:rPr lang="en-US" dirty="0" err="1" smtClean="0"/>
              <a:t>android:text</a:t>
            </a:r>
            <a:r>
              <a:rPr lang="en-US" dirty="0" smtClean="0"/>
              <a:t>="Draw Circle"</a:t>
            </a:r>
          </a:p>
          <a:p>
            <a:pPr>
              <a:buNone/>
            </a:pPr>
            <a:r>
              <a:rPr lang="en-US" dirty="0" smtClean="0"/>
              <a:t>            </a:t>
            </a:r>
            <a:r>
              <a:rPr lang="en-US" dirty="0" err="1" smtClean="0"/>
              <a:t>android:layout_margin</a:t>
            </a:r>
            <a:r>
              <a:rPr lang="en-US" dirty="0" smtClean="0"/>
              <a:t>="8dp" /&gt;</a:t>
            </a:r>
          </a:p>
          <a:p>
            <a:pPr>
              <a:buNone/>
            </a:pPr>
            <a:endParaRPr lang="en-US" dirty="0" smtClean="0"/>
          </a:p>
          <a:p>
            <a:pPr>
              <a:buNone/>
            </a:pPr>
            <a:r>
              <a:rPr lang="en-US" dirty="0" smtClean="0"/>
              <a:t>        &lt;Button</a:t>
            </a:r>
          </a:p>
          <a:p>
            <a:pPr>
              <a:buNone/>
            </a:pPr>
            <a:r>
              <a:rPr lang="en-US" dirty="0" smtClean="0"/>
              <a:t>            </a:t>
            </a:r>
            <a:r>
              <a:rPr lang="en-US" dirty="0" err="1" smtClean="0"/>
              <a:t>android:id</a:t>
            </a:r>
            <a:r>
              <a:rPr lang="en-US" dirty="0" smtClean="0"/>
              <a:t>="@+id/</a:t>
            </a:r>
            <a:r>
              <a:rPr lang="en-US" dirty="0" err="1" smtClean="0"/>
              <a:t>btnTriangle</a:t>
            </a:r>
            <a:r>
              <a:rPr lang="en-US" dirty="0" smtClean="0"/>
              <a:t>"</a:t>
            </a:r>
          </a:p>
          <a:p>
            <a:pPr>
              <a:buNone/>
            </a:pPr>
            <a:r>
              <a:rPr lang="en-US" dirty="0" smtClean="0"/>
              <a:t>            </a:t>
            </a:r>
            <a:r>
              <a:rPr lang="en-US" dirty="0" err="1" smtClean="0"/>
              <a:t>android:layout_width</a:t>
            </a:r>
            <a:r>
              <a:rPr lang="en-US" dirty="0" smtClean="0"/>
              <a:t>="</a:t>
            </a:r>
            <a:r>
              <a:rPr lang="en-US" dirty="0" err="1" smtClean="0"/>
              <a:t>wrap_content</a:t>
            </a:r>
            <a:r>
              <a:rPr lang="en-US" dirty="0" smtClean="0"/>
              <a:t>"</a:t>
            </a:r>
          </a:p>
          <a:p>
            <a:pPr>
              <a:buNone/>
            </a:pPr>
            <a:r>
              <a:rPr lang="en-US" dirty="0" smtClean="0"/>
              <a:t>            </a:t>
            </a:r>
            <a:r>
              <a:rPr lang="en-US" dirty="0" err="1" smtClean="0"/>
              <a:t>android:layout_height</a:t>
            </a:r>
            <a:r>
              <a:rPr lang="en-US" dirty="0" smtClean="0"/>
              <a:t>="</a:t>
            </a:r>
            <a:r>
              <a:rPr lang="en-US" dirty="0" err="1" smtClean="0"/>
              <a:t>wrap_content</a:t>
            </a:r>
            <a:r>
              <a:rPr lang="en-US" dirty="0" smtClean="0"/>
              <a:t>"</a:t>
            </a:r>
          </a:p>
          <a:p>
            <a:pPr>
              <a:buNone/>
            </a:pPr>
            <a:r>
              <a:rPr lang="en-US" dirty="0" smtClean="0"/>
              <a:t>            </a:t>
            </a:r>
            <a:r>
              <a:rPr lang="en-US" dirty="0" err="1" smtClean="0"/>
              <a:t>android:text</a:t>
            </a:r>
            <a:r>
              <a:rPr lang="en-US" dirty="0" smtClean="0"/>
              <a:t>="Draw Triangle"</a:t>
            </a:r>
          </a:p>
          <a:p>
            <a:pPr>
              <a:buNone/>
            </a:pPr>
            <a:r>
              <a:rPr lang="en-US" dirty="0" smtClean="0"/>
              <a:t>            </a:t>
            </a:r>
            <a:r>
              <a:rPr lang="en-US" dirty="0" err="1" smtClean="0"/>
              <a:t>android:layout_margin</a:t>
            </a:r>
            <a:r>
              <a:rPr lang="en-US" dirty="0" smtClean="0"/>
              <a:t>="8dp" /&gt;</a:t>
            </a:r>
          </a:p>
          <a:p>
            <a:pPr>
              <a:buNone/>
            </a:pPr>
            <a:endParaRPr lang="en-US" dirty="0" smtClean="0"/>
          </a:p>
          <a:p>
            <a:pPr>
              <a:buNone/>
            </a:pPr>
            <a:r>
              <a:rPr lang="en-US" dirty="0" smtClean="0"/>
              <a:t>        &lt;Button</a:t>
            </a:r>
          </a:p>
          <a:p>
            <a:pPr>
              <a:buNone/>
            </a:pPr>
            <a:r>
              <a:rPr lang="en-US" dirty="0" smtClean="0"/>
              <a:t>            </a:t>
            </a:r>
            <a:r>
              <a:rPr lang="en-US" dirty="0" err="1" smtClean="0"/>
              <a:t>android:id</a:t>
            </a:r>
            <a:r>
              <a:rPr lang="en-US" dirty="0" smtClean="0"/>
              <a:t>="@+id/</a:t>
            </a:r>
            <a:r>
              <a:rPr lang="en-US" dirty="0" err="1" smtClean="0"/>
              <a:t>btnRectangle</a:t>
            </a:r>
            <a:r>
              <a:rPr lang="en-US" dirty="0" smtClean="0"/>
              <a:t>"</a:t>
            </a:r>
          </a:p>
          <a:p>
            <a:pPr>
              <a:buNone/>
            </a:pPr>
            <a:r>
              <a:rPr lang="en-US" dirty="0" smtClean="0"/>
              <a:t>            </a:t>
            </a:r>
            <a:r>
              <a:rPr lang="en-US" dirty="0" err="1" smtClean="0"/>
              <a:t>android:layout_width</a:t>
            </a:r>
            <a:r>
              <a:rPr lang="en-US" dirty="0" smtClean="0"/>
              <a:t>="</a:t>
            </a:r>
            <a:r>
              <a:rPr lang="en-US" dirty="0" err="1" smtClean="0"/>
              <a:t>wrap_content</a:t>
            </a:r>
            <a:r>
              <a:rPr lang="en-US" dirty="0" smtClean="0"/>
              <a:t>"</a:t>
            </a:r>
          </a:p>
          <a:p>
            <a:pPr>
              <a:buNone/>
            </a:pPr>
            <a:r>
              <a:rPr lang="en-US" dirty="0" smtClean="0"/>
              <a:t>            </a:t>
            </a:r>
            <a:r>
              <a:rPr lang="en-US" dirty="0" err="1" smtClean="0"/>
              <a:t>android:layout_height</a:t>
            </a:r>
            <a:r>
              <a:rPr lang="en-US" dirty="0" smtClean="0"/>
              <a:t>="</a:t>
            </a:r>
            <a:r>
              <a:rPr lang="en-US" dirty="0" err="1" smtClean="0"/>
              <a:t>wrap_content</a:t>
            </a:r>
            <a:r>
              <a:rPr lang="en-US" dirty="0" smtClean="0"/>
              <a:t>"</a:t>
            </a:r>
          </a:p>
          <a:p>
            <a:pPr>
              <a:buNone/>
            </a:pPr>
            <a:r>
              <a:rPr lang="en-US" dirty="0" smtClean="0"/>
              <a:t>            </a:t>
            </a:r>
            <a:r>
              <a:rPr lang="en-US" dirty="0" err="1" smtClean="0"/>
              <a:t>android:text</a:t>
            </a:r>
            <a:r>
              <a:rPr lang="en-US" dirty="0" smtClean="0"/>
              <a:t>="Draw Rectangle"</a:t>
            </a:r>
          </a:p>
          <a:p>
            <a:pPr>
              <a:buNone/>
            </a:pPr>
            <a:r>
              <a:rPr lang="en-US" dirty="0" smtClean="0"/>
              <a:t>            </a:t>
            </a:r>
            <a:r>
              <a:rPr lang="en-US" dirty="0" err="1" smtClean="0"/>
              <a:t>android:layout_margin</a:t>
            </a:r>
            <a:r>
              <a:rPr lang="en-US" dirty="0" smtClean="0"/>
              <a:t>="8dp" /&gt;</a:t>
            </a:r>
          </a:p>
          <a:p>
            <a:pPr>
              <a:buNone/>
            </a:pPr>
            <a:r>
              <a:rPr lang="en-US" dirty="0" smtClean="0"/>
              <a:t>    &lt;/</a:t>
            </a:r>
            <a:r>
              <a:rPr lang="en-US" dirty="0" err="1" smtClean="0"/>
              <a:t>LinearLayout</a:t>
            </a:r>
            <a:r>
              <a:rPr lang="en-US" dirty="0" smtClean="0"/>
              <a:t>&gt;</a:t>
            </a:r>
          </a:p>
          <a:p>
            <a:pPr>
              <a:buNone/>
            </a:pPr>
            <a:endParaRPr lang="en-US" dirty="0" smtClean="0"/>
          </a:p>
          <a:p>
            <a:pPr>
              <a:buNone/>
            </a:pPr>
            <a:r>
              <a:rPr lang="en-US" dirty="0" smtClean="0"/>
              <a:t>&lt;/</a:t>
            </a:r>
            <a:r>
              <a:rPr lang="en-US" dirty="0" err="1" smtClean="0"/>
              <a:t>LinearLayout</a:t>
            </a:r>
            <a:r>
              <a:rPr lang="en-US" dirty="0" smtClean="0"/>
              <a:t>&gt;</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74638"/>
            <a:ext cx="8186766" cy="582594"/>
          </a:xfrm>
        </p:spPr>
        <p:txBody>
          <a:bodyPr>
            <a:normAutofit fontScale="90000"/>
          </a:bodyPr>
          <a:lstStyle/>
          <a:p>
            <a:r>
              <a:rPr lang="en-US" b="1" dirty="0" smtClean="0"/>
              <a:t/>
            </a:r>
            <a:br>
              <a:rPr lang="en-US" b="1" dirty="0" smtClean="0"/>
            </a:br>
            <a:r>
              <a:rPr lang="en-US" b="1" dirty="0" smtClean="0"/>
              <a:t>Animation in Android</a:t>
            </a:r>
            <a:br>
              <a:rPr lang="en-US" b="1" dirty="0" smtClean="0"/>
            </a:br>
            <a:endParaRPr lang="en-US" dirty="0"/>
          </a:p>
        </p:txBody>
      </p:sp>
      <p:sp>
        <p:nvSpPr>
          <p:cNvPr id="3" name="Content Placeholder 2"/>
          <p:cNvSpPr>
            <a:spLocks noGrp="1"/>
          </p:cNvSpPr>
          <p:nvPr>
            <p:ph idx="1"/>
          </p:nvPr>
        </p:nvSpPr>
        <p:spPr>
          <a:xfrm>
            <a:off x="142844" y="1000108"/>
            <a:ext cx="8543956" cy="5429288"/>
          </a:xfrm>
          <a:ln>
            <a:solidFill>
              <a:schemeClr val="tx1"/>
            </a:solidFill>
          </a:ln>
        </p:spPr>
        <p:txBody>
          <a:bodyPr>
            <a:normAutofit fontScale="92500"/>
          </a:bodyPr>
          <a:lstStyle/>
          <a:p>
            <a:pPr algn="just">
              <a:lnSpc>
                <a:spcPct val="150000"/>
              </a:lnSpc>
              <a:buNone/>
            </a:pPr>
            <a:r>
              <a:rPr lang="en-US" sz="1400" dirty="0" smtClean="0">
                <a:latin typeface="Times New Roman" pitchFamily="18" charset="0"/>
                <a:cs typeface="Times New Roman" pitchFamily="18" charset="0"/>
              </a:rPr>
              <a:t>	Animation is the process of adding a motion effect to any view, image, or text. With the help of an animation, you can add motion or can change the shape of a specific view. Animation in Android is generally used to give your UI a rich look and feel. </a:t>
            </a:r>
          </a:p>
          <a:p>
            <a:pPr algn="just">
              <a:lnSpc>
                <a:spcPct val="150000"/>
              </a:lnSpc>
              <a:buNone/>
            </a:pPr>
            <a:r>
              <a:rPr lang="en-US" sz="1400" dirty="0" smtClean="0">
                <a:latin typeface="Times New Roman" pitchFamily="18" charset="0"/>
                <a:cs typeface="Times New Roman" pitchFamily="18" charset="0"/>
              </a:rPr>
              <a:t>	The animations are basically of three types as follows:</a:t>
            </a:r>
            <a:r>
              <a:rPr lang="en-US" dirty="0" smtClean="0"/>
              <a:t> </a:t>
            </a:r>
          </a:p>
          <a:p>
            <a:pPr fontAlgn="base">
              <a:lnSpc>
                <a:spcPct val="150000"/>
              </a:lnSpc>
            </a:pPr>
            <a:r>
              <a:rPr lang="en-US" sz="1200" b="1" dirty="0" smtClean="0">
                <a:latin typeface="Times New Roman" pitchFamily="18" charset="0"/>
                <a:cs typeface="Times New Roman" pitchFamily="18" charset="0"/>
              </a:rPr>
              <a:t>Property Animation</a:t>
            </a:r>
            <a:endParaRPr lang="en-US" sz="1200" dirty="0" smtClean="0">
              <a:latin typeface="Times New Roman" pitchFamily="18" charset="0"/>
              <a:cs typeface="Times New Roman" pitchFamily="18" charset="0"/>
            </a:endParaRPr>
          </a:p>
          <a:p>
            <a:pPr fontAlgn="base">
              <a:lnSpc>
                <a:spcPct val="150000"/>
              </a:lnSpc>
            </a:pPr>
            <a:r>
              <a:rPr lang="en-US" sz="1200" b="1" dirty="0" smtClean="0">
                <a:latin typeface="Times New Roman" pitchFamily="18" charset="0"/>
                <a:cs typeface="Times New Roman" pitchFamily="18" charset="0"/>
              </a:rPr>
              <a:t>View Animation</a:t>
            </a:r>
            <a:endParaRPr lang="en-US" sz="1200" dirty="0" smtClean="0">
              <a:latin typeface="Times New Roman" pitchFamily="18" charset="0"/>
              <a:cs typeface="Times New Roman" pitchFamily="18" charset="0"/>
            </a:endParaRPr>
          </a:p>
          <a:p>
            <a:pPr fontAlgn="base">
              <a:lnSpc>
                <a:spcPct val="150000"/>
              </a:lnSpc>
            </a:pPr>
            <a:r>
              <a:rPr lang="en-US" sz="1200" b="1" dirty="0" err="1" smtClean="0">
                <a:latin typeface="Times New Roman" pitchFamily="18" charset="0"/>
                <a:cs typeface="Times New Roman" pitchFamily="18" charset="0"/>
              </a:rPr>
              <a:t>Drawable</a:t>
            </a:r>
            <a:r>
              <a:rPr lang="en-US" sz="1200" b="1" dirty="0" smtClean="0">
                <a:latin typeface="Times New Roman" pitchFamily="18" charset="0"/>
                <a:cs typeface="Times New Roman" pitchFamily="18" charset="0"/>
              </a:rPr>
              <a:t> Animation</a:t>
            </a:r>
          </a:p>
          <a:p>
            <a:pPr fontAlgn="base">
              <a:lnSpc>
                <a:spcPct val="150000"/>
              </a:lnSpc>
            </a:pPr>
            <a:endParaRPr lang="en-US" sz="1200" dirty="0" smtClean="0">
              <a:latin typeface="Times New Roman" pitchFamily="18" charset="0"/>
              <a:cs typeface="Times New Roman" pitchFamily="18" charset="0"/>
            </a:endParaRPr>
          </a:p>
          <a:p>
            <a:pPr algn="just">
              <a:lnSpc>
                <a:spcPct val="150000"/>
              </a:lnSpc>
              <a:buNone/>
            </a:pPr>
            <a:r>
              <a:rPr lang="en-US" sz="1400" b="1" dirty="0" smtClean="0">
                <a:latin typeface="Times New Roman" pitchFamily="18" charset="0"/>
                <a:cs typeface="Times New Roman" pitchFamily="18" charset="0"/>
              </a:rPr>
              <a:t>	Property Animation</a:t>
            </a:r>
            <a:r>
              <a:rPr lang="en-US" sz="1400" dirty="0" smtClean="0">
                <a:latin typeface="Times New Roman" pitchFamily="18" charset="0"/>
                <a:cs typeface="Times New Roman" pitchFamily="18" charset="0"/>
              </a:rPr>
              <a:t>: This is one of the powerful and flexible animations which was introduced in Android 3.0. Property animation can be used to add any animation in the </a:t>
            </a:r>
            <a:r>
              <a:rPr lang="en-US" sz="1400" dirty="0" err="1" smtClean="0">
                <a:latin typeface="Times New Roman" pitchFamily="18" charset="0"/>
                <a:cs typeface="Times New Roman" pitchFamily="18" charset="0"/>
                <a:hlinkClick r:id="rId2"/>
              </a:rPr>
              <a:t>CheckBox</a:t>
            </a: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hlinkClick r:id="rId3"/>
              </a:rPr>
              <a:t>RadioButtons</a:t>
            </a:r>
            <a:r>
              <a:rPr lang="en-US" sz="1400" dirty="0" smtClean="0">
                <a:latin typeface="Times New Roman" pitchFamily="18" charset="0"/>
                <a:cs typeface="Times New Roman" pitchFamily="18" charset="0"/>
              </a:rPr>
              <a:t>, and widgets other than any view.</a:t>
            </a:r>
          </a:p>
          <a:p>
            <a:pPr algn="just">
              <a:lnSpc>
                <a:spcPct val="150000"/>
              </a:lnSpc>
              <a:buNone/>
            </a:pPr>
            <a:r>
              <a:rPr lang="en-US" sz="1400" b="1" dirty="0" smtClean="0">
                <a:latin typeface="Times New Roman" pitchFamily="18" charset="0"/>
                <a:cs typeface="Times New Roman" pitchFamily="18" charset="0"/>
              </a:rPr>
              <a:t>	View </a:t>
            </a:r>
            <a:r>
              <a:rPr lang="en-US" sz="1400" b="1" dirty="0" err="1" smtClean="0">
                <a:latin typeface="Times New Roman" pitchFamily="18" charset="0"/>
                <a:cs typeface="Times New Roman" pitchFamily="18" charset="0"/>
              </a:rPr>
              <a:t>Animation:</a:t>
            </a:r>
            <a:r>
              <a:rPr lang="en-US" sz="1400" dirty="0" err="1" smtClean="0">
                <a:latin typeface="Times New Roman" pitchFamily="18" charset="0"/>
                <a:cs typeface="Times New Roman" pitchFamily="18" charset="0"/>
              </a:rPr>
              <a:t>View</a:t>
            </a:r>
            <a:r>
              <a:rPr lang="en-US" sz="1400" dirty="0" smtClean="0">
                <a:latin typeface="Times New Roman" pitchFamily="18" charset="0"/>
                <a:cs typeface="Times New Roman" pitchFamily="18" charset="0"/>
              </a:rPr>
              <a:t> Animation can be used to add animation to a specific view to perform </a:t>
            </a:r>
            <a:r>
              <a:rPr lang="en-US" sz="1400" dirty="0" err="1" smtClean="0">
                <a:latin typeface="Times New Roman" pitchFamily="18" charset="0"/>
                <a:cs typeface="Times New Roman" pitchFamily="18" charset="0"/>
              </a:rPr>
              <a:t>tweened</a:t>
            </a:r>
            <a:r>
              <a:rPr lang="en-US" sz="1400" dirty="0" smtClean="0">
                <a:latin typeface="Times New Roman" pitchFamily="18" charset="0"/>
                <a:cs typeface="Times New Roman" pitchFamily="18" charset="0"/>
              </a:rPr>
              <a:t> animation on views. </a:t>
            </a:r>
            <a:r>
              <a:rPr lang="en-US" sz="1400" dirty="0" err="1" smtClean="0">
                <a:latin typeface="Times New Roman" pitchFamily="18" charset="0"/>
                <a:cs typeface="Times New Roman" pitchFamily="18" charset="0"/>
              </a:rPr>
              <a:t>Tweened</a:t>
            </a:r>
            <a:r>
              <a:rPr lang="en-US" sz="1400" dirty="0" smtClean="0">
                <a:latin typeface="Times New Roman" pitchFamily="18" charset="0"/>
                <a:cs typeface="Times New Roman" pitchFamily="18" charset="0"/>
              </a:rPr>
              <a:t> animation calculates animation information such as size, rotation, start point, and endpoint. These animations are slower and less flexible.</a:t>
            </a:r>
          </a:p>
          <a:p>
            <a:pPr algn="just">
              <a:lnSpc>
                <a:spcPct val="150000"/>
              </a:lnSpc>
              <a:buNone/>
            </a:pPr>
            <a:r>
              <a:rPr lang="en-US" sz="1400" dirty="0" smtClean="0">
                <a:latin typeface="Times New Roman" pitchFamily="18" charset="0"/>
                <a:cs typeface="Times New Roman" pitchFamily="18" charset="0"/>
              </a:rPr>
              <a:t>       An example of View animation can be used if we want to expand a specific layout in that place we can use View Animation</a:t>
            </a:r>
          </a:p>
          <a:p>
            <a:pPr algn="just">
              <a:buNone/>
            </a:pPr>
            <a:endParaRPr lang="en-US" dirty="0" smtClean="0">
              <a:latin typeface="Times New Roman" pitchFamily="18" charset="0"/>
              <a:cs typeface="Times New Roman" pitchFamily="18" charset="0"/>
            </a:endParaRPr>
          </a:p>
          <a:p>
            <a:pPr algn="just">
              <a:buNone/>
            </a:pPr>
            <a:endParaRPr 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Continiue</a:t>
            </a:r>
            <a:r>
              <a:rPr lang="en-US" dirty="0" smtClean="0"/>
              <a:t>….</a:t>
            </a:r>
            <a:endParaRPr lang="en-US" dirty="0"/>
          </a:p>
        </p:txBody>
      </p:sp>
      <p:sp>
        <p:nvSpPr>
          <p:cNvPr id="3" name="Content Placeholder 2"/>
          <p:cNvSpPr>
            <a:spLocks noGrp="1"/>
          </p:cNvSpPr>
          <p:nvPr>
            <p:ph idx="1"/>
          </p:nvPr>
        </p:nvSpPr>
        <p:spPr/>
        <p:txBody>
          <a:bodyPr/>
          <a:lstStyle/>
          <a:p>
            <a:pPr algn="just">
              <a:buNone/>
            </a:pPr>
            <a:r>
              <a:rPr lang="en-US" b="1" dirty="0" smtClean="0"/>
              <a:t>  	</a:t>
            </a:r>
            <a:r>
              <a:rPr lang="en-US" sz="1400" b="1" dirty="0" err="1" smtClean="0">
                <a:latin typeface="Times New Roman" pitchFamily="18" charset="0"/>
                <a:cs typeface="Times New Roman" pitchFamily="18" charset="0"/>
              </a:rPr>
              <a:t>Drawable</a:t>
            </a:r>
            <a:r>
              <a:rPr lang="en-US" sz="1400" b="1" dirty="0" smtClean="0">
                <a:latin typeface="Times New Roman" pitchFamily="18" charset="0"/>
                <a:cs typeface="Times New Roman" pitchFamily="18" charset="0"/>
              </a:rPr>
              <a:t> Animation</a:t>
            </a:r>
            <a:r>
              <a:rPr lang="en-US" sz="1400" dirty="0" smtClean="0">
                <a:latin typeface="Times New Roman" pitchFamily="18" charset="0"/>
                <a:cs typeface="Times New Roman" pitchFamily="18" charset="0"/>
              </a:rPr>
              <a:t>: It  is used if you want to animate one image over another. The simple way to understand is to animate </a:t>
            </a:r>
            <a:r>
              <a:rPr lang="en-US" sz="1400" dirty="0" err="1" smtClean="0">
                <a:latin typeface="Times New Roman" pitchFamily="18" charset="0"/>
                <a:cs typeface="Times New Roman" pitchFamily="18" charset="0"/>
              </a:rPr>
              <a:t>drawable</a:t>
            </a:r>
            <a:r>
              <a:rPr lang="en-US" sz="1400" dirty="0" smtClean="0">
                <a:latin typeface="Times New Roman" pitchFamily="18" charset="0"/>
                <a:cs typeface="Times New Roman" pitchFamily="18" charset="0"/>
              </a:rPr>
              <a:t> is to load the series of </a:t>
            </a:r>
            <a:r>
              <a:rPr lang="en-US" sz="1400" dirty="0" err="1" smtClean="0">
                <a:latin typeface="Times New Roman" pitchFamily="18" charset="0"/>
                <a:cs typeface="Times New Roman" pitchFamily="18" charset="0"/>
              </a:rPr>
              <a:t>drawable</a:t>
            </a:r>
            <a:r>
              <a:rPr lang="en-US" sz="1400" dirty="0" smtClean="0">
                <a:latin typeface="Times New Roman" pitchFamily="18" charset="0"/>
                <a:cs typeface="Times New Roman" pitchFamily="18" charset="0"/>
              </a:rPr>
              <a:t> one after another to create an animation.</a:t>
            </a:r>
          </a:p>
          <a:p>
            <a:pPr algn="just">
              <a:buNone/>
            </a:pPr>
            <a:endParaRPr lang="en-US" sz="1400" dirty="0" smtClean="0">
              <a:latin typeface="Times New Roman" pitchFamily="18" charset="0"/>
              <a:cs typeface="Times New Roman" pitchFamily="18" charset="0"/>
            </a:endParaRPr>
          </a:p>
          <a:p>
            <a:pPr fontAlgn="base">
              <a:buNone/>
            </a:pPr>
            <a:r>
              <a:rPr lang="en-US" sz="1400" dirty="0" smtClean="0"/>
              <a:t>Some Common Types of Animations in Android are-</a:t>
            </a:r>
          </a:p>
          <a:p>
            <a:pPr fontAlgn="base">
              <a:buNone/>
            </a:pPr>
            <a:endParaRPr lang="en-US" sz="1400" dirty="0" smtClean="0"/>
          </a:p>
          <a:p>
            <a:pPr fontAlgn="base">
              <a:buNone/>
            </a:pPr>
            <a:r>
              <a:rPr lang="en-US" sz="1400" b="1" dirty="0" smtClean="0">
                <a:latin typeface="Times New Roman" pitchFamily="18" charset="0"/>
                <a:cs typeface="Times New Roman" pitchFamily="18" charset="0"/>
              </a:rPr>
              <a:t>Blink </a:t>
            </a:r>
            <a:r>
              <a:rPr lang="en-US" sz="1400" dirty="0" smtClean="0">
                <a:latin typeface="Times New Roman" pitchFamily="18" charset="0"/>
                <a:cs typeface="Times New Roman" pitchFamily="18" charset="0"/>
              </a:rPr>
              <a:t>- Hides the object for 0.6 to 1 second.</a:t>
            </a:r>
          </a:p>
          <a:p>
            <a:pPr fontAlgn="base">
              <a:buNone/>
            </a:pPr>
            <a:r>
              <a:rPr lang="en-US" sz="1400" b="1" dirty="0" smtClean="0">
                <a:latin typeface="Times New Roman" pitchFamily="18" charset="0"/>
                <a:cs typeface="Times New Roman" pitchFamily="18" charset="0"/>
              </a:rPr>
              <a:t>Slide</a:t>
            </a:r>
            <a:r>
              <a:rPr lang="en-US" sz="1400" dirty="0" smtClean="0">
                <a:latin typeface="Times New Roman" pitchFamily="18" charset="0"/>
                <a:cs typeface="Times New Roman" pitchFamily="18" charset="0"/>
              </a:rPr>
              <a:t> - Move the object either vertically or horizontally to its axis.</a:t>
            </a:r>
          </a:p>
          <a:p>
            <a:pPr fontAlgn="base">
              <a:buNone/>
            </a:pPr>
            <a:r>
              <a:rPr lang="en-US" sz="1400" b="1" dirty="0" smtClean="0">
                <a:latin typeface="Times New Roman" pitchFamily="18" charset="0"/>
                <a:cs typeface="Times New Roman" pitchFamily="18" charset="0"/>
              </a:rPr>
              <a:t>Rotate </a:t>
            </a:r>
            <a:r>
              <a:rPr lang="en-US" sz="1400" dirty="0" smtClean="0">
                <a:latin typeface="Times New Roman" pitchFamily="18" charset="0"/>
                <a:cs typeface="Times New Roman" pitchFamily="18" charset="0"/>
              </a:rPr>
              <a:t>- Rotate the object either clockwise or anti-clockwise.</a:t>
            </a:r>
          </a:p>
          <a:p>
            <a:pPr fontAlgn="base">
              <a:buNone/>
            </a:pPr>
            <a:r>
              <a:rPr lang="en-US" sz="1400" b="1" dirty="0" smtClean="0">
                <a:latin typeface="Times New Roman" pitchFamily="18" charset="0"/>
                <a:cs typeface="Times New Roman" pitchFamily="18" charset="0"/>
              </a:rPr>
              <a:t>Zoom </a:t>
            </a:r>
            <a:r>
              <a:rPr lang="en-US" sz="1400" dirty="0" smtClean="0">
                <a:latin typeface="Times New Roman" pitchFamily="18" charset="0"/>
                <a:cs typeface="Times New Roman" pitchFamily="18" charset="0"/>
              </a:rPr>
              <a:t>- Zoom in or out the object in the X and Y-axis.</a:t>
            </a:r>
          </a:p>
          <a:p>
            <a:pPr algn="just">
              <a:buNone/>
            </a:pPr>
            <a:endParaRPr lang="en-US" sz="1400" dirty="0" smtClean="0">
              <a:latin typeface="Times New Roman" pitchFamily="18" charset="0"/>
              <a:cs typeface="Times New Roman" pitchFamily="18" charset="0"/>
            </a:endParaRPr>
          </a:p>
          <a:p>
            <a:pPr algn="just">
              <a:buNone/>
            </a:pPr>
            <a:endParaRPr lang="en-US" sz="1400" dirty="0" smtClean="0">
              <a:latin typeface="Times New Roman" pitchFamily="18" charset="0"/>
              <a:cs typeface="Times New Roman" pitchFamily="18" charset="0"/>
            </a:endParaRPr>
          </a:p>
          <a:p>
            <a:pPr algn="just">
              <a:buNone/>
            </a:pPr>
            <a:r>
              <a:rPr lang="en-US" sz="1400" dirty="0" smtClean="0"/>
              <a:t>	To perform animation in android, we have to call a static function </a:t>
            </a:r>
            <a:r>
              <a:rPr lang="en-US" sz="1400" b="1" dirty="0" err="1" smtClean="0"/>
              <a:t>loadAnimation</a:t>
            </a:r>
            <a:r>
              <a:rPr lang="en-US" sz="1400" b="1" dirty="0" smtClean="0"/>
              <a:t>()</a:t>
            </a:r>
            <a:r>
              <a:rPr lang="en-US" sz="1400" dirty="0" smtClean="0"/>
              <a:t> of the class </a:t>
            </a:r>
            <a:r>
              <a:rPr lang="en-US" sz="1400" b="1" dirty="0" err="1" smtClean="0"/>
              <a:t>AnimationUtils</a:t>
            </a:r>
            <a:r>
              <a:rPr lang="en-US" sz="1400" dirty="0" err="1" smtClean="0"/>
              <a:t>.We</a:t>
            </a:r>
            <a:r>
              <a:rPr lang="en-US" sz="1400" dirty="0" smtClean="0"/>
              <a:t> get the result in an instance of the Animation Object. </a:t>
            </a:r>
          </a:p>
          <a:p>
            <a:pPr algn="just">
              <a:buNone/>
            </a:pPr>
            <a:r>
              <a:rPr lang="en-US" sz="1400" dirty="0" smtClean="0"/>
              <a:t>Syntax to create animation object:</a:t>
            </a:r>
          </a:p>
          <a:p>
            <a:pPr algn="just">
              <a:buNone/>
            </a:pPr>
            <a:r>
              <a:rPr lang="en-US" sz="1400" b="1" i="1" dirty="0" smtClean="0"/>
              <a:t>Animation object = </a:t>
            </a:r>
            <a:r>
              <a:rPr lang="en-US" sz="1400" b="1" i="1" dirty="0" err="1" smtClean="0"/>
              <a:t>AnimationUtils.loadAnimation</a:t>
            </a:r>
            <a:r>
              <a:rPr lang="en-US" sz="1400" b="1" i="1" dirty="0" smtClean="0"/>
              <a:t>(</a:t>
            </a:r>
            <a:r>
              <a:rPr lang="en-US" sz="1400" b="1" i="1" dirty="0" err="1" smtClean="0"/>
              <a:t>getApplicationContext</a:t>
            </a:r>
            <a:r>
              <a:rPr lang="en-US" sz="1400" b="1" i="1" dirty="0" smtClean="0"/>
              <a:t>(), </a:t>
            </a:r>
            <a:r>
              <a:rPr lang="en-US" sz="1400" b="1" i="1" dirty="0" err="1" smtClean="0"/>
              <a:t>R.anim.ANIMATIONFILE</a:t>
            </a:r>
            <a:r>
              <a:rPr lang="en-US" sz="1400" b="1" i="1" dirty="0" smtClean="0"/>
              <a:t>);</a:t>
            </a:r>
            <a:endParaRPr lang="en-US" sz="14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74638"/>
            <a:ext cx="8186766" cy="582594"/>
          </a:xfrm>
        </p:spPr>
        <p:txBody>
          <a:bodyPr>
            <a:normAutofit fontScale="90000"/>
          </a:bodyPr>
          <a:lstStyle/>
          <a:p>
            <a:r>
              <a:rPr lang="en-US" dirty="0" smtClean="0"/>
              <a:t>Continue….</a:t>
            </a:r>
            <a:endParaRPr lang="en-US" dirty="0"/>
          </a:p>
        </p:txBody>
      </p:sp>
      <p:sp>
        <p:nvSpPr>
          <p:cNvPr id="3" name="Content Placeholder 2"/>
          <p:cNvSpPr>
            <a:spLocks noGrp="1"/>
          </p:cNvSpPr>
          <p:nvPr>
            <p:ph idx="1"/>
          </p:nvPr>
        </p:nvSpPr>
        <p:spPr>
          <a:xfrm>
            <a:off x="428596" y="928670"/>
            <a:ext cx="8258204" cy="5197493"/>
          </a:xfrm>
        </p:spPr>
        <p:txBody>
          <a:bodyPr>
            <a:normAutofit/>
          </a:bodyPr>
          <a:lstStyle/>
          <a:p>
            <a:pPr algn="just">
              <a:buNone/>
            </a:pPr>
            <a:r>
              <a:rPr lang="en-US" sz="1400" dirty="0" smtClean="0">
                <a:latin typeface="Times New Roman" pitchFamily="18" charset="0"/>
                <a:cs typeface="Times New Roman" pitchFamily="18" charset="0"/>
              </a:rPr>
              <a:t>	To apply the above animation to an object(Let say in an image), we have to call the </a:t>
            </a:r>
            <a:r>
              <a:rPr lang="en-US" sz="1400" b="1" dirty="0" err="1" smtClean="0">
                <a:latin typeface="Times New Roman" pitchFamily="18" charset="0"/>
                <a:cs typeface="Times New Roman" pitchFamily="18" charset="0"/>
              </a:rPr>
              <a:t>startAnimation</a:t>
            </a:r>
            <a:r>
              <a:rPr lang="en-US" sz="1400" b="1" dirty="0" smtClean="0">
                <a:latin typeface="Times New Roman" pitchFamily="18" charset="0"/>
                <a:cs typeface="Times New Roman" pitchFamily="18" charset="0"/>
              </a:rPr>
              <a:t>()</a:t>
            </a:r>
            <a:r>
              <a:rPr lang="en-US" sz="1400" dirty="0" smtClean="0">
                <a:latin typeface="Times New Roman" pitchFamily="18" charset="0"/>
                <a:cs typeface="Times New Roman" pitchFamily="18" charset="0"/>
              </a:rPr>
              <a:t> method of the object.</a:t>
            </a:r>
          </a:p>
          <a:p>
            <a:pPr algn="just">
              <a:buNone/>
            </a:pPr>
            <a:r>
              <a:rPr lang="en-US" sz="1400" b="1" dirty="0" smtClean="0">
                <a:latin typeface="Times New Roman" pitchFamily="18" charset="0"/>
                <a:cs typeface="Times New Roman" pitchFamily="18" charset="0"/>
              </a:rPr>
              <a:t>Syntax:</a:t>
            </a:r>
            <a:r>
              <a:rPr lang="en-US" b="1" dirty="0" smtClean="0"/>
              <a:t> </a:t>
            </a:r>
          </a:p>
          <a:p>
            <a:pPr fontAlgn="base">
              <a:buNone/>
            </a:pPr>
            <a:r>
              <a:rPr lang="en-US" sz="1400" b="1" dirty="0" err="1" smtClean="0">
                <a:latin typeface="Times New Roman" pitchFamily="18" charset="0"/>
                <a:cs typeface="Times New Roman" pitchFamily="18" charset="0"/>
              </a:rPr>
              <a:t>ImageView</a:t>
            </a:r>
            <a:r>
              <a:rPr lang="en-US" sz="1400" b="1" dirty="0" smtClean="0">
                <a:latin typeface="Times New Roman" pitchFamily="18" charset="0"/>
                <a:cs typeface="Times New Roman" pitchFamily="18" charset="0"/>
              </a:rPr>
              <a:t> image = </a:t>
            </a:r>
            <a:r>
              <a:rPr lang="en-US" sz="1400" b="1" dirty="0" err="1" smtClean="0">
                <a:latin typeface="Times New Roman" pitchFamily="18" charset="0"/>
                <a:cs typeface="Times New Roman" pitchFamily="18" charset="0"/>
              </a:rPr>
              <a:t>findViewById</a:t>
            </a:r>
            <a:r>
              <a:rPr lang="en-US" sz="1400" b="1" dirty="0" smtClean="0">
                <a:latin typeface="Times New Roman" pitchFamily="18" charset="0"/>
                <a:cs typeface="Times New Roman" pitchFamily="18" charset="0"/>
              </a:rPr>
              <a:t>(</a:t>
            </a:r>
            <a:r>
              <a:rPr lang="en-US" sz="1400" b="1" dirty="0" err="1" smtClean="0">
                <a:latin typeface="Times New Roman" pitchFamily="18" charset="0"/>
                <a:cs typeface="Times New Roman" pitchFamily="18" charset="0"/>
              </a:rPr>
              <a:t>R.id.imageID</a:t>
            </a:r>
            <a:r>
              <a:rPr lang="en-US" sz="1400" b="1" dirty="0" smtClean="0">
                <a:latin typeface="Times New Roman" pitchFamily="18" charset="0"/>
                <a:cs typeface="Times New Roman" pitchFamily="18" charset="0"/>
              </a:rPr>
              <a:t>)</a:t>
            </a:r>
          </a:p>
          <a:p>
            <a:pPr fontAlgn="base">
              <a:buNone/>
            </a:pPr>
            <a:r>
              <a:rPr lang="en-US" sz="1400" b="1" dirty="0" err="1" smtClean="0">
                <a:latin typeface="Times New Roman" pitchFamily="18" charset="0"/>
                <a:cs typeface="Times New Roman" pitchFamily="18" charset="0"/>
              </a:rPr>
              <a:t>image.startAnimation</a:t>
            </a:r>
            <a:r>
              <a:rPr lang="en-US" sz="1400" b="1" dirty="0" smtClean="0">
                <a:latin typeface="Times New Roman" pitchFamily="18" charset="0"/>
                <a:cs typeface="Times New Roman" pitchFamily="18" charset="0"/>
              </a:rPr>
              <a:t>(object)</a:t>
            </a:r>
          </a:p>
          <a:p>
            <a:pPr fontAlgn="base">
              <a:buNone/>
            </a:pPr>
            <a:endParaRPr lang="en-US" sz="1400" b="1" dirty="0" smtClean="0">
              <a:latin typeface="Times New Roman" pitchFamily="18" charset="0"/>
              <a:cs typeface="Times New Roman" pitchFamily="18" charset="0"/>
            </a:endParaRPr>
          </a:p>
          <a:p>
            <a:pPr fontAlgn="base">
              <a:buNone/>
            </a:pPr>
            <a:r>
              <a:rPr lang="en-US" sz="1200" b="1" dirty="0" smtClean="0">
                <a:latin typeface="Times New Roman" pitchFamily="18" charset="0"/>
                <a:cs typeface="Times New Roman" pitchFamily="18" charset="0"/>
              </a:rPr>
              <a:t>Methods of animation class:</a:t>
            </a:r>
          </a:p>
          <a:p>
            <a:pPr fontAlgn="base">
              <a:buNone/>
            </a:pPr>
            <a:r>
              <a:rPr lang="en-US" sz="1200" b="1" dirty="0" smtClean="0">
                <a:latin typeface="Times New Roman" pitchFamily="18" charset="0"/>
                <a:cs typeface="Times New Roman" pitchFamily="18" charset="0"/>
              </a:rPr>
              <a:t>Method				Description</a:t>
            </a:r>
            <a:endParaRPr lang="en-US" sz="1200" dirty="0" smtClean="0">
              <a:latin typeface="Times New Roman" pitchFamily="18" charset="0"/>
              <a:cs typeface="Times New Roman" pitchFamily="18" charset="0"/>
            </a:endParaRPr>
          </a:p>
          <a:p>
            <a:pPr>
              <a:buNone/>
            </a:pPr>
            <a:r>
              <a:rPr lang="en-US" sz="1200" dirty="0" err="1" smtClean="0">
                <a:latin typeface="Times New Roman" pitchFamily="18" charset="0"/>
                <a:cs typeface="Times New Roman" pitchFamily="18" charset="0"/>
              </a:rPr>
              <a:t>startAnimation</a:t>
            </a:r>
            <a:r>
              <a:rPr lang="en-US" sz="1200" dirty="0" smtClean="0">
                <a:latin typeface="Times New Roman" pitchFamily="18" charset="0"/>
                <a:cs typeface="Times New Roman" pitchFamily="18" charset="0"/>
              </a:rPr>
              <a:t>(object)-			Starts the animation		</a:t>
            </a:r>
          </a:p>
          <a:p>
            <a:pPr>
              <a:buNone/>
            </a:pPr>
            <a:r>
              <a:rPr lang="en-US" sz="1200" dirty="0" err="1" smtClean="0">
                <a:latin typeface="Times New Roman" pitchFamily="18" charset="0"/>
                <a:cs typeface="Times New Roman" pitchFamily="18" charset="0"/>
              </a:rPr>
              <a:t>setDuration</a:t>
            </a:r>
            <a:r>
              <a:rPr lang="en-US" sz="1200" dirty="0" smtClean="0">
                <a:latin typeface="Times New Roman" pitchFamily="18" charset="0"/>
                <a:cs typeface="Times New Roman" pitchFamily="18" charset="0"/>
              </a:rPr>
              <a:t>(long duration)			Sets the duration of animation</a:t>
            </a:r>
          </a:p>
          <a:p>
            <a:pPr>
              <a:buNone/>
            </a:pPr>
            <a:r>
              <a:rPr lang="en-US" sz="1200" dirty="0" err="1" smtClean="0">
                <a:latin typeface="Times New Roman" pitchFamily="18" charset="0"/>
                <a:cs typeface="Times New Roman" pitchFamily="18" charset="0"/>
              </a:rPr>
              <a:t>getDuration</a:t>
            </a:r>
            <a:r>
              <a:rPr lang="en-US" sz="1200" dirty="0" smtClean="0">
                <a:latin typeface="Times New Roman" pitchFamily="18" charset="0"/>
                <a:cs typeface="Times New Roman" pitchFamily="18" charset="0"/>
              </a:rPr>
              <a:t>()				Gets the duration of animation</a:t>
            </a:r>
          </a:p>
          <a:p>
            <a:pPr>
              <a:buNone/>
            </a:pPr>
            <a:r>
              <a:rPr lang="en-US" sz="1200" dirty="0" smtClean="0">
                <a:latin typeface="Times New Roman" pitchFamily="18" charset="0"/>
                <a:cs typeface="Times New Roman" pitchFamily="18" charset="0"/>
              </a:rPr>
              <a:t>end()					Ends the animation</a:t>
            </a:r>
          </a:p>
          <a:p>
            <a:pPr>
              <a:buNone/>
            </a:pPr>
            <a:r>
              <a:rPr lang="en-US" sz="1200" dirty="0" smtClean="0">
                <a:latin typeface="Times New Roman" pitchFamily="18" charset="0"/>
                <a:cs typeface="Times New Roman" pitchFamily="18" charset="0"/>
              </a:rPr>
              <a:t>cancel()				Cancels the animation</a:t>
            </a:r>
            <a:endParaRPr lang="en-US" sz="1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74638"/>
            <a:ext cx="8258204" cy="939784"/>
          </a:xfrm>
        </p:spPr>
        <p:txBody>
          <a:bodyPr>
            <a:normAutofit fontScale="90000"/>
          </a:bodyPr>
          <a:lstStyle/>
          <a:p>
            <a:r>
              <a:rPr lang="en-US" b="1" dirty="0" smtClean="0"/>
              <a:t>View Animation (</a:t>
            </a:r>
            <a:r>
              <a:rPr lang="en-US" b="1" dirty="0" err="1" smtClean="0"/>
              <a:t>Tween</a:t>
            </a:r>
            <a:r>
              <a:rPr lang="en-US" b="1" dirty="0" smtClean="0"/>
              <a:t> Animation)</a:t>
            </a:r>
            <a:endParaRPr lang="en-US" dirty="0"/>
          </a:p>
        </p:txBody>
      </p:sp>
      <p:sp>
        <p:nvSpPr>
          <p:cNvPr id="3" name="Content Placeholder 2"/>
          <p:cNvSpPr>
            <a:spLocks noGrp="1"/>
          </p:cNvSpPr>
          <p:nvPr>
            <p:ph idx="1"/>
          </p:nvPr>
        </p:nvSpPr>
        <p:spPr/>
        <p:txBody>
          <a:bodyPr>
            <a:normAutofit/>
          </a:bodyPr>
          <a:lstStyle/>
          <a:p>
            <a:pPr>
              <a:buNone/>
            </a:pPr>
            <a:r>
              <a:rPr lang="en-US" sz="1600" dirty="0" smtClean="0">
                <a:latin typeface="Times New Roman" pitchFamily="18" charset="0"/>
                <a:cs typeface="Times New Roman" pitchFamily="18" charset="0"/>
              </a:rPr>
              <a:t>Animates simple transformations like scale, rotation, translation, and alpha on a View.</a:t>
            </a:r>
          </a:p>
          <a:p>
            <a:pPr>
              <a:buNone/>
            </a:pPr>
            <a:r>
              <a:rPr lang="en-US" sz="1600" b="1" dirty="0" smtClean="0"/>
              <a:t>How it works:</a:t>
            </a:r>
          </a:p>
          <a:p>
            <a:pPr>
              <a:buAutoNum type="arabicPeriod"/>
            </a:pPr>
            <a:r>
              <a:rPr lang="en-US" sz="1600" b="1" dirty="0" smtClean="0"/>
              <a:t>Create an </a:t>
            </a:r>
            <a:r>
              <a:rPr lang="en-US" sz="1600" b="1" dirty="0" err="1" smtClean="0"/>
              <a:t>anim</a:t>
            </a:r>
            <a:r>
              <a:rPr lang="en-US" sz="1600" b="1" dirty="0" smtClean="0"/>
              <a:t> directory</a:t>
            </a:r>
            <a:r>
              <a:rPr lang="en-US" sz="1600" dirty="0" smtClean="0"/>
              <a:t>: Right-click on the res folder, go to New &gt; Android Resource Directory, and name it anim.</a:t>
            </a:r>
          </a:p>
          <a:p>
            <a:pPr>
              <a:buAutoNum type="arabicPeriod"/>
            </a:pPr>
            <a:r>
              <a:rPr lang="en-US" sz="1600" b="1" dirty="0" smtClean="0"/>
              <a:t>Define animation in XML</a:t>
            </a:r>
            <a:r>
              <a:rPr lang="en-US" sz="1600" dirty="0" smtClean="0"/>
              <a:t>: In the </a:t>
            </a:r>
            <a:r>
              <a:rPr lang="en-US" sz="1600" dirty="0" err="1" smtClean="0"/>
              <a:t>anim</a:t>
            </a:r>
            <a:r>
              <a:rPr lang="en-US" sz="1600" dirty="0" smtClean="0"/>
              <a:t> directory, create a new Animation Resource File. Define the animation using tags like &lt;alpha&gt;, &lt;scale&gt;, &lt;translate&gt;, and &lt;rotate&gt;.</a:t>
            </a:r>
          </a:p>
          <a:p>
            <a:pPr>
              <a:buAutoNum type="arabicPeriod"/>
            </a:pPr>
            <a:r>
              <a:rPr lang="en-US" sz="1600" b="1" dirty="0" smtClean="0"/>
              <a:t>Apply animation in Java</a:t>
            </a:r>
            <a:r>
              <a:rPr lang="en-US" sz="1600" dirty="0" smtClean="0"/>
              <a:t>: In your Activity, load the animation and apply it to a View. </a:t>
            </a:r>
            <a:r>
              <a:rPr lang="en-US" sz="1600" dirty="0" err="1" smtClean="0"/>
              <a:t>ImageView</a:t>
            </a:r>
            <a:r>
              <a:rPr lang="en-US" sz="1600" dirty="0" smtClean="0"/>
              <a:t>  </a:t>
            </a:r>
            <a:r>
              <a:rPr lang="en-US" sz="1600" dirty="0" err="1" smtClean="0"/>
              <a:t>imageview</a:t>
            </a:r>
            <a:r>
              <a:rPr lang="en-US" sz="1600" dirty="0" smtClean="0"/>
              <a:t> = (</a:t>
            </a:r>
            <a:r>
              <a:rPr lang="en-US" sz="1600" dirty="0" err="1" smtClean="0"/>
              <a:t>ImageView</a:t>
            </a:r>
            <a:r>
              <a:rPr lang="en-US" sz="1600" dirty="0" smtClean="0"/>
              <a:t>) </a:t>
            </a:r>
            <a:r>
              <a:rPr lang="en-US" sz="1600" dirty="0" err="1" smtClean="0"/>
              <a:t>findViewById</a:t>
            </a:r>
            <a:r>
              <a:rPr lang="en-US" sz="1600" dirty="0" smtClean="0"/>
              <a:t>(</a:t>
            </a:r>
            <a:r>
              <a:rPr lang="en-US" sz="1600" dirty="0" err="1" smtClean="0"/>
              <a:t>R.id.spaceshipImage</a:t>
            </a:r>
            <a:r>
              <a:rPr lang="en-US" sz="1600" dirty="0" smtClean="0"/>
              <a:t>);</a:t>
            </a:r>
          </a:p>
          <a:p>
            <a:pPr>
              <a:buNone/>
            </a:pPr>
            <a:r>
              <a:rPr lang="en-US" sz="1600" dirty="0" smtClean="0"/>
              <a:t>	Animation animate = </a:t>
            </a:r>
            <a:r>
              <a:rPr lang="en-US" sz="1600" dirty="0" err="1" smtClean="0"/>
              <a:t>AnimationUtils.loadAnimation</a:t>
            </a:r>
            <a:r>
              <a:rPr lang="en-US" sz="1600" dirty="0" smtClean="0"/>
              <a:t>(this, </a:t>
            </a:r>
            <a:r>
              <a:rPr lang="en-US" sz="1600" dirty="0" err="1" smtClean="0"/>
              <a:t>R.anim.animate_jump</a:t>
            </a:r>
            <a:r>
              <a:rPr lang="en-US" sz="1600" dirty="0" smtClean="0"/>
              <a:t>);</a:t>
            </a:r>
          </a:p>
          <a:p>
            <a:pPr>
              <a:buNone/>
            </a:pPr>
            <a:r>
              <a:rPr lang="en-US" sz="1600" dirty="0" smtClean="0"/>
              <a:t>	</a:t>
            </a:r>
            <a:r>
              <a:rPr lang="en-US" sz="1600" dirty="0" err="1" smtClean="0"/>
              <a:t>imageview.startAnimation</a:t>
            </a:r>
            <a:r>
              <a:rPr lang="en-US" sz="1600" dirty="0" smtClean="0"/>
              <a:t>(animate);</a:t>
            </a:r>
            <a:br>
              <a:rPr lang="en-US" sz="1600" dirty="0" smtClean="0"/>
            </a:br>
            <a:endParaRPr lang="en-US" sz="16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74638"/>
            <a:ext cx="8258204" cy="796908"/>
          </a:xfrm>
        </p:spPr>
        <p:txBody>
          <a:bodyPr>
            <a:normAutofit/>
          </a:bodyPr>
          <a:lstStyle/>
          <a:p>
            <a:r>
              <a:rPr lang="en-US" sz="1600" dirty="0" smtClean="0">
                <a:latin typeface="Times New Roman" pitchFamily="18" charset="0"/>
                <a:cs typeface="Times New Roman" pitchFamily="18" charset="0"/>
              </a:rPr>
              <a:t>Example 1: Simple </a:t>
            </a:r>
            <a:r>
              <a:rPr lang="en-US" sz="1600" b="1" dirty="0" smtClean="0">
                <a:latin typeface="Times New Roman" pitchFamily="18" charset="0"/>
                <a:cs typeface="Times New Roman" pitchFamily="18" charset="0"/>
              </a:rPr>
              <a:t>Fade In Animation</a:t>
            </a:r>
            <a:r>
              <a:rPr lang="en-US" sz="1600" dirty="0" smtClean="0">
                <a:latin typeface="Times New Roman" pitchFamily="18" charset="0"/>
                <a:cs typeface="Times New Roman" pitchFamily="18" charset="0"/>
              </a:rPr>
              <a:t> using Java (View Animation)</a:t>
            </a:r>
            <a:endParaRPr lang="en-US" sz="1600" dirty="0">
              <a:latin typeface="Times New Roman" pitchFamily="18" charset="0"/>
              <a:cs typeface="Times New Roman" pitchFamily="18" charset="0"/>
            </a:endParaRPr>
          </a:p>
        </p:txBody>
      </p:sp>
      <p:sp>
        <p:nvSpPr>
          <p:cNvPr id="3" name="Content Placeholder 2"/>
          <p:cNvSpPr>
            <a:spLocks noGrp="1"/>
          </p:cNvSpPr>
          <p:nvPr>
            <p:ph idx="1"/>
          </p:nvPr>
        </p:nvSpPr>
        <p:spPr>
          <a:xfrm>
            <a:off x="428596" y="1071546"/>
            <a:ext cx="8258204" cy="5054617"/>
          </a:xfrm>
        </p:spPr>
        <p:txBody>
          <a:bodyPr>
            <a:normAutofit fontScale="47500" lnSpcReduction="20000"/>
          </a:bodyPr>
          <a:lstStyle/>
          <a:p>
            <a:pPr>
              <a:buNone/>
            </a:pPr>
            <a:r>
              <a:rPr lang="en-US" b="1" dirty="0" smtClean="0"/>
              <a:t>activity_main.xml file:</a:t>
            </a:r>
          </a:p>
          <a:p>
            <a:pPr>
              <a:buNone/>
            </a:pPr>
            <a:r>
              <a:rPr lang="en-US" dirty="0" smtClean="0"/>
              <a:t>&lt;</a:t>
            </a:r>
            <a:r>
              <a:rPr lang="en-US" dirty="0" err="1" smtClean="0"/>
              <a:t>LinearLayout</a:t>
            </a:r>
            <a:r>
              <a:rPr lang="en-US" dirty="0" smtClean="0"/>
              <a:t> </a:t>
            </a:r>
            <a:r>
              <a:rPr lang="en-US" dirty="0" err="1" smtClean="0"/>
              <a:t>xmlns:android</a:t>
            </a:r>
            <a:r>
              <a:rPr lang="en-US" dirty="0" smtClean="0"/>
              <a:t>="http://schemas.android.com/apk/res/android"</a:t>
            </a:r>
          </a:p>
          <a:p>
            <a:pPr>
              <a:buNone/>
            </a:pPr>
            <a:r>
              <a:rPr lang="en-US" dirty="0" smtClean="0"/>
              <a:t>    </a:t>
            </a:r>
            <a:r>
              <a:rPr lang="en-US" dirty="0" err="1" smtClean="0"/>
              <a:t>android:layout_width</a:t>
            </a:r>
            <a:r>
              <a:rPr lang="en-US" dirty="0" smtClean="0"/>
              <a:t>="</a:t>
            </a:r>
            <a:r>
              <a:rPr lang="en-US" dirty="0" err="1" smtClean="0"/>
              <a:t>match_parent</a:t>
            </a:r>
            <a:r>
              <a:rPr lang="en-US" dirty="0" smtClean="0"/>
              <a:t>"</a:t>
            </a:r>
          </a:p>
          <a:p>
            <a:pPr>
              <a:buNone/>
            </a:pPr>
            <a:r>
              <a:rPr lang="en-US" dirty="0" smtClean="0"/>
              <a:t>    </a:t>
            </a:r>
            <a:r>
              <a:rPr lang="en-US" dirty="0" err="1" smtClean="0"/>
              <a:t>android:layout_height</a:t>
            </a:r>
            <a:r>
              <a:rPr lang="en-US" dirty="0" smtClean="0"/>
              <a:t>="</a:t>
            </a:r>
            <a:r>
              <a:rPr lang="en-US" dirty="0" err="1" smtClean="0"/>
              <a:t>match_parent</a:t>
            </a:r>
            <a:r>
              <a:rPr lang="en-US" dirty="0" smtClean="0"/>
              <a:t>"</a:t>
            </a:r>
          </a:p>
          <a:p>
            <a:pPr>
              <a:buNone/>
            </a:pPr>
            <a:r>
              <a:rPr lang="en-US" dirty="0" smtClean="0"/>
              <a:t>    </a:t>
            </a:r>
            <a:r>
              <a:rPr lang="en-US" dirty="0" err="1" smtClean="0"/>
              <a:t>android:orientation</a:t>
            </a:r>
            <a:r>
              <a:rPr lang="en-US" dirty="0" smtClean="0"/>
              <a:t>="vertical"</a:t>
            </a:r>
          </a:p>
          <a:p>
            <a:pPr>
              <a:buNone/>
            </a:pPr>
            <a:r>
              <a:rPr lang="en-US" dirty="0" smtClean="0"/>
              <a:t>    </a:t>
            </a:r>
            <a:r>
              <a:rPr lang="en-US" dirty="0" err="1" smtClean="0"/>
              <a:t>android:gravity</a:t>
            </a:r>
            <a:r>
              <a:rPr lang="en-US" dirty="0" smtClean="0"/>
              <a:t>="center"</a:t>
            </a:r>
          </a:p>
          <a:p>
            <a:pPr>
              <a:buNone/>
            </a:pPr>
            <a:r>
              <a:rPr lang="en-US" dirty="0" smtClean="0"/>
              <a:t>    </a:t>
            </a:r>
            <a:r>
              <a:rPr lang="en-US" dirty="0" err="1" smtClean="0"/>
              <a:t>android:background</a:t>
            </a:r>
            <a:r>
              <a:rPr lang="en-US" dirty="0" smtClean="0"/>
              <a:t>="#FFFFFF"&gt;</a:t>
            </a:r>
          </a:p>
          <a:p>
            <a:pPr>
              <a:buNone/>
            </a:pPr>
            <a:endParaRPr lang="en-US" dirty="0" smtClean="0"/>
          </a:p>
          <a:p>
            <a:pPr>
              <a:buNone/>
            </a:pPr>
            <a:r>
              <a:rPr lang="en-US" dirty="0" smtClean="0"/>
              <a:t>    &lt;</a:t>
            </a:r>
            <a:r>
              <a:rPr lang="en-US" dirty="0" err="1" smtClean="0"/>
              <a:t>ImageView</a:t>
            </a:r>
            <a:endParaRPr lang="en-US" dirty="0" smtClean="0"/>
          </a:p>
          <a:p>
            <a:pPr>
              <a:buNone/>
            </a:pPr>
            <a:r>
              <a:rPr lang="en-US" dirty="0" smtClean="0"/>
              <a:t>        </a:t>
            </a:r>
            <a:r>
              <a:rPr lang="en-US" dirty="0" err="1" smtClean="0"/>
              <a:t>android:id</a:t>
            </a:r>
            <a:r>
              <a:rPr lang="en-US" dirty="0" smtClean="0"/>
              <a:t>="@+id/</a:t>
            </a:r>
            <a:r>
              <a:rPr lang="en-US" dirty="0" err="1" smtClean="0"/>
              <a:t>imageView</a:t>
            </a:r>
            <a:r>
              <a:rPr lang="en-US" dirty="0" smtClean="0"/>
              <a:t>"</a:t>
            </a:r>
          </a:p>
          <a:p>
            <a:pPr>
              <a:buNone/>
            </a:pPr>
            <a:r>
              <a:rPr lang="en-US" dirty="0" smtClean="0"/>
              <a:t>        </a:t>
            </a:r>
            <a:r>
              <a:rPr lang="en-US" dirty="0" err="1" smtClean="0"/>
              <a:t>android:src</a:t>
            </a:r>
            <a:r>
              <a:rPr lang="en-US" dirty="0" smtClean="0"/>
              <a:t>="@</a:t>
            </a:r>
            <a:r>
              <a:rPr lang="en-US" dirty="0" err="1" smtClean="0"/>
              <a:t>drawable</a:t>
            </a:r>
            <a:r>
              <a:rPr lang="en-US" dirty="0" smtClean="0"/>
              <a:t>/</a:t>
            </a:r>
            <a:r>
              <a:rPr lang="en-US" dirty="0" err="1" smtClean="0"/>
              <a:t>ic_launcher_foreground</a:t>
            </a:r>
            <a:r>
              <a:rPr lang="en-US" dirty="0" smtClean="0"/>
              <a:t>"</a:t>
            </a:r>
          </a:p>
          <a:p>
            <a:pPr>
              <a:buNone/>
            </a:pPr>
            <a:r>
              <a:rPr lang="en-US" dirty="0" smtClean="0"/>
              <a:t>        </a:t>
            </a:r>
            <a:r>
              <a:rPr lang="en-US" dirty="0" err="1" smtClean="0"/>
              <a:t>android:layout_width</a:t>
            </a:r>
            <a:r>
              <a:rPr lang="en-US" dirty="0" smtClean="0"/>
              <a:t>="200dp"</a:t>
            </a:r>
          </a:p>
          <a:p>
            <a:pPr>
              <a:buNone/>
            </a:pPr>
            <a:r>
              <a:rPr lang="en-US" dirty="0" smtClean="0"/>
              <a:t>        </a:t>
            </a:r>
            <a:r>
              <a:rPr lang="en-US" dirty="0" err="1" smtClean="0"/>
              <a:t>android:layout_height</a:t>
            </a:r>
            <a:r>
              <a:rPr lang="en-US" dirty="0" smtClean="0"/>
              <a:t>="200dp" /&gt;</a:t>
            </a:r>
          </a:p>
          <a:p>
            <a:pPr>
              <a:buNone/>
            </a:pPr>
            <a:endParaRPr lang="en-US" dirty="0" smtClean="0"/>
          </a:p>
          <a:p>
            <a:pPr>
              <a:buNone/>
            </a:pPr>
            <a:r>
              <a:rPr lang="en-US" dirty="0" smtClean="0"/>
              <a:t>    &lt;Button</a:t>
            </a:r>
          </a:p>
          <a:p>
            <a:pPr>
              <a:buNone/>
            </a:pPr>
            <a:r>
              <a:rPr lang="en-US" dirty="0" smtClean="0"/>
              <a:t>        </a:t>
            </a:r>
            <a:r>
              <a:rPr lang="en-US" dirty="0" err="1" smtClean="0"/>
              <a:t>android:id</a:t>
            </a:r>
            <a:r>
              <a:rPr lang="en-US" dirty="0" smtClean="0"/>
              <a:t>="@+id/</a:t>
            </a:r>
            <a:r>
              <a:rPr lang="en-US" dirty="0" err="1" smtClean="0"/>
              <a:t>btnAnimate</a:t>
            </a:r>
            <a:r>
              <a:rPr lang="en-US" dirty="0" smtClean="0"/>
              <a:t>"</a:t>
            </a:r>
          </a:p>
          <a:p>
            <a:pPr>
              <a:buNone/>
            </a:pPr>
            <a:r>
              <a:rPr lang="en-US" dirty="0" smtClean="0"/>
              <a:t>        </a:t>
            </a:r>
            <a:r>
              <a:rPr lang="en-US" dirty="0" err="1" smtClean="0"/>
              <a:t>android:layout_width</a:t>
            </a:r>
            <a:r>
              <a:rPr lang="en-US" dirty="0" smtClean="0"/>
              <a:t>="</a:t>
            </a:r>
            <a:r>
              <a:rPr lang="en-US" dirty="0" err="1" smtClean="0"/>
              <a:t>wrap_content</a:t>
            </a:r>
            <a:r>
              <a:rPr lang="en-US" dirty="0" smtClean="0"/>
              <a:t>"</a:t>
            </a:r>
          </a:p>
          <a:p>
            <a:pPr>
              <a:buNone/>
            </a:pPr>
            <a:r>
              <a:rPr lang="en-US" dirty="0" smtClean="0"/>
              <a:t>        </a:t>
            </a:r>
            <a:r>
              <a:rPr lang="en-US" dirty="0" err="1" smtClean="0"/>
              <a:t>android:layout_height</a:t>
            </a:r>
            <a:r>
              <a:rPr lang="en-US" dirty="0" smtClean="0"/>
              <a:t>="</a:t>
            </a:r>
            <a:r>
              <a:rPr lang="en-US" dirty="0" err="1" smtClean="0"/>
              <a:t>wrap_content</a:t>
            </a:r>
            <a:r>
              <a:rPr lang="en-US" dirty="0" smtClean="0"/>
              <a:t>"</a:t>
            </a:r>
          </a:p>
          <a:p>
            <a:pPr>
              <a:buNone/>
            </a:pPr>
            <a:r>
              <a:rPr lang="en-US" dirty="0" smtClean="0"/>
              <a:t>        </a:t>
            </a:r>
            <a:r>
              <a:rPr lang="en-US" dirty="0" err="1" smtClean="0"/>
              <a:t>android:text</a:t>
            </a:r>
            <a:r>
              <a:rPr lang="en-US" dirty="0" smtClean="0"/>
              <a:t>="Start Animation"</a:t>
            </a:r>
          </a:p>
          <a:p>
            <a:pPr>
              <a:buNone/>
            </a:pPr>
            <a:r>
              <a:rPr lang="en-US" dirty="0" smtClean="0"/>
              <a:t>        </a:t>
            </a:r>
            <a:r>
              <a:rPr lang="en-US" dirty="0" err="1" smtClean="0"/>
              <a:t>android:layout_marginTop</a:t>
            </a:r>
            <a:r>
              <a:rPr lang="en-US" dirty="0" smtClean="0"/>
              <a:t>="20dp"/&gt;</a:t>
            </a:r>
          </a:p>
          <a:p>
            <a:pPr>
              <a:buNone/>
            </a:pPr>
            <a:r>
              <a:rPr lang="en-US" dirty="0" smtClean="0"/>
              <a:t>&lt;/</a:t>
            </a:r>
            <a:r>
              <a:rPr lang="en-US" dirty="0" err="1" smtClean="0"/>
              <a:t>LinearLayout</a:t>
            </a:r>
            <a:r>
              <a:rPr lang="en-US" dirty="0" smtClean="0"/>
              <a:t>&gt;</a:t>
            </a:r>
          </a:p>
          <a:p>
            <a:pPr>
              <a:buNone/>
            </a:pPr>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Continue….</a:t>
            </a:r>
            <a:endParaRPr lang="en-US" dirty="0"/>
          </a:p>
        </p:txBody>
      </p:sp>
      <p:sp>
        <p:nvSpPr>
          <p:cNvPr id="3" name="Content Placeholder 2"/>
          <p:cNvSpPr>
            <a:spLocks noGrp="1"/>
          </p:cNvSpPr>
          <p:nvPr>
            <p:ph idx="1"/>
          </p:nvPr>
        </p:nvSpPr>
        <p:spPr>
          <a:xfrm>
            <a:off x="142844" y="1571612"/>
            <a:ext cx="3429024" cy="5072098"/>
          </a:xfrm>
        </p:spPr>
        <p:txBody>
          <a:bodyPr>
            <a:normAutofit fontScale="32500" lnSpcReduction="20000"/>
          </a:bodyPr>
          <a:lstStyle/>
          <a:p>
            <a:pPr>
              <a:buNone/>
            </a:pPr>
            <a:r>
              <a:rPr lang="en-US" b="1" dirty="0" smtClean="0"/>
              <a:t>MainActivity.java File</a:t>
            </a:r>
          </a:p>
          <a:p>
            <a:pPr>
              <a:buNone/>
            </a:pPr>
            <a:endParaRPr lang="en-US" dirty="0" smtClean="0"/>
          </a:p>
          <a:p>
            <a:pPr>
              <a:lnSpc>
                <a:spcPct val="170000"/>
              </a:lnSpc>
              <a:buNone/>
            </a:pPr>
            <a:r>
              <a:rPr lang="en-US" b="1" dirty="0" smtClean="0"/>
              <a:t> package </a:t>
            </a:r>
            <a:r>
              <a:rPr lang="en-US" b="1" dirty="0" err="1" smtClean="0"/>
              <a:t>com.example.animationdemo</a:t>
            </a:r>
            <a:r>
              <a:rPr lang="en-US" b="1" dirty="0" smtClean="0"/>
              <a:t>;</a:t>
            </a:r>
          </a:p>
          <a:p>
            <a:pPr>
              <a:lnSpc>
                <a:spcPct val="170000"/>
              </a:lnSpc>
              <a:buNone/>
            </a:pPr>
            <a:endParaRPr lang="en-US" b="1" dirty="0" smtClean="0"/>
          </a:p>
          <a:p>
            <a:pPr>
              <a:lnSpc>
                <a:spcPct val="170000"/>
              </a:lnSpc>
              <a:buNone/>
            </a:pPr>
            <a:r>
              <a:rPr lang="en-US" b="1" dirty="0" smtClean="0"/>
              <a:t>import </a:t>
            </a:r>
            <a:r>
              <a:rPr lang="en-US" b="1" dirty="0" err="1" smtClean="0"/>
              <a:t>android.os.Bundle</a:t>
            </a:r>
            <a:r>
              <a:rPr lang="en-US" b="1" dirty="0" smtClean="0"/>
              <a:t>;</a:t>
            </a:r>
          </a:p>
          <a:p>
            <a:pPr>
              <a:lnSpc>
                <a:spcPct val="170000"/>
              </a:lnSpc>
              <a:buNone/>
            </a:pPr>
            <a:r>
              <a:rPr lang="en-US" b="1" dirty="0" smtClean="0"/>
              <a:t>import </a:t>
            </a:r>
            <a:r>
              <a:rPr lang="en-US" b="1" dirty="0" err="1" smtClean="0"/>
              <a:t>android.view.View</a:t>
            </a:r>
            <a:r>
              <a:rPr lang="en-US" b="1" dirty="0" smtClean="0"/>
              <a:t>;</a:t>
            </a:r>
          </a:p>
          <a:p>
            <a:pPr>
              <a:lnSpc>
                <a:spcPct val="170000"/>
              </a:lnSpc>
              <a:buNone/>
            </a:pPr>
            <a:r>
              <a:rPr lang="en-US" b="1" dirty="0" smtClean="0"/>
              <a:t>import </a:t>
            </a:r>
            <a:r>
              <a:rPr lang="en-US" b="1" dirty="0" err="1" smtClean="0"/>
              <a:t>android.view.animation.AlphaAnimation</a:t>
            </a:r>
            <a:r>
              <a:rPr lang="en-US" b="1" dirty="0" smtClean="0"/>
              <a:t>;</a:t>
            </a:r>
          </a:p>
          <a:p>
            <a:pPr>
              <a:lnSpc>
                <a:spcPct val="170000"/>
              </a:lnSpc>
              <a:buNone/>
            </a:pPr>
            <a:r>
              <a:rPr lang="en-US" b="1" dirty="0" smtClean="0"/>
              <a:t>import </a:t>
            </a:r>
            <a:r>
              <a:rPr lang="en-US" b="1" dirty="0" err="1" smtClean="0"/>
              <a:t>android.view.animation.Animation</a:t>
            </a:r>
            <a:r>
              <a:rPr lang="en-US" b="1" dirty="0" smtClean="0"/>
              <a:t>;</a:t>
            </a:r>
          </a:p>
          <a:p>
            <a:pPr>
              <a:lnSpc>
                <a:spcPct val="170000"/>
              </a:lnSpc>
              <a:buNone/>
            </a:pPr>
            <a:r>
              <a:rPr lang="en-US" b="1" dirty="0" smtClean="0"/>
              <a:t>import </a:t>
            </a:r>
            <a:r>
              <a:rPr lang="en-US" b="1" dirty="0" err="1" smtClean="0"/>
              <a:t>android.widget.Button</a:t>
            </a:r>
            <a:r>
              <a:rPr lang="en-US" b="1" dirty="0" smtClean="0"/>
              <a:t>;</a:t>
            </a:r>
          </a:p>
          <a:p>
            <a:pPr>
              <a:lnSpc>
                <a:spcPct val="170000"/>
              </a:lnSpc>
              <a:buNone/>
            </a:pPr>
            <a:r>
              <a:rPr lang="en-US" b="1" dirty="0" smtClean="0"/>
              <a:t>import </a:t>
            </a:r>
            <a:r>
              <a:rPr lang="en-US" b="1" dirty="0" err="1" smtClean="0"/>
              <a:t>android.widget.ImageView</a:t>
            </a:r>
            <a:r>
              <a:rPr lang="en-US" b="1" dirty="0" smtClean="0"/>
              <a:t>;</a:t>
            </a:r>
          </a:p>
          <a:p>
            <a:pPr>
              <a:lnSpc>
                <a:spcPct val="170000"/>
              </a:lnSpc>
              <a:buNone/>
            </a:pPr>
            <a:endParaRPr lang="en-US" b="1" dirty="0" smtClean="0"/>
          </a:p>
          <a:p>
            <a:pPr>
              <a:lnSpc>
                <a:spcPct val="170000"/>
              </a:lnSpc>
              <a:buNone/>
            </a:pPr>
            <a:r>
              <a:rPr lang="en-US" b="1" dirty="0" smtClean="0"/>
              <a:t>import </a:t>
            </a:r>
            <a:r>
              <a:rPr lang="en-US" b="1" dirty="0" err="1" smtClean="0"/>
              <a:t>androidx.appcompat.app.AppCompatActivity</a:t>
            </a:r>
            <a:r>
              <a:rPr lang="en-US" b="1" dirty="0" smtClean="0"/>
              <a:t>;</a:t>
            </a:r>
          </a:p>
          <a:p>
            <a:pPr>
              <a:lnSpc>
                <a:spcPct val="170000"/>
              </a:lnSpc>
              <a:buNone/>
            </a:pPr>
            <a:endParaRPr lang="en-US" b="1" dirty="0" smtClean="0"/>
          </a:p>
          <a:p>
            <a:pPr>
              <a:lnSpc>
                <a:spcPct val="170000"/>
              </a:lnSpc>
              <a:buNone/>
            </a:pPr>
            <a:r>
              <a:rPr lang="en-US" b="1" dirty="0" smtClean="0"/>
              <a:t>public class </a:t>
            </a:r>
            <a:r>
              <a:rPr lang="en-US" b="1" dirty="0" err="1" smtClean="0"/>
              <a:t>MainActivity</a:t>
            </a:r>
            <a:r>
              <a:rPr lang="en-US" b="1" dirty="0" smtClean="0"/>
              <a:t> extends </a:t>
            </a:r>
            <a:r>
              <a:rPr lang="en-US" b="1" dirty="0" err="1" smtClean="0"/>
              <a:t>AppCompatActivity</a:t>
            </a:r>
            <a:r>
              <a:rPr lang="en-US" b="1" dirty="0" smtClean="0"/>
              <a:t> {</a:t>
            </a:r>
          </a:p>
          <a:p>
            <a:pPr>
              <a:lnSpc>
                <a:spcPct val="170000"/>
              </a:lnSpc>
              <a:buNone/>
            </a:pPr>
            <a:endParaRPr lang="en-US" b="1" dirty="0" smtClean="0"/>
          </a:p>
          <a:p>
            <a:pPr>
              <a:lnSpc>
                <a:spcPct val="170000"/>
              </a:lnSpc>
              <a:buNone/>
            </a:pPr>
            <a:r>
              <a:rPr lang="en-US" b="1" dirty="0" smtClean="0"/>
              <a:t>    private </a:t>
            </a:r>
            <a:r>
              <a:rPr lang="en-US" b="1" dirty="0" err="1" smtClean="0"/>
              <a:t>ImageView</a:t>
            </a:r>
            <a:r>
              <a:rPr lang="en-US" b="1" dirty="0" smtClean="0"/>
              <a:t> </a:t>
            </a:r>
            <a:r>
              <a:rPr lang="en-US" b="1" dirty="0" err="1" smtClean="0"/>
              <a:t>imageView</a:t>
            </a:r>
            <a:r>
              <a:rPr lang="en-US" b="1" dirty="0" smtClean="0"/>
              <a:t>;</a:t>
            </a:r>
          </a:p>
          <a:p>
            <a:pPr>
              <a:lnSpc>
                <a:spcPct val="170000"/>
              </a:lnSpc>
              <a:buNone/>
            </a:pPr>
            <a:r>
              <a:rPr lang="en-US" b="1" dirty="0" smtClean="0"/>
              <a:t>    private Button </a:t>
            </a:r>
            <a:r>
              <a:rPr lang="en-US" b="1" dirty="0" err="1" smtClean="0"/>
              <a:t>btnAnimate</a:t>
            </a:r>
            <a:r>
              <a:rPr lang="en-US" b="1" dirty="0" smtClean="0"/>
              <a:t>;</a:t>
            </a:r>
          </a:p>
          <a:p>
            <a:pPr>
              <a:lnSpc>
                <a:spcPct val="170000"/>
              </a:lnSpc>
              <a:buNone/>
            </a:pPr>
            <a:endParaRPr lang="en-US" b="1" dirty="0" smtClean="0"/>
          </a:p>
          <a:p>
            <a:pPr>
              <a:lnSpc>
                <a:spcPct val="170000"/>
              </a:lnSpc>
              <a:buNone/>
            </a:pPr>
            <a:r>
              <a:rPr lang="en-US" b="1" dirty="0" smtClean="0"/>
              <a:t>    </a:t>
            </a:r>
            <a:endParaRPr lang="en-US" b="1" dirty="0"/>
          </a:p>
        </p:txBody>
      </p:sp>
      <p:sp>
        <p:nvSpPr>
          <p:cNvPr id="4" name="Rectangle 3"/>
          <p:cNvSpPr/>
          <p:nvPr/>
        </p:nvSpPr>
        <p:spPr>
          <a:xfrm>
            <a:off x="4143372" y="1285860"/>
            <a:ext cx="4572000" cy="5521127"/>
          </a:xfrm>
          <a:prstGeom prst="rect">
            <a:avLst/>
          </a:prstGeom>
        </p:spPr>
        <p:txBody>
          <a:bodyPr>
            <a:spAutoFit/>
          </a:bodyPr>
          <a:lstStyle/>
          <a:p>
            <a:pPr>
              <a:lnSpc>
                <a:spcPct val="170000"/>
              </a:lnSpc>
              <a:buNone/>
            </a:pPr>
            <a:r>
              <a:rPr lang="en-US" sz="1100" b="1" dirty="0" smtClean="0">
                <a:latin typeface="Times New Roman" pitchFamily="18" charset="0"/>
                <a:cs typeface="Times New Roman" pitchFamily="18" charset="0"/>
              </a:rPr>
              <a:t>@Override</a:t>
            </a:r>
          </a:p>
          <a:p>
            <a:pPr>
              <a:lnSpc>
                <a:spcPct val="170000"/>
              </a:lnSpc>
              <a:buNone/>
            </a:pPr>
            <a:r>
              <a:rPr lang="en-US" sz="1100" b="1" dirty="0" smtClean="0">
                <a:latin typeface="Times New Roman" pitchFamily="18" charset="0"/>
                <a:cs typeface="Times New Roman" pitchFamily="18" charset="0"/>
              </a:rPr>
              <a:t>    protected void </a:t>
            </a:r>
            <a:r>
              <a:rPr lang="en-US" sz="1100" b="1" dirty="0" err="1" smtClean="0">
                <a:latin typeface="Times New Roman" pitchFamily="18" charset="0"/>
                <a:cs typeface="Times New Roman" pitchFamily="18" charset="0"/>
              </a:rPr>
              <a:t>onCreate</a:t>
            </a:r>
            <a:r>
              <a:rPr lang="en-US" sz="1100" b="1" dirty="0" smtClean="0">
                <a:latin typeface="Times New Roman" pitchFamily="18" charset="0"/>
                <a:cs typeface="Times New Roman" pitchFamily="18" charset="0"/>
              </a:rPr>
              <a:t>(Bundle </a:t>
            </a:r>
            <a:r>
              <a:rPr lang="en-US" sz="1100" b="1" dirty="0" err="1" smtClean="0">
                <a:latin typeface="Times New Roman" pitchFamily="18" charset="0"/>
                <a:cs typeface="Times New Roman" pitchFamily="18" charset="0"/>
              </a:rPr>
              <a:t>savedInstanceState</a:t>
            </a:r>
            <a:r>
              <a:rPr lang="en-US" sz="1100" b="1" dirty="0" smtClean="0">
                <a:latin typeface="Times New Roman" pitchFamily="18" charset="0"/>
                <a:cs typeface="Times New Roman" pitchFamily="18" charset="0"/>
              </a:rPr>
              <a:t>) {</a:t>
            </a:r>
          </a:p>
          <a:p>
            <a:pPr>
              <a:lnSpc>
                <a:spcPct val="170000"/>
              </a:lnSpc>
              <a:buNone/>
            </a:pPr>
            <a:r>
              <a:rPr lang="en-US" sz="1100" b="1" dirty="0" smtClean="0">
                <a:latin typeface="Times New Roman" pitchFamily="18" charset="0"/>
                <a:cs typeface="Times New Roman" pitchFamily="18" charset="0"/>
              </a:rPr>
              <a:t>        </a:t>
            </a:r>
            <a:r>
              <a:rPr lang="en-US" sz="1100" b="1" dirty="0" err="1" smtClean="0">
                <a:latin typeface="Times New Roman" pitchFamily="18" charset="0"/>
                <a:cs typeface="Times New Roman" pitchFamily="18" charset="0"/>
              </a:rPr>
              <a:t>super.onCreate</a:t>
            </a:r>
            <a:r>
              <a:rPr lang="en-US" sz="1100" b="1" dirty="0" smtClean="0">
                <a:latin typeface="Times New Roman" pitchFamily="18" charset="0"/>
                <a:cs typeface="Times New Roman" pitchFamily="18" charset="0"/>
              </a:rPr>
              <a:t>(</a:t>
            </a:r>
            <a:r>
              <a:rPr lang="en-US" sz="1100" b="1" dirty="0" err="1" smtClean="0">
                <a:latin typeface="Times New Roman" pitchFamily="18" charset="0"/>
                <a:cs typeface="Times New Roman" pitchFamily="18" charset="0"/>
              </a:rPr>
              <a:t>savedInstanceState</a:t>
            </a:r>
            <a:r>
              <a:rPr lang="en-US" sz="1100" b="1" dirty="0" smtClean="0">
                <a:latin typeface="Times New Roman" pitchFamily="18" charset="0"/>
                <a:cs typeface="Times New Roman" pitchFamily="18" charset="0"/>
              </a:rPr>
              <a:t>);</a:t>
            </a:r>
          </a:p>
          <a:p>
            <a:pPr>
              <a:lnSpc>
                <a:spcPct val="170000"/>
              </a:lnSpc>
              <a:buNone/>
            </a:pPr>
            <a:r>
              <a:rPr lang="en-US" sz="1100" b="1" dirty="0" smtClean="0">
                <a:latin typeface="Times New Roman" pitchFamily="18" charset="0"/>
                <a:cs typeface="Times New Roman" pitchFamily="18" charset="0"/>
              </a:rPr>
              <a:t>        </a:t>
            </a:r>
            <a:r>
              <a:rPr lang="en-US" sz="1100" b="1" dirty="0" err="1" smtClean="0">
                <a:latin typeface="Times New Roman" pitchFamily="18" charset="0"/>
                <a:cs typeface="Times New Roman" pitchFamily="18" charset="0"/>
              </a:rPr>
              <a:t>setContentView</a:t>
            </a:r>
            <a:r>
              <a:rPr lang="en-US" sz="1100" b="1" dirty="0" smtClean="0">
                <a:latin typeface="Times New Roman" pitchFamily="18" charset="0"/>
                <a:cs typeface="Times New Roman" pitchFamily="18" charset="0"/>
              </a:rPr>
              <a:t>(</a:t>
            </a:r>
            <a:r>
              <a:rPr lang="en-US" sz="1100" b="1" dirty="0" err="1" smtClean="0">
                <a:latin typeface="Times New Roman" pitchFamily="18" charset="0"/>
                <a:cs typeface="Times New Roman" pitchFamily="18" charset="0"/>
              </a:rPr>
              <a:t>R.layout.activity_main</a:t>
            </a:r>
            <a:r>
              <a:rPr lang="en-US" sz="1100" b="1" dirty="0" smtClean="0">
                <a:latin typeface="Times New Roman" pitchFamily="18" charset="0"/>
                <a:cs typeface="Times New Roman" pitchFamily="18" charset="0"/>
              </a:rPr>
              <a:t>);</a:t>
            </a:r>
          </a:p>
          <a:p>
            <a:pPr>
              <a:lnSpc>
                <a:spcPct val="170000"/>
              </a:lnSpc>
              <a:buNone/>
            </a:pPr>
            <a:endParaRPr lang="en-US" sz="1100" b="1" dirty="0" smtClean="0">
              <a:latin typeface="Times New Roman" pitchFamily="18" charset="0"/>
              <a:cs typeface="Times New Roman" pitchFamily="18" charset="0"/>
            </a:endParaRPr>
          </a:p>
          <a:p>
            <a:pPr>
              <a:lnSpc>
                <a:spcPct val="170000"/>
              </a:lnSpc>
              <a:buNone/>
            </a:pPr>
            <a:r>
              <a:rPr lang="en-US" sz="1100" b="1" dirty="0" smtClean="0">
                <a:latin typeface="Times New Roman" pitchFamily="18" charset="0"/>
                <a:cs typeface="Times New Roman" pitchFamily="18" charset="0"/>
              </a:rPr>
              <a:t>        </a:t>
            </a:r>
            <a:r>
              <a:rPr lang="en-US" sz="1100" b="1" dirty="0" err="1" smtClean="0">
                <a:latin typeface="Times New Roman" pitchFamily="18" charset="0"/>
                <a:cs typeface="Times New Roman" pitchFamily="18" charset="0"/>
              </a:rPr>
              <a:t>imageView</a:t>
            </a:r>
            <a:r>
              <a:rPr lang="en-US" sz="1100" b="1" dirty="0" smtClean="0">
                <a:latin typeface="Times New Roman" pitchFamily="18" charset="0"/>
                <a:cs typeface="Times New Roman" pitchFamily="18" charset="0"/>
              </a:rPr>
              <a:t> = </a:t>
            </a:r>
            <a:r>
              <a:rPr lang="en-US" sz="1100" b="1" dirty="0" err="1" smtClean="0">
                <a:latin typeface="Times New Roman" pitchFamily="18" charset="0"/>
                <a:cs typeface="Times New Roman" pitchFamily="18" charset="0"/>
              </a:rPr>
              <a:t>findViewById</a:t>
            </a:r>
            <a:r>
              <a:rPr lang="en-US" sz="1100" b="1" dirty="0" smtClean="0">
                <a:latin typeface="Times New Roman" pitchFamily="18" charset="0"/>
                <a:cs typeface="Times New Roman" pitchFamily="18" charset="0"/>
              </a:rPr>
              <a:t>(</a:t>
            </a:r>
            <a:r>
              <a:rPr lang="en-US" sz="1100" b="1" dirty="0" err="1" smtClean="0">
                <a:latin typeface="Times New Roman" pitchFamily="18" charset="0"/>
                <a:cs typeface="Times New Roman" pitchFamily="18" charset="0"/>
              </a:rPr>
              <a:t>R.id.imageView</a:t>
            </a:r>
            <a:r>
              <a:rPr lang="en-US" sz="1100" b="1" dirty="0" smtClean="0">
                <a:latin typeface="Times New Roman" pitchFamily="18" charset="0"/>
                <a:cs typeface="Times New Roman" pitchFamily="18" charset="0"/>
              </a:rPr>
              <a:t>);</a:t>
            </a:r>
          </a:p>
          <a:p>
            <a:pPr>
              <a:lnSpc>
                <a:spcPct val="170000"/>
              </a:lnSpc>
              <a:buNone/>
            </a:pPr>
            <a:r>
              <a:rPr lang="en-US" sz="1100" b="1" dirty="0" smtClean="0">
                <a:latin typeface="Times New Roman" pitchFamily="18" charset="0"/>
                <a:cs typeface="Times New Roman" pitchFamily="18" charset="0"/>
              </a:rPr>
              <a:t>        </a:t>
            </a:r>
            <a:r>
              <a:rPr lang="en-US" sz="1100" b="1" dirty="0" err="1" smtClean="0">
                <a:latin typeface="Times New Roman" pitchFamily="18" charset="0"/>
                <a:cs typeface="Times New Roman" pitchFamily="18" charset="0"/>
              </a:rPr>
              <a:t>btnAnimate</a:t>
            </a:r>
            <a:r>
              <a:rPr lang="en-US" sz="1100" b="1" dirty="0" smtClean="0">
                <a:latin typeface="Times New Roman" pitchFamily="18" charset="0"/>
                <a:cs typeface="Times New Roman" pitchFamily="18" charset="0"/>
              </a:rPr>
              <a:t> = </a:t>
            </a:r>
            <a:r>
              <a:rPr lang="en-US" sz="1100" b="1" dirty="0" err="1" smtClean="0">
                <a:latin typeface="Times New Roman" pitchFamily="18" charset="0"/>
                <a:cs typeface="Times New Roman" pitchFamily="18" charset="0"/>
              </a:rPr>
              <a:t>findViewById</a:t>
            </a:r>
            <a:r>
              <a:rPr lang="en-US" sz="1100" b="1" dirty="0" smtClean="0">
                <a:latin typeface="Times New Roman" pitchFamily="18" charset="0"/>
                <a:cs typeface="Times New Roman" pitchFamily="18" charset="0"/>
              </a:rPr>
              <a:t>(</a:t>
            </a:r>
            <a:r>
              <a:rPr lang="en-US" sz="1100" b="1" dirty="0" err="1" smtClean="0">
                <a:latin typeface="Times New Roman" pitchFamily="18" charset="0"/>
                <a:cs typeface="Times New Roman" pitchFamily="18" charset="0"/>
              </a:rPr>
              <a:t>R.id.btnAnimate</a:t>
            </a:r>
            <a:r>
              <a:rPr lang="en-US" sz="1100" b="1" dirty="0" smtClean="0">
                <a:latin typeface="Times New Roman" pitchFamily="18" charset="0"/>
                <a:cs typeface="Times New Roman" pitchFamily="18" charset="0"/>
              </a:rPr>
              <a:t>);</a:t>
            </a:r>
          </a:p>
          <a:p>
            <a:pPr>
              <a:lnSpc>
                <a:spcPct val="170000"/>
              </a:lnSpc>
              <a:buNone/>
            </a:pPr>
            <a:endParaRPr lang="en-US" sz="1100" b="1" dirty="0" smtClean="0">
              <a:latin typeface="Times New Roman" pitchFamily="18" charset="0"/>
              <a:cs typeface="Times New Roman" pitchFamily="18" charset="0"/>
            </a:endParaRPr>
          </a:p>
          <a:p>
            <a:pPr>
              <a:lnSpc>
                <a:spcPct val="170000"/>
              </a:lnSpc>
              <a:buNone/>
            </a:pPr>
            <a:r>
              <a:rPr lang="en-US" sz="1100" b="1" dirty="0" smtClean="0">
                <a:latin typeface="Times New Roman" pitchFamily="18" charset="0"/>
                <a:cs typeface="Times New Roman" pitchFamily="18" charset="0"/>
              </a:rPr>
              <a:t>        </a:t>
            </a:r>
            <a:r>
              <a:rPr lang="en-US" sz="1100" b="1" dirty="0" err="1" smtClean="0">
                <a:latin typeface="Times New Roman" pitchFamily="18" charset="0"/>
                <a:cs typeface="Times New Roman" pitchFamily="18" charset="0"/>
              </a:rPr>
              <a:t>btnAnimate.setOnClickListener</a:t>
            </a:r>
            <a:r>
              <a:rPr lang="en-US" sz="1100" b="1" dirty="0" smtClean="0">
                <a:latin typeface="Times New Roman" pitchFamily="18" charset="0"/>
                <a:cs typeface="Times New Roman" pitchFamily="18" charset="0"/>
              </a:rPr>
              <a:t>(new </a:t>
            </a:r>
            <a:r>
              <a:rPr lang="en-US" sz="1100" b="1" dirty="0" err="1" smtClean="0">
                <a:latin typeface="Times New Roman" pitchFamily="18" charset="0"/>
                <a:cs typeface="Times New Roman" pitchFamily="18" charset="0"/>
              </a:rPr>
              <a:t>View.OnClickListener</a:t>
            </a:r>
            <a:r>
              <a:rPr lang="en-US" sz="1100" b="1" dirty="0" smtClean="0">
                <a:latin typeface="Times New Roman" pitchFamily="18" charset="0"/>
                <a:cs typeface="Times New Roman" pitchFamily="18" charset="0"/>
              </a:rPr>
              <a:t>() {</a:t>
            </a:r>
          </a:p>
          <a:p>
            <a:pPr>
              <a:lnSpc>
                <a:spcPct val="170000"/>
              </a:lnSpc>
              <a:buNone/>
            </a:pPr>
            <a:r>
              <a:rPr lang="en-US" sz="1100" b="1" dirty="0" smtClean="0">
                <a:latin typeface="Times New Roman" pitchFamily="18" charset="0"/>
                <a:cs typeface="Times New Roman" pitchFamily="18" charset="0"/>
              </a:rPr>
              <a:t>            @Override</a:t>
            </a:r>
          </a:p>
          <a:p>
            <a:pPr>
              <a:lnSpc>
                <a:spcPct val="170000"/>
              </a:lnSpc>
              <a:buNone/>
            </a:pPr>
            <a:r>
              <a:rPr lang="en-US" sz="1100" b="1" dirty="0" smtClean="0">
                <a:latin typeface="Times New Roman" pitchFamily="18" charset="0"/>
                <a:cs typeface="Times New Roman" pitchFamily="18" charset="0"/>
              </a:rPr>
              <a:t>            public void </a:t>
            </a:r>
            <a:r>
              <a:rPr lang="en-US" sz="1100" b="1" dirty="0" err="1" smtClean="0">
                <a:latin typeface="Times New Roman" pitchFamily="18" charset="0"/>
                <a:cs typeface="Times New Roman" pitchFamily="18" charset="0"/>
              </a:rPr>
              <a:t>onClick</a:t>
            </a:r>
            <a:r>
              <a:rPr lang="en-US" sz="1100" b="1" dirty="0" smtClean="0">
                <a:latin typeface="Times New Roman" pitchFamily="18" charset="0"/>
                <a:cs typeface="Times New Roman" pitchFamily="18" charset="0"/>
              </a:rPr>
              <a:t>(View v) {</a:t>
            </a:r>
          </a:p>
          <a:p>
            <a:pPr>
              <a:lnSpc>
                <a:spcPct val="170000"/>
              </a:lnSpc>
              <a:buNone/>
            </a:pPr>
            <a:r>
              <a:rPr lang="en-US" sz="1100" b="1" dirty="0" smtClean="0">
                <a:latin typeface="Times New Roman" pitchFamily="18" charset="0"/>
                <a:cs typeface="Times New Roman" pitchFamily="18" charset="0"/>
              </a:rPr>
              <a:t>                // Fade In Animation: from invisible (0) to fully visible (1)</a:t>
            </a:r>
          </a:p>
          <a:p>
            <a:pPr>
              <a:lnSpc>
                <a:spcPct val="170000"/>
              </a:lnSpc>
              <a:buNone/>
            </a:pPr>
            <a:r>
              <a:rPr lang="en-US" sz="1100" b="1" dirty="0" smtClean="0">
                <a:latin typeface="Times New Roman" pitchFamily="18" charset="0"/>
                <a:cs typeface="Times New Roman" pitchFamily="18" charset="0"/>
              </a:rPr>
              <a:t>                Animation </a:t>
            </a:r>
            <a:r>
              <a:rPr lang="en-US" sz="1100" b="1" dirty="0" err="1" smtClean="0">
                <a:latin typeface="Times New Roman" pitchFamily="18" charset="0"/>
                <a:cs typeface="Times New Roman" pitchFamily="18" charset="0"/>
              </a:rPr>
              <a:t>fadeIn</a:t>
            </a:r>
            <a:r>
              <a:rPr lang="en-US" sz="1100" b="1" dirty="0" smtClean="0">
                <a:latin typeface="Times New Roman" pitchFamily="18" charset="0"/>
                <a:cs typeface="Times New Roman" pitchFamily="18" charset="0"/>
              </a:rPr>
              <a:t> = new </a:t>
            </a:r>
            <a:r>
              <a:rPr lang="en-US" sz="1100" b="1" dirty="0" err="1" smtClean="0">
                <a:latin typeface="Times New Roman" pitchFamily="18" charset="0"/>
                <a:cs typeface="Times New Roman" pitchFamily="18" charset="0"/>
              </a:rPr>
              <a:t>AlphaAnimation</a:t>
            </a:r>
            <a:r>
              <a:rPr lang="en-US" sz="1100" b="1" dirty="0" smtClean="0">
                <a:latin typeface="Times New Roman" pitchFamily="18" charset="0"/>
                <a:cs typeface="Times New Roman" pitchFamily="18" charset="0"/>
              </a:rPr>
              <a:t>(0, 1);</a:t>
            </a:r>
          </a:p>
          <a:p>
            <a:pPr>
              <a:lnSpc>
                <a:spcPct val="170000"/>
              </a:lnSpc>
              <a:buNone/>
            </a:pPr>
            <a:r>
              <a:rPr lang="en-US" sz="1100" b="1" dirty="0" smtClean="0">
                <a:latin typeface="Times New Roman" pitchFamily="18" charset="0"/>
                <a:cs typeface="Times New Roman" pitchFamily="18" charset="0"/>
              </a:rPr>
              <a:t>                </a:t>
            </a:r>
            <a:r>
              <a:rPr lang="en-US" sz="1100" b="1" dirty="0" err="1" smtClean="0">
                <a:latin typeface="Times New Roman" pitchFamily="18" charset="0"/>
                <a:cs typeface="Times New Roman" pitchFamily="18" charset="0"/>
              </a:rPr>
              <a:t>fadeIn.setDuration</a:t>
            </a:r>
            <a:r>
              <a:rPr lang="en-US" sz="1100" b="1" dirty="0" smtClean="0">
                <a:latin typeface="Times New Roman" pitchFamily="18" charset="0"/>
                <a:cs typeface="Times New Roman" pitchFamily="18" charset="0"/>
              </a:rPr>
              <a:t>(2000);  // 2 seconds</a:t>
            </a:r>
          </a:p>
          <a:p>
            <a:pPr>
              <a:lnSpc>
                <a:spcPct val="170000"/>
              </a:lnSpc>
              <a:buNone/>
            </a:pPr>
            <a:r>
              <a:rPr lang="en-US" sz="1100" b="1" dirty="0" smtClean="0">
                <a:latin typeface="Times New Roman" pitchFamily="18" charset="0"/>
                <a:cs typeface="Times New Roman" pitchFamily="18" charset="0"/>
              </a:rPr>
              <a:t>                </a:t>
            </a:r>
            <a:r>
              <a:rPr lang="en-US" sz="1100" b="1" dirty="0" err="1" smtClean="0">
                <a:latin typeface="Times New Roman" pitchFamily="18" charset="0"/>
                <a:cs typeface="Times New Roman" pitchFamily="18" charset="0"/>
              </a:rPr>
              <a:t>imageView.startAnimation</a:t>
            </a:r>
            <a:r>
              <a:rPr lang="en-US" sz="1100" b="1" dirty="0" smtClean="0">
                <a:latin typeface="Times New Roman" pitchFamily="18" charset="0"/>
                <a:cs typeface="Times New Roman" pitchFamily="18" charset="0"/>
              </a:rPr>
              <a:t>(</a:t>
            </a:r>
            <a:r>
              <a:rPr lang="en-US" sz="1100" b="1" dirty="0" err="1" smtClean="0">
                <a:latin typeface="Times New Roman" pitchFamily="18" charset="0"/>
                <a:cs typeface="Times New Roman" pitchFamily="18" charset="0"/>
              </a:rPr>
              <a:t>fadeIn</a:t>
            </a:r>
            <a:r>
              <a:rPr lang="en-US" sz="1100" b="1" dirty="0" smtClean="0">
                <a:latin typeface="Times New Roman" pitchFamily="18" charset="0"/>
                <a:cs typeface="Times New Roman" pitchFamily="18" charset="0"/>
              </a:rPr>
              <a:t>);</a:t>
            </a:r>
          </a:p>
          <a:p>
            <a:pPr>
              <a:lnSpc>
                <a:spcPct val="170000"/>
              </a:lnSpc>
              <a:buNone/>
            </a:pPr>
            <a:r>
              <a:rPr lang="en-US" sz="1100" b="1" dirty="0" smtClean="0">
                <a:latin typeface="Times New Roman" pitchFamily="18" charset="0"/>
                <a:cs typeface="Times New Roman" pitchFamily="18" charset="0"/>
              </a:rPr>
              <a:t>            }</a:t>
            </a:r>
          </a:p>
          <a:p>
            <a:pPr>
              <a:lnSpc>
                <a:spcPct val="170000"/>
              </a:lnSpc>
              <a:buNone/>
            </a:pPr>
            <a:r>
              <a:rPr lang="en-US" sz="1100" b="1" dirty="0" smtClean="0">
                <a:latin typeface="Times New Roman" pitchFamily="18" charset="0"/>
                <a:cs typeface="Times New Roman" pitchFamily="18" charset="0"/>
              </a:rPr>
              <a:t>        });</a:t>
            </a:r>
          </a:p>
          <a:p>
            <a:pPr>
              <a:lnSpc>
                <a:spcPct val="170000"/>
              </a:lnSpc>
              <a:buNone/>
            </a:pPr>
            <a:r>
              <a:rPr lang="en-US" sz="1100" b="1" dirty="0" smtClean="0">
                <a:latin typeface="Times New Roman" pitchFamily="18" charset="0"/>
                <a:cs typeface="Times New Roman" pitchFamily="18" charset="0"/>
              </a:rPr>
              <a:t>    }</a:t>
            </a:r>
          </a:p>
          <a:p>
            <a:pPr>
              <a:lnSpc>
                <a:spcPct val="170000"/>
              </a:lnSpc>
              <a:buNone/>
            </a:pPr>
            <a:r>
              <a:rPr lang="en-US" sz="1100" b="1" dirty="0" smtClean="0">
                <a:latin typeface="Times New Roman" pitchFamily="18" charset="0"/>
                <a:cs typeface="Times New Roman" pitchFamily="18" charset="0"/>
              </a:rPr>
              <a:t>}</a:t>
            </a:r>
            <a:endParaRPr lang="en-US" sz="11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Move Animation (Translate)</a:t>
            </a:r>
            <a:endParaRPr lang="en-US" dirty="0"/>
          </a:p>
        </p:txBody>
      </p:sp>
      <p:sp>
        <p:nvSpPr>
          <p:cNvPr id="3" name="Content Placeholder 2"/>
          <p:cNvSpPr>
            <a:spLocks noGrp="1"/>
          </p:cNvSpPr>
          <p:nvPr>
            <p:ph idx="1"/>
          </p:nvPr>
        </p:nvSpPr>
        <p:spPr/>
        <p:txBody>
          <a:bodyPr>
            <a:normAutofit/>
          </a:bodyPr>
          <a:lstStyle/>
          <a:p>
            <a:pPr>
              <a:buNone/>
            </a:pPr>
            <a:r>
              <a:rPr lang="en-US" sz="1200" b="1" dirty="0" smtClean="0">
                <a:latin typeface="Times New Roman" pitchFamily="18" charset="0"/>
                <a:cs typeface="Times New Roman" pitchFamily="18" charset="0"/>
              </a:rPr>
              <a:t>Animation move = new </a:t>
            </a:r>
            <a:r>
              <a:rPr lang="en-US" sz="1200" b="1" dirty="0" err="1" smtClean="0">
                <a:latin typeface="Times New Roman" pitchFamily="18" charset="0"/>
                <a:cs typeface="Times New Roman" pitchFamily="18" charset="0"/>
              </a:rPr>
              <a:t>TranslateAnimation</a:t>
            </a:r>
            <a:r>
              <a:rPr lang="en-US" sz="1200" b="1" dirty="0" smtClean="0">
                <a:latin typeface="Times New Roman" pitchFamily="18" charset="0"/>
                <a:cs typeface="Times New Roman" pitchFamily="18" charset="0"/>
              </a:rPr>
              <a:t>(0, 500, 0, 0);  </a:t>
            </a:r>
            <a:r>
              <a:rPr lang="en-US" sz="1200" dirty="0" smtClean="0">
                <a:latin typeface="Times New Roman" pitchFamily="18" charset="0"/>
                <a:cs typeface="Times New Roman" pitchFamily="18" charset="0"/>
              </a:rPr>
              <a:t>// move right by 500px</a:t>
            </a:r>
          </a:p>
          <a:p>
            <a:pPr>
              <a:buNone/>
            </a:pPr>
            <a:r>
              <a:rPr lang="en-US" sz="1200" b="1" dirty="0" err="1" smtClean="0">
                <a:latin typeface="Times New Roman" pitchFamily="18" charset="0"/>
                <a:cs typeface="Times New Roman" pitchFamily="18" charset="0"/>
              </a:rPr>
              <a:t>move.setDuration</a:t>
            </a:r>
            <a:r>
              <a:rPr lang="en-US" sz="1200" b="1" dirty="0" smtClean="0">
                <a:latin typeface="Times New Roman" pitchFamily="18" charset="0"/>
                <a:cs typeface="Times New Roman" pitchFamily="18" charset="0"/>
              </a:rPr>
              <a:t>(1000); </a:t>
            </a:r>
            <a:r>
              <a:rPr lang="en-US" sz="1200" dirty="0" smtClean="0">
                <a:latin typeface="Times New Roman" pitchFamily="18" charset="0"/>
                <a:cs typeface="Times New Roman" pitchFamily="18" charset="0"/>
              </a:rPr>
              <a:t>// 1 second</a:t>
            </a:r>
          </a:p>
          <a:p>
            <a:pPr>
              <a:buNone/>
            </a:pPr>
            <a:r>
              <a:rPr lang="en-US" sz="1200" b="1" dirty="0" err="1" smtClean="0">
                <a:latin typeface="Times New Roman" pitchFamily="18" charset="0"/>
                <a:cs typeface="Times New Roman" pitchFamily="18" charset="0"/>
              </a:rPr>
              <a:t>imageView.startAnimation</a:t>
            </a:r>
            <a:r>
              <a:rPr lang="en-US" sz="1200" b="1" dirty="0" smtClean="0">
                <a:latin typeface="Times New Roman" pitchFamily="18" charset="0"/>
                <a:cs typeface="Times New Roman" pitchFamily="18" charset="0"/>
              </a:rPr>
              <a:t>(move);</a:t>
            </a:r>
          </a:p>
          <a:p>
            <a:pPr>
              <a:buNone/>
            </a:pPr>
            <a:endParaRPr lang="en-US" sz="1200" b="1" dirty="0" smtClean="0">
              <a:latin typeface="Times New Roman" pitchFamily="18" charset="0"/>
              <a:cs typeface="Times New Roman" pitchFamily="18" charset="0"/>
            </a:endParaRPr>
          </a:p>
          <a:p>
            <a:pPr>
              <a:buNone/>
            </a:pPr>
            <a:endParaRPr lang="en-US" sz="1200" b="1" dirty="0" smtClean="0">
              <a:latin typeface="Times New Roman" pitchFamily="18" charset="0"/>
              <a:cs typeface="Times New Roman" pitchFamily="18" charset="0"/>
            </a:endParaRPr>
          </a:p>
          <a:p>
            <a:pPr>
              <a:buNone/>
            </a:pPr>
            <a:r>
              <a:rPr lang="en-US" sz="1200" b="1" dirty="0" smtClean="0">
                <a:latin typeface="Times New Roman" pitchFamily="18" charset="0"/>
                <a:cs typeface="Times New Roman" pitchFamily="18" charset="0"/>
              </a:rPr>
              <a:t>Rotate Animator:</a:t>
            </a:r>
          </a:p>
          <a:p>
            <a:pPr>
              <a:buNone/>
            </a:pPr>
            <a:r>
              <a:rPr lang="en-US" sz="1200" dirty="0" err="1" smtClean="0">
                <a:latin typeface="Times New Roman" pitchFamily="18" charset="0"/>
                <a:cs typeface="Times New Roman" pitchFamily="18" charset="0"/>
              </a:rPr>
              <a:t>ObjectAnimator</a:t>
            </a:r>
            <a:r>
              <a:rPr lang="en-US" sz="1200" dirty="0" smtClean="0">
                <a:latin typeface="Times New Roman" pitchFamily="18" charset="0"/>
                <a:cs typeface="Times New Roman" pitchFamily="18" charset="0"/>
              </a:rPr>
              <a:t> animator = </a:t>
            </a:r>
            <a:r>
              <a:rPr lang="en-US" sz="1200" dirty="0" err="1" smtClean="0">
                <a:latin typeface="Times New Roman" pitchFamily="18" charset="0"/>
                <a:cs typeface="Times New Roman" pitchFamily="18" charset="0"/>
              </a:rPr>
              <a:t>ObjectAnimator.ofFloat</a:t>
            </a:r>
            <a:r>
              <a:rPr lang="en-US" sz="1200" dirty="0" smtClean="0">
                <a:latin typeface="Times New Roman" pitchFamily="18" charset="0"/>
                <a:cs typeface="Times New Roman" pitchFamily="18" charset="0"/>
              </a:rPr>
              <a:t>(</a:t>
            </a:r>
            <a:r>
              <a:rPr lang="en-US" sz="1200" dirty="0" err="1" smtClean="0">
                <a:latin typeface="Times New Roman" pitchFamily="18" charset="0"/>
                <a:cs typeface="Times New Roman" pitchFamily="18" charset="0"/>
              </a:rPr>
              <a:t>imageView</a:t>
            </a:r>
            <a:r>
              <a:rPr lang="en-US" sz="1200" dirty="0" smtClean="0">
                <a:latin typeface="Times New Roman" pitchFamily="18" charset="0"/>
                <a:cs typeface="Times New Roman" pitchFamily="18" charset="0"/>
              </a:rPr>
              <a:t>, "rotation", 0f, 360f);</a:t>
            </a:r>
          </a:p>
          <a:p>
            <a:pPr>
              <a:buNone/>
            </a:pPr>
            <a:r>
              <a:rPr lang="en-US" sz="1200" dirty="0" err="1" smtClean="0">
                <a:latin typeface="Times New Roman" pitchFamily="18" charset="0"/>
                <a:cs typeface="Times New Roman" pitchFamily="18" charset="0"/>
              </a:rPr>
              <a:t>animator.setDuration</a:t>
            </a:r>
            <a:r>
              <a:rPr lang="en-US" sz="1200" dirty="0" smtClean="0">
                <a:latin typeface="Times New Roman" pitchFamily="18" charset="0"/>
                <a:cs typeface="Times New Roman" pitchFamily="18" charset="0"/>
              </a:rPr>
              <a:t>(2000);</a:t>
            </a:r>
          </a:p>
          <a:p>
            <a:pPr>
              <a:buNone/>
            </a:pPr>
            <a:r>
              <a:rPr lang="en-US" sz="1200" dirty="0" err="1" smtClean="0">
                <a:latin typeface="Times New Roman" pitchFamily="18" charset="0"/>
                <a:cs typeface="Times New Roman" pitchFamily="18" charset="0"/>
              </a:rPr>
              <a:t>animator.start</a:t>
            </a:r>
            <a:r>
              <a:rPr lang="en-US" sz="1200" dirty="0" smtClean="0">
                <a:latin typeface="Times New Roman" pitchFamily="18" charset="0"/>
                <a:cs typeface="Times New Roman" pitchFamily="18" charset="0"/>
              </a:rPr>
              <a:t>();</a:t>
            </a:r>
            <a:endParaRPr lang="en-US" sz="1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74638"/>
            <a:ext cx="8186766" cy="654032"/>
          </a:xfrm>
        </p:spPr>
        <p:txBody>
          <a:bodyPr>
            <a:normAutofit fontScale="90000"/>
          </a:bodyPr>
          <a:lstStyle/>
          <a:p>
            <a:r>
              <a:rPr lang="en-US" dirty="0" smtClean="0"/>
              <a:t>Example-.java file</a:t>
            </a:r>
            <a:endParaRPr lang="en-US" dirty="0"/>
          </a:p>
        </p:txBody>
      </p:sp>
      <p:sp>
        <p:nvSpPr>
          <p:cNvPr id="3" name="Content Placeholder 2"/>
          <p:cNvSpPr>
            <a:spLocks noGrp="1"/>
          </p:cNvSpPr>
          <p:nvPr>
            <p:ph idx="1"/>
          </p:nvPr>
        </p:nvSpPr>
        <p:spPr>
          <a:xfrm>
            <a:off x="285720" y="1000108"/>
            <a:ext cx="8401080" cy="5126055"/>
          </a:xfrm>
        </p:spPr>
        <p:txBody>
          <a:bodyPr>
            <a:normAutofit fontScale="25000" lnSpcReduction="20000"/>
          </a:bodyPr>
          <a:lstStyle/>
          <a:p>
            <a:pPr>
              <a:buNone/>
            </a:pPr>
            <a:r>
              <a:rPr lang="en-US" dirty="0" smtClean="0"/>
              <a:t>package </a:t>
            </a:r>
            <a:r>
              <a:rPr lang="en-US" dirty="0" err="1" smtClean="0"/>
              <a:t>com.example.animationdemo</a:t>
            </a:r>
            <a:r>
              <a:rPr lang="en-US" dirty="0" smtClean="0"/>
              <a:t>;</a:t>
            </a:r>
          </a:p>
          <a:p>
            <a:pPr>
              <a:buNone/>
            </a:pPr>
            <a:endParaRPr lang="en-US" dirty="0" smtClean="0"/>
          </a:p>
          <a:p>
            <a:pPr>
              <a:buNone/>
            </a:pPr>
            <a:r>
              <a:rPr lang="en-US" dirty="0" smtClean="0"/>
              <a:t>import </a:t>
            </a:r>
            <a:r>
              <a:rPr lang="en-US" dirty="0" err="1" smtClean="0"/>
              <a:t>androidx.appcompat.app.AppCompatActivity</a:t>
            </a:r>
            <a:r>
              <a:rPr lang="en-US" dirty="0" smtClean="0"/>
              <a:t>;</a:t>
            </a:r>
          </a:p>
          <a:p>
            <a:pPr>
              <a:buNone/>
            </a:pPr>
            <a:r>
              <a:rPr lang="en-US" dirty="0" smtClean="0"/>
              <a:t>import </a:t>
            </a:r>
            <a:r>
              <a:rPr lang="en-US" dirty="0" err="1" smtClean="0"/>
              <a:t>android.os.Bundle</a:t>
            </a:r>
            <a:r>
              <a:rPr lang="en-US" dirty="0" smtClean="0"/>
              <a:t>;</a:t>
            </a:r>
          </a:p>
          <a:p>
            <a:pPr>
              <a:buNone/>
            </a:pPr>
            <a:r>
              <a:rPr lang="en-US" dirty="0" smtClean="0"/>
              <a:t>import </a:t>
            </a:r>
            <a:r>
              <a:rPr lang="en-US" dirty="0" err="1" smtClean="0"/>
              <a:t>android.view.animation.Animation</a:t>
            </a:r>
            <a:r>
              <a:rPr lang="en-US" dirty="0" smtClean="0"/>
              <a:t>;</a:t>
            </a:r>
          </a:p>
          <a:p>
            <a:pPr>
              <a:buNone/>
            </a:pPr>
            <a:r>
              <a:rPr lang="en-US" dirty="0" smtClean="0"/>
              <a:t>import </a:t>
            </a:r>
            <a:r>
              <a:rPr lang="en-US" dirty="0" err="1" smtClean="0"/>
              <a:t>android.view.animation.AnimationUtils</a:t>
            </a:r>
            <a:r>
              <a:rPr lang="en-US" dirty="0" smtClean="0"/>
              <a:t>;</a:t>
            </a:r>
          </a:p>
          <a:p>
            <a:pPr>
              <a:buNone/>
            </a:pPr>
            <a:r>
              <a:rPr lang="en-US" dirty="0" smtClean="0"/>
              <a:t>import </a:t>
            </a:r>
            <a:r>
              <a:rPr lang="en-US" dirty="0" err="1" smtClean="0"/>
              <a:t>android.widget.Button</a:t>
            </a:r>
            <a:r>
              <a:rPr lang="en-US" dirty="0" smtClean="0"/>
              <a:t>;</a:t>
            </a:r>
          </a:p>
          <a:p>
            <a:pPr>
              <a:buNone/>
            </a:pPr>
            <a:r>
              <a:rPr lang="en-US" dirty="0" smtClean="0"/>
              <a:t>import </a:t>
            </a:r>
            <a:r>
              <a:rPr lang="en-US" dirty="0" err="1" smtClean="0"/>
              <a:t>android.widget.ImageView</a:t>
            </a:r>
            <a:r>
              <a:rPr lang="en-US" dirty="0" smtClean="0"/>
              <a:t>;</a:t>
            </a:r>
          </a:p>
          <a:p>
            <a:pPr>
              <a:buNone/>
            </a:pPr>
            <a:r>
              <a:rPr lang="en-US" dirty="0" smtClean="0"/>
              <a:t>import </a:t>
            </a:r>
            <a:r>
              <a:rPr lang="en-US" dirty="0" err="1" smtClean="0"/>
              <a:t>android.view.View</a:t>
            </a:r>
            <a:r>
              <a:rPr lang="en-US" dirty="0" smtClean="0"/>
              <a:t>;</a:t>
            </a:r>
          </a:p>
          <a:p>
            <a:pPr>
              <a:buNone/>
            </a:pPr>
            <a:endParaRPr lang="en-US" dirty="0" smtClean="0"/>
          </a:p>
          <a:p>
            <a:pPr>
              <a:buNone/>
            </a:pPr>
            <a:r>
              <a:rPr lang="en-US" dirty="0" smtClean="0"/>
              <a:t>public class </a:t>
            </a:r>
            <a:r>
              <a:rPr lang="en-US" dirty="0" err="1" smtClean="0"/>
              <a:t>MainActivity</a:t>
            </a:r>
            <a:r>
              <a:rPr lang="en-US" dirty="0" smtClean="0"/>
              <a:t> extends </a:t>
            </a:r>
            <a:r>
              <a:rPr lang="en-US" dirty="0" err="1" smtClean="0"/>
              <a:t>AppCompatActivity</a:t>
            </a:r>
            <a:r>
              <a:rPr lang="en-US" dirty="0" smtClean="0"/>
              <a:t> {</a:t>
            </a:r>
          </a:p>
          <a:p>
            <a:pPr>
              <a:buNone/>
            </a:pPr>
            <a:endParaRPr lang="en-US" dirty="0" smtClean="0"/>
          </a:p>
          <a:p>
            <a:pPr>
              <a:buNone/>
            </a:pPr>
            <a:r>
              <a:rPr lang="en-US" dirty="0" smtClean="0"/>
              <a:t>    </a:t>
            </a:r>
            <a:r>
              <a:rPr lang="en-US" dirty="0" err="1" smtClean="0"/>
              <a:t>ImageView</a:t>
            </a:r>
            <a:r>
              <a:rPr lang="en-US" dirty="0" smtClean="0"/>
              <a:t> </a:t>
            </a:r>
            <a:r>
              <a:rPr lang="en-US" dirty="0" err="1" smtClean="0"/>
              <a:t>imageView</a:t>
            </a:r>
            <a:r>
              <a:rPr lang="en-US" dirty="0" smtClean="0"/>
              <a:t>;</a:t>
            </a:r>
          </a:p>
          <a:p>
            <a:pPr>
              <a:buNone/>
            </a:pPr>
            <a:r>
              <a:rPr lang="en-US" dirty="0" smtClean="0"/>
              <a:t>    Button </a:t>
            </a:r>
            <a:r>
              <a:rPr lang="en-US" dirty="0" err="1" smtClean="0"/>
              <a:t>btnAnimate</a:t>
            </a:r>
            <a:r>
              <a:rPr lang="en-US" dirty="0" smtClean="0"/>
              <a:t>;</a:t>
            </a:r>
          </a:p>
          <a:p>
            <a:pPr>
              <a:buNone/>
            </a:pPr>
            <a:endParaRPr lang="en-US" dirty="0" smtClean="0"/>
          </a:p>
          <a:p>
            <a:pPr>
              <a:buNone/>
            </a:pPr>
            <a:r>
              <a:rPr lang="en-US" dirty="0" smtClean="0"/>
              <a:t>    @Override</a:t>
            </a:r>
          </a:p>
          <a:p>
            <a:pPr>
              <a:buNone/>
            </a:pPr>
            <a:r>
              <a:rPr lang="en-US" dirty="0" smtClean="0"/>
              <a:t>    protected void </a:t>
            </a:r>
            <a:r>
              <a:rPr lang="en-US" dirty="0" err="1" smtClean="0"/>
              <a:t>onCreate</a:t>
            </a:r>
            <a:r>
              <a:rPr lang="en-US" dirty="0" smtClean="0"/>
              <a:t>(Bundle </a:t>
            </a:r>
            <a:r>
              <a:rPr lang="en-US" dirty="0" err="1" smtClean="0"/>
              <a:t>savedInstanceState</a:t>
            </a:r>
            <a:r>
              <a:rPr lang="en-US" dirty="0" smtClean="0"/>
              <a:t>) {</a:t>
            </a:r>
          </a:p>
          <a:p>
            <a:pPr>
              <a:buNone/>
            </a:pPr>
            <a:r>
              <a:rPr lang="en-US" dirty="0" smtClean="0"/>
              <a:t>        </a:t>
            </a:r>
            <a:r>
              <a:rPr lang="en-US" dirty="0" err="1" smtClean="0"/>
              <a:t>super.onCreate</a:t>
            </a:r>
            <a:r>
              <a:rPr lang="en-US" dirty="0" smtClean="0"/>
              <a:t>(</a:t>
            </a:r>
            <a:r>
              <a:rPr lang="en-US" dirty="0" err="1" smtClean="0"/>
              <a:t>savedInstanceState</a:t>
            </a:r>
            <a:r>
              <a:rPr lang="en-US" dirty="0" smtClean="0"/>
              <a:t>);</a:t>
            </a:r>
          </a:p>
          <a:p>
            <a:pPr>
              <a:buNone/>
            </a:pPr>
            <a:r>
              <a:rPr lang="en-US" dirty="0" smtClean="0"/>
              <a:t>        </a:t>
            </a:r>
            <a:r>
              <a:rPr lang="en-US" dirty="0" err="1" smtClean="0"/>
              <a:t>setContentView</a:t>
            </a:r>
            <a:r>
              <a:rPr lang="en-US" dirty="0" smtClean="0"/>
              <a:t>(</a:t>
            </a:r>
            <a:r>
              <a:rPr lang="en-US" dirty="0" err="1" smtClean="0"/>
              <a:t>R.layout.activity_main</a:t>
            </a:r>
            <a:r>
              <a:rPr lang="en-US" dirty="0" smtClean="0"/>
              <a:t>);</a:t>
            </a:r>
          </a:p>
          <a:p>
            <a:pPr>
              <a:buNone/>
            </a:pPr>
            <a:endParaRPr lang="en-US" dirty="0" smtClean="0"/>
          </a:p>
          <a:p>
            <a:pPr>
              <a:buNone/>
            </a:pPr>
            <a:r>
              <a:rPr lang="en-US" dirty="0" smtClean="0"/>
              <a:t>        </a:t>
            </a:r>
            <a:r>
              <a:rPr lang="en-US" dirty="0" err="1" smtClean="0"/>
              <a:t>imageView</a:t>
            </a:r>
            <a:r>
              <a:rPr lang="en-US" dirty="0" smtClean="0"/>
              <a:t> = </a:t>
            </a:r>
            <a:r>
              <a:rPr lang="en-US" dirty="0" err="1" smtClean="0"/>
              <a:t>findViewById</a:t>
            </a:r>
            <a:r>
              <a:rPr lang="en-US" dirty="0" smtClean="0"/>
              <a:t>(</a:t>
            </a:r>
            <a:r>
              <a:rPr lang="en-US" dirty="0" err="1" smtClean="0"/>
              <a:t>R.id.imageView</a:t>
            </a:r>
            <a:r>
              <a:rPr lang="en-US" dirty="0" smtClean="0"/>
              <a:t>);</a:t>
            </a:r>
          </a:p>
          <a:p>
            <a:pPr>
              <a:buNone/>
            </a:pPr>
            <a:r>
              <a:rPr lang="en-US" dirty="0" smtClean="0"/>
              <a:t>        </a:t>
            </a:r>
            <a:r>
              <a:rPr lang="en-US" dirty="0" err="1" smtClean="0"/>
              <a:t>btnAnimate</a:t>
            </a:r>
            <a:r>
              <a:rPr lang="en-US" dirty="0" smtClean="0"/>
              <a:t> = </a:t>
            </a:r>
            <a:r>
              <a:rPr lang="en-US" dirty="0" err="1" smtClean="0"/>
              <a:t>findViewById</a:t>
            </a:r>
            <a:r>
              <a:rPr lang="en-US" dirty="0" smtClean="0"/>
              <a:t>(</a:t>
            </a:r>
            <a:r>
              <a:rPr lang="en-US" dirty="0" err="1" smtClean="0"/>
              <a:t>R.id.btnAnimate</a:t>
            </a:r>
            <a:r>
              <a:rPr lang="en-US" dirty="0" smtClean="0"/>
              <a:t>);</a:t>
            </a:r>
          </a:p>
          <a:p>
            <a:pPr>
              <a:buNone/>
            </a:pPr>
            <a:endParaRPr lang="en-US" dirty="0" smtClean="0"/>
          </a:p>
          <a:p>
            <a:pPr>
              <a:buNone/>
            </a:pPr>
            <a:r>
              <a:rPr lang="en-US" dirty="0" smtClean="0"/>
              <a:t>        </a:t>
            </a:r>
            <a:r>
              <a:rPr lang="en-US" dirty="0" err="1" smtClean="0"/>
              <a:t>btnAnimate.setOnClickListener</a:t>
            </a:r>
            <a:r>
              <a:rPr lang="en-US" dirty="0" smtClean="0"/>
              <a:t>(new </a:t>
            </a:r>
            <a:r>
              <a:rPr lang="en-US" dirty="0" err="1" smtClean="0"/>
              <a:t>View.OnClickListener</a:t>
            </a:r>
            <a:r>
              <a:rPr lang="en-US" dirty="0" smtClean="0"/>
              <a:t>() {</a:t>
            </a:r>
          </a:p>
          <a:p>
            <a:pPr>
              <a:buNone/>
            </a:pPr>
            <a:r>
              <a:rPr lang="en-US" dirty="0" smtClean="0"/>
              <a:t>            @Override</a:t>
            </a:r>
          </a:p>
          <a:p>
            <a:pPr>
              <a:buNone/>
            </a:pPr>
            <a:r>
              <a:rPr lang="en-US" dirty="0" smtClean="0"/>
              <a:t>            public void </a:t>
            </a:r>
            <a:r>
              <a:rPr lang="en-US" dirty="0" err="1" smtClean="0"/>
              <a:t>onClick</a:t>
            </a:r>
            <a:r>
              <a:rPr lang="en-US" dirty="0" smtClean="0"/>
              <a:t>(View v) {</a:t>
            </a:r>
          </a:p>
          <a:p>
            <a:pPr>
              <a:buNone/>
            </a:pPr>
            <a:r>
              <a:rPr lang="en-US" dirty="0" smtClean="0"/>
              <a:t>                // Load the combined animation from res/</a:t>
            </a:r>
            <a:r>
              <a:rPr lang="en-US" dirty="0" err="1" smtClean="0"/>
              <a:t>anim</a:t>
            </a:r>
            <a:r>
              <a:rPr lang="en-US" dirty="0" smtClean="0"/>
              <a:t>/</a:t>
            </a:r>
          </a:p>
          <a:p>
            <a:pPr>
              <a:buNone/>
            </a:pPr>
            <a:r>
              <a:rPr lang="en-US" dirty="0" smtClean="0"/>
              <a:t>                Animation </a:t>
            </a:r>
            <a:r>
              <a:rPr lang="en-US" dirty="0" err="1" smtClean="0"/>
              <a:t>animation</a:t>
            </a:r>
            <a:r>
              <a:rPr lang="en-US" dirty="0" smtClean="0"/>
              <a:t> = </a:t>
            </a:r>
            <a:r>
              <a:rPr lang="en-US" dirty="0" err="1" smtClean="0"/>
              <a:t>AnimationUtils.loadAnimation</a:t>
            </a:r>
            <a:r>
              <a:rPr lang="en-US" dirty="0" smtClean="0"/>
              <a:t>(</a:t>
            </a:r>
            <a:r>
              <a:rPr lang="en-US" dirty="0" err="1" smtClean="0"/>
              <a:t>getApplicationContext</a:t>
            </a:r>
            <a:r>
              <a:rPr lang="en-US" dirty="0" smtClean="0"/>
              <a:t>(), </a:t>
            </a:r>
            <a:r>
              <a:rPr lang="en-US" dirty="0" err="1" smtClean="0"/>
              <a:t>R.anim.combined</a:t>
            </a:r>
            <a:r>
              <a:rPr lang="en-US" dirty="0" smtClean="0"/>
              <a:t>); </a:t>
            </a:r>
          </a:p>
          <a:p>
            <a:pPr>
              <a:buNone/>
            </a:pPr>
            <a:endParaRPr lang="en-US" dirty="0" smtClean="0"/>
          </a:p>
          <a:p>
            <a:pPr>
              <a:buNone/>
            </a:pPr>
            <a:r>
              <a:rPr lang="en-US" b="1" dirty="0" smtClean="0"/>
              <a:t>  // </a:t>
            </a:r>
            <a:r>
              <a:rPr lang="en-US" b="1" dirty="0" err="1" smtClean="0"/>
              <a:t>AnimationUtilsLoads</a:t>
            </a:r>
            <a:r>
              <a:rPr lang="en-US" b="1" dirty="0" smtClean="0"/>
              <a:t> XML animation into memory</a:t>
            </a:r>
          </a:p>
          <a:p>
            <a:pPr>
              <a:buNone/>
            </a:pPr>
            <a:r>
              <a:rPr lang="en-US" dirty="0" smtClean="0"/>
              <a:t>                </a:t>
            </a:r>
            <a:r>
              <a:rPr lang="en-US" dirty="0" err="1" smtClean="0"/>
              <a:t>imageView.startAnimation</a:t>
            </a:r>
            <a:r>
              <a:rPr lang="en-US" dirty="0" smtClean="0"/>
              <a:t>(animation);</a:t>
            </a:r>
          </a:p>
          <a:p>
            <a:pPr>
              <a:buNone/>
            </a:pPr>
            <a:r>
              <a:rPr lang="en-US" dirty="0" smtClean="0"/>
              <a:t>            }</a:t>
            </a:r>
          </a:p>
          <a:p>
            <a:pPr>
              <a:buNone/>
            </a:pPr>
            <a:r>
              <a:rPr lang="en-US" dirty="0" smtClean="0"/>
              <a:t>        });</a:t>
            </a:r>
          </a:p>
          <a:p>
            <a:pPr>
              <a:buNone/>
            </a:pPr>
            <a:r>
              <a:rPr lang="en-US" dirty="0" smtClean="0"/>
              <a:t>    }</a:t>
            </a:r>
          </a:p>
          <a:p>
            <a:pPr>
              <a:buNone/>
            </a:pPr>
            <a:r>
              <a:rPr lang="en-US" dirty="0" smtClean="0"/>
              <a:t>}</a:t>
            </a:r>
          </a:p>
          <a:p>
            <a:pPr>
              <a:buNone/>
            </a:pPr>
            <a:endParaRPr 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Activity-main.xml</a:t>
            </a:r>
            <a:endParaRPr lang="en-US" dirty="0"/>
          </a:p>
        </p:txBody>
      </p:sp>
      <p:sp>
        <p:nvSpPr>
          <p:cNvPr id="3" name="Content Placeholder 2"/>
          <p:cNvSpPr>
            <a:spLocks noGrp="1"/>
          </p:cNvSpPr>
          <p:nvPr>
            <p:ph idx="1"/>
          </p:nvPr>
        </p:nvSpPr>
        <p:spPr/>
        <p:txBody>
          <a:bodyPr>
            <a:normAutofit fontScale="40000" lnSpcReduction="20000"/>
          </a:bodyPr>
          <a:lstStyle/>
          <a:p>
            <a:pPr>
              <a:buNone/>
            </a:pPr>
            <a:r>
              <a:rPr lang="en-US" dirty="0" smtClean="0"/>
              <a:t>&lt;?xml version="1.0" encoding="utf-8"?&gt;</a:t>
            </a:r>
          </a:p>
          <a:p>
            <a:pPr>
              <a:buNone/>
            </a:pPr>
            <a:r>
              <a:rPr lang="en-US" dirty="0" smtClean="0"/>
              <a:t>&lt;</a:t>
            </a:r>
            <a:r>
              <a:rPr lang="en-US" dirty="0" err="1" smtClean="0"/>
              <a:t>LinearLayout</a:t>
            </a:r>
            <a:r>
              <a:rPr lang="en-US" dirty="0" smtClean="0"/>
              <a:t> </a:t>
            </a:r>
            <a:r>
              <a:rPr lang="en-US" dirty="0" err="1" smtClean="0"/>
              <a:t>xmlns:android</a:t>
            </a:r>
            <a:r>
              <a:rPr lang="en-US" dirty="0" smtClean="0"/>
              <a:t>="http://schemas.android.com/apk/res/android"</a:t>
            </a:r>
          </a:p>
          <a:p>
            <a:pPr>
              <a:buNone/>
            </a:pPr>
            <a:r>
              <a:rPr lang="en-US" dirty="0" smtClean="0"/>
              <a:t>    </a:t>
            </a:r>
            <a:r>
              <a:rPr lang="en-US" dirty="0" err="1" smtClean="0"/>
              <a:t>android:layout_width</a:t>
            </a:r>
            <a:r>
              <a:rPr lang="en-US" dirty="0" smtClean="0"/>
              <a:t>="</a:t>
            </a:r>
            <a:r>
              <a:rPr lang="en-US" dirty="0" err="1" smtClean="0"/>
              <a:t>match_parent</a:t>
            </a:r>
            <a:r>
              <a:rPr lang="en-US" dirty="0" smtClean="0"/>
              <a:t>"</a:t>
            </a:r>
          </a:p>
          <a:p>
            <a:pPr>
              <a:buNone/>
            </a:pPr>
            <a:r>
              <a:rPr lang="en-US" dirty="0" smtClean="0"/>
              <a:t>    </a:t>
            </a:r>
            <a:r>
              <a:rPr lang="en-US" dirty="0" err="1" smtClean="0"/>
              <a:t>android:layout_height</a:t>
            </a:r>
            <a:r>
              <a:rPr lang="en-US" dirty="0" smtClean="0"/>
              <a:t>="</a:t>
            </a:r>
            <a:r>
              <a:rPr lang="en-US" dirty="0" err="1" smtClean="0"/>
              <a:t>match_parent</a:t>
            </a:r>
            <a:r>
              <a:rPr lang="en-US" dirty="0" smtClean="0"/>
              <a:t>"</a:t>
            </a:r>
          </a:p>
          <a:p>
            <a:pPr>
              <a:buNone/>
            </a:pPr>
            <a:r>
              <a:rPr lang="en-US" dirty="0" smtClean="0"/>
              <a:t>    </a:t>
            </a:r>
            <a:r>
              <a:rPr lang="en-US" dirty="0" err="1" smtClean="0"/>
              <a:t>android:orientation</a:t>
            </a:r>
            <a:r>
              <a:rPr lang="en-US" dirty="0" smtClean="0"/>
              <a:t>="vertical"</a:t>
            </a:r>
          </a:p>
          <a:p>
            <a:pPr>
              <a:buNone/>
            </a:pPr>
            <a:r>
              <a:rPr lang="en-US" dirty="0" smtClean="0"/>
              <a:t>    </a:t>
            </a:r>
            <a:r>
              <a:rPr lang="en-US" dirty="0" err="1" smtClean="0"/>
              <a:t>android:gravity</a:t>
            </a:r>
            <a:r>
              <a:rPr lang="en-US" dirty="0" smtClean="0"/>
              <a:t>="center"</a:t>
            </a:r>
          </a:p>
          <a:p>
            <a:pPr>
              <a:buNone/>
            </a:pPr>
            <a:r>
              <a:rPr lang="en-US" dirty="0" smtClean="0"/>
              <a:t>    </a:t>
            </a:r>
            <a:r>
              <a:rPr lang="en-US" dirty="0" err="1" smtClean="0"/>
              <a:t>android:background</a:t>
            </a:r>
            <a:r>
              <a:rPr lang="en-US" dirty="0" smtClean="0"/>
              <a:t>="#FFFFFF"&gt;</a:t>
            </a:r>
          </a:p>
          <a:p>
            <a:pPr>
              <a:buNone/>
            </a:pPr>
            <a:endParaRPr lang="en-US" dirty="0" smtClean="0"/>
          </a:p>
          <a:p>
            <a:pPr>
              <a:buNone/>
            </a:pPr>
            <a:r>
              <a:rPr lang="en-US" dirty="0" smtClean="0"/>
              <a:t>    &lt;</a:t>
            </a:r>
            <a:r>
              <a:rPr lang="en-US" dirty="0" err="1" smtClean="0"/>
              <a:t>ImageView</a:t>
            </a:r>
            <a:endParaRPr lang="en-US" dirty="0" smtClean="0"/>
          </a:p>
          <a:p>
            <a:pPr>
              <a:buNone/>
            </a:pPr>
            <a:r>
              <a:rPr lang="en-US" dirty="0" smtClean="0"/>
              <a:t>        </a:t>
            </a:r>
            <a:r>
              <a:rPr lang="en-US" dirty="0" err="1" smtClean="0"/>
              <a:t>android:id</a:t>
            </a:r>
            <a:r>
              <a:rPr lang="en-US" dirty="0" smtClean="0"/>
              <a:t>="@+id/</a:t>
            </a:r>
            <a:r>
              <a:rPr lang="en-US" dirty="0" err="1" smtClean="0"/>
              <a:t>imageView</a:t>
            </a:r>
            <a:r>
              <a:rPr lang="en-US" dirty="0" smtClean="0"/>
              <a:t>"</a:t>
            </a:r>
          </a:p>
          <a:p>
            <a:pPr>
              <a:buNone/>
            </a:pPr>
            <a:r>
              <a:rPr lang="en-US" dirty="0" smtClean="0"/>
              <a:t>        </a:t>
            </a:r>
            <a:r>
              <a:rPr lang="en-US" dirty="0" err="1" smtClean="0"/>
              <a:t>android:src</a:t>
            </a:r>
            <a:r>
              <a:rPr lang="en-US" dirty="0" smtClean="0"/>
              <a:t>="@</a:t>
            </a:r>
            <a:r>
              <a:rPr lang="en-US" dirty="0" err="1" smtClean="0"/>
              <a:t>drawable</a:t>
            </a:r>
            <a:r>
              <a:rPr lang="en-US" dirty="0" smtClean="0"/>
              <a:t>/</a:t>
            </a:r>
            <a:r>
              <a:rPr lang="en-US" dirty="0" err="1" smtClean="0"/>
              <a:t>your_image</a:t>
            </a:r>
            <a:r>
              <a:rPr lang="en-US" dirty="0" smtClean="0"/>
              <a:t>"</a:t>
            </a:r>
          </a:p>
          <a:p>
            <a:pPr>
              <a:buNone/>
            </a:pPr>
            <a:r>
              <a:rPr lang="en-US" dirty="0" smtClean="0"/>
              <a:t>        </a:t>
            </a:r>
            <a:r>
              <a:rPr lang="en-US" dirty="0" err="1" smtClean="0"/>
              <a:t>android:layout_width</a:t>
            </a:r>
            <a:r>
              <a:rPr lang="en-US" dirty="0" smtClean="0"/>
              <a:t>="150dp"</a:t>
            </a:r>
          </a:p>
          <a:p>
            <a:pPr>
              <a:buNone/>
            </a:pPr>
            <a:r>
              <a:rPr lang="en-US" dirty="0" smtClean="0"/>
              <a:t>        </a:t>
            </a:r>
            <a:r>
              <a:rPr lang="en-US" dirty="0" err="1" smtClean="0"/>
              <a:t>android:layout_height</a:t>
            </a:r>
            <a:r>
              <a:rPr lang="en-US" dirty="0" smtClean="0"/>
              <a:t>="150dp"</a:t>
            </a:r>
          </a:p>
          <a:p>
            <a:pPr>
              <a:buNone/>
            </a:pPr>
            <a:r>
              <a:rPr lang="en-US" dirty="0" smtClean="0"/>
              <a:t>        </a:t>
            </a:r>
            <a:r>
              <a:rPr lang="en-US" dirty="0" err="1" smtClean="0"/>
              <a:t>android:layout_marginBottom</a:t>
            </a:r>
            <a:r>
              <a:rPr lang="en-US" dirty="0" smtClean="0"/>
              <a:t>="20dp"/&gt;</a:t>
            </a:r>
          </a:p>
          <a:p>
            <a:pPr>
              <a:buNone/>
            </a:pPr>
            <a:endParaRPr lang="en-US" dirty="0" smtClean="0"/>
          </a:p>
          <a:p>
            <a:pPr>
              <a:buNone/>
            </a:pPr>
            <a:r>
              <a:rPr lang="en-US" dirty="0" smtClean="0"/>
              <a:t>    &lt;Button</a:t>
            </a:r>
          </a:p>
          <a:p>
            <a:pPr>
              <a:buNone/>
            </a:pPr>
            <a:r>
              <a:rPr lang="en-US" dirty="0" smtClean="0"/>
              <a:t>        </a:t>
            </a:r>
            <a:r>
              <a:rPr lang="en-US" dirty="0" err="1" smtClean="0"/>
              <a:t>android:id</a:t>
            </a:r>
            <a:r>
              <a:rPr lang="en-US" dirty="0" smtClean="0"/>
              <a:t>="@+id/</a:t>
            </a:r>
            <a:r>
              <a:rPr lang="en-US" dirty="0" err="1" smtClean="0"/>
              <a:t>btnAnimate</a:t>
            </a:r>
            <a:r>
              <a:rPr lang="en-US" dirty="0" smtClean="0"/>
              <a:t>"</a:t>
            </a:r>
          </a:p>
          <a:p>
            <a:pPr>
              <a:buNone/>
            </a:pPr>
            <a:r>
              <a:rPr lang="en-US" dirty="0" smtClean="0"/>
              <a:t>        </a:t>
            </a:r>
            <a:r>
              <a:rPr lang="en-US" dirty="0" err="1" smtClean="0"/>
              <a:t>android:layout_width</a:t>
            </a:r>
            <a:r>
              <a:rPr lang="en-US" dirty="0" smtClean="0"/>
              <a:t>="</a:t>
            </a:r>
            <a:r>
              <a:rPr lang="en-US" dirty="0" err="1" smtClean="0"/>
              <a:t>wrap_content</a:t>
            </a:r>
            <a:r>
              <a:rPr lang="en-US" dirty="0" smtClean="0"/>
              <a:t>"</a:t>
            </a:r>
          </a:p>
          <a:p>
            <a:pPr>
              <a:buNone/>
            </a:pPr>
            <a:r>
              <a:rPr lang="en-US" dirty="0" smtClean="0"/>
              <a:t>        </a:t>
            </a:r>
            <a:r>
              <a:rPr lang="en-US" dirty="0" err="1" smtClean="0"/>
              <a:t>android:layout_height</a:t>
            </a:r>
            <a:r>
              <a:rPr lang="en-US" dirty="0" smtClean="0"/>
              <a:t>="</a:t>
            </a:r>
            <a:r>
              <a:rPr lang="en-US" dirty="0" err="1" smtClean="0"/>
              <a:t>wrap_content</a:t>
            </a:r>
            <a:r>
              <a:rPr lang="en-US" dirty="0" smtClean="0"/>
              <a:t>"</a:t>
            </a:r>
          </a:p>
          <a:p>
            <a:pPr>
              <a:buNone/>
            </a:pPr>
            <a:r>
              <a:rPr lang="en-US" dirty="0" smtClean="0"/>
              <a:t>        </a:t>
            </a:r>
            <a:r>
              <a:rPr lang="en-US" dirty="0" err="1" smtClean="0"/>
              <a:t>android:text</a:t>
            </a:r>
            <a:r>
              <a:rPr lang="en-US" dirty="0" smtClean="0"/>
              <a:t>="Start Animation"/&gt;</a:t>
            </a:r>
          </a:p>
          <a:p>
            <a:pPr>
              <a:buNone/>
            </a:pPr>
            <a:r>
              <a:rPr lang="en-US" dirty="0" smtClean="0"/>
              <a:t>&lt;/</a:t>
            </a:r>
            <a:r>
              <a:rPr lang="en-US" dirty="0" err="1" smtClean="0"/>
              <a:t>LinearLayout</a:t>
            </a:r>
            <a:r>
              <a:rPr lang="en-US" dirty="0" smtClean="0"/>
              <a:t>&gt;</a:t>
            </a:r>
          </a:p>
          <a:p>
            <a:pPr>
              <a:buNone/>
            </a:pPr>
            <a:endParaRPr 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472" y="274638"/>
            <a:ext cx="8115328" cy="511156"/>
          </a:xfrm>
        </p:spPr>
        <p:txBody>
          <a:bodyPr>
            <a:normAutofit fontScale="90000"/>
          </a:bodyPr>
          <a:lstStyle/>
          <a:p>
            <a:r>
              <a:rPr lang="en-US" dirty="0" smtClean="0"/>
              <a:t>/res/</a:t>
            </a:r>
            <a:r>
              <a:rPr lang="en-US" dirty="0" err="1" smtClean="0"/>
              <a:t>anim</a:t>
            </a:r>
            <a:r>
              <a:rPr lang="en-US" dirty="0" smtClean="0"/>
              <a:t>/combined.xml</a:t>
            </a:r>
            <a:endParaRPr lang="en-US" dirty="0"/>
          </a:p>
        </p:txBody>
      </p:sp>
      <p:sp>
        <p:nvSpPr>
          <p:cNvPr id="3" name="Content Placeholder 2"/>
          <p:cNvSpPr>
            <a:spLocks noGrp="1"/>
          </p:cNvSpPr>
          <p:nvPr>
            <p:ph idx="1"/>
          </p:nvPr>
        </p:nvSpPr>
        <p:spPr>
          <a:xfrm>
            <a:off x="357158" y="1071546"/>
            <a:ext cx="8329642" cy="5054617"/>
          </a:xfrm>
        </p:spPr>
        <p:txBody>
          <a:bodyPr>
            <a:normAutofit fontScale="32500" lnSpcReduction="20000"/>
          </a:bodyPr>
          <a:lstStyle/>
          <a:p>
            <a:pPr>
              <a:buNone/>
            </a:pPr>
            <a:endParaRPr lang="en-US" dirty="0" smtClean="0"/>
          </a:p>
          <a:p>
            <a:pPr>
              <a:buNone/>
            </a:pPr>
            <a:r>
              <a:rPr lang="en-US" dirty="0" smtClean="0"/>
              <a:t>We can combine multiple animations in one file using &lt;set&gt;:</a:t>
            </a:r>
          </a:p>
          <a:p>
            <a:pPr>
              <a:buNone/>
            </a:pPr>
            <a:endParaRPr lang="en-US" dirty="0" smtClean="0"/>
          </a:p>
          <a:p>
            <a:pPr>
              <a:buNone/>
            </a:pPr>
            <a:endParaRPr lang="en-US" dirty="0" smtClean="0"/>
          </a:p>
          <a:p>
            <a:pPr>
              <a:buNone/>
            </a:pPr>
            <a:r>
              <a:rPr lang="en-US" dirty="0" smtClean="0"/>
              <a:t>&lt;?xml version="1.0" encoding="utf-8"?&gt;</a:t>
            </a:r>
          </a:p>
          <a:p>
            <a:pPr>
              <a:buNone/>
            </a:pPr>
            <a:r>
              <a:rPr lang="en-US" dirty="0" smtClean="0"/>
              <a:t>&lt;set </a:t>
            </a:r>
            <a:r>
              <a:rPr lang="en-US" dirty="0" err="1" smtClean="0"/>
              <a:t>xmlns:android</a:t>
            </a:r>
            <a:r>
              <a:rPr lang="en-US" dirty="0" smtClean="0"/>
              <a:t>="http://schemas.android.com/apk/res/android"</a:t>
            </a:r>
          </a:p>
          <a:p>
            <a:pPr>
              <a:buNone/>
            </a:pPr>
            <a:r>
              <a:rPr lang="en-US" dirty="0" smtClean="0"/>
              <a:t>    </a:t>
            </a:r>
            <a:r>
              <a:rPr lang="en-US" dirty="0" err="1" smtClean="0"/>
              <a:t>android:shareInterpolator</a:t>
            </a:r>
            <a:r>
              <a:rPr lang="en-US" dirty="0" smtClean="0"/>
              <a:t>="false"&gt;</a:t>
            </a:r>
          </a:p>
          <a:p>
            <a:pPr>
              <a:buNone/>
            </a:pPr>
            <a:endParaRPr lang="en-US" dirty="0" smtClean="0"/>
          </a:p>
          <a:p>
            <a:pPr>
              <a:buNone/>
            </a:pPr>
            <a:r>
              <a:rPr lang="en-US" dirty="0" smtClean="0"/>
              <a:t>    &lt;rotate</a:t>
            </a:r>
          </a:p>
          <a:p>
            <a:pPr>
              <a:buNone/>
            </a:pPr>
            <a:r>
              <a:rPr lang="en-US" dirty="0" smtClean="0"/>
              <a:t>        </a:t>
            </a:r>
            <a:r>
              <a:rPr lang="en-US" dirty="0" err="1" smtClean="0"/>
              <a:t>android:fromDegrees</a:t>
            </a:r>
            <a:r>
              <a:rPr lang="en-US" dirty="0" smtClean="0"/>
              <a:t>="0"</a:t>
            </a:r>
          </a:p>
          <a:p>
            <a:pPr>
              <a:buNone/>
            </a:pPr>
            <a:r>
              <a:rPr lang="en-US" dirty="0" smtClean="0"/>
              <a:t>        </a:t>
            </a:r>
            <a:r>
              <a:rPr lang="en-US" dirty="0" err="1" smtClean="0"/>
              <a:t>android:toDegrees</a:t>
            </a:r>
            <a:r>
              <a:rPr lang="en-US" dirty="0" smtClean="0"/>
              <a:t>="360"</a:t>
            </a:r>
          </a:p>
          <a:p>
            <a:pPr>
              <a:buNone/>
            </a:pPr>
            <a:r>
              <a:rPr lang="en-US" dirty="0" smtClean="0"/>
              <a:t>        </a:t>
            </a:r>
            <a:r>
              <a:rPr lang="en-US" dirty="0" err="1" smtClean="0"/>
              <a:t>android:pivotX</a:t>
            </a:r>
            <a:r>
              <a:rPr lang="en-US" dirty="0" smtClean="0"/>
              <a:t>="50%"</a:t>
            </a:r>
          </a:p>
          <a:p>
            <a:pPr>
              <a:buNone/>
            </a:pPr>
            <a:r>
              <a:rPr lang="en-US" dirty="0" smtClean="0"/>
              <a:t>        </a:t>
            </a:r>
            <a:r>
              <a:rPr lang="en-US" dirty="0" err="1" smtClean="0"/>
              <a:t>android:pivotY</a:t>
            </a:r>
            <a:r>
              <a:rPr lang="en-US" dirty="0" smtClean="0"/>
              <a:t>="50%"</a:t>
            </a:r>
          </a:p>
          <a:p>
            <a:pPr>
              <a:buNone/>
            </a:pPr>
            <a:r>
              <a:rPr lang="en-US" dirty="0" smtClean="0"/>
              <a:t>        </a:t>
            </a:r>
            <a:r>
              <a:rPr lang="en-US" dirty="0" err="1" smtClean="0"/>
              <a:t>android:duration</a:t>
            </a:r>
            <a:r>
              <a:rPr lang="en-US" dirty="0" smtClean="0"/>
              <a:t>="2000"</a:t>
            </a:r>
          </a:p>
          <a:p>
            <a:pPr>
              <a:buNone/>
            </a:pPr>
            <a:r>
              <a:rPr lang="en-US" dirty="0" smtClean="0"/>
              <a:t>        </a:t>
            </a:r>
            <a:r>
              <a:rPr lang="en-US" dirty="0" err="1" smtClean="0"/>
              <a:t>android:interpolator</a:t>
            </a:r>
            <a:r>
              <a:rPr lang="en-US" dirty="0" smtClean="0"/>
              <a:t>="@</a:t>
            </a:r>
            <a:r>
              <a:rPr lang="en-US" dirty="0" err="1" smtClean="0"/>
              <a:t>android:anim</a:t>
            </a:r>
            <a:r>
              <a:rPr lang="en-US" dirty="0" smtClean="0"/>
              <a:t>/</a:t>
            </a:r>
            <a:r>
              <a:rPr lang="en-US" dirty="0" err="1" smtClean="0"/>
              <a:t>linear_interpolator</a:t>
            </a:r>
            <a:r>
              <a:rPr lang="en-US" dirty="0" smtClean="0"/>
              <a:t>"/&gt;</a:t>
            </a:r>
          </a:p>
          <a:p>
            <a:pPr>
              <a:buNone/>
            </a:pPr>
            <a:endParaRPr lang="en-US" dirty="0" smtClean="0"/>
          </a:p>
          <a:p>
            <a:pPr>
              <a:buNone/>
            </a:pPr>
            <a:r>
              <a:rPr lang="en-US" dirty="0" smtClean="0"/>
              <a:t>    &lt;alpha</a:t>
            </a:r>
          </a:p>
          <a:p>
            <a:pPr>
              <a:buNone/>
            </a:pPr>
            <a:r>
              <a:rPr lang="en-US" dirty="0" smtClean="0"/>
              <a:t>        </a:t>
            </a:r>
            <a:r>
              <a:rPr lang="en-US" dirty="0" err="1" smtClean="0"/>
              <a:t>android:fromAlpha</a:t>
            </a:r>
            <a:r>
              <a:rPr lang="en-US" dirty="0" smtClean="0"/>
              <a:t>="0.0"</a:t>
            </a:r>
          </a:p>
          <a:p>
            <a:pPr>
              <a:buNone/>
            </a:pPr>
            <a:r>
              <a:rPr lang="en-US" dirty="0" smtClean="0"/>
              <a:t>        </a:t>
            </a:r>
            <a:r>
              <a:rPr lang="en-US" dirty="0" err="1" smtClean="0"/>
              <a:t>android:toAlpha</a:t>
            </a:r>
            <a:r>
              <a:rPr lang="en-US" dirty="0" smtClean="0"/>
              <a:t>="1.0"</a:t>
            </a:r>
          </a:p>
          <a:p>
            <a:pPr>
              <a:buNone/>
            </a:pPr>
            <a:r>
              <a:rPr lang="en-US" dirty="0" smtClean="0"/>
              <a:t>        </a:t>
            </a:r>
            <a:r>
              <a:rPr lang="en-US" dirty="0" err="1" smtClean="0"/>
              <a:t>android:duration</a:t>
            </a:r>
            <a:r>
              <a:rPr lang="en-US" dirty="0" smtClean="0"/>
              <a:t>="2000" /&gt;</a:t>
            </a:r>
          </a:p>
          <a:p>
            <a:pPr>
              <a:buNone/>
            </a:pPr>
            <a:endParaRPr lang="en-US" dirty="0" smtClean="0"/>
          </a:p>
          <a:p>
            <a:pPr>
              <a:buNone/>
            </a:pPr>
            <a:r>
              <a:rPr lang="en-US" dirty="0" smtClean="0"/>
              <a:t>    &lt;scale</a:t>
            </a:r>
          </a:p>
          <a:p>
            <a:pPr>
              <a:buNone/>
            </a:pPr>
            <a:r>
              <a:rPr lang="en-US" dirty="0" smtClean="0"/>
              <a:t>        </a:t>
            </a:r>
            <a:r>
              <a:rPr lang="en-US" dirty="0" err="1" smtClean="0"/>
              <a:t>android:fromXScale</a:t>
            </a:r>
            <a:r>
              <a:rPr lang="en-US" dirty="0" smtClean="0"/>
              <a:t>="1.0"</a:t>
            </a:r>
          </a:p>
          <a:p>
            <a:pPr>
              <a:buNone/>
            </a:pPr>
            <a:r>
              <a:rPr lang="en-US" dirty="0" smtClean="0"/>
              <a:t>        </a:t>
            </a:r>
            <a:r>
              <a:rPr lang="en-US" dirty="0" err="1" smtClean="0"/>
              <a:t>android:toXScale</a:t>
            </a:r>
            <a:r>
              <a:rPr lang="en-US" dirty="0" smtClean="0"/>
              <a:t>="1.5"</a:t>
            </a:r>
          </a:p>
          <a:p>
            <a:pPr>
              <a:buNone/>
            </a:pPr>
            <a:r>
              <a:rPr lang="en-US" dirty="0" smtClean="0"/>
              <a:t>        </a:t>
            </a:r>
            <a:r>
              <a:rPr lang="en-US" dirty="0" err="1" smtClean="0"/>
              <a:t>android:fromYScale</a:t>
            </a:r>
            <a:r>
              <a:rPr lang="en-US" dirty="0" smtClean="0"/>
              <a:t>="1.0"</a:t>
            </a:r>
          </a:p>
          <a:p>
            <a:pPr>
              <a:buNone/>
            </a:pPr>
            <a:r>
              <a:rPr lang="en-US" dirty="0" smtClean="0"/>
              <a:t>        </a:t>
            </a:r>
            <a:r>
              <a:rPr lang="en-US" dirty="0" err="1" smtClean="0"/>
              <a:t>android:toYScale</a:t>
            </a:r>
            <a:r>
              <a:rPr lang="en-US" dirty="0" smtClean="0"/>
              <a:t>="1.5"</a:t>
            </a:r>
          </a:p>
          <a:p>
            <a:pPr>
              <a:buNone/>
            </a:pPr>
            <a:r>
              <a:rPr lang="en-US" dirty="0" smtClean="0"/>
              <a:t>        </a:t>
            </a:r>
            <a:r>
              <a:rPr lang="en-US" dirty="0" err="1" smtClean="0"/>
              <a:t>android:pivotX</a:t>
            </a:r>
            <a:r>
              <a:rPr lang="en-US" dirty="0" smtClean="0"/>
              <a:t>="50%"</a:t>
            </a:r>
          </a:p>
          <a:p>
            <a:pPr>
              <a:buNone/>
            </a:pPr>
            <a:r>
              <a:rPr lang="en-US" dirty="0" smtClean="0"/>
              <a:t>        </a:t>
            </a:r>
            <a:r>
              <a:rPr lang="en-US" dirty="0" err="1" smtClean="0"/>
              <a:t>android:pivotY</a:t>
            </a:r>
            <a:r>
              <a:rPr lang="en-US" dirty="0" smtClean="0"/>
              <a:t>="50%"</a:t>
            </a:r>
          </a:p>
          <a:p>
            <a:pPr>
              <a:buNone/>
            </a:pPr>
            <a:r>
              <a:rPr lang="en-US" dirty="0" smtClean="0"/>
              <a:t>        </a:t>
            </a:r>
            <a:r>
              <a:rPr lang="en-US" dirty="0" err="1" smtClean="0"/>
              <a:t>android:duration</a:t>
            </a:r>
            <a:r>
              <a:rPr lang="en-US" dirty="0" smtClean="0"/>
              <a:t>="2000" /&gt;</a:t>
            </a:r>
          </a:p>
          <a:p>
            <a:pPr>
              <a:buNone/>
            </a:pPr>
            <a:endParaRPr lang="en-US" dirty="0" smtClean="0"/>
          </a:p>
          <a:p>
            <a:pPr>
              <a:buNone/>
            </a:pPr>
            <a:r>
              <a:rPr lang="en-US" dirty="0" smtClean="0"/>
              <a:t>&lt;/set&gt;</a:t>
            </a:r>
          </a:p>
          <a:p>
            <a:pPr>
              <a:buNone/>
            </a:pPr>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You can create </a:t>
            </a:r>
            <a:r>
              <a:rPr lang="en-US" dirty="0" err="1" smtClean="0"/>
              <a:t>individul</a:t>
            </a:r>
            <a:r>
              <a:rPr lang="en-US" dirty="0" smtClean="0"/>
              <a:t> xml file</a:t>
            </a:r>
            <a:endParaRPr lang="en-US" dirty="0"/>
          </a:p>
        </p:txBody>
      </p:sp>
      <p:sp>
        <p:nvSpPr>
          <p:cNvPr id="3" name="Content Placeholder 2"/>
          <p:cNvSpPr>
            <a:spLocks noGrp="1"/>
          </p:cNvSpPr>
          <p:nvPr>
            <p:ph idx="1"/>
          </p:nvPr>
        </p:nvSpPr>
        <p:spPr>
          <a:xfrm>
            <a:off x="457200" y="1600200"/>
            <a:ext cx="8401080" cy="5114948"/>
          </a:xfrm>
        </p:spPr>
        <p:txBody>
          <a:bodyPr>
            <a:noAutofit/>
          </a:bodyPr>
          <a:lstStyle/>
          <a:p>
            <a:pPr>
              <a:buNone/>
            </a:pPr>
            <a:r>
              <a:rPr lang="en-US" sz="900" b="1" dirty="0" smtClean="0"/>
              <a:t>/res/</a:t>
            </a:r>
            <a:r>
              <a:rPr lang="en-US" sz="900" b="1" dirty="0" err="1" smtClean="0"/>
              <a:t>anim</a:t>
            </a:r>
            <a:r>
              <a:rPr lang="en-US" sz="900" b="1" dirty="0" smtClean="0"/>
              <a:t>/rotate.xml</a:t>
            </a:r>
          </a:p>
          <a:p>
            <a:pPr>
              <a:buNone/>
            </a:pPr>
            <a:r>
              <a:rPr lang="en-US" sz="900" dirty="0" smtClean="0"/>
              <a:t>&lt;?xml version="1.0" encoding="utf-8"?&gt;</a:t>
            </a:r>
          </a:p>
          <a:p>
            <a:pPr>
              <a:buNone/>
            </a:pPr>
            <a:r>
              <a:rPr lang="en-US" sz="900" dirty="0" smtClean="0"/>
              <a:t>&lt;rotate </a:t>
            </a:r>
            <a:r>
              <a:rPr lang="en-US" sz="900" dirty="0" err="1" smtClean="0"/>
              <a:t>xmlns:android</a:t>
            </a:r>
            <a:r>
              <a:rPr lang="en-US" sz="900" dirty="0" smtClean="0"/>
              <a:t>="http://schemas.android.com/apk/res/android"</a:t>
            </a:r>
          </a:p>
          <a:p>
            <a:pPr>
              <a:buNone/>
            </a:pPr>
            <a:r>
              <a:rPr lang="en-US" sz="900" dirty="0" smtClean="0"/>
              <a:t>    </a:t>
            </a:r>
            <a:r>
              <a:rPr lang="en-US" sz="900" dirty="0" err="1" smtClean="0"/>
              <a:t>android:fromDegrees</a:t>
            </a:r>
            <a:r>
              <a:rPr lang="en-US" sz="900" dirty="0" smtClean="0"/>
              <a:t>="0"</a:t>
            </a:r>
          </a:p>
          <a:p>
            <a:pPr>
              <a:buNone/>
            </a:pPr>
            <a:r>
              <a:rPr lang="en-US" sz="900" dirty="0" smtClean="0"/>
              <a:t>    </a:t>
            </a:r>
            <a:r>
              <a:rPr lang="en-US" sz="900" dirty="0" err="1" smtClean="0"/>
              <a:t>android:toDegrees</a:t>
            </a:r>
            <a:r>
              <a:rPr lang="en-US" sz="900" dirty="0" smtClean="0"/>
              <a:t>="360"</a:t>
            </a:r>
          </a:p>
          <a:p>
            <a:pPr>
              <a:buNone/>
            </a:pPr>
            <a:r>
              <a:rPr lang="en-US" sz="900" dirty="0" smtClean="0"/>
              <a:t>    </a:t>
            </a:r>
            <a:r>
              <a:rPr lang="en-US" sz="900" dirty="0" err="1" smtClean="0"/>
              <a:t>android:pivotX</a:t>
            </a:r>
            <a:r>
              <a:rPr lang="en-US" sz="900" dirty="0" smtClean="0"/>
              <a:t>="50%"</a:t>
            </a:r>
          </a:p>
          <a:p>
            <a:pPr>
              <a:buNone/>
            </a:pPr>
            <a:r>
              <a:rPr lang="en-US" sz="900" dirty="0" smtClean="0"/>
              <a:t>    </a:t>
            </a:r>
            <a:r>
              <a:rPr lang="en-US" sz="900" dirty="0" err="1" smtClean="0"/>
              <a:t>android:pivotY</a:t>
            </a:r>
            <a:r>
              <a:rPr lang="en-US" sz="900" dirty="0" smtClean="0"/>
              <a:t>="50%"</a:t>
            </a:r>
          </a:p>
          <a:p>
            <a:pPr>
              <a:buNone/>
            </a:pPr>
            <a:r>
              <a:rPr lang="en-US" sz="900" dirty="0" smtClean="0"/>
              <a:t>    </a:t>
            </a:r>
            <a:r>
              <a:rPr lang="en-US" sz="900" dirty="0" err="1" smtClean="0"/>
              <a:t>android:duration</a:t>
            </a:r>
            <a:r>
              <a:rPr lang="en-US" sz="900" dirty="0" smtClean="0"/>
              <a:t>="2000"</a:t>
            </a:r>
          </a:p>
          <a:p>
            <a:pPr>
              <a:buNone/>
            </a:pPr>
            <a:r>
              <a:rPr lang="en-US" sz="900" dirty="0" smtClean="0"/>
              <a:t>    </a:t>
            </a:r>
            <a:r>
              <a:rPr lang="en-US" sz="900" dirty="0" err="1" smtClean="0"/>
              <a:t>android:repeatCount</a:t>
            </a:r>
            <a:r>
              <a:rPr lang="en-US" sz="900" dirty="0" smtClean="0"/>
              <a:t>="0"</a:t>
            </a:r>
          </a:p>
          <a:p>
            <a:pPr>
              <a:buNone/>
            </a:pPr>
            <a:r>
              <a:rPr lang="en-US" sz="900" dirty="0" smtClean="0"/>
              <a:t>    </a:t>
            </a:r>
            <a:r>
              <a:rPr lang="en-US" sz="900" dirty="0" err="1" smtClean="0"/>
              <a:t>android:interpolator</a:t>
            </a:r>
            <a:r>
              <a:rPr lang="en-US" sz="900" dirty="0" smtClean="0"/>
              <a:t>="@</a:t>
            </a:r>
            <a:r>
              <a:rPr lang="en-US" sz="900" dirty="0" err="1" smtClean="0"/>
              <a:t>android:anim</a:t>
            </a:r>
            <a:r>
              <a:rPr lang="en-US" sz="900" dirty="0" smtClean="0"/>
              <a:t>/</a:t>
            </a:r>
            <a:r>
              <a:rPr lang="en-US" sz="900" dirty="0" err="1" smtClean="0"/>
              <a:t>linear_interpolator</a:t>
            </a:r>
            <a:r>
              <a:rPr lang="en-US" sz="900" dirty="0" smtClean="0"/>
              <a:t>" /&gt;</a:t>
            </a:r>
          </a:p>
          <a:p>
            <a:pPr>
              <a:buNone/>
            </a:pPr>
            <a:endParaRPr lang="en-US" sz="900" dirty="0" smtClean="0"/>
          </a:p>
          <a:p>
            <a:pPr>
              <a:buNone/>
            </a:pPr>
            <a:r>
              <a:rPr lang="en-US" sz="900" b="1" dirty="0" smtClean="0"/>
              <a:t>res/</a:t>
            </a:r>
            <a:r>
              <a:rPr lang="en-US" sz="900" b="1" dirty="0" err="1" smtClean="0"/>
              <a:t>anim</a:t>
            </a:r>
            <a:r>
              <a:rPr lang="en-US" sz="900" b="1" dirty="0" smtClean="0"/>
              <a:t>/fade_in.xml</a:t>
            </a:r>
          </a:p>
          <a:p>
            <a:pPr>
              <a:buNone/>
            </a:pPr>
            <a:endParaRPr lang="en-US" sz="900" b="1" dirty="0" smtClean="0"/>
          </a:p>
          <a:p>
            <a:pPr>
              <a:buNone/>
            </a:pPr>
            <a:r>
              <a:rPr lang="en-US" sz="900" dirty="0" smtClean="0"/>
              <a:t>&lt;?xml version="1.0" encoding="utf-8"?&gt;</a:t>
            </a:r>
          </a:p>
          <a:p>
            <a:pPr>
              <a:buNone/>
            </a:pPr>
            <a:r>
              <a:rPr lang="en-US" sz="900" dirty="0" smtClean="0"/>
              <a:t>&lt;alpha </a:t>
            </a:r>
            <a:r>
              <a:rPr lang="en-US" sz="900" dirty="0" err="1" smtClean="0"/>
              <a:t>xmlns:android</a:t>
            </a:r>
            <a:r>
              <a:rPr lang="en-US" sz="900" dirty="0" smtClean="0"/>
              <a:t>="http://schemas.android.com/apk/res/android"</a:t>
            </a:r>
          </a:p>
          <a:p>
            <a:pPr>
              <a:buNone/>
            </a:pPr>
            <a:r>
              <a:rPr lang="en-US" sz="900" dirty="0" smtClean="0"/>
              <a:t>    </a:t>
            </a:r>
            <a:r>
              <a:rPr lang="en-US" sz="900" dirty="0" err="1" smtClean="0"/>
              <a:t>android:fromAlpha</a:t>
            </a:r>
            <a:r>
              <a:rPr lang="en-US" sz="900" dirty="0" smtClean="0"/>
              <a:t>="0.0"</a:t>
            </a:r>
          </a:p>
          <a:p>
            <a:pPr>
              <a:buNone/>
            </a:pPr>
            <a:r>
              <a:rPr lang="en-US" sz="900" dirty="0" smtClean="0"/>
              <a:t>    </a:t>
            </a:r>
            <a:r>
              <a:rPr lang="en-US" sz="900" dirty="0" err="1" smtClean="0"/>
              <a:t>android:toAlpha</a:t>
            </a:r>
            <a:r>
              <a:rPr lang="en-US" sz="900" dirty="0" smtClean="0"/>
              <a:t>="1.0"</a:t>
            </a:r>
          </a:p>
          <a:p>
            <a:pPr>
              <a:buNone/>
            </a:pPr>
            <a:r>
              <a:rPr lang="en-US" sz="900" dirty="0" smtClean="0"/>
              <a:t>    </a:t>
            </a:r>
            <a:r>
              <a:rPr lang="en-US" sz="900" dirty="0" err="1" smtClean="0"/>
              <a:t>android:duration</a:t>
            </a:r>
            <a:r>
              <a:rPr lang="en-US" sz="900" dirty="0" smtClean="0"/>
              <a:t>="2000"</a:t>
            </a:r>
          </a:p>
          <a:p>
            <a:pPr>
              <a:buNone/>
            </a:pPr>
            <a:r>
              <a:rPr lang="en-US" sz="900" dirty="0" smtClean="0"/>
              <a:t>    </a:t>
            </a:r>
            <a:r>
              <a:rPr lang="en-US" sz="900" dirty="0" err="1" smtClean="0"/>
              <a:t>android:repeatCount</a:t>
            </a:r>
            <a:r>
              <a:rPr lang="en-US" sz="900" dirty="0" smtClean="0"/>
              <a:t>="0"/&gt;</a:t>
            </a:r>
          </a:p>
          <a:p>
            <a:pPr>
              <a:buNone/>
            </a:pPr>
            <a:r>
              <a:rPr lang="en-US" sz="900" dirty="0" smtClean="0"/>
              <a:t>&lt;?xml version="1.0" encoding="utf-8"?&gt;</a:t>
            </a:r>
          </a:p>
          <a:p>
            <a:pPr>
              <a:buNone/>
            </a:pPr>
            <a:endParaRPr lang="en-US" sz="900" dirty="0" smtClean="0"/>
          </a:p>
          <a:p>
            <a:pPr>
              <a:buNone/>
            </a:pPr>
            <a:r>
              <a:rPr lang="en-US" sz="900" b="1" dirty="0" smtClean="0"/>
              <a:t> res/</a:t>
            </a:r>
            <a:r>
              <a:rPr lang="en-US" sz="900" b="1" dirty="0" err="1" smtClean="0"/>
              <a:t>anim</a:t>
            </a:r>
            <a:r>
              <a:rPr lang="en-US" sz="900" b="1" dirty="0" smtClean="0"/>
              <a:t>/scale.xml</a:t>
            </a:r>
          </a:p>
          <a:p>
            <a:pPr>
              <a:buNone/>
            </a:pPr>
            <a:r>
              <a:rPr lang="en-US" sz="900" dirty="0" smtClean="0"/>
              <a:t>&lt;scale </a:t>
            </a:r>
            <a:r>
              <a:rPr lang="en-US" sz="900" dirty="0" err="1" smtClean="0"/>
              <a:t>xmlns:android</a:t>
            </a:r>
            <a:r>
              <a:rPr lang="en-US" sz="900" dirty="0" smtClean="0"/>
              <a:t>="http://schemas.android.com/apk/res/android"</a:t>
            </a:r>
          </a:p>
          <a:p>
            <a:pPr>
              <a:buNone/>
            </a:pPr>
            <a:r>
              <a:rPr lang="en-US" sz="900" dirty="0" smtClean="0"/>
              <a:t>    </a:t>
            </a:r>
            <a:r>
              <a:rPr lang="en-US" sz="900" dirty="0" err="1" smtClean="0"/>
              <a:t>android:fromXScale</a:t>
            </a:r>
            <a:r>
              <a:rPr lang="en-US" sz="900" dirty="0" smtClean="0"/>
              <a:t>="1.0"</a:t>
            </a:r>
          </a:p>
          <a:p>
            <a:pPr>
              <a:buNone/>
            </a:pPr>
            <a:r>
              <a:rPr lang="en-US" sz="900" dirty="0" smtClean="0"/>
              <a:t>    </a:t>
            </a:r>
            <a:r>
              <a:rPr lang="en-US" sz="900" dirty="0" err="1" smtClean="0"/>
              <a:t>android:toXScale</a:t>
            </a:r>
            <a:r>
              <a:rPr lang="en-US" sz="900" dirty="0" smtClean="0"/>
              <a:t>="1.5"</a:t>
            </a:r>
          </a:p>
          <a:p>
            <a:pPr>
              <a:buNone/>
            </a:pPr>
            <a:r>
              <a:rPr lang="en-US" sz="900" dirty="0" smtClean="0"/>
              <a:t>    </a:t>
            </a:r>
            <a:r>
              <a:rPr lang="en-US" sz="900" dirty="0" err="1" smtClean="0"/>
              <a:t>android:fromYScale</a:t>
            </a:r>
            <a:r>
              <a:rPr lang="en-US" sz="900" dirty="0" smtClean="0"/>
              <a:t>="1.0"</a:t>
            </a:r>
          </a:p>
          <a:p>
            <a:pPr>
              <a:buNone/>
            </a:pPr>
            <a:r>
              <a:rPr lang="en-US" sz="900" dirty="0" smtClean="0"/>
              <a:t>    </a:t>
            </a:r>
            <a:r>
              <a:rPr lang="en-US" sz="900" dirty="0" err="1" smtClean="0"/>
              <a:t>android:toYScale</a:t>
            </a:r>
            <a:r>
              <a:rPr lang="en-US" sz="900" dirty="0" smtClean="0"/>
              <a:t>="1.5"</a:t>
            </a:r>
          </a:p>
          <a:p>
            <a:pPr>
              <a:buNone/>
            </a:pPr>
            <a:r>
              <a:rPr lang="en-US" sz="900" dirty="0" smtClean="0"/>
              <a:t>    </a:t>
            </a:r>
            <a:r>
              <a:rPr lang="en-US" sz="900" dirty="0" err="1" smtClean="0"/>
              <a:t>android:pivotX</a:t>
            </a:r>
            <a:r>
              <a:rPr lang="en-US" sz="900" dirty="0" smtClean="0"/>
              <a:t>="50%"</a:t>
            </a:r>
          </a:p>
          <a:p>
            <a:pPr>
              <a:buNone/>
            </a:pPr>
            <a:r>
              <a:rPr lang="en-US" sz="900" dirty="0" smtClean="0"/>
              <a:t>    </a:t>
            </a:r>
            <a:r>
              <a:rPr lang="en-US" sz="900" dirty="0" err="1" smtClean="0"/>
              <a:t>android:pivotY</a:t>
            </a:r>
            <a:r>
              <a:rPr lang="en-US" sz="900" dirty="0" smtClean="0"/>
              <a:t>="50%"</a:t>
            </a:r>
          </a:p>
          <a:p>
            <a:pPr>
              <a:buNone/>
            </a:pPr>
            <a:r>
              <a:rPr lang="en-US" sz="900" dirty="0" smtClean="0"/>
              <a:t>    </a:t>
            </a:r>
            <a:r>
              <a:rPr lang="en-US" sz="900" dirty="0" err="1" smtClean="0"/>
              <a:t>android:duration</a:t>
            </a:r>
            <a:r>
              <a:rPr lang="en-US" sz="900" dirty="0" smtClean="0"/>
              <a:t>="2000"</a:t>
            </a:r>
          </a:p>
          <a:p>
            <a:pPr>
              <a:buNone/>
            </a:pPr>
            <a:r>
              <a:rPr lang="en-US" sz="900" dirty="0" smtClean="0"/>
              <a:t>    </a:t>
            </a:r>
            <a:r>
              <a:rPr lang="en-US" sz="900" dirty="0" err="1" smtClean="0"/>
              <a:t>android:repeatCount</a:t>
            </a:r>
            <a:r>
              <a:rPr lang="en-US" sz="900" dirty="0" smtClean="0"/>
              <a:t>="0" /&gt;</a:t>
            </a:r>
          </a:p>
          <a:p>
            <a:pPr>
              <a:buNone/>
            </a:pPr>
            <a:endParaRPr lang="en-US" sz="900" dirty="0" smtClean="0"/>
          </a:p>
          <a:p>
            <a:pPr>
              <a:buNone/>
            </a:pPr>
            <a:endParaRPr lang="en-US" sz="900" dirty="0" smtClean="0"/>
          </a:p>
          <a:p>
            <a:pPr>
              <a:buNone/>
            </a:pPr>
            <a:endParaRPr lang="en-US" sz="900"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Multimedia in android</a:t>
            </a:r>
            <a:endParaRPr lang="en-US" dirty="0"/>
          </a:p>
        </p:txBody>
      </p:sp>
      <p:sp>
        <p:nvSpPr>
          <p:cNvPr id="3" name="Content Placeholder 2"/>
          <p:cNvSpPr>
            <a:spLocks noGrp="1"/>
          </p:cNvSpPr>
          <p:nvPr>
            <p:ph idx="1"/>
          </p:nvPr>
        </p:nvSpPr>
        <p:spPr/>
        <p:txBody>
          <a:bodyPr>
            <a:normAutofit lnSpcReduction="10000"/>
          </a:bodyPr>
          <a:lstStyle/>
          <a:p>
            <a:pPr>
              <a:buNone/>
            </a:pPr>
            <a:r>
              <a:rPr lang="en-US" sz="1200" dirty="0" smtClean="0">
                <a:latin typeface="Times New Roman" pitchFamily="18" charset="0"/>
                <a:cs typeface="Times New Roman" pitchFamily="18" charset="0"/>
              </a:rPr>
              <a:t>	The Android Multimedia framework is a set of APIs for developers which enables them to create a multimedia application on an android platform. This framework provides support for audio, video, and images, which provides a range of features such as media playback, recording, editing, streaming, etc.</a:t>
            </a:r>
          </a:p>
          <a:p>
            <a:pPr>
              <a:buNone/>
            </a:pPr>
            <a:r>
              <a:rPr lang="en-US" sz="1200" b="1" dirty="0" smtClean="0"/>
              <a:t>Components of Android Multimedia Framework:</a:t>
            </a:r>
          </a:p>
          <a:p>
            <a:pPr>
              <a:buNone/>
            </a:pPr>
            <a:r>
              <a:rPr lang="en-US" sz="1200" dirty="0" smtClean="0"/>
              <a:t>1. </a:t>
            </a:r>
            <a:r>
              <a:rPr lang="en-US" sz="1200" b="1" dirty="0" smtClean="0"/>
              <a:t>Media </a:t>
            </a:r>
            <a:r>
              <a:rPr lang="en-US" sz="1200" b="1" dirty="0" err="1" smtClean="0"/>
              <a:t>Codec</a:t>
            </a:r>
            <a:r>
              <a:rPr lang="en-US" sz="1200" dirty="0" err="1" smtClean="0"/>
              <a:t>:Provides</a:t>
            </a:r>
            <a:r>
              <a:rPr lang="en-US" sz="1200" dirty="0" smtClean="0"/>
              <a:t> </a:t>
            </a:r>
            <a:r>
              <a:rPr lang="en-US" sz="1200" b="1" dirty="0" smtClean="0"/>
              <a:t>low-level access</a:t>
            </a:r>
            <a:r>
              <a:rPr lang="en-US" sz="1200" dirty="0" smtClean="0"/>
              <a:t> to hardware/software </a:t>
            </a:r>
            <a:r>
              <a:rPr lang="en-US" sz="1200" dirty="0" err="1" smtClean="0"/>
              <a:t>codecs</a:t>
            </a:r>
            <a:r>
              <a:rPr lang="en-US" sz="1200" dirty="0" smtClean="0"/>
              <a:t> for </a:t>
            </a:r>
            <a:r>
              <a:rPr lang="en-US" sz="1200" b="1" dirty="0" smtClean="0"/>
              <a:t>encoding and decoding</a:t>
            </a:r>
            <a:r>
              <a:rPr lang="en-US" sz="1200" dirty="0" smtClean="0"/>
              <a:t> audio and video.</a:t>
            </a:r>
          </a:p>
          <a:p>
            <a:r>
              <a:rPr lang="en-US" sz="1200" b="1" dirty="0" smtClean="0"/>
              <a:t>Container:</a:t>
            </a:r>
            <a:r>
              <a:rPr lang="en-US" sz="1200" dirty="0" smtClean="0"/>
              <a:t> Stores audio/video data (e.g., .mp4, .</a:t>
            </a:r>
            <a:r>
              <a:rPr lang="en-US" sz="1200" dirty="0" err="1" smtClean="0"/>
              <a:t>mkv</a:t>
            </a:r>
            <a:r>
              <a:rPr lang="en-US" sz="1200" dirty="0" smtClean="0"/>
              <a:t>) and helps compress or change quality.</a:t>
            </a:r>
          </a:p>
          <a:p>
            <a:r>
              <a:rPr lang="en-US" sz="1200" b="1" dirty="0" smtClean="0"/>
              <a:t>Audio Format:</a:t>
            </a:r>
            <a:r>
              <a:rPr lang="en-US" sz="1200" dirty="0" smtClean="0"/>
              <a:t> Use supported formats like MP3, AAC, etc.</a:t>
            </a:r>
          </a:p>
          <a:p>
            <a:r>
              <a:rPr lang="en-US" sz="1200" b="1" dirty="0" smtClean="0"/>
              <a:t>Network Protocols Supported:</a:t>
            </a:r>
            <a:r>
              <a:rPr lang="en-US" sz="1200" dirty="0" smtClean="0"/>
              <a:t> RTSP, HTTP/HTTPS streaming, Live streaming.</a:t>
            </a:r>
          </a:p>
          <a:p>
            <a:pPr>
              <a:buNone/>
            </a:pPr>
            <a:r>
              <a:rPr lang="en-US" sz="1200" dirty="0" smtClean="0"/>
              <a:t>Common Codec Formats:</a:t>
            </a:r>
          </a:p>
          <a:p>
            <a:pPr>
              <a:buNone/>
            </a:pPr>
            <a:endParaRPr lang="en-US" sz="1200" b="1" dirty="0" smtClean="0"/>
          </a:p>
          <a:p>
            <a:pPr>
              <a:buNone/>
            </a:pPr>
            <a:r>
              <a:rPr lang="en-US" sz="1200" b="1" dirty="0" smtClean="0"/>
              <a:t>Type		Example		description</a:t>
            </a:r>
          </a:p>
          <a:p>
            <a:pPr>
              <a:buNone/>
            </a:pPr>
            <a:r>
              <a:rPr lang="en-US" sz="1200" dirty="0" smtClean="0"/>
              <a:t>Video            H.264, VP9                     High-quality video compression</a:t>
            </a:r>
          </a:p>
          <a:p>
            <a:pPr>
              <a:buNone/>
            </a:pPr>
            <a:r>
              <a:rPr lang="en-US" sz="1200" dirty="0" smtClean="0"/>
              <a:t>Audio            AAC, MP3                       Popular compressed audio formats</a:t>
            </a:r>
          </a:p>
          <a:p>
            <a:pPr>
              <a:buNone/>
            </a:pPr>
            <a:r>
              <a:rPr lang="en-US" sz="1200" dirty="0" smtClean="0"/>
              <a:t>Image            JPEG, PNG                    JPEG = compressed; PNG = lossless</a:t>
            </a:r>
          </a:p>
          <a:p>
            <a:pPr>
              <a:buNone/>
            </a:pPr>
            <a:r>
              <a:rPr lang="en-US" sz="1200" b="1" dirty="0" smtClean="0"/>
              <a:t>Note: AAC</a:t>
            </a:r>
            <a:r>
              <a:rPr lang="en-US" sz="1200" dirty="0" smtClean="0"/>
              <a:t> stands for </a:t>
            </a:r>
            <a:r>
              <a:rPr lang="en-US" sz="1200" b="1" dirty="0" smtClean="0"/>
              <a:t>Advanced Audio Coding</a:t>
            </a:r>
            <a:r>
              <a:rPr lang="en-US" sz="1200" dirty="0" smtClean="0"/>
              <a:t> — it is a </a:t>
            </a:r>
            <a:r>
              <a:rPr lang="en-US" sz="1200" b="1" dirty="0" smtClean="0"/>
              <a:t>digital audio compression format</a:t>
            </a:r>
            <a:r>
              <a:rPr lang="en-US" sz="1200" dirty="0" smtClean="0"/>
              <a:t>, just like MP3, but </a:t>
            </a:r>
            <a:r>
              <a:rPr lang="en-US" sz="1200" b="1" dirty="0" smtClean="0"/>
              <a:t>more efficient</a:t>
            </a:r>
            <a:r>
              <a:rPr lang="en-US" sz="1200" dirty="0" smtClean="0"/>
              <a:t>.</a:t>
            </a:r>
            <a:endParaRPr lang="en-US" sz="1200" b="1" dirty="0" smtClean="0"/>
          </a:p>
          <a:p>
            <a:pPr>
              <a:buNone/>
            </a:pPr>
            <a:endParaRPr lang="en-US" sz="1200" dirty="0" smtClean="0">
              <a:latin typeface="Times New Roman" pitchFamily="18" charset="0"/>
              <a:cs typeface="Times New Roman" pitchFamily="18" charset="0"/>
            </a:endParaRPr>
          </a:p>
          <a:p>
            <a:pPr>
              <a:buNone/>
            </a:pPr>
            <a:r>
              <a:rPr lang="en-US" sz="1200" b="1" dirty="0" smtClean="0">
                <a:latin typeface="Times New Roman" pitchFamily="18" charset="0"/>
                <a:cs typeface="Times New Roman" pitchFamily="18" charset="0"/>
              </a:rPr>
              <a:t>2. Media Player:</a:t>
            </a:r>
          </a:p>
          <a:p>
            <a:pPr>
              <a:buNone/>
            </a:pPr>
            <a:endParaRPr lang="en-US" sz="1200" dirty="0" smtClean="0">
              <a:latin typeface="Times New Roman" pitchFamily="18" charset="0"/>
              <a:cs typeface="Times New Roman" pitchFamily="18" charset="0"/>
            </a:endParaRPr>
          </a:p>
          <a:p>
            <a:r>
              <a:rPr lang="en-US" sz="1200" dirty="0" smtClean="0"/>
              <a:t>Used for </a:t>
            </a:r>
            <a:r>
              <a:rPr lang="en-US" sz="1200" b="1" dirty="0" smtClean="0"/>
              <a:t>playing audio/video files or streams</a:t>
            </a:r>
            <a:r>
              <a:rPr lang="en-US" sz="1200" dirty="0" smtClean="0"/>
              <a:t> in Android.</a:t>
            </a:r>
          </a:p>
          <a:p>
            <a:r>
              <a:rPr lang="en-US" sz="1200" dirty="0" smtClean="0"/>
              <a:t>Supports formats like MP3, AAC, WAV, MP4, H.264.</a:t>
            </a:r>
          </a:p>
          <a:p>
            <a:r>
              <a:rPr lang="en-US" sz="1200" dirty="0" smtClean="0"/>
              <a:t>Can play from </a:t>
            </a:r>
            <a:r>
              <a:rPr lang="en-US" sz="1200" b="1" dirty="0" smtClean="0"/>
              <a:t>local storage, URLs, or content providers.</a:t>
            </a:r>
            <a:endParaRPr lang="en-US" sz="1200" dirty="0" smtClean="0"/>
          </a:p>
          <a:p>
            <a:pPr>
              <a:buNone/>
            </a:pPr>
            <a:endParaRPr lang="en-US" sz="1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Main Features: Media Player</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a:buNone/>
            </a:pPr>
            <a:r>
              <a:rPr lang="en-US" sz="1200" b="1" dirty="0" smtClean="0">
                <a:latin typeface="Times New Roman" pitchFamily="18" charset="0"/>
                <a:cs typeface="Times New Roman" pitchFamily="18" charset="0"/>
              </a:rPr>
              <a:t>Playback Control:</a:t>
            </a:r>
            <a:r>
              <a:rPr lang="en-US" sz="1200" dirty="0" smtClean="0">
                <a:latin typeface="Times New Roman" pitchFamily="18" charset="0"/>
                <a:cs typeface="Times New Roman" pitchFamily="18" charset="0"/>
              </a:rPr>
              <a:t> start(), pause(), stop(), </a:t>
            </a:r>
            <a:r>
              <a:rPr lang="en-US" sz="1200" dirty="0" err="1" smtClean="0">
                <a:latin typeface="Times New Roman" pitchFamily="18" charset="0"/>
                <a:cs typeface="Times New Roman" pitchFamily="18" charset="0"/>
              </a:rPr>
              <a:t>seekTo</a:t>
            </a:r>
            <a:r>
              <a:rPr lang="en-US" sz="1200" dirty="0" smtClean="0">
                <a:latin typeface="Times New Roman" pitchFamily="18" charset="0"/>
                <a:cs typeface="Times New Roman" pitchFamily="18" charset="0"/>
              </a:rPr>
              <a:t>()</a:t>
            </a:r>
          </a:p>
          <a:p>
            <a:pPr>
              <a:buNone/>
            </a:pPr>
            <a:r>
              <a:rPr lang="en-US" sz="1200" b="1" dirty="0" smtClean="0">
                <a:latin typeface="Times New Roman" pitchFamily="18" charset="0"/>
                <a:cs typeface="Times New Roman" pitchFamily="18" charset="0"/>
              </a:rPr>
              <a:t>Playback State:</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onPrepared</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onCompletion</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onError</a:t>
            </a:r>
            <a:r>
              <a:rPr lang="en-US" sz="1200" dirty="0" smtClean="0">
                <a:latin typeface="Times New Roman" pitchFamily="18" charset="0"/>
                <a:cs typeface="Times New Roman" pitchFamily="18" charset="0"/>
              </a:rPr>
              <a:t>()</a:t>
            </a:r>
          </a:p>
          <a:p>
            <a:pPr>
              <a:buNone/>
            </a:pPr>
            <a:r>
              <a:rPr lang="en-US" sz="1200" b="1" dirty="0" smtClean="0">
                <a:latin typeface="Times New Roman" pitchFamily="18" charset="0"/>
                <a:cs typeface="Times New Roman" pitchFamily="18" charset="0"/>
              </a:rPr>
              <a:t>Audio Focus:</a:t>
            </a:r>
            <a:r>
              <a:rPr lang="en-US" sz="1200" dirty="0" smtClean="0">
                <a:latin typeface="Times New Roman" pitchFamily="18" charset="0"/>
                <a:cs typeface="Times New Roman" pitchFamily="18" charset="0"/>
              </a:rPr>
              <a:t> Handles multiple audio sources.</a:t>
            </a:r>
          </a:p>
          <a:p>
            <a:pPr>
              <a:buNone/>
            </a:pPr>
            <a:r>
              <a:rPr lang="en-US" sz="1200" b="1" dirty="0" smtClean="0">
                <a:latin typeface="Times New Roman" pitchFamily="18" charset="0"/>
                <a:cs typeface="Times New Roman" pitchFamily="18" charset="0"/>
              </a:rPr>
              <a:t>Media Streaming:</a:t>
            </a:r>
            <a:r>
              <a:rPr lang="en-US" sz="1200" dirty="0" smtClean="0">
                <a:latin typeface="Times New Roman" pitchFamily="18" charset="0"/>
                <a:cs typeface="Times New Roman" pitchFamily="18" charset="0"/>
              </a:rPr>
              <a:t> Play media via HTTP, RTSP, RTP.</a:t>
            </a:r>
          </a:p>
          <a:p>
            <a:pPr>
              <a:buNone/>
            </a:pPr>
            <a:r>
              <a:rPr lang="en-US" sz="1200" b="1" dirty="0" smtClean="0">
                <a:latin typeface="Times New Roman" pitchFamily="18" charset="0"/>
                <a:cs typeface="Times New Roman" pitchFamily="18" charset="0"/>
              </a:rPr>
              <a:t>Surface Playback:</a:t>
            </a:r>
            <a:r>
              <a:rPr lang="en-US" sz="1200" dirty="0" smtClean="0">
                <a:latin typeface="Times New Roman" pitchFamily="18" charset="0"/>
                <a:cs typeface="Times New Roman" pitchFamily="18" charset="0"/>
              </a:rPr>
              <a:t> </a:t>
            </a:r>
            <a:r>
              <a:rPr lang="en-US" sz="1200" dirty="0" err="1" smtClean="0">
                <a:latin typeface="Times New Roman" pitchFamily="18" charset="0"/>
                <a:cs typeface="Times New Roman" pitchFamily="18" charset="0"/>
              </a:rPr>
              <a:t>setSurface</a:t>
            </a:r>
            <a:r>
              <a:rPr lang="en-US" sz="1200" dirty="0" smtClean="0">
                <a:latin typeface="Times New Roman" pitchFamily="18" charset="0"/>
                <a:cs typeface="Times New Roman" pitchFamily="18" charset="0"/>
              </a:rPr>
              <a:t>() defines where video will display.</a:t>
            </a:r>
          </a:p>
          <a:p>
            <a:pPr>
              <a:buNone/>
            </a:pPr>
            <a:endParaRPr lang="en-US" sz="1200" dirty="0" smtClean="0">
              <a:latin typeface="Times New Roman" pitchFamily="18" charset="0"/>
              <a:cs typeface="Times New Roman" pitchFamily="18" charset="0"/>
            </a:endParaRPr>
          </a:p>
          <a:p>
            <a:pPr>
              <a:buNone/>
            </a:pPr>
            <a:r>
              <a:rPr lang="en-US" sz="1200" b="1" dirty="0" smtClean="0"/>
              <a:t>3.Media Recorder</a:t>
            </a:r>
          </a:p>
          <a:p>
            <a:r>
              <a:rPr lang="en-US" sz="1200" dirty="0" smtClean="0"/>
              <a:t>Used for </a:t>
            </a:r>
            <a:r>
              <a:rPr lang="en-US" sz="1200" b="1" dirty="0" smtClean="0"/>
              <a:t>recording audio and video</a:t>
            </a:r>
            <a:r>
              <a:rPr lang="en-US" sz="1200" dirty="0" smtClean="0"/>
              <a:t> from </a:t>
            </a:r>
            <a:r>
              <a:rPr lang="en-US" sz="1200" dirty="0" err="1" smtClean="0"/>
              <a:t>mic</a:t>
            </a:r>
            <a:r>
              <a:rPr lang="en-US" sz="1200" dirty="0" smtClean="0"/>
              <a:t> or camera.</a:t>
            </a:r>
          </a:p>
          <a:p>
            <a:r>
              <a:rPr lang="en-US" sz="1200" dirty="0" smtClean="0"/>
              <a:t>Offers simple methods for recording and saving files.</a:t>
            </a:r>
          </a:p>
          <a:p>
            <a:pPr>
              <a:buNone/>
            </a:pPr>
            <a:r>
              <a:rPr lang="en-US" sz="1200" b="1" dirty="0" smtClean="0"/>
              <a:t>Main Features:</a:t>
            </a:r>
            <a:endParaRPr lang="en-US" sz="1200" dirty="0" smtClean="0"/>
          </a:p>
          <a:p>
            <a:pPr>
              <a:buNone/>
            </a:pPr>
            <a:r>
              <a:rPr lang="en-US" sz="1200" b="1" dirty="0" smtClean="0"/>
              <a:t>Control:</a:t>
            </a:r>
            <a:r>
              <a:rPr lang="en-US" sz="1200" dirty="0" smtClean="0"/>
              <a:t> start(), stop(), reset()</a:t>
            </a:r>
          </a:p>
          <a:p>
            <a:pPr>
              <a:buNone/>
            </a:pPr>
            <a:r>
              <a:rPr lang="en-US" sz="1200" b="1" dirty="0" smtClean="0"/>
              <a:t>State Notifications:</a:t>
            </a:r>
            <a:r>
              <a:rPr lang="en-US" sz="1200" dirty="0" smtClean="0"/>
              <a:t> </a:t>
            </a:r>
            <a:r>
              <a:rPr lang="en-US" sz="1200" dirty="0" err="1" smtClean="0"/>
              <a:t>onInfo</a:t>
            </a:r>
            <a:r>
              <a:rPr lang="en-US" sz="1200" dirty="0" smtClean="0"/>
              <a:t>(), </a:t>
            </a:r>
            <a:r>
              <a:rPr lang="en-US" sz="1200" dirty="0" err="1" smtClean="0"/>
              <a:t>onError</a:t>
            </a:r>
            <a:r>
              <a:rPr lang="en-US" sz="1200" dirty="0" smtClean="0"/>
              <a:t>()</a:t>
            </a:r>
          </a:p>
          <a:p>
            <a:pPr>
              <a:buNone/>
            </a:pPr>
            <a:r>
              <a:rPr lang="en-US" sz="1200" b="1" dirty="0" smtClean="0"/>
              <a:t>Sources:</a:t>
            </a:r>
            <a:r>
              <a:rPr lang="en-US" sz="1200" dirty="0" smtClean="0"/>
              <a:t> </a:t>
            </a:r>
            <a:r>
              <a:rPr lang="en-US" sz="1200" dirty="0" err="1" smtClean="0"/>
              <a:t>setAudioSource</a:t>
            </a:r>
            <a:r>
              <a:rPr lang="en-US" sz="1200" dirty="0" smtClean="0"/>
              <a:t>(), </a:t>
            </a:r>
            <a:r>
              <a:rPr lang="en-US" sz="1200" dirty="0" err="1" smtClean="0"/>
              <a:t>setVideoSource</a:t>
            </a:r>
            <a:r>
              <a:rPr lang="en-US" sz="1200" dirty="0" smtClean="0"/>
              <a:t>()</a:t>
            </a:r>
          </a:p>
          <a:p>
            <a:pPr>
              <a:buNone/>
            </a:pPr>
            <a:r>
              <a:rPr lang="en-US" sz="1200" b="1" dirty="0" smtClean="0"/>
              <a:t>Encoding:</a:t>
            </a:r>
            <a:r>
              <a:rPr lang="en-US" sz="1200" dirty="0" smtClean="0"/>
              <a:t> </a:t>
            </a:r>
            <a:r>
              <a:rPr lang="en-US" sz="1200" dirty="0" err="1" smtClean="0"/>
              <a:t>setOutputFormat</a:t>
            </a:r>
            <a:r>
              <a:rPr lang="en-US" sz="1200" dirty="0" smtClean="0"/>
              <a:t>(), </a:t>
            </a:r>
            <a:r>
              <a:rPr lang="en-US" sz="1200" dirty="0" err="1" smtClean="0"/>
              <a:t>setAudioEncoder</a:t>
            </a:r>
            <a:r>
              <a:rPr lang="en-US" sz="1200" dirty="0" smtClean="0"/>
              <a:t>(), </a:t>
            </a:r>
            <a:r>
              <a:rPr lang="en-US" sz="1200" dirty="0" err="1" smtClean="0"/>
              <a:t>setVideoEncoder</a:t>
            </a:r>
            <a:r>
              <a:rPr lang="en-US" sz="1200" dirty="0" smtClean="0"/>
              <a:t>()</a:t>
            </a:r>
          </a:p>
          <a:p>
            <a:pPr>
              <a:buNone/>
            </a:pPr>
            <a:r>
              <a:rPr lang="en-US" sz="1200" dirty="0" smtClean="0"/>
              <a:t>4.</a:t>
            </a:r>
            <a:r>
              <a:rPr lang="en-US" sz="1200" b="1" dirty="0" smtClean="0"/>
              <a:t> Surface View</a:t>
            </a:r>
          </a:p>
          <a:p>
            <a:r>
              <a:rPr lang="en-US" sz="1200" dirty="0" smtClean="0"/>
              <a:t>A </a:t>
            </a:r>
            <a:r>
              <a:rPr lang="en-US" sz="1200" b="1" dirty="0" smtClean="0"/>
              <a:t>specialized View</a:t>
            </a:r>
            <a:r>
              <a:rPr lang="en-US" sz="1200" dirty="0" smtClean="0"/>
              <a:t> that provides a </a:t>
            </a:r>
            <a:r>
              <a:rPr lang="en-US" sz="1200" b="1" dirty="0" smtClean="0"/>
              <a:t>dedicated drawing surface</a:t>
            </a:r>
            <a:r>
              <a:rPr lang="en-US" sz="1200" dirty="0" smtClean="0"/>
              <a:t> for videos or complex graphics.</a:t>
            </a:r>
          </a:p>
          <a:p>
            <a:r>
              <a:rPr lang="en-US" sz="1200" dirty="0" smtClean="0"/>
              <a:t>Better performance for heavy rendering or animations.</a:t>
            </a:r>
          </a:p>
          <a:p>
            <a:pPr>
              <a:buNone/>
            </a:pPr>
            <a:r>
              <a:rPr lang="en-US" sz="1200" b="1" dirty="0" smtClean="0"/>
              <a:t>Key Features:</a:t>
            </a:r>
            <a:endParaRPr lang="en-US" sz="1200" dirty="0" smtClean="0"/>
          </a:p>
          <a:p>
            <a:r>
              <a:rPr lang="en-US" sz="1200" dirty="0" smtClean="0"/>
              <a:t>Efficient rendering for large images or videos.</a:t>
            </a:r>
          </a:p>
          <a:p>
            <a:r>
              <a:rPr lang="en-US" sz="1200" dirty="0" smtClean="0"/>
              <a:t>Works well with </a:t>
            </a:r>
            <a:r>
              <a:rPr lang="en-US" sz="1200" b="1" dirty="0" smtClean="0"/>
              <a:t>OpenGL ES</a:t>
            </a:r>
            <a:r>
              <a:rPr lang="en-US" sz="1200" dirty="0" smtClean="0"/>
              <a:t> for 3D or advanced graphics.</a:t>
            </a:r>
          </a:p>
          <a:p>
            <a:pPr>
              <a:buNone/>
            </a:pPr>
            <a:endParaRPr lang="en-US" sz="1200" dirty="0" smtClean="0"/>
          </a:p>
          <a:p>
            <a:pPr>
              <a:buNone/>
            </a:pPr>
            <a:endParaRPr lang="en-US" sz="1200" dirty="0" smtClean="0"/>
          </a:p>
          <a:p>
            <a:pPr>
              <a:buNone/>
            </a:pPr>
            <a:endParaRPr lang="en-US" sz="1200" dirty="0" smtClean="0">
              <a:latin typeface="Times New Roman" pitchFamily="18" charset="0"/>
              <a:cs typeface="Times New Roman" pitchFamily="18" charset="0"/>
            </a:endParaRPr>
          </a:p>
          <a:p>
            <a:pPr>
              <a:buNone/>
            </a:pPr>
            <a:endParaRPr lang="en-US"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74638"/>
            <a:ext cx="8186766" cy="725470"/>
          </a:xfrm>
        </p:spPr>
        <p:txBody>
          <a:bodyPr>
            <a:normAutofit fontScale="90000"/>
          </a:bodyPr>
          <a:lstStyle/>
          <a:p>
            <a:r>
              <a:rPr lang="en-US" dirty="0" smtClean="0"/>
              <a:t>Example</a:t>
            </a:r>
            <a:endParaRPr lang="en-US" dirty="0"/>
          </a:p>
        </p:txBody>
      </p:sp>
      <p:sp>
        <p:nvSpPr>
          <p:cNvPr id="3" name="Content Placeholder 2"/>
          <p:cNvSpPr>
            <a:spLocks noGrp="1"/>
          </p:cNvSpPr>
          <p:nvPr>
            <p:ph idx="1"/>
          </p:nvPr>
        </p:nvSpPr>
        <p:spPr/>
        <p:txBody>
          <a:bodyPr>
            <a:normAutofit fontScale="62500" lnSpcReduction="20000"/>
          </a:bodyPr>
          <a:lstStyle/>
          <a:p>
            <a:pPr>
              <a:buNone/>
            </a:pPr>
            <a:r>
              <a:rPr lang="en-US" b="1" dirty="0" smtClean="0"/>
              <a:t> </a:t>
            </a:r>
            <a:r>
              <a:rPr lang="en-US" sz="1400" b="1" dirty="0" smtClean="0">
                <a:latin typeface="Times New Roman" pitchFamily="18" charset="0"/>
                <a:cs typeface="Times New Roman" pitchFamily="18" charset="0"/>
              </a:rPr>
              <a:t>Step 1: </a:t>
            </a:r>
            <a:r>
              <a:rPr lang="en-US" sz="1400" dirty="0" smtClean="0">
                <a:latin typeface="Times New Roman" pitchFamily="18" charset="0"/>
                <a:cs typeface="Times New Roman" pitchFamily="18" charset="0"/>
              </a:rPr>
              <a:t>Add Audio File in </a:t>
            </a:r>
            <a:r>
              <a:rPr lang="en-US" sz="1400" b="1" dirty="0" smtClean="0">
                <a:latin typeface="Times New Roman" pitchFamily="18" charset="0"/>
                <a:cs typeface="Times New Roman" pitchFamily="18" charset="0"/>
              </a:rPr>
              <a:t>app/</a:t>
            </a:r>
            <a:r>
              <a:rPr lang="en-US" sz="1400" b="1" dirty="0" err="1" smtClean="0">
                <a:latin typeface="Times New Roman" pitchFamily="18" charset="0"/>
                <a:cs typeface="Times New Roman" pitchFamily="18" charset="0"/>
              </a:rPr>
              <a:t>src</a:t>
            </a:r>
            <a:r>
              <a:rPr lang="en-US" sz="1400" b="1" dirty="0" smtClean="0">
                <a:latin typeface="Times New Roman" pitchFamily="18" charset="0"/>
                <a:cs typeface="Times New Roman" pitchFamily="18" charset="0"/>
              </a:rPr>
              <a:t>/main/res/raw/</a:t>
            </a:r>
          </a:p>
          <a:p>
            <a:pPr>
              <a:buNone/>
            </a:pPr>
            <a:r>
              <a:rPr lang="en-US" sz="1400" dirty="0" smtClean="0">
                <a:latin typeface="Times New Roman" pitchFamily="18" charset="0"/>
                <a:cs typeface="Times New Roman" pitchFamily="18" charset="0"/>
              </a:rPr>
              <a:t>If the folder doesn’t exist, create it manually: res → right-click → New → Android Resource Directory → choose </a:t>
            </a:r>
            <a:r>
              <a:rPr lang="en-US" sz="1400" b="1" dirty="0" smtClean="0">
                <a:latin typeface="Times New Roman" pitchFamily="18" charset="0"/>
                <a:cs typeface="Times New Roman" pitchFamily="18" charset="0"/>
              </a:rPr>
              <a:t>raw</a:t>
            </a:r>
            <a:r>
              <a:rPr lang="en-US" sz="1400" dirty="0" smtClean="0">
                <a:latin typeface="Times New Roman" pitchFamily="18" charset="0"/>
                <a:cs typeface="Times New Roman" pitchFamily="18" charset="0"/>
              </a:rPr>
              <a:t>.</a:t>
            </a:r>
          </a:p>
          <a:p>
            <a:pPr>
              <a:buNone/>
            </a:pPr>
            <a:r>
              <a:rPr lang="en-US" sz="1400" dirty="0" smtClean="0"/>
              <a:t>Step 2: Layout (activity_main.xml)</a:t>
            </a:r>
          </a:p>
          <a:p>
            <a:pPr>
              <a:buNone/>
            </a:pPr>
            <a:r>
              <a:rPr lang="en-US" sz="1400" dirty="0" smtClean="0">
                <a:latin typeface="Times New Roman" pitchFamily="18" charset="0"/>
                <a:cs typeface="Times New Roman" pitchFamily="18" charset="0"/>
              </a:rPr>
              <a:t>&lt;?xml version="1.0" encoding="utf-8"?&gt;</a:t>
            </a:r>
          </a:p>
          <a:p>
            <a:pPr>
              <a:buNone/>
            </a:pPr>
            <a:r>
              <a:rPr lang="en-US" sz="1400" dirty="0" smtClean="0">
                <a:latin typeface="Times New Roman" pitchFamily="18" charset="0"/>
                <a:cs typeface="Times New Roman" pitchFamily="18" charset="0"/>
              </a:rPr>
              <a:t>&lt;</a:t>
            </a:r>
            <a:r>
              <a:rPr lang="en-US" sz="1400" dirty="0" err="1" smtClean="0">
                <a:latin typeface="Times New Roman" pitchFamily="18" charset="0"/>
                <a:cs typeface="Times New Roman" pitchFamily="18" charset="0"/>
              </a:rPr>
              <a:t>LinearLayout</a:t>
            </a: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xmlns:android</a:t>
            </a:r>
            <a:r>
              <a:rPr lang="en-US" sz="1400" dirty="0" smtClean="0">
                <a:latin typeface="Times New Roman" pitchFamily="18" charset="0"/>
                <a:cs typeface="Times New Roman" pitchFamily="18" charset="0"/>
              </a:rPr>
              <a:t>="http://schemas.android.com/apk/res/android"</a:t>
            </a:r>
          </a:p>
          <a:p>
            <a:pPr>
              <a:buNone/>
            </a:pP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android:layout_width</a:t>
            </a:r>
            <a:r>
              <a:rPr lang="en-US" sz="1400" dirty="0" smtClean="0">
                <a:latin typeface="Times New Roman" pitchFamily="18" charset="0"/>
                <a:cs typeface="Times New Roman" pitchFamily="18" charset="0"/>
              </a:rPr>
              <a:t>="</a:t>
            </a:r>
            <a:r>
              <a:rPr lang="en-US" sz="1400" dirty="0" err="1" smtClean="0">
                <a:latin typeface="Times New Roman" pitchFamily="18" charset="0"/>
                <a:cs typeface="Times New Roman" pitchFamily="18" charset="0"/>
              </a:rPr>
              <a:t>match_parent</a:t>
            </a:r>
            <a:r>
              <a:rPr lang="en-US" sz="1400" dirty="0" smtClean="0">
                <a:latin typeface="Times New Roman" pitchFamily="18" charset="0"/>
                <a:cs typeface="Times New Roman" pitchFamily="18" charset="0"/>
              </a:rPr>
              <a:t>"</a:t>
            </a:r>
          </a:p>
          <a:p>
            <a:pPr>
              <a:buNone/>
            </a:pP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android:layout_height</a:t>
            </a:r>
            <a:r>
              <a:rPr lang="en-US" sz="1400" dirty="0" smtClean="0">
                <a:latin typeface="Times New Roman" pitchFamily="18" charset="0"/>
                <a:cs typeface="Times New Roman" pitchFamily="18" charset="0"/>
              </a:rPr>
              <a:t>="</a:t>
            </a:r>
            <a:r>
              <a:rPr lang="en-US" sz="1400" dirty="0" err="1" smtClean="0">
                <a:latin typeface="Times New Roman" pitchFamily="18" charset="0"/>
                <a:cs typeface="Times New Roman" pitchFamily="18" charset="0"/>
              </a:rPr>
              <a:t>match_parent</a:t>
            </a:r>
            <a:r>
              <a:rPr lang="en-US" sz="1400" dirty="0" smtClean="0">
                <a:latin typeface="Times New Roman" pitchFamily="18" charset="0"/>
                <a:cs typeface="Times New Roman" pitchFamily="18" charset="0"/>
              </a:rPr>
              <a:t>"</a:t>
            </a:r>
          </a:p>
          <a:p>
            <a:pPr>
              <a:buNone/>
            </a:pP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android:gravity</a:t>
            </a:r>
            <a:r>
              <a:rPr lang="en-US" sz="1400" dirty="0" smtClean="0">
                <a:latin typeface="Times New Roman" pitchFamily="18" charset="0"/>
                <a:cs typeface="Times New Roman" pitchFamily="18" charset="0"/>
              </a:rPr>
              <a:t>="center"</a:t>
            </a:r>
          </a:p>
          <a:p>
            <a:pPr>
              <a:buNone/>
            </a:pP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android:orientation</a:t>
            </a:r>
            <a:r>
              <a:rPr lang="en-US" sz="1400" dirty="0" smtClean="0">
                <a:latin typeface="Times New Roman" pitchFamily="18" charset="0"/>
                <a:cs typeface="Times New Roman" pitchFamily="18" charset="0"/>
              </a:rPr>
              <a:t>="vertical"</a:t>
            </a:r>
          </a:p>
          <a:p>
            <a:pPr>
              <a:buNone/>
            </a:pP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android:padding</a:t>
            </a:r>
            <a:r>
              <a:rPr lang="en-US" sz="1400" dirty="0" smtClean="0">
                <a:latin typeface="Times New Roman" pitchFamily="18" charset="0"/>
                <a:cs typeface="Times New Roman" pitchFamily="18" charset="0"/>
              </a:rPr>
              <a:t>="20dp"&gt;</a:t>
            </a:r>
          </a:p>
          <a:p>
            <a:pPr>
              <a:buNone/>
            </a:pPr>
            <a:endParaRPr lang="en-US" sz="1400" dirty="0" smtClean="0">
              <a:latin typeface="Times New Roman" pitchFamily="18" charset="0"/>
              <a:cs typeface="Times New Roman" pitchFamily="18" charset="0"/>
            </a:endParaRPr>
          </a:p>
          <a:p>
            <a:pPr>
              <a:buNone/>
            </a:pPr>
            <a:r>
              <a:rPr lang="en-US" sz="1400" dirty="0" smtClean="0">
                <a:latin typeface="Times New Roman" pitchFamily="18" charset="0"/>
                <a:cs typeface="Times New Roman" pitchFamily="18" charset="0"/>
              </a:rPr>
              <a:t>    &lt;Button</a:t>
            </a:r>
          </a:p>
          <a:p>
            <a:pPr>
              <a:buNone/>
            </a:pP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android:id</a:t>
            </a:r>
            <a:r>
              <a:rPr lang="en-US" sz="1400" dirty="0" smtClean="0">
                <a:latin typeface="Times New Roman" pitchFamily="18" charset="0"/>
                <a:cs typeface="Times New Roman" pitchFamily="18" charset="0"/>
              </a:rPr>
              <a:t>="@+id/</a:t>
            </a:r>
            <a:r>
              <a:rPr lang="en-US" sz="1400" dirty="0" err="1" smtClean="0">
                <a:latin typeface="Times New Roman" pitchFamily="18" charset="0"/>
                <a:cs typeface="Times New Roman" pitchFamily="18" charset="0"/>
              </a:rPr>
              <a:t>btnPlay</a:t>
            </a:r>
            <a:r>
              <a:rPr lang="en-US" sz="1400" dirty="0" smtClean="0">
                <a:latin typeface="Times New Roman" pitchFamily="18" charset="0"/>
                <a:cs typeface="Times New Roman" pitchFamily="18" charset="0"/>
              </a:rPr>
              <a:t>"</a:t>
            </a:r>
          </a:p>
          <a:p>
            <a:pPr>
              <a:buNone/>
            </a:pP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android:text</a:t>
            </a:r>
            <a:r>
              <a:rPr lang="en-US" sz="1400" dirty="0" smtClean="0">
                <a:latin typeface="Times New Roman" pitchFamily="18" charset="0"/>
                <a:cs typeface="Times New Roman" pitchFamily="18" charset="0"/>
              </a:rPr>
              <a:t>="Play Audio"</a:t>
            </a:r>
          </a:p>
          <a:p>
            <a:pPr>
              <a:buNone/>
            </a:pP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android:layout_width</a:t>
            </a:r>
            <a:r>
              <a:rPr lang="en-US" sz="1400" dirty="0" smtClean="0">
                <a:latin typeface="Times New Roman" pitchFamily="18" charset="0"/>
                <a:cs typeface="Times New Roman" pitchFamily="18" charset="0"/>
              </a:rPr>
              <a:t>="</a:t>
            </a:r>
            <a:r>
              <a:rPr lang="en-US" sz="1400" dirty="0" err="1" smtClean="0">
                <a:latin typeface="Times New Roman" pitchFamily="18" charset="0"/>
                <a:cs typeface="Times New Roman" pitchFamily="18" charset="0"/>
              </a:rPr>
              <a:t>wrap_content</a:t>
            </a:r>
            <a:r>
              <a:rPr lang="en-US" sz="1400" dirty="0" smtClean="0">
                <a:latin typeface="Times New Roman" pitchFamily="18" charset="0"/>
                <a:cs typeface="Times New Roman" pitchFamily="18" charset="0"/>
              </a:rPr>
              <a:t>"</a:t>
            </a:r>
          </a:p>
          <a:p>
            <a:pPr>
              <a:buNone/>
            </a:pP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android:layout_height</a:t>
            </a:r>
            <a:r>
              <a:rPr lang="en-US" sz="1400" dirty="0" smtClean="0">
                <a:latin typeface="Times New Roman" pitchFamily="18" charset="0"/>
                <a:cs typeface="Times New Roman" pitchFamily="18" charset="0"/>
              </a:rPr>
              <a:t>="</a:t>
            </a:r>
            <a:r>
              <a:rPr lang="en-US" sz="1400" dirty="0" err="1" smtClean="0">
                <a:latin typeface="Times New Roman" pitchFamily="18" charset="0"/>
                <a:cs typeface="Times New Roman" pitchFamily="18" charset="0"/>
              </a:rPr>
              <a:t>wrap_content</a:t>
            </a:r>
            <a:r>
              <a:rPr lang="en-US" sz="1400" dirty="0" smtClean="0">
                <a:latin typeface="Times New Roman" pitchFamily="18" charset="0"/>
                <a:cs typeface="Times New Roman" pitchFamily="18" charset="0"/>
              </a:rPr>
              <a:t>"</a:t>
            </a:r>
          </a:p>
          <a:p>
            <a:pPr>
              <a:buNone/>
            </a:pP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android:layout_marginBottom</a:t>
            </a:r>
            <a:r>
              <a:rPr lang="en-US" sz="1400" dirty="0" smtClean="0">
                <a:latin typeface="Times New Roman" pitchFamily="18" charset="0"/>
                <a:cs typeface="Times New Roman" pitchFamily="18" charset="0"/>
              </a:rPr>
              <a:t>="10dp"/&gt;</a:t>
            </a:r>
          </a:p>
          <a:p>
            <a:pPr>
              <a:buNone/>
            </a:pPr>
            <a:endParaRPr lang="en-US" sz="1400" dirty="0" smtClean="0">
              <a:latin typeface="Times New Roman" pitchFamily="18" charset="0"/>
              <a:cs typeface="Times New Roman" pitchFamily="18" charset="0"/>
            </a:endParaRPr>
          </a:p>
          <a:p>
            <a:pPr>
              <a:buNone/>
            </a:pPr>
            <a:r>
              <a:rPr lang="en-US" sz="1400" dirty="0" smtClean="0">
                <a:latin typeface="Times New Roman" pitchFamily="18" charset="0"/>
                <a:cs typeface="Times New Roman" pitchFamily="18" charset="0"/>
              </a:rPr>
              <a:t>    &lt;Button</a:t>
            </a:r>
          </a:p>
          <a:p>
            <a:pPr>
              <a:buNone/>
            </a:pP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android:id</a:t>
            </a:r>
            <a:r>
              <a:rPr lang="en-US" sz="1400" dirty="0" smtClean="0">
                <a:latin typeface="Times New Roman" pitchFamily="18" charset="0"/>
                <a:cs typeface="Times New Roman" pitchFamily="18" charset="0"/>
              </a:rPr>
              <a:t>="@+id/</a:t>
            </a:r>
            <a:r>
              <a:rPr lang="en-US" sz="1400" dirty="0" err="1" smtClean="0">
                <a:latin typeface="Times New Roman" pitchFamily="18" charset="0"/>
                <a:cs typeface="Times New Roman" pitchFamily="18" charset="0"/>
              </a:rPr>
              <a:t>btnPause</a:t>
            </a:r>
            <a:r>
              <a:rPr lang="en-US" sz="1400" dirty="0" smtClean="0">
                <a:latin typeface="Times New Roman" pitchFamily="18" charset="0"/>
                <a:cs typeface="Times New Roman" pitchFamily="18" charset="0"/>
              </a:rPr>
              <a:t>"</a:t>
            </a:r>
          </a:p>
          <a:p>
            <a:pPr>
              <a:buNone/>
            </a:pP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android:text</a:t>
            </a:r>
            <a:r>
              <a:rPr lang="en-US" sz="1400" dirty="0" smtClean="0">
                <a:latin typeface="Times New Roman" pitchFamily="18" charset="0"/>
                <a:cs typeface="Times New Roman" pitchFamily="18" charset="0"/>
              </a:rPr>
              <a:t>="Pause Audio"</a:t>
            </a:r>
          </a:p>
          <a:p>
            <a:pPr>
              <a:buNone/>
            </a:pP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android:layout_width</a:t>
            </a:r>
            <a:r>
              <a:rPr lang="en-US" sz="1400" dirty="0" smtClean="0">
                <a:latin typeface="Times New Roman" pitchFamily="18" charset="0"/>
                <a:cs typeface="Times New Roman" pitchFamily="18" charset="0"/>
              </a:rPr>
              <a:t>="</a:t>
            </a:r>
            <a:r>
              <a:rPr lang="en-US" sz="1400" dirty="0" err="1" smtClean="0">
                <a:latin typeface="Times New Roman" pitchFamily="18" charset="0"/>
                <a:cs typeface="Times New Roman" pitchFamily="18" charset="0"/>
              </a:rPr>
              <a:t>wrap_content</a:t>
            </a:r>
            <a:r>
              <a:rPr lang="en-US" sz="1400" dirty="0" smtClean="0">
                <a:latin typeface="Times New Roman" pitchFamily="18" charset="0"/>
                <a:cs typeface="Times New Roman" pitchFamily="18" charset="0"/>
              </a:rPr>
              <a:t>"</a:t>
            </a:r>
          </a:p>
          <a:p>
            <a:pPr>
              <a:buNone/>
            </a:pP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android:layout_height</a:t>
            </a:r>
            <a:r>
              <a:rPr lang="en-US" sz="1400" dirty="0" smtClean="0">
                <a:latin typeface="Times New Roman" pitchFamily="18" charset="0"/>
                <a:cs typeface="Times New Roman" pitchFamily="18" charset="0"/>
              </a:rPr>
              <a:t>="</a:t>
            </a:r>
            <a:r>
              <a:rPr lang="en-US" sz="1400" dirty="0" err="1" smtClean="0">
                <a:latin typeface="Times New Roman" pitchFamily="18" charset="0"/>
                <a:cs typeface="Times New Roman" pitchFamily="18" charset="0"/>
              </a:rPr>
              <a:t>wrap_content</a:t>
            </a:r>
            <a:r>
              <a:rPr lang="en-US" sz="1400" dirty="0" smtClean="0">
                <a:latin typeface="Times New Roman" pitchFamily="18" charset="0"/>
                <a:cs typeface="Times New Roman" pitchFamily="18" charset="0"/>
              </a:rPr>
              <a:t>"</a:t>
            </a:r>
          </a:p>
          <a:p>
            <a:pPr>
              <a:buNone/>
            </a:pP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android:layout_marginBottom</a:t>
            </a:r>
            <a:r>
              <a:rPr lang="en-US" sz="1400" dirty="0" smtClean="0">
                <a:latin typeface="Times New Roman" pitchFamily="18" charset="0"/>
                <a:cs typeface="Times New Roman" pitchFamily="18" charset="0"/>
              </a:rPr>
              <a:t>="10dp"/&gt;</a:t>
            </a:r>
          </a:p>
          <a:p>
            <a:pPr>
              <a:buNone/>
            </a:pPr>
            <a:endParaRPr lang="en-US" sz="1400" dirty="0" smtClean="0">
              <a:latin typeface="Times New Roman" pitchFamily="18" charset="0"/>
              <a:cs typeface="Times New Roman" pitchFamily="18" charset="0"/>
            </a:endParaRPr>
          </a:p>
          <a:p>
            <a:pPr>
              <a:buNone/>
            </a:pPr>
            <a:r>
              <a:rPr lang="en-US" sz="1400" dirty="0" smtClean="0">
                <a:latin typeface="Times New Roman" pitchFamily="18" charset="0"/>
                <a:cs typeface="Times New Roman" pitchFamily="18" charset="0"/>
              </a:rPr>
              <a:t>    &lt;Button</a:t>
            </a:r>
          </a:p>
          <a:p>
            <a:pPr>
              <a:buNone/>
            </a:pP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android:id</a:t>
            </a:r>
            <a:r>
              <a:rPr lang="en-US" sz="1400" dirty="0" smtClean="0">
                <a:latin typeface="Times New Roman" pitchFamily="18" charset="0"/>
                <a:cs typeface="Times New Roman" pitchFamily="18" charset="0"/>
              </a:rPr>
              <a:t>="@+id/</a:t>
            </a:r>
            <a:r>
              <a:rPr lang="en-US" sz="1400" dirty="0" err="1" smtClean="0">
                <a:latin typeface="Times New Roman" pitchFamily="18" charset="0"/>
                <a:cs typeface="Times New Roman" pitchFamily="18" charset="0"/>
              </a:rPr>
              <a:t>btnStop</a:t>
            </a:r>
            <a:r>
              <a:rPr lang="en-US" sz="1400" dirty="0" smtClean="0">
                <a:latin typeface="Times New Roman" pitchFamily="18" charset="0"/>
                <a:cs typeface="Times New Roman" pitchFamily="18" charset="0"/>
              </a:rPr>
              <a:t>"</a:t>
            </a:r>
          </a:p>
          <a:p>
            <a:pPr>
              <a:buNone/>
            </a:pP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android:text</a:t>
            </a:r>
            <a:r>
              <a:rPr lang="en-US" sz="1400" dirty="0" smtClean="0">
                <a:latin typeface="Times New Roman" pitchFamily="18" charset="0"/>
                <a:cs typeface="Times New Roman" pitchFamily="18" charset="0"/>
              </a:rPr>
              <a:t>="Stop Audio"</a:t>
            </a:r>
          </a:p>
          <a:p>
            <a:pPr>
              <a:buNone/>
            </a:pP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android:layout_width</a:t>
            </a:r>
            <a:r>
              <a:rPr lang="en-US" sz="1400" dirty="0" smtClean="0">
                <a:latin typeface="Times New Roman" pitchFamily="18" charset="0"/>
                <a:cs typeface="Times New Roman" pitchFamily="18" charset="0"/>
              </a:rPr>
              <a:t>="</a:t>
            </a:r>
            <a:r>
              <a:rPr lang="en-US" sz="1400" dirty="0" err="1" smtClean="0">
                <a:latin typeface="Times New Roman" pitchFamily="18" charset="0"/>
                <a:cs typeface="Times New Roman" pitchFamily="18" charset="0"/>
              </a:rPr>
              <a:t>wrap_content</a:t>
            </a:r>
            <a:r>
              <a:rPr lang="en-US" sz="1400" dirty="0" smtClean="0">
                <a:latin typeface="Times New Roman" pitchFamily="18" charset="0"/>
                <a:cs typeface="Times New Roman" pitchFamily="18" charset="0"/>
              </a:rPr>
              <a:t>"</a:t>
            </a:r>
          </a:p>
          <a:p>
            <a:pPr>
              <a:buNone/>
            </a:pPr>
            <a:r>
              <a:rPr lang="en-US" sz="1400" dirty="0" smtClean="0">
                <a:latin typeface="Times New Roman" pitchFamily="18" charset="0"/>
                <a:cs typeface="Times New Roman" pitchFamily="18" charset="0"/>
              </a:rPr>
              <a:t>        </a:t>
            </a:r>
            <a:r>
              <a:rPr lang="en-US" sz="1400" dirty="0" err="1" smtClean="0">
                <a:latin typeface="Times New Roman" pitchFamily="18" charset="0"/>
                <a:cs typeface="Times New Roman" pitchFamily="18" charset="0"/>
              </a:rPr>
              <a:t>android:layout_height</a:t>
            </a:r>
            <a:r>
              <a:rPr lang="en-US" sz="1400" dirty="0" smtClean="0">
                <a:latin typeface="Times New Roman" pitchFamily="18" charset="0"/>
                <a:cs typeface="Times New Roman" pitchFamily="18" charset="0"/>
              </a:rPr>
              <a:t>="</a:t>
            </a:r>
            <a:r>
              <a:rPr lang="en-US" sz="1400" dirty="0" err="1" smtClean="0">
                <a:latin typeface="Times New Roman" pitchFamily="18" charset="0"/>
                <a:cs typeface="Times New Roman" pitchFamily="18" charset="0"/>
              </a:rPr>
              <a:t>wrap_content</a:t>
            </a:r>
            <a:r>
              <a:rPr lang="en-US" sz="1400" dirty="0" smtClean="0">
                <a:latin typeface="Times New Roman" pitchFamily="18" charset="0"/>
                <a:cs typeface="Times New Roman" pitchFamily="18" charset="0"/>
              </a:rPr>
              <a:t>"/&gt;</a:t>
            </a:r>
          </a:p>
          <a:p>
            <a:pPr>
              <a:buNone/>
            </a:pPr>
            <a:r>
              <a:rPr lang="en-US" sz="1400" dirty="0" smtClean="0">
                <a:latin typeface="Times New Roman" pitchFamily="18" charset="0"/>
                <a:cs typeface="Times New Roman" pitchFamily="18" charset="0"/>
              </a:rPr>
              <a:t>&lt;/</a:t>
            </a:r>
            <a:r>
              <a:rPr lang="en-US" sz="1400" dirty="0" err="1" smtClean="0">
                <a:latin typeface="Times New Roman" pitchFamily="18" charset="0"/>
                <a:cs typeface="Times New Roman" pitchFamily="18" charset="0"/>
              </a:rPr>
              <a:t>LinearLayout</a:t>
            </a:r>
            <a:r>
              <a:rPr lang="en-US" sz="1400" dirty="0" smtClean="0">
                <a:latin typeface="Times New Roman" pitchFamily="18" charset="0"/>
                <a:cs typeface="Times New Roman" pitchFamily="18" charset="0"/>
              </a:rPr>
              <a:t>&gt;</a:t>
            </a:r>
          </a:p>
          <a:p>
            <a:pPr>
              <a:buNone/>
            </a:pPr>
            <a:endParaRPr lang="en-US" sz="1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74638"/>
            <a:ext cx="8186766" cy="582594"/>
          </a:xfrm>
        </p:spPr>
        <p:txBody>
          <a:bodyPr>
            <a:normAutofit fontScale="90000"/>
          </a:bodyPr>
          <a:lstStyle/>
          <a:p>
            <a:r>
              <a:rPr lang="en-US" dirty="0" smtClean="0"/>
              <a:t>Step:3 java code</a:t>
            </a:r>
            <a:endParaRPr lang="en-US" dirty="0"/>
          </a:p>
        </p:txBody>
      </p:sp>
      <p:sp>
        <p:nvSpPr>
          <p:cNvPr id="3" name="Content Placeholder 2"/>
          <p:cNvSpPr>
            <a:spLocks noGrp="1"/>
          </p:cNvSpPr>
          <p:nvPr>
            <p:ph idx="1"/>
          </p:nvPr>
        </p:nvSpPr>
        <p:spPr>
          <a:xfrm>
            <a:off x="142844" y="928670"/>
            <a:ext cx="4000528" cy="5929330"/>
          </a:xfrm>
        </p:spPr>
        <p:txBody>
          <a:bodyPr>
            <a:normAutofit/>
          </a:bodyPr>
          <a:lstStyle/>
          <a:p>
            <a:pPr>
              <a:buNone/>
            </a:pPr>
            <a:r>
              <a:rPr lang="en-US" sz="1300" dirty="0" smtClean="0">
                <a:latin typeface="Times New Roman" pitchFamily="18" charset="0"/>
                <a:cs typeface="Times New Roman" pitchFamily="18" charset="0"/>
              </a:rPr>
              <a:t>package </a:t>
            </a:r>
            <a:r>
              <a:rPr lang="en-US" sz="1300" dirty="0" err="1" smtClean="0">
                <a:latin typeface="Times New Roman" pitchFamily="18" charset="0"/>
                <a:cs typeface="Times New Roman" pitchFamily="18" charset="0"/>
              </a:rPr>
              <a:t>com.example.multimediademo</a:t>
            </a:r>
            <a:r>
              <a:rPr lang="en-US" sz="1300" dirty="0" smtClean="0">
                <a:latin typeface="Times New Roman" pitchFamily="18" charset="0"/>
                <a:cs typeface="Times New Roman" pitchFamily="18" charset="0"/>
              </a:rPr>
              <a:t>;</a:t>
            </a:r>
          </a:p>
          <a:p>
            <a:pPr>
              <a:buNone/>
            </a:pPr>
            <a:endParaRPr lang="en-US" sz="1300" dirty="0" smtClean="0">
              <a:latin typeface="Times New Roman" pitchFamily="18" charset="0"/>
              <a:cs typeface="Times New Roman" pitchFamily="18" charset="0"/>
            </a:endParaRPr>
          </a:p>
          <a:p>
            <a:pPr>
              <a:buNone/>
            </a:pPr>
            <a:r>
              <a:rPr lang="en-US" sz="1300" dirty="0" smtClean="0">
                <a:latin typeface="Times New Roman" pitchFamily="18" charset="0"/>
                <a:cs typeface="Times New Roman" pitchFamily="18" charset="0"/>
              </a:rPr>
              <a:t>import </a:t>
            </a:r>
            <a:r>
              <a:rPr lang="en-US" sz="1300" dirty="0" err="1" smtClean="0">
                <a:latin typeface="Times New Roman" pitchFamily="18" charset="0"/>
                <a:cs typeface="Times New Roman" pitchFamily="18" charset="0"/>
              </a:rPr>
              <a:t>androidx.appcompat.app.AppCompatActivity</a:t>
            </a:r>
            <a:r>
              <a:rPr lang="en-US" sz="1300" dirty="0" smtClean="0">
                <a:latin typeface="Times New Roman" pitchFamily="18" charset="0"/>
                <a:cs typeface="Times New Roman" pitchFamily="18" charset="0"/>
              </a:rPr>
              <a:t>;</a:t>
            </a:r>
          </a:p>
          <a:p>
            <a:pPr>
              <a:buNone/>
            </a:pPr>
            <a:r>
              <a:rPr lang="en-US" sz="1300" dirty="0" smtClean="0">
                <a:latin typeface="Times New Roman" pitchFamily="18" charset="0"/>
                <a:cs typeface="Times New Roman" pitchFamily="18" charset="0"/>
              </a:rPr>
              <a:t>import </a:t>
            </a:r>
            <a:r>
              <a:rPr lang="en-US" sz="1300" dirty="0" err="1" smtClean="0">
                <a:latin typeface="Times New Roman" pitchFamily="18" charset="0"/>
                <a:cs typeface="Times New Roman" pitchFamily="18" charset="0"/>
              </a:rPr>
              <a:t>android.media.MediaPlayer</a:t>
            </a:r>
            <a:r>
              <a:rPr lang="en-US" sz="1300" dirty="0" smtClean="0">
                <a:latin typeface="Times New Roman" pitchFamily="18" charset="0"/>
                <a:cs typeface="Times New Roman" pitchFamily="18" charset="0"/>
              </a:rPr>
              <a:t>;</a:t>
            </a:r>
          </a:p>
          <a:p>
            <a:pPr>
              <a:buNone/>
            </a:pPr>
            <a:r>
              <a:rPr lang="en-US" sz="1300" dirty="0" smtClean="0">
                <a:latin typeface="Times New Roman" pitchFamily="18" charset="0"/>
                <a:cs typeface="Times New Roman" pitchFamily="18" charset="0"/>
              </a:rPr>
              <a:t>import </a:t>
            </a:r>
            <a:r>
              <a:rPr lang="en-US" sz="1300" dirty="0" err="1" smtClean="0">
                <a:latin typeface="Times New Roman" pitchFamily="18" charset="0"/>
                <a:cs typeface="Times New Roman" pitchFamily="18" charset="0"/>
              </a:rPr>
              <a:t>android.os.Bundle</a:t>
            </a:r>
            <a:r>
              <a:rPr lang="en-US" sz="1300" dirty="0" smtClean="0">
                <a:latin typeface="Times New Roman" pitchFamily="18" charset="0"/>
                <a:cs typeface="Times New Roman" pitchFamily="18" charset="0"/>
              </a:rPr>
              <a:t>;</a:t>
            </a:r>
          </a:p>
          <a:p>
            <a:pPr>
              <a:buNone/>
            </a:pPr>
            <a:r>
              <a:rPr lang="en-US" sz="1300" dirty="0" smtClean="0">
                <a:latin typeface="Times New Roman" pitchFamily="18" charset="0"/>
                <a:cs typeface="Times New Roman" pitchFamily="18" charset="0"/>
              </a:rPr>
              <a:t>import </a:t>
            </a:r>
            <a:r>
              <a:rPr lang="en-US" sz="1300" dirty="0" err="1" smtClean="0">
                <a:latin typeface="Times New Roman" pitchFamily="18" charset="0"/>
                <a:cs typeface="Times New Roman" pitchFamily="18" charset="0"/>
              </a:rPr>
              <a:t>android.widget.Button</a:t>
            </a:r>
            <a:r>
              <a:rPr lang="en-US" sz="1300" dirty="0" smtClean="0">
                <a:latin typeface="Times New Roman" pitchFamily="18" charset="0"/>
                <a:cs typeface="Times New Roman" pitchFamily="18" charset="0"/>
              </a:rPr>
              <a:t>;</a:t>
            </a:r>
          </a:p>
          <a:p>
            <a:pPr>
              <a:buNone/>
            </a:pPr>
            <a:endParaRPr lang="en-US" sz="1300" dirty="0" smtClean="0">
              <a:latin typeface="Times New Roman" pitchFamily="18" charset="0"/>
              <a:cs typeface="Times New Roman" pitchFamily="18" charset="0"/>
            </a:endParaRPr>
          </a:p>
          <a:p>
            <a:pPr>
              <a:buNone/>
            </a:pPr>
            <a:r>
              <a:rPr lang="en-US" sz="1300" dirty="0" smtClean="0">
                <a:latin typeface="Times New Roman" pitchFamily="18" charset="0"/>
                <a:cs typeface="Times New Roman" pitchFamily="18" charset="0"/>
              </a:rPr>
              <a:t>public class </a:t>
            </a:r>
            <a:r>
              <a:rPr lang="en-US" sz="1300" dirty="0" err="1" smtClean="0">
                <a:latin typeface="Times New Roman" pitchFamily="18" charset="0"/>
                <a:cs typeface="Times New Roman" pitchFamily="18" charset="0"/>
              </a:rPr>
              <a:t>MainActivity</a:t>
            </a:r>
            <a:r>
              <a:rPr lang="en-US" sz="1300" dirty="0" smtClean="0">
                <a:latin typeface="Times New Roman" pitchFamily="18" charset="0"/>
                <a:cs typeface="Times New Roman" pitchFamily="18" charset="0"/>
              </a:rPr>
              <a:t> extends </a:t>
            </a:r>
            <a:r>
              <a:rPr lang="en-US" sz="1300" dirty="0" err="1" smtClean="0">
                <a:latin typeface="Times New Roman" pitchFamily="18" charset="0"/>
                <a:cs typeface="Times New Roman" pitchFamily="18" charset="0"/>
              </a:rPr>
              <a:t>AppCompatActivity</a:t>
            </a:r>
            <a:r>
              <a:rPr lang="en-US" sz="1300" dirty="0" smtClean="0">
                <a:latin typeface="Times New Roman" pitchFamily="18" charset="0"/>
                <a:cs typeface="Times New Roman" pitchFamily="18" charset="0"/>
              </a:rPr>
              <a:t> {</a:t>
            </a:r>
          </a:p>
          <a:p>
            <a:pPr>
              <a:buNone/>
            </a:pPr>
            <a:endParaRPr lang="en-US" sz="1300" dirty="0" smtClean="0">
              <a:latin typeface="Times New Roman" pitchFamily="18" charset="0"/>
              <a:cs typeface="Times New Roman" pitchFamily="18" charset="0"/>
            </a:endParaRPr>
          </a:p>
          <a:p>
            <a:pPr>
              <a:buNone/>
            </a:pPr>
            <a:r>
              <a:rPr lang="en-US" sz="1300" dirty="0" smtClean="0">
                <a:latin typeface="Times New Roman" pitchFamily="18" charset="0"/>
                <a:cs typeface="Times New Roman" pitchFamily="18" charset="0"/>
              </a:rPr>
              <a:t>    </a:t>
            </a:r>
            <a:r>
              <a:rPr lang="en-US" sz="1300" dirty="0" err="1" smtClean="0">
                <a:latin typeface="Times New Roman" pitchFamily="18" charset="0"/>
                <a:cs typeface="Times New Roman" pitchFamily="18" charset="0"/>
              </a:rPr>
              <a:t>MediaPlayer</a:t>
            </a:r>
            <a:r>
              <a:rPr lang="en-US" sz="1300" dirty="0" smtClean="0">
                <a:latin typeface="Times New Roman" pitchFamily="18" charset="0"/>
                <a:cs typeface="Times New Roman" pitchFamily="18" charset="0"/>
              </a:rPr>
              <a:t> </a:t>
            </a:r>
            <a:r>
              <a:rPr lang="en-US" sz="1300" dirty="0" err="1" smtClean="0">
                <a:latin typeface="Times New Roman" pitchFamily="18" charset="0"/>
                <a:cs typeface="Times New Roman" pitchFamily="18" charset="0"/>
              </a:rPr>
              <a:t>mediaPlayer</a:t>
            </a:r>
            <a:r>
              <a:rPr lang="en-US" sz="1300" dirty="0" smtClean="0">
                <a:latin typeface="Times New Roman" pitchFamily="18" charset="0"/>
                <a:cs typeface="Times New Roman" pitchFamily="18" charset="0"/>
              </a:rPr>
              <a:t>;</a:t>
            </a:r>
          </a:p>
          <a:p>
            <a:pPr>
              <a:buNone/>
            </a:pPr>
            <a:r>
              <a:rPr lang="en-US" sz="1300" dirty="0" smtClean="0">
                <a:latin typeface="Times New Roman" pitchFamily="18" charset="0"/>
                <a:cs typeface="Times New Roman" pitchFamily="18" charset="0"/>
              </a:rPr>
              <a:t>    Button </a:t>
            </a:r>
            <a:r>
              <a:rPr lang="en-US" sz="1300" dirty="0" err="1" smtClean="0">
                <a:latin typeface="Times New Roman" pitchFamily="18" charset="0"/>
                <a:cs typeface="Times New Roman" pitchFamily="18" charset="0"/>
              </a:rPr>
              <a:t>btnPlay</a:t>
            </a:r>
            <a:r>
              <a:rPr lang="en-US" sz="1300" dirty="0" smtClean="0">
                <a:latin typeface="Times New Roman" pitchFamily="18" charset="0"/>
                <a:cs typeface="Times New Roman" pitchFamily="18" charset="0"/>
              </a:rPr>
              <a:t>, </a:t>
            </a:r>
            <a:r>
              <a:rPr lang="en-US" sz="1300" dirty="0" err="1" smtClean="0">
                <a:latin typeface="Times New Roman" pitchFamily="18" charset="0"/>
                <a:cs typeface="Times New Roman" pitchFamily="18" charset="0"/>
              </a:rPr>
              <a:t>btnPause</a:t>
            </a:r>
            <a:r>
              <a:rPr lang="en-US" sz="1300" dirty="0" smtClean="0">
                <a:latin typeface="Times New Roman" pitchFamily="18" charset="0"/>
                <a:cs typeface="Times New Roman" pitchFamily="18" charset="0"/>
              </a:rPr>
              <a:t>, </a:t>
            </a:r>
            <a:r>
              <a:rPr lang="en-US" sz="1300" dirty="0" err="1" smtClean="0">
                <a:latin typeface="Times New Roman" pitchFamily="18" charset="0"/>
                <a:cs typeface="Times New Roman" pitchFamily="18" charset="0"/>
              </a:rPr>
              <a:t>btnStop</a:t>
            </a:r>
            <a:r>
              <a:rPr lang="en-US" sz="1300" dirty="0" smtClean="0">
                <a:latin typeface="Times New Roman" pitchFamily="18" charset="0"/>
                <a:cs typeface="Times New Roman" pitchFamily="18" charset="0"/>
              </a:rPr>
              <a:t>;</a:t>
            </a:r>
          </a:p>
          <a:p>
            <a:pPr>
              <a:buNone/>
            </a:pPr>
            <a:endParaRPr lang="en-US" sz="1300" dirty="0" smtClean="0">
              <a:latin typeface="Times New Roman" pitchFamily="18" charset="0"/>
              <a:cs typeface="Times New Roman" pitchFamily="18" charset="0"/>
            </a:endParaRPr>
          </a:p>
          <a:p>
            <a:pPr>
              <a:buNone/>
            </a:pPr>
            <a:r>
              <a:rPr lang="en-US" sz="1300" dirty="0" smtClean="0">
                <a:latin typeface="Times New Roman" pitchFamily="18" charset="0"/>
                <a:cs typeface="Times New Roman" pitchFamily="18" charset="0"/>
              </a:rPr>
              <a:t>    @Override</a:t>
            </a:r>
          </a:p>
          <a:p>
            <a:pPr>
              <a:buNone/>
            </a:pPr>
            <a:r>
              <a:rPr lang="en-US" sz="1300" dirty="0" smtClean="0">
                <a:latin typeface="Times New Roman" pitchFamily="18" charset="0"/>
                <a:cs typeface="Times New Roman" pitchFamily="18" charset="0"/>
              </a:rPr>
              <a:t>    protected void </a:t>
            </a:r>
            <a:r>
              <a:rPr lang="en-US" sz="1300" dirty="0" err="1" smtClean="0">
                <a:latin typeface="Times New Roman" pitchFamily="18" charset="0"/>
                <a:cs typeface="Times New Roman" pitchFamily="18" charset="0"/>
              </a:rPr>
              <a:t>onCreate</a:t>
            </a:r>
            <a:r>
              <a:rPr lang="en-US" sz="1300" dirty="0" smtClean="0">
                <a:latin typeface="Times New Roman" pitchFamily="18" charset="0"/>
                <a:cs typeface="Times New Roman" pitchFamily="18" charset="0"/>
              </a:rPr>
              <a:t>(Bundle </a:t>
            </a:r>
            <a:r>
              <a:rPr lang="en-US" sz="1300" dirty="0" err="1" smtClean="0">
                <a:latin typeface="Times New Roman" pitchFamily="18" charset="0"/>
                <a:cs typeface="Times New Roman" pitchFamily="18" charset="0"/>
              </a:rPr>
              <a:t>savedInstanceState</a:t>
            </a:r>
            <a:r>
              <a:rPr lang="en-US" sz="1300" dirty="0" smtClean="0">
                <a:latin typeface="Times New Roman" pitchFamily="18" charset="0"/>
                <a:cs typeface="Times New Roman" pitchFamily="18" charset="0"/>
              </a:rPr>
              <a:t>) {</a:t>
            </a:r>
          </a:p>
          <a:p>
            <a:pPr>
              <a:buNone/>
            </a:pPr>
            <a:r>
              <a:rPr lang="en-US" sz="1300" dirty="0" smtClean="0">
                <a:latin typeface="Times New Roman" pitchFamily="18" charset="0"/>
                <a:cs typeface="Times New Roman" pitchFamily="18" charset="0"/>
              </a:rPr>
              <a:t>        </a:t>
            </a:r>
            <a:r>
              <a:rPr lang="en-US" sz="1300" dirty="0" err="1" smtClean="0">
                <a:latin typeface="Times New Roman" pitchFamily="18" charset="0"/>
                <a:cs typeface="Times New Roman" pitchFamily="18" charset="0"/>
              </a:rPr>
              <a:t>super.onCreate</a:t>
            </a:r>
            <a:r>
              <a:rPr lang="en-US" sz="1300" dirty="0" smtClean="0">
                <a:latin typeface="Times New Roman" pitchFamily="18" charset="0"/>
                <a:cs typeface="Times New Roman" pitchFamily="18" charset="0"/>
              </a:rPr>
              <a:t>(</a:t>
            </a:r>
            <a:r>
              <a:rPr lang="en-US" sz="1300" dirty="0" err="1" smtClean="0">
                <a:latin typeface="Times New Roman" pitchFamily="18" charset="0"/>
                <a:cs typeface="Times New Roman" pitchFamily="18" charset="0"/>
              </a:rPr>
              <a:t>savedInstanceState</a:t>
            </a:r>
            <a:r>
              <a:rPr lang="en-US" sz="1300" dirty="0" smtClean="0">
                <a:latin typeface="Times New Roman" pitchFamily="18" charset="0"/>
                <a:cs typeface="Times New Roman" pitchFamily="18" charset="0"/>
              </a:rPr>
              <a:t>);</a:t>
            </a:r>
          </a:p>
          <a:p>
            <a:pPr>
              <a:buNone/>
            </a:pPr>
            <a:r>
              <a:rPr lang="en-US" sz="1300" dirty="0" smtClean="0">
                <a:latin typeface="Times New Roman" pitchFamily="18" charset="0"/>
                <a:cs typeface="Times New Roman" pitchFamily="18" charset="0"/>
              </a:rPr>
              <a:t>        </a:t>
            </a:r>
            <a:r>
              <a:rPr lang="en-US" sz="1300" dirty="0" err="1" smtClean="0">
                <a:latin typeface="Times New Roman" pitchFamily="18" charset="0"/>
                <a:cs typeface="Times New Roman" pitchFamily="18" charset="0"/>
              </a:rPr>
              <a:t>setContentView</a:t>
            </a:r>
            <a:r>
              <a:rPr lang="en-US" sz="1300" dirty="0" smtClean="0">
                <a:latin typeface="Times New Roman" pitchFamily="18" charset="0"/>
                <a:cs typeface="Times New Roman" pitchFamily="18" charset="0"/>
              </a:rPr>
              <a:t>(</a:t>
            </a:r>
            <a:r>
              <a:rPr lang="en-US" sz="1300" dirty="0" err="1" smtClean="0">
                <a:latin typeface="Times New Roman" pitchFamily="18" charset="0"/>
                <a:cs typeface="Times New Roman" pitchFamily="18" charset="0"/>
              </a:rPr>
              <a:t>R.layout.activity_main</a:t>
            </a:r>
            <a:r>
              <a:rPr lang="en-US" sz="1300" dirty="0" smtClean="0">
                <a:latin typeface="Times New Roman" pitchFamily="18" charset="0"/>
                <a:cs typeface="Times New Roman" pitchFamily="18" charset="0"/>
              </a:rPr>
              <a:t>);</a:t>
            </a:r>
          </a:p>
          <a:p>
            <a:pPr>
              <a:buNone/>
            </a:pPr>
            <a:endParaRPr lang="en-US" sz="1300" dirty="0" smtClean="0">
              <a:latin typeface="Times New Roman" pitchFamily="18" charset="0"/>
              <a:cs typeface="Times New Roman" pitchFamily="18" charset="0"/>
            </a:endParaRPr>
          </a:p>
          <a:p>
            <a:pPr>
              <a:buNone/>
            </a:pPr>
            <a:r>
              <a:rPr lang="en-US" sz="1300" dirty="0" smtClean="0">
                <a:latin typeface="Times New Roman" pitchFamily="18" charset="0"/>
                <a:cs typeface="Times New Roman" pitchFamily="18" charset="0"/>
              </a:rPr>
              <a:t>        </a:t>
            </a:r>
            <a:r>
              <a:rPr lang="en-US" sz="1300" dirty="0" err="1" smtClean="0">
                <a:latin typeface="Times New Roman" pitchFamily="18" charset="0"/>
                <a:cs typeface="Times New Roman" pitchFamily="18" charset="0"/>
              </a:rPr>
              <a:t>btnPlay</a:t>
            </a:r>
            <a:r>
              <a:rPr lang="en-US" sz="1300" dirty="0" smtClean="0">
                <a:latin typeface="Times New Roman" pitchFamily="18" charset="0"/>
                <a:cs typeface="Times New Roman" pitchFamily="18" charset="0"/>
              </a:rPr>
              <a:t> = </a:t>
            </a:r>
            <a:r>
              <a:rPr lang="en-US" sz="1300" dirty="0" err="1" smtClean="0">
                <a:latin typeface="Times New Roman" pitchFamily="18" charset="0"/>
                <a:cs typeface="Times New Roman" pitchFamily="18" charset="0"/>
              </a:rPr>
              <a:t>findViewById</a:t>
            </a:r>
            <a:r>
              <a:rPr lang="en-US" sz="1300" dirty="0" smtClean="0">
                <a:latin typeface="Times New Roman" pitchFamily="18" charset="0"/>
                <a:cs typeface="Times New Roman" pitchFamily="18" charset="0"/>
              </a:rPr>
              <a:t>(</a:t>
            </a:r>
            <a:r>
              <a:rPr lang="en-US" sz="1300" dirty="0" err="1" smtClean="0">
                <a:latin typeface="Times New Roman" pitchFamily="18" charset="0"/>
                <a:cs typeface="Times New Roman" pitchFamily="18" charset="0"/>
              </a:rPr>
              <a:t>R.id.btnPlay</a:t>
            </a:r>
            <a:r>
              <a:rPr lang="en-US" sz="1300" dirty="0" smtClean="0">
                <a:latin typeface="Times New Roman" pitchFamily="18" charset="0"/>
                <a:cs typeface="Times New Roman" pitchFamily="18" charset="0"/>
              </a:rPr>
              <a:t>);</a:t>
            </a:r>
          </a:p>
          <a:p>
            <a:pPr>
              <a:buNone/>
            </a:pPr>
            <a:r>
              <a:rPr lang="en-US" sz="1300" dirty="0" smtClean="0">
                <a:latin typeface="Times New Roman" pitchFamily="18" charset="0"/>
                <a:cs typeface="Times New Roman" pitchFamily="18" charset="0"/>
              </a:rPr>
              <a:t>        </a:t>
            </a:r>
            <a:r>
              <a:rPr lang="en-US" sz="1300" dirty="0" err="1" smtClean="0">
                <a:latin typeface="Times New Roman" pitchFamily="18" charset="0"/>
                <a:cs typeface="Times New Roman" pitchFamily="18" charset="0"/>
              </a:rPr>
              <a:t>btnPause</a:t>
            </a:r>
            <a:r>
              <a:rPr lang="en-US" sz="1300" dirty="0" smtClean="0">
                <a:latin typeface="Times New Roman" pitchFamily="18" charset="0"/>
                <a:cs typeface="Times New Roman" pitchFamily="18" charset="0"/>
              </a:rPr>
              <a:t> = </a:t>
            </a:r>
            <a:r>
              <a:rPr lang="en-US" sz="1300" dirty="0" err="1" smtClean="0">
                <a:latin typeface="Times New Roman" pitchFamily="18" charset="0"/>
                <a:cs typeface="Times New Roman" pitchFamily="18" charset="0"/>
              </a:rPr>
              <a:t>findViewById</a:t>
            </a:r>
            <a:r>
              <a:rPr lang="en-US" sz="1300" dirty="0" smtClean="0">
                <a:latin typeface="Times New Roman" pitchFamily="18" charset="0"/>
                <a:cs typeface="Times New Roman" pitchFamily="18" charset="0"/>
              </a:rPr>
              <a:t>(</a:t>
            </a:r>
            <a:r>
              <a:rPr lang="en-US" sz="1300" dirty="0" err="1" smtClean="0">
                <a:latin typeface="Times New Roman" pitchFamily="18" charset="0"/>
                <a:cs typeface="Times New Roman" pitchFamily="18" charset="0"/>
              </a:rPr>
              <a:t>R.id.btnPause</a:t>
            </a:r>
            <a:r>
              <a:rPr lang="en-US" sz="1300" dirty="0" smtClean="0">
                <a:latin typeface="Times New Roman" pitchFamily="18" charset="0"/>
                <a:cs typeface="Times New Roman" pitchFamily="18" charset="0"/>
              </a:rPr>
              <a:t>);</a:t>
            </a:r>
          </a:p>
          <a:p>
            <a:pPr>
              <a:buNone/>
            </a:pPr>
            <a:r>
              <a:rPr lang="en-US" sz="1300" dirty="0" smtClean="0">
                <a:latin typeface="Times New Roman" pitchFamily="18" charset="0"/>
                <a:cs typeface="Times New Roman" pitchFamily="18" charset="0"/>
              </a:rPr>
              <a:t>        </a:t>
            </a:r>
            <a:r>
              <a:rPr lang="en-US" sz="1300" dirty="0" err="1" smtClean="0">
                <a:latin typeface="Times New Roman" pitchFamily="18" charset="0"/>
                <a:cs typeface="Times New Roman" pitchFamily="18" charset="0"/>
              </a:rPr>
              <a:t>btnStop</a:t>
            </a:r>
            <a:r>
              <a:rPr lang="en-US" sz="1300" dirty="0" smtClean="0">
                <a:latin typeface="Times New Roman" pitchFamily="18" charset="0"/>
                <a:cs typeface="Times New Roman" pitchFamily="18" charset="0"/>
              </a:rPr>
              <a:t> = </a:t>
            </a:r>
            <a:r>
              <a:rPr lang="en-US" sz="1300" dirty="0" err="1" smtClean="0">
                <a:latin typeface="Times New Roman" pitchFamily="18" charset="0"/>
                <a:cs typeface="Times New Roman" pitchFamily="18" charset="0"/>
              </a:rPr>
              <a:t>findViewById</a:t>
            </a:r>
            <a:r>
              <a:rPr lang="en-US" sz="1300" dirty="0" smtClean="0">
                <a:latin typeface="Times New Roman" pitchFamily="18" charset="0"/>
                <a:cs typeface="Times New Roman" pitchFamily="18" charset="0"/>
              </a:rPr>
              <a:t>(</a:t>
            </a:r>
            <a:r>
              <a:rPr lang="en-US" sz="1300" dirty="0" err="1" smtClean="0">
                <a:latin typeface="Times New Roman" pitchFamily="18" charset="0"/>
                <a:cs typeface="Times New Roman" pitchFamily="18" charset="0"/>
              </a:rPr>
              <a:t>R.id.btnStop</a:t>
            </a:r>
            <a:r>
              <a:rPr lang="en-US" sz="1300" dirty="0" smtClean="0">
                <a:latin typeface="Times New Roman" pitchFamily="18" charset="0"/>
                <a:cs typeface="Times New Roman" pitchFamily="18" charset="0"/>
              </a:rPr>
              <a:t>);</a:t>
            </a:r>
          </a:p>
          <a:p>
            <a:pPr>
              <a:buNone/>
            </a:pPr>
            <a:endParaRPr lang="en-US" dirty="0" smtClean="0"/>
          </a:p>
        </p:txBody>
      </p:sp>
      <p:sp>
        <p:nvSpPr>
          <p:cNvPr id="4" name="Rectangle 3"/>
          <p:cNvSpPr/>
          <p:nvPr/>
        </p:nvSpPr>
        <p:spPr>
          <a:xfrm>
            <a:off x="4429124" y="1500174"/>
            <a:ext cx="4572000" cy="4832092"/>
          </a:xfrm>
          <a:prstGeom prst="rect">
            <a:avLst/>
          </a:prstGeom>
        </p:spPr>
        <p:txBody>
          <a:bodyPr>
            <a:spAutoFit/>
          </a:bodyPr>
          <a:lstStyle/>
          <a:p>
            <a:pPr>
              <a:buNone/>
            </a:pPr>
            <a:r>
              <a:rPr lang="en-US" sz="1100" dirty="0" smtClean="0">
                <a:latin typeface="Times New Roman" pitchFamily="18" charset="0"/>
                <a:cs typeface="Times New Roman" pitchFamily="18" charset="0"/>
              </a:rPr>
              <a:t> // Initialize </a:t>
            </a:r>
            <a:r>
              <a:rPr lang="en-US" sz="1100" dirty="0" err="1" smtClean="0">
                <a:latin typeface="Times New Roman" pitchFamily="18" charset="0"/>
                <a:cs typeface="Times New Roman" pitchFamily="18" charset="0"/>
              </a:rPr>
              <a:t>MediaPlayer</a:t>
            </a:r>
            <a:r>
              <a:rPr lang="en-US" sz="1100" dirty="0" smtClean="0">
                <a:latin typeface="Times New Roman" pitchFamily="18" charset="0"/>
                <a:cs typeface="Times New Roman" pitchFamily="18" charset="0"/>
              </a:rPr>
              <a:t> with a local audio file</a:t>
            </a:r>
          </a:p>
          <a:p>
            <a:pPr>
              <a:buNone/>
            </a:pPr>
            <a:r>
              <a:rPr lang="en-US" sz="1100" dirty="0" smtClean="0">
                <a:latin typeface="Times New Roman" pitchFamily="18" charset="0"/>
                <a:cs typeface="Times New Roman" pitchFamily="18" charset="0"/>
              </a:rPr>
              <a:t>        </a:t>
            </a:r>
            <a:r>
              <a:rPr lang="en-US" sz="1100" dirty="0" err="1" smtClean="0">
                <a:latin typeface="Times New Roman" pitchFamily="18" charset="0"/>
                <a:cs typeface="Times New Roman" pitchFamily="18" charset="0"/>
              </a:rPr>
              <a:t>mediaPlayer</a:t>
            </a:r>
            <a:r>
              <a:rPr lang="en-US" sz="1100" dirty="0" smtClean="0">
                <a:latin typeface="Times New Roman" pitchFamily="18" charset="0"/>
                <a:cs typeface="Times New Roman" pitchFamily="18" charset="0"/>
              </a:rPr>
              <a:t> = </a:t>
            </a:r>
            <a:r>
              <a:rPr lang="en-US" sz="1100" dirty="0" err="1" smtClean="0">
                <a:latin typeface="Times New Roman" pitchFamily="18" charset="0"/>
                <a:cs typeface="Times New Roman" pitchFamily="18" charset="0"/>
              </a:rPr>
              <a:t>MediaPlayer.create</a:t>
            </a:r>
            <a:r>
              <a:rPr lang="en-US" sz="1100" dirty="0" smtClean="0">
                <a:latin typeface="Times New Roman" pitchFamily="18" charset="0"/>
                <a:cs typeface="Times New Roman" pitchFamily="18" charset="0"/>
              </a:rPr>
              <a:t>(this, </a:t>
            </a:r>
            <a:r>
              <a:rPr lang="en-US" sz="1100" dirty="0" err="1" smtClean="0">
                <a:latin typeface="Times New Roman" pitchFamily="18" charset="0"/>
                <a:cs typeface="Times New Roman" pitchFamily="18" charset="0"/>
              </a:rPr>
              <a:t>R.raw.song</a:t>
            </a:r>
            <a:r>
              <a:rPr lang="en-US" sz="1100" dirty="0" smtClean="0">
                <a:latin typeface="Times New Roman" pitchFamily="18" charset="0"/>
                <a:cs typeface="Times New Roman" pitchFamily="18" charset="0"/>
              </a:rPr>
              <a:t>);</a:t>
            </a:r>
          </a:p>
          <a:p>
            <a:pPr>
              <a:buNone/>
            </a:pPr>
            <a:endParaRPr lang="en-US" sz="1100" dirty="0" smtClean="0">
              <a:latin typeface="Times New Roman" pitchFamily="18" charset="0"/>
              <a:cs typeface="Times New Roman" pitchFamily="18" charset="0"/>
            </a:endParaRPr>
          </a:p>
          <a:p>
            <a:pPr>
              <a:buNone/>
            </a:pPr>
            <a:r>
              <a:rPr lang="en-US" sz="1100" dirty="0" smtClean="0">
                <a:latin typeface="Times New Roman" pitchFamily="18" charset="0"/>
                <a:cs typeface="Times New Roman" pitchFamily="18" charset="0"/>
              </a:rPr>
              <a:t>        </a:t>
            </a:r>
            <a:r>
              <a:rPr lang="en-US" sz="1100" dirty="0" err="1" smtClean="0">
                <a:latin typeface="Times New Roman" pitchFamily="18" charset="0"/>
                <a:cs typeface="Times New Roman" pitchFamily="18" charset="0"/>
              </a:rPr>
              <a:t>btnPlay.setOnClickListener</a:t>
            </a:r>
            <a:r>
              <a:rPr lang="en-US" sz="1100" dirty="0" smtClean="0">
                <a:latin typeface="Times New Roman" pitchFamily="18" charset="0"/>
                <a:cs typeface="Times New Roman" pitchFamily="18" charset="0"/>
              </a:rPr>
              <a:t>(v -&gt; </a:t>
            </a:r>
            <a:r>
              <a:rPr lang="en-US" sz="1100" dirty="0" err="1" smtClean="0">
                <a:latin typeface="Times New Roman" pitchFamily="18" charset="0"/>
                <a:cs typeface="Times New Roman" pitchFamily="18" charset="0"/>
              </a:rPr>
              <a:t>mediaPlayer.start</a:t>
            </a:r>
            <a:r>
              <a:rPr lang="en-US" sz="1100" dirty="0" smtClean="0">
                <a:latin typeface="Times New Roman" pitchFamily="18" charset="0"/>
                <a:cs typeface="Times New Roman" pitchFamily="18" charset="0"/>
              </a:rPr>
              <a:t>());</a:t>
            </a:r>
          </a:p>
          <a:p>
            <a:pPr>
              <a:buNone/>
            </a:pPr>
            <a:endParaRPr lang="en-US" sz="1100" dirty="0" smtClean="0">
              <a:latin typeface="Times New Roman" pitchFamily="18" charset="0"/>
              <a:cs typeface="Times New Roman" pitchFamily="18" charset="0"/>
            </a:endParaRPr>
          </a:p>
          <a:p>
            <a:pPr>
              <a:buNone/>
            </a:pPr>
            <a:r>
              <a:rPr lang="en-US" sz="1100" dirty="0" smtClean="0">
                <a:latin typeface="Times New Roman" pitchFamily="18" charset="0"/>
                <a:cs typeface="Times New Roman" pitchFamily="18" charset="0"/>
              </a:rPr>
              <a:t>        </a:t>
            </a:r>
            <a:r>
              <a:rPr lang="en-US" sz="1100" dirty="0" err="1" smtClean="0">
                <a:latin typeface="Times New Roman" pitchFamily="18" charset="0"/>
                <a:cs typeface="Times New Roman" pitchFamily="18" charset="0"/>
              </a:rPr>
              <a:t>btnPause.setOnClickListener</a:t>
            </a:r>
            <a:r>
              <a:rPr lang="en-US" sz="1100" dirty="0" smtClean="0">
                <a:latin typeface="Times New Roman" pitchFamily="18" charset="0"/>
                <a:cs typeface="Times New Roman" pitchFamily="18" charset="0"/>
              </a:rPr>
              <a:t>(v -&gt; {</a:t>
            </a:r>
          </a:p>
          <a:p>
            <a:pPr>
              <a:buNone/>
            </a:pPr>
            <a:r>
              <a:rPr lang="en-US" sz="1100" dirty="0" smtClean="0">
                <a:latin typeface="Times New Roman" pitchFamily="18" charset="0"/>
                <a:cs typeface="Times New Roman" pitchFamily="18" charset="0"/>
              </a:rPr>
              <a:t>            if (</a:t>
            </a:r>
            <a:r>
              <a:rPr lang="en-US" sz="1100" dirty="0" err="1" smtClean="0">
                <a:latin typeface="Times New Roman" pitchFamily="18" charset="0"/>
                <a:cs typeface="Times New Roman" pitchFamily="18" charset="0"/>
              </a:rPr>
              <a:t>mediaPlayer.isPlaying</a:t>
            </a:r>
            <a:r>
              <a:rPr lang="en-US" sz="1100" dirty="0" smtClean="0">
                <a:latin typeface="Times New Roman" pitchFamily="18" charset="0"/>
                <a:cs typeface="Times New Roman" pitchFamily="18" charset="0"/>
              </a:rPr>
              <a:t>()) {</a:t>
            </a:r>
          </a:p>
          <a:p>
            <a:pPr>
              <a:buNone/>
            </a:pPr>
            <a:r>
              <a:rPr lang="en-US" sz="1100" dirty="0" smtClean="0">
                <a:latin typeface="Times New Roman" pitchFamily="18" charset="0"/>
                <a:cs typeface="Times New Roman" pitchFamily="18" charset="0"/>
              </a:rPr>
              <a:t>                </a:t>
            </a:r>
            <a:r>
              <a:rPr lang="en-US" sz="1100" dirty="0" err="1" smtClean="0">
                <a:latin typeface="Times New Roman" pitchFamily="18" charset="0"/>
                <a:cs typeface="Times New Roman" pitchFamily="18" charset="0"/>
              </a:rPr>
              <a:t>mediaPlayer.pause</a:t>
            </a:r>
            <a:r>
              <a:rPr lang="en-US" sz="1100" dirty="0" smtClean="0">
                <a:latin typeface="Times New Roman" pitchFamily="18" charset="0"/>
                <a:cs typeface="Times New Roman" pitchFamily="18" charset="0"/>
              </a:rPr>
              <a:t>();</a:t>
            </a:r>
          </a:p>
          <a:p>
            <a:pPr>
              <a:buNone/>
            </a:pPr>
            <a:r>
              <a:rPr lang="en-US" sz="1100" dirty="0" smtClean="0">
                <a:latin typeface="Times New Roman" pitchFamily="18" charset="0"/>
                <a:cs typeface="Times New Roman" pitchFamily="18" charset="0"/>
              </a:rPr>
              <a:t>            }</a:t>
            </a:r>
          </a:p>
          <a:p>
            <a:pPr>
              <a:buNone/>
            </a:pPr>
            <a:r>
              <a:rPr lang="en-US" sz="1100" dirty="0" smtClean="0">
                <a:latin typeface="Times New Roman" pitchFamily="18" charset="0"/>
                <a:cs typeface="Times New Roman" pitchFamily="18" charset="0"/>
              </a:rPr>
              <a:t>        });</a:t>
            </a:r>
          </a:p>
          <a:p>
            <a:pPr>
              <a:buNone/>
            </a:pPr>
            <a:endParaRPr lang="en-US" sz="1100" dirty="0" smtClean="0">
              <a:latin typeface="Times New Roman" pitchFamily="18" charset="0"/>
              <a:cs typeface="Times New Roman" pitchFamily="18" charset="0"/>
            </a:endParaRPr>
          </a:p>
          <a:p>
            <a:pPr>
              <a:buNone/>
            </a:pPr>
            <a:r>
              <a:rPr lang="en-US" sz="1100" dirty="0" smtClean="0">
                <a:latin typeface="Times New Roman" pitchFamily="18" charset="0"/>
                <a:cs typeface="Times New Roman" pitchFamily="18" charset="0"/>
              </a:rPr>
              <a:t>        </a:t>
            </a:r>
            <a:r>
              <a:rPr lang="en-US" sz="1100" dirty="0" err="1" smtClean="0">
                <a:latin typeface="Times New Roman" pitchFamily="18" charset="0"/>
                <a:cs typeface="Times New Roman" pitchFamily="18" charset="0"/>
              </a:rPr>
              <a:t>btnStop.setOnClickListener</a:t>
            </a:r>
            <a:r>
              <a:rPr lang="en-US" sz="1100" dirty="0" smtClean="0">
                <a:latin typeface="Times New Roman" pitchFamily="18" charset="0"/>
                <a:cs typeface="Times New Roman" pitchFamily="18" charset="0"/>
              </a:rPr>
              <a:t>(v -&gt; {</a:t>
            </a:r>
          </a:p>
          <a:p>
            <a:pPr>
              <a:buNone/>
            </a:pPr>
            <a:r>
              <a:rPr lang="en-US" sz="1100" dirty="0" smtClean="0">
                <a:latin typeface="Times New Roman" pitchFamily="18" charset="0"/>
                <a:cs typeface="Times New Roman" pitchFamily="18" charset="0"/>
              </a:rPr>
              <a:t>            if (</a:t>
            </a:r>
            <a:r>
              <a:rPr lang="en-US" sz="1100" dirty="0" err="1" smtClean="0">
                <a:latin typeface="Times New Roman" pitchFamily="18" charset="0"/>
                <a:cs typeface="Times New Roman" pitchFamily="18" charset="0"/>
              </a:rPr>
              <a:t>mediaPlayer.isPlaying</a:t>
            </a:r>
            <a:r>
              <a:rPr lang="en-US" sz="1100" dirty="0" smtClean="0">
                <a:latin typeface="Times New Roman" pitchFamily="18" charset="0"/>
                <a:cs typeface="Times New Roman" pitchFamily="18" charset="0"/>
              </a:rPr>
              <a:t>()) {</a:t>
            </a:r>
          </a:p>
          <a:p>
            <a:pPr>
              <a:buNone/>
            </a:pPr>
            <a:r>
              <a:rPr lang="en-US" sz="1100" dirty="0" smtClean="0">
                <a:latin typeface="Times New Roman" pitchFamily="18" charset="0"/>
                <a:cs typeface="Times New Roman" pitchFamily="18" charset="0"/>
              </a:rPr>
              <a:t>                </a:t>
            </a:r>
            <a:r>
              <a:rPr lang="en-US" sz="1100" dirty="0" err="1" smtClean="0">
                <a:latin typeface="Times New Roman" pitchFamily="18" charset="0"/>
                <a:cs typeface="Times New Roman" pitchFamily="18" charset="0"/>
              </a:rPr>
              <a:t>mediaPlayer.stop</a:t>
            </a:r>
            <a:r>
              <a:rPr lang="en-US" sz="1100" dirty="0" smtClean="0">
                <a:latin typeface="Times New Roman" pitchFamily="18" charset="0"/>
                <a:cs typeface="Times New Roman" pitchFamily="18" charset="0"/>
              </a:rPr>
              <a:t>();</a:t>
            </a:r>
          </a:p>
          <a:p>
            <a:pPr>
              <a:buNone/>
            </a:pPr>
            <a:r>
              <a:rPr lang="en-US" sz="1100" dirty="0" smtClean="0">
                <a:latin typeface="Times New Roman" pitchFamily="18" charset="0"/>
                <a:cs typeface="Times New Roman" pitchFamily="18" charset="0"/>
              </a:rPr>
              <a:t>                // Prepare again for replay</a:t>
            </a:r>
          </a:p>
          <a:p>
            <a:pPr>
              <a:buNone/>
            </a:pPr>
            <a:r>
              <a:rPr lang="en-US" sz="1100" dirty="0" smtClean="0">
                <a:latin typeface="Times New Roman" pitchFamily="18" charset="0"/>
                <a:cs typeface="Times New Roman" pitchFamily="18" charset="0"/>
              </a:rPr>
              <a:t>                </a:t>
            </a:r>
            <a:r>
              <a:rPr lang="en-US" sz="1100" dirty="0" err="1" smtClean="0">
                <a:latin typeface="Times New Roman" pitchFamily="18" charset="0"/>
                <a:cs typeface="Times New Roman" pitchFamily="18" charset="0"/>
              </a:rPr>
              <a:t>mediaPlayer</a:t>
            </a:r>
            <a:r>
              <a:rPr lang="en-US" sz="1100" dirty="0" smtClean="0">
                <a:latin typeface="Times New Roman" pitchFamily="18" charset="0"/>
                <a:cs typeface="Times New Roman" pitchFamily="18" charset="0"/>
              </a:rPr>
              <a:t> = </a:t>
            </a:r>
            <a:r>
              <a:rPr lang="en-US" sz="1100" dirty="0" err="1" smtClean="0">
                <a:latin typeface="Times New Roman" pitchFamily="18" charset="0"/>
                <a:cs typeface="Times New Roman" pitchFamily="18" charset="0"/>
              </a:rPr>
              <a:t>MediaPlayer.create</a:t>
            </a:r>
            <a:r>
              <a:rPr lang="en-US" sz="1100" dirty="0" smtClean="0">
                <a:latin typeface="Times New Roman" pitchFamily="18" charset="0"/>
                <a:cs typeface="Times New Roman" pitchFamily="18" charset="0"/>
              </a:rPr>
              <a:t>(this, </a:t>
            </a:r>
            <a:r>
              <a:rPr lang="en-US" sz="1100" dirty="0" err="1" smtClean="0">
                <a:latin typeface="Times New Roman" pitchFamily="18" charset="0"/>
                <a:cs typeface="Times New Roman" pitchFamily="18" charset="0"/>
              </a:rPr>
              <a:t>R.raw.song</a:t>
            </a:r>
            <a:r>
              <a:rPr lang="en-US" sz="1100" dirty="0" smtClean="0">
                <a:latin typeface="Times New Roman" pitchFamily="18" charset="0"/>
                <a:cs typeface="Times New Roman" pitchFamily="18" charset="0"/>
              </a:rPr>
              <a:t>);</a:t>
            </a:r>
          </a:p>
          <a:p>
            <a:pPr>
              <a:buNone/>
            </a:pPr>
            <a:r>
              <a:rPr lang="en-US" sz="1100" dirty="0" smtClean="0">
                <a:latin typeface="Times New Roman" pitchFamily="18" charset="0"/>
                <a:cs typeface="Times New Roman" pitchFamily="18" charset="0"/>
              </a:rPr>
              <a:t>            }</a:t>
            </a:r>
          </a:p>
          <a:p>
            <a:pPr>
              <a:buNone/>
            </a:pPr>
            <a:r>
              <a:rPr lang="en-US" sz="1100" dirty="0" smtClean="0">
                <a:latin typeface="Times New Roman" pitchFamily="18" charset="0"/>
                <a:cs typeface="Times New Roman" pitchFamily="18" charset="0"/>
              </a:rPr>
              <a:t>        });</a:t>
            </a:r>
          </a:p>
          <a:p>
            <a:pPr>
              <a:buNone/>
            </a:pPr>
            <a:r>
              <a:rPr lang="en-US" sz="1100" dirty="0" smtClean="0">
                <a:latin typeface="Times New Roman" pitchFamily="18" charset="0"/>
                <a:cs typeface="Times New Roman" pitchFamily="18" charset="0"/>
              </a:rPr>
              <a:t>    }</a:t>
            </a:r>
          </a:p>
          <a:p>
            <a:pPr>
              <a:buNone/>
            </a:pPr>
            <a:endParaRPr lang="en-US" sz="1100" dirty="0" smtClean="0">
              <a:latin typeface="Times New Roman" pitchFamily="18" charset="0"/>
              <a:cs typeface="Times New Roman" pitchFamily="18" charset="0"/>
            </a:endParaRPr>
          </a:p>
          <a:p>
            <a:pPr>
              <a:buNone/>
            </a:pPr>
            <a:r>
              <a:rPr lang="en-US" sz="1100" dirty="0" smtClean="0">
                <a:latin typeface="Times New Roman" pitchFamily="18" charset="0"/>
                <a:cs typeface="Times New Roman" pitchFamily="18" charset="0"/>
              </a:rPr>
              <a:t>    @Override</a:t>
            </a:r>
          </a:p>
          <a:p>
            <a:pPr>
              <a:buNone/>
            </a:pPr>
            <a:r>
              <a:rPr lang="en-US" sz="1100" dirty="0" smtClean="0">
                <a:latin typeface="Times New Roman" pitchFamily="18" charset="0"/>
                <a:cs typeface="Times New Roman" pitchFamily="18" charset="0"/>
              </a:rPr>
              <a:t>    protected void </a:t>
            </a:r>
            <a:r>
              <a:rPr lang="en-US" sz="1100" dirty="0" err="1" smtClean="0">
                <a:latin typeface="Times New Roman" pitchFamily="18" charset="0"/>
                <a:cs typeface="Times New Roman" pitchFamily="18" charset="0"/>
              </a:rPr>
              <a:t>onDestroy</a:t>
            </a:r>
            <a:r>
              <a:rPr lang="en-US" sz="1100" dirty="0" smtClean="0">
                <a:latin typeface="Times New Roman" pitchFamily="18" charset="0"/>
                <a:cs typeface="Times New Roman" pitchFamily="18" charset="0"/>
              </a:rPr>
              <a:t>() {</a:t>
            </a:r>
          </a:p>
          <a:p>
            <a:pPr>
              <a:buNone/>
            </a:pPr>
            <a:r>
              <a:rPr lang="en-US" sz="1100" dirty="0" smtClean="0">
                <a:latin typeface="Times New Roman" pitchFamily="18" charset="0"/>
                <a:cs typeface="Times New Roman" pitchFamily="18" charset="0"/>
              </a:rPr>
              <a:t>        </a:t>
            </a:r>
            <a:r>
              <a:rPr lang="en-US" sz="1100" dirty="0" err="1" smtClean="0">
                <a:latin typeface="Times New Roman" pitchFamily="18" charset="0"/>
                <a:cs typeface="Times New Roman" pitchFamily="18" charset="0"/>
              </a:rPr>
              <a:t>super.onDestroy</a:t>
            </a:r>
            <a:r>
              <a:rPr lang="en-US" sz="1100" dirty="0" smtClean="0">
                <a:latin typeface="Times New Roman" pitchFamily="18" charset="0"/>
                <a:cs typeface="Times New Roman" pitchFamily="18" charset="0"/>
              </a:rPr>
              <a:t>();</a:t>
            </a:r>
          </a:p>
          <a:p>
            <a:pPr>
              <a:buNone/>
            </a:pPr>
            <a:r>
              <a:rPr lang="en-US" sz="1100" dirty="0" smtClean="0">
                <a:latin typeface="Times New Roman" pitchFamily="18" charset="0"/>
                <a:cs typeface="Times New Roman" pitchFamily="18" charset="0"/>
              </a:rPr>
              <a:t>        if (</a:t>
            </a:r>
            <a:r>
              <a:rPr lang="en-US" sz="1100" dirty="0" err="1" smtClean="0">
                <a:latin typeface="Times New Roman" pitchFamily="18" charset="0"/>
                <a:cs typeface="Times New Roman" pitchFamily="18" charset="0"/>
              </a:rPr>
              <a:t>mediaPlayer</a:t>
            </a:r>
            <a:r>
              <a:rPr lang="en-US" sz="1100" dirty="0" smtClean="0">
                <a:latin typeface="Times New Roman" pitchFamily="18" charset="0"/>
                <a:cs typeface="Times New Roman" pitchFamily="18" charset="0"/>
              </a:rPr>
              <a:t> != null) {</a:t>
            </a:r>
          </a:p>
          <a:p>
            <a:pPr>
              <a:buNone/>
            </a:pPr>
            <a:r>
              <a:rPr lang="en-US" sz="1100" dirty="0" smtClean="0">
                <a:latin typeface="Times New Roman" pitchFamily="18" charset="0"/>
                <a:cs typeface="Times New Roman" pitchFamily="18" charset="0"/>
              </a:rPr>
              <a:t>            </a:t>
            </a:r>
            <a:r>
              <a:rPr lang="en-US" sz="1100" dirty="0" err="1" smtClean="0">
                <a:latin typeface="Times New Roman" pitchFamily="18" charset="0"/>
                <a:cs typeface="Times New Roman" pitchFamily="18" charset="0"/>
              </a:rPr>
              <a:t>mediaPlayer.release</a:t>
            </a:r>
            <a:r>
              <a:rPr lang="en-US" sz="1100" dirty="0" smtClean="0">
                <a:latin typeface="Times New Roman" pitchFamily="18" charset="0"/>
                <a:cs typeface="Times New Roman" pitchFamily="18" charset="0"/>
              </a:rPr>
              <a:t>(); // free resources</a:t>
            </a:r>
          </a:p>
          <a:p>
            <a:pPr>
              <a:buNone/>
            </a:pPr>
            <a:r>
              <a:rPr lang="en-US" sz="1100" dirty="0" smtClean="0">
                <a:latin typeface="Times New Roman" pitchFamily="18" charset="0"/>
                <a:cs typeface="Times New Roman" pitchFamily="18" charset="0"/>
              </a:rPr>
              <a:t>        }</a:t>
            </a:r>
          </a:p>
          <a:p>
            <a:pPr>
              <a:buNone/>
            </a:pPr>
            <a:r>
              <a:rPr lang="en-US" sz="1100" dirty="0" smtClean="0">
                <a:latin typeface="Times New Roman" pitchFamily="18" charset="0"/>
                <a:cs typeface="Times New Roman" pitchFamily="18" charset="0"/>
              </a:rPr>
              <a:t>    }</a:t>
            </a:r>
          </a:p>
          <a:p>
            <a:pPr>
              <a:buNone/>
            </a:pPr>
            <a:r>
              <a:rPr lang="en-US" sz="1100" dirty="0" smtClean="0">
                <a:latin typeface="Times New Roman" pitchFamily="18" charset="0"/>
                <a:cs typeface="Times New Roman" pitchFamily="18" charset="0"/>
              </a:rPr>
              <a:t>}</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142852"/>
            <a:ext cx="8229600" cy="1143000"/>
          </a:xfrm>
        </p:spPr>
        <p:txBody>
          <a:bodyPr>
            <a:normAutofit/>
          </a:bodyPr>
          <a:lstStyle/>
          <a:p>
            <a:r>
              <a:rPr lang="en-US" sz="2400" dirty="0" smtClean="0">
                <a:latin typeface="Times New Roman" pitchFamily="18" charset="0"/>
                <a:cs typeface="Times New Roman" pitchFamily="18" charset="0"/>
              </a:rPr>
              <a:t>Playing </a:t>
            </a:r>
            <a:r>
              <a:rPr lang="en-US" sz="2400" b="1" dirty="0" smtClean="0">
                <a:latin typeface="Times New Roman" pitchFamily="18" charset="0"/>
                <a:cs typeface="Times New Roman" pitchFamily="18" charset="0"/>
              </a:rPr>
              <a:t>Video File</a:t>
            </a:r>
            <a:r>
              <a:rPr lang="en-US" sz="2400" dirty="0" smtClean="0">
                <a:latin typeface="Times New Roman" pitchFamily="18" charset="0"/>
                <a:cs typeface="Times New Roman" pitchFamily="18" charset="0"/>
              </a:rPr>
              <a:t> Using </a:t>
            </a:r>
            <a:r>
              <a:rPr lang="en-US" sz="2400" dirty="0" err="1" smtClean="0">
                <a:latin typeface="Times New Roman" pitchFamily="18" charset="0"/>
                <a:cs typeface="Times New Roman" pitchFamily="18" charset="0"/>
              </a:rPr>
              <a:t>VideoView</a:t>
            </a:r>
            <a:endParaRPr lang="en-US" sz="24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lnSpcReduction="20000"/>
          </a:bodyPr>
          <a:lstStyle/>
          <a:p>
            <a:pPr>
              <a:buNone/>
            </a:pPr>
            <a:r>
              <a:rPr lang="en-US" sz="1200" dirty="0" err="1" smtClean="0">
                <a:latin typeface="Times New Roman" pitchFamily="18" charset="0"/>
                <a:cs typeface="Times New Roman" pitchFamily="18" charset="0"/>
              </a:rPr>
              <a:t>VideoView</a:t>
            </a:r>
            <a:r>
              <a:rPr lang="en-US" sz="1200" dirty="0" smtClean="0">
                <a:latin typeface="Times New Roman" pitchFamily="18" charset="0"/>
                <a:cs typeface="Times New Roman" pitchFamily="18" charset="0"/>
              </a:rPr>
              <a:t> is used for displaying video content easily.</a:t>
            </a:r>
          </a:p>
          <a:p>
            <a:pPr>
              <a:buNone/>
            </a:pPr>
            <a:endParaRPr lang="en-US" sz="1200" dirty="0" smtClean="0">
              <a:latin typeface="Times New Roman" pitchFamily="18" charset="0"/>
              <a:cs typeface="Times New Roman" pitchFamily="18" charset="0"/>
            </a:endParaRPr>
          </a:p>
          <a:p>
            <a:pPr>
              <a:buNone/>
            </a:pPr>
            <a:r>
              <a:rPr lang="en-US" sz="1200" dirty="0" smtClean="0">
                <a:latin typeface="Times New Roman" pitchFamily="18" charset="0"/>
                <a:cs typeface="Times New Roman" pitchFamily="18" charset="0"/>
              </a:rPr>
              <a:t>Step-1: create a raw directory inside /res folder and put video in MP4 format.  Example –</a:t>
            </a:r>
            <a:r>
              <a:rPr lang="en-US" sz="1200" b="1" dirty="0" smtClean="0">
                <a:latin typeface="Times New Roman" pitchFamily="18" charset="0"/>
                <a:cs typeface="Times New Roman" pitchFamily="18" charset="0"/>
              </a:rPr>
              <a:t> sample.MP4</a:t>
            </a:r>
          </a:p>
          <a:p>
            <a:pPr>
              <a:buNone/>
            </a:pPr>
            <a:endParaRPr lang="en-US" sz="1200" b="1" dirty="0" smtClean="0">
              <a:latin typeface="Times New Roman" pitchFamily="18" charset="0"/>
              <a:cs typeface="Times New Roman" pitchFamily="18" charset="0"/>
            </a:endParaRPr>
          </a:p>
          <a:p>
            <a:pPr>
              <a:buNone/>
            </a:pPr>
            <a:r>
              <a:rPr lang="en-US" sz="1200" b="1" dirty="0" smtClean="0">
                <a:latin typeface="Times New Roman" pitchFamily="18" charset="0"/>
                <a:cs typeface="Times New Roman" pitchFamily="18" charset="0"/>
              </a:rPr>
              <a:t>Step-2: </a:t>
            </a:r>
            <a:r>
              <a:rPr lang="en-US" sz="1200" b="1" dirty="0" err="1" smtClean="0">
                <a:latin typeface="Times New Roman" pitchFamily="18" charset="0"/>
                <a:cs typeface="Times New Roman" pitchFamily="18" charset="0"/>
              </a:rPr>
              <a:t>Activity_main</a:t>
            </a:r>
            <a:r>
              <a:rPr lang="en-US" sz="1200" b="1" dirty="0" smtClean="0">
                <a:latin typeface="Times New Roman" pitchFamily="18" charset="0"/>
                <a:cs typeface="Times New Roman" pitchFamily="18" charset="0"/>
              </a:rPr>
              <a:t> .xml</a:t>
            </a:r>
          </a:p>
          <a:p>
            <a:pPr>
              <a:buNone/>
            </a:pPr>
            <a:endParaRPr lang="en-US" sz="1200" b="1" dirty="0" smtClean="0">
              <a:latin typeface="Times New Roman" pitchFamily="18" charset="0"/>
              <a:cs typeface="Times New Roman" pitchFamily="18" charset="0"/>
            </a:endParaRPr>
          </a:p>
          <a:p>
            <a:pPr>
              <a:buNone/>
            </a:pPr>
            <a:r>
              <a:rPr lang="en-US" sz="1200" b="1" dirty="0" smtClean="0">
                <a:latin typeface="Times New Roman" pitchFamily="18" charset="0"/>
                <a:cs typeface="Times New Roman" pitchFamily="18" charset="0"/>
              </a:rPr>
              <a:t>&lt;?xml version="1.0" encoding="utf-8"?&gt;</a:t>
            </a:r>
          </a:p>
          <a:p>
            <a:pPr>
              <a:buNone/>
            </a:pPr>
            <a:r>
              <a:rPr lang="en-US" sz="1200" b="1" dirty="0" smtClean="0">
                <a:latin typeface="Times New Roman" pitchFamily="18" charset="0"/>
                <a:cs typeface="Times New Roman" pitchFamily="18" charset="0"/>
              </a:rPr>
              <a:t>&lt;</a:t>
            </a:r>
            <a:r>
              <a:rPr lang="en-US" sz="1200" b="1" dirty="0" err="1" smtClean="0">
                <a:latin typeface="Times New Roman" pitchFamily="18" charset="0"/>
                <a:cs typeface="Times New Roman" pitchFamily="18" charset="0"/>
              </a:rPr>
              <a:t>LinearLayout</a:t>
            </a:r>
            <a:r>
              <a:rPr lang="en-US" sz="1200" b="1" dirty="0" smtClean="0">
                <a:latin typeface="Times New Roman" pitchFamily="18" charset="0"/>
                <a:cs typeface="Times New Roman" pitchFamily="18" charset="0"/>
              </a:rPr>
              <a:t> </a:t>
            </a:r>
            <a:r>
              <a:rPr lang="en-US" sz="1200" b="1" dirty="0" err="1" smtClean="0">
                <a:latin typeface="Times New Roman" pitchFamily="18" charset="0"/>
                <a:cs typeface="Times New Roman" pitchFamily="18" charset="0"/>
              </a:rPr>
              <a:t>xmlns:android</a:t>
            </a:r>
            <a:r>
              <a:rPr lang="en-US" sz="1200" b="1" dirty="0" smtClean="0">
                <a:latin typeface="Times New Roman" pitchFamily="18" charset="0"/>
                <a:cs typeface="Times New Roman" pitchFamily="18" charset="0"/>
              </a:rPr>
              <a:t>="http://schemas.android.com/apk/res/android"</a:t>
            </a:r>
          </a:p>
          <a:p>
            <a:pPr>
              <a:buNone/>
            </a:pPr>
            <a:r>
              <a:rPr lang="en-US" sz="1200" b="1" dirty="0" smtClean="0">
                <a:latin typeface="Times New Roman" pitchFamily="18" charset="0"/>
                <a:cs typeface="Times New Roman" pitchFamily="18" charset="0"/>
              </a:rPr>
              <a:t>    </a:t>
            </a:r>
            <a:r>
              <a:rPr lang="en-US" sz="1200" b="1" dirty="0" err="1" smtClean="0">
                <a:latin typeface="Times New Roman" pitchFamily="18" charset="0"/>
                <a:cs typeface="Times New Roman" pitchFamily="18" charset="0"/>
              </a:rPr>
              <a:t>android:orientation</a:t>
            </a:r>
            <a:r>
              <a:rPr lang="en-US" sz="1200" b="1" dirty="0" smtClean="0">
                <a:latin typeface="Times New Roman" pitchFamily="18" charset="0"/>
                <a:cs typeface="Times New Roman" pitchFamily="18" charset="0"/>
              </a:rPr>
              <a:t>="vertical"</a:t>
            </a:r>
          </a:p>
          <a:p>
            <a:pPr>
              <a:buNone/>
            </a:pPr>
            <a:r>
              <a:rPr lang="en-US" sz="1200" b="1" dirty="0" smtClean="0">
                <a:latin typeface="Times New Roman" pitchFamily="18" charset="0"/>
                <a:cs typeface="Times New Roman" pitchFamily="18" charset="0"/>
              </a:rPr>
              <a:t>    </a:t>
            </a:r>
            <a:r>
              <a:rPr lang="en-US" sz="1200" b="1" dirty="0" err="1" smtClean="0">
                <a:latin typeface="Times New Roman" pitchFamily="18" charset="0"/>
                <a:cs typeface="Times New Roman" pitchFamily="18" charset="0"/>
              </a:rPr>
              <a:t>android:layout_width</a:t>
            </a:r>
            <a:r>
              <a:rPr lang="en-US" sz="1200" b="1" dirty="0" smtClean="0">
                <a:latin typeface="Times New Roman" pitchFamily="18" charset="0"/>
                <a:cs typeface="Times New Roman" pitchFamily="18" charset="0"/>
              </a:rPr>
              <a:t>="</a:t>
            </a:r>
            <a:r>
              <a:rPr lang="en-US" sz="1200" b="1" dirty="0" err="1" smtClean="0">
                <a:latin typeface="Times New Roman" pitchFamily="18" charset="0"/>
                <a:cs typeface="Times New Roman" pitchFamily="18" charset="0"/>
              </a:rPr>
              <a:t>match_parent</a:t>
            </a:r>
            <a:r>
              <a:rPr lang="en-US" sz="1200" b="1" dirty="0" smtClean="0">
                <a:latin typeface="Times New Roman" pitchFamily="18" charset="0"/>
                <a:cs typeface="Times New Roman" pitchFamily="18" charset="0"/>
              </a:rPr>
              <a:t>"</a:t>
            </a:r>
          </a:p>
          <a:p>
            <a:pPr>
              <a:buNone/>
            </a:pPr>
            <a:r>
              <a:rPr lang="en-US" sz="1200" b="1" dirty="0" smtClean="0">
                <a:latin typeface="Times New Roman" pitchFamily="18" charset="0"/>
                <a:cs typeface="Times New Roman" pitchFamily="18" charset="0"/>
              </a:rPr>
              <a:t>    </a:t>
            </a:r>
            <a:r>
              <a:rPr lang="en-US" sz="1200" b="1" dirty="0" err="1" smtClean="0">
                <a:latin typeface="Times New Roman" pitchFamily="18" charset="0"/>
                <a:cs typeface="Times New Roman" pitchFamily="18" charset="0"/>
              </a:rPr>
              <a:t>android:layout_height</a:t>
            </a:r>
            <a:r>
              <a:rPr lang="en-US" sz="1200" b="1" dirty="0" smtClean="0">
                <a:latin typeface="Times New Roman" pitchFamily="18" charset="0"/>
                <a:cs typeface="Times New Roman" pitchFamily="18" charset="0"/>
              </a:rPr>
              <a:t>="</a:t>
            </a:r>
            <a:r>
              <a:rPr lang="en-US" sz="1200" b="1" dirty="0" err="1" smtClean="0">
                <a:latin typeface="Times New Roman" pitchFamily="18" charset="0"/>
                <a:cs typeface="Times New Roman" pitchFamily="18" charset="0"/>
              </a:rPr>
              <a:t>match_parent</a:t>
            </a:r>
            <a:r>
              <a:rPr lang="en-US" sz="1200" b="1" dirty="0" smtClean="0">
                <a:latin typeface="Times New Roman" pitchFamily="18" charset="0"/>
                <a:cs typeface="Times New Roman" pitchFamily="18" charset="0"/>
              </a:rPr>
              <a:t>"</a:t>
            </a:r>
          </a:p>
          <a:p>
            <a:pPr>
              <a:buNone/>
            </a:pPr>
            <a:r>
              <a:rPr lang="en-US" sz="1200" b="1" dirty="0" smtClean="0">
                <a:latin typeface="Times New Roman" pitchFamily="18" charset="0"/>
                <a:cs typeface="Times New Roman" pitchFamily="18" charset="0"/>
              </a:rPr>
              <a:t>    </a:t>
            </a:r>
            <a:r>
              <a:rPr lang="en-US" sz="1200" b="1" dirty="0" err="1" smtClean="0">
                <a:latin typeface="Times New Roman" pitchFamily="18" charset="0"/>
                <a:cs typeface="Times New Roman" pitchFamily="18" charset="0"/>
              </a:rPr>
              <a:t>android:gravity</a:t>
            </a:r>
            <a:r>
              <a:rPr lang="en-US" sz="1200" b="1" dirty="0" smtClean="0">
                <a:latin typeface="Times New Roman" pitchFamily="18" charset="0"/>
                <a:cs typeface="Times New Roman" pitchFamily="18" charset="0"/>
              </a:rPr>
              <a:t>="center"&gt;</a:t>
            </a:r>
          </a:p>
          <a:p>
            <a:pPr>
              <a:buNone/>
            </a:pPr>
            <a:endParaRPr lang="en-US" sz="1200" b="1" dirty="0" smtClean="0">
              <a:latin typeface="Times New Roman" pitchFamily="18" charset="0"/>
              <a:cs typeface="Times New Roman" pitchFamily="18" charset="0"/>
            </a:endParaRPr>
          </a:p>
          <a:p>
            <a:pPr>
              <a:buNone/>
            </a:pPr>
            <a:r>
              <a:rPr lang="en-US" sz="1200" b="1" dirty="0" smtClean="0">
                <a:latin typeface="Times New Roman" pitchFamily="18" charset="0"/>
                <a:cs typeface="Times New Roman" pitchFamily="18" charset="0"/>
              </a:rPr>
              <a:t>    &lt;</a:t>
            </a:r>
            <a:r>
              <a:rPr lang="en-US" sz="1200" b="1" dirty="0" err="1" smtClean="0">
                <a:latin typeface="Times New Roman" pitchFamily="18" charset="0"/>
                <a:cs typeface="Times New Roman" pitchFamily="18" charset="0"/>
              </a:rPr>
              <a:t>VideoView</a:t>
            </a:r>
            <a:endParaRPr lang="en-US" sz="1200" b="1" dirty="0" smtClean="0">
              <a:latin typeface="Times New Roman" pitchFamily="18" charset="0"/>
              <a:cs typeface="Times New Roman" pitchFamily="18" charset="0"/>
            </a:endParaRPr>
          </a:p>
          <a:p>
            <a:pPr>
              <a:buNone/>
            </a:pPr>
            <a:r>
              <a:rPr lang="en-US" sz="1200" b="1" dirty="0" smtClean="0">
                <a:latin typeface="Times New Roman" pitchFamily="18" charset="0"/>
                <a:cs typeface="Times New Roman" pitchFamily="18" charset="0"/>
              </a:rPr>
              <a:t>        </a:t>
            </a:r>
            <a:r>
              <a:rPr lang="en-US" sz="1200" b="1" dirty="0" err="1" smtClean="0">
                <a:latin typeface="Times New Roman" pitchFamily="18" charset="0"/>
                <a:cs typeface="Times New Roman" pitchFamily="18" charset="0"/>
              </a:rPr>
              <a:t>android:id</a:t>
            </a:r>
            <a:r>
              <a:rPr lang="en-US" sz="1200" b="1" dirty="0" smtClean="0">
                <a:latin typeface="Times New Roman" pitchFamily="18" charset="0"/>
                <a:cs typeface="Times New Roman" pitchFamily="18" charset="0"/>
              </a:rPr>
              <a:t>="@+id/</a:t>
            </a:r>
            <a:r>
              <a:rPr lang="en-US" sz="1200" b="1" dirty="0" err="1" smtClean="0">
                <a:latin typeface="Times New Roman" pitchFamily="18" charset="0"/>
                <a:cs typeface="Times New Roman" pitchFamily="18" charset="0"/>
              </a:rPr>
              <a:t>videoView</a:t>
            </a:r>
            <a:r>
              <a:rPr lang="en-US" sz="1200" b="1" dirty="0" smtClean="0">
                <a:latin typeface="Times New Roman" pitchFamily="18" charset="0"/>
                <a:cs typeface="Times New Roman" pitchFamily="18" charset="0"/>
              </a:rPr>
              <a:t>"</a:t>
            </a:r>
          </a:p>
          <a:p>
            <a:pPr>
              <a:buNone/>
            </a:pPr>
            <a:r>
              <a:rPr lang="en-US" sz="1200" b="1" dirty="0" smtClean="0">
                <a:latin typeface="Times New Roman" pitchFamily="18" charset="0"/>
                <a:cs typeface="Times New Roman" pitchFamily="18" charset="0"/>
              </a:rPr>
              <a:t>        </a:t>
            </a:r>
            <a:r>
              <a:rPr lang="en-US" sz="1200" b="1" dirty="0" err="1" smtClean="0">
                <a:latin typeface="Times New Roman" pitchFamily="18" charset="0"/>
                <a:cs typeface="Times New Roman" pitchFamily="18" charset="0"/>
              </a:rPr>
              <a:t>android:layout_width</a:t>
            </a:r>
            <a:r>
              <a:rPr lang="en-US" sz="1200" b="1" dirty="0" smtClean="0">
                <a:latin typeface="Times New Roman" pitchFamily="18" charset="0"/>
                <a:cs typeface="Times New Roman" pitchFamily="18" charset="0"/>
              </a:rPr>
              <a:t>="</a:t>
            </a:r>
            <a:r>
              <a:rPr lang="en-US" sz="1200" b="1" dirty="0" err="1" smtClean="0">
                <a:latin typeface="Times New Roman" pitchFamily="18" charset="0"/>
                <a:cs typeface="Times New Roman" pitchFamily="18" charset="0"/>
              </a:rPr>
              <a:t>match_parent</a:t>
            </a:r>
            <a:r>
              <a:rPr lang="en-US" sz="1200" b="1" dirty="0" smtClean="0">
                <a:latin typeface="Times New Roman" pitchFamily="18" charset="0"/>
                <a:cs typeface="Times New Roman" pitchFamily="18" charset="0"/>
              </a:rPr>
              <a:t>"</a:t>
            </a:r>
          </a:p>
          <a:p>
            <a:pPr>
              <a:buNone/>
            </a:pPr>
            <a:r>
              <a:rPr lang="en-US" sz="1200" b="1" dirty="0" smtClean="0">
                <a:latin typeface="Times New Roman" pitchFamily="18" charset="0"/>
                <a:cs typeface="Times New Roman" pitchFamily="18" charset="0"/>
              </a:rPr>
              <a:t>        </a:t>
            </a:r>
            <a:r>
              <a:rPr lang="en-US" sz="1200" b="1" dirty="0" err="1" smtClean="0">
                <a:latin typeface="Times New Roman" pitchFamily="18" charset="0"/>
                <a:cs typeface="Times New Roman" pitchFamily="18" charset="0"/>
              </a:rPr>
              <a:t>android:layout_height</a:t>
            </a:r>
            <a:r>
              <a:rPr lang="en-US" sz="1200" b="1" dirty="0" smtClean="0">
                <a:latin typeface="Times New Roman" pitchFamily="18" charset="0"/>
                <a:cs typeface="Times New Roman" pitchFamily="18" charset="0"/>
              </a:rPr>
              <a:t>="300dp"</a:t>
            </a:r>
          </a:p>
          <a:p>
            <a:pPr>
              <a:buNone/>
            </a:pPr>
            <a:r>
              <a:rPr lang="en-US" sz="1200" b="1" dirty="0" smtClean="0">
                <a:latin typeface="Times New Roman" pitchFamily="18" charset="0"/>
                <a:cs typeface="Times New Roman" pitchFamily="18" charset="0"/>
              </a:rPr>
              <a:t>        </a:t>
            </a:r>
            <a:r>
              <a:rPr lang="en-US" sz="1200" b="1" dirty="0" err="1" smtClean="0">
                <a:latin typeface="Times New Roman" pitchFamily="18" charset="0"/>
                <a:cs typeface="Times New Roman" pitchFamily="18" charset="0"/>
              </a:rPr>
              <a:t>android:layout_margin</a:t>
            </a:r>
            <a:r>
              <a:rPr lang="en-US" sz="1200" b="1" dirty="0" smtClean="0">
                <a:latin typeface="Times New Roman" pitchFamily="18" charset="0"/>
                <a:cs typeface="Times New Roman" pitchFamily="18" charset="0"/>
              </a:rPr>
              <a:t>="20dp"/&gt;</a:t>
            </a:r>
          </a:p>
          <a:p>
            <a:pPr>
              <a:buNone/>
            </a:pPr>
            <a:endParaRPr lang="en-US" sz="1200" b="1" dirty="0" smtClean="0">
              <a:latin typeface="Times New Roman" pitchFamily="18" charset="0"/>
              <a:cs typeface="Times New Roman" pitchFamily="18" charset="0"/>
            </a:endParaRPr>
          </a:p>
          <a:p>
            <a:pPr>
              <a:buNone/>
            </a:pPr>
            <a:r>
              <a:rPr lang="en-US" sz="1200" b="1" dirty="0" smtClean="0">
                <a:latin typeface="Times New Roman" pitchFamily="18" charset="0"/>
                <a:cs typeface="Times New Roman" pitchFamily="18" charset="0"/>
              </a:rPr>
              <a:t>    &lt;Button</a:t>
            </a:r>
          </a:p>
          <a:p>
            <a:pPr>
              <a:buNone/>
            </a:pPr>
            <a:r>
              <a:rPr lang="en-US" sz="1200" b="1" dirty="0" smtClean="0">
                <a:latin typeface="Times New Roman" pitchFamily="18" charset="0"/>
                <a:cs typeface="Times New Roman" pitchFamily="18" charset="0"/>
              </a:rPr>
              <a:t>        </a:t>
            </a:r>
            <a:r>
              <a:rPr lang="en-US" sz="1200" b="1" dirty="0" err="1" smtClean="0">
                <a:latin typeface="Times New Roman" pitchFamily="18" charset="0"/>
                <a:cs typeface="Times New Roman" pitchFamily="18" charset="0"/>
              </a:rPr>
              <a:t>android:id</a:t>
            </a:r>
            <a:r>
              <a:rPr lang="en-US" sz="1200" b="1" dirty="0" smtClean="0">
                <a:latin typeface="Times New Roman" pitchFamily="18" charset="0"/>
                <a:cs typeface="Times New Roman" pitchFamily="18" charset="0"/>
              </a:rPr>
              <a:t>="@+id/</a:t>
            </a:r>
            <a:r>
              <a:rPr lang="en-US" sz="1200" b="1" dirty="0" err="1" smtClean="0">
                <a:latin typeface="Times New Roman" pitchFamily="18" charset="0"/>
                <a:cs typeface="Times New Roman" pitchFamily="18" charset="0"/>
              </a:rPr>
              <a:t>btnPlayVideo</a:t>
            </a:r>
            <a:r>
              <a:rPr lang="en-US" sz="1200" b="1" dirty="0" smtClean="0">
                <a:latin typeface="Times New Roman" pitchFamily="18" charset="0"/>
                <a:cs typeface="Times New Roman" pitchFamily="18" charset="0"/>
              </a:rPr>
              <a:t>"</a:t>
            </a:r>
          </a:p>
          <a:p>
            <a:pPr>
              <a:buNone/>
            </a:pPr>
            <a:r>
              <a:rPr lang="en-US" sz="1200" b="1" dirty="0" smtClean="0">
                <a:latin typeface="Times New Roman" pitchFamily="18" charset="0"/>
                <a:cs typeface="Times New Roman" pitchFamily="18" charset="0"/>
              </a:rPr>
              <a:t>        </a:t>
            </a:r>
            <a:r>
              <a:rPr lang="en-US" sz="1200" b="1" dirty="0" err="1" smtClean="0">
                <a:latin typeface="Times New Roman" pitchFamily="18" charset="0"/>
                <a:cs typeface="Times New Roman" pitchFamily="18" charset="0"/>
              </a:rPr>
              <a:t>android:layout_width</a:t>
            </a:r>
            <a:r>
              <a:rPr lang="en-US" sz="1200" b="1" dirty="0" smtClean="0">
                <a:latin typeface="Times New Roman" pitchFamily="18" charset="0"/>
                <a:cs typeface="Times New Roman" pitchFamily="18" charset="0"/>
              </a:rPr>
              <a:t>="</a:t>
            </a:r>
            <a:r>
              <a:rPr lang="en-US" sz="1200" b="1" dirty="0" err="1" smtClean="0">
                <a:latin typeface="Times New Roman" pitchFamily="18" charset="0"/>
                <a:cs typeface="Times New Roman" pitchFamily="18" charset="0"/>
              </a:rPr>
              <a:t>wrap_content</a:t>
            </a:r>
            <a:r>
              <a:rPr lang="en-US" sz="1200" b="1" dirty="0" smtClean="0">
                <a:latin typeface="Times New Roman" pitchFamily="18" charset="0"/>
                <a:cs typeface="Times New Roman" pitchFamily="18" charset="0"/>
              </a:rPr>
              <a:t>"</a:t>
            </a:r>
          </a:p>
          <a:p>
            <a:pPr>
              <a:buNone/>
            </a:pPr>
            <a:r>
              <a:rPr lang="en-US" sz="1200" b="1" dirty="0" smtClean="0">
                <a:latin typeface="Times New Roman" pitchFamily="18" charset="0"/>
                <a:cs typeface="Times New Roman" pitchFamily="18" charset="0"/>
              </a:rPr>
              <a:t>        </a:t>
            </a:r>
            <a:r>
              <a:rPr lang="en-US" sz="1200" b="1" dirty="0" err="1" smtClean="0">
                <a:latin typeface="Times New Roman" pitchFamily="18" charset="0"/>
                <a:cs typeface="Times New Roman" pitchFamily="18" charset="0"/>
              </a:rPr>
              <a:t>android:layout_height</a:t>
            </a:r>
            <a:r>
              <a:rPr lang="en-US" sz="1200" b="1" dirty="0" smtClean="0">
                <a:latin typeface="Times New Roman" pitchFamily="18" charset="0"/>
                <a:cs typeface="Times New Roman" pitchFamily="18" charset="0"/>
              </a:rPr>
              <a:t>="</a:t>
            </a:r>
            <a:r>
              <a:rPr lang="en-US" sz="1200" b="1" dirty="0" err="1" smtClean="0">
                <a:latin typeface="Times New Roman" pitchFamily="18" charset="0"/>
                <a:cs typeface="Times New Roman" pitchFamily="18" charset="0"/>
              </a:rPr>
              <a:t>wrap_content</a:t>
            </a:r>
            <a:r>
              <a:rPr lang="en-US" sz="1200" b="1" dirty="0" smtClean="0">
                <a:latin typeface="Times New Roman" pitchFamily="18" charset="0"/>
                <a:cs typeface="Times New Roman" pitchFamily="18" charset="0"/>
              </a:rPr>
              <a:t>"</a:t>
            </a:r>
          </a:p>
          <a:p>
            <a:pPr>
              <a:buNone/>
            </a:pPr>
            <a:r>
              <a:rPr lang="en-US" sz="1200" b="1" dirty="0" smtClean="0">
                <a:latin typeface="Times New Roman" pitchFamily="18" charset="0"/>
                <a:cs typeface="Times New Roman" pitchFamily="18" charset="0"/>
              </a:rPr>
              <a:t>        </a:t>
            </a:r>
            <a:r>
              <a:rPr lang="en-US" sz="1200" b="1" dirty="0" err="1" smtClean="0">
                <a:latin typeface="Times New Roman" pitchFamily="18" charset="0"/>
                <a:cs typeface="Times New Roman" pitchFamily="18" charset="0"/>
              </a:rPr>
              <a:t>android:text</a:t>
            </a:r>
            <a:r>
              <a:rPr lang="en-US" sz="1200" b="1" dirty="0" smtClean="0">
                <a:latin typeface="Times New Roman" pitchFamily="18" charset="0"/>
                <a:cs typeface="Times New Roman" pitchFamily="18" charset="0"/>
              </a:rPr>
              <a:t>="Play Video"/&gt;</a:t>
            </a:r>
          </a:p>
          <a:p>
            <a:pPr>
              <a:buNone/>
            </a:pPr>
            <a:r>
              <a:rPr lang="en-US" sz="1200" b="1" dirty="0" smtClean="0">
                <a:latin typeface="Times New Roman" pitchFamily="18" charset="0"/>
                <a:cs typeface="Times New Roman" pitchFamily="18" charset="0"/>
              </a:rPr>
              <a:t>&lt;/</a:t>
            </a:r>
            <a:r>
              <a:rPr lang="en-US" sz="1200" b="1" dirty="0" err="1" smtClean="0">
                <a:latin typeface="Times New Roman" pitchFamily="18" charset="0"/>
                <a:cs typeface="Times New Roman" pitchFamily="18" charset="0"/>
              </a:rPr>
              <a:t>LinearLayout</a:t>
            </a:r>
            <a:r>
              <a:rPr lang="en-US" sz="1200" b="1" dirty="0" smtClean="0">
                <a:latin typeface="Times New Roman" pitchFamily="18" charset="0"/>
                <a:cs typeface="Times New Roman" pitchFamily="18" charset="0"/>
              </a:rPr>
              <a:t>&gt;</a:t>
            </a:r>
          </a:p>
          <a:p>
            <a:pPr>
              <a:buNone/>
            </a:pPr>
            <a:endParaRPr lang="en-US" sz="12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74638"/>
            <a:ext cx="8258204" cy="796908"/>
          </a:xfrm>
        </p:spPr>
        <p:txBody>
          <a:bodyPr/>
          <a:lstStyle/>
          <a:p>
            <a:r>
              <a:rPr lang="en-US" dirty="0" smtClean="0"/>
              <a:t>Step-3 java file</a:t>
            </a:r>
            <a:endParaRPr lang="en-US" dirty="0"/>
          </a:p>
        </p:txBody>
      </p:sp>
      <p:sp>
        <p:nvSpPr>
          <p:cNvPr id="3" name="Content Placeholder 2"/>
          <p:cNvSpPr>
            <a:spLocks noGrp="1"/>
          </p:cNvSpPr>
          <p:nvPr>
            <p:ph idx="1"/>
          </p:nvPr>
        </p:nvSpPr>
        <p:spPr>
          <a:xfrm>
            <a:off x="285720" y="1214422"/>
            <a:ext cx="3786214" cy="4911741"/>
          </a:xfrm>
        </p:spPr>
        <p:txBody>
          <a:bodyPr>
            <a:normAutofit fontScale="25000" lnSpcReduction="20000"/>
          </a:bodyPr>
          <a:lstStyle/>
          <a:p>
            <a:pPr>
              <a:lnSpc>
                <a:spcPct val="170000"/>
              </a:lnSpc>
              <a:buNone/>
            </a:pPr>
            <a:r>
              <a:rPr lang="en-US" sz="4000" dirty="0" smtClean="0"/>
              <a:t>package </a:t>
            </a:r>
            <a:r>
              <a:rPr lang="en-US" sz="4000" dirty="0" err="1" smtClean="0"/>
              <a:t>com.example.multimediademo</a:t>
            </a:r>
            <a:r>
              <a:rPr lang="en-US" sz="4000" dirty="0" smtClean="0"/>
              <a:t>;</a:t>
            </a:r>
          </a:p>
          <a:p>
            <a:pPr>
              <a:lnSpc>
                <a:spcPct val="170000"/>
              </a:lnSpc>
              <a:buNone/>
            </a:pPr>
            <a:endParaRPr lang="en-US" sz="4000" dirty="0" smtClean="0"/>
          </a:p>
          <a:p>
            <a:pPr>
              <a:lnSpc>
                <a:spcPct val="170000"/>
              </a:lnSpc>
              <a:buNone/>
            </a:pPr>
            <a:r>
              <a:rPr lang="en-US" sz="4000" dirty="0" smtClean="0"/>
              <a:t>import </a:t>
            </a:r>
            <a:r>
              <a:rPr lang="en-US" sz="4000" dirty="0" err="1" smtClean="0"/>
              <a:t>androidx.appcompat.app.AppCompatActivity</a:t>
            </a:r>
            <a:r>
              <a:rPr lang="en-US" sz="4000" dirty="0" smtClean="0"/>
              <a:t>;</a:t>
            </a:r>
          </a:p>
          <a:p>
            <a:pPr>
              <a:lnSpc>
                <a:spcPct val="170000"/>
              </a:lnSpc>
              <a:buNone/>
            </a:pPr>
            <a:r>
              <a:rPr lang="en-US" sz="4000" dirty="0" smtClean="0"/>
              <a:t>import </a:t>
            </a:r>
            <a:r>
              <a:rPr lang="en-US" sz="4000" dirty="0" err="1" smtClean="0"/>
              <a:t>android.net.Uri</a:t>
            </a:r>
            <a:r>
              <a:rPr lang="en-US" sz="4000" dirty="0" smtClean="0"/>
              <a:t>;</a:t>
            </a:r>
          </a:p>
          <a:p>
            <a:pPr>
              <a:lnSpc>
                <a:spcPct val="170000"/>
              </a:lnSpc>
              <a:buNone/>
            </a:pPr>
            <a:r>
              <a:rPr lang="en-US" sz="4000" dirty="0" smtClean="0"/>
              <a:t>import </a:t>
            </a:r>
            <a:r>
              <a:rPr lang="en-US" sz="4000" dirty="0" err="1" smtClean="0"/>
              <a:t>android.os.Bundle</a:t>
            </a:r>
            <a:r>
              <a:rPr lang="en-US" sz="4000" dirty="0" smtClean="0"/>
              <a:t>;</a:t>
            </a:r>
          </a:p>
          <a:p>
            <a:pPr>
              <a:lnSpc>
                <a:spcPct val="170000"/>
              </a:lnSpc>
              <a:buNone/>
            </a:pPr>
            <a:r>
              <a:rPr lang="en-US" sz="4000" dirty="0" smtClean="0"/>
              <a:t>import </a:t>
            </a:r>
            <a:r>
              <a:rPr lang="en-US" sz="4000" dirty="0" err="1" smtClean="0"/>
              <a:t>android.widget.Button</a:t>
            </a:r>
            <a:r>
              <a:rPr lang="en-US" sz="4000" dirty="0" smtClean="0"/>
              <a:t>;</a:t>
            </a:r>
          </a:p>
          <a:p>
            <a:pPr>
              <a:lnSpc>
                <a:spcPct val="170000"/>
              </a:lnSpc>
              <a:buNone/>
            </a:pPr>
            <a:r>
              <a:rPr lang="en-US" sz="4000" dirty="0" smtClean="0"/>
              <a:t>import </a:t>
            </a:r>
            <a:r>
              <a:rPr lang="en-US" sz="4000" dirty="0" err="1" smtClean="0"/>
              <a:t>android.widget.VideoView</a:t>
            </a:r>
            <a:r>
              <a:rPr lang="en-US" sz="4000" dirty="0" smtClean="0"/>
              <a:t>;</a:t>
            </a:r>
          </a:p>
          <a:p>
            <a:pPr>
              <a:lnSpc>
                <a:spcPct val="170000"/>
              </a:lnSpc>
              <a:buNone/>
            </a:pPr>
            <a:r>
              <a:rPr lang="en-US" sz="4000" dirty="0" smtClean="0"/>
              <a:t>import </a:t>
            </a:r>
            <a:r>
              <a:rPr lang="en-US" sz="4000" dirty="0" err="1" smtClean="0"/>
              <a:t>android.widget.MediaController</a:t>
            </a:r>
            <a:r>
              <a:rPr lang="en-US" sz="4000" dirty="0" smtClean="0"/>
              <a:t>;</a:t>
            </a:r>
          </a:p>
          <a:p>
            <a:pPr>
              <a:lnSpc>
                <a:spcPct val="170000"/>
              </a:lnSpc>
              <a:buNone/>
            </a:pPr>
            <a:endParaRPr lang="en-US" sz="4000" dirty="0" smtClean="0"/>
          </a:p>
          <a:p>
            <a:pPr>
              <a:lnSpc>
                <a:spcPct val="170000"/>
              </a:lnSpc>
              <a:buNone/>
            </a:pPr>
            <a:r>
              <a:rPr lang="en-US" sz="4000" dirty="0" smtClean="0"/>
              <a:t>public class </a:t>
            </a:r>
            <a:r>
              <a:rPr lang="en-US" sz="4000" dirty="0" err="1" smtClean="0"/>
              <a:t>VideoActivity</a:t>
            </a:r>
            <a:r>
              <a:rPr lang="en-US" sz="4000" dirty="0" smtClean="0"/>
              <a:t> extends </a:t>
            </a:r>
            <a:r>
              <a:rPr lang="en-US" sz="4000" dirty="0" err="1" smtClean="0"/>
              <a:t>AppCompatActivity</a:t>
            </a:r>
            <a:r>
              <a:rPr lang="en-US" sz="4000" dirty="0" smtClean="0"/>
              <a:t> {</a:t>
            </a:r>
          </a:p>
          <a:p>
            <a:pPr>
              <a:lnSpc>
                <a:spcPct val="170000"/>
              </a:lnSpc>
              <a:buNone/>
            </a:pPr>
            <a:endParaRPr lang="en-US" sz="4000" dirty="0" smtClean="0"/>
          </a:p>
          <a:p>
            <a:pPr>
              <a:lnSpc>
                <a:spcPct val="170000"/>
              </a:lnSpc>
              <a:buNone/>
            </a:pPr>
            <a:r>
              <a:rPr lang="en-US" sz="4000" dirty="0" smtClean="0"/>
              <a:t>    </a:t>
            </a:r>
            <a:r>
              <a:rPr lang="en-US" sz="4000" dirty="0" err="1" smtClean="0"/>
              <a:t>VideoView</a:t>
            </a:r>
            <a:r>
              <a:rPr lang="en-US" sz="4000" dirty="0" smtClean="0"/>
              <a:t> </a:t>
            </a:r>
            <a:r>
              <a:rPr lang="en-US" sz="4000" dirty="0" err="1" smtClean="0"/>
              <a:t>videoView</a:t>
            </a:r>
            <a:r>
              <a:rPr lang="en-US" sz="4000" dirty="0" smtClean="0"/>
              <a:t>;</a:t>
            </a:r>
          </a:p>
          <a:p>
            <a:pPr>
              <a:lnSpc>
                <a:spcPct val="170000"/>
              </a:lnSpc>
              <a:buNone/>
            </a:pPr>
            <a:r>
              <a:rPr lang="en-US" sz="4000" dirty="0" smtClean="0"/>
              <a:t>    Button </a:t>
            </a:r>
            <a:r>
              <a:rPr lang="en-US" sz="4000" dirty="0" err="1" smtClean="0"/>
              <a:t>btnPlayVideo</a:t>
            </a:r>
            <a:r>
              <a:rPr lang="en-US" sz="4000" dirty="0" smtClean="0"/>
              <a:t>;</a:t>
            </a:r>
          </a:p>
          <a:p>
            <a:pPr>
              <a:lnSpc>
                <a:spcPct val="170000"/>
              </a:lnSpc>
              <a:buNone/>
            </a:pPr>
            <a:endParaRPr lang="en-US" sz="4000" dirty="0" smtClean="0"/>
          </a:p>
          <a:p>
            <a:pPr>
              <a:lnSpc>
                <a:spcPct val="170000"/>
              </a:lnSpc>
              <a:buNone/>
            </a:pPr>
            <a:r>
              <a:rPr lang="en-US" sz="4000" dirty="0" smtClean="0"/>
              <a:t>    @Override</a:t>
            </a:r>
          </a:p>
          <a:p>
            <a:pPr>
              <a:lnSpc>
                <a:spcPct val="170000"/>
              </a:lnSpc>
              <a:buNone/>
            </a:pPr>
            <a:r>
              <a:rPr lang="en-US" sz="4000" dirty="0" smtClean="0"/>
              <a:t>    protected void </a:t>
            </a:r>
            <a:r>
              <a:rPr lang="en-US" sz="4000" dirty="0" err="1" smtClean="0"/>
              <a:t>onCreate</a:t>
            </a:r>
            <a:r>
              <a:rPr lang="en-US" sz="4000" dirty="0" smtClean="0"/>
              <a:t>(Bundle </a:t>
            </a:r>
            <a:r>
              <a:rPr lang="en-US" sz="4000" dirty="0" err="1" smtClean="0"/>
              <a:t>savedInstanceState</a:t>
            </a:r>
            <a:r>
              <a:rPr lang="en-US" sz="4000" dirty="0" smtClean="0"/>
              <a:t>) {</a:t>
            </a:r>
          </a:p>
          <a:p>
            <a:pPr>
              <a:lnSpc>
                <a:spcPct val="170000"/>
              </a:lnSpc>
              <a:buNone/>
            </a:pPr>
            <a:r>
              <a:rPr lang="en-US" sz="4000" dirty="0" smtClean="0"/>
              <a:t>        </a:t>
            </a:r>
            <a:r>
              <a:rPr lang="en-US" sz="4000" dirty="0" err="1" smtClean="0"/>
              <a:t>super.onCreate</a:t>
            </a:r>
            <a:r>
              <a:rPr lang="en-US" sz="4000" dirty="0" smtClean="0"/>
              <a:t>(</a:t>
            </a:r>
            <a:r>
              <a:rPr lang="en-US" sz="4000" dirty="0" err="1" smtClean="0"/>
              <a:t>savedInstanceState</a:t>
            </a:r>
            <a:r>
              <a:rPr lang="en-US" sz="4000" dirty="0" smtClean="0"/>
              <a:t>);</a:t>
            </a:r>
          </a:p>
          <a:p>
            <a:pPr>
              <a:lnSpc>
                <a:spcPct val="170000"/>
              </a:lnSpc>
              <a:buNone/>
            </a:pPr>
            <a:r>
              <a:rPr lang="en-US" sz="4000" dirty="0" smtClean="0"/>
              <a:t>        </a:t>
            </a:r>
            <a:r>
              <a:rPr lang="en-US" sz="4000" dirty="0" err="1" smtClean="0"/>
              <a:t>setContentView</a:t>
            </a:r>
            <a:r>
              <a:rPr lang="en-US" sz="4000" dirty="0" smtClean="0"/>
              <a:t>(</a:t>
            </a:r>
            <a:r>
              <a:rPr lang="en-US" sz="4000" dirty="0" err="1" smtClean="0"/>
              <a:t>R.layout.activity_video</a:t>
            </a:r>
            <a:r>
              <a:rPr lang="en-US" sz="4000" dirty="0" smtClean="0"/>
              <a:t>);</a:t>
            </a:r>
          </a:p>
          <a:p>
            <a:pPr>
              <a:lnSpc>
                <a:spcPct val="170000"/>
              </a:lnSpc>
              <a:buNone/>
            </a:pPr>
            <a:endParaRPr lang="en-US" sz="4000" dirty="0" smtClean="0"/>
          </a:p>
          <a:p>
            <a:pPr>
              <a:lnSpc>
                <a:spcPct val="170000"/>
              </a:lnSpc>
              <a:buNone/>
            </a:pPr>
            <a:r>
              <a:rPr lang="en-US" sz="4000" dirty="0" smtClean="0"/>
              <a:t>        </a:t>
            </a:r>
            <a:r>
              <a:rPr lang="en-US" sz="4000" dirty="0" err="1" smtClean="0"/>
              <a:t>videoView</a:t>
            </a:r>
            <a:r>
              <a:rPr lang="en-US" sz="4000" dirty="0" smtClean="0"/>
              <a:t> = </a:t>
            </a:r>
            <a:r>
              <a:rPr lang="en-US" sz="4000" dirty="0" err="1" smtClean="0"/>
              <a:t>findViewById</a:t>
            </a:r>
            <a:r>
              <a:rPr lang="en-US" sz="4000" dirty="0" smtClean="0"/>
              <a:t>(</a:t>
            </a:r>
            <a:r>
              <a:rPr lang="en-US" sz="4000" dirty="0" err="1" smtClean="0"/>
              <a:t>R.id.videoView</a:t>
            </a:r>
            <a:r>
              <a:rPr lang="en-US" sz="4000" dirty="0" smtClean="0"/>
              <a:t>);</a:t>
            </a:r>
          </a:p>
          <a:p>
            <a:pPr>
              <a:lnSpc>
                <a:spcPct val="170000"/>
              </a:lnSpc>
              <a:buNone/>
            </a:pPr>
            <a:r>
              <a:rPr lang="en-US" sz="4000" dirty="0" smtClean="0"/>
              <a:t>        </a:t>
            </a:r>
            <a:r>
              <a:rPr lang="en-US" sz="4000" dirty="0" err="1" smtClean="0"/>
              <a:t>btnPlayVideo</a:t>
            </a:r>
            <a:r>
              <a:rPr lang="en-US" sz="4000" dirty="0" smtClean="0"/>
              <a:t> = </a:t>
            </a:r>
            <a:r>
              <a:rPr lang="en-US" sz="4000" dirty="0" err="1" smtClean="0"/>
              <a:t>findViewById</a:t>
            </a:r>
            <a:r>
              <a:rPr lang="en-US" sz="4000" dirty="0" smtClean="0"/>
              <a:t>(</a:t>
            </a:r>
            <a:r>
              <a:rPr lang="en-US" sz="4000" dirty="0" err="1" smtClean="0"/>
              <a:t>R.id.btnPlayVideo</a:t>
            </a:r>
            <a:r>
              <a:rPr lang="en-US" dirty="0" smtClean="0"/>
              <a:t>);</a:t>
            </a:r>
          </a:p>
          <a:p>
            <a:pPr>
              <a:lnSpc>
                <a:spcPct val="170000"/>
              </a:lnSpc>
              <a:buNone/>
            </a:pPr>
            <a:endParaRPr lang="en-US" dirty="0" smtClean="0"/>
          </a:p>
          <a:p>
            <a:pPr>
              <a:lnSpc>
                <a:spcPct val="170000"/>
              </a:lnSpc>
              <a:buNone/>
            </a:pPr>
            <a:r>
              <a:rPr lang="en-US" dirty="0" smtClean="0"/>
              <a:t>        </a:t>
            </a:r>
          </a:p>
          <a:p>
            <a:pPr>
              <a:buNone/>
            </a:pPr>
            <a:endParaRPr lang="en-US" dirty="0"/>
          </a:p>
        </p:txBody>
      </p:sp>
      <p:sp>
        <p:nvSpPr>
          <p:cNvPr id="4" name="Rectangle 3"/>
          <p:cNvSpPr/>
          <p:nvPr/>
        </p:nvSpPr>
        <p:spPr>
          <a:xfrm>
            <a:off x="4429124" y="1571612"/>
            <a:ext cx="4572000" cy="4135619"/>
          </a:xfrm>
          <a:prstGeom prst="rect">
            <a:avLst/>
          </a:prstGeom>
        </p:spPr>
        <p:txBody>
          <a:bodyPr>
            <a:spAutoFit/>
          </a:bodyPr>
          <a:lstStyle/>
          <a:p>
            <a:pPr>
              <a:lnSpc>
                <a:spcPct val="170000"/>
              </a:lnSpc>
              <a:buNone/>
            </a:pPr>
            <a:r>
              <a:rPr lang="en-US" sz="1200" dirty="0" smtClean="0"/>
              <a:t>// Attach media controls (play/pause/seek)</a:t>
            </a:r>
          </a:p>
          <a:p>
            <a:pPr>
              <a:lnSpc>
                <a:spcPct val="170000"/>
              </a:lnSpc>
              <a:buNone/>
            </a:pPr>
            <a:r>
              <a:rPr lang="en-US" sz="1200" dirty="0" smtClean="0"/>
              <a:t>        </a:t>
            </a:r>
            <a:r>
              <a:rPr lang="en-US" sz="1200" dirty="0" err="1" smtClean="0"/>
              <a:t>MediaController</a:t>
            </a:r>
            <a:r>
              <a:rPr lang="en-US" sz="1200" dirty="0" smtClean="0"/>
              <a:t> </a:t>
            </a:r>
            <a:r>
              <a:rPr lang="en-US" sz="1200" dirty="0" err="1" smtClean="0"/>
              <a:t>mediaController</a:t>
            </a:r>
            <a:r>
              <a:rPr lang="en-US" sz="1200" dirty="0" smtClean="0"/>
              <a:t> = new </a:t>
            </a:r>
            <a:r>
              <a:rPr lang="en-US" sz="1200" dirty="0" err="1" smtClean="0"/>
              <a:t>MediaController</a:t>
            </a:r>
            <a:r>
              <a:rPr lang="en-US" sz="1200" dirty="0" smtClean="0"/>
              <a:t>(this);</a:t>
            </a:r>
          </a:p>
          <a:p>
            <a:pPr>
              <a:lnSpc>
                <a:spcPct val="170000"/>
              </a:lnSpc>
              <a:buNone/>
            </a:pPr>
            <a:r>
              <a:rPr lang="en-US" sz="1200" dirty="0" smtClean="0"/>
              <a:t>        </a:t>
            </a:r>
            <a:r>
              <a:rPr lang="en-US" sz="1200" dirty="0" err="1" smtClean="0"/>
              <a:t>videoView.setMediaController</a:t>
            </a:r>
            <a:r>
              <a:rPr lang="en-US" sz="1200" dirty="0" smtClean="0"/>
              <a:t>(</a:t>
            </a:r>
            <a:r>
              <a:rPr lang="en-US" sz="1200" dirty="0" err="1" smtClean="0"/>
              <a:t>mediaController</a:t>
            </a:r>
            <a:r>
              <a:rPr lang="en-US" sz="1200" dirty="0" smtClean="0"/>
              <a:t>);</a:t>
            </a:r>
          </a:p>
          <a:p>
            <a:pPr>
              <a:lnSpc>
                <a:spcPct val="170000"/>
              </a:lnSpc>
              <a:buNone/>
            </a:pPr>
            <a:r>
              <a:rPr lang="en-US" sz="1200" dirty="0" smtClean="0"/>
              <a:t>        </a:t>
            </a:r>
            <a:r>
              <a:rPr lang="en-US" sz="1200" dirty="0" err="1" smtClean="0"/>
              <a:t>mediaController.setAnchorView</a:t>
            </a:r>
            <a:r>
              <a:rPr lang="en-US" sz="1200" dirty="0" smtClean="0"/>
              <a:t>(</a:t>
            </a:r>
            <a:r>
              <a:rPr lang="en-US" sz="1200" dirty="0" err="1" smtClean="0"/>
              <a:t>videoView</a:t>
            </a:r>
            <a:r>
              <a:rPr lang="en-US" sz="1200" dirty="0" smtClean="0"/>
              <a:t>);</a:t>
            </a:r>
          </a:p>
          <a:p>
            <a:pPr>
              <a:lnSpc>
                <a:spcPct val="170000"/>
              </a:lnSpc>
              <a:buNone/>
            </a:pPr>
            <a:endParaRPr lang="en-US" sz="1200" dirty="0" smtClean="0"/>
          </a:p>
          <a:p>
            <a:pPr>
              <a:lnSpc>
                <a:spcPct val="170000"/>
              </a:lnSpc>
              <a:buNone/>
            </a:pPr>
            <a:r>
              <a:rPr lang="en-US" sz="1200" dirty="0" smtClean="0"/>
              <a:t>        // Local video from res/raw</a:t>
            </a:r>
          </a:p>
          <a:p>
            <a:pPr>
              <a:lnSpc>
                <a:spcPct val="170000"/>
              </a:lnSpc>
              <a:buNone/>
            </a:pPr>
            <a:r>
              <a:rPr lang="en-US" sz="1200" dirty="0" smtClean="0"/>
              <a:t>        Uri </a:t>
            </a:r>
            <a:r>
              <a:rPr lang="en-US" sz="1200" dirty="0" err="1" smtClean="0"/>
              <a:t>videoUri</a:t>
            </a:r>
            <a:r>
              <a:rPr lang="en-US" sz="1200" dirty="0" smtClean="0"/>
              <a:t> = </a:t>
            </a:r>
            <a:r>
              <a:rPr lang="en-US" sz="1200" dirty="0" err="1" smtClean="0"/>
              <a:t>Uri.parse</a:t>
            </a:r>
            <a:r>
              <a:rPr lang="en-US" sz="1200" dirty="0" smtClean="0"/>
              <a:t>("</a:t>
            </a:r>
            <a:r>
              <a:rPr lang="en-US" sz="1200" dirty="0" err="1" smtClean="0"/>
              <a:t>android.resource</a:t>
            </a:r>
            <a:r>
              <a:rPr lang="en-US" sz="1200" dirty="0" smtClean="0"/>
              <a:t>://" + </a:t>
            </a:r>
            <a:r>
              <a:rPr lang="en-US" sz="1200" dirty="0" err="1" smtClean="0"/>
              <a:t>getPackageName</a:t>
            </a:r>
            <a:r>
              <a:rPr lang="en-US" sz="1200" dirty="0" smtClean="0"/>
              <a:t>() + "/" + </a:t>
            </a:r>
            <a:r>
              <a:rPr lang="en-US" sz="1200" dirty="0" err="1" smtClean="0"/>
              <a:t>R.raw.sample</a:t>
            </a:r>
            <a:r>
              <a:rPr lang="en-US" sz="1200" dirty="0" smtClean="0"/>
              <a:t>);</a:t>
            </a:r>
          </a:p>
          <a:p>
            <a:pPr>
              <a:lnSpc>
                <a:spcPct val="170000"/>
              </a:lnSpc>
              <a:buNone/>
            </a:pPr>
            <a:r>
              <a:rPr lang="en-US" sz="1200" dirty="0" smtClean="0"/>
              <a:t>        </a:t>
            </a:r>
            <a:r>
              <a:rPr lang="en-US" sz="1200" dirty="0" err="1" smtClean="0"/>
              <a:t>videoView.setVideoURI</a:t>
            </a:r>
            <a:r>
              <a:rPr lang="en-US" sz="1200" dirty="0" smtClean="0"/>
              <a:t>(</a:t>
            </a:r>
            <a:r>
              <a:rPr lang="en-US" sz="1200" dirty="0" err="1" smtClean="0"/>
              <a:t>videoUri</a:t>
            </a:r>
            <a:r>
              <a:rPr lang="en-US" sz="1200" dirty="0" smtClean="0"/>
              <a:t>);</a:t>
            </a:r>
          </a:p>
          <a:p>
            <a:pPr>
              <a:lnSpc>
                <a:spcPct val="170000"/>
              </a:lnSpc>
              <a:buNone/>
            </a:pPr>
            <a:endParaRPr lang="en-US" sz="1200" dirty="0" smtClean="0"/>
          </a:p>
          <a:p>
            <a:pPr>
              <a:lnSpc>
                <a:spcPct val="170000"/>
              </a:lnSpc>
              <a:buNone/>
            </a:pPr>
            <a:r>
              <a:rPr lang="en-US" sz="1200" dirty="0" smtClean="0"/>
              <a:t>        </a:t>
            </a:r>
            <a:r>
              <a:rPr lang="en-US" sz="1200" dirty="0" err="1" smtClean="0"/>
              <a:t>btnPlayVideo.setOnClickListener</a:t>
            </a:r>
            <a:r>
              <a:rPr lang="en-US" sz="1200" dirty="0" smtClean="0"/>
              <a:t>(v -&gt; </a:t>
            </a:r>
            <a:r>
              <a:rPr lang="en-US" sz="1200" dirty="0" err="1" smtClean="0"/>
              <a:t>videoView.start</a:t>
            </a:r>
            <a:r>
              <a:rPr lang="en-US" sz="1200" dirty="0" smtClean="0"/>
              <a:t>());</a:t>
            </a:r>
          </a:p>
          <a:p>
            <a:pPr>
              <a:lnSpc>
                <a:spcPct val="170000"/>
              </a:lnSpc>
              <a:buNone/>
            </a:pPr>
            <a:r>
              <a:rPr lang="en-US" sz="1200" dirty="0" smtClean="0"/>
              <a:t>    }</a:t>
            </a:r>
          </a:p>
          <a:p>
            <a:pPr>
              <a:lnSpc>
                <a:spcPct val="170000"/>
              </a:lnSpc>
              <a:buNone/>
            </a:pPr>
            <a:r>
              <a:rPr lang="en-US" sz="1200" dirty="0" smtClean="0"/>
              <a:t>}</a:t>
            </a:r>
            <a:endParaRPr lang="en-US" sz="1200"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Playing </a:t>
            </a:r>
            <a:r>
              <a:rPr lang="en-US" b="1" dirty="0" smtClean="0"/>
              <a:t>Online Video or Audio</a:t>
            </a:r>
            <a:endParaRPr lang="en-US" dirty="0"/>
          </a:p>
        </p:txBody>
      </p:sp>
      <p:sp>
        <p:nvSpPr>
          <p:cNvPr id="3" name="Content Placeholder 2"/>
          <p:cNvSpPr>
            <a:spLocks noGrp="1"/>
          </p:cNvSpPr>
          <p:nvPr>
            <p:ph idx="1"/>
          </p:nvPr>
        </p:nvSpPr>
        <p:spPr/>
        <p:txBody>
          <a:bodyPr/>
          <a:lstStyle/>
          <a:p>
            <a:r>
              <a:rPr lang="en-US" dirty="0" smtClean="0"/>
              <a:t>Replace the local URI with a web URL:</a:t>
            </a:r>
          </a:p>
          <a:p>
            <a:pPr>
              <a:buNone/>
            </a:pPr>
            <a:endParaRPr lang="en-US" dirty="0" smtClean="0"/>
          </a:p>
          <a:p>
            <a:pPr>
              <a:buNone/>
            </a:pPr>
            <a:r>
              <a:rPr lang="it-IT" sz="1800" dirty="0" smtClean="0"/>
              <a:t>Uri uri = Uri.parse("https://www.example.com/video.mp4");</a:t>
            </a:r>
          </a:p>
          <a:p>
            <a:pPr>
              <a:buNone/>
            </a:pPr>
            <a:r>
              <a:rPr lang="it-IT" sz="1800" dirty="0" smtClean="0"/>
              <a:t>videoView.setVideoURI(uri);</a:t>
            </a:r>
          </a:p>
          <a:p>
            <a:pPr>
              <a:buNone/>
            </a:pPr>
            <a:r>
              <a:rPr lang="it-IT" sz="1800" dirty="0" smtClean="0"/>
              <a:t>videoView.start();</a:t>
            </a:r>
          </a:p>
          <a:p>
            <a:pPr>
              <a:buNone/>
            </a:pPr>
            <a:r>
              <a:rPr lang="en-US" sz="1400" b="1" dirty="0" smtClean="0"/>
              <a:t>Make sure you have Internet permission:</a:t>
            </a:r>
          </a:p>
          <a:p>
            <a:pPr>
              <a:buNone/>
            </a:pPr>
            <a:r>
              <a:rPr lang="en-US" sz="1400" dirty="0" smtClean="0"/>
              <a:t>&lt;uses-permission </a:t>
            </a:r>
            <a:r>
              <a:rPr lang="en-US" sz="1400" dirty="0" err="1" smtClean="0"/>
              <a:t>android:name</a:t>
            </a:r>
            <a:r>
              <a:rPr lang="en-US" sz="1400" dirty="0" smtClean="0"/>
              <a:t>="</a:t>
            </a:r>
            <a:r>
              <a:rPr lang="en-US" sz="1400" dirty="0" err="1" smtClean="0"/>
              <a:t>android.permission.INTERNET</a:t>
            </a:r>
            <a:r>
              <a:rPr lang="en-US" sz="1400" dirty="0" smtClean="0"/>
              <a:t>"/&gt;</a:t>
            </a:r>
          </a:p>
          <a:p>
            <a:pPr>
              <a:buNone/>
            </a:pPr>
            <a:endParaRPr lang="en-US" sz="1400" dirty="0" smtClean="0"/>
          </a:p>
          <a:p>
            <a:pPr>
              <a:buNone/>
            </a:pPr>
            <a:r>
              <a:rPr lang="en-US" sz="1400" b="1" dirty="0" smtClean="0"/>
              <a:t>Notes :</a:t>
            </a:r>
          </a:p>
          <a:p>
            <a:pPr>
              <a:buNone/>
            </a:pPr>
            <a:r>
              <a:rPr lang="en-US" sz="1400" dirty="0" smtClean="0"/>
              <a:t>Play local audio-                </a:t>
            </a:r>
            <a:r>
              <a:rPr lang="en-US" sz="1400" dirty="0" err="1" smtClean="0"/>
              <a:t>MediaPlayer</a:t>
            </a:r>
            <a:r>
              <a:rPr lang="en-US" sz="1400" dirty="0" smtClean="0"/>
              <a:t>                                               song.mp3</a:t>
            </a:r>
          </a:p>
          <a:p>
            <a:pPr>
              <a:buNone/>
            </a:pPr>
            <a:r>
              <a:rPr lang="en-US" sz="1400" dirty="0" smtClean="0"/>
              <a:t>Play local video                 </a:t>
            </a:r>
            <a:r>
              <a:rPr lang="en-US" sz="1400" dirty="0" err="1" smtClean="0"/>
              <a:t>VideoView</a:t>
            </a:r>
            <a:r>
              <a:rPr lang="en-US" sz="1400" dirty="0" smtClean="0"/>
              <a:t> + </a:t>
            </a:r>
            <a:r>
              <a:rPr lang="en-US" sz="1400" dirty="0" err="1" smtClean="0"/>
              <a:t>MediaController</a:t>
            </a:r>
            <a:r>
              <a:rPr lang="en-US" sz="1400" dirty="0" smtClean="0"/>
              <a:t>                 sample.mp4</a:t>
            </a:r>
          </a:p>
          <a:p>
            <a:pPr>
              <a:buNone/>
            </a:pPr>
            <a:r>
              <a:rPr lang="en-US" sz="1400" dirty="0" smtClean="0"/>
              <a:t>Stream                                </a:t>
            </a:r>
            <a:r>
              <a:rPr lang="en-US" sz="1400" dirty="0" err="1" smtClean="0"/>
              <a:t>mediaMediaPlayer</a:t>
            </a:r>
            <a:r>
              <a:rPr lang="en-US" sz="1400" dirty="0" smtClean="0"/>
              <a:t> / </a:t>
            </a:r>
            <a:r>
              <a:rPr lang="en-US" sz="1400" dirty="0" err="1" smtClean="0"/>
              <a:t>VideoView</a:t>
            </a:r>
            <a:r>
              <a:rPr lang="en-US" sz="1400" dirty="0" smtClean="0"/>
              <a:t>              URL-based playback</a:t>
            </a:r>
            <a:endParaRPr lang="en-US" sz="1400"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Continue…..</a:t>
            </a:r>
            <a:endParaRPr lang="en-US" dirty="0"/>
          </a:p>
        </p:txBody>
      </p:sp>
      <p:sp>
        <p:nvSpPr>
          <p:cNvPr id="3" name="Content Placeholder 2"/>
          <p:cNvSpPr>
            <a:spLocks noGrp="1"/>
          </p:cNvSpPr>
          <p:nvPr>
            <p:ph idx="1"/>
          </p:nvPr>
        </p:nvSpPr>
        <p:spPr/>
        <p:txBody>
          <a:bodyPr>
            <a:normAutofit/>
          </a:bodyPr>
          <a:lstStyle/>
          <a:p>
            <a:pPr>
              <a:buNone/>
            </a:pPr>
            <a:r>
              <a:rPr lang="en-US" sz="1200" b="1" dirty="0" smtClean="0">
                <a:latin typeface="Times New Roman" pitchFamily="18" charset="0"/>
                <a:cs typeface="Times New Roman" pitchFamily="18" charset="0"/>
              </a:rPr>
              <a:t>5.</a:t>
            </a:r>
            <a:r>
              <a:rPr lang="en-US" sz="1300" b="1" dirty="0" smtClean="0">
                <a:latin typeface="Times New Roman" pitchFamily="18" charset="0"/>
                <a:cs typeface="Times New Roman" pitchFamily="18" charset="0"/>
              </a:rPr>
              <a:t>Audio Manager</a:t>
            </a:r>
          </a:p>
          <a:p>
            <a:r>
              <a:rPr lang="en-US" sz="1300" dirty="0" smtClean="0">
                <a:latin typeface="Times New Roman" pitchFamily="18" charset="0"/>
                <a:cs typeface="Times New Roman" pitchFamily="18" charset="0"/>
              </a:rPr>
              <a:t>Controls </a:t>
            </a:r>
            <a:r>
              <a:rPr lang="en-US" sz="1300" b="1" dirty="0" smtClean="0">
                <a:latin typeface="Times New Roman" pitchFamily="18" charset="0"/>
                <a:cs typeface="Times New Roman" pitchFamily="18" charset="0"/>
              </a:rPr>
              <a:t>system-wide audio settings</a:t>
            </a:r>
            <a:r>
              <a:rPr lang="en-US" sz="1300" dirty="0" smtClean="0">
                <a:latin typeface="Times New Roman" pitchFamily="18" charset="0"/>
                <a:cs typeface="Times New Roman" pitchFamily="18" charset="0"/>
              </a:rPr>
              <a:t>.</a:t>
            </a:r>
          </a:p>
          <a:p>
            <a:r>
              <a:rPr lang="en-US" sz="1300" dirty="0" smtClean="0">
                <a:latin typeface="Times New Roman" pitchFamily="18" charset="0"/>
                <a:cs typeface="Times New Roman" pitchFamily="18" charset="0"/>
              </a:rPr>
              <a:t>Manages </a:t>
            </a:r>
            <a:r>
              <a:rPr lang="en-US" sz="1300" b="1" dirty="0" smtClean="0">
                <a:latin typeface="Times New Roman" pitchFamily="18" charset="0"/>
                <a:cs typeface="Times New Roman" pitchFamily="18" charset="0"/>
              </a:rPr>
              <a:t>volume, audio routing, and focus</a:t>
            </a:r>
            <a:r>
              <a:rPr lang="en-US" sz="1300" dirty="0" smtClean="0">
                <a:latin typeface="Times New Roman" pitchFamily="18" charset="0"/>
                <a:cs typeface="Times New Roman" pitchFamily="18" charset="0"/>
              </a:rPr>
              <a:t> between apps.</a:t>
            </a:r>
          </a:p>
          <a:p>
            <a:r>
              <a:rPr lang="en-US" sz="1300" b="1" dirty="0" smtClean="0">
                <a:latin typeface="Times New Roman" pitchFamily="18" charset="0"/>
                <a:cs typeface="Times New Roman" pitchFamily="18" charset="0"/>
              </a:rPr>
              <a:t>Functions:</a:t>
            </a:r>
            <a:endParaRPr lang="en-US" sz="1300" dirty="0" smtClean="0">
              <a:latin typeface="Times New Roman" pitchFamily="18" charset="0"/>
              <a:cs typeface="Times New Roman" pitchFamily="18" charset="0"/>
            </a:endParaRPr>
          </a:p>
          <a:p>
            <a:r>
              <a:rPr lang="en-US" sz="1300" dirty="0" smtClean="0">
                <a:latin typeface="Times New Roman" pitchFamily="18" charset="0"/>
                <a:cs typeface="Times New Roman" pitchFamily="18" charset="0"/>
              </a:rPr>
              <a:t>Adjust audio volume</a:t>
            </a:r>
          </a:p>
          <a:p>
            <a:r>
              <a:rPr lang="en-US" sz="1300" dirty="0" smtClean="0">
                <a:latin typeface="Times New Roman" pitchFamily="18" charset="0"/>
                <a:cs typeface="Times New Roman" pitchFamily="18" charset="0"/>
              </a:rPr>
              <a:t>Route audio (speaker, Bluetooth, etc.)</a:t>
            </a:r>
          </a:p>
          <a:p>
            <a:r>
              <a:rPr lang="en-US" sz="1300" dirty="0" smtClean="0">
                <a:latin typeface="Times New Roman" pitchFamily="18" charset="0"/>
                <a:cs typeface="Times New Roman" pitchFamily="18" charset="0"/>
              </a:rPr>
              <a:t>Handle audio focus</a:t>
            </a:r>
          </a:p>
          <a:p>
            <a:r>
              <a:rPr lang="en-US" sz="1300" dirty="0" smtClean="0">
                <a:latin typeface="Times New Roman" pitchFamily="18" charset="0"/>
                <a:cs typeface="Times New Roman" pitchFamily="18" charset="0"/>
              </a:rPr>
              <a:t>Monitor playback states</a:t>
            </a:r>
          </a:p>
          <a:p>
            <a:pPr>
              <a:buNone/>
            </a:pPr>
            <a:r>
              <a:rPr lang="en-US" sz="1300" dirty="0" smtClean="0">
                <a:latin typeface="Times New Roman" pitchFamily="18" charset="0"/>
                <a:cs typeface="Times New Roman" pitchFamily="18" charset="0"/>
              </a:rPr>
              <a:t>6. </a:t>
            </a:r>
            <a:r>
              <a:rPr lang="en-US" sz="1400" b="1" dirty="0" smtClean="0"/>
              <a:t>Image Reader</a:t>
            </a:r>
          </a:p>
          <a:p>
            <a:r>
              <a:rPr lang="en-US" sz="1400" dirty="0" smtClean="0"/>
              <a:t>Part of the </a:t>
            </a:r>
            <a:r>
              <a:rPr lang="en-US" sz="1400" b="1" dirty="0" smtClean="0"/>
              <a:t>Camera2 API</a:t>
            </a:r>
            <a:r>
              <a:rPr lang="en-US" sz="1400" dirty="0" smtClean="0"/>
              <a:t> (Android 5.0+).</a:t>
            </a:r>
          </a:p>
          <a:p>
            <a:r>
              <a:rPr lang="en-US" sz="1400" dirty="0" smtClean="0"/>
              <a:t>Used to </a:t>
            </a:r>
            <a:r>
              <a:rPr lang="en-US" sz="1400" b="1" dirty="0" smtClean="0"/>
              <a:t>capture and process raw images</a:t>
            </a:r>
            <a:r>
              <a:rPr lang="en-US" sz="1400" dirty="0" smtClean="0"/>
              <a:t> from the camera.</a:t>
            </a:r>
          </a:p>
          <a:p>
            <a:pPr>
              <a:buNone/>
            </a:pPr>
            <a:r>
              <a:rPr lang="en-US" sz="1400" b="1" dirty="0" smtClean="0"/>
              <a:t>Functions:</a:t>
            </a:r>
            <a:endParaRPr lang="en-US" sz="1400" dirty="0" smtClean="0"/>
          </a:p>
          <a:p>
            <a:r>
              <a:rPr lang="en-US" sz="1400" dirty="0" smtClean="0"/>
              <a:t>Capture raw images</a:t>
            </a:r>
          </a:p>
          <a:p>
            <a:r>
              <a:rPr lang="en-US" sz="1400" dirty="0" smtClean="0"/>
              <a:t>Process and save images</a:t>
            </a:r>
          </a:p>
          <a:p>
            <a:r>
              <a:rPr lang="en-US" sz="1400" dirty="0" smtClean="0"/>
              <a:t>Configure capture settings</a:t>
            </a:r>
          </a:p>
          <a:p>
            <a:r>
              <a:rPr lang="en-US" sz="1400" dirty="0" smtClean="0"/>
              <a:t>Manage image buffers</a:t>
            </a:r>
          </a:p>
          <a:p>
            <a:pPr>
              <a:buNone/>
            </a:pPr>
            <a:endParaRPr lang="en-US" sz="1300" dirty="0" smtClean="0">
              <a:latin typeface="Times New Roman" pitchFamily="18" charset="0"/>
              <a:cs typeface="Times New Roman" pitchFamily="18" charset="0"/>
            </a:endParaRPr>
          </a:p>
          <a:p>
            <a:pPr>
              <a:buNone/>
            </a:pPr>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1242</TotalTime>
  <Words>3834</Words>
  <Application>Microsoft Office PowerPoint</Application>
  <PresentationFormat>On-screen Show (4:3)</PresentationFormat>
  <Paragraphs>955</Paragraphs>
  <Slides>53</Slides>
  <Notes>0</Notes>
  <HiddenSlides>0</HiddenSlides>
  <MMClips>0</MMClips>
  <ScaleCrop>false</ScaleCrop>
  <HeadingPairs>
    <vt:vector size="4" baseType="variant">
      <vt:variant>
        <vt:lpstr>Theme</vt:lpstr>
      </vt:variant>
      <vt:variant>
        <vt:i4>1</vt:i4>
      </vt:variant>
      <vt:variant>
        <vt:lpstr>Slide Titles</vt:lpstr>
      </vt:variant>
      <vt:variant>
        <vt:i4>53</vt:i4>
      </vt:variant>
    </vt:vector>
  </HeadingPairs>
  <TitlesOfParts>
    <vt:vector size="54" baseType="lpstr">
      <vt:lpstr>Office Theme</vt:lpstr>
      <vt:lpstr>Unit- 3</vt:lpstr>
      <vt:lpstr>Slide 2</vt:lpstr>
      <vt:lpstr>Android Menus</vt:lpstr>
      <vt:lpstr>Type of Menus</vt:lpstr>
      <vt:lpstr>Option Menus</vt:lpstr>
      <vt:lpstr>How To create</vt:lpstr>
      <vt:lpstr>menu_example.xml:</vt:lpstr>
      <vt:lpstr>Different type of tags: </vt:lpstr>
      <vt:lpstr>Sub Menu </vt:lpstr>
      <vt:lpstr>Inflate the Menu in your Activity</vt:lpstr>
      <vt:lpstr>Handle Menu Item Clicks</vt:lpstr>
      <vt:lpstr>Example</vt:lpstr>
      <vt:lpstr>context menu</vt:lpstr>
      <vt:lpstr>Context Menu</vt:lpstr>
      <vt:lpstr>Example</vt:lpstr>
      <vt:lpstr>Step 3: Create res/menu/context_menu.xml</vt:lpstr>
      <vt:lpstr>Popup</vt:lpstr>
      <vt:lpstr>Example:How to Create a Popup Menu</vt:lpstr>
      <vt:lpstr>res/menu/popup_menu.xml</vt:lpstr>
      <vt:lpstr>activity_main.xml</vt:lpstr>
      <vt:lpstr>Alert dialog box</vt:lpstr>
      <vt:lpstr>Diagram</vt:lpstr>
      <vt:lpstr>Alert</vt:lpstr>
      <vt:lpstr>Alert</vt:lpstr>
      <vt:lpstr>Example</vt:lpstr>
      <vt:lpstr>Event Handling</vt:lpstr>
      <vt:lpstr>Event</vt:lpstr>
      <vt:lpstr> Overview of the input event management </vt:lpstr>
      <vt:lpstr> Event Listeners and their respective event handlers </vt:lpstr>
      <vt:lpstr>example</vt:lpstr>
      <vt:lpstr>Grahpics</vt:lpstr>
      <vt:lpstr>Graphics</vt:lpstr>
      <vt:lpstr>.XML</vt:lpstr>
      <vt:lpstr>.XML</vt:lpstr>
      <vt:lpstr> Animation in Android </vt:lpstr>
      <vt:lpstr>Continiue….</vt:lpstr>
      <vt:lpstr>Continue….</vt:lpstr>
      <vt:lpstr>View Animation (Tween Animation)</vt:lpstr>
      <vt:lpstr>Example 1: Simple Fade In Animation using Java (View Animation)</vt:lpstr>
      <vt:lpstr>Continue….</vt:lpstr>
      <vt:lpstr>Move Animation (Translate)</vt:lpstr>
      <vt:lpstr>Example-.java file</vt:lpstr>
      <vt:lpstr>Activity-main.xml</vt:lpstr>
      <vt:lpstr>/res/anim/combined.xml</vt:lpstr>
      <vt:lpstr>You can create individul xml file</vt:lpstr>
      <vt:lpstr>Multimedia in android</vt:lpstr>
      <vt:lpstr>Main Features: Media Player </vt:lpstr>
      <vt:lpstr>Example</vt:lpstr>
      <vt:lpstr>Step:3 java code</vt:lpstr>
      <vt:lpstr>Playing Video File Using VideoView</vt:lpstr>
      <vt:lpstr>Step-3 java file</vt:lpstr>
      <vt:lpstr>Playing Online Video or Audio</vt:lpstr>
      <vt:lpstr>Continue…..</vt:lpstr>
    </vt:vector>
  </TitlesOfParts>
  <Company>HP</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dc:title>
  <dc:creator>ANUJ KUMAR</dc:creator>
  <cp:lastModifiedBy>ANUJ KUMAR</cp:lastModifiedBy>
  <cp:revision>69</cp:revision>
  <dcterms:created xsi:type="dcterms:W3CDTF">2025-10-15T06:51:40Z</dcterms:created>
  <dcterms:modified xsi:type="dcterms:W3CDTF">2026-03-18T10:42:53Z</dcterms:modified>
</cp:coreProperties>
</file>