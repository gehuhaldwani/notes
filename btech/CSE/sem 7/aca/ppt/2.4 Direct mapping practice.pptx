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7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4" r:id="rId18"/>
    <p:sldId id="276" r:id="rId19"/>
    <p:sldId id="27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02387C-8336-47BF-8E07-EC0E3C1CA671}" type="datetimeFigureOut">
              <a:rPr lang="en-US" smtClean="0"/>
              <a:pPr/>
              <a:t>8/26/2021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5CA39F-4428-4615-BEC1-432FAE1C90C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xfrm>
            <a:off x="-14227175" y="-11796713"/>
            <a:ext cx="16652875" cy="12490451"/>
          </a:xfrm>
          <a:ln/>
        </p:spPr>
      </p:sp>
      <p:sp>
        <p:nvSpPr>
          <p:cNvPr id="105475" name="Notes Placeholder 2"/>
          <p:cNvSpPr>
            <a:spLocks noGrp="1"/>
          </p:cNvSpPr>
          <p:nvPr>
            <p:ph type="body" idx="1"/>
          </p:nvPr>
        </p:nvSpPr>
        <p:spPr>
          <a:noFill/>
          <a:ln/>
        </p:spPr>
        <p:txBody>
          <a:bodyPr/>
          <a:lstStyle/>
          <a:p>
            <a:endParaRPr lang="en-US"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8/26/2021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8/26/2021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8/26/2021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8/26/2021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8/26/2021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8/26/2021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8/26/2021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8/26/2021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457200" y="76200"/>
            <a:ext cx="8226425" cy="6324600"/>
          </a:xfrm>
        </p:spPr>
        <p:txBody>
          <a:bodyPr/>
          <a:lstStyle/>
          <a:p>
            <a:pPr algn="ctr" eaLnBrk="1" hangingPunct="1">
              <a:buFont typeface="Wingdings 2" pitchFamily="18" charset="2"/>
              <a:buNone/>
            </a:pPr>
            <a:endParaRPr lang="en-US" sz="1600" b="1" dirty="0" smtClean="0">
              <a:cs typeface="Arial" charset="0"/>
            </a:endParaRPr>
          </a:p>
          <a:p>
            <a:pPr algn="ctr" eaLnBrk="1" hangingPunct="1">
              <a:buFont typeface="Wingdings 2" pitchFamily="18" charset="2"/>
              <a:buNone/>
            </a:pPr>
            <a:r>
              <a:rPr lang="en-US" sz="2000" b="1" dirty="0" smtClean="0">
                <a:cs typeface="Arial" charset="0"/>
              </a:rPr>
              <a:t>Lecture</a:t>
            </a:r>
          </a:p>
          <a:p>
            <a:pPr algn="ctr" eaLnBrk="1" hangingPunct="1">
              <a:buFont typeface="Wingdings 2" pitchFamily="18" charset="2"/>
              <a:buNone/>
            </a:pPr>
            <a:r>
              <a:rPr lang="en-US" sz="2000" b="1" dirty="0" smtClean="0">
                <a:cs typeface="Arial" charset="0"/>
              </a:rPr>
              <a:t>on</a:t>
            </a:r>
            <a:r>
              <a:rPr lang="en-US" sz="2000" dirty="0" smtClean="0">
                <a:cs typeface="Arial" charset="0"/>
              </a:rPr>
              <a:t> </a:t>
            </a:r>
          </a:p>
          <a:p>
            <a:pPr algn="ctr" eaLnBrk="1" hangingPunct="1">
              <a:buFont typeface="Wingdings 2" pitchFamily="18" charset="2"/>
              <a:buNone/>
            </a:pPr>
            <a:r>
              <a:rPr lang="en-US" dirty="0" smtClean="0">
                <a:cs typeface="Arial" charset="0"/>
              </a:rPr>
              <a:t>“Advanced Computer Architecture –TCS 704”</a:t>
            </a:r>
          </a:p>
          <a:p>
            <a:pPr algn="ctr" eaLnBrk="1" hangingPunct="1">
              <a:buFont typeface="Wingdings 2" pitchFamily="18" charset="2"/>
              <a:buNone/>
            </a:pPr>
            <a:r>
              <a:rPr lang="en-US" sz="2000" dirty="0" smtClean="0">
                <a:cs typeface="Arial" charset="0"/>
              </a:rPr>
              <a:t>by</a:t>
            </a:r>
          </a:p>
          <a:p>
            <a:pPr algn="ctr" eaLnBrk="1" hangingPunct="1">
              <a:buFont typeface="Wingdings 2" pitchFamily="18" charset="2"/>
              <a:buNone/>
            </a:pPr>
            <a:r>
              <a:rPr lang="en-US" sz="2000" b="1" i="1" dirty="0" err="1" smtClean="0">
                <a:cs typeface="Arial" charset="0"/>
              </a:rPr>
              <a:t>A</a:t>
            </a:r>
            <a:r>
              <a:rPr lang="en-US" sz="2000" b="1" dirty="0" err="1" smtClean="0">
                <a:cs typeface="Arial" charset="0"/>
              </a:rPr>
              <a:t>kansha</a:t>
            </a:r>
            <a:r>
              <a:rPr lang="en-US" sz="2000" b="1" dirty="0" smtClean="0">
                <a:cs typeface="Arial" charset="0"/>
              </a:rPr>
              <a:t> Gupta</a:t>
            </a:r>
            <a:endParaRPr lang="en-US" sz="2000" dirty="0" smtClean="0">
              <a:cs typeface="Arial" charset="0"/>
            </a:endParaRPr>
          </a:p>
          <a:p>
            <a:pPr algn="ctr" eaLnBrk="1" hangingPunct="1">
              <a:buFont typeface="Wingdings 2" pitchFamily="18" charset="2"/>
              <a:buNone/>
            </a:pPr>
            <a:r>
              <a:rPr lang="en-US" sz="2000" b="1" dirty="0" smtClean="0">
                <a:cs typeface="Arial" charset="0"/>
              </a:rPr>
              <a:t> </a:t>
            </a: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endParaRPr lang="en-US" sz="2000" b="1" dirty="0" smtClean="0">
              <a:cs typeface="Arial" charset="0"/>
            </a:endParaRPr>
          </a:p>
          <a:p>
            <a:pPr algn="ctr" eaLnBrk="1" hangingPunct="1">
              <a:buFont typeface="Wingdings 2" pitchFamily="18" charset="2"/>
              <a:buNone/>
            </a:pPr>
            <a:r>
              <a:rPr lang="en-US" sz="2000" b="1" dirty="0" smtClean="0">
                <a:cs typeface="Arial" charset="0"/>
              </a:rPr>
              <a:t>DEPARTMENT OF COMPUTER SCIENCE AND ENGINEERING</a:t>
            </a:r>
            <a:endParaRPr lang="en-US" sz="2000" dirty="0" smtClean="0">
              <a:cs typeface="Arial" charset="0"/>
            </a:endParaRPr>
          </a:p>
          <a:p>
            <a:pPr algn="ctr" eaLnBrk="1" hangingPunct="1">
              <a:buFont typeface="Wingdings 2" pitchFamily="18" charset="2"/>
              <a:buNone/>
            </a:pPr>
            <a:r>
              <a:rPr lang="en-US" sz="2000" dirty="0" smtClean="0">
                <a:cs typeface="Arial" charset="0"/>
              </a:rPr>
              <a:t>GRAPHIC ERA DEEMED TO BE UNIVERSITY – 248002</a:t>
            </a:r>
          </a:p>
          <a:p>
            <a:pPr algn="ctr" eaLnBrk="1" hangingPunct="1">
              <a:buFont typeface="Wingdings 2" pitchFamily="18" charset="2"/>
              <a:buNone/>
            </a:pPr>
            <a:endParaRPr lang="en-US" sz="1600" dirty="0" smtClean="0"/>
          </a:p>
        </p:txBody>
      </p:sp>
      <p:pic>
        <p:nvPicPr>
          <p:cNvPr id="6147" name="Picture 3" descr="ahmed-logo1"/>
          <p:cNvPicPr>
            <a:picLocks noChangeAspect="1" noChangeArrowheads="1"/>
          </p:cNvPicPr>
          <p:nvPr/>
        </p:nvPicPr>
        <p:blipFill>
          <a:blip r:embed="rId3"/>
          <a:srcRect/>
          <a:stretch>
            <a:fillRect/>
          </a:stretch>
        </p:blipFill>
        <p:spPr bwMode="auto">
          <a:xfrm>
            <a:off x="3886200" y="2667000"/>
            <a:ext cx="1209675" cy="1133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US" b="1" u="sng" dirty="0" smtClean="0"/>
              <a:t>Problem-01:</a:t>
            </a:r>
            <a:endParaRPr lang="en-US" b="1" dirty="0" smtClean="0"/>
          </a:p>
          <a:p>
            <a:pPr fontAlgn="base">
              <a:buNone/>
            </a:pPr>
            <a:r>
              <a:rPr lang="en-US" dirty="0" smtClean="0"/>
              <a:t>Consider a direct mapped cache of size 16 KB with block size 256 bytes. The size of main memory is 128 KB. Find-</a:t>
            </a:r>
          </a:p>
          <a:p>
            <a:pPr fontAlgn="base"/>
            <a:r>
              <a:rPr lang="en-US" dirty="0" smtClean="0"/>
              <a:t>Number of bits in tag</a:t>
            </a:r>
          </a:p>
          <a:p>
            <a:pPr fontAlgn="base"/>
            <a:r>
              <a:rPr lang="en-US" dirty="0" smtClean="0"/>
              <a:t>Tag directory size</a:t>
            </a:r>
          </a:p>
          <a:p>
            <a:pPr>
              <a:buNone/>
            </a:pPr>
            <a:endParaRPr lang="en-US" dirty="0"/>
          </a:p>
        </p:txBody>
      </p:sp>
      <p:sp>
        <p:nvSpPr>
          <p:cNvPr id="2" name="Title 1"/>
          <p:cNvSpPr>
            <a:spLocks noGrp="1"/>
          </p:cNvSpPr>
          <p:nvPr>
            <p:ph type="title"/>
          </p:nvPr>
        </p:nvSpPr>
        <p:spPr/>
        <p:txBody>
          <a:bodyPr>
            <a:normAutofit fontScale="90000"/>
          </a:bodyPr>
          <a:lstStyle/>
          <a:p>
            <a:pPr fontAlgn="base"/>
            <a:r>
              <a:rPr lang="en-US" b="1" u="sng" dirty="0" smtClean="0"/>
              <a:t>PRACTICE PROBLEMS BASED ON DIRECT MAPPING-</a:t>
            </a:r>
            <a:endParaRPr lang="en-US"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4525963"/>
          </a:xfrm>
        </p:spPr>
        <p:txBody>
          <a:bodyPr>
            <a:normAutofit lnSpcReduction="10000"/>
          </a:bodyPr>
          <a:lstStyle/>
          <a:p>
            <a:pPr fontAlgn="base">
              <a:buNone/>
            </a:pPr>
            <a:r>
              <a:rPr lang="en-US" b="1" u="sng" dirty="0" smtClean="0"/>
              <a:t>Solution-</a:t>
            </a:r>
            <a:endParaRPr lang="en-US" b="1" dirty="0" smtClean="0"/>
          </a:p>
          <a:p>
            <a:pPr fontAlgn="base"/>
            <a:endParaRPr lang="en-US" dirty="0" smtClean="0"/>
          </a:p>
          <a:p>
            <a:pPr fontAlgn="base">
              <a:buNone/>
            </a:pPr>
            <a:r>
              <a:rPr lang="en-US" dirty="0" smtClean="0"/>
              <a:t>Given-</a:t>
            </a:r>
          </a:p>
          <a:p>
            <a:pPr fontAlgn="base"/>
            <a:r>
              <a:rPr lang="en-US" dirty="0" smtClean="0"/>
              <a:t>Cache memory size = 16 KB</a:t>
            </a:r>
          </a:p>
          <a:p>
            <a:pPr fontAlgn="base"/>
            <a:r>
              <a:rPr lang="en-US" dirty="0" smtClean="0"/>
              <a:t>Block size = Frame size = Line size = 256 bytes</a:t>
            </a:r>
          </a:p>
          <a:p>
            <a:pPr fontAlgn="base"/>
            <a:r>
              <a:rPr lang="en-US" dirty="0" smtClean="0"/>
              <a:t>Main memory size = 128 KB</a:t>
            </a:r>
          </a:p>
          <a:p>
            <a:pPr fontAlgn="base">
              <a:buNone/>
            </a:pPr>
            <a:r>
              <a:rPr lang="en-US" dirty="0" smtClean="0"/>
              <a:t> </a:t>
            </a:r>
          </a:p>
          <a:p>
            <a:pPr fontAlgn="base">
              <a:buNone/>
            </a:pPr>
            <a:r>
              <a:rPr lang="en-US" dirty="0" smtClean="0"/>
              <a:t>We consider that the memory is byte addressable.</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600201"/>
            <a:ext cx="8153400" cy="2362199"/>
          </a:xfrm>
        </p:spPr>
        <p:txBody>
          <a:bodyPr>
            <a:normAutofit fontScale="92500"/>
          </a:bodyPr>
          <a:lstStyle/>
          <a:p>
            <a:pPr fontAlgn="base">
              <a:buNone/>
            </a:pPr>
            <a:r>
              <a:rPr lang="en-US" dirty="0" smtClean="0"/>
              <a:t>We have,</a:t>
            </a:r>
          </a:p>
          <a:p>
            <a:pPr fontAlgn="base">
              <a:buNone/>
            </a:pPr>
            <a:r>
              <a:rPr lang="en-US" dirty="0" smtClean="0"/>
              <a:t>Size of main memory</a:t>
            </a:r>
          </a:p>
          <a:p>
            <a:pPr fontAlgn="base">
              <a:buNone/>
            </a:pPr>
            <a:r>
              <a:rPr lang="en-US" dirty="0" smtClean="0"/>
              <a:t>= 128 KB</a:t>
            </a:r>
          </a:p>
          <a:p>
            <a:pPr fontAlgn="base">
              <a:buNone/>
            </a:pPr>
            <a:r>
              <a:rPr lang="en-US" dirty="0" smtClean="0"/>
              <a:t>= 2</a:t>
            </a:r>
            <a:r>
              <a:rPr lang="en-US" baseline="30000" dirty="0" smtClean="0"/>
              <a:t>17</a:t>
            </a:r>
            <a:r>
              <a:rPr lang="en-US" dirty="0" smtClean="0"/>
              <a:t> bytes</a:t>
            </a:r>
          </a:p>
          <a:p>
            <a:pPr fontAlgn="base">
              <a:buNone/>
            </a:pPr>
            <a:r>
              <a:rPr lang="en-US" dirty="0" smtClean="0"/>
              <a:t>Thus, Number of bits in physical address = 17 bits</a:t>
            </a:r>
          </a:p>
          <a:p>
            <a:pPr fontAlgn="base">
              <a:buNone/>
            </a:pPr>
            <a:endParaRPr lang="en-US" dirty="0" smtClean="0"/>
          </a:p>
          <a:p>
            <a:endParaRPr lang="en-US" dirty="0"/>
          </a:p>
        </p:txBody>
      </p:sp>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Number of Bits in Physical Address-</a:t>
            </a:r>
            <a:endParaRPr lang="en-US" dirty="0"/>
          </a:p>
        </p:txBody>
      </p:sp>
      <p:pic>
        <p:nvPicPr>
          <p:cNvPr id="4" name="Picture 2"/>
          <p:cNvPicPr>
            <a:picLocks noChangeAspect="1" noChangeArrowheads="1"/>
          </p:cNvPicPr>
          <p:nvPr/>
        </p:nvPicPr>
        <p:blipFill>
          <a:blip r:embed="rId2"/>
          <a:srcRect/>
          <a:stretch>
            <a:fillRect/>
          </a:stretch>
        </p:blipFill>
        <p:spPr bwMode="auto">
          <a:xfrm>
            <a:off x="850392" y="4267200"/>
            <a:ext cx="6388608" cy="152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600" y="457200"/>
            <a:ext cx="8077200" cy="3429000"/>
          </a:xfrm>
        </p:spPr>
        <p:txBody>
          <a:bodyPr>
            <a:normAutofit/>
          </a:bodyPr>
          <a:lstStyle/>
          <a:p>
            <a:pPr fontAlgn="base">
              <a:buNone/>
            </a:pPr>
            <a:r>
              <a:rPr lang="en-US" b="1" u="sng" dirty="0" smtClean="0"/>
              <a:t>Number of Bits in Block Offset-</a:t>
            </a:r>
            <a:endParaRPr lang="en-US" b="1" dirty="0" smtClean="0"/>
          </a:p>
          <a:p>
            <a:pPr fontAlgn="base"/>
            <a:endParaRPr lang="en-US" dirty="0" smtClean="0"/>
          </a:p>
          <a:p>
            <a:pPr fontAlgn="base">
              <a:buNone/>
            </a:pPr>
            <a:r>
              <a:rPr lang="en-US" dirty="0" smtClean="0"/>
              <a:t>We have,</a:t>
            </a:r>
          </a:p>
          <a:p>
            <a:pPr fontAlgn="base">
              <a:buNone/>
            </a:pPr>
            <a:r>
              <a:rPr lang="en-US" dirty="0" smtClean="0"/>
              <a:t>Block size</a:t>
            </a:r>
          </a:p>
          <a:p>
            <a:pPr fontAlgn="base">
              <a:buNone/>
            </a:pPr>
            <a:r>
              <a:rPr lang="en-US" dirty="0" smtClean="0"/>
              <a:t>= 256 bytes</a:t>
            </a:r>
          </a:p>
          <a:p>
            <a:pPr fontAlgn="base">
              <a:buNone/>
            </a:pPr>
            <a:r>
              <a:rPr lang="en-US" dirty="0" smtClean="0"/>
              <a:t>= 2</a:t>
            </a:r>
            <a:r>
              <a:rPr lang="en-US" baseline="30000" dirty="0" smtClean="0"/>
              <a:t>8</a:t>
            </a:r>
            <a:r>
              <a:rPr lang="en-US" dirty="0" smtClean="0"/>
              <a:t> bytes</a:t>
            </a:r>
          </a:p>
          <a:p>
            <a:pPr fontAlgn="base">
              <a:buNone/>
            </a:pPr>
            <a:r>
              <a:rPr lang="en-US" dirty="0" smtClean="0"/>
              <a:t>Thus, Number of bits in block offset = 8 bits</a:t>
            </a:r>
          </a:p>
          <a:p>
            <a:endParaRPr lang="en-US" dirty="0"/>
          </a:p>
        </p:txBody>
      </p:sp>
      <p:pic>
        <p:nvPicPr>
          <p:cNvPr id="1027" name="Picture 3"/>
          <p:cNvPicPr>
            <a:picLocks noChangeAspect="1" noChangeArrowheads="1"/>
          </p:cNvPicPr>
          <p:nvPr/>
        </p:nvPicPr>
        <p:blipFill>
          <a:blip r:embed="rId2"/>
          <a:srcRect/>
          <a:stretch>
            <a:fillRect/>
          </a:stretch>
        </p:blipFill>
        <p:spPr bwMode="auto">
          <a:xfrm>
            <a:off x="1371600" y="4114800"/>
            <a:ext cx="6992073" cy="202334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7924800" cy="3200399"/>
          </a:xfrm>
        </p:spPr>
        <p:txBody>
          <a:bodyPr>
            <a:normAutofit fontScale="92500" lnSpcReduction="10000"/>
          </a:bodyPr>
          <a:lstStyle/>
          <a:p>
            <a:pPr fontAlgn="base">
              <a:buNone/>
            </a:pPr>
            <a:r>
              <a:rPr lang="en-US" b="1" u="sng" dirty="0" smtClean="0"/>
              <a:t>Number of Bits in Line Number-</a:t>
            </a:r>
            <a:endParaRPr lang="en-US" b="1" dirty="0" smtClean="0"/>
          </a:p>
          <a:p>
            <a:pPr fontAlgn="base">
              <a:buNone/>
            </a:pPr>
            <a:r>
              <a:rPr lang="en-US" dirty="0" smtClean="0"/>
              <a:t> </a:t>
            </a:r>
          </a:p>
          <a:p>
            <a:pPr fontAlgn="base">
              <a:buNone/>
            </a:pPr>
            <a:r>
              <a:rPr lang="en-US" dirty="0" smtClean="0"/>
              <a:t>Total number of lines in cache</a:t>
            </a:r>
          </a:p>
          <a:p>
            <a:pPr fontAlgn="base">
              <a:buNone/>
            </a:pPr>
            <a:r>
              <a:rPr lang="en-US" dirty="0" smtClean="0"/>
              <a:t>= Cache size / Line size</a:t>
            </a:r>
          </a:p>
          <a:p>
            <a:pPr fontAlgn="base">
              <a:buNone/>
            </a:pPr>
            <a:r>
              <a:rPr lang="en-US" dirty="0" smtClean="0"/>
              <a:t>= 16 KB / 256 bytes</a:t>
            </a:r>
          </a:p>
          <a:p>
            <a:pPr fontAlgn="base">
              <a:buNone/>
            </a:pPr>
            <a:r>
              <a:rPr lang="en-US" dirty="0" smtClean="0"/>
              <a:t>= 2</a:t>
            </a:r>
            <a:r>
              <a:rPr lang="en-US" baseline="30000" dirty="0" smtClean="0"/>
              <a:t>14</a:t>
            </a:r>
            <a:r>
              <a:rPr lang="en-US" dirty="0" smtClean="0"/>
              <a:t> bytes / 2</a:t>
            </a:r>
            <a:r>
              <a:rPr lang="en-US" baseline="30000" dirty="0" smtClean="0"/>
              <a:t>8</a:t>
            </a:r>
            <a:r>
              <a:rPr lang="en-US" dirty="0" smtClean="0"/>
              <a:t> bytes</a:t>
            </a:r>
          </a:p>
          <a:p>
            <a:pPr fontAlgn="base">
              <a:buNone/>
            </a:pPr>
            <a:r>
              <a:rPr lang="en-US" dirty="0" smtClean="0"/>
              <a:t>= 2</a:t>
            </a:r>
            <a:r>
              <a:rPr lang="en-US" baseline="30000" dirty="0" smtClean="0"/>
              <a:t>6</a:t>
            </a:r>
            <a:r>
              <a:rPr lang="en-US" dirty="0" smtClean="0"/>
              <a:t> lines</a:t>
            </a:r>
          </a:p>
          <a:p>
            <a:pPr fontAlgn="base">
              <a:buNone/>
            </a:pPr>
            <a:r>
              <a:rPr lang="en-US" dirty="0" smtClean="0"/>
              <a:t>Thus, Number of bits in line number = 6 bits</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1115289" y="3733800"/>
            <a:ext cx="6961911" cy="228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077200" cy="3581399"/>
          </a:xfrm>
        </p:spPr>
        <p:txBody>
          <a:bodyPr>
            <a:normAutofit fontScale="92500" lnSpcReduction="20000"/>
          </a:bodyPr>
          <a:lstStyle/>
          <a:p>
            <a:pPr fontAlgn="base">
              <a:buNone/>
            </a:pPr>
            <a:r>
              <a:rPr lang="en-US" b="1" u="sng" dirty="0" smtClean="0"/>
              <a:t>Number of Bits in Tag-</a:t>
            </a:r>
            <a:endParaRPr lang="en-US" b="1" dirty="0" smtClean="0"/>
          </a:p>
          <a:p>
            <a:pPr fontAlgn="base">
              <a:buNone/>
            </a:pPr>
            <a:r>
              <a:rPr lang="en-US" dirty="0" smtClean="0"/>
              <a:t> </a:t>
            </a:r>
          </a:p>
          <a:p>
            <a:pPr fontAlgn="base">
              <a:buNone/>
            </a:pPr>
            <a:r>
              <a:rPr lang="en-US" dirty="0" smtClean="0"/>
              <a:t>Number of bits in tag</a:t>
            </a:r>
          </a:p>
          <a:p>
            <a:pPr fontAlgn="base">
              <a:buNone/>
            </a:pPr>
            <a:r>
              <a:rPr lang="en-US" dirty="0" smtClean="0"/>
              <a:t>= Number of bits in physical address – (Number of bits in line number + Number of bits in block offset)</a:t>
            </a:r>
          </a:p>
          <a:p>
            <a:pPr fontAlgn="base">
              <a:buNone/>
            </a:pPr>
            <a:r>
              <a:rPr lang="en-US" dirty="0" smtClean="0"/>
              <a:t>= 17 bits – (6 bits + 8 bits)</a:t>
            </a:r>
          </a:p>
          <a:p>
            <a:pPr fontAlgn="base">
              <a:buNone/>
            </a:pPr>
            <a:r>
              <a:rPr lang="en-US" dirty="0" smtClean="0"/>
              <a:t>= 17 bits – 14 bits</a:t>
            </a:r>
          </a:p>
          <a:p>
            <a:pPr fontAlgn="base">
              <a:buNone/>
            </a:pPr>
            <a:r>
              <a:rPr lang="en-US" dirty="0" smtClean="0"/>
              <a:t>= 3 bits</a:t>
            </a:r>
          </a:p>
          <a:p>
            <a:pPr fontAlgn="base">
              <a:buNone/>
            </a:pPr>
            <a:r>
              <a:rPr lang="en-US" dirty="0" smtClean="0"/>
              <a:t>Thus, Number of bits in tag = 3 bits</a:t>
            </a:r>
          </a:p>
          <a:p>
            <a:pPr fontAlgn="base"/>
            <a:endParaRPr lang="en-US" dirty="0" smtClean="0"/>
          </a:p>
          <a:p>
            <a:endParaRPr lang="en-US" dirty="0"/>
          </a:p>
        </p:txBody>
      </p:sp>
      <p:pic>
        <p:nvPicPr>
          <p:cNvPr id="3074" name="Picture 2"/>
          <p:cNvPicPr>
            <a:picLocks noChangeAspect="1" noChangeArrowheads="1"/>
          </p:cNvPicPr>
          <p:nvPr/>
        </p:nvPicPr>
        <p:blipFill>
          <a:blip r:embed="rId2"/>
          <a:srcRect/>
          <a:stretch>
            <a:fillRect/>
          </a:stretch>
        </p:blipFill>
        <p:spPr bwMode="auto">
          <a:xfrm>
            <a:off x="1143000" y="3657601"/>
            <a:ext cx="6858000" cy="23613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84237"/>
            <a:ext cx="8229600" cy="4525963"/>
          </a:xfrm>
        </p:spPr>
        <p:txBody>
          <a:bodyPr>
            <a:normAutofit lnSpcReduction="10000"/>
          </a:bodyPr>
          <a:lstStyle/>
          <a:p>
            <a:pPr fontAlgn="base">
              <a:buNone/>
            </a:pPr>
            <a:r>
              <a:rPr lang="en-US" b="1" u="sng" dirty="0" smtClean="0"/>
              <a:t>Tag Directory Size-</a:t>
            </a:r>
            <a:endParaRPr lang="en-US" b="1" dirty="0" smtClean="0"/>
          </a:p>
          <a:p>
            <a:pPr fontAlgn="base">
              <a:buNone/>
            </a:pPr>
            <a:r>
              <a:rPr lang="en-US" dirty="0" smtClean="0"/>
              <a:t> </a:t>
            </a:r>
          </a:p>
          <a:p>
            <a:pPr fontAlgn="base">
              <a:buNone/>
            </a:pPr>
            <a:r>
              <a:rPr lang="en-US" dirty="0" smtClean="0"/>
              <a:t>Tag directory size</a:t>
            </a:r>
          </a:p>
          <a:p>
            <a:pPr fontAlgn="base">
              <a:buNone/>
            </a:pPr>
            <a:r>
              <a:rPr lang="en-US" dirty="0" smtClean="0"/>
              <a:t>= Number of tags x Tag size</a:t>
            </a:r>
          </a:p>
          <a:p>
            <a:pPr fontAlgn="base">
              <a:buNone/>
            </a:pPr>
            <a:r>
              <a:rPr lang="en-US" dirty="0" smtClean="0"/>
              <a:t>= Number of lines in cache x Number of bits in tag</a:t>
            </a:r>
          </a:p>
          <a:p>
            <a:pPr fontAlgn="base">
              <a:buNone/>
            </a:pPr>
            <a:r>
              <a:rPr lang="en-US" dirty="0" smtClean="0"/>
              <a:t>=2</a:t>
            </a:r>
            <a:r>
              <a:rPr lang="en-US" baseline="30000" dirty="0" smtClean="0"/>
              <a:t>6</a:t>
            </a:r>
            <a:r>
              <a:rPr lang="en-US" dirty="0" smtClean="0"/>
              <a:t> x 3 bits</a:t>
            </a:r>
          </a:p>
          <a:p>
            <a:pPr fontAlgn="base">
              <a:buNone/>
            </a:pPr>
            <a:r>
              <a:rPr lang="en-US" dirty="0" smtClean="0"/>
              <a:t>= 192 bits</a:t>
            </a:r>
          </a:p>
          <a:p>
            <a:pPr fontAlgn="base">
              <a:buNone/>
            </a:pPr>
            <a:r>
              <a:rPr lang="en-US" dirty="0" smtClean="0"/>
              <a:t>= 24 bytes</a:t>
            </a:r>
          </a:p>
          <a:p>
            <a:pPr fontAlgn="base">
              <a:buNone/>
            </a:pPr>
            <a:r>
              <a:rPr lang="en-US" dirty="0" smtClean="0"/>
              <a:t>Thus, size of tag directory = 24 bytes</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525963"/>
          </a:xfrm>
        </p:spPr>
        <p:txBody>
          <a:bodyPr/>
          <a:lstStyle/>
          <a:p>
            <a:pPr fontAlgn="base">
              <a:buNone/>
            </a:pPr>
            <a:r>
              <a:rPr lang="en-US" b="1" u="sng" dirty="0" smtClean="0"/>
              <a:t>Problem-02:</a:t>
            </a:r>
            <a:endParaRPr lang="en-US" b="1" dirty="0" smtClean="0"/>
          </a:p>
          <a:p>
            <a:pPr fontAlgn="base">
              <a:buNone/>
            </a:pPr>
            <a:r>
              <a:rPr lang="en-US" dirty="0" smtClean="0"/>
              <a:t> Consider a direct mapped cache of size 512 KB with block size 1 KB. There are 7 bits in the tag. Find-</a:t>
            </a:r>
          </a:p>
          <a:p>
            <a:pPr fontAlgn="base"/>
            <a:r>
              <a:rPr lang="en-US" dirty="0" smtClean="0"/>
              <a:t>Size of main memory</a:t>
            </a:r>
          </a:p>
          <a:p>
            <a:pPr fontAlgn="base"/>
            <a:r>
              <a:rPr lang="en-US" dirty="0" smtClean="0"/>
              <a:t>Tag directory size</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82000" cy="5105400"/>
          </a:xfrm>
        </p:spPr>
        <p:txBody>
          <a:bodyPr>
            <a:normAutofit fontScale="77500" lnSpcReduction="20000"/>
          </a:bodyPr>
          <a:lstStyle/>
          <a:p>
            <a:pPr fontAlgn="base">
              <a:buNone/>
            </a:pPr>
            <a:r>
              <a:rPr lang="en-US" b="1" u="sng" dirty="0" smtClean="0"/>
              <a:t>Solution-</a:t>
            </a:r>
            <a:endParaRPr lang="en-US" b="1" dirty="0" smtClean="0"/>
          </a:p>
          <a:p>
            <a:pPr fontAlgn="base">
              <a:buNone/>
            </a:pPr>
            <a:r>
              <a:rPr lang="en-US" dirty="0" smtClean="0"/>
              <a:t> </a:t>
            </a:r>
          </a:p>
          <a:p>
            <a:pPr fontAlgn="base">
              <a:buNone/>
            </a:pPr>
            <a:r>
              <a:rPr lang="en-US" dirty="0" smtClean="0"/>
              <a:t>Given-</a:t>
            </a:r>
          </a:p>
          <a:p>
            <a:pPr fontAlgn="base">
              <a:buNone/>
            </a:pPr>
            <a:r>
              <a:rPr lang="en-US" dirty="0" smtClean="0"/>
              <a:t>Cache memory size = 512 KB</a:t>
            </a:r>
          </a:p>
          <a:p>
            <a:pPr fontAlgn="base">
              <a:buNone/>
            </a:pPr>
            <a:r>
              <a:rPr lang="en-US" dirty="0" smtClean="0"/>
              <a:t>Block size = Frame size = Line size = 1 KB</a:t>
            </a:r>
          </a:p>
          <a:p>
            <a:pPr fontAlgn="base">
              <a:buNone/>
            </a:pPr>
            <a:r>
              <a:rPr lang="en-US" dirty="0" smtClean="0"/>
              <a:t>Number of bits in tag = 7 bits</a:t>
            </a:r>
          </a:p>
          <a:p>
            <a:pPr fontAlgn="base">
              <a:buNone/>
            </a:pPr>
            <a:r>
              <a:rPr lang="en-US" dirty="0" smtClean="0"/>
              <a:t> </a:t>
            </a:r>
          </a:p>
          <a:p>
            <a:pPr fontAlgn="base">
              <a:buNone/>
            </a:pPr>
            <a:r>
              <a:rPr lang="en-US" dirty="0" smtClean="0"/>
              <a:t>We consider that the memory is byte addressable.</a:t>
            </a:r>
          </a:p>
          <a:p>
            <a:pPr fontAlgn="base">
              <a:buNone/>
            </a:pPr>
            <a:r>
              <a:rPr lang="en-US" dirty="0" smtClean="0"/>
              <a:t> </a:t>
            </a:r>
          </a:p>
          <a:p>
            <a:pPr fontAlgn="base">
              <a:buNone/>
            </a:pPr>
            <a:r>
              <a:rPr lang="en-US" b="1" u="sng" dirty="0" smtClean="0"/>
              <a:t>Number of Bits in Block Offset-</a:t>
            </a:r>
            <a:endParaRPr lang="en-US" b="1" dirty="0" smtClean="0"/>
          </a:p>
          <a:p>
            <a:pPr fontAlgn="base">
              <a:buNone/>
            </a:pPr>
            <a:r>
              <a:rPr lang="en-US" dirty="0" smtClean="0"/>
              <a:t> </a:t>
            </a:r>
          </a:p>
          <a:p>
            <a:pPr fontAlgn="base">
              <a:buNone/>
            </a:pPr>
            <a:r>
              <a:rPr lang="en-US" dirty="0" smtClean="0"/>
              <a:t>We have,</a:t>
            </a:r>
          </a:p>
          <a:p>
            <a:pPr fontAlgn="base">
              <a:buNone/>
            </a:pPr>
            <a:r>
              <a:rPr lang="en-US" dirty="0" smtClean="0"/>
              <a:t>Block size</a:t>
            </a:r>
          </a:p>
          <a:p>
            <a:pPr fontAlgn="base">
              <a:buNone/>
            </a:pPr>
            <a:r>
              <a:rPr lang="en-US" dirty="0" smtClean="0"/>
              <a:t>= 1 KB</a:t>
            </a:r>
          </a:p>
          <a:p>
            <a:pPr fontAlgn="base">
              <a:buNone/>
            </a:pPr>
            <a:r>
              <a:rPr lang="en-US" dirty="0" smtClean="0"/>
              <a:t>= 2</a:t>
            </a:r>
            <a:r>
              <a:rPr lang="en-US" baseline="30000" dirty="0" smtClean="0"/>
              <a:t>10</a:t>
            </a:r>
            <a:r>
              <a:rPr lang="en-US" dirty="0" smtClean="0"/>
              <a:t> bytes</a:t>
            </a:r>
          </a:p>
          <a:p>
            <a:pPr fontAlgn="base">
              <a:buNone/>
            </a:pPr>
            <a:r>
              <a:rPr lang="en-US" dirty="0" smtClean="0"/>
              <a:t>Thus, Number of bits in block offset = 10 bits</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1752600" y="533400"/>
            <a:ext cx="5895975" cy="1219200"/>
          </a:xfrm>
          <a:prstGeom prst="rect">
            <a:avLst/>
          </a:prstGeom>
          <a:noFill/>
          <a:ln w="9525">
            <a:noFill/>
            <a:miter lim="800000"/>
            <a:headEnd/>
            <a:tailEnd/>
          </a:ln>
          <a:effectLst/>
        </p:spPr>
      </p:pic>
      <p:sp>
        <p:nvSpPr>
          <p:cNvPr id="5" name="Rectangle 4"/>
          <p:cNvSpPr/>
          <p:nvPr/>
        </p:nvSpPr>
        <p:spPr>
          <a:xfrm>
            <a:off x="533400" y="2057401"/>
            <a:ext cx="8305800" cy="2031325"/>
          </a:xfrm>
          <a:prstGeom prst="rect">
            <a:avLst/>
          </a:prstGeom>
        </p:spPr>
        <p:txBody>
          <a:bodyPr wrap="square">
            <a:spAutoFit/>
          </a:bodyPr>
          <a:lstStyle/>
          <a:p>
            <a:pPr fontAlgn="base"/>
            <a:r>
              <a:rPr lang="en-US" b="1" u="sng" dirty="0" smtClean="0"/>
              <a:t>Number of Bits in Line Number-</a:t>
            </a:r>
            <a:endParaRPr lang="en-US" b="1" dirty="0" smtClean="0"/>
          </a:p>
          <a:p>
            <a:pPr fontAlgn="base"/>
            <a:r>
              <a:rPr lang="en-US" dirty="0" smtClean="0"/>
              <a:t> </a:t>
            </a:r>
          </a:p>
          <a:p>
            <a:pPr fontAlgn="base"/>
            <a:r>
              <a:rPr lang="en-US" dirty="0" smtClean="0"/>
              <a:t>Total number of lines in cache</a:t>
            </a:r>
          </a:p>
          <a:p>
            <a:pPr fontAlgn="base"/>
            <a:r>
              <a:rPr lang="en-US" dirty="0" smtClean="0"/>
              <a:t>= Cache size / Line size</a:t>
            </a:r>
          </a:p>
          <a:p>
            <a:pPr fontAlgn="base"/>
            <a:r>
              <a:rPr lang="en-US" dirty="0" smtClean="0"/>
              <a:t>= 512 KB / 1 KB</a:t>
            </a:r>
          </a:p>
          <a:p>
            <a:pPr fontAlgn="base"/>
            <a:r>
              <a:rPr lang="en-US" dirty="0" smtClean="0"/>
              <a:t>= 2</a:t>
            </a:r>
            <a:r>
              <a:rPr lang="en-US" baseline="30000" dirty="0" smtClean="0"/>
              <a:t>9</a:t>
            </a:r>
            <a:r>
              <a:rPr lang="en-US" dirty="0" smtClean="0"/>
              <a:t> lines</a:t>
            </a:r>
          </a:p>
          <a:p>
            <a:pPr fontAlgn="base"/>
            <a:r>
              <a:rPr lang="en-US" dirty="0" smtClean="0"/>
              <a:t>Thus, Number of bits in line number = 9 bits</a:t>
            </a:r>
            <a:endParaRPr lang="en-US" dirty="0"/>
          </a:p>
        </p:txBody>
      </p:sp>
      <p:pic>
        <p:nvPicPr>
          <p:cNvPr id="4099" name="Picture 3"/>
          <p:cNvPicPr>
            <a:picLocks noChangeAspect="1" noChangeArrowheads="1"/>
          </p:cNvPicPr>
          <p:nvPr/>
        </p:nvPicPr>
        <p:blipFill>
          <a:blip r:embed="rId3"/>
          <a:srcRect/>
          <a:stretch>
            <a:fillRect/>
          </a:stretch>
        </p:blipFill>
        <p:spPr bwMode="auto">
          <a:xfrm>
            <a:off x="1302834" y="4648200"/>
            <a:ext cx="6088566" cy="1371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324600"/>
          </a:xfrm>
        </p:spPr>
        <p:txBody>
          <a:bodyPr>
            <a:normAutofit fontScale="70000" lnSpcReduction="20000"/>
          </a:bodyPr>
          <a:lstStyle/>
          <a:p>
            <a:pPr fontAlgn="base">
              <a:buNone/>
            </a:pPr>
            <a:r>
              <a:rPr lang="en-US" sz="3400" b="1" u="sng" dirty="0" smtClean="0"/>
              <a:t>Number of Bits in Physical Address-</a:t>
            </a:r>
            <a:endParaRPr lang="en-US" sz="3400" b="1" dirty="0" smtClean="0"/>
          </a:p>
          <a:p>
            <a:pPr fontAlgn="base">
              <a:buNone/>
            </a:pPr>
            <a:r>
              <a:rPr lang="en-US" sz="3400" dirty="0" smtClean="0"/>
              <a:t> </a:t>
            </a:r>
          </a:p>
          <a:p>
            <a:pPr fontAlgn="base">
              <a:buNone/>
            </a:pPr>
            <a:r>
              <a:rPr lang="en-US" sz="3400" dirty="0" smtClean="0"/>
              <a:t>Number of bits in physical address</a:t>
            </a:r>
          </a:p>
          <a:p>
            <a:pPr fontAlgn="base">
              <a:buNone/>
            </a:pPr>
            <a:r>
              <a:rPr lang="en-US" sz="3400" dirty="0" smtClean="0"/>
              <a:t>= Number of bits in tag + Number of bits in line number + Number of bits in block offset</a:t>
            </a:r>
          </a:p>
          <a:p>
            <a:pPr fontAlgn="base">
              <a:buNone/>
            </a:pPr>
            <a:r>
              <a:rPr lang="en-US" sz="3400" dirty="0" smtClean="0"/>
              <a:t>= 7 bits + 9 bits + 10 bits</a:t>
            </a:r>
          </a:p>
          <a:p>
            <a:pPr fontAlgn="base">
              <a:buNone/>
            </a:pPr>
            <a:r>
              <a:rPr lang="en-US" sz="3400" dirty="0" smtClean="0"/>
              <a:t>= 26 bits</a:t>
            </a:r>
          </a:p>
          <a:p>
            <a:pPr fontAlgn="base">
              <a:buNone/>
            </a:pPr>
            <a:r>
              <a:rPr lang="en-US" sz="3400" dirty="0" smtClean="0"/>
              <a:t>Thus, Number of bits in physical address = 26 bits</a:t>
            </a:r>
          </a:p>
          <a:p>
            <a:pPr fontAlgn="base">
              <a:buNone/>
            </a:pPr>
            <a:r>
              <a:rPr lang="en-US" sz="3400" dirty="0" smtClean="0"/>
              <a:t> </a:t>
            </a:r>
          </a:p>
          <a:p>
            <a:pPr fontAlgn="base">
              <a:buNone/>
            </a:pPr>
            <a:r>
              <a:rPr lang="en-US" sz="3400" b="1" u="sng" dirty="0" smtClean="0"/>
              <a:t>Size of Main Memory-</a:t>
            </a:r>
            <a:endParaRPr lang="en-US" sz="3400" b="1" dirty="0" smtClean="0"/>
          </a:p>
          <a:p>
            <a:pPr fontAlgn="base">
              <a:buNone/>
            </a:pPr>
            <a:r>
              <a:rPr lang="en-US" sz="3400" dirty="0" smtClean="0"/>
              <a:t> </a:t>
            </a:r>
          </a:p>
          <a:p>
            <a:pPr fontAlgn="base">
              <a:buNone/>
            </a:pPr>
            <a:r>
              <a:rPr lang="en-US" sz="3400" dirty="0" smtClean="0"/>
              <a:t>We have,</a:t>
            </a:r>
          </a:p>
          <a:p>
            <a:pPr fontAlgn="base">
              <a:buNone/>
            </a:pPr>
            <a:r>
              <a:rPr lang="en-US" sz="3400" dirty="0" smtClean="0"/>
              <a:t>Number of bits in physical address = 26 bits</a:t>
            </a:r>
          </a:p>
          <a:p>
            <a:pPr fontAlgn="base">
              <a:buNone/>
            </a:pPr>
            <a:r>
              <a:rPr lang="en-US" sz="3400" dirty="0" smtClean="0"/>
              <a:t>Thus, Size of main memory</a:t>
            </a:r>
          </a:p>
          <a:p>
            <a:pPr fontAlgn="base">
              <a:buNone/>
            </a:pPr>
            <a:r>
              <a:rPr lang="en-US" sz="3400" dirty="0" smtClean="0"/>
              <a:t>= 2</a:t>
            </a:r>
            <a:r>
              <a:rPr lang="en-US" sz="3400" baseline="30000" dirty="0" smtClean="0"/>
              <a:t>26</a:t>
            </a:r>
            <a:r>
              <a:rPr lang="en-US" sz="3400" dirty="0" smtClean="0"/>
              <a:t> bytes</a:t>
            </a:r>
          </a:p>
          <a:p>
            <a:pPr fontAlgn="base">
              <a:buNone/>
            </a:pPr>
            <a:r>
              <a:rPr lang="en-US" sz="3400" dirty="0" smtClean="0"/>
              <a:t>= 64 MB</a:t>
            </a:r>
          </a:p>
          <a:p>
            <a:pPr fontAlgn="base">
              <a:buNone/>
            </a:pPr>
            <a:r>
              <a:rPr lang="en-US" sz="3400" dirty="0" smtClean="0"/>
              <a:t> </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normAutofit lnSpcReduction="10000"/>
          </a:bodyPr>
          <a:lstStyle/>
          <a:p>
            <a:pPr fontAlgn="base">
              <a:buNone/>
            </a:pPr>
            <a:r>
              <a:rPr lang="en-US" b="1" u="sng" dirty="0" smtClean="0"/>
              <a:t>Tag Directory Size-</a:t>
            </a:r>
            <a:endParaRPr lang="en-US" b="1" dirty="0" smtClean="0"/>
          </a:p>
          <a:p>
            <a:pPr fontAlgn="base">
              <a:buNone/>
            </a:pPr>
            <a:r>
              <a:rPr lang="en-US" dirty="0" smtClean="0"/>
              <a:t> </a:t>
            </a:r>
          </a:p>
          <a:p>
            <a:pPr fontAlgn="base">
              <a:buNone/>
            </a:pPr>
            <a:r>
              <a:rPr lang="en-US" dirty="0" smtClean="0"/>
              <a:t>Tag directory size</a:t>
            </a:r>
          </a:p>
          <a:p>
            <a:pPr fontAlgn="base">
              <a:buNone/>
            </a:pPr>
            <a:r>
              <a:rPr lang="en-US" dirty="0" smtClean="0"/>
              <a:t>= Number of tags x Tag size</a:t>
            </a:r>
          </a:p>
          <a:p>
            <a:pPr fontAlgn="base">
              <a:buNone/>
            </a:pPr>
            <a:r>
              <a:rPr lang="en-US" dirty="0" smtClean="0"/>
              <a:t>= Number of lines in cache x Number of bits in tag</a:t>
            </a:r>
          </a:p>
          <a:p>
            <a:pPr fontAlgn="base">
              <a:buNone/>
            </a:pPr>
            <a:r>
              <a:rPr lang="en-US" dirty="0" smtClean="0"/>
              <a:t>= 2</a:t>
            </a:r>
            <a:r>
              <a:rPr lang="en-US" baseline="30000" dirty="0" smtClean="0"/>
              <a:t>9</a:t>
            </a:r>
            <a:r>
              <a:rPr lang="en-US" dirty="0" smtClean="0"/>
              <a:t> x 7 bits</a:t>
            </a:r>
          </a:p>
          <a:p>
            <a:pPr fontAlgn="base">
              <a:buNone/>
            </a:pPr>
            <a:r>
              <a:rPr lang="en-US" dirty="0" smtClean="0"/>
              <a:t>= 3584 bits</a:t>
            </a:r>
          </a:p>
          <a:p>
            <a:pPr fontAlgn="base">
              <a:buNone/>
            </a:pPr>
            <a:r>
              <a:rPr lang="en-US" dirty="0" smtClean="0"/>
              <a:t>= 448 bytes</a:t>
            </a:r>
          </a:p>
          <a:p>
            <a:pPr fontAlgn="base">
              <a:buNone/>
            </a:pPr>
            <a:r>
              <a:rPr lang="en-US" dirty="0" smtClean="0"/>
              <a:t>Thus, size of tag directory = 448 bytes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077200" cy="5715000"/>
          </a:xfrm>
        </p:spPr>
        <p:txBody>
          <a:bodyPr>
            <a:normAutofit fontScale="85000" lnSpcReduction="10000"/>
          </a:bodyPr>
          <a:lstStyle/>
          <a:p>
            <a:pPr>
              <a:buNone/>
            </a:pPr>
            <a:r>
              <a:rPr lang="en-US" b="1" u="sng" dirty="0" smtClean="0"/>
              <a:t>Problem-03:</a:t>
            </a:r>
          </a:p>
          <a:p>
            <a:pPr fontAlgn="base">
              <a:buNone/>
            </a:pPr>
            <a:r>
              <a:rPr lang="en-US" dirty="0" smtClean="0"/>
              <a:t>An 8 KB direct-mapped write back cache is organized as multiple blocks, each of size 32 bytes. The processor generates 32 bit addresses. The cache controller maintains the tag information for each cache block comprising of the following-</a:t>
            </a:r>
          </a:p>
          <a:p>
            <a:pPr fontAlgn="base"/>
            <a:r>
              <a:rPr lang="en-US" dirty="0" smtClean="0"/>
              <a:t>1 valid bit</a:t>
            </a:r>
          </a:p>
          <a:p>
            <a:pPr fontAlgn="base"/>
            <a:r>
              <a:rPr lang="en-US" dirty="0" smtClean="0"/>
              <a:t>1 modified bit</a:t>
            </a:r>
          </a:p>
          <a:p>
            <a:pPr fontAlgn="base"/>
            <a:r>
              <a:rPr lang="en-US" dirty="0" smtClean="0"/>
              <a:t>As many bits as the minimum needed to identify the memory block mapped in the cache</a:t>
            </a:r>
          </a:p>
          <a:p>
            <a:pPr fontAlgn="base">
              <a:buNone/>
            </a:pPr>
            <a:r>
              <a:rPr lang="en-US" dirty="0" smtClean="0"/>
              <a:t>What is the total size of memory needed at the cache controller to store meta data (tags) for the cache?</a:t>
            </a:r>
          </a:p>
          <a:p>
            <a:pPr marL="514350" indent="-514350" fontAlgn="base">
              <a:buFont typeface="+mj-lt"/>
              <a:buAutoNum type="arabicPeriod"/>
            </a:pPr>
            <a:r>
              <a:rPr lang="en-US" dirty="0" smtClean="0"/>
              <a:t>4864 bits</a:t>
            </a:r>
          </a:p>
          <a:p>
            <a:pPr marL="514350" indent="-514350" fontAlgn="base">
              <a:buFont typeface="+mj-lt"/>
              <a:buAutoNum type="arabicPeriod"/>
            </a:pPr>
            <a:r>
              <a:rPr lang="en-US" dirty="0" smtClean="0"/>
              <a:t>6144 bits</a:t>
            </a:r>
          </a:p>
          <a:p>
            <a:pPr marL="514350" indent="-514350" fontAlgn="base">
              <a:buFont typeface="+mj-lt"/>
              <a:buAutoNum type="arabicPeriod"/>
            </a:pPr>
            <a:r>
              <a:rPr lang="en-US" dirty="0" smtClean="0"/>
              <a:t>6656 bits</a:t>
            </a:r>
          </a:p>
          <a:p>
            <a:pPr marL="514350" indent="-514350" fontAlgn="base">
              <a:buFont typeface="+mj-lt"/>
              <a:buAutoNum type="arabicPeriod"/>
            </a:pPr>
            <a:r>
              <a:rPr lang="en-US" dirty="0" smtClean="0"/>
              <a:t>5376 bits</a:t>
            </a:r>
          </a:p>
          <a:p>
            <a:pPr>
              <a:buNone/>
            </a:pPr>
            <a:endParaRPr lang="en-US" b="1" dirty="0" smtClean="0"/>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fontAlgn="base">
              <a:buNone/>
            </a:pPr>
            <a:r>
              <a:rPr lang="en-US" b="1" u="sng" dirty="0" smtClean="0"/>
              <a:t>Solution-</a:t>
            </a:r>
            <a:endParaRPr lang="en-US" b="1" dirty="0" smtClean="0"/>
          </a:p>
          <a:p>
            <a:pPr fontAlgn="base">
              <a:buNone/>
            </a:pPr>
            <a:r>
              <a:rPr lang="en-US" dirty="0" smtClean="0"/>
              <a:t> </a:t>
            </a:r>
          </a:p>
          <a:p>
            <a:pPr fontAlgn="base">
              <a:buNone/>
            </a:pPr>
            <a:r>
              <a:rPr lang="en-US" dirty="0" smtClean="0"/>
              <a:t>Given-</a:t>
            </a:r>
          </a:p>
          <a:p>
            <a:pPr fontAlgn="base">
              <a:buNone/>
            </a:pPr>
            <a:r>
              <a:rPr lang="en-US" dirty="0" smtClean="0"/>
              <a:t>Cache memory size = 8 KB</a:t>
            </a:r>
          </a:p>
          <a:p>
            <a:pPr fontAlgn="base">
              <a:buNone/>
            </a:pPr>
            <a:r>
              <a:rPr lang="en-US" dirty="0" smtClean="0"/>
              <a:t>Block size = Frame size = Line size = 32 bytes</a:t>
            </a:r>
          </a:p>
          <a:p>
            <a:pPr fontAlgn="base">
              <a:buNone/>
            </a:pPr>
            <a:r>
              <a:rPr lang="en-US" dirty="0" smtClean="0"/>
              <a:t>Number of bits in physical address = 32 bits</a:t>
            </a:r>
          </a:p>
          <a:p>
            <a:pPr fontAlgn="base">
              <a:buNone/>
            </a:pPr>
            <a:r>
              <a:rPr lang="en-US" dirty="0" smtClean="0"/>
              <a:t> </a:t>
            </a:r>
          </a:p>
          <a:p>
            <a:pPr fontAlgn="base">
              <a:buNone/>
            </a:pPr>
            <a:r>
              <a:rPr lang="en-US" b="1" u="sng" dirty="0" smtClean="0"/>
              <a:t>Number of Bits in Block Offset-</a:t>
            </a:r>
            <a:endParaRPr lang="en-US" b="1" dirty="0" smtClean="0"/>
          </a:p>
          <a:p>
            <a:pPr fontAlgn="base">
              <a:buNone/>
            </a:pPr>
            <a:r>
              <a:rPr lang="en-US" dirty="0" smtClean="0"/>
              <a:t> </a:t>
            </a:r>
          </a:p>
          <a:p>
            <a:pPr fontAlgn="base">
              <a:buNone/>
            </a:pPr>
            <a:r>
              <a:rPr lang="en-US" dirty="0" smtClean="0"/>
              <a:t>We have,</a:t>
            </a:r>
          </a:p>
          <a:p>
            <a:pPr fontAlgn="base">
              <a:buNone/>
            </a:pPr>
            <a:r>
              <a:rPr lang="en-US" dirty="0" smtClean="0"/>
              <a:t>Block size</a:t>
            </a:r>
          </a:p>
          <a:p>
            <a:pPr fontAlgn="base">
              <a:buNone/>
            </a:pPr>
            <a:r>
              <a:rPr lang="en-US" dirty="0" smtClean="0"/>
              <a:t>= 32 bytes</a:t>
            </a:r>
          </a:p>
          <a:p>
            <a:pPr fontAlgn="base">
              <a:buNone/>
            </a:pPr>
            <a:r>
              <a:rPr lang="en-US" dirty="0" smtClean="0"/>
              <a:t>= 2</a:t>
            </a:r>
            <a:r>
              <a:rPr lang="en-US" baseline="30000" dirty="0" smtClean="0"/>
              <a:t>5</a:t>
            </a:r>
            <a:r>
              <a:rPr lang="en-US" dirty="0" smtClean="0"/>
              <a:t> bytes</a:t>
            </a:r>
          </a:p>
          <a:p>
            <a:pPr fontAlgn="base">
              <a:buNone/>
            </a:pPr>
            <a:r>
              <a:rPr lang="en-US" dirty="0" smtClean="0"/>
              <a:t>Thus, Number of bits in block offset = 5 bits</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1143000" y="76200"/>
            <a:ext cx="6400800" cy="1779405"/>
          </a:xfrm>
          <a:prstGeom prst="rect">
            <a:avLst/>
          </a:prstGeom>
          <a:noFill/>
          <a:ln w="9525">
            <a:noFill/>
            <a:miter lim="800000"/>
            <a:headEnd/>
            <a:tailEnd/>
          </a:ln>
          <a:effectLst/>
        </p:spPr>
      </p:pic>
      <p:sp>
        <p:nvSpPr>
          <p:cNvPr id="5" name="Rectangle 4"/>
          <p:cNvSpPr/>
          <p:nvPr/>
        </p:nvSpPr>
        <p:spPr>
          <a:xfrm>
            <a:off x="838200" y="1600200"/>
            <a:ext cx="7543800" cy="3046988"/>
          </a:xfrm>
          <a:prstGeom prst="rect">
            <a:avLst/>
          </a:prstGeom>
        </p:spPr>
        <p:txBody>
          <a:bodyPr wrap="square">
            <a:spAutoFit/>
          </a:bodyPr>
          <a:lstStyle/>
          <a:p>
            <a:pPr fontAlgn="base"/>
            <a:r>
              <a:rPr lang="en-US" sz="2400" b="1" u="sng" dirty="0" smtClean="0"/>
              <a:t>Number of Bits in Line Number-</a:t>
            </a:r>
            <a:endParaRPr lang="en-US" sz="2400" b="1" dirty="0" smtClean="0"/>
          </a:p>
          <a:p>
            <a:pPr fontAlgn="base"/>
            <a:r>
              <a:rPr lang="en-US" sz="2400" dirty="0" smtClean="0"/>
              <a:t> </a:t>
            </a:r>
          </a:p>
          <a:p>
            <a:pPr fontAlgn="base"/>
            <a:r>
              <a:rPr lang="en-US" sz="2400" dirty="0" smtClean="0"/>
              <a:t>Total number of lines in cache</a:t>
            </a:r>
          </a:p>
          <a:p>
            <a:pPr fontAlgn="base"/>
            <a:r>
              <a:rPr lang="en-US" sz="2400" dirty="0" smtClean="0"/>
              <a:t>= Cache memory size / Line size</a:t>
            </a:r>
          </a:p>
          <a:p>
            <a:pPr fontAlgn="base"/>
            <a:r>
              <a:rPr lang="en-US" sz="2400" dirty="0" smtClean="0"/>
              <a:t>= 8 KB / 32 bytes</a:t>
            </a:r>
          </a:p>
          <a:p>
            <a:pPr fontAlgn="base"/>
            <a:r>
              <a:rPr lang="en-US" sz="2400" dirty="0" smtClean="0"/>
              <a:t>= 2</a:t>
            </a:r>
            <a:r>
              <a:rPr lang="en-US" sz="2400" baseline="30000" dirty="0" smtClean="0"/>
              <a:t>13</a:t>
            </a:r>
            <a:r>
              <a:rPr lang="en-US" sz="2400" dirty="0" smtClean="0"/>
              <a:t> bytes / 2</a:t>
            </a:r>
            <a:r>
              <a:rPr lang="en-US" sz="2400" baseline="30000" dirty="0" smtClean="0"/>
              <a:t>5</a:t>
            </a:r>
            <a:r>
              <a:rPr lang="en-US" sz="2400" dirty="0" smtClean="0"/>
              <a:t> bytes</a:t>
            </a:r>
          </a:p>
          <a:p>
            <a:pPr fontAlgn="base"/>
            <a:r>
              <a:rPr lang="en-US" sz="2400" dirty="0" smtClean="0"/>
              <a:t>= 2</a:t>
            </a:r>
            <a:r>
              <a:rPr lang="en-US" sz="2400" baseline="30000" dirty="0" smtClean="0"/>
              <a:t>8</a:t>
            </a:r>
            <a:r>
              <a:rPr lang="en-US" sz="2400" dirty="0" smtClean="0"/>
              <a:t> lines</a:t>
            </a:r>
          </a:p>
          <a:p>
            <a:pPr fontAlgn="base"/>
            <a:r>
              <a:rPr lang="en-US" sz="2400" dirty="0" smtClean="0"/>
              <a:t>Thus, Number of bits in line number = 8 bits</a:t>
            </a:r>
            <a:endParaRPr lang="en-US" sz="2400" dirty="0"/>
          </a:p>
        </p:txBody>
      </p:sp>
      <p:pic>
        <p:nvPicPr>
          <p:cNvPr id="5123" name="Picture 3"/>
          <p:cNvPicPr>
            <a:picLocks noChangeAspect="1" noChangeArrowheads="1"/>
          </p:cNvPicPr>
          <p:nvPr/>
        </p:nvPicPr>
        <p:blipFill>
          <a:blip r:embed="rId3"/>
          <a:srcRect/>
          <a:stretch>
            <a:fillRect/>
          </a:stretch>
        </p:blipFill>
        <p:spPr bwMode="auto">
          <a:xfrm>
            <a:off x="2133599" y="4572000"/>
            <a:ext cx="5834251" cy="1676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8077200" cy="3992563"/>
          </a:xfrm>
        </p:spPr>
        <p:txBody>
          <a:bodyPr>
            <a:normAutofit fontScale="92500" lnSpcReduction="10000"/>
          </a:bodyPr>
          <a:lstStyle/>
          <a:p>
            <a:pPr fontAlgn="base">
              <a:buNone/>
            </a:pPr>
            <a:r>
              <a:rPr lang="en-US" b="1" u="sng" dirty="0" smtClean="0"/>
              <a:t>Number Of Bits in Tag-</a:t>
            </a:r>
            <a:endParaRPr lang="en-US" b="1" dirty="0" smtClean="0"/>
          </a:p>
          <a:p>
            <a:pPr fontAlgn="base">
              <a:buNone/>
            </a:pPr>
            <a:r>
              <a:rPr lang="en-US" dirty="0" smtClean="0"/>
              <a:t> </a:t>
            </a:r>
          </a:p>
          <a:p>
            <a:pPr fontAlgn="base">
              <a:buNone/>
            </a:pPr>
            <a:r>
              <a:rPr lang="en-US" dirty="0" smtClean="0"/>
              <a:t>Number of bits in tag</a:t>
            </a:r>
          </a:p>
          <a:p>
            <a:pPr fontAlgn="base">
              <a:buNone/>
            </a:pPr>
            <a:r>
              <a:rPr lang="en-US" dirty="0" smtClean="0"/>
              <a:t>= Number of bits in physical address – (Number of bits in line number + Number of bits in block offset)</a:t>
            </a:r>
          </a:p>
          <a:p>
            <a:pPr fontAlgn="base">
              <a:buNone/>
            </a:pPr>
            <a:r>
              <a:rPr lang="en-US" dirty="0" smtClean="0"/>
              <a:t>=32 bits – (8 bits + 5 bits)</a:t>
            </a:r>
          </a:p>
          <a:p>
            <a:pPr fontAlgn="base">
              <a:buNone/>
            </a:pPr>
            <a:r>
              <a:rPr lang="en-US" dirty="0" smtClean="0"/>
              <a:t>= 32 bits – 13 bits</a:t>
            </a:r>
          </a:p>
          <a:p>
            <a:pPr fontAlgn="base">
              <a:buNone/>
            </a:pPr>
            <a:r>
              <a:rPr lang="en-US" dirty="0" smtClean="0"/>
              <a:t>= 19 bits</a:t>
            </a:r>
          </a:p>
          <a:p>
            <a:pPr fontAlgn="base">
              <a:buNone/>
            </a:pPr>
            <a:r>
              <a:rPr lang="en-US" dirty="0" smtClean="0"/>
              <a:t>Thus, Number of bits in tag = 19 bits</a:t>
            </a:r>
          </a:p>
          <a:p>
            <a:endParaRPr lang="en-US" dirty="0"/>
          </a:p>
        </p:txBody>
      </p:sp>
      <p:pic>
        <p:nvPicPr>
          <p:cNvPr id="6146" name="Picture 2"/>
          <p:cNvPicPr>
            <a:picLocks noChangeAspect="1" noChangeArrowheads="1"/>
          </p:cNvPicPr>
          <p:nvPr/>
        </p:nvPicPr>
        <p:blipFill>
          <a:blip r:embed="rId2"/>
          <a:srcRect/>
          <a:stretch>
            <a:fillRect/>
          </a:stretch>
        </p:blipFill>
        <p:spPr bwMode="auto">
          <a:xfrm>
            <a:off x="1143000" y="4343401"/>
            <a:ext cx="6987786" cy="175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txBody>
          <a:bodyPr/>
          <a:lstStyle/>
          <a:p>
            <a:pPr fontAlgn="base">
              <a:buNone/>
            </a:pPr>
            <a:r>
              <a:rPr lang="en-US" b="1" u="sng" dirty="0" smtClean="0"/>
              <a:t>Memory Size Needed At Cache Controller-</a:t>
            </a:r>
            <a:r>
              <a:rPr lang="en-US" dirty="0" smtClean="0"/>
              <a:t> </a:t>
            </a:r>
          </a:p>
          <a:p>
            <a:pPr fontAlgn="base">
              <a:buNone/>
            </a:pPr>
            <a:r>
              <a:rPr lang="en-US" dirty="0" smtClean="0"/>
              <a:t>Size of memory needed at cache controller</a:t>
            </a:r>
          </a:p>
          <a:p>
            <a:pPr fontAlgn="base">
              <a:buNone/>
            </a:pPr>
            <a:r>
              <a:rPr lang="en-US" dirty="0" smtClean="0"/>
              <a:t>= Number of lines in cache x (1 valid bit + 1 modified bit + 19 bits to identify block)</a:t>
            </a:r>
          </a:p>
          <a:p>
            <a:pPr fontAlgn="base">
              <a:buNone/>
            </a:pPr>
            <a:r>
              <a:rPr lang="en-US" dirty="0" smtClean="0"/>
              <a:t>= 2</a:t>
            </a:r>
            <a:r>
              <a:rPr lang="en-US" baseline="30000" dirty="0" smtClean="0"/>
              <a:t>8</a:t>
            </a:r>
            <a:r>
              <a:rPr lang="en-US" dirty="0" smtClean="0"/>
              <a:t> x 21 bits</a:t>
            </a:r>
          </a:p>
          <a:p>
            <a:pPr fontAlgn="base">
              <a:buNone/>
            </a:pPr>
            <a:r>
              <a:rPr lang="en-US" dirty="0" smtClean="0"/>
              <a:t>= 5376 bits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37304" y="2277070"/>
            <a:ext cx="2946640"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THANKS</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 name="Rectangle 2"/>
          <p:cNvSpPr/>
          <p:nvPr/>
        </p:nvSpPr>
        <p:spPr>
          <a:xfrm>
            <a:off x="1295400" y="762000"/>
            <a:ext cx="3693640" cy="369332"/>
          </a:xfrm>
          <a:prstGeom prst="rect">
            <a:avLst/>
          </a:prstGeom>
        </p:spPr>
        <p:txBody>
          <a:bodyPr wrap="none">
            <a:spAutoFit/>
          </a:bodyPr>
          <a:lstStyle/>
          <a:p>
            <a:r>
              <a:rPr lang="en-US" smtClean="0"/>
              <a:t>https://youtu.be/sK7f4EzNhNY</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129</TotalTime>
  <Words>246</Words>
  <Application>Microsoft Office PowerPoint</Application>
  <PresentationFormat>On-screen Show (4:3)</PresentationFormat>
  <Paragraphs>164</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Concourse</vt:lpstr>
      <vt:lpstr>Slide 1</vt:lpstr>
      <vt:lpstr>PRACTICE PROBLEMS BASED ON DIRECT MAPPING-</vt:lpstr>
      <vt:lpstr>Slide 3</vt:lpstr>
      <vt:lpstr> Number of Bits in Physical Address-</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SCE</dc:creator>
  <cp:lastModifiedBy>SCE</cp:lastModifiedBy>
  <cp:revision>28</cp:revision>
  <dcterms:created xsi:type="dcterms:W3CDTF">2006-08-16T00:00:00Z</dcterms:created>
  <dcterms:modified xsi:type="dcterms:W3CDTF">2021-08-26T17:15:48Z</dcterms:modified>
</cp:coreProperties>
</file>