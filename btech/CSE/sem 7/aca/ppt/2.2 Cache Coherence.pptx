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70" r:id="rId2"/>
    <p:sldId id="256" r:id="rId3"/>
    <p:sldId id="257" r:id="rId4"/>
    <p:sldId id="258" r:id="rId5"/>
    <p:sldId id="259" r:id="rId6"/>
    <p:sldId id="260" r:id="rId7"/>
    <p:sldId id="261" r:id="rId8"/>
    <p:sldId id="271" r:id="rId9"/>
    <p:sldId id="262" r:id="rId10"/>
    <p:sldId id="263" r:id="rId11"/>
    <p:sldId id="264" r:id="rId12"/>
    <p:sldId id="272" r:id="rId13"/>
    <p:sldId id="265" r:id="rId14"/>
    <p:sldId id="266" r:id="rId15"/>
    <p:sldId id="267" r:id="rId16"/>
    <p:sldId id="268" r:id="rId17"/>
    <p:sldId id="269"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2" d="100"/>
          <a:sy n="52" d="100"/>
        </p:scale>
        <p:origin x="-96" y="-35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7A6C78-41F6-4D9D-9F20-8448BB3FB643}" type="datetimeFigureOut">
              <a:rPr lang="en-US" smtClean="0"/>
              <a:pPr/>
              <a:t>8/12/2020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4223AF-0932-4E2C-B7C7-2F7157982B4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xfrm>
            <a:off x="-14227175" y="-11796713"/>
            <a:ext cx="16652875" cy="12490451"/>
          </a:xfrm>
          <a:ln/>
        </p:spPr>
      </p:sp>
      <p:sp>
        <p:nvSpPr>
          <p:cNvPr id="105475" name="Notes Placeholder 2"/>
          <p:cNvSpPr>
            <a:spLocks noGrp="1"/>
          </p:cNvSpPr>
          <p:nvPr>
            <p:ph type="body" idx="1"/>
          </p:nvPr>
        </p:nvSpPr>
        <p:spPr>
          <a:noFill/>
          <a:ln/>
        </p:spPr>
        <p:txBody>
          <a:bodyPr/>
          <a:lstStyle/>
          <a:p>
            <a:endParaRPr lang="en-US"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8/12/2020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8/12/2020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8/12/2020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8/12/2020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8/12/2020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8/12/2020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8/12/2020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8/12/2020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8/12/2020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8/12/2020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8/12/2020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8/12/2020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457200" y="76200"/>
            <a:ext cx="8226425" cy="6324600"/>
          </a:xfrm>
        </p:spPr>
        <p:txBody>
          <a:bodyPr/>
          <a:lstStyle/>
          <a:p>
            <a:pPr algn="ctr" eaLnBrk="1" hangingPunct="1">
              <a:buFont typeface="Wingdings 2" pitchFamily="18" charset="2"/>
              <a:buNone/>
            </a:pPr>
            <a:endParaRPr lang="en-US" sz="1600" b="1" dirty="0" smtClean="0">
              <a:cs typeface="Arial" charset="0"/>
            </a:endParaRPr>
          </a:p>
          <a:p>
            <a:pPr algn="ctr" eaLnBrk="1" hangingPunct="1">
              <a:buFont typeface="Wingdings 2" pitchFamily="18" charset="2"/>
              <a:buNone/>
            </a:pPr>
            <a:r>
              <a:rPr lang="en-US" sz="2000" b="1" dirty="0" smtClean="0">
                <a:cs typeface="Arial" charset="0"/>
              </a:rPr>
              <a:t>Lecture</a:t>
            </a:r>
          </a:p>
          <a:p>
            <a:pPr algn="ctr" eaLnBrk="1" hangingPunct="1">
              <a:buFont typeface="Wingdings 2" pitchFamily="18" charset="2"/>
              <a:buNone/>
            </a:pPr>
            <a:r>
              <a:rPr lang="en-US" sz="2000" b="1" dirty="0" smtClean="0">
                <a:cs typeface="Arial" charset="0"/>
              </a:rPr>
              <a:t>on</a:t>
            </a:r>
            <a:r>
              <a:rPr lang="en-US" sz="2000" dirty="0" smtClean="0">
                <a:cs typeface="Arial" charset="0"/>
              </a:rPr>
              <a:t> </a:t>
            </a:r>
          </a:p>
          <a:p>
            <a:pPr algn="ctr" eaLnBrk="1" hangingPunct="1">
              <a:buFont typeface="Wingdings 2" pitchFamily="18" charset="2"/>
              <a:buNone/>
            </a:pPr>
            <a:r>
              <a:rPr lang="en-US" dirty="0" smtClean="0">
                <a:cs typeface="Arial" charset="0"/>
              </a:rPr>
              <a:t>“Advanced Computer Architecture –TCS 704”</a:t>
            </a:r>
          </a:p>
          <a:p>
            <a:pPr algn="ctr" eaLnBrk="1" hangingPunct="1">
              <a:buFont typeface="Wingdings 2" pitchFamily="18" charset="2"/>
              <a:buNone/>
            </a:pPr>
            <a:r>
              <a:rPr lang="en-US" sz="2000" dirty="0" smtClean="0">
                <a:cs typeface="Arial" charset="0"/>
              </a:rPr>
              <a:t>by</a:t>
            </a:r>
          </a:p>
          <a:p>
            <a:pPr algn="ctr" eaLnBrk="1" hangingPunct="1">
              <a:buFont typeface="Wingdings 2" pitchFamily="18" charset="2"/>
              <a:buNone/>
            </a:pPr>
            <a:r>
              <a:rPr lang="en-US" sz="2000" b="1" i="1" dirty="0" err="1" smtClean="0">
                <a:cs typeface="Arial" charset="0"/>
              </a:rPr>
              <a:t>A</a:t>
            </a:r>
            <a:r>
              <a:rPr lang="en-US" sz="2000" b="1" dirty="0" err="1" smtClean="0">
                <a:cs typeface="Arial" charset="0"/>
              </a:rPr>
              <a:t>kansha</a:t>
            </a:r>
            <a:r>
              <a:rPr lang="en-US" sz="2000" b="1" dirty="0" smtClean="0">
                <a:cs typeface="Arial" charset="0"/>
              </a:rPr>
              <a:t> Gupta</a:t>
            </a:r>
            <a:endParaRPr lang="en-US" sz="2000" dirty="0" smtClean="0">
              <a:cs typeface="Arial" charset="0"/>
            </a:endParaRPr>
          </a:p>
          <a:p>
            <a:pPr algn="ctr" eaLnBrk="1" hangingPunct="1">
              <a:buFont typeface="Wingdings 2" pitchFamily="18" charset="2"/>
              <a:buNone/>
            </a:pPr>
            <a:r>
              <a:rPr lang="en-US" sz="2000" b="1" dirty="0" smtClean="0">
                <a:cs typeface="Arial" charset="0"/>
              </a:rPr>
              <a:t> </a:t>
            </a: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r>
              <a:rPr lang="en-US" sz="2000" b="1" dirty="0" smtClean="0">
                <a:cs typeface="Arial" charset="0"/>
              </a:rPr>
              <a:t>DEPARTMENT OF COMPUTER SCIENCE AND ENGINEERING</a:t>
            </a:r>
            <a:endParaRPr lang="en-US" sz="2000" dirty="0" smtClean="0">
              <a:cs typeface="Arial" charset="0"/>
            </a:endParaRPr>
          </a:p>
          <a:p>
            <a:pPr algn="ctr" eaLnBrk="1" hangingPunct="1">
              <a:buFont typeface="Wingdings 2" pitchFamily="18" charset="2"/>
              <a:buNone/>
            </a:pPr>
            <a:r>
              <a:rPr lang="en-US" sz="2000" dirty="0" smtClean="0">
                <a:cs typeface="Arial" charset="0"/>
              </a:rPr>
              <a:t>GRAPHIC ERA DEEMED TO BE UNIVERSITY – 248002</a:t>
            </a:r>
          </a:p>
          <a:p>
            <a:pPr algn="ctr" eaLnBrk="1" hangingPunct="1">
              <a:buFont typeface="Wingdings 2" pitchFamily="18" charset="2"/>
              <a:buNone/>
            </a:pPr>
            <a:endParaRPr lang="en-US" sz="1600" dirty="0" smtClean="0"/>
          </a:p>
        </p:txBody>
      </p:sp>
      <p:pic>
        <p:nvPicPr>
          <p:cNvPr id="6147" name="Picture 3" descr="ahmed-logo1"/>
          <p:cNvPicPr>
            <a:picLocks noChangeAspect="1" noChangeArrowheads="1"/>
          </p:cNvPicPr>
          <p:nvPr/>
        </p:nvPicPr>
        <p:blipFill>
          <a:blip r:embed="rId3"/>
          <a:srcRect/>
          <a:stretch>
            <a:fillRect/>
          </a:stretch>
        </p:blipFill>
        <p:spPr bwMode="auto">
          <a:xfrm>
            <a:off x="3886200" y="2667000"/>
            <a:ext cx="1209675" cy="1133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14120" y="2209800"/>
            <a:ext cx="5115759" cy="92333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en-US" sz="5400" b="1" cap="none" spc="0" dirty="0" smtClean="0">
                <a:ln w="50800"/>
                <a:solidFill>
                  <a:schemeClr val="accent2">
                    <a:lumMod val="60000"/>
                    <a:lumOff val="40000"/>
                  </a:schemeClr>
                </a:solidFill>
                <a:effectLst/>
              </a:rPr>
              <a:t>Cache Coherence</a:t>
            </a:r>
            <a:endParaRPr lang="en-US" sz="5400" b="1" cap="none" spc="0" dirty="0">
              <a:ln w="50800"/>
              <a:solidFill>
                <a:schemeClr val="accent2">
                  <a:lumMod val="60000"/>
                  <a:lumOff val="40000"/>
                </a:schemeClr>
              </a:solidFill>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646237"/>
            <a:ext cx="8382000" cy="4983163"/>
          </a:xfrm>
        </p:spPr>
        <p:txBody>
          <a:bodyPr>
            <a:normAutofit fontScale="77500" lnSpcReduction="20000"/>
          </a:bodyPr>
          <a:lstStyle/>
          <a:p>
            <a:pPr algn="just"/>
            <a:r>
              <a:rPr lang="en-US" dirty="0" smtClean="0"/>
              <a:t>Cache coherence is a concern raised in a multi-core system distributed L1 and L2 caches. Each core has its own L1 and L2 caches and they need to always be in-sync with each other to have the most up-to-date version of the data.</a:t>
            </a:r>
          </a:p>
          <a:p>
            <a:pPr algn="just">
              <a:buNone/>
            </a:pPr>
            <a:endParaRPr lang="en-US" dirty="0" smtClean="0"/>
          </a:p>
          <a:p>
            <a:pPr algn="just"/>
            <a:r>
              <a:rPr lang="en-US" dirty="0" smtClean="0"/>
              <a:t>The Cache Coherence Problem is the challenge of keeping multiple local caches synchronized when one of the processors updates its local copy of data which is shared among multiple caches.</a:t>
            </a:r>
          </a:p>
          <a:p>
            <a:pPr algn="just">
              <a:buNone/>
            </a:pPr>
            <a:endParaRPr lang="en-US" dirty="0" smtClean="0"/>
          </a:p>
          <a:p>
            <a:pPr algn="just"/>
            <a:r>
              <a:rPr lang="en-US" dirty="0" smtClean="0"/>
              <a:t>Imagine a scenario where multiple copies of same data exists in different caches simultaneously, and if the processors are allowed to update their own copies freely, an inconsistent view of memory can result.</a:t>
            </a:r>
          </a:p>
          <a:p>
            <a:pPr>
              <a:buNone/>
            </a:pPr>
            <a:r>
              <a:rPr lang="en-US" dirty="0" smtClean="0"/>
              <a:t/>
            </a:r>
            <a:br>
              <a:rPr lang="en-US" dirty="0" smtClean="0"/>
            </a:br>
            <a:endParaRPr lang="en-US" dirty="0"/>
          </a:p>
        </p:txBody>
      </p:sp>
      <p:sp>
        <p:nvSpPr>
          <p:cNvPr id="2" name="Title 1"/>
          <p:cNvSpPr>
            <a:spLocks noGrp="1"/>
          </p:cNvSpPr>
          <p:nvPr>
            <p:ph type="title"/>
          </p:nvPr>
        </p:nvSpPr>
        <p:spPr>
          <a:xfrm>
            <a:off x="457200" y="533400"/>
            <a:ext cx="8229600" cy="1143000"/>
          </a:xfrm>
        </p:spPr>
        <p:txBody>
          <a:bodyPr>
            <a:normAutofit fontScale="90000"/>
          </a:bodyPr>
          <a:lstStyle/>
          <a:p>
            <a:r>
              <a:rPr lang="en-US" b="1" dirty="0" smtClean="0"/>
              <a:t>What is a Cache Coherence Problem?</a:t>
            </a:r>
            <a:br>
              <a:rPr lang="en-US" b="1" dirty="0" smtClean="0"/>
            </a:b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1"/>
            <a:ext cx="8229600" cy="3962400"/>
          </a:xfrm>
        </p:spPr>
        <p:txBody>
          <a:bodyPr>
            <a:normAutofit fontScale="85000" lnSpcReduction="10000"/>
          </a:bodyPr>
          <a:lstStyle/>
          <a:p>
            <a:pPr algn="just"/>
            <a:r>
              <a:rPr lang="en-US" dirty="0" smtClean="0"/>
              <a:t>For example, imagine a dual-core processor where each core brought a block of memory into its private cache, and then one core writes a value to a specific location. When the second core attempts to read that value from its cache, it will not have the most recent version unless its cache entry is invalidated and a cache miss occurs. This cache miss forces the second core’s cache entry to be updated. To trigger the cache invalidation we need cache coherence policies. If there is no cache coherence policy in-place, the wrong data would be read and invalid results would be produced, possibly crashing the program</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31709"/>
            <a:ext cx="8305800" cy="5169091"/>
          </a:xfrm>
        </p:spPr>
        <p:txBody>
          <a:bodyPr>
            <a:normAutofit fontScale="77500" lnSpcReduction="20000"/>
          </a:bodyPr>
          <a:lstStyle/>
          <a:p>
            <a:pPr algn="just"/>
            <a:r>
              <a:rPr lang="en-US" dirty="0" smtClean="0"/>
              <a:t>There two main cache write policies.</a:t>
            </a:r>
          </a:p>
          <a:p>
            <a:pPr algn="just"/>
            <a:r>
              <a:rPr lang="en-US" b="1" dirty="0" smtClean="0"/>
              <a:t>Write back</a:t>
            </a:r>
            <a:r>
              <a:rPr lang="en-US" dirty="0" smtClean="0"/>
              <a:t> </a:t>
            </a:r>
            <a:r>
              <a:rPr lang="en-US" b="1" dirty="0" smtClean="0"/>
              <a:t>: </a:t>
            </a:r>
            <a:r>
              <a:rPr lang="en-US" dirty="0" smtClean="0"/>
              <a:t>Write operations are usually made only to the cache. Main memory is only updated when the corresponding cache line is flushed from the cache.</a:t>
            </a:r>
          </a:p>
          <a:p>
            <a:pPr algn="just"/>
            <a:r>
              <a:rPr lang="en-US" b="1" dirty="0" smtClean="0"/>
              <a:t>Write through : </a:t>
            </a:r>
            <a:r>
              <a:rPr lang="en-US" dirty="0" smtClean="0"/>
              <a:t>All write operations are made to main memory as well as to the cache, ensuring that main memory is always valid.</a:t>
            </a:r>
          </a:p>
          <a:p>
            <a:pPr algn="just"/>
            <a:r>
              <a:rPr lang="en-US" dirty="0" smtClean="0"/>
              <a:t>From the above description it is clear that </a:t>
            </a:r>
            <a:r>
              <a:rPr lang="en-US" b="1" dirty="0" smtClean="0"/>
              <a:t>Write back policy</a:t>
            </a:r>
            <a:r>
              <a:rPr lang="en-US" dirty="0" smtClean="0"/>
              <a:t> results in inconsistency. If two caches contain the same line, and the line is updated in one cache, the other cache will unknowingly have an invalid value. Subsequently read to that invalid line produce invalid results.</a:t>
            </a:r>
          </a:p>
          <a:p>
            <a:pPr algn="just"/>
            <a:r>
              <a:rPr lang="en-US" dirty="0" smtClean="0"/>
              <a:t>But if we think deeper even the </a:t>
            </a:r>
            <a:r>
              <a:rPr lang="en-US" b="1" dirty="0" smtClean="0"/>
              <a:t>Write through policy</a:t>
            </a:r>
            <a:r>
              <a:rPr lang="en-US" dirty="0" smtClean="0"/>
              <a:t> also has consistency issues. Even though memory is updated inconsistency can occur unless other cache monitor the memory traffic or receive some direct notification of the update.</a:t>
            </a:r>
          </a:p>
          <a:p>
            <a:endParaRPr lang="en-US" dirty="0"/>
          </a:p>
        </p:txBody>
      </p:sp>
      <p:sp>
        <p:nvSpPr>
          <p:cNvPr id="2" name="Title 1"/>
          <p:cNvSpPr>
            <a:spLocks noGrp="1"/>
          </p:cNvSpPr>
          <p:nvPr>
            <p:ph type="title"/>
          </p:nvPr>
        </p:nvSpPr>
        <p:spPr/>
        <p:txBody>
          <a:bodyPr>
            <a:normAutofit fontScale="90000"/>
          </a:bodyPr>
          <a:lstStyle/>
          <a:p>
            <a:r>
              <a:rPr lang="en-US" b="1" dirty="0" smtClean="0"/>
              <a:t>Cache Write Policies</a:t>
            </a:r>
            <a:br>
              <a:rPr lang="en-US" b="1" dirty="0" smtClean="0"/>
            </a:b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382000" cy="5059363"/>
          </a:xfrm>
        </p:spPr>
        <p:txBody>
          <a:bodyPr>
            <a:normAutofit fontScale="77500" lnSpcReduction="20000"/>
          </a:bodyPr>
          <a:lstStyle/>
          <a:p>
            <a:pPr>
              <a:buNone/>
            </a:pPr>
            <a:r>
              <a:rPr lang="en-US" b="1" dirty="0" smtClean="0"/>
              <a:t>Write Through (WT) Protocol</a:t>
            </a:r>
          </a:p>
          <a:p>
            <a:pPr>
              <a:buNone/>
            </a:pPr>
            <a:r>
              <a:rPr lang="en-US" dirty="0" smtClean="0"/>
              <a:t>There are two fundamental implementations of the WT protocol.</a:t>
            </a:r>
          </a:p>
          <a:p>
            <a:r>
              <a:rPr lang="en-US" b="1" dirty="0" smtClean="0"/>
              <a:t>Write through with update protocol</a:t>
            </a:r>
            <a:endParaRPr lang="en-US" dirty="0" smtClean="0"/>
          </a:p>
          <a:p>
            <a:r>
              <a:rPr lang="en-US" b="1" dirty="0" smtClean="0"/>
              <a:t>Write through with invalidation of copies</a:t>
            </a:r>
          </a:p>
          <a:p>
            <a:pPr>
              <a:buNone/>
            </a:pPr>
            <a:endParaRPr lang="en-US" dirty="0" smtClean="0"/>
          </a:p>
          <a:p>
            <a:pPr>
              <a:buNone/>
            </a:pPr>
            <a:r>
              <a:rPr lang="en-US" b="1" dirty="0" smtClean="0"/>
              <a:t>Write through with update protocol</a:t>
            </a:r>
            <a:endParaRPr lang="en-US" dirty="0" smtClean="0"/>
          </a:p>
          <a:p>
            <a:pPr algn="just"/>
            <a:r>
              <a:rPr lang="en-US" dirty="0" smtClean="0"/>
              <a:t>When a processor writes a new value into its cache, the new value is also written into the memory module that holds the cache block being changed. Some copies of this block may exist in other caches, these copies must be updated to reflect the change caused by the write operation.</a:t>
            </a:r>
          </a:p>
          <a:p>
            <a:pPr algn="just"/>
            <a:r>
              <a:rPr lang="en-US" dirty="0" smtClean="0"/>
              <a:t>We update the other cache copies by doing a broadcast with the updated data to all processor modules in the system. Each processor module receives the broadcast data, it updates the contents of the affected cache block if this block is present in its cache.</a:t>
            </a:r>
          </a:p>
        </p:txBody>
      </p:sp>
      <p:sp>
        <p:nvSpPr>
          <p:cNvPr id="2" name="Title 1"/>
          <p:cNvSpPr>
            <a:spLocks noGrp="1"/>
          </p:cNvSpPr>
          <p:nvPr>
            <p:ph type="title"/>
          </p:nvPr>
        </p:nvSpPr>
        <p:spPr>
          <a:xfrm>
            <a:off x="457200" y="76200"/>
            <a:ext cx="8229600" cy="1143000"/>
          </a:xfrm>
        </p:spPr>
        <p:txBody>
          <a:bodyPr/>
          <a:lstStyle/>
          <a:p>
            <a:r>
              <a:rPr lang="en-US" b="1" dirty="0" smtClean="0"/>
              <a:t>Ways of writing into a Cache</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9437"/>
            <a:ext cx="8305800" cy="3001963"/>
          </a:xfrm>
        </p:spPr>
        <p:txBody>
          <a:bodyPr>
            <a:normAutofit fontScale="92500" lnSpcReduction="10000"/>
          </a:bodyPr>
          <a:lstStyle/>
          <a:p>
            <a:pPr algn="just">
              <a:buNone/>
            </a:pPr>
            <a:r>
              <a:rPr lang="en-US" b="1" dirty="0" smtClean="0"/>
              <a:t>Write through with invalidation of copies</a:t>
            </a:r>
            <a:endParaRPr lang="en-US" dirty="0" smtClean="0"/>
          </a:p>
          <a:p>
            <a:pPr algn="just"/>
            <a:r>
              <a:rPr lang="en-US" dirty="0" smtClean="0"/>
              <a:t>When a processor writes a new value into its cache, this value is written into the memory and all other copies in other caches are invalidated. This also done by broadcasting the invalidation request through the system. All caches receives this invalidation request and the cache which contains the updated data flushes its cache line.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077200" cy="5410200"/>
          </a:xfrm>
        </p:spPr>
        <p:txBody>
          <a:bodyPr>
            <a:normAutofit fontScale="77500" lnSpcReduction="20000"/>
          </a:bodyPr>
          <a:lstStyle/>
          <a:p>
            <a:pPr algn="just">
              <a:buNone/>
            </a:pPr>
            <a:r>
              <a:rPr lang="en-US" b="1" dirty="0" smtClean="0"/>
              <a:t>Write Back (WB) Protocol</a:t>
            </a:r>
          </a:p>
          <a:p>
            <a:pPr algn="just">
              <a:buNone/>
            </a:pPr>
            <a:endParaRPr lang="en-US" b="1" dirty="0" smtClean="0"/>
          </a:p>
          <a:p>
            <a:pPr algn="just"/>
            <a:r>
              <a:rPr lang="en-US" dirty="0" smtClean="0"/>
              <a:t>In the WB protocol, multiple copies of a cache block may exist if different processors have loaded (read) the block into their caches.</a:t>
            </a:r>
          </a:p>
          <a:p>
            <a:pPr algn="just"/>
            <a:r>
              <a:rPr lang="en-US" dirty="0" smtClean="0"/>
              <a:t>In this approach if some processor wants to change this block, it must first become the exclusive owner of the block.</a:t>
            </a:r>
          </a:p>
          <a:p>
            <a:pPr algn="just"/>
            <a:r>
              <a:rPr lang="en-US" dirty="0" smtClean="0"/>
              <a:t>When the ownership is granted to this processor by the memory module that is the home location of the block. All other copies, including the one in the memory module, are invalidated.</a:t>
            </a:r>
          </a:p>
          <a:p>
            <a:pPr algn="just"/>
            <a:r>
              <a:rPr lang="en-US" dirty="0" smtClean="0"/>
              <a:t>Now the owner of the block may change the contents of the memory. When another processor wishes to read this block, the data are sent to this processor by the current owner. The data are also sent to the home memory module, which requires ownership and updates the block to contain the latest value.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981200"/>
            <a:ext cx="8458200" cy="3657601"/>
          </a:xfrm>
        </p:spPr>
        <p:txBody>
          <a:bodyPr>
            <a:normAutofit lnSpcReduction="10000"/>
          </a:bodyPr>
          <a:lstStyle/>
          <a:p>
            <a:pPr algn="just"/>
            <a:r>
              <a:rPr lang="en-US" dirty="0" smtClean="0"/>
              <a:t>In the software approach, we try to detect the potential code segments which might cause cache coherence issues and treat them separately.</a:t>
            </a:r>
          </a:p>
          <a:p>
            <a:pPr algn="just"/>
            <a:r>
              <a:rPr lang="en-US" dirty="0" smtClean="0"/>
              <a:t>Compiler-based cache coherence mechanism perform an analysis on the code to determine which data items may become unsafe for caching, and they mark those items accordingly.</a:t>
            </a:r>
            <a:endParaRPr lang="en-US" dirty="0"/>
          </a:p>
        </p:txBody>
      </p:sp>
      <p:sp>
        <p:nvSpPr>
          <p:cNvPr id="2" name="Title 1"/>
          <p:cNvSpPr>
            <a:spLocks noGrp="1"/>
          </p:cNvSpPr>
          <p:nvPr>
            <p:ph type="title"/>
          </p:nvPr>
        </p:nvSpPr>
        <p:spPr>
          <a:xfrm>
            <a:off x="457200" y="838200"/>
            <a:ext cx="8229600" cy="1143000"/>
          </a:xfrm>
        </p:spPr>
        <p:txBody>
          <a:bodyPr>
            <a:normAutofit fontScale="90000"/>
          </a:bodyPr>
          <a:lstStyle/>
          <a:p>
            <a:r>
              <a:rPr lang="en-US" b="1" dirty="0" smtClean="0"/>
              <a:t>Software Level Solution — Compiler-based cache coherence mechanism</a:t>
            </a:r>
            <a:br>
              <a:rPr lang="en-US" b="1" dirty="0" smtClean="0"/>
            </a:b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lgn="just">
              <a:buNone/>
            </a:pPr>
            <a:r>
              <a:rPr lang="en-US" dirty="0" smtClean="0"/>
              <a:t>Hardware schema can be divided into two categories :</a:t>
            </a:r>
          </a:p>
          <a:p>
            <a:pPr algn="just"/>
            <a:r>
              <a:rPr lang="en-US" b="1" dirty="0" smtClean="0"/>
              <a:t>Directory Protocols</a:t>
            </a:r>
            <a:endParaRPr lang="en-US" dirty="0" smtClean="0"/>
          </a:p>
          <a:p>
            <a:pPr algn="just"/>
            <a:r>
              <a:rPr lang="en-US" b="1" dirty="0" smtClean="0"/>
              <a:t>Snoopy Protocols</a:t>
            </a:r>
          </a:p>
          <a:p>
            <a:pPr algn="just">
              <a:buNone/>
            </a:pPr>
            <a:endParaRPr lang="en-US" dirty="0" smtClean="0"/>
          </a:p>
          <a:p>
            <a:pPr algn="just">
              <a:buNone/>
            </a:pPr>
            <a:r>
              <a:rPr lang="en-US" b="1" dirty="0" smtClean="0"/>
              <a:t>Directory Protocols</a:t>
            </a:r>
          </a:p>
          <a:p>
            <a:pPr algn="just"/>
            <a:r>
              <a:rPr lang="en-US" dirty="0" smtClean="0"/>
              <a:t>In this approach we collect and maintain information about where copies of lines reside in each cache.</a:t>
            </a:r>
          </a:p>
          <a:p>
            <a:pPr algn="just"/>
            <a:r>
              <a:rPr lang="en-US" dirty="0" smtClean="0"/>
              <a:t>Typical implementation has a centralized controller which is a part of the main memory controller. There is a directory that is stored in main memory which contains global state information about the contents of the various local caches</a:t>
            </a:r>
          </a:p>
          <a:p>
            <a:endParaRPr lang="en-US" dirty="0"/>
          </a:p>
        </p:txBody>
      </p:sp>
      <p:sp>
        <p:nvSpPr>
          <p:cNvPr id="2" name="Title 1"/>
          <p:cNvSpPr>
            <a:spLocks noGrp="1"/>
          </p:cNvSpPr>
          <p:nvPr>
            <p:ph type="title"/>
          </p:nvPr>
        </p:nvSpPr>
        <p:spPr/>
        <p:txBody>
          <a:bodyPr>
            <a:normAutofit fontScale="90000"/>
          </a:bodyPr>
          <a:lstStyle/>
          <a:p>
            <a:r>
              <a:rPr lang="en-US" b="1" dirty="0" smtClean="0"/>
              <a:t>Hardware Level Solutions</a:t>
            </a:r>
            <a:br>
              <a:rPr lang="en-US" b="1" dirty="0" smtClean="0"/>
            </a:b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324600"/>
          </a:xfrm>
        </p:spPr>
        <p:txBody>
          <a:bodyPr>
            <a:normAutofit/>
          </a:bodyPr>
          <a:lstStyle/>
          <a:p>
            <a:pPr algn="just">
              <a:buNone/>
            </a:pPr>
            <a:r>
              <a:rPr lang="en-US" sz="2800" b="1" dirty="0" smtClean="0"/>
              <a:t>Let’s see the flow when an individual cache controller tries to update its local copy of the cache line.</a:t>
            </a:r>
          </a:p>
          <a:p>
            <a:pPr algn="just"/>
            <a:r>
              <a:rPr lang="en-US" dirty="0" smtClean="0"/>
              <a:t>Local cache controller request for an exclusive access to the line from the centralized cache controller</a:t>
            </a:r>
          </a:p>
          <a:p>
            <a:pPr algn="just"/>
            <a:r>
              <a:rPr lang="en-US" dirty="0" smtClean="0"/>
              <a:t>Before granting the exclusive access, the controller sends a message to all processors with a cached copy of this time, forcing each processors to invalidate its copy.</a:t>
            </a:r>
          </a:p>
          <a:p>
            <a:pPr algn="just"/>
            <a:r>
              <a:rPr lang="en-US" dirty="0" smtClean="0"/>
              <a:t>Centralized controller receives the acknowledgement back from each processor</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219200"/>
            <a:ext cx="8458200" cy="4788091"/>
          </a:xfrm>
        </p:spPr>
        <p:txBody>
          <a:bodyPr/>
          <a:lstStyle/>
          <a:p>
            <a:pPr algn="just"/>
            <a:r>
              <a:rPr lang="en-US" dirty="0" smtClean="0"/>
              <a:t>Controller grants exclusive access to the requesting processor.</a:t>
            </a:r>
          </a:p>
          <a:p>
            <a:pPr algn="just"/>
            <a:r>
              <a:rPr lang="en-US" dirty="0" smtClean="0"/>
              <a:t>When another processor tries to read a line that is exclusively granted to another processors, this results in a cache miss, it will send a miss notification to the controller.</a:t>
            </a:r>
          </a:p>
          <a:p>
            <a:pPr algn="just"/>
            <a:r>
              <a:rPr lang="en-US" dirty="0" smtClean="0"/>
              <a:t>Upon receiving the cache miss notification controller will issue command to the processor holding the exclusive access to write-back to main memory.</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7696200" cy="2590799"/>
          </a:xfrm>
        </p:spPr>
        <p:txBody>
          <a:bodyPr>
            <a:normAutofit/>
          </a:bodyPr>
          <a:lstStyle/>
          <a:p>
            <a:pPr>
              <a:buNone/>
            </a:pPr>
            <a:endParaRPr lang="en-US" dirty="0" smtClean="0"/>
          </a:p>
          <a:p>
            <a:pPr algn="just"/>
            <a:r>
              <a:rPr lang="en-US" dirty="0" smtClean="0"/>
              <a:t>Central cache controller bottleneck</a:t>
            </a:r>
          </a:p>
          <a:p>
            <a:pPr algn="just"/>
            <a:r>
              <a:rPr lang="en-US" dirty="0" smtClean="0"/>
              <a:t>Communication overhead between various cache controller and central controller.</a:t>
            </a:r>
          </a:p>
          <a:p>
            <a:endParaRPr lang="en-US" dirty="0"/>
          </a:p>
        </p:txBody>
      </p:sp>
      <p:sp>
        <p:nvSpPr>
          <p:cNvPr id="2" name="Title 1"/>
          <p:cNvSpPr>
            <a:spLocks noGrp="1"/>
          </p:cNvSpPr>
          <p:nvPr>
            <p:ph type="title"/>
          </p:nvPr>
        </p:nvSpPr>
        <p:spPr/>
        <p:txBody>
          <a:bodyPr/>
          <a:lstStyle/>
          <a:p>
            <a:r>
              <a:rPr lang="en-US" b="1" dirty="0" smtClean="0"/>
              <a:t>Drawbacks of directory schema</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983163"/>
          </a:xfrm>
        </p:spPr>
        <p:txBody>
          <a:bodyPr>
            <a:normAutofit lnSpcReduction="10000"/>
          </a:bodyPr>
          <a:lstStyle/>
          <a:p>
            <a:pPr algn="just"/>
            <a:r>
              <a:rPr lang="en-US" dirty="0" smtClean="0"/>
              <a:t>A cache must recognize when a line that it holds is shared with other caches. When an update action is performed on a shared cache line, it must be announced to all other caches by a broadcast mechanism.</a:t>
            </a:r>
          </a:p>
          <a:p>
            <a:pPr algn="just"/>
            <a:r>
              <a:rPr lang="en-US" dirty="0" smtClean="0"/>
              <a:t>Each cache controller is able to </a:t>
            </a:r>
            <a:r>
              <a:rPr lang="en-US" b="1" i="1" dirty="0" smtClean="0"/>
              <a:t>“snoop”</a:t>
            </a:r>
            <a:r>
              <a:rPr lang="en-US" dirty="0" smtClean="0"/>
              <a:t> on the network to observed these broadcasted notification and react accordingly.</a:t>
            </a:r>
          </a:p>
          <a:p>
            <a:pPr algn="just"/>
            <a:r>
              <a:rPr lang="en-US" dirty="0" smtClean="0"/>
              <a:t>Snoopy protocols are ideally suited to a bus-based multiprocessor, because the shared bus provides a simple means for broadcasting and snooping.</a:t>
            </a:r>
          </a:p>
          <a:p>
            <a:endParaRPr lang="en-US" dirty="0"/>
          </a:p>
        </p:txBody>
      </p:sp>
      <p:sp>
        <p:nvSpPr>
          <p:cNvPr id="2" name="Title 1"/>
          <p:cNvSpPr>
            <a:spLocks noGrp="1"/>
          </p:cNvSpPr>
          <p:nvPr>
            <p:ph type="title"/>
          </p:nvPr>
        </p:nvSpPr>
        <p:spPr/>
        <p:txBody>
          <a:bodyPr>
            <a:normAutofit fontScale="90000"/>
          </a:bodyPr>
          <a:lstStyle/>
          <a:p>
            <a:r>
              <a:rPr lang="en-US" b="1" dirty="0" smtClean="0"/>
              <a:t>Snoopy Protocols</a:t>
            </a:r>
            <a:br>
              <a:rPr lang="en-US" b="1" dirty="0" smtClean="0"/>
            </a:b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5821363"/>
          </a:xfrm>
        </p:spPr>
        <p:txBody>
          <a:bodyPr>
            <a:normAutofit fontScale="77500" lnSpcReduction="20000"/>
          </a:bodyPr>
          <a:lstStyle/>
          <a:p>
            <a:pPr algn="just">
              <a:buNone/>
            </a:pPr>
            <a:r>
              <a:rPr lang="en-US" dirty="0" smtClean="0"/>
              <a:t>There are two basic approaches to snoopy protocols explored:</a:t>
            </a:r>
          </a:p>
          <a:p>
            <a:pPr algn="just"/>
            <a:r>
              <a:rPr lang="en-US" b="1" dirty="0" smtClean="0"/>
              <a:t>Write-invalidate snoopy protocol</a:t>
            </a:r>
            <a:endParaRPr lang="en-US" dirty="0" smtClean="0"/>
          </a:p>
          <a:p>
            <a:pPr algn="just"/>
            <a:r>
              <a:rPr lang="en-US" b="1" dirty="0" smtClean="0"/>
              <a:t>Write-update (write-broadcast) snoopy protocol</a:t>
            </a:r>
          </a:p>
          <a:p>
            <a:pPr algn="just">
              <a:buNone/>
            </a:pPr>
            <a:endParaRPr lang="en-US" dirty="0" smtClean="0"/>
          </a:p>
          <a:p>
            <a:pPr algn="just">
              <a:buNone/>
            </a:pPr>
            <a:r>
              <a:rPr lang="en-US" b="1" dirty="0" smtClean="0"/>
              <a:t>Write-invalidate protocol</a:t>
            </a:r>
            <a:endParaRPr lang="en-US" dirty="0" smtClean="0"/>
          </a:p>
          <a:p>
            <a:pPr algn="just"/>
            <a:r>
              <a:rPr lang="en-US" dirty="0" smtClean="0"/>
              <a:t>There can be multiple readers but only one write at a time.</a:t>
            </a:r>
          </a:p>
          <a:p>
            <a:r>
              <a:rPr lang="en-US" dirty="0" smtClean="0"/>
              <a:t>Initially, a line may be shared among several caches for reading purposes. When one of the caches wants to perform a write to the line it first issues a notice that invalidates that line in the other caches, making the line exclusive to the writing cache.</a:t>
            </a:r>
          </a:p>
          <a:p>
            <a:pPr algn="just"/>
            <a:r>
              <a:rPr lang="en-US" dirty="0" smtClean="0"/>
              <a:t>Once the line is exclusive, the owning processor can make local writes until some other processor requires the same line.</a:t>
            </a:r>
          </a:p>
          <a:p>
            <a:pPr algn="just">
              <a:buNone/>
            </a:pPr>
            <a:r>
              <a:rPr lang="en-US" b="1" dirty="0" smtClean="0"/>
              <a:t>Write with update protocol</a:t>
            </a:r>
            <a:endParaRPr lang="en-US" dirty="0" smtClean="0"/>
          </a:p>
          <a:p>
            <a:pPr algn="just"/>
            <a:r>
              <a:rPr lang="en-US" dirty="0" smtClean="0"/>
              <a:t>There can be multiple writers as well as multiple readers.</a:t>
            </a:r>
          </a:p>
          <a:p>
            <a:pPr algn="just"/>
            <a:r>
              <a:rPr lang="en-US" dirty="0" smtClean="0"/>
              <a:t>When a processors wishes to update a shared line, the word to be updated is distributed to all others, and caches containing that line can update it.</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05800" cy="5211763"/>
          </a:xfrm>
        </p:spPr>
        <p:txBody>
          <a:bodyPr>
            <a:normAutofit fontScale="77500" lnSpcReduction="20000"/>
          </a:bodyPr>
          <a:lstStyle/>
          <a:p>
            <a:pPr algn="just">
              <a:buNone/>
            </a:pPr>
            <a:r>
              <a:rPr lang="en-US" dirty="0" smtClean="0"/>
              <a:t>Following events and actions occur on the execution of memory-access and invalidation commands −</a:t>
            </a:r>
          </a:p>
          <a:p>
            <a:pPr algn="just">
              <a:buNone/>
            </a:pPr>
            <a:endParaRPr lang="en-US" dirty="0" smtClean="0"/>
          </a:p>
          <a:p>
            <a:pPr algn="just"/>
            <a:r>
              <a:rPr lang="en-US" b="1" dirty="0" smtClean="0"/>
              <a:t>Read-miss</a:t>
            </a:r>
            <a:r>
              <a:rPr lang="en-US" dirty="0" smtClean="0"/>
              <a:t> − When a processor wants to read a block and it is not in the cache, a read-miss occurs. This initiates a </a:t>
            </a:r>
            <a:r>
              <a:rPr lang="en-US" b="1" dirty="0" smtClean="0"/>
              <a:t>bus-read</a:t>
            </a:r>
            <a:r>
              <a:rPr lang="en-US" dirty="0" smtClean="0"/>
              <a:t> operation. If no dirty copy exists, then the main memory that has a consistent copy, supplies a copy to the requesting cache memory. If a dirty copy exists in a remote cache memory, that cache will restrain the main memory and send a copy to the requesting cache memory. In both the cases, the cache copy will enter the valid state after a read miss.</a:t>
            </a:r>
          </a:p>
          <a:p>
            <a:pPr algn="just">
              <a:buNone/>
            </a:pPr>
            <a:endParaRPr lang="en-US" dirty="0" smtClean="0"/>
          </a:p>
          <a:p>
            <a:pPr algn="just"/>
            <a:r>
              <a:rPr lang="en-US" b="1" dirty="0" smtClean="0"/>
              <a:t>Write-hit</a:t>
            </a:r>
            <a:r>
              <a:rPr lang="en-US" dirty="0" smtClean="0"/>
              <a:t> − If the copy is in dirty or </a:t>
            </a:r>
            <a:r>
              <a:rPr lang="en-US" b="1" dirty="0" smtClean="0"/>
              <a:t>reserved</a:t>
            </a:r>
            <a:r>
              <a:rPr lang="en-US" dirty="0" smtClean="0"/>
              <a:t> state, write is done locally and the new state is dirty. If the new state is valid, write-invalidate command is broadcasted to all the caches, invalidating their copies. When the shared memory is written through, the resulting state is reserved after this first write.</a:t>
            </a:r>
          </a:p>
          <a:p>
            <a:endParaRPr lang="en-US" dirty="0"/>
          </a:p>
        </p:txBody>
      </p:sp>
      <p:sp>
        <p:nvSpPr>
          <p:cNvPr id="2" name="Title 1"/>
          <p:cNvSpPr>
            <a:spLocks noGrp="1"/>
          </p:cNvSpPr>
          <p:nvPr>
            <p:ph type="title"/>
          </p:nvPr>
        </p:nvSpPr>
        <p:spPr/>
        <p:txBody>
          <a:bodyPr>
            <a:normAutofit fontScale="90000"/>
          </a:bodyPr>
          <a:lstStyle/>
          <a:p>
            <a:r>
              <a:rPr lang="en-US" dirty="0" smtClean="0"/>
              <a:t>Cache Events and Actions</a:t>
            </a:r>
            <a:br>
              <a:rPr lang="en-US" dirty="0" smtClean="0"/>
            </a:b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normAutofit fontScale="85000" lnSpcReduction="20000"/>
          </a:bodyPr>
          <a:lstStyle/>
          <a:p>
            <a:pPr algn="just"/>
            <a:r>
              <a:rPr lang="en-US" b="1" dirty="0" smtClean="0"/>
              <a:t>Write-miss</a:t>
            </a:r>
            <a:r>
              <a:rPr lang="en-US" dirty="0" smtClean="0"/>
              <a:t> − If a processor fails to write in the local cache memory, the copy must come either from the main memory or from a remote cache memory with a dirty block. This is done by sending a </a:t>
            </a:r>
            <a:r>
              <a:rPr lang="en-US" b="1" dirty="0" smtClean="0"/>
              <a:t>read-invalidate</a:t>
            </a:r>
            <a:r>
              <a:rPr lang="en-US" dirty="0" smtClean="0"/>
              <a:t> command, which will invalidate all cache copies. Then the local copy is updated with dirty state.</a:t>
            </a:r>
          </a:p>
          <a:p>
            <a:pPr algn="just"/>
            <a:r>
              <a:rPr lang="en-US" b="1" dirty="0" smtClean="0"/>
              <a:t>Read-hit</a:t>
            </a:r>
            <a:r>
              <a:rPr lang="en-US" dirty="0" smtClean="0"/>
              <a:t> − Read-hit is always performed in local cache memory without causing a transition of state or using the snoopy bus for invalidation.</a:t>
            </a:r>
          </a:p>
          <a:p>
            <a:pPr algn="just"/>
            <a:r>
              <a:rPr lang="en-US" b="1" dirty="0" smtClean="0"/>
              <a:t>Block replacement</a:t>
            </a:r>
            <a:r>
              <a:rPr lang="en-US" dirty="0" smtClean="0"/>
              <a:t> − When a copy is dirty, it is to be written back to the main memory by block replacement method. However, when the copy is either in valid or reserved or invalid state, no replacement will take place.</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37304" y="2277070"/>
            <a:ext cx="2946640"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THANKS</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 name="Rectangle 2"/>
          <p:cNvSpPr/>
          <p:nvPr/>
        </p:nvSpPr>
        <p:spPr>
          <a:xfrm>
            <a:off x="1051714" y="1600200"/>
            <a:ext cx="3825086" cy="369332"/>
          </a:xfrm>
          <a:prstGeom prst="rect">
            <a:avLst/>
          </a:prstGeom>
        </p:spPr>
        <p:txBody>
          <a:bodyPr wrap="none">
            <a:spAutoFit/>
          </a:bodyPr>
          <a:lstStyle/>
          <a:p>
            <a:r>
              <a:rPr lang="en-US" dirty="0" smtClean="0"/>
              <a:t>https://youtu.be/zMG-xZ7Nago</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685</TotalTime>
  <Words>1124</Words>
  <Application>Microsoft Office PowerPoint</Application>
  <PresentationFormat>On-screen Show (4:3)</PresentationFormat>
  <Paragraphs>94</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Concourse</vt:lpstr>
      <vt:lpstr>Slide 1</vt:lpstr>
      <vt:lpstr>Slide 2</vt:lpstr>
      <vt:lpstr>What is a Cache Coherence Problem? </vt:lpstr>
      <vt:lpstr>Slide 4</vt:lpstr>
      <vt:lpstr>Cache Write Policies </vt:lpstr>
      <vt:lpstr>Ways of writing into a Cache</vt:lpstr>
      <vt:lpstr>Slide 7</vt:lpstr>
      <vt:lpstr>Slide 8</vt:lpstr>
      <vt:lpstr>Software Level Solution — Compiler-based cache coherence mechanism </vt:lpstr>
      <vt:lpstr>Hardware Level Solutions </vt:lpstr>
      <vt:lpstr>Slide 11</vt:lpstr>
      <vt:lpstr>Slide 12</vt:lpstr>
      <vt:lpstr>Drawbacks of directory schema</vt:lpstr>
      <vt:lpstr>Snoopy Protocols </vt:lpstr>
      <vt:lpstr>Slide 15</vt:lpstr>
      <vt:lpstr>Cache Events and Actions </vt:lpstr>
      <vt:lpstr>Slide 17</vt:lpstr>
      <vt:lpstr>Slide 18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 Coherence</dc:title>
  <dc:creator>SCE</dc:creator>
  <cp:lastModifiedBy>SCE</cp:lastModifiedBy>
  <cp:revision>31</cp:revision>
  <dcterms:created xsi:type="dcterms:W3CDTF">2006-08-16T00:00:00Z</dcterms:created>
  <dcterms:modified xsi:type="dcterms:W3CDTF">2020-08-12T16:51:23Z</dcterms:modified>
</cp:coreProperties>
</file>