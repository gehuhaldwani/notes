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1"/>
  </p:notesMasterIdLst>
  <p:sldIdLst>
    <p:sldId id="273" r:id="rId2"/>
    <p:sldId id="275" r:id="rId3"/>
    <p:sldId id="256" r:id="rId4"/>
    <p:sldId id="257" r:id="rId5"/>
    <p:sldId id="258" r:id="rId6"/>
    <p:sldId id="259" r:id="rId7"/>
    <p:sldId id="260" r:id="rId8"/>
    <p:sldId id="261" r:id="rId9"/>
    <p:sldId id="262" r:id="rId10"/>
    <p:sldId id="268" r:id="rId11"/>
    <p:sldId id="263" r:id="rId12"/>
    <p:sldId id="264" r:id="rId13"/>
    <p:sldId id="265" r:id="rId14"/>
    <p:sldId id="266" r:id="rId15"/>
    <p:sldId id="267" r:id="rId16"/>
    <p:sldId id="269" r:id="rId17"/>
    <p:sldId id="270" r:id="rId18"/>
    <p:sldId id="271" r:id="rId19"/>
    <p:sldId id="274" r:id="rId2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1410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2E853BA-57A3-4B9D-983B-B81A84CC5054}" type="datetimeFigureOut">
              <a:rPr lang="en-US" smtClean="0"/>
              <a:pPr/>
              <a:t>8/21/2021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D6762E8-1762-491C-905C-DCD4B0173A78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-14227175" y="-11796713"/>
            <a:ext cx="16652875" cy="12490451"/>
          </a:xfrm>
          <a:ln/>
        </p:spPr>
      </p:sp>
      <p:sp>
        <p:nvSpPr>
          <p:cNvPr id="105475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ight Triangle 9"/>
          <p:cNvSpPr/>
          <p:nvPr/>
        </p:nvSpPr>
        <p:spPr>
          <a:xfrm>
            <a:off x="-2" y="4664147"/>
            <a:ext cx="9151089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grpSp>
        <p:nvGrpSpPr>
          <p:cNvPr id="2" name="Group 1"/>
          <p:cNvGrpSpPr/>
          <p:nvPr/>
        </p:nvGrpSpPr>
        <p:grpSpPr>
          <a:xfrm>
            <a:off x="-3765" y="4953000"/>
            <a:ext cx="9147765" cy="1912088"/>
            <a:chOff x="-3765" y="4832896"/>
            <a:chExt cx="9147765" cy="2032192"/>
          </a:xfrm>
        </p:grpSpPr>
        <p:sp>
          <p:nvSpPr>
            <p:cNvPr id="7" name="Freeform 6"/>
            <p:cNvSpPr>
              <a:spLocks/>
            </p:cNvSpPr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8" name="Freeform 7"/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11" name="Freeform 10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>
              <a:extLst/>
            </a:lstStyle>
            <a:p>
              <a:pPr algn="ctr" eaLnBrk="1" latinLnBrk="0" hangingPunct="1"/>
              <a:endParaRPr kumimoji="0" lang="en-US"/>
            </a:p>
          </p:txBody>
        </p:sp>
        <p:cxnSp>
          <p:nvCxnSpPr>
            <p:cNvPr id="12" name="Straight Connector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1D8BD707-D9CF-40AE-B4C6-C98DA3205C09}" type="datetimeFigureOut">
              <a:rPr lang="en-US" smtClean="0"/>
              <a:pPr/>
              <a:t>8/21/2021</a:t>
            </a:fld>
            <a:endParaRPr lang="en-US" dirty="0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endParaRPr lang="en-US" dirty="0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8/21/2021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 lIns="91440" rIns="91440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8/21/2021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hevron 6"/>
          <p:cNvSpPr/>
          <p:nvPr/>
        </p:nvSpPr>
        <p:spPr>
          <a:xfrm>
            <a:off x="3636680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8" name="Chevron 7"/>
          <p:cNvSpPr/>
          <p:nvPr/>
        </p:nvSpPr>
        <p:spPr>
          <a:xfrm>
            <a:off x="3450264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8/21/2021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6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1444294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444294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8/21/2021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8/21/2021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8/21/2021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727032" y="6407944"/>
            <a:ext cx="1920240" cy="365760"/>
          </a:xfrm>
        </p:spPr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8/21/2021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lIns="91440" tIns="0" rIns="91440" anchor="t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1D8BD707-D9CF-40AE-B4C6-C98DA3205C09}" type="datetimeFigureOut">
              <a:rPr lang="en-US" smtClean="0"/>
              <a:pPr/>
              <a:t>8/21/2021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380072" y="6407944"/>
            <a:ext cx="2350681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716436" y="5001993"/>
            <a:ext cx="3802003" cy="1443111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-329" y="347"/>
                </a:moveTo>
                <a:lnTo>
                  <a:pt x="7156" y="682"/>
                </a:lnTo>
                <a:lnTo>
                  <a:pt x="5229" y="682"/>
                </a:lnTo>
                <a:lnTo>
                  <a:pt x="-328" y="345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9" name="Freeform 8"/>
          <p:cNvSpPr>
            <a:spLocks/>
          </p:cNvSpPr>
          <p:nvPr/>
        </p:nvSpPr>
        <p:spPr bwMode="auto">
          <a:xfrm>
            <a:off x="-53561" y="5785023"/>
            <a:ext cx="3802003" cy="8382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817" y="97"/>
                </a:moveTo>
                <a:lnTo>
                  <a:pt x="6408" y="682"/>
                </a:lnTo>
                <a:lnTo>
                  <a:pt x="5232" y="685"/>
                </a:lnTo>
                <a:lnTo>
                  <a:pt x="829" y="101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0" name="Right Triangle 9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2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1" name="Straight Connector 10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hevron 11"/>
          <p:cNvSpPr/>
          <p:nvPr/>
        </p:nvSpPr>
        <p:spPr>
          <a:xfrm>
            <a:off x="8664112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13" name="Chevron 12"/>
          <p:cNvSpPr/>
          <p:nvPr/>
        </p:nvSpPr>
        <p:spPr>
          <a:xfrm>
            <a:off x="8477696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481329"/>
            <a:ext cx="8229600" cy="4386071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8/21/2021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44013" y="274640"/>
            <a:ext cx="1777470" cy="5592761"/>
          </a:xfrm>
        </p:spPr>
        <p:txBody>
          <a:bodyPr vert="eaVert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8/21/2021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/>
          <p:cNvSpPr>
            <a:spLocks/>
          </p:cNvSpPr>
          <p:nvPr/>
        </p:nvSpPr>
        <p:spPr bwMode="auto">
          <a:xfrm>
            <a:off x="716436" y="5001993"/>
            <a:ext cx="3802003" cy="1443111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-329" y="347"/>
                </a:moveTo>
                <a:lnTo>
                  <a:pt x="7156" y="682"/>
                </a:lnTo>
                <a:lnTo>
                  <a:pt x="5229" y="682"/>
                </a:lnTo>
                <a:lnTo>
                  <a:pt x="-328" y="345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2" name="Freeform 11"/>
          <p:cNvSpPr>
            <a:spLocks/>
          </p:cNvSpPr>
          <p:nvPr/>
        </p:nvSpPr>
        <p:spPr bwMode="auto">
          <a:xfrm>
            <a:off x="-53561" y="5785023"/>
            <a:ext cx="3802003" cy="8382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817" y="97"/>
                </a:moveTo>
                <a:lnTo>
                  <a:pt x="6408" y="682"/>
                </a:lnTo>
                <a:lnTo>
                  <a:pt x="5232" y="685"/>
                </a:lnTo>
                <a:lnTo>
                  <a:pt x="829" y="101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4" name="Right Triangle 13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13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</p:spPr>
        <p:txBody>
          <a:bodyPr vert="horz">
            <a:normAutofit/>
          </a:bodyPr>
          <a:lstStyle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fld id="{1D8BD707-D9CF-40AE-B4C6-C98DA3205C09}" type="datetimeFigureOut">
              <a:rPr lang="en-US" smtClean="0"/>
              <a:pPr/>
              <a:t>8/21/2021</a:t>
            </a:fld>
            <a:endParaRPr lang="en-US" dirty="0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endParaRPr lang="en-US" dirty="0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56032" algn="l" rtl="0" eaLnBrk="1" latinLnBrk="0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/>
        <a:buChar char="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792" indent="-228600" algn="l" rtl="0" eaLnBrk="1" latinLnBrk="0" hangingPunct="1">
        <a:spcBef>
          <a:spcPts val="324"/>
        </a:spcBef>
        <a:buClr>
          <a:schemeClr val="accent1"/>
        </a:buClr>
        <a:buFont typeface="Verdana"/>
        <a:buChar char="◦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536" indent="-228600" algn="l" rtl="0" eaLnBrk="1" latinLnBrk="0" hangingPunct="1">
        <a:spcBef>
          <a:spcPts val="350"/>
        </a:spcBef>
        <a:buClr>
          <a:schemeClr val="accent2"/>
        </a:buClr>
        <a:buSzPct val="100000"/>
        <a:buFont typeface="Wingdings 2"/>
        <a:buChar char="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Content Placeholder 2"/>
          <p:cNvSpPr>
            <a:spLocks noGrp="1"/>
          </p:cNvSpPr>
          <p:nvPr>
            <p:ph idx="1"/>
          </p:nvPr>
        </p:nvSpPr>
        <p:spPr>
          <a:xfrm>
            <a:off x="457200" y="76200"/>
            <a:ext cx="8226425" cy="6324600"/>
          </a:xfrm>
        </p:spPr>
        <p:txBody>
          <a:bodyPr/>
          <a:lstStyle/>
          <a:p>
            <a:pPr algn="ctr" eaLnBrk="1" hangingPunct="1">
              <a:buFont typeface="Wingdings 2" pitchFamily="18" charset="2"/>
              <a:buNone/>
            </a:pPr>
            <a:endParaRPr lang="en-US" sz="1600" b="1" dirty="0" smtClean="0">
              <a:cs typeface="Arial" charset="0"/>
            </a:endParaRPr>
          </a:p>
          <a:p>
            <a:pPr algn="ctr" eaLnBrk="1" hangingPunct="1">
              <a:buFont typeface="Wingdings 2" pitchFamily="18" charset="2"/>
              <a:buNone/>
            </a:pPr>
            <a:r>
              <a:rPr lang="en-US" sz="2000" b="1" dirty="0" smtClean="0">
                <a:cs typeface="Arial" charset="0"/>
              </a:rPr>
              <a:t>Lecture</a:t>
            </a:r>
          </a:p>
          <a:p>
            <a:pPr algn="ctr" eaLnBrk="1" hangingPunct="1">
              <a:buFont typeface="Wingdings 2" pitchFamily="18" charset="2"/>
              <a:buNone/>
            </a:pPr>
            <a:r>
              <a:rPr lang="en-US" sz="2000" b="1" dirty="0" smtClean="0">
                <a:cs typeface="Arial" charset="0"/>
              </a:rPr>
              <a:t>on</a:t>
            </a:r>
            <a:r>
              <a:rPr lang="en-US" sz="2000" dirty="0" smtClean="0">
                <a:cs typeface="Arial" charset="0"/>
              </a:rPr>
              <a:t> </a:t>
            </a:r>
          </a:p>
          <a:p>
            <a:pPr algn="ctr" eaLnBrk="1" hangingPunct="1">
              <a:buFont typeface="Wingdings 2" pitchFamily="18" charset="2"/>
              <a:buNone/>
            </a:pPr>
            <a:r>
              <a:rPr lang="en-US" dirty="0" smtClean="0">
                <a:cs typeface="Arial" charset="0"/>
              </a:rPr>
              <a:t>“Advanced Computer Architecture –TCS 704”</a:t>
            </a:r>
          </a:p>
          <a:p>
            <a:pPr algn="ctr" eaLnBrk="1" hangingPunct="1">
              <a:buFont typeface="Wingdings 2" pitchFamily="18" charset="2"/>
              <a:buNone/>
            </a:pPr>
            <a:r>
              <a:rPr lang="en-US" sz="2000" dirty="0" smtClean="0">
                <a:cs typeface="Arial" charset="0"/>
              </a:rPr>
              <a:t>by</a:t>
            </a:r>
          </a:p>
          <a:p>
            <a:pPr algn="ctr" eaLnBrk="1" hangingPunct="1">
              <a:buFont typeface="Wingdings 2" pitchFamily="18" charset="2"/>
              <a:buNone/>
            </a:pPr>
            <a:r>
              <a:rPr lang="en-US" sz="2000" b="1" i="1" dirty="0" err="1" smtClean="0">
                <a:cs typeface="Arial" charset="0"/>
              </a:rPr>
              <a:t>A</a:t>
            </a:r>
            <a:r>
              <a:rPr lang="en-US" sz="2000" b="1" dirty="0" err="1" smtClean="0">
                <a:cs typeface="Arial" charset="0"/>
              </a:rPr>
              <a:t>kansha</a:t>
            </a:r>
            <a:r>
              <a:rPr lang="en-US" sz="2000" b="1" dirty="0" smtClean="0">
                <a:cs typeface="Arial" charset="0"/>
              </a:rPr>
              <a:t> Gupta</a:t>
            </a:r>
            <a:endParaRPr lang="en-US" sz="2000" dirty="0" smtClean="0">
              <a:cs typeface="Arial" charset="0"/>
            </a:endParaRPr>
          </a:p>
          <a:p>
            <a:pPr algn="ctr" eaLnBrk="1" hangingPunct="1">
              <a:buFont typeface="Wingdings 2" pitchFamily="18" charset="2"/>
              <a:buNone/>
            </a:pPr>
            <a:r>
              <a:rPr lang="en-US" sz="2000" b="1" dirty="0" smtClean="0">
                <a:cs typeface="Arial" charset="0"/>
              </a:rPr>
              <a:t> </a:t>
            </a:r>
          </a:p>
          <a:p>
            <a:pPr algn="ctr" eaLnBrk="1" hangingPunct="1">
              <a:buFont typeface="Wingdings 2" pitchFamily="18" charset="2"/>
              <a:buNone/>
            </a:pPr>
            <a:endParaRPr lang="en-US" sz="2000" b="1" dirty="0" smtClean="0">
              <a:cs typeface="Arial" charset="0"/>
            </a:endParaRPr>
          </a:p>
          <a:p>
            <a:pPr algn="ctr" eaLnBrk="1" hangingPunct="1">
              <a:buFont typeface="Wingdings 2" pitchFamily="18" charset="2"/>
              <a:buNone/>
            </a:pPr>
            <a:endParaRPr lang="en-US" sz="2000" b="1" dirty="0" smtClean="0">
              <a:cs typeface="Arial" charset="0"/>
            </a:endParaRPr>
          </a:p>
          <a:p>
            <a:pPr algn="ctr" eaLnBrk="1" hangingPunct="1">
              <a:buFont typeface="Wingdings 2" pitchFamily="18" charset="2"/>
              <a:buNone/>
            </a:pPr>
            <a:endParaRPr lang="en-US" sz="2000" b="1" dirty="0" smtClean="0">
              <a:cs typeface="Arial" charset="0"/>
            </a:endParaRPr>
          </a:p>
          <a:p>
            <a:pPr algn="ctr" eaLnBrk="1" hangingPunct="1">
              <a:buFont typeface="Wingdings 2" pitchFamily="18" charset="2"/>
              <a:buNone/>
            </a:pPr>
            <a:endParaRPr lang="en-US" sz="2000" b="1" dirty="0" smtClean="0">
              <a:cs typeface="Arial" charset="0"/>
            </a:endParaRPr>
          </a:p>
          <a:p>
            <a:pPr algn="ctr" eaLnBrk="1" hangingPunct="1">
              <a:buFont typeface="Wingdings 2" pitchFamily="18" charset="2"/>
              <a:buNone/>
            </a:pPr>
            <a:endParaRPr lang="en-US" sz="2000" b="1" dirty="0" smtClean="0">
              <a:cs typeface="Arial" charset="0"/>
            </a:endParaRPr>
          </a:p>
          <a:p>
            <a:pPr algn="ctr" eaLnBrk="1" hangingPunct="1">
              <a:buFont typeface="Wingdings 2" pitchFamily="18" charset="2"/>
              <a:buNone/>
            </a:pPr>
            <a:r>
              <a:rPr lang="en-US" sz="2000" b="1" dirty="0" smtClean="0">
                <a:cs typeface="Arial" charset="0"/>
              </a:rPr>
              <a:t>DEPARTMENT OF COMPUTER SCIENCE AND ENGINEERING</a:t>
            </a:r>
            <a:endParaRPr lang="en-US" sz="2000" dirty="0" smtClean="0">
              <a:cs typeface="Arial" charset="0"/>
            </a:endParaRPr>
          </a:p>
          <a:p>
            <a:pPr algn="ctr" eaLnBrk="1" hangingPunct="1">
              <a:buFont typeface="Wingdings 2" pitchFamily="18" charset="2"/>
              <a:buNone/>
            </a:pPr>
            <a:r>
              <a:rPr lang="en-US" sz="2000" dirty="0" smtClean="0">
                <a:cs typeface="Arial" charset="0"/>
              </a:rPr>
              <a:t>GRAPHIC ERA DEEMED TO BE UNIVERSITY – 248002</a:t>
            </a:r>
          </a:p>
          <a:p>
            <a:pPr algn="ctr" eaLnBrk="1" hangingPunct="1">
              <a:buFont typeface="Wingdings 2" pitchFamily="18" charset="2"/>
              <a:buNone/>
            </a:pPr>
            <a:endParaRPr lang="en-US" sz="1600" dirty="0" smtClean="0"/>
          </a:p>
        </p:txBody>
      </p:sp>
      <p:pic>
        <p:nvPicPr>
          <p:cNvPr id="6147" name="Picture 3" descr="ahmed-logo1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886200" y="2667000"/>
            <a:ext cx="1209675" cy="1133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81000" y="1676400"/>
            <a:ext cx="8052098" cy="2585323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flat" dir="t">
                <a:rot lat="0" lon="0" rev="18900000"/>
              </a:lightRig>
            </a:scene3d>
            <a:sp3d extrusionH="31750" contourW="6350" prstMaterial="powder">
              <a:bevelT w="19050" h="19050" prst="angle"/>
              <a:contourClr>
                <a:schemeClr val="accent3">
                  <a:tint val="100000"/>
                  <a:shade val="100000"/>
                  <a:satMod val="100000"/>
                  <a:hueMod val="100000"/>
                </a:schemeClr>
              </a:contourClr>
            </a:sp3d>
          </a:bodyPr>
          <a:lstStyle/>
          <a:p>
            <a:pPr algn="ctr"/>
            <a:r>
              <a:rPr lang="en-US" sz="5400" b="1" cap="none" spc="0" dirty="0" smtClean="0">
                <a:ln/>
                <a:solidFill>
                  <a:schemeClr val="accent3"/>
                </a:solidFill>
                <a:effectLst/>
              </a:rPr>
              <a:t>Cache Performance </a:t>
            </a:r>
          </a:p>
          <a:p>
            <a:pPr algn="ctr"/>
            <a:r>
              <a:rPr lang="en-US" sz="5400" b="1" cap="none" spc="0" dirty="0" smtClean="0">
                <a:ln/>
                <a:solidFill>
                  <a:schemeClr val="accent3"/>
                </a:solidFill>
                <a:effectLst/>
              </a:rPr>
              <a:t>&amp; </a:t>
            </a:r>
          </a:p>
          <a:p>
            <a:pPr algn="ctr"/>
            <a:r>
              <a:rPr lang="en-US" sz="5400" b="1" cap="none" spc="0" dirty="0" smtClean="0">
                <a:ln/>
                <a:solidFill>
                  <a:schemeClr val="accent3"/>
                </a:solidFill>
                <a:effectLst/>
              </a:rPr>
              <a:t>Cache Mapping</a:t>
            </a:r>
            <a:endParaRPr lang="en-US" sz="5400" b="1" cap="none" spc="0" dirty="0">
              <a:ln/>
              <a:solidFill>
                <a:schemeClr val="accent3"/>
              </a:solidFill>
              <a:effectLst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-304800"/>
            <a:ext cx="7772400" cy="1470025"/>
          </a:xfrm>
        </p:spPr>
        <p:txBody>
          <a:bodyPr/>
          <a:lstStyle/>
          <a:p>
            <a:pPr algn="ctr"/>
            <a:r>
              <a:rPr lang="en-US" b="1" dirty="0" smtClean="0"/>
              <a:t>Cache Performance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04800" y="1219200"/>
            <a:ext cx="8458200" cy="4572000"/>
          </a:xfrm>
        </p:spPr>
        <p:txBody>
          <a:bodyPr>
            <a:normAutofit fontScale="85000" lnSpcReduction="20000"/>
          </a:bodyPr>
          <a:lstStyle/>
          <a:p>
            <a:pPr algn="just"/>
            <a:r>
              <a:rPr lang="en-US" dirty="0" smtClean="0">
                <a:solidFill>
                  <a:schemeClr val="tx1"/>
                </a:solidFill>
              </a:rPr>
              <a:t>When the processor needs to read or write a location in main memory, it first checks for a corresponding entry in the cache</a:t>
            </a:r>
            <a:r>
              <a:rPr lang="en-US" dirty="0" smtClean="0"/>
              <a:t>.</a:t>
            </a:r>
          </a:p>
          <a:p>
            <a:pPr algn="just" fontAlgn="base">
              <a:buFont typeface="Arial" pitchFamily="34" charset="0"/>
              <a:buChar char="•"/>
            </a:pPr>
            <a:r>
              <a:rPr lang="en-US" dirty="0" smtClean="0">
                <a:solidFill>
                  <a:schemeClr val="tx1"/>
                </a:solidFill>
              </a:rPr>
              <a:t>If the processor finds that the memory location is in the cache, a </a:t>
            </a:r>
            <a:r>
              <a:rPr lang="en-US" b="1" dirty="0" smtClean="0">
                <a:solidFill>
                  <a:schemeClr val="tx1"/>
                </a:solidFill>
              </a:rPr>
              <a:t>cache hit</a:t>
            </a:r>
            <a:r>
              <a:rPr lang="en-US" dirty="0" smtClean="0">
                <a:solidFill>
                  <a:schemeClr val="tx1"/>
                </a:solidFill>
              </a:rPr>
              <a:t> has occurred and data is read from cache</a:t>
            </a:r>
          </a:p>
          <a:p>
            <a:pPr algn="just" fontAlgn="base"/>
            <a:endParaRPr lang="en-US" dirty="0" smtClean="0">
              <a:solidFill>
                <a:schemeClr val="tx1"/>
              </a:solidFill>
            </a:endParaRPr>
          </a:p>
          <a:p>
            <a:pPr algn="just" fontAlgn="base">
              <a:buFont typeface="Arial" pitchFamily="34" charset="0"/>
              <a:buChar char="•"/>
            </a:pPr>
            <a:r>
              <a:rPr lang="en-US" dirty="0" smtClean="0">
                <a:solidFill>
                  <a:schemeClr val="tx1"/>
                </a:solidFill>
              </a:rPr>
              <a:t>If the processor </a:t>
            </a:r>
            <a:r>
              <a:rPr lang="en-US" b="1" dirty="0" smtClean="0">
                <a:solidFill>
                  <a:schemeClr val="tx1"/>
                </a:solidFill>
              </a:rPr>
              <a:t>does not</a:t>
            </a:r>
            <a:r>
              <a:rPr lang="en-US" dirty="0" smtClean="0">
                <a:solidFill>
                  <a:schemeClr val="tx1"/>
                </a:solidFill>
              </a:rPr>
              <a:t> find the memory location in the cache, a </a:t>
            </a:r>
            <a:r>
              <a:rPr lang="en-US" b="1" dirty="0" smtClean="0">
                <a:solidFill>
                  <a:schemeClr val="tx1"/>
                </a:solidFill>
              </a:rPr>
              <a:t>cache miss</a:t>
            </a:r>
            <a:r>
              <a:rPr lang="en-US" dirty="0" smtClean="0">
                <a:solidFill>
                  <a:schemeClr val="tx1"/>
                </a:solidFill>
              </a:rPr>
              <a:t> has occurred. For a cache miss, the cache allocates a new entry and copies in data from main memory, then the request is fulfilled from the contents of the cache.</a:t>
            </a:r>
          </a:p>
          <a:p>
            <a:pPr algn="l"/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14400"/>
            <a:ext cx="8229600" cy="4525963"/>
          </a:xfrm>
        </p:spPr>
        <p:txBody>
          <a:bodyPr>
            <a:normAutofit/>
          </a:bodyPr>
          <a:lstStyle/>
          <a:p>
            <a:pPr fontAlgn="base"/>
            <a:r>
              <a:rPr lang="en-US" dirty="0" smtClean="0"/>
              <a:t>The performance of cache memory is frequently measured in terms of a quantity called </a:t>
            </a:r>
            <a:r>
              <a:rPr lang="en-US" b="1" dirty="0" smtClean="0"/>
              <a:t>Hit ratio.</a:t>
            </a:r>
            <a:endParaRPr lang="en-US" dirty="0" smtClean="0"/>
          </a:p>
          <a:p>
            <a:pPr fontAlgn="base">
              <a:buNone/>
            </a:pPr>
            <a:r>
              <a:rPr lang="en-US" dirty="0" smtClean="0"/>
              <a:t>	</a:t>
            </a:r>
            <a:r>
              <a:rPr lang="en-US" dirty="0" smtClean="0">
                <a:solidFill>
                  <a:srgbClr val="FF0000"/>
                </a:solidFill>
              </a:rPr>
              <a:t>Hit ratio = hit / (hit + miss) = no. of hits/total accesses</a:t>
            </a:r>
          </a:p>
          <a:p>
            <a:pPr fontAlgn="base"/>
            <a:r>
              <a:rPr lang="en-US" dirty="0" smtClean="0"/>
              <a:t>We can improve Cache performance using higher cache block size, higher </a:t>
            </a:r>
            <a:r>
              <a:rPr lang="en-US" dirty="0" err="1" smtClean="0"/>
              <a:t>associativity</a:t>
            </a:r>
            <a:r>
              <a:rPr lang="en-US" dirty="0" smtClean="0"/>
              <a:t>, reduce miss rate, reduce miss penalty, and reduce the time to hit in the cache.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 fontAlgn="base">
              <a:buNone/>
            </a:pPr>
            <a:r>
              <a:rPr lang="en-US" dirty="0" smtClean="0"/>
              <a:t>Cache mapping defines how a block from the main memory is mapped to the cache memory in case of a cache miss.</a:t>
            </a:r>
          </a:p>
          <a:p>
            <a:pPr algn="ctr" fontAlgn="base">
              <a:buNone/>
            </a:pPr>
            <a:r>
              <a:rPr lang="en-US" b="1" dirty="0" smtClean="0"/>
              <a:t>OR</a:t>
            </a:r>
            <a:endParaRPr lang="en-US" dirty="0" smtClean="0"/>
          </a:p>
          <a:p>
            <a:pPr algn="just" fontAlgn="base">
              <a:buNone/>
            </a:pPr>
            <a:r>
              <a:rPr lang="en-US" dirty="0" smtClean="0"/>
              <a:t>Cache mapping is a technique by which the contents of main memory are brought into the cache memory.</a:t>
            </a:r>
          </a:p>
          <a:p>
            <a:pPr>
              <a:buNone/>
            </a:pP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b="1" dirty="0" smtClean="0"/>
              <a:t>Cache Mapping</a:t>
            </a:r>
            <a:br>
              <a:rPr lang="en-US" b="1" dirty="0" smtClean="0"/>
            </a:b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1195387" y="2333625"/>
            <a:ext cx="6753225" cy="3228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Rectangle 4"/>
          <p:cNvSpPr/>
          <p:nvPr/>
        </p:nvSpPr>
        <p:spPr>
          <a:xfrm>
            <a:off x="914400" y="1524000"/>
            <a:ext cx="72390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 smtClean="0"/>
              <a:t>The following diagram illustrates the mapping process-</a:t>
            </a:r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 fontAlgn="base"/>
            <a:r>
              <a:rPr lang="en-US" dirty="0" smtClean="0"/>
              <a:t>Main memory is divided into equal size partitions called as </a:t>
            </a:r>
            <a:r>
              <a:rPr lang="en-US" b="1" dirty="0" smtClean="0"/>
              <a:t>blocks</a:t>
            </a:r>
            <a:r>
              <a:rPr lang="en-US" dirty="0" smtClean="0"/>
              <a:t> or </a:t>
            </a:r>
            <a:r>
              <a:rPr lang="en-US" b="1" dirty="0" smtClean="0"/>
              <a:t>frames</a:t>
            </a:r>
            <a:r>
              <a:rPr lang="en-US" dirty="0" smtClean="0"/>
              <a:t>.</a:t>
            </a:r>
          </a:p>
          <a:p>
            <a:pPr algn="just" fontAlgn="base"/>
            <a:r>
              <a:rPr lang="en-US" dirty="0" smtClean="0"/>
              <a:t>Cache memory is divided into partitions having same size as that of blocks called as </a:t>
            </a:r>
            <a:r>
              <a:rPr lang="en-US" b="1" dirty="0" smtClean="0"/>
              <a:t>lines</a:t>
            </a:r>
            <a:r>
              <a:rPr lang="en-US" dirty="0" smtClean="0"/>
              <a:t>.</a:t>
            </a:r>
          </a:p>
          <a:p>
            <a:pPr algn="just" fontAlgn="base"/>
            <a:r>
              <a:rPr lang="en-US" dirty="0" smtClean="0"/>
              <a:t>During cache mapping, block of main memory is simply copied to the cache and the block is not actually brought from the main memory.</a:t>
            </a:r>
          </a:p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/>
              <a:t>NOTES</a:t>
            </a:r>
            <a:br>
              <a:rPr lang="en-US" b="1" dirty="0" smtClean="0"/>
            </a:b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066800" y="1447800"/>
            <a:ext cx="6809416" cy="40483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How cache and main memory is conceptually divided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838200" y="5477470"/>
            <a:ext cx="76962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 smtClean="0"/>
              <a:t>Note: </a:t>
            </a:r>
            <a:r>
              <a:rPr lang="en-US" sz="2000" dirty="0" smtClean="0"/>
              <a:t>Here is how we divide the main memory into blocks and the size of a block is equal to the size of the cache line. </a:t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055022" y="2667000"/>
            <a:ext cx="6945978" cy="22105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b="1" dirty="0" smtClean="0"/>
              <a:t>Cache Mapping Techniques</a:t>
            </a:r>
            <a:endParaRPr lang="en-US" b="1" dirty="0"/>
          </a:p>
        </p:txBody>
      </p:sp>
      <p:sp>
        <p:nvSpPr>
          <p:cNvPr id="5" name="Rectangle 4"/>
          <p:cNvSpPr/>
          <p:nvPr/>
        </p:nvSpPr>
        <p:spPr>
          <a:xfrm>
            <a:off x="685800" y="1447800"/>
            <a:ext cx="76962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 smtClean="0"/>
              <a:t>Cache mapping is performed using following three different techniques-</a:t>
            </a:r>
            <a:endParaRPr lang="en-US" sz="2400" dirty="0"/>
          </a:p>
        </p:txBody>
      </p:sp>
      <p:sp>
        <p:nvSpPr>
          <p:cNvPr id="6" name="Rectangle 5"/>
          <p:cNvSpPr/>
          <p:nvPr/>
        </p:nvSpPr>
        <p:spPr>
          <a:xfrm>
            <a:off x="2438400" y="4944070"/>
            <a:ext cx="4572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pPr fontAlgn="base"/>
            <a:r>
              <a:rPr lang="en-US" sz="2400" dirty="0" smtClean="0"/>
              <a:t>1.Direct Mapping</a:t>
            </a:r>
          </a:p>
          <a:p>
            <a:pPr fontAlgn="base"/>
            <a:r>
              <a:rPr lang="en-US" sz="2400" dirty="0" smtClean="0"/>
              <a:t>2.Fully Associative Mapping</a:t>
            </a:r>
          </a:p>
          <a:p>
            <a:pPr fontAlgn="base"/>
            <a:r>
              <a:rPr lang="en-US" sz="2400" dirty="0" smtClean="0"/>
              <a:t>3.K-way Set Associative Mapping</a:t>
            </a:r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304800" y="1295400"/>
            <a:ext cx="8610600" cy="449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Four important questions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fontAlgn="base">
              <a:buNone/>
            </a:pPr>
            <a:r>
              <a:rPr lang="en-US" dirty="0" smtClean="0"/>
              <a:t>In direct mapping,</a:t>
            </a:r>
          </a:p>
          <a:p>
            <a:pPr fontAlgn="base"/>
            <a:r>
              <a:rPr lang="en-US" dirty="0" smtClean="0"/>
              <a:t>A particular block of main memory can map only to a particular line of the cache.</a:t>
            </a:r>
          </a:p>
          <a:p>
            <a:pPr fontAlgn="base"/>
            <a:r>
              <a:rPr lang="en-US" dirty="0" smtClean="0"/>
              <a:t>The line number of cache to which a particular block can map is given by-</a:t>
            </a:r>
          </a:p>
          <a:p>
            <a:pPr algn="ctr" fontAlgn="base">
              <a:buNone/>
            </a:pPr>
            <a:r>
              <a:rPr lang="en-US" b="1" dirty="0" smtClean="0">
                <a:solidFill>
                  <a:srgbClr val="FF0000"/>
                </a:solidFill>
              </a:rPr>
              <a:t>Cache line number= ( Main Memory Block Address ) Modulo (Number of lines in Cache)</a:t>
            </a:r>
            <a:endParaRPr lang="en-US" dirty="0" smtClean="0">
              <a:solidFill>
                <a:srgbClr val="FF0000"/>
              </a:solidFill>
            </a:endParaRPr>
          </a:p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/>
            <a:r>
              <a:rPr lang="en-US" b="1" dirty="0" smtClean="0"/>
              <a:t>1. Direct Mapping</a:t>
            </a:r>
            <a:br>
              <a:rPr lang="en-US" b="1" dirty="0" smtClean="0"/>
            </a:b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9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1063930" y="1176338"/>
            <a:ext cx="7775270" cy="49196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143000"/>
          </a:xfrm>
        </p:spPr>
        <p:txBody>
          <a:bodyPr>
            <a:normAutofit fontScale="90000"/>
          </a:bodyPr>
          <a:lstStyle/>
          <a:p>
            <a:pPr algn="l"/>
            <a:r>
              <a:rPr lang="en-US" dirty="0" smtClean="0"/>
              <a:t>Where should we put data in the cache?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838200" y="914401"/>
            <a:ext cx="8122794" cy="50950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152400"/>
            <a:ext cx="8229600" cy="1143000"/>
          </a:xfrm>
        </p:spPr>
        <p:txBody>
          <a:bodyPr/>
          <a:lstStyle/>
          <a:p>
            <a:r>
              <a:rPr lang="en-US" dirty="0" smtClean="0"/>
              <a:t>It’s all divisions…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066800" y="990600"/>
            <a:ext cx="7848600" cy="51133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152400"/>
            <a:ext cx="8229600" cy="1143000"/>
          </a:xfrm>
        </p:spPr>
        <p:txBody>
          <a:bodyPr/>
          <a:lstStyle/>
          <a:p>
            <a:r>
              <a:rPr lang="en-US" dirty="0" smtClean="0"/>
              <a:t>…or least-significant bits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914400" y="1066800"/>
            <a:ext cx="7924800" cy="49618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How can we find data in the cache?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991299" y="2362200"/>
            <a:ext cx="6628701" cy="25296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/>
              <a:t>Division of Physical Address</a:t>
            </a:r>
            <a:br>
              <a:rPr lang="en-US" b="1" dirty="0" smtClean="0"/>
            </a:b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914400" y="1334869"/>
            <a:ext cx="76200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 smtClean="0"/>
              <a:t>In direct mapping, the physical address is divided as-</a:t>
            </a:r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288031" y="1828800"/>
            <a:ext cx="8438927" cy="2895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Figuring out what’s in the cache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001000" cy="3962400"/>
          </a:xfrm>
        </p:spPr>
        <p:txBody>
          <a:bodyPr>
            <a:normAutofit/>
          </a:bodyPr>
          <a:lstStyle/>
          <a:p>
            <a:pPr fontAlgn="base">
              <a:buNone/>
            </a:pPr>
            <a:r>
              <a:rPr lang="en-US" dirty="0" smtClean="0"/>
              <a:t>In direct mapping,</a:t>
            </a:r>
          </a:p>
          <a:p>
            <a:pPr algn="just" fontAlgn="base"/>
            <a:r>
              <a:rPr lang="en-US" dirty="0" smtClean="0"/>
              <a:t>There is no need of any replacement algorithm.</a:t>
            </a:r>
          </a:p>
          <a:p>
            <a:pPr algn="just" fontAlgn="base"/>
            <a:r>
              <a:rPr lang="en-US" dirty="0" smtClean="0"/>
              <a:t>This is because a main memory block can map only to a particular line of the cache.</a:t>
            </a:r>
          </a:p>
          <a:p>
            <a:pPr algn="just" fontAlgn="base"/>
            <a:r>
              <a:rPr lang="en-US" dirty="0" smtClean="0"/>
              <a:t>Thus, the new incoming block will always replace the existing block (if any) in that particular line.</a:t>
            </a:r>
          </a:p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fontAlgn="base"/>
            <a:r>
              <a:rPr lang="en-US" b="1" dirty="0" smtClean="0"/>
              <a:t>Need of Replacement Algorithm</a:t>
            </a:r>
            <a:endParaRPr lang="en-US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937304" y="2277070"/>
            <a:ext cx="2946640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en-US" sz="5400" b="1" cap="none" spc="0" dirty="0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THANKS</a:t>
            </a:r>
            <a:endParaRPr lang="en-US" sz="5400" b="1" cap="none" spc="0" dirty="0">
              <a:ln w="11430"/>
              <a:gradFill>
                <a:gsLst>
                  <a:gs pos="0">
                    <a:schemeClr val="accent2">
                      <a:tint val="70000"/>
                      <a:satMod val="245000"/>
                    </a:schemeClr>
                  </a:gs>
                  <a:gs pos="75000">
                    <a:schemeClr val="accent2">
                      <a:tint val="90000"/>
                      <a:shade val="60000"/>
                      <a:satMod val="240000"/>
                    </a:schemeClr>
                  </a:gs>
                  <a:gs pos="100000">
                    <a:schemeClr val="accent2">
                      <a:tint val="100000"/>
                      <a:shade val="50000"/>
                      <a:satMod val="240000"/>
                    </a:schemeClr>
                  </a:gs>
                </a:gsLst>
                <a:lin ang="5400000"/>
              </a:gra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066800" y="1524000"/>
            <a:ext cx="349647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mtClean="0"/>
              <a:t>https://youtu.be/JylDtIK2xX4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oncourse">
  <a:themeElements>
    <a:clrScheme name="Concourse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Concourse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inorFont>
    </a:fontScheme>
    <a:fmtScheme name="Concours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95000" t="-106500" r="5000" b="2065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Concourse</Template>
  <TotalTime>436</TotalTime>
  <Words>349</Words>
  <Application>Microsoft Office PowerPoint</Application>
  <PresentationFormat>On-screen Show (4:3)</PresentationFormat>
  <Paragraphs>62</Paragraphs>
  <Slides>19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0" baseType="lpstr">
      <vt:lpstr>Concourse</vt:lpstr>
      <vt:lpstr>Slide 1</vt:lpstr>
      <vt:lpstr>Slide 2</vt:lpstr>
      <vt:lpstr>Cache Performance</vt:lpstr>
      <vt:lpstr>Slide 4</vt:lpstr>
      <vt:lpstr>Cache Mapping </vt:lpstr>
      <vt:lpstr>Slide 6</vt:lpstr>
      <vt:lpstr>NOTES </vt:lpstr>
      <vt:lpstr>How cache and main memory is conceptually divided</vt:lpstr>
      <vt:lpstr>Cache Mapping Techniques</vt:lpstr>
      <vt:lpstr>Four important questions</vt:lpstr>
      <vt:lpstr>1. Direct Mapping </vt:lpstr>
      <vt:lpstr>Where should we put data in the cache?</vt:lpstr>
      <vt:lpstr>It’s all divisions…</vt:lpstr>
      <vt:lpstr>…or least-significant bits</vt:lpstr>
      <vt:lpstr>How can we find data in the cache?</vt:lpstr>
      <vt:lpstr>Division of Physical Address </vt:lpstr>
      <vt:lpstr>Figuring out what’s in the cache</vt:lpstr>
      <vt:lpstr>Need of Replacement Algorithm</vt:lpstr>
      <vt:lpstr>Slide 19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Cache Performance</dc:title>
  <dc:creator>SCE</dc:creator>
  <cp:lastModifiedBy>SCE</cp:lastModifiedBy>
  <cp:revision>34</cp:revision>
  <dcterms:created xsi:type="dcterms:W3CDTF">2006-08-16T00:00:00Z</dcterms:created>
  <dcterms:modified xsi:type="dcterms:W3CDTF">2021-08-21T10:53:26Z</dcterms:modified>
</cp:coreProperties>
</file>