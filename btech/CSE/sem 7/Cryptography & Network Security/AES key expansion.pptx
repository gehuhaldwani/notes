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7E21-625C-8D47-0727-4A18E909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74991-67BF-78D2-6C56-7B297EE58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6F8BD-D74D-B34D-FE35-2962737E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4DCF-E733-230C-4C65-06AF9092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637D1-2C2D-AB93-CDE7-7AC67560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63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BF03-9118-798E-96AB-E1687712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3870-D2A8-250B-6D06-611F5BBA8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25EBB-ADE7-2E3A-0740-19B44307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88677-9D60-72A9-2C1E-D97C8D51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76CD2-AA49-B320-F268-C7741867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294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5DAB-D6FD-0C78-12A6-5B1F0B2D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3A81C-290A-2027-9A9E-661DB0594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6C6C9-AC97-0E3D-CBD2-EF9F1951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4DCA-3EEA-7CA1-31F1-569A62B3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8058B-8DB4-AE5F-B2DA-8A15AEB3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05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5CD4E-6FF7-5B5C-5D47-C8DBC68C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0F92A-3C07-66D5-7B05-30CEB1C71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D595B-E74C-3BE2-77AC-0AAAFBED9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97B15-22E1-2C32-8152-252ED40E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F0957-30A1-5D42-E7C9-DDA198B3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54D92-FCF8-59E0-CB73-2449D144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38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6C16-1DC8-C073-018B-3832A2087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F7812-D19D-6F15-EEC3-99A919212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13F54-F4C6-7E6C-2F98-474B9ABE0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D7F1B8-7D30-4DEF-EA1A-DD4D8439A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6D20-AC77-BF3D-9F35-EB2300E9D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70D3AC-2DE8-669C-245D-BF7CFCEA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B22AF-F41C-1E0F-843A-5F54F6D8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D339E1-CA8E-EF0E-6F8F-960260F8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763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82E5-78DD-64B1-A4F1-57427CEA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41499-502A-946F-EC16-F9DB8A3A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C4E74-8F5C-9C13-AB85-00C8A8352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C04B75-1BB4-256F-F027-311CA51D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24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DC43EA-3B51-1C8C-5301-21528FA5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8E849-A854-70F9-A460-C04FCEB8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F1AB8-3711-7E21-8B83-5C8471FE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96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5EE2-83BC-312B-6217-8534832BB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FD5AC-A847-1B38-D7BE-870DD6A4E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27BA8-2F67-8F91-2319-27E8907DF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4FD3C-CBC6-8E99-3993-AD0B5A9A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0EF87-830D-E033-B674-FE727F76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840F7-4128-B39A-031E-C21ED64B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20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52BD-5EBA-B439-3B1D-E1E8F461B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B5470E-56D7-4E80-B8EF-B5C3A8328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CE608-1124-7AF6-FF0E-1E0CCCFF6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9D990-4262-2B3E-C1F0-E0FD809F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9124-1798-371B-50AB-243B5A77B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5B55C-4E98-8347-514C-0BAB92B4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682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DABB-B78C-ACAB-B022-AA18422D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C92AF-7057-3AF5-B2AA-4FEA33317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87826-A964-88EC-FAA6-F1CFE434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5A9E1-50E5-A713-0E75-DFF7EFFA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8A94F-A9B7-7702-89BA-9A03365E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76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71C89-80A1-1C38-3F9F-E086FC3A7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09710-AA18-B5F2-8D11-72EC4B8D3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BC68D-A6FB-968D-3423-8095F35A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AE80D-8BBD-6DB1-97F0-441C7E74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D7BD7-3E54-4DBE-88AA-475600DC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77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03771F-79D9-859E-B6F4-9FA9068F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0DFEE-B040-98F6-AAF7-D0D5D9AC8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28916-699D-7BC9-5D17-D1592E22F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962FC-75D3-40E8-AE90-AB41806DE824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8FDBC-C374-DC44-4EDE-72275E150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5037D-A8D6-D147-9709-B05D3F5E4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35139-3B9B-40CA-B703-A2CC909BC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89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AACF-1CDF-7E61-D1C0-179DD0358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AES Key Expansion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DAD60-6AE1-8372-C078-6A5F71D6FA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838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CD64A-30D0-BA71-25C2-402F275A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89142-28C2-1859-228B-018385B1F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AES uses key expansion process to create each round key</a:t>
            </a:r>
          </a:p>
          <a:p>
            <a:r>
              <a:rPr lang="en-US" dirty="0"/>
              <a:t>If number of rounds are Nr it </a:t>
            </a:r>
            <a:r>
              <a:rPr lang="en-US" dirty="0" err="1"/>
              <a:t>creats</a:t>
            </a:r>
            <a:r>
              <a:rPr lang="en-US" dirty="0"/>
              <a:t> Nr+1, 128 bit round key from one single 128bit cipher key</a:t>
            </a:r>
          </a:p>
          <a:p>
            <a:r>
              <a:rPr lang="en-US" dirty="0"/>
              <a:t>First key is for pre round </a:t>
            </a:r>
            <a:r>
              <a:rPr lang="en-US" dirty="0" err="1"/>
              <a:t>transformantion</a:t>
            </a:r>
            <a:endParaRPr lang="en-US" dirty="0"/>
          </a:p>
          <a:p>
            <a:r>
              <a:rPr lang="en-US" dirty="0"/>
              <a:t>Remaining are used in each round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32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A018-24C1-3BBB-2651-4CAE2A10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169F0-11F1-6A9E-9811-1A73ADC05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expansion routine </a:t>
            </a:r>
            <a:r>
              <a:rPr lang="en-US" dirty="0" err="1"/>
              <a:t>creats</a:t>
            </a:r>
            <a:r>
              <a:rPr lang="en-US" dirty="0"/>
              <a:t> round keys word by word where a word is an array of four bytes.</a:t>
            </a:r>
          </a:p>
          <a:p>
            <a:r>
              <a:rPr lang="en-US" dirty="0"/>
              <a:t>The routine </a:t>
            </a:r>
            <a:r>
              <a:rPr lang="en-US" dirty="0" err="1"/>
              <a:t>creats</a:t>
            </a:r>
            <a:r>
              <a:rPr lang="en-US" dirty="0"/>
              <a:t> 4* (Nr+1) words that are called</a:t>
            </a:r>
          </a:p>
          <a:p>
            <a:r>
              <a:rPr lang="en-US" dirty="0"/>
              <a:t>W0,W1,W2, ………W4(Nr+1)</a:t>
            </a:r>
          </a:p>
          <a:p>
            <a:r>
              <a:rPr lang="en-US" dirty="0"/>
              <a:t>AES 128 version have 44 words</a:t>
            </a:r>
          </a:p>
          <a:p>
            <a:r>
              <a:rPr lang="en-US" dirty="0"/>
              <a:t>192 have 52 words</a:t>
            </a:r>
          </a:p>
          <a:p>
            <a:r>
              <a:rPr lang="en-US" dirty="0"/>
              <a:t>256 have 60 words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033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CD30-8F96-99EC-C1B6-79642136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00EDCB-7858-65A2-DA5E-50C252299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86" y="2068286"/>
            <a:ext cx="9492343" cy="3080657"/>
          </a:xfrm>
        </p:spPr>
      </p:pic>
    </p:spTree>
    <p:extLst>
      <p:ext uri="{BB962C8B-B14F-4D97-AF65-F5344CB8AC3E}">
        <p14:creationId xmlns:p14="http://schemas.microsoft.com/office/powerpoint/2010/main" val="186745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A656-2FA4-F4CD-C3C0-FF358B26F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F22DE-AFF9-1F43-DC21-35764D74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7FD36-2B16-FF38-2264-1BF5E54D7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657" y="0"/>
            <a:ext cx="6273021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0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D99B-5476-9AFF-0F70-217F67CC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D64C3F-FEBF-35B9-26E9-A4CC5C62E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687" y="365125"/>
            <a:ext cx="6131969" cy="6127750"/>
          </a:xfrm>
        </p:spPr>
      </p:pic>
    </p:spTree>
    <p:extLst>
      <p:ext uri="{BB962C8B-B14F-4D97-AF65-F5344CB8AC3E}">
        <p14:creationId xmlns:p14="http://schemas.microsoft.com/office/powerpoint/2010/main" val="745181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B982-6F98-FA7E-4725-4F418F072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CF620-AD15-E23A-BE35-1C90BC84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where t is a temporary word result of applying two routines, </a:t>
            </a:r>
            <a:r>
              <a:rPr lang="en-US" dirty="0" err="1"/>
              <a:t>subword</a:t>
            </a:r>
            <a:r>
              <a:rPr lang="en-US" dirty="0"/>
              <a:t>, </a:t>
            </a:r>
            <a:r>
              <a:rPr lang="en-US" dirty="0" err="1"/>
              <a:t>rotwor</a:t>
            </a:r>
            <a:r>
              <a:rPr lang="en-US" dirty="0"/>
              <a:t> on wi-1 and </a:t>
            </a:r>
            <a:r>
              <a:rPr lang="en-US" dirty="0" err="1"/>
              <a:t>xoring</a:t>
            </a:r>
            <a:r>
              <a:rPr lang="en-US" dirty="0"/>
              <a:t> result with a round constant, </a:t>
            </a:r>
            <a:r>
              <a:rPr lang="en-US" dirty="0" err="1"/>
              <a:t>Rcon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t= </a:t>
            </a:r>
            <a:r>
              <a:rPr lang="en-US" dirty="0" err="1"/>
              <a:t>Subword</a:t>
            </a:r>
            <a:r>
              <a:rPr lang="en-US" dirty="0"/>
              <a:t>(</a:t>
            </a:r>
            <a:r>
              <a:rPr lang="en-US" dirty="0" err="1"/>
              <a:t>rotword</a:t>
            </a:r>
            <a:r>
              <a:rPr lang="en-US" dirty="0"/>
              <a:t>(wi-1)</a:t>
            </a:r>
            <a:r>
              <a:rPr lang="en-US" dirty="0" err="1"/>
              <a:t>xor</a:t>
            </a:r>
            <a:r>
              <a:rPr lang="en-US" dirty="0"/>
              <a:t> </a:t>
            </a:r>
            <a:r>
              <a:rPr lang="en-US" dirty="0" err="1"/>
              <a:t>rconi</a:t>
            </a:r>
            <a:r>
              <a:rPr lang="en-US" dirty="0"/>
              <a:t>/4</a:t>
            </a:r>
          </a:p>
          <a:p>
            <a:pPr marL="0" indent="0">
              <a:buNone/>
            </a:pPr>
            <a:r>
              <a:rPr lang="en-US" dirty="0" err="1"/>
              <a:t>Rotword</a:t>
            </a:r>
            <a:r>
              <a:rPr lang="en-US" dirty="0"/>
              <a:t>: similar to shift row, applied to only one row.</a:t>
            </a:r>
          </a:p>
          <a:p>
            <a:pPr marL="0" indent="0">
              <a:buNone/>
            </a:pPr>
            <a:r>
              <a:rPr lang="en-US" dirty="0" err="1"/>
              <a:t>Subword</a:t>
            </a:r>
            <a:r>
              <a:rPr lang="en-US" dirty="0"/>
              <a:t>: similar to </a:t>
            </a:r>
            <a:r>
              <a:rPr lang="en-US" dirty="0" err="1"/>
              <a:t>subbyte</a:t>
            </a:r>
            <a:r>
              <a:rPr lang="en-US" dirty="0"/>
              <a:t> transformation applied to 4 bytes.</a:t>
            </a:r>
          </a:p>
          <a:p>
            <a:pPr marL="0" indent="0">
              <a:buNone/>
            </a:pPr>
            <a:r>
              <a:rPr lang="en-US" dirty="0"/>
              <a:t>Round constant: 4 byte value in which rightmost three bytes will always 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480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187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AES Key Expansion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upma jain</dc:creator>
  <cp:lastModifiedBy>upma jain</cp:lastModifiedBy>
  <cp:revision>3</cp:revision>
  <dcterms:created xsi:type="dcterms:W3CDTF">2024-09-25T04:31:17Z</dcterms:created>
  <dcterms:modified xsi:type="dcterms:W3CDTF">2024-09-25T11:08:36Z</dcterms:modified>
</cp:coreProperties>
</file>